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445" r:id="rId2"/>
    <p:sldId id="1542" r:id="rId3"/>
    <p:sldId id="2406" r:id="rId4"/>
    <p:sldId id="2408" r:id="rId5"/>
    <p:sldId id="1585" r:id="rId6"/>
    <p:sldId id="2393" r:id="rId7"/>
    <p:sldId id="2394" r:id="rId8"/>
    <p:sldId id="2395" r:id="rId9"/>
    <p:sldId id="2396" r:id="rId10"/>
    <p:sldId id="1598" r:id="rId11"/>
    <p:sldId id="1599" r:id="rId12"/>
    <p:sldId id="1602" r:id="rId13"/>
    <p:sldId id="1605" r:id="rId14"/>
    <p:sldId id="1588" r:id="rId15"/>
    <p:sldId id="1607" r:id="rId16"/>
    <p:sldId id="1608" r:id="rId17"/>
    <p:sldId id="1603" r:id="rId18"/>
    <p:sldId id="1612" r:id="rId19"/>
    <p:sldId id="1613" r:id="rId20"/>
    <p:sldId id="1614" r:id="rId21"/>
    <p:sldId id="1615" r:id="rId22"/>
    <p:sldId id="2389" r:id="rId23"/>
    <p:sldId id="2390" r:id="rId24"/>
    <p:sldId id="1622" r:id="rId25"/>
    <p:sldId id="2402" r:id="rId26"/>
    <p:sldId id="2403" r:id="rId27"/>
    <p:sldId id="1670" r:id="rId28"/>
    <p:sldId id="1672" r:id="rId29"/>
    <p:sldId id="1673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66" autoAdjust="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5E74C-0388-460B-8A1A-12262F716AB4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2EA6-5A00-4649-A385-8C3D605DC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972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815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051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228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208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490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507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671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43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77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970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159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512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802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995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7562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8651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1100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509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5201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9820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4927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078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160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0007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9777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062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298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38839-3093-4729-8FEC-B8F7E98C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451D4-D3E9-4B1A-95FF-7D3B8AF5E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796E7-D825-4C6E-BB57-A7CD878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9B286-5F09-4022-9FBE-42A79B1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49831-1415-4A89-9C0F-0B71029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4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371C-923A-4556-89D9-6D9283A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452F5-C1B4-4538-A3E8-6DDD4E3F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D3449-79F7-4668-B887-D81CE8C8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3B59D-BF5B-4DBC-9568-C8AAA66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40E4E-BBD4-4D8B-98E4-EA30CF0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BCA1D-712E-4F01-BAE5-8839C0DA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E37AA-2A2A-48D0-8688-D6F59D667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A6700-85CF-420A-ABAE-FF91735E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2237A-DAB1-4E98-8B5B-CC1845D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D0C69-48ED-4B44-A7D1-9AE23383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A286-E7EE-4D49-B4B0-76832A50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39823-13D0-4FEF-A29A-E79B5866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679F6-6354-42A0-8470-199F2822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206FB-A032-418A-BB97-4CE861AB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38BE2-4D63-4513-89E9-8162B99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7CBF8-AFBC-4D68-AF29-C94A9700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09053-D199-4CC7-98FA-E112AB4B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E4443-2D08-45C3-A860-96FD1AF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96351A-C85B-412D-9175-4D3FD33E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1DAADB-9A7A-4973-AE1B-CED0F830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AFD96D-F559-4505-952C-8BA09BFA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D621F-C4F8-4B34-A7F6-16826D0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6E70F-70C0-4744-BA5C-79003E6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0EED7-721D-410A-8683-671A021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5F9F-E778-4AF2-97CA-47B468D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61C9F-E0FE-424D-BAD5-9433FCE0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30F9B-24B1-4F3C-B51F-EF11DC1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1B3E22-D4E5-4B77-801C-2F976DDD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E8AAB-8A93-4DA4-91BB-AA1694A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38EE8-71EA-462E-A54F-FCC3FC6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FFFDF-496B-4AE6-A7F6-4838B6C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B799E-158D-4F13-B1D8-75C44E56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3B7AF-9C05-48B9-B50C-1D3595D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83C59-6E43-49DE-9EA3-A9A734C2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72035-E581-4546-A646-9CE73C3E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6B245-4FB7-4C26-88C6-480F9328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37DF-1C3E-4187-9F19-56F9CF4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CBD2-48C7-4DD4-85B9-665DB9C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43F06E-1C36-4C66-9E8E-1B38D38B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AACA3-D5EA-4976-B46A-426D9DD6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97B16B-9109-428A-AA9F-6433D823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6ED09-92F3-4027-B4D7-6B8809BE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E1814-E277-48BF-A37C-B8DC230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2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03DE-A4A4-4F0A-A9BD-028DD3FC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C1679-A24E-4034-B873-263855C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25EB0-BC97-43A3-83EE-556D5C86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40581-EA82-4D2B-98B5-74D4D11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EE154-45E0-4D8D-8A71-8D4CF08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7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EE343A-5B65-4716-95F1-9E48DCD8C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6630-FD54-4703-A7DD-DF2E514B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3D9D7-7F8E-4C14-8CA9-F338013D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EEFCF-892B-49DF-A6EE-D431C832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0452-FBD7-4399-AEDE-FC430C2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82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6502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591E61-2795-47C4-BFA6-697F942D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90BB-9C04-4BA4-8EBF-3BD6F7FF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B6A8-6B45-45E5-A763-39B87EAC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0F76C-578E-4398-A65C-C96041DE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1C9BE-7819-4C7C-BFE7-801F21DF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3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91E7A5-716D-41D4-9EA5-83854DDFE388}"/>
              </a:ext>
            </a:extLst>
          </p:cNvPr>
          <p:cNvSpPr/>
          <p:nvPr/>
        </p:nvSpPr>
        <p:spPr>
          <a:xfrm>
            <a:off x="3144711" y="2644170"/>
            <a:ext cx="590257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代数结构  </a:t>
            </a:r>
            <a:endParaRPr lang="en-US" altLang="zh-CN" sz="48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/>
            <a:r>
              <a:rPr lang="en-US" altLang="x-none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Algebraic Structure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441377878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内容占位符 96257">
            <a:extLst>
              <a:ext uri="{FF2B5EF4-FFF2-40B4-BE49-F238E27FC236}">
                <a16:creationId xmlns:a16="http://schemas.microsoft.com/office/drawing/2014/main" id="{DD11ED21-AFDE-4133-BA97-BD8FC7726D7F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813295"/>
            <a:ext cx="10307186" cy="56880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同态基本定理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设代数结构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V=&lt;S; *&gt;, V′=&lt;S′; *′&gt;, 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V′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的满同态映射，则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上定义一个关系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，使得当且仅当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h(x)=h(y)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上的同余关系（</a:t>
            </a:r>
            <a:r>
              <a:rPr lang="zh-CN" altLang="en-US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同余定理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）；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可以得到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的商代数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&lt;S/R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o&gt;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V/R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，且存在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V/R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的满同态映射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自然同态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V/R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V′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同构。</a:t>
            </a:r>
          </a:p>
        </p:txBody>
      </p:sp>
    </p:spTree>
    <p:extLst>
      <p:ext uri="{BB962C8B-B14F-4D97-AF65-F5344CB8AC3E}">
        <p14:creationId xmlns:p14="http://schemas.microsoft.com/office/powerpoint/2010/main" val="3400610786"/>
      </p:ext>
    </p:extLst>
  </p:cSld>
  <p:clrMapOvr>
    <a:masterClrMapping/>
  </p:clrMapOvr>
  <p:transition spd="slow" advTm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C09FE4F-8780-4C2D-A2EB-611FD8E508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1973030"/>
          <a:ext cx="8064500" cy="238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4" imgW="4885714" imgH="1448002" progId="Paint.Picture">
                  <p:embed/>
                </p:oleObj>
              </mc:Choice>
              <mc:Fallback>
                <p:oleObj name="位图图像" r:id="rId4" imgW="4885714" imgH="1448002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C09FE4F-8780-4C2D-A2EB-611FD8E508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1973030"/>
                        <a:ext cx="8064500" cy="238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596696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91E7A5-716D-41D4-9EA5-83854DDFE388}"/>
              </a:ext>
            </a:extLst>
          </p:cNvPr>
          <p:cNvSpPr/>
          <p:nvPr/>
        </p:nvSpPr>
        <p:spPr>
          <a:xfrm>
            <a:off x="5061101" y="2644170"/>
            <a:ext cx="206979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群  </a:t>
            </a:r>
            <a:endParaRPr lang="en-US" altLang="zh-CN" sz="48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/>
            <a:r>
              <a:rPr lang="en-US" altLang="x-none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G</a:t>
            </a:r>
            <a:r>
              <a:rPr lang="en-US" altLang="zh-CN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roup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029582487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5BCEC7-A2B1-4C4D-BAE9-08ECAD69FC42}"/>
              </a:ext>
            </a:extLst>
          </p:cNvPr>
          <p:cNvSpPr/>
          <p:nvPr/>
        </p:nvSpPr>
        <p:spPr>
          <a:xfrm>
            <a:off x="1751012" y="1159148"/>
            <a:ext cx="9699959" cy="3642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半群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(semigroup)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代数系统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上的二元运算。若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为半群。</a:t>
            </a:r>
          </a:p>
          <a:p>
            <a:pPr>
              <a:lnSpc>
                <a:spcPct val="150000"/>
              </a:lnSpc>
            </a:pP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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半群就是具有结合律的代数系统；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　　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验证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半群的要点是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验证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运算的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封闭性；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结合律</a:t>
            </a:r>
            <a:r>
              <a:rPr lang="zh-CN" altLang="en-US" sz="16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9942437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AE6B42-4830-4D0F-986F-209926B6F41A}"/>
              </a:ext>
            </a:extLst>
          </p:cNvPr>
          <p:cNvSpPr txBox="1">
            <a:spLocks noChangeArrowheads="1"/>
          </p:cNvSpPr>
          <p:nvPr/>
        </p:nvSpPr>
        <p:spPr>
          <a:xfrm>
            <a:off x="1673603" y="1074490"/>
            <a:ext cx="8879747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可换半群 单元半群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是半群。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运算满足交换律，则称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可换半群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运算有单位元，则称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单元半群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或者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独异点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运算满足交换律同时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运算又有单位元，则称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可换单元半群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可换独异点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848053840"/>
      </p:ext>
    </p:extLst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D0B375-BF40-4A62-B719-57C0276E3D98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015767"/>
            <a:ext cx="7620000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子半群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(sub-semigroup)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是半群，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S≠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，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的子代数系统，并且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也构成半群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的子半群。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子半群的概念是子代数系统概念在半群这种代数系统中的具体体现。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若代数系统中的二元运算满足结合律，则子代数系统中的二元运算也满足结合律，因此</a:t>
            </a:r>
            <a:r>
              <a:rPr lang="zh-CN" altLang="en-US" sz="2000" b="1" u="sng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半群的子代数系统就是这个半群的子半群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因此，验证子半群与验证子代数系统一样，必须验证条件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3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封闭性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18995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2BADD6-ADF3-4435-B8F6-25B939826F75}"/>
              </a:ext>
            </a:extLst>
          </p:cNvPr>
          <p:cNvSpPr txBox="1">
            <a:spLocks noChangeArrowheads="1"/>
          </p:cNvSpPr>
          <p:nvPr/>
        </p:nvSpPr>
        <p:spPr>
          <a:xfrm>
            <a:off x="1885542" y="1455738"/>
            <a:ext cx="8208962" cy="5616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；*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为代数结构，其中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是一个非空集合，*是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上的一个二元运算，若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）运算*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满足结合律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∈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  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(a*b)*c=a*(b*c)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）运算*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存在单位元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∈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e*a=a*e=a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∈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3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∈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存在逆元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∈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，使得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a*a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*a=e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则称代数结构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；*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是一个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(Group)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对于群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；*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任意的二元素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b∈G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，均有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a*b=b*a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，则称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；*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交换群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或称为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阿贝尔群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(Abelian group)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AA27A1-EEC3-4243-ACE0-41A9090DBB68}"/>
              </a:ext>
            </a:extLst>
          </p:cNvPr>
          <p:cNvSpPr/>
          <p:nvPr/>
        </p:nvSpPr>
        <p:spPr>
          <a:xfrm>
            <a:off x="1965820" y="5934928"/>
            <a:ext cx="69265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设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C00000"/>
                </a:solidFill>
              </a:rPr>
              <a:t>G, 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*)</a:t>
            </a:r>
            <a:r>
              <a:rPr lang="zh-CN" altLang="en-US" sz="2400" dirty="0">
                <a:solidFill>
                  <a:srgbClr val="C00000"/>
                </a:solidFill>
              </a:rPr>
              <a:t>是单元半群。若</a:t>
            </a:r>
            <a:r>
              <a:rPr lang="en-US" altLang="zh-CN" sz="2400" dirty="0">
                <a:solidFill>
                  <a:srgbClr val="C00000"/>
                </a:solidFill>
              </a:rPr>
              <a:t>G</a:t>
            </a:r>
            <a:r>
              <a:rPr lang="zh-CN" altLang="en-US" sz="2400" dirty="0">
                <a:solidFill>
                  <a:srgbClr val="C00000"/>
                </a:solidFill>
              </a:rPr>
              <a:t>中每个元素都有逆元，即　</a:t>
            </a:r>
            <a:r>
              <a:rPr lang="zh-CN" altLang="en-US" sz="2400" dirty="0">
                <a:solidFill>
                  <a:srgbClr val="C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olidFill>
                  <a:srgbClr val="C00000"/>
                </a:solidFill>
              </a:rPr>
              <a:t>g(</a:t>
            </a:r>
            <a:r>
              <a:rPr lang="en-US" altLang="zh-CN" sz="2400" dirty="0" err="1">
                <a:solidFill>
                  <a:srgbClr val="C00000"/>
                </a:solidFill>
              </a:rPr>
              <a:t>g</a:t>
            </a:r>
            <a:r>
              <a:rPr lang="en-US" altLang="zh-CN" sz="2400" dirty="0" err="1">
                <a:solidFill>
                  <a:srgbClr val="C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rgbClr val="C00000"/>
                </a:solidFill>
              </a:rPr>
              <a:t>G</a:t>
            </a:r>
            <a:r>
              <a:rPr lang="en-US" altLang="zh-CN" sz="2400" dirty="0">
                <a:solidFill>
                  <a:srgbClr val="C0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solidFill>
                  <a:srgbClr val="C00000"/>
                </a:solidFill>
              </a:rPr>
              <a:t> g</a:t>
            </a:r>
            <a:r>
              <a:rPr lang="en-US" altLang="zh-CN" sz="2400" baseline="30000" dirty="0">
                <a:solidFill>
                  <a:srgbClr val="C00000"/>
                </a:solidFill>
              </a:rPr>
              <a:t>-1</a:t>
            </a:r>
            <a:r>
              <a:rPr lang="en-US" altLang="zh-CN" sz="2400" dirty="0">
                <a:solidFill>
                  <a:srgbClr val="C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solidFill>
                  <a:srgbClr val="C00000"/>
                </a:solidFill>
              </a:rPr>
              <a:t>G)</a:t>
            </a:r>
            <a:r>
              <a:rPr lang="zh-CN" altLang="en-US" sz="2400" dirty="0">
                <a:solidFill>
                  <a:srgbClr val="C00000"/>
                </a:solidFill>
              </a:rPr>
              <a:t>，则称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C00000"/>
                </a:solidFill>
              </a:rPr>
              <a:t>G, 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*)</a:t>
            </a:r>
            <a:r>
              <a:rPr lang="zh-CN" altLang="en-US" sz="2400" dirty="0">
                <a:solidFill>
                  <a:srgbClr val="C00000"/>
                </a:solidFill>
              </a:rPr>
              <a:t>为群。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4FD7D9-9E8E-4049-8939-0880ED3AAB34}"/>
              </a:ext>
            </a:extLst>
          </p:cNvPr>
          <p:cNvSpPr txBox="1"/>
          <p:nvPr/>
        </p:nvSpPr>
        <p:spPr>
          <a:xfrm>
            <a:off x="1751013" y="850851"/>
            <a:ext cx="6143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群</a:t>
            </a:r>
            <a:r>
              <a:rPr lang="zh-CN" altLang="en-US" sz="2800" dirty="0">
                <a:solidFill>
                  <a:srgbClr val="C00000"/>
                </a:solidFill>
                <a:latin typeface="等线" panose="020F0502020204030204"/>
                <a:ea typeface="等线" panose="02010600030101010101" pitchFamily="2" charset="-122"/>
              </a:rPr>
              <a:t>（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group</a:t>
            </a:r>
            <a:r>
              <a:rPr lang="zh-CN" altLang="en-US" sz="2800" dirty="0">
                <a:solidFill>
                  <a:srgbClr val="C00000"/>
                </a:solidFill>
                <a:latin typeface="等线" panose="020F0502020204030204"/>
                <a:ea typeface="等线" panose="02010600030101010101" pitchFamily="2" charset="-122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987617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DF6B6-486F-4E58-BB98-A0F693F1E783}"/>
              </a:ext>
            </a:extLst>
          </p:cNvPr>
          <p:cNvSpPr txBox="1">
            <a:spLocks noChangeArrowheads="1"/>
          </p:cNvSpPr>
          <p:nvPr/>
        </p:nvSpPr>
        <p:spPr>
          <a:xfrm>
            <a:off x="2023306" y="908050"/>
            <a:ext cx="7848600" cy="57610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t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定理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&lt;G; *&gt;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是一个群，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）运算*满足消去律；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 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即对于任意</a:t>
            </a:r>
            <a:r>
              <a:rPr lang="en-US" altLang="zh-CN" sz="2400" b="1" dirty="0" err="1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a,b,c∈G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则有：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若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a*b=a*c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则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b=c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；</a:t>
            </a:r>
            <a:b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   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(2)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若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b*a=c*a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则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b=c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）对于任意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b∈G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，方程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a*x=b, y*a=b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对于未知量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皆有惟一解；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  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即对于任意的</a:t>
            </a:r>
            <a:r>
              <a:rPr lang="en-US" altLang="zh-CN" sz="2400" b="1" dirty="0" err="1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a,b∈G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有：</a:t>
            </a:r>
            <a:b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    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存在唯一元素 </a:t>
            </a:r>
            <a:r>
              <a:rPr lang="en-US" altLang="zh-CN" sz="2400" b="1" dirty="0" err="1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x∈G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，使得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a*x=b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；</a:t>
            </a:r>
            <a:b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    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(2)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存在唯一元素 </a:t>
            </a:r>
            <a:r>
              <a:rPr lang="en-US" altLang="zh-CN" sz="2400" b="1" dirty="0" err="1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y∈G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，使得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y*a=b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）对于任意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b∈G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，有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=a, (a*b)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=b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8194567"/>
      </p:ext>
    </p:extLst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0523124-FEA8-4EE2-8068-27685BC2CF30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924502"/>
            <a:ext cx="7848600" cy="15843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推论：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&lt;G;*&gt;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是半群，</a:t>
            </a:r>
          </a:p>
          <a:p>
            <a:pPr marL="0" indent="0">
              <a:lnSpc>
                <a:spcPct val="100000"/>
              </a:lnSpc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&lt;G;*&gt;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是群</a:t>
            </a:r>
            <a:r>
              <a:rPr kumimoji="1" lang="zh-CN" altLang="en-US" b="1" dirty="0">
                <a:solidFill>
                  <a:srgbClr val="000000"/>
                </a:solidFill>
                <a:latin typeface="Arial"/>
                <a:ea typeface="宋体" panose="02010600030101010101" pitchFamily="2" charset="-122"/>
              </a:rPr>
              <a:t>↔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a*x=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b,y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*a=b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有解</a:t>
            </a:r>
          </a:p>
        </p:txBody>
      </p:sp>
    </p:spTree>
    <p:extLst>
      <p:ext uri="{BB962C8B-B14F-4D97-AF65-F5344CB8AC3E}">
        <p14:creationId xmlns:p14="http://schemas.microsoft.com/office/powerpoint/2010/main" val="4012985320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13B930-5532-4858-A300-C4A4E3B5D465}"/>
              </a:ext>
            </a:extLst>
          </p:cNvPr>
          <p:cNvSpPr/>
          <p:nvPr/>
        </p:nvSpPr>
        <p:spPr>
          <a:xfrm>
            <a:off x="2167156" y="1046256"/>
            <a:ext cx="6096000" cy="196310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(G,*)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是群，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|G|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。则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中每个元素的逆元是唯一的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(2)G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中无零元。</a:t>
            </a:r>
          </a:p>
        </p:txBody>
      </p:sp>
    </p:spTree>
    <p:extLst>
      <p:ext uri="{BB962C8B-B14F-4D97-AF65-F5344CB8AC3E}">
        <p14:creationId xmlns:p14="http://schemas.microsoft.com/office/powerpoint/2010/main" val="1179322281"/>
      </p:ext>
    </p:extLst>
  </p:cSld>
  <p:clrMapOvr>
    <a:masterClrMapping/>
  </p:clrMapOvr>
  <p:transition spd="slow" advTm="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529B31-4661-441F-9117-5E450AF5CFF1}"/>
              </a:ext>
            </a:extLst>
          </p:cNvPr>
          <p:cNvSpPr/>
          <p:nvPr/>
        </p:nvSpPr>
        <p:spPr>
          <a:xfrm>
            <a:off x="1949042" y="1373427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元素的乘幂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设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(G,*)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是群。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C5AF6EE-ED36-44BB-B656-B5BD446AF126}"/>
                  </a:ext>
                </a:extLst>
              </p:cNvPr>
              <p:cNvSpPr/>
              <p:nvPr/>
            </p:nvSpPr>
            <p:spPr>
              <a:xfrm>
                <a:off x="2714562" y="3243263"/>
                <a:ext cx="3381438" cy="1117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      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   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zh-CN" altLang="en-US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r>
                                      <a:rPr lang="zh-CN" altLang="en-US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p>
                                </m:sSup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   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&lt;0,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C5AF6EE-ED36-44BB-B656-B5BD446AF1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562" y="3243263"/>
                <a:ext cx="3381438" cy="1117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278547"/>
      </p:ext>
    </p:extLst>
  </p:cSld>
  <p:clrMapOvr>
    <a:masterClrMapping/>
  </p:clrMapOvr>
  <p:transition spd="slow" advTm="0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A9EDA36-EA6A-4694-B45C-52A66D20031D}"/>
              </a:ext>
            </a:extLst>
          </p:cNvPr>
          <p:cNvSpPr txBox="1">
            <a:spLocks noChangeArrowheads="1"/>
          </p:cNvSpPr>
          <p:nvPr/>
        </p:nvSpPr>
        <p:spPr>
          <a:xfrm>
            <a:off x="2171700" y="1292404"/>
            <a:ext cx="7848600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如果一个群只包含有限个元素，则称为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有限群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，否则称为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无限群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若有限群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的元素个数为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，则称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的阶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，并记为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|G|=n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无限群的阶称为无限。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4435436"/>
      </p:ext>
    </p:extLst>
  </p:cSld>
  <p:clrMapOvr>
    <a:masterClrMapping/>
  </p:clrMapOvr>
  <p:transition spd="slow" advTm="0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18" name="文本占位符 26625">
            <a:extLst>
              <a:ext uri="{FF2B5EF4-FFF2-40B4-BE49-F238E27FC236}">
                <a16:creationId xmlns:a16="http://schemas.microsoft.com/office/drawing/2014/main" id="{093A17F4-0009-4838-AB1E-0672FEEE0C6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370137" y="558800"/>
            <a:ext cx="5153025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lvl="1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●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lvl="3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lvl="4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►"/>
              <a:defRPr sz="20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►"/>
              <a:defRPr sz="20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►"/>
              <a:defRPr sz="20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►"/>
              <a:defRPr sz="20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endParaRPr lang="en-US" altLang="zh-CN" sz="2400" b="1" dirty="0">
              <a:solidFill>
                <a:srgbClr val="FF330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marL="0" indent="0">
              <a:buFontTx/>
              <a:buNone/>
            </a:pPr>
            <a:endParaRPr lang="zh-CN" altLang="en-US" sz="2400" b="1" dirty="0">
              <a:solidFill>
                <a:srgbClr val="FF330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marL="0" indent="0">
              <a:buFontTx/>
              <a:buNone/>
            </a:pP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①  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一阶群仅有1个</a:t>
            </a:r>
          </a:p>
          <a:p>
            <a:pPr marL="0" indent="0">
              <a:buFontTx/>
              <a:buNone/>
            </a:pPr>
            <a:endParaRPr lang="zh-CN" altLang="en-US" sz="2400" b="1" dirty="0">
              <a:solidFill>
                <a:srgbClr val="000099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marL="0" indent="0">
              <a:buFontTx/>
              <a:buNone/>
            </a:pP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②  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二阶群仅有1个</a:t>
            </a:r>
          </a:p>
          <a:p>
            <a:pPr marL="0" indent="0">
              <a:buFontTx/>
              <a:buNone/>
            </a:pPr>
            <a:endParaRPr lang="zh-CN" altLang="en-US" sz="2400" b="1" dirty="0">
              <a:solidFill>
                <a:srgbClr val="000099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marL="0" indent="0">
              <a:buFontTx/>
              <a:buNone/>
            </a:pP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③  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三阶群仅有1个</a:t>
            </a:r>
          </a:p>
          <a:p>
            <a:pPr marL="0" indent="0">
              <a:buFontTx/>
              <a:buNone/>
            </a:pPr>
            <a:endParaRPr lang="zh-CN" altLang="en-US" sz="2400" b="1" dirty="0">
              <a:solidFill>
                <a:srgbClr val="000099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marL="0" indent="0">
              <a:buFontTx/>
              <a:buNone/>
            </a:pP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④  四阶群仅有2个</a:t>
            </a:r>
          </a:p>
        </p:txBody>
      </p:sp>
      <p:pic>
        <p:nvPicPr>
          <p:cNvPr id="19" name="table">
            <a:extLst>
              <a:ext uri="{FF2B5EF4-FFF2-40B4-BE49-F238E27FC236}">
                <a16:creationId xmlns:a16="http://schemas.microsoft.com/office/drawing/2014/main" id="{1132B655-2B2E-4D36-BD18-AFF31C9545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9725" y="1422400"/>
            <a:ext cx="741362" cy="1292225"/>
          </a:xfrm>
          <a:prstGeom prst="rect">
            <a:avLst/>
          </a:prstGeom>
        </p:spPr>
      </p:pic>
      <p:pic>
        <p:nvPicPr>
          <p:cNvPr id="20" name="table">
            <a:extLst>
              <a:ext uri="{FF2B5EF4-FFF2-40B4-BE49-F238E27FC236}">
                <a16:creationId xmlns:a16="http://schemas.microsoft.com/office/drawing/2014/main" id="{04E07693-689D-42A8-BB7E-54057859C0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8512" y="1135063"/>
            <a:ext cx="1403350" cy="1938338"/>
          </a:xfrm>
          <a:prstGeom prst="rect">
            <a:avLst/>
          </a:prstGeom>
        </p:spPr>
      </p:pic>
      <p:pic>
        <p:nvPicPr>
          <p:cNvPr id="21" name="table">
            <a:extLst>
              <a:ext uri="{FF2B5EF4-FFF2-40B4-BE49-F238E27FC236}">
                <a16:creationId xmlns:a16="http://schemas.microsoft.com/office/drawing/2014/main" id="{E3433CD0-C315-481D-ABE8-46F243DD14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3112" y="3438525"/>
            <a:ext cx="1978025" cy="258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82613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F9C0A5-D01A-4D2B-9CE7-5A7730BB2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351" y="1495586"/>
            <a:ext cx="5205061" cy="218868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65E99E3-680A-4C80-95BC-231533AD8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174" y="4107839"/>
            <a:ext cx="2455652" cy="225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3470"/>
      </p:ext>
    </p:extLst>
  </p:cSld>
  <p:clrMapOvr>
    <a:masterClrMapping/>
  </p:clrMapOvr>
  <p:transition spd="slow" advTm="0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0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A019BB2-FA9A-4AC6-8F51-391613814C3B}"/>
              </a:ext>
            </a:extLst>
          </p:cNvPr>
          <p:cNvSpPr txBox="1">
            <a:spLocks noChangeArrowheads="1"/>
          </p:cNvSpPr>
          <p:nvPr/>
        </p:nvSpPr>
        <p:spPr>
          <a:xfrm>
            <a:off x="1712913" y="947519"/>
            <a:ext cx="7848600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群中元素的阶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的一个元素，使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=e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的最小正整数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，称为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元素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Order,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周期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）。若这样的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不存在，则称元素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的阶为无限，常记为∞。元素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的阶常用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|a|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根据定义，易知，单位元的阶为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，其它元素的阶均大于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。在群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&lt;Z;+&gt;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，其它元素的阶皆是无限的。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R-{0}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对普通乘法构成群中，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，其它元素的阶均为无限。 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6898478"/>
      </p:ext>
    </p:extLst>
  </p:cSld>
  <p:clrMapOvr>
    <a:masterClrMapping/>
  </p:clrMapOvr>
  <p:transition spd="slow" advTm="0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D70D266-C690-4967-ADE7-CCBF3BC08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981075"/>
            <a:ext cx="7848600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；*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中的一个阶为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的元素，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是一个整数，则有</a:t>
            </a:r>
          </a:p>
          <a:p>
            <a:pPr marL="0" indent="0" algn="just">
              <a:lnSpc>
                <a:spcPct val="11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=e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当且仅当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r|k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0" indent="0" algn="just">
              <a:lnSpc>
                <a:spcPct val="11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-1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的阶相同；</a:t>
            </a:r>
          </a:p>
          <a:p>
            <a:pPr marL="0" indent="0" algn="just">
              <a:lnSpc>
                <a:spcPct val="11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3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小于或等于群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；*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中元素的个数。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4DB204-3D79-402B-9780-51D44FE36EEF}"/>
              </a:ext>
            </a:extLst>
          </p:cNvPr>
          <p:cNvSpPr txBox="1"/>
          <p:nvPr/>
        </p:nvSpPr>
        <p:spPr>
          <a:xfrm>
            <a:off x="1179739" y="4216356"/>
            <a:ext cx="9607731" cy="532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Comic Sans MS" panose="030F0702030302020204" pitchFamily="66" charset="0"/>
                <a:ea typeface="黑体" panose="02010609060101010101" pitchFamily="49" charset="-122"/>
              </a:rPr>
              <a:t>有限群</a:t>
            </a:r>
            <a:r>
              <a:rPr lang="en-US" altLang="zh-CN" sz="2800" b="1" dirty="0">
                <a:latin typeface="Comic Sans MS" panose="030F0702030302020204" pitchFamily="66" charset="0"/>
                <a:ea typeface="黑体" panose="02010609060101010101" pitchFamily="49" charset="-122"/>
              </a:rPr>
              <a:t>&lt;G, </a:t>
            </a:r>
            <a:r>
              <a:rPr lang="en-US" altLang="zh-CN" sz="2800" b="1" dirty="0">
                <a:latin typeface="Comic Sans MS" panose="030F0702030302020204" pitchFamily="66" charset="0"/>
                <a:ea typeface="黑体" panose="02010609060101010101" pitchFamily="49" charset="-122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Comic Sans MS" panose="030F0702030302020204" pitchFamily="66" charset="0"/>
                <a:ea typeface="黑体" panose="02010609060101010101" pitchFamily="49" charset="-122"/>
              </a:rPr>
              <a:t>&gt;</a:t>
            </a:r>
            <a:r>
              <a:rPr lang="zh-CN" altLang="en-US" sz="2800" b="1" dirty="0">
                <a:latin typeface="Comic Sans MS" panose="030F0702030302020204" pitchFamily="66" charset="0"/>
                <a:ea typeface="黑体" panose="02010609060101010101" pitchFamily="49" charset="-122"/>
              </a:rPr>
              <a:t>中每个元素的阶都有限，且不大于群</a:t>
            </a:r>
            <a:r>
              <a:rPr lang="en-US" altLang="zh-CN" sz="2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</a:t>
            </a:r>
            <a:r>
              <a:rPr lang="zh-CN" altLang="en-US" sz="2800" b="1" dirty="0">
                <a:latin typeface="Comic Sans MS" panose="030F0702030302020204" pitchFamily="66" charset="0"/>
                <a:ea typeface="黑体" panose="02010609060101010101" pitchFamily="49" charset="-122"/>
              </a:rPr>
              <a:t>的阶。</a:t>
            </a:r>
          </a:p>
        </p:txBody>
      </p:sp>
    </p:spTree>
    <p:extLst>
      <p:ext uri="{BB962C8B-B14F-4D97-AF65-F5344CB8AC3E}">
        <p14:creationId xmlns:p14="http://schemas.microsoft.com/office/powerpoint/2010/main" val="388572093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89A305-C14F-4D36-938A-C88E66FC6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1052513"/>
            <a:ext cx="7848600" cy="143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证明：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若群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中元素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的阶是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 ={a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,…,a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为群。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296257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632BF0F-F7E2-49C6-BD0F-A638ACD38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860" y="939130"/>
            <a:ext cx="7993062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若群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中元素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的阶分别是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marL="0" indent="0" algn="just">
              <a:lnSpc>
                <a:spcPct val="11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）对任意正整数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|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|=n/(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n,k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n,k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n, k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的最大公因数。 </a:t>
            </a:r>
          </a:p>
          <a:p>
            <a:pPr marL="0" indent="0" algn="just">
              <a:lnSpc>
                <a:spcPct val="11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）若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ab=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ba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，且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n,m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)=1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，则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|ab|=nm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</a:t>
            </a:r>
          </a:p>
          <a:p>
            <a:pPr marL="0" indent="0" algn="just">
              <a:lnSpc>
                <a:spcPct val="11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）设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|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|=s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n=n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n,k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),k=k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n,k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，则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(n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,k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)=1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。由于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</a:t>
            </a:r>
            <a:r>
              <a:rPr lang="en-US" altLang="zh-CN" sz="1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</a:t>
            </a:r>
            <a:r>
              <a:rPr lang="en-US" altLang="zh-CN" sz="1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n,k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)n</a:t>
            </a:r>
            <a:r>
              <a:rPr lang="en-US" altLang="zh-CN" sz="1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</a:t>
            </a:r>
            <a:r>
              <a:rPr lang="en-US" altLang="zh-CN" sz="1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=e,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因此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s|n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marL="0" indent="0" algn="just">
              <a:lnSpc>
                <a:spcPct val="11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   又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ks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=e,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则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n|ks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即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n,k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)|k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n,k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)s,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从而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|k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s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</a:t>
            </a:r>
          </a:p>
          <a:p>
            <a:pPr marL="0" indent="0" algn="just">
              <a:lnSpc>
                <a:spcPct val="11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   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(n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,k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)=1,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故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|s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</a:t>
            </a:r>
          </a:p>
          <a:p>
            <a:pPr marL="0" indent="0" algn="just">
              <a:lnSpc>
                <a:spcPct val="11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   综上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s=n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=n/(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n,k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2571340"/>
      </p:ext>
    </p:extLst>
  </p:cSld>
  <p:clrMapOvr>
    <a:masterClrMapping/>
  </p:clrMapOvr>
  <p:transition spd="slow" advTm="0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95E800-EACB-4ED4-AD3A-7FD02459F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2421" y="1056576"/>
            <a:ext cx="7848600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</a:pP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）由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ab=ba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有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(ab)</a:t>
            </a:r>
            <a:r>
              <a:rPr lang="en-US" altLang="zh-CN" sz="2800" b="1" baseline="30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nm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=a</a:t>
            </a:r>
            <a:r>
              <a:rPr lang="en-US" altLang="zh-CN" sz="2800" b="1" baseline="30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nm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b</a:t>
            </a:r>
            <a:r>
              <a:rPr lang="en-US" altLang="zh-CN" sz="2800" b="1" baseline="30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nm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=(a</a:t>
            </a:r>
            <a:r>
              <a:rPr lang="en-US" altLang="zh-CN" sz="2800" b="1" baseline="30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</a:t>
            </a:r>
            <a:r>
              <a:rPr lang="en-US" altLang="zh-CN" sz="2800" b="1" baseline="30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m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(b</a:t>
            </a:r>
            <a:r>
              <a:rPr lang="en-US" altLang="zh-CN" sz="2800" b="1" baseline="30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m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</a:t>
            </a:r>
            <a:r>
              <a:rPr lang="en-US" altLang="zh-CN" sz="2800" b="1" baseline="30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=e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</a:t>
            </a:r>
          </a:p>
          <a:p>
            <a:pPr marL="0" indent="0" algn="just">
              <a:lnSpc>
                <a:spcPct val="110000"/>
              </a:lnSpc>
            </a:pP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  于是，可令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|ab|=s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，且有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s|nm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 </a:t>
            </a:r>
          </a:p>
          <a:p>
            <a:pPr marL="0" indent="0" algn="just">
              <a:lnSpc>
                <a:spcPct val="110000"/>
              </a:lnSpc>
            </a:pP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  由</a:t>
            </a:r>
            <a:r>
              <a:rPr lang="de-DE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(ab)</a:t>
            </a:r>
            <a:r>
              <a:rPr lang="de-DE" altLang="zh-CN" sz="2800" b="1" baseline="30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s</a:t>
            </a:r>
            <a:r>
              <a:rPr lang="de-DE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=e</a:t>
            </a:r>
            <a:r>
              <a:rPr lang="zh-CN" altLang="de-DE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有</a:t>
            </a:r>
            <a:r>
              <a:rPr lang="de-DE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e=(ab)</a:t>
            </a:r>
            <a:r>
              <a:rPr lang="de-DE" altLang="zh-CN" sz="2800" b="1" baseline="30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sn</a:t>
            </a:r>
            <a:r>
              <a:rPr lang="de-DE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=a</a:t>
            </a:r>
            <a:r>
              <a:rPr lang="de-DE" altLang="zh-CN" sz="2800" b="1" baseline="30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sn</a:t>
            </a:r>
            <a:r>
              <a:rPr lang="de-DE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b</a:t>
            </a:r>
            <a:r>
              <a:rPr lang="de-DE" altLang="zh-CN" sz="2800" b="1" baseline="30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sn</a:t>
            </a:r>
            <a:r>
              <a:rPr lang="de-DE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=b</a:t>
            </a:r>
            <a:r>
              <a:rPr lang="de-DE" altLang="zh-CN" sz="2800" b="1" baseline="30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sn</a:t>
            </a:r>
            <a:r>
              <a:rPr lang="zh-CN" altLang="de-DE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 </a:t>
            </a:r>
          </a:p>
          <a:p>
            <a:pPr marL="0" indent="0" algn="just">
              <a:lnSpc>
                <a:spcPct val="110000"/>
              </a:lnSpc>
            </a:pPr>
            <a:r>
              <a:rPr lang="zh-CN" altLang="de-DE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  于是</a:t>
            </a:r>
            <a:r>
              <a:rPr lang="de-DE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m|sn</a:t>
            </a:r>
            <a:r>
              <a:rPr lang="zh-CN" altLang="de-DE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，而</a:t>
            </a:r>
            <a:r>
              <a:rPr lang="de-DE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(n,m)=1</a:t>
            </a:r>
            <a:r>
              <a:rPr lang="zh-CN" altLang="de-DE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，因此</a:t>
            </a:r>
            <a:r>
              <a:rPr lang="de-DE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m|s</a:t>
            </a:r>
            <a:r>
              <a:rPr lang="zh-CN" altLang="de-DE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 </a:t>
            </a:r>
          </a:p>
          <a:p>
            <a:pPr marL="0" indent="0" algn="just">
              <a:lnSpc>
                <a:spcPct val="110000"/>
              </a:lnSpc>
            </a:pPr>
            <a:r>
              <a:rPr lang="zh-CN" altLang="de-DE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  同理</a:t>
            </a:r>
            <a:r>
              <a:rPr lang="de-DE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n|s</a:t>
            </a:r>
            <a:r>
              <a:rPr lang="zh-CN" altLang="de-DE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 </a:t>
            </a:r>
            <a:endParaRPr lang="zh-CN" altLang="en-US" sz="28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marL="0" indent="0">
              <a:lnSpc>
                <a:spcPct val="110000"/>
              </a:lnSpc>
            </a:pP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  又由</a:t>
            </a:r>
            <a:r>
              <a:rPr lang="de-DE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(n,m)=1</a:t>
            </a:r>
            <a:r>
              <a:rPr lang="zh-CN" altLang="de-DE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可得</a:t>
            </a:r>
            <a:r>
              <a:rPr lang="de-DE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nm|s</a:t>
            </a:r>
            <a:r>
              <a:rPr lang="zh-CN" altLang="de-DE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</a:t>
            </a:r>
          </a:p>
          <a:p>
            <a:pPr marL="0" indent="0">
              <a:lnSpc>
                <a:spcPct val="110000"/>
              </a:lnSpc>
            </a:pP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  综上得，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s=nm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zh-CN" altLang="de-DE" sz="2800" b="1"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754158"/>
      </p:ext>
    </p:extLst>
  </p:cSld>
  <p:clrMapOvr>
    <a:masterClrMapping/>
  </p:clrMapOvr>
  <p:transition spd="slow" advTm="0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4D78581-8C43-41D1-B4F3-D3B6B8F6701B}"/>
              </a:ext>
            </a:extLst>
          </p:cNvPr>
          <p:cNvSpPr txBox="1">
            <a:spLocks noChangeArrowheads="1"/>
          </p:cNvSpPr>
          <p:nvPr/>
        </p:nvSpPr>
        <p:spPr>
          <a:xfrm>
            <a:off x="1712913" y="981075"/>
            <a:ext cx="7848600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子群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的非空子集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如果对于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的运算也成一个群，则称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子群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(Subgroup)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|G|&gt;1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的两个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平凡子群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 </a:t>
            </a:r>
            <a:b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{e}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（常记为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），</a:t>
            </a:r>
            <a:b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另一个是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自身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其它子群，则被称为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非平凡子群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真子群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2551387"/>
      </p:ext>
    </p:extLst>
  </p:cSld>
  <p:clrMapOvr>
    <a:masterClrMapping/>
  </p:clrMapOvr>
  <p:transition spd="slow" advTm="0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47397CE-DDE3-4239-BADC-AAD877B45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694" y="972686"/>
            <a:ext cx="7920037" cy="554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如果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的子群，则容易得到如下结论：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）若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的单位元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也是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的单位元；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6869762"/>
      </p:ext>
    </p:extLst>
  </p:cSld>
  <p:clrMapOvr>
    <a:masterClrMapping/>
  </p:clrMapOvr>
  <p:transition spd="slow" advTm="0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B3E44E8-1F86-4A76-96D2-A20044D2E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867863"/>
            <a:ext cx="7777163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的非空子集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的运算构成一个子群的 充要条件是：</a:t>
            </a:r>
            <a:endParaRPr lang="en-US" altLang="zh-CN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，都有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marL="0" indent="0">
              <a:lnSpc>
                <a:spcPct val="11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，都有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的非空子集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的运算构成一个子群的 充要条件是：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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的非空有限子集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的运算构成一个子群的充要条件是：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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4) 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是有限群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的非空子集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的运算构成一个子群的充要条件是：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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3D7E14-EE53-41B2-BFB6-4AD204A2DF41}"/>
              </a:ext>
            </a:extLst>
          </p:cNvPr>
          <p:cNvSpPr txBox="1"/>
          <p:nvPr/>
        </p:nvSpPr>
        <p:spPr>
          <a:xfrm>
            <a:off x="9620795" y="2994801"/>
            <a:ext cx="23186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定理中的条件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a,b∈H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1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∈H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，显然也可以改写成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a,b∈H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b∈H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475251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A03C7B7-86F0-4761-BE04-87C51DB45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4249" y="964297"/>
            <a:ext cx="7848600" cy="554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&lt;G; *&gt;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为群，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上等价关系，且对任意的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，若（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x*z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R(y*z),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xRy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H={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h|h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hRe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，其中，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&lt;G; *&gt;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的单位元。 证明：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&lt;H; *&gt;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&lt;G; *&gt;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的子群。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lnSpc>
                <a:spcPct val="10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证明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由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上的等价关系有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G,eRe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，故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，从而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H≠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于是，对于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，有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aRe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bRe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，由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上的等价关系有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aRb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即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aeReb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，亦即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bReb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由题设，可得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是显然的。 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故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0" indent="0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所以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&lt;H; *&gt;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&lt;G; *&gt;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的子群。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406539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DAA2354-F971-4C11-A0DD-0540B0F3D78E}"/>
              </a:ext>
            </a:extLst>
          </p:cNvPr>
          <p:cNvSpPr txBox="1">
            <a:spLocks noChangeArrowheads="1"/>
          </p:cNvSpPr>
          <p:nvPr/>
        </p:nvSpPr>
        <p:spPr>
          <a:xfrm>
            <a:off x="2171700" y="897185"/>
            <a:ext cx="7848600" cy="55435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&lt;G, 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是一个交换群，令</a:t>
            </a:r>
            <a:endParaRPr lang="en-US" altLang="zh-CN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H= {a| 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a∈G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= a</a:t>
            </a:r>
            <a:r>
              <a:rPr lang="en-US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&lt;H, 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&lt;G, 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的一个子群。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EF1859-3DA0-491F-9D8F-33C74B796987}"/>
              </a:ext>
            </a:extLst>
          </p:cNvPr>
          <p:cNvSpPr txBox="1">
            <a:spLocks noChangeArrowheads="1"/>
          </p:cNvSpPr>
          <p:nvPr/>
        </p:nvSpPr>
        <p:spPr>
          <a:xfrm>
            <a:off x="2171700" y="2728535"/>
            <a:ext cx="7848600" cy="18808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&lt;G;*&gt;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是一个群，定义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的子集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H={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a|a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*x=x*a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，对于任意的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试问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对于运算*能否构成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&lt;G;*&gt;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的子群？ 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B17DD2-FC34-41CE-9ABB-37EB475258ED}"/>
              </a:ext>
            </a:extLst>
          </p:cNvPr>
          <p:cNvSpPr txBox="1">
            <a:spLocks noChangeArrowheads="1"/>
          </p:cNvSpPr>
          <p:nvPr/>
        </p:nvSpPr>
        <p:spPr>
          <a:xfrm>
            <a:off x="2171700" y="4696944"/>
            <a:ext cx="7848600" cy="14351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&lt;A;*&gt;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&lt;B;*&gt;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都是群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&lt;G;*&gt;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的子群，试证明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:&lt;A*B;*&gt;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&lt;G;*&gt;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的子群的充要条件是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A*B=B*A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56396981"/>
      </p:ext>
    </p:extLst>
  </p:cSld>
  <p:clrMapOvr>
    <a:masterClrMapping/>
  </p:clrMapOvr>
  <p:transition spd="slow" advTm="0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7FF317-5DC2-476A-8B98-86AF29AC7B22}"/>
              </a:ext>
            </a:extLst>
          </p:cNvPr>
          <p:cNvSpPr txBox="1">
            <a:spLocks noChangeArrowheads="1"/>
          </p:cNvSpPr>
          <p:nvPr/>
        </p:nvSpPr>
        <p:spPr>
          <a:xfrm>
            <a:off x="1657077" y="1721304"/>
            <a:ext cx="9299983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的一个子群，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a∈G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，则称群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的子集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Ha={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ha|h∈H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关于子群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</a:t>
            </a:r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右陪集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(Right 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Coset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而称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aH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={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ah|h∈H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的关于子群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</a:t>
            </a:r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左陪集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(Left 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Coset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称为右陪集（左陪集）的代表元。 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显然，当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Abel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群时，子群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的右陪集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与左陪集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相等。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48B9C1-822E-4A85-B575-7BAFCEFE5F63}"/>
              </a:ext>
            </a:extLst>
          </p:cNvPr>
          <p:cNvSpPr txBox="1"/>
          <p:nvPr/>
        </p:nvSpPr>
        <p:spPr>
          <a:xfrm>
            <a:off x="1657077" y="870963"/>
            <a:ext cx="6143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陪集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60828653"/>
      </p:ext>
    </p:extLst>
  </p:cSld>
  <p:clrMapOvr>
    <a:masterClrMapping/>
  </p:clrMapOvr>
  <p:transition spd="slow" advTm="0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0E1ADF45-A294-4AEA-B306-26D9F9A96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040716"/>
            <a:ext cx="8064500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  (1)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Klein</a:t>
            </a:r>
            <a:r>
              <a:rPr lang="zh-CN" altLang="en-US" dirty="0">
                <a:latin typeface="Times New Roman" panose="02020603050405020304" pitchFamily="18" charset="0"/>
              </a:rPr>
              <a:t>四元群，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的子群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所有的右陪集是： 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</a:t>
            </a:r>
            <a:r>
              <a:rPr lang="en-US" altLang="zh-CN" i="1" dirty="0">
                <a:latin typeface="Times New Roman" panose="02020603050405020304" pitchFamily="18" charset="0"/>
              </a:rPr>
              <a:t>He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Hb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},  </a:t>
            </a:r>
            <a:r>
              <a:rPr lang="en-US" altLang="zh-CN" i="1" dirty="0" err="1">
                <a:latin typeface="Times New Roman" panose="02020603050405020304" pitchFamily="18" charset="0"/>
              </a:rPr>
              <a:t>Hc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不同的右陪集只有两个，即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}.</a:t>
            </a:r>
            <a:br>
              <a:rPr lang="en-US" altLang="zh-CN" dirty="0">
                <a:latin typeface="Times New Roman" panose="02020603050405020304" pitchFamily="18" charset="0"/>
              </a:rPr>
            </a:br>
            <a:br>
              <a:rPr lang="en-US" altLang="zh-CN" dirty="0"/>
            </a:br>
            <a:endParaRPr lang="en-US" altLang="zh-CN" dirty="0"/>
          </a:p>
        </p:txBody>
      </p:sp>
      <p:graphicFrame>
        <p:nvGraphicFramePr>
          <p:cNvPr id="5" name="Group 77">
            <a:extLst>
              <a:ext uri="{FF2B5EF4-FFF2-40B4-BE49-F238E27FC236}">
                <a16:creationId xmlns:a16="http://schemas.microsoft.com/office/drawing/2014/main" id="{F4314D3F-F2B1-4630-A0F7-09886FCC40C6}"/>
              </a:ext>
            </a:extLst>
          </p:cNvPr>
          <p:cNvGraphicFramePr>
            <a:graphicFrameLocks noGrp="1"/>
          </p:cNvGraphicFramePr>
          <p:nvPr/>
        </p:nvGraphicFramePr>
        <p:xfrm>
          <a:off x="8641301" y="3320409"/>
          <a:ext cx="2519363" cy="2160588"/>
        </p:xfrm>
        <a:graphic>
          <a:graphicData uri="http://schemas.openxmlformats.org/drawingml/2006/table">
            <a:tbl>
              <a:tblPr/>
              <a:tblGrid>
                <a:gridCol w="574675">
                  <a:extLst>
                    <a:ext uri="{9D8B030D-6E8A-4147-A177-3AD203B41FA5}">
                      <a16:colId xmlns:a16="http://schemas.microsoft.com/office/drawing/2014/main" val="2827545792"/>
                    </a:ext>
                  </a:extLst>
                </a:gridCol>
                <a:gridCol w="1944688">
                  <a:extLst>
                    <a:ext uri="{9D8B030D-6E8A-4147-A177-3AD203B41FA5}">
                      <a16:colId xmlns:a16="http://schemas.microsoft.com/office/drawing/2014/main" val="3875587174"/>
                    </a:ext>
                  </a:extLst>
                </a:gridCol>
              </a:tblGrid>
              <a:tr h="573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e    a    b    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83948"/>
                  </a:ext>
                </a:extLst>
              </a:tr>
              <a:tr h="1587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e    a    b    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a    e    c    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b    c    e    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c    b    a    e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984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51334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706C851-66AE-49E0-ABEE-D298F3968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090" y="873125"/>
            <a:ext cx="8229600" cy="511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={1,2,3}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上的双射函数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</a:p>
          <a:p>
            <a:pPr>
              <a:spcBef>
                <a:spcPct val="3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={&lt;1,1&gt;,&lt;2,2&gt;,&lt;3,3&gt;}</a:t>
            </a:r>
            <a:r>
              <a:rPr lang="zh-CN" altLang="en-US" dirty="0">
                <a:latin typeface="Times New Roman" panose="02020603050405020304" pitchFamily="18" charset="0"/>
              </a:rPr>
              <a:t>，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={&lt;1,2&gt;,&lt;2,1&gt;,&lt;3,3&gt;}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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={&lt;1,3&gt;,&lt;2,2&gt;,&lt;3,1&gt;}</a:t>
            </a:r>
            <a:r>
              <a:rPr lang="zh-CN" altLang="en-US" dirty="0">
                <a:latin typeface="Times New Roman" panose="02020603050405020304" pitchFamily="18" charset="0"/>
              </a:rPr>
              <a:t>，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={&lt;1,1&gt;,&lt;2,3&gt;,&lt;3,2&gt;}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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={&lt;1,2&gt;,&lt;2,3&gt;,&lt;3,1&gt;}</a:t>
            </a:r>
            <a:r>
              <a:rPr lang="zh-CN" altLang="en-US" dirty="0">
                <a:latin typeface="Times New Roman" panose="02020603050405020304" pitchFamily="18" charset="0"/>
              </a:rPr>
              <a:t>，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={&lt;1,3&gt;,&lt;2,1&gt;,&lt;3,2&gt;}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latin typeface="Times New Roman" panose="02020603050405020304" pitchFamily="18" charset="0"/>
              </a:rPr>
              <a:t>= 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 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关于函数的复合运算构成群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考虑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的子群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}. </a:t>
            </a:r>
            <a:r>
              <a:rPr lang="zh-CN" altLang="en-US" dirty="0">
                <a:latin typeface="Times New Roman" panose="02020603050405020304" pitchFamily="18" charset="0"/>
              </a:rPr>
              <a:t>做出 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zh-CN" altLang="en-US" dirty="0">
                <a:latin typeface="Times New Roman" panose="02020603050405020304" pitchFamily="18" charset="0"/>
              </a:rPr>
              <a:t>的全体右陪集如下：</a:t>
            </a:r>
          </a:p>
          <a:p>
            <a:pPr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H ,  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       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},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},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结论：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.  </a:t>
            </a:r>
          </a:p>
        </p:txBody>
      </p:sp>
    </p:spTree>
    <p:extLst>
      <p:ext uri="{BB962C8B-B14F-4D97-AF65-F5344CB8AC3E}">
        <p14:creationId xmlns:p14="http://schemas.microsoft.com/office/powerpoint/2010/main" val="3597003776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13129</TotalTime>
  <Words>2713</Words>
  <Application>Microsoft Office PowerPoint</Application>
  <PresentationFormat>宽屏</PresentationFormat>
  <Paragraphs>214</Paragraphs>
  <Slides>29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等线</vt:lpstr>
      <vt:lpstr>等线 Light</vt:lpstr>
      <vt:lpstr>黑体</vt:lpstr>
      <vt:lpstr>KaiTi</vt:lpstr>
      <vt:lpstr>宋体</vt:lpstr>
      <vt:lpstr>Microsoft YaHei Light</vt:lpstr>
      <vt:lpstr>Arial</vt:lpstr>
      <vt:lpstr>Arial Black</vt:lpstr>
      <vt:lpstr>Cambria Math</vt:lpstr>
      <vt:lpstr>Comic Sans MS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wyq</dc:creator>
  <cp:lastModifiedBy>y z</cp:lastModifiedBy>
  <cp:revision>142</cp:revision>
  <dcterms:created xsi:type="dcterms:W3CDTF">2021-11-05T13:12:46Z</dcterms:created>
  <dcterms:modified xsi:type="dcterms:W3CDTF">2026-01-04T02:56:40Z</dcterms:modified>
</cp:coreProperties>
</file>