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445" r:id="rId2"/>
    <p:sldId id="1486" r:id="rId3"/>
    <p:sldId id="2354" r:id="rId4"/>
    <p:sldId id="2355" r:id="rId5"/>
    <p:sldId id="2360" r:id="rId6"/>
    <p:sldId id="2332" r:id="rId7"/>
    <p:sldId id="2319" r:id="rId8"/>
    <p:sldId id="2339" r:id="rId9"/>
    <p:sldId id="2340" r:id="rId10"/>
    <p:sldId id="2341" r:id="rId11"/>
    <p:sldId id="2356" r:id="rId12"/>
    <p:sldId id="2357" r:id="rId13"/>
    <p:sldId id="2358" r:id="rId14"/>
    <p:sldId id="2359" r:id="rId15"/>
    <p:sldId id="2375" r:id="rId16"/>
    <p:sldId id="2377" r:id="rId17"/>
    <p:sldId id="2378" r:id="rId18"/>
    <p:sldId id="2344" r:id="rId19"/>
    <p:sldId id="2345" r:id="rId20"/>
    <p:sldId id="2346" r:id="rId21"/>
    <p:sldId id="2347" r:id="rId22"/>
    <p:sldId id="1528" r:id="rId23"/>
    <p:sldId id="1529" r:id="rId24"/>
    <p:sldId id="2343" r:id="rId25"/>
    <p:sldId id="2348" r:id="rId26"/>
    <p:sldId id="2349" r:id="rId27"/>
    <p:sldId id="1538" r:id="rId28"/>
    <p:sldId id="2350" r:id="rId29"/>
    <p:sldId id="1540" r:id="rId30"/>
    <p:sldId id="2351" r:id="rId31"/>
    <p:sldId id="2352" r:id="rId32"/>
    <p:sldId id="1545" r:id="rId33"/>
    <p:sldId id="1546" r:id="rId34"/>
    <p:sldId id="2353" r:id="rId35"/>
    <p:sldId id="1535" r:id="rId36"/>
    <p:sldId id="2324" r:id="rId37"/>
    <p:sldId id="2325" r:id="rId38"/>
    <p:sldId id="2326" r:id="rId39"/>
    <p:sldId id="2327" r:id="rId4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3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366" autoAdjust="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65E74C-0388-460B-8A1A-12262F716AB4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12EA6-5A00-4649-A385-8C3D605DC7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3410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2214FF63-7E78-4CEA-B78B-294BDB7C41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999858BC-515F-4514-A470-A99FA05D13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DB2CFB14-3F96-47B7-9206-1409F9E89C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222AA93-F3F5-44B4-89DC-39F3993E743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479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41472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7948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62030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39243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20739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9849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4310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0721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7351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10358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0472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67870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00874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400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28716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70419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9214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50863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2767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82762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81596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5721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28949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84834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9682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23658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047897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4851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6027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343309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66492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224092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024074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944118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70943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77090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57527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508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C38839-3093-4729-8FEC-B8F7E98C00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56451D4-D3E9-4B1A-95FF-7D3B8AF5E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3796E7-D825-4C6E-BB57-A7CD8789F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09B286-5F09-4022-9FBE-42A79B112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B49831-1415-4A89-9C0F-0B710298F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6948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AF371C-923A-4556-89D9-6D9283A0A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F452F5-C1B4-4538-A3E8-6DDD4E3FA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AD3449-79F7-4668-B887-D81CE8C88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D3B59D-BF5B-4DBC-9568-C8AAA663B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140E4E-BBD4-4D8B-98E4-EA30CF02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869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0BCA1D-712E-4F01-BAE5-8839C0DA0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AE37AA-2A2A-48D0-8688-D6F59D667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0A6700-85CF-420A-ABAE-FF91735ED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62237A-DAB1-4E98-8B5B-CC1845DB6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5D0C69-48ED-4B44-A7D1-9AE23383C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405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06A286-E7EE-4D49-B4B0-76832A509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139823-13D0-4FEF-A29A-E79B586622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9679F6-6354-42A0-8470-199F28220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8206FB-A032-418A-BB97-4CE861AB4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238BE2-4D63-4513-89E9-8162B99BA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67CBF8-AFBC-4D68-AF29-C94A97009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3454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009053-D199-4CC7-98FA-E112AB4B4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2E4443-2D08-45C3-A860-96FD1AF4F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96351A-C85B-412D-9175-4D3FD33ED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91DAADB-9A7A-4973-AE1B-CED0F8308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2AFD96D-F559-4505-952C-8BA09BFA93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05D621F-C4F8-4B34-A7F6-16826D050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1B6E70F-70C0-4744-BA5C-79003E6B7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1C0EED7-721D-410A-8683-671A021E0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760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905F9F-E778-4AF2-97CA-47B468DCD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5461C9F-E0FE-424D-BAD5-9433FCE03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0C30F9B-24B1-4F3C-B51F-EF11DC105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71B3E22-D4E5-4B77-801C-2F976DDDF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254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1BE8AAB-8A93-4DA4-91BB-AA1694AF7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E338EE8-71EA-462E-A54F-FCC3FC6F7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7FFFDF-496B-4AE6-A7F6-4838B6C69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82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B799E-158D-4F13-B1D8-75C44E562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B3B7AF-9C05-48B9-B50C-1D3595D5E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0F83C59-6E43-49DE-9EA3-A9A734C2F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972035-E581-4546-A646-9CE73C3E3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16B245-4FB7-4C26-88C6-480F93289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EA37DF-1C3E-4187-9F19-56F9CF40D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9317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CBD2-48C7-4DD4-85B9-665DB9CA2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E43F06E-1C36-4C66-9E8E-1B38D38BBD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2AACA3-D5EA-4976-B46A-426D9DD6B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97B16B-9109-428A-AA9F-6433D823A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A6ED09-92F3-4027-B4D7-6B8809BEC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EE1814-E277-48BF-A37C-B8DC23077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023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DB03DE-A4A4-4F0A-A9BD-028DD3FCE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4C1679-A24E-4034-B873-263855CD39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D25EB0-BC97-43A3-83EE-556D5C864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A40581-EA82-4D2B-98B5-74D4D112D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9EE154-45E0-4D8D-8A71-8D4CF08FF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673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CEE343A-5B65-4716-95F1-9E48DCD8C9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6F6630-FD54-4703-A7DD-DF2E514B53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43D9D7-7F8E-4C14-8CA9-F338013DD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1EEFCF-892B-49DF-A6EE-D431C832B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FF0452-FBD7-4399-AEDE-FC430C2E6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282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D73D5CAC-F429-4F2F-9F7B-6223C359040B}"/>
              </a:ext>
            </a:extLst>
          </p:cNvPr>
          <p:cNvSpPr txBox="1"/>
          <p:nvPr userDrawn="1"/>
        </p:nvSpPr>
        <p:spPr>
          <a:xfrm>
            <a:off x="76200" y="117475"/>
            <a:ext cx="1701800" cy="676275"/>
          </a:xfrm>
          <a:prstGeom prst="rect">
            <a:avLst/>
          </a:prstGeom>
          <a:noFill/>
        </p:spPr>
        <p:txBody>
          <a:bodyPr lIns="121900" tIns="60949" rIns="121900" bIns="60949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598" b="1" spc="-150" dirty="0">
                <a:solidFill>
                  <a:schemeClr val="accent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3598" b="1" spc="-150" dirty="0">
              <a:solidFill>
                <a:schemeClr val="accent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44DE135-33BF-4676-B43F-8AA62673A58B}"/>
              </a:ext>
            </a:extLst>
          </p:cNvPr>
          <p:cNvCxnSpPr/>
          <p:nvPr userDrawn="1"/>
        </p:nvCxnSpPr>
        <p:spPr>
          <a:xfrm>
            <a:off x="1562100" y="693738"/>
            <a:ext cx="10629900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665028"/>
      </p:ext>
    </p:extLst>
  </p:cSld>
  <p:clrMapOvr>
    <a:masterClrMapping/>
  </p:clrMapOvr>
  <p:transition spd="slow" advTm="0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1591E61-2795-47C4-BFA6-697F942D9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4E90BB-9C04-4BA4-8EBF-3BD6F7FF9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86B6A8-6B45-45E5-A763-39B87EACB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54364-00D7-41EA-9F35-087FAD37449B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F0F76C-578E-4398-A65C-C96041DE2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81C9BE-7819-4C7C-BFE7-801F21DF3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1031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image" Target="../media/image1.png"/><Relationship Id="rId7" Type="http://schemas.openxmlformats.org/officeDocument/2006/relationships/oleObject" Target="../embeddings/oleObject3.bin"/><Relationship Id="rId12" Type="http://schemas.openxmlformats.org/officeDocument/2006/relationships/image" Target="../media/image9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.bin"/><Relationship Id="rId11" Type="http://schemas.openxmlformats.org/officeDocument/2006/relationships/oleObject" Target="../embeddings/oleObject5.bin"/><Relationship Id="rId5" Type="http://schemas.openxmlformats.org/officeDocument/2006/relationships/image" Target="../media/image6.wmf"/><Relationship Id="rId10" Type="http://schemas.openxmlformats.org/officeDocument/2006/relationships/image" Target="../media/image8.wmf"/><Relationship Id="rId4" Type="http://schemas.openxmlformats.org/officeDocument/2006/relationships/oleObject" Target="../embeddings/oleObject1.bin"/><Relationship Id="rId9" Type="http://schemas.openxmlformats.org/officeDocument/2006/relationships/oleObject" Target="../embeddings/oleObject4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4">
            <a:extLst>
              <a:ext uri="{FF2B5EF4-FFF2-40B4-BE49-F238E27FC236}">
                <a16:creationId xmlns:a16="http://schemas.microsoft.com/office/drawing/2014/main" id="{13E189C7-8218-4052-85AE-E01EC1124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3073">
            <a:extLst>
              <a:ext uri="{FF2B5EF4-FFF2-40B4-BE49-F238E27FC236}">
                <a16:creationId xmlns:a16="http://schemas.microsoft.com/office/drawing/2014/main" id="{F7D2571E-1D87-457C-8CCC-C3C98F94D652}"/>
              </a:ext>
            </a:extLst>
          </p:cNvPr>
          <p:cNvSpPr>
            <a:spLocks noGrp="1"/>
          </p:cNvSpPr>
          <p:nvPr/>
        </p:nvSpPr>
        <p:spPr>
          <a:xfrm>
            <a:off x="2390775" y="3140075"/>
            <a:ext cx="7772400" cy="95091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5400" noProof="1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anose="02010609060101010101" charset="-122"/>
                <a:ea typeface="KaiTi" panose="02010609060101010101" charset="-122"/>
                <a:cs typeface="Times New Roman" panose="02020603050405020304" pitchFamily="2" charset="0"/>
              </a:rPr>
              <a:t>离散数学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noProof="1">
                <a:solidFill>
                  <a:srgbClr val="0066FF"/>
                </a:solidFill>
                <a:latin typeface="Arial Black" panose="020B0A04020102020204" charset="0"/>
                <a:ea typeface="+mn-ea"/>
                <a:cs typeface="Times New Roman" panose="02020603050405020304" pitchFamily="2" charset="0"/>
              </a:rPr>
              <a:t>Discrete Mathematics</a:t>
            </a:r>
          </a:p>
        </p:txBody>
      </p:sp>
      <p:sp>
        <p:nvSpPr>
          <p:cNvPr id="4100" name="矩形 3074">
            <a:extLst>
              <a:ext uri="{FF2B5EF4-FFF2-40B4-BE49-F238E27FC236}">
                <a16:creationId xmlns:a16="http://schemas.microsoft.com/office/drawing/2014/main" id="{AA238628-3C73-45C1-88BF-CA2DFF4F68C6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485900" y="4337050"/>
            <a:ext cx="9104313" cy="233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2400">
              <a:solidFill>
                <a:srgbClr val="0066FF"/>
              </a:solidFill>
              <a:latin typeface="Segoe UI Semibold" panose="020B0702040204020203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2400">
              <a:solidFill>
                <a:srgbClr val="0066FF"/>
              </a:solidFill>
              <a:latin typeface="Segoe UI Semibold" panose="020B0702040204020203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solidFill>
                  <a:srgbClr val="A5002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计算机学院 </a:t>
            </a: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solidFill>
                  <a:srgbClr val="A5002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吴亦奇  </a:t>
            </a:r>
            <a:r>
              <a:rPr lang="en-US" altLang="zh-CN" sz="2400">
                <a:solidFill>
                  <a:srgbClr val="A50021"/>
                </a:solidFill>
                <a:latin typeface="Segoe UI Semibold" panose="020B0702040204020203" pitchFamily="34" charset="0"/>
                <a:ea typeface="宋体" panose="02010600030101010101" pitchFamily="2" charset="-122"/>
              </a:rPr>
              <a:t>wuyq</a:t>
            </a:r>
            <a:r>
              <a:rPr lang="zh-CN" altLang="en-US" sz="2400">
                <a:solidFill>
                  <a:srgbClr val="A50021"/>
                </a:solidFill>
                <a:latin typeface="Segoe UI Semibold" panose="020B0702040204020203" pitchFamily="34" charset="0"/>
                <a:ea typeface="宋体" panose="02010600030101010101" pitchFamily="2" charset="-122"/>
              </a:rPr>
              <a:t>@cug.edu.cn</a:t>
            </a:r>
            <a:endParaRPr lang="zh-CN" altLang="en-US" sz="32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101" name="内容占位符 3076">
            <a:extLst>
              <a:ext uri="{FF2B5EF4-FFF2-40B4-BE49-F238E27FC236}">
                <a16:creationId xmlns:a16="http://schemas.microsoft.com/office/drawing/2014/main" id="{31156996-2154-42A9-9D69-9E3C40E3A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52513"/>
            <a:ext cx="9137650" cy="168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821093"/>
      </p:ext>
    </p:extLst>
  </p:cSld>
  <p:clrMapOvr>
    <a:masterClrMapping/>
  </p:clrMapOvr>
  <p:transition spd="slow" advTm="0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标题 5121">
            <a:extLst>
              <a:ext uri="{FF2B5EF4-FFF2-40B4-BE49-F238E27FC236}">
                <a16:creationId xmlns:a16="http://schemas.microsoft.com/office/drawing/2014/main" id="{5A17C800-241B-4A93-8639-677019E0363C}"/>
              </a:ext>
            </a:extLst>
          </p:cNvPr>
          <p:cNvSpPr txBox="1">
            <a:spLocks/>
          </p:cNvSpPr>
          <p:nvPr/>
        </p:nvSpPr>
        <p:spPr>
          <a:xfrm>
            <a:off x="1915160" y="2860675"/>
            <a:ext cx="8361680" cy="1136650"/>
          </a:xfrm>
          <a:prstGeom prst="rect">
            <a:avLst/>
          </a:prstGeom>
          <a:ln>
            <a:noFill/>
            <a:miter/>
          </a:ln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base">
              <a:lnSpc>
                <a:spcPct val="135000"/>
              </a:lnSpc>
            </a:pPr>
            <a:r>
              <a:rPr lang="zh-CN" altLang="en-US" sz="4200" b="1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SimHei" panose="02010609060101010101" pitchFamily="2" charset="-122"/>
              </a:rPr>
              <a:t>图</a:t>
            </a:r>
            <a:endParaRPr lang="en-US" altLang="zh-CN" sz="4200" b="1" noProof="1">
              <a:solidFill>
                <a:srgbClr val="CC33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SimHei" panose="02010609060101010101" pitchFamily="2" charset="-122"/>
            </a:endParaRPr>
          </a:p>
          <a:p>
            <a:pPr algn="ctr" fontAlgn="base">
              <a:lnSpc>
                <a:spcPct val="135000"/>
              </a:lnSpc>
            </a:pPr>
            <a:r>
              <a:rPr lang="en-US" altLang="x-none" sz="4200" b="1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Graph</a:t>
            </a:r>
            <a:endParaRPr lang="en-US" altLang="zh-CN" sz="4200" b="1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767381"/>
      </p:ext>
    </p:extLst>
  </p:cSld>
  <p:clrMapOvr>
    <a:masterClrMapping/>
  </p:clrMapOvr>
  <p:transition spd="slow" advTm="0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pic>
        <p:nvPicPr>
          <p:cNvPr id="5" name="图片 4" descr="Euler_8">
            <a:extLst>
              <a:ext uri="{FF2B5EF4-FFF2-40B4-BE49-F238E27FC236}">
                <a16:creationId xmlns:a16="http://schemas.microsoft.com/office/drawing/2014/main" id="{073D1FCE-4F8B-4339-B914-1A045D89DE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7903" y="1907461"/>
            <a:ext cx="2149475" cy="2743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39939">
            <a:extLst>
              <a:ext uri="{FF2B5EF4-FFF2-40B4-BE49-F238E27FC236}">
                <a16:creationId xmlns:a16="http://schemas.microsoft.com/office/drawing/2014/main" id="{53012EBC-2F54-465E-9624-CD1E7DF6CB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2047" y="1625367"/>
            <a:ext cx="2556021" cy="3775046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39940">
            <a:extLst>
              <a:ext uri="{FF2B5EF4-FFF2-40B4-BE49-F238E27FC236}">
                <a16:creationId xmlns:a16="http://schemas.microsoft.com/office/drawing/2014/main" id="{839A4525-DCCC-4B8F-B5F8-876902BA43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8068" y="1625367"/>
            <a:ext cx="2516697" cy="3775046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30718659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68" name="Rectangle 2">
            <a:extLst>
              <a:ext uri="{FF2B5EF4-FFF2-40B4-BE49-F238E27FC236}">
                <a16:creationId xmlns:a16="http://schemas.microsoft.com/office/drawing/2014/main" id="{5901F6C1-7D95-4EEC-A0DF-8C35F17CB71C}"/>
              </a:ext>
            </a:extLst>
          </p:cNvPr>
          <p:cNvSpPr txBox="1">
            <a:spLocks noChangeArrowheads="1"/>
          </p:cNvSpPr>
          <p:nvPr/>
        </p:nvSpPr>
        <p:spPr>
          <a:xfrm>
            <a:off x="1571625" y="885287"/>
            <a:ext cx="8713787" cy="61912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Tx/>
              <a:buNone/>
            </a:pPr>
            <a:r>
              <a:rPr lang="zh-CN" altLang="en-US" sz="1200" dirty="0">
                <a:solidFill>
                  <a:srgbClr val="F63A14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</a:p>
          <a:p>
            <a:pPr>
              <a:lnSpc>
                <a:spcPct val="100000"/>
              </a:lnSpc>
              <a:buFontTx/>
              <a:buNone/>
            </a:pPr>
            <a:r>
              <a:rPr lang="zh-CN" altLang="en-US" sz="2400" dirty="0">
                <a:solidFill>
                  <a:srgbClr val="F63A14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G=(V,E)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包括两个集合：</a:t>
            </a:r>
          </a:p>
          <a:p>
            <a:pPr>
              <a:lnSpc>
                <a:spcPct val="100000"/>
              </a:lnSpc>
              <a:buFontTx/>
              <a:buNone/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结点集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V(G)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非空的对象的集合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,V={v</a:t>
            </a:r>
            <a:r>
              <a:rPr lang="en-US" altLang="zh-CN" baseline="-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,v</a:t>
            </a:r>
            <a:r>
              <a:rPr lang="en-US" altLang="zh-CN" baseline="-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,…,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aseline="-30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>
              <a:lnSpc>
                <a:spcPct val="100000"/>
              </a:lnSpc>
              <a:buFontTx/>
              <a:buNone/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边集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E(G)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：有限的两个对象构成的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的无序对构成的集合。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E={e</a:t>
            </a:r>
            <a:r>
              <a:rPr lang="en-US" altLang="zh-CN" baseline="-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,e</a:t>
            </a:r>
            <a:r>
              <a:rPr lang="en-US" altLang="zh-CN" baseline="-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,…,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baseline="-30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>
              <a:lnSpc>
                <a:spcPct val="100000"/>
              </a:lnSpc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其中，每一条边都是集合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的二元子集，如边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baseline="-30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={u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v}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，常常简记为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uv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，其中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称为边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uv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端点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93196377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3403760-97FB-4F04-B0A8-0A166978E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2318" y="738188"/>
            <a:ext cx="7489825" cy="626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Symbol" panose="05050102010706020507" pitchFamily="18" charset="2"/>
              <a:defRPr kumimoji="1" sz="2800" b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sz="24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2pPr>
            <a:lvl3pPr marL="11430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sz="20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3pPr>
            <a:lvl4pPr marL="16002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4pPr>
            <a:lvl5pPr marL="20574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000" dirty="0">
              <a:solidFill>
                <a:srgbClr val="99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  如果图的每条边是二结点构成的有序对，则该图称为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有向图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(Directed Graph)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，上文所定义的图都是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无向图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(Undirected Graph)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。有向图中边</a:t>
            </a:r>
            <a:r>
              <a:rPr lang="en-US" altLang="zh-CN" sz="2400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uv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vu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是两条不同的边，对于边</a:t>
            </a:r>
            <a:r>
              <a:rPr lang="en-US" altLang="zh-CN" sz="2400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uv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，称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始点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终点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en-US" sz="2400" dirty="0">
                <a:solidFill>
                  <a:srgbClr val="990000"/>
                </a:solidFill>
                <a:latin typeface="宋体" panose="02010600030101010101" pitchFamily="2" charset="-122"/>
              </a:rPr>
              <a:t> </a:t>
            </a:r>
          </a:p>
          <a:p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     有向图中，结点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的度分为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入度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，即与该结点相关联并以该结点为终点的边的数目，以及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出度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即与该结点相关联并以该结点为始点的边的数目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分别记作</a:t>
            </a:r>
            <a:r>
              <a:rPr lang="en-US" altLang="zh-CN" sz="2400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deg</a:t>
            </a:r>
            <a:r>
              <a:rPr lang="en-US" altLang="zh-CN" sz="2400" baseline="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(v)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deg</a:t>
            </a:r>
            <a:r>
              <a:rPr lang="en-US" altLang="zh-CN" sz="2400" baseline="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+ 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(v)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en-US" sz="2400" dirty="0">
                <a:solidFill>
                  <a:srgbClr val="990000"/>
                </a:solidFill>
                <a:latin typeface="宋体" panose="02010600030101010101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55618179"/>
      </p:ext>
    </p:extLst>
  </p:cSld>
  <p:clrMapOvr>
    <a:masterClrMapping/>
  </p:clrMapOvr>
  <p:transition spd="slow" advTm="0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0EABEB9-1BA8-483D-9F2B-DCF143AF7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777082"/>
            <a:ext cx="7489825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Symbol" panose="05050102010706020507" pitchFamily="18" charset="2"/>
              <a:defRPr kumimoji="1" sz="2800" b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sz="24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2pPr>
            <a:lvl3pPr marL="11430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sz="20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3pPr>
            <a:lvl4pPr marL="16002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4pPr>
            <a:lvl5pPr marL="20574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sz="1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</a:p>
          <a:p>
            <a:pPr>
              <a:lnSpc>
                <a:spcPct val="110000"/>
              </a:lnSpc>
            </a:pPr>
            <a:r>
              <a:rPr lang="zh-CN" altLang="en-US" sz="2400" dirty="0">
                <a:solidFill>
                  <a:srgbClr val="080808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	结点集合</a:t>
            </a:r>
            <a:r>
              <a:rPr lang="en-US" altLang="zh-CN" sz="2400" dirty="0">
                <a:solidFill>
                  <a:srgbClr val="080808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V(G)</a:t>
            </a:r>
            <a:r>
              <a:rPr lang="zh-CN" altLang="en-US" sz="2400" dirty="0">
                <a:solidFill>
                  <a:srgbClr val="080808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的基数</a:t>
            </a:r>
            <a:r>
              <a:rPr lang="en-US" altLang="zh-CN" sz="2400" dirty="0">
                <a:solidFill>
                  <a:srgbClr val="080808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solidFill>
                  <a:srgbClr val="080808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表示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sz="24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的阶</a:t>
            </a:r>
            <a:r>
              <a:rPr lang="zh-CN" altLang="en-US" sz="2400" dirty="0">
                <a:solidFill>
                  <a:srgbClr val="080808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，边集合</a:t>
            </a:r>
            <a:r>
              <a:rPr lang="en-US" altLang="zh-CN" sz="2400" dirty="0">
                <a:solidFill>
                  <a:srgbClr val="080808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E(G)</a:t>
            </a:r>
            <a:r>
              <a:rPr lang="zh-CN" altLang="en-US" sz="2400" dirty="0">
                <a:solidFill>
                  <a:srgbClr val="080808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的基数</a:t>
            </a:r>
            <a:r>
              <a:rPr lang="en-US" altLang="zh-CN" sz="2400" dirty="0">
                <a:solidFill>
                  <a:srgbClr val="080808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2400" dirty="0">
                <a:solidFill>
                  <a:srgbClr val="080808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表示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sz="24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的规模</a:t>
            </a:r>
            <a:r>
              <a:rPr lang="zh-CN" altLang="en-US" sz="2400" dirty="0">
                <a:solidFill>
                  <a:srgbClr val="080808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，有时也将图</a:t>
            </a:r>
            <a:r>
              <a:rPr lang="en-US" altLang="zh-CN" sz="2400" dirty="0">
                <a:solidFill>
                  <a:srgbClr val="080808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080808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记作</a:t>
            </a:r>
            <a:r>
              <a:rPr lang="en-US" altLang="zh-CN" sz="2400" dirty="0">
                <a:solidFill>
                  <a:srgbClr val="080808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dirty="0" err="1">
                <a:solidFill>
                  <a:srgbClr val="080808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n,m</a:t>
            </a:r>
            <a:r>
              <a:rPr lang="en-US" altLang="zh-CN" sz="2400" dirty="0">
                <a:solidFill>
                  <a:srgbClr val="080808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srgbClr val="080808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10000"/>
              </a:lnSpc>
            </a:pPr>
            <a:r>
              <a:rPr lang="zh-CN" altLang="en-US" sz="2400" dirty="0">
                <a:solidFill>
                  <a:srgbClr val="080808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	在图</a:t>
            </a:r>
            <a:r>
              <a:rPr lang="en-US" altLang="zh-CN" sz="2400" dirty="0">
                <a:solidFill>
                  <a:srgbClr val="080808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080808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中，若边集</a:t>
            </a:r>
            <a:r>
              <a:rPr lang="en-US" altLang="zh-CN" sz="2400" dirty="0">
                <a:solidFill>
                  <a:srgbClr val="080808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E(G)=Ф,</a:t>
            </a:r>
            <a:r>
              <a:rPr lang="zh-CN" altLang="en-US" sz="2400" dirty="0">
                <a:solidFill>
                  <a:srgbClr val="080808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则称</a:t>
            </a:r>
            <a:r>
              <a:rPr lang="en-US" altLang="zh-CN" sz="2400" dirty="0">
                <a:solidFill>
                  <a:srgbClr val="080808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080808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零图</a:t>
            </a:r>
            <a:r>
              <a:rPr lang="zh-CN" altLang="en-US" sz="2400" dirty="0">
                <a:solidFill>
                  <a:srgbClr val="080808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，此时，又若</a:t>
            </a:r>
            <a:r>
              <a:rPr lang="en-US" altLang="zh-CN" sz="2400" dirty="0">
                <a:solidFill>
                  <a:srgbClr val="080808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080808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400" dirty="0">
                <a:solidFill>
                  <a:srgbClr val="080808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solidFill>
                  <a:srgbClr val="080808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阶图，则称</a:t>
            </a:r>
            <a:r>
              <a:rPr lang="en-US" altLang="zh-CN" sz="2400" dirty="0">
                <a:solidFill>
                  <a:srgbClr val="080808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080808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4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阶零图</a:t>
            </a:r>
            <a:r>
              <a:rPr lang="zh-CN" altLang="en-US" sz="2400" dirty="0">
                <a:solidFill>
                  <a:srgbClr val="080808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，记作</a:t>
            </a:r>
            <a:r>
              <a:rPr lang="en-US" altLang="zh-CN" sz="2400" dirty="0" err="1">
                <a:solidFill>
                  <a:srgbClr val="080808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400" baseline="-30000" dirty="0" err="1">
                <a:solidFill>
                  <a:srgbClr val="080808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solidFill>
                  <a:srgbClr val="080808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，特别地，称</a:t>
            </a:r>
            <a:r>
              <a:rPr lang="en-US" altLang="zh-CN" sz="2400" dirty="0">
                <a:solidFill>
                  <a:srgbClr val="080808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400" baseline="-30000" dirty="0">
                <a:solidFill>
                  <a:srgbClr val="080808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rgbClr val="080808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平凡图</a:t>
            </a:r>
            <a:r>
              <a:rPr lang="zh-CN" altLang="en-US" sz="2400" dirty="0">
                <a:solidFill>
                  <a:srgbClr val="080808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rgbClr val="080808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Trivial graph</a:t>
            </a:r>
            <a:r>
              <a:rPr lang="zh-CN" altLang="en-US" sz="2400" dirty="0">
                <a:solidFill>
                  <a:srgbClr val="080808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）。</a:t>
            </a:r>
          </a:p>
          <a:p>
            <a:pPr>
              <a:lnSpc>
                <a:spcPct val="110000"/>
              </a:lnSpc>
            </a:pPr>
            <a:endParaRPr lang="en-US" altLang="zh-CN" sz="2400" dirty="0">
              <a:solidFill>
                <a:srgbClr val="080808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2400" dirty="0">
                <a:solidFill>
                  <a:srgbClr val="080808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400" baseline="-30000" dirty="0">
                <a:solidFill>
                  <a:srgbClr val="080808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7</a:t>
            </a:r>
          </a:p>
        </p:txBody>
      </p:sp>
      <p:grpSp>
        <p:nvGrpSpPr>
          <p:cNvPr id="7" name="Group 32">
            <a:extLst>
              <a:ext uri="{FF2B5EF4-FFF2-40B4-BE49-F238E27FC236}">
                <a16:creationId xmlns:a16="http://schemas.microsoft.com/office/drawing/2014/main" id="{DF81E3E3-A25F-4DB8-8AAE-B83EE6A547EF}"/>
              </a:ext>
            </a:extLst>
          </p:cNvPr>
          <p:cNvGrpSpPr>
            <a:grpSpLocks/>
          </p:cNvGrpSpPr>
          <p:nvPr/>
        </p:nvGrpSpPr>
        <p:grpSpPr bwMode="auto">
          <a:xfrm>
            <a:off x="2916238" y="3429000"/>
            <a:ext cx="3713162" cy="3049588"/>
            <a:chOff x="2673" y="2342"/>
            <a:chExt cx="2339" cy="1921"/>
          </a:xfrm>
        </p:grpSpPr>
        <p:sp>
          <p:nvSpPr>
            <p:cNvPr id="8" name="AutoShape 6">
              <a:extLst>
                <a:ext uri="{FF2B5EF4-FFF2-40B4-BE49-F238E27FC236}">
                  <a16:creationId xmlns:a16="http://schemas.microsoft.com/office/drawing/2014/main" id="{71E24768-F944-41F2-ACB7-E77DE75DB8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7" y="2582"/>
              <a:ext cx="74" cy="70"/>
            </a:xfrm>
            <a:prstGeom prst="flowChartConnector">
              <a:avLst/>
            </a:prstGeom>
            <a:solidFill>
              <a:srgbClr val="FFFFFF"/>
            </a:solidFill>
            <a:ln w="952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BE797AC2-7421-41B1-BE61-B6729A2E64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0" y="3302"/>
              <a:ext cx="292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8000" tIns="0" rIns="18000" bIns="0"/>
            <a:lstStyle/>
            <a:p>
              <a:r>
                <a:rPr lang="en-US" altLang="zh-CN" sz="1800">
                  <a:solidFill>
                    <a:srgbClr val="003399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800" baseline="-25000">
                  <a:solidFill>
                    <a:srgbClr val="003399"/>
                  </a:solidFill>
                </a:rPr>
                <a:t>6</a:t>
              </a:r>
            </a:p>
          </p:txBody>
        </p:sp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A81E505A-D0FC-4673-8AB6-EC1DAE79CA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1" y="3783"/>
              <a:ext cx="293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8000" tIns="0" rIns="18000" bIns="0"/>
            <a:lstStyle/>
            <a:p>
              <a:r>
                <a:rPr lang="en-US" altLang="zh-CN" sz="1800">
                  <a:solidFill>
                    <a:srgbClr val="003399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800" baseline="-25000">
                  <a:solidFill>
                    <a:srgbClr val="003399"/>
                  </a:solidFill>
                </a:rPr>
                <a:t>5</a:t>
              </a:r>
            </a:p>
          </p:txBody>
        </p:sp>
        <p:sp>
          <p:nvSpPr>
            <p:cNvPr id="11" name="Text Box 10">
              <a:extLst>
                <a:ext uri="{FF2B5EF4-FFF2-40B4-BE49-F238E27FC236}">
                  <a16:creationId xmlns:a16="http://schemas.microsoft.com/office/drawing/2014/main" id="{B50CCD50-7351-4E8D-BF9C-8611D88DD1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7" y="4023"/>
              <a:ext cx="292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8000" tIns="0" rIns="18000" bIns="0"/>
            <a:lstStyle/>
            <a:p>
              <a:r>
                <a:rPr lang="en-US" altLang="zh-CN" sz="1800">
                  <a:solidFill>
                    <a:srgbClr val="003399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800" baseline="-25000">
                  <a:solidFill>
                    <a:srgbClr val="003399"/>
                  </a:solidFill>
                </a:rPr>
                <a:t>4</a:t>
              </a:r>
            </a:p>
          </p:txBody>
        </p:sp>
        <p:sp>
          <p:nvSpPr>
            <p:cNvPr id="12" name="Text Box 11">
              <a:extLst>
                <a:ext uri="{FF2B5EF4-FFF2-40B4-BE49-F238E27FC236}">
                  <a16:creationId xmlns:a16="http://schemas.microsoft.com/office/drawing/2014/main" id="{D6B4E6CD-5741-471B-87E6-09FC5387F0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3" y="2822"/>
              <a:ext cx="293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8000" tIns="0" rIns="18000" bIns="0"/>
            <a:lstStyle/>
            <a:p>
              <a:r>
                <a:rPr lang="en-US" altLang="zh-CN" sz="1800">
                  <a:solidFill>
                    <a:srgbClr val="003399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800" baseline="-25000">
                  <a:solidFill>
                    <a:srgbClr val="003399"/>
                  </a:solidFill>
                </a:rPr>
                <a:t>2</a:t>
              </a:r>
            </a:p>
          </p:txBody>
        </p:sp>
        <p:sp>
          <p:nvSpPr>
            <p:cNvPr id="13" name="Text Box 12">
              <a:extLst>
                <a:ext uri="{FF2B5EF4-FFF2-40B4-BE49-F238E27FC236}">
                  <a16:creationId xmlns:a16="http://schemas.microsoft.com/office/drawing/2014/main" id="{C25428AD-BF47-4903-BBF9-C37D14C19F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3" y="3690"/>
              <a:ext cx="293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8000" tIns="0" rIns="18000" bIns="0"/>
            <a:lstStyle/>
            <a:p>
              <a:r>
                <a:rPr lang="en-US" altLang="zh-CN" sz="1800">
                  <a:solidFill>
                    <a:srgbClr val="003399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800" baseline="-25000">
                  <a:solidFill>
                    <a:srgbClr val="003399"/>
                  </a:solidFill>
                </a:rPr>
                <a:t>3</a:t>
              </a:r>
            </a:p>
          </p:txBody>
        </p:sp>
        <p:sp>
          <p:nvSpPr>
            <p:cNvPr id="14" name="AutoShape 17">
              <a:extLst>
                <a:ext uri="{FF2B5EF4-FFF2-40B4-BE49-F238E27FC236}">
                  <a16:creationId xmlns:a16="http://schemas.microsoft.com/office/drawing/2014/main" id="{BD989FF3-2D28-4891-A6A2-53742FC64A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6" y="3700"/>
              <a:ext cx="74" cy="69"/>
            </a:xfrm>
            <a:prstGeom prst="flowChartConnector">
              <a:avLst/>
            </a:prstGeom>
            <a:solidFill>
              <a:srgbClr val="FFFFFF"/>
            </a:solidFill>
            <a:ln w="952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5" name="AutoShape 22">
              <a:extLst>
                <a:ext uri="{FF2B5EF4-FFF2-40B4-BE49-F238E27FC236}">
                  <a16:creationId xmlns:a16="http://schemas.microsoft.com/office/drawing/2014/main" id="{82145A92-D073-46D4-9177-87B561104E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1" y="3266"/>
              <a:ext cx="74" cy="70"/>
            </a:xfrm>
            <a:prstGeom prst="flowChartConnector">
              <a:avLst/>
            </a:prstGeom>
            <a:solidFill>
              <a:srgbClr val="FFFFFF"/>
            </a:solidFill>
            <a:ln w="952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AutoShape 23">
              <a:extLst>
                <a:ext uri="{FF2B5EF4-FFF2-40B4-BE49-F238E27FC236}">
                  <a16:creationId xmlns:a16="http://schemas.microsoft.com/office/drawing/2014/main" id="{48508BF9-3A56-4419-91E9-6EAD487F77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2" y="3741"/>
              <a:ext cx="74" cy="69"/>
            </a:xfrm>
            <a:prstGeom prst="flowChartConnector">
              <a:avLst/>
            </a:prstGeom>
            <a:solidFill>
              <a:srgbClr val="FFFFFF"/>
            </a:solidFill>
            <a:ln w="952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7" name="AutoShape 24">
              <a:extLst>
                <a:ext uri="{FF2B5EF4-FFF2-40B4-BE49-F238E27FC236}">
                  <a16:creationId xmlns:a16="http://schemas.microsoft.com/office/drawing/2014/main" id="{F7247242-6026-4998-8584-5D5EFEE235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4" y="3977"/>
              <a:ext cx="74" cy="70"/>
            </a:xfrm>
            <a:prstGeom prst="flowChartConnector">
              <a:avLst/>
            </a:prstGeom>
            <a:solidFill>
              <a:srgbClr val="FFFFFF"/>
            </a:solidFill>
            <a:ln w="952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8" name="Text Box 25">
              <a:extLst>
                <a:ext uri="{FF2B5EF4-FFF2-40B4-BE49-F238E27FC236}">
                  <a16:creationId xmlns:a16="http://schemas.microsoft.com/office/drawing/2014/main" id="{4C54755F-6539-4143-B54B-12591C63B2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4" y="2582"/>
              <a:ext cx="292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8000" tIns="0" rIns="18000" bIns="0"/>
            <a:lstStyle/>
            <a:p>
              <a:r>
                <a:rPr lang="en-US" altLang="zh-CN" sz="1800">
                  <a:solidFill>
                    <a:srgbClr val="003399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800" baseline="-25000">
                  <a:solidFill>
                    <a:srgbClr val="003399"/>
                  </a:solidFill>
                </a:rPr>
                <a:t>7</a:t>
              </a:r>
            </a:p>
          </p:txBody>
        </p:sp>
        <p:sp>
          <p:nvSpPr>
            <p:cNvPr id="19" name="Text Box 26">
              <a:extLst>
                <a:ext uri="{FF2B5EF4-FFF2-40B4-BE49-F238E27FC236}">
                  <a16:creationId xmlns:a16="http://schemas.microsoft.com/office/drawing/2014/main" id="{87466821-34FD-4D5B-99D6-6C8C2FF575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7" y="2342"/>
              <a:ext cx="292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8000" tIns="0" rIns="18000" bIns="0"/>
            <a:lstStyle/>
            <a:p>
              <a:r>
                <a:rPr lang="en-US" altLang="zh-CN" sz="1800">
                  <a:solidFill>
                    <a:srgbClr val="003399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800" baseline="-25000">
                  <a:solidFill>
                    <a:srgbClr val="003399"/>
                  </a:solidFill>
                </a:rPr>
                <a:t>1</a:t>
              </a:r>
              <a:endParaRPr lang="en-US" altLang="zh-CN" sz="1800">
                <a:solidFill>
                  <a:srgbClr val="003399"/>
                </a:solidFill>
              </a:endParaRPr>
            </a:p>
          </p:txBody>
        </p:sp>
        <p:sp>
          <p:nvSpPr>
            <p:cNvPr id="20" name="AutoShape 30">
              <a:extLst>
                <a:ext uri="{FF2B5EF4-FFF2-40B4-BE49-F238E27FC236}">
                  <a16:creationId xmlns:a16="http://schemas.microsoft.com/office/drawing/2014/main" id="{8C2F8D56-54AA-48EA-A2A4-2936A8D174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4" y="2776"/>
              <a:ext cx="75" cy="70"/>
            </a:xfrm>
            <a:prstGeom prst="flowChartConnector">
              <a:avLst/>
            </a:prstGeom>
            <a:solidFill>
              <a:srgbClr val="FFFFFF"/>
            </a:solidFill>
            <a:ln w="952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1" name="AutoShape 31">
              <a:extLst>
                <a:ext uri="{FF2B5EF4-FFF2-40B4-BE49-F238E27FC236}">
                  <a16:creationId xmlns:a16="http://schemas.microsoft.com/office/drawing/2014/main" id="{1CA71491-DF62-43A1-A546-36991E2E36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1" y="2905"/>
              <a:ext cx="74" cy="70"/>
            </a:xfrm>
            <a:prstGeom prst="flowChartConnector">
              <a:avLst/>
            </a:prstGeom>
            <a:solidFill>
              <a:srgbClr val="FFFFFF"/>
            </a:solidFill>
            <a:ln w="952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11309806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8" name="Text Box 51">
            <a:extLst>
              <a:ext uri="{FF2B5EF4-FFF2-40B4-BE49-F238E27FC236}">
                <a16:creationId xmlns:a16="http://schemas.microsoft.com/office/drawing/2014/main" id="{E500A2CA-BF83-4F3E-A411-E493945B7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0807" y="1893887"/>
            <a:ext cx="3024187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E4A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环</a:t>
            </a:r>
            <a:r>
              <a:rPr kumimoji="1" lang="en-US" altLang="zh-CN" sz="2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loop</a:t>
            </a:r>
            <a:r>
              <a:rPr kumimoji="1" lang="en-US" altLang="zh-CN" sz="24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--&gt;</a:t>
            </a:r>
            <a:r>
              <a:rPr kumimoji="1" lang="zh-CN" altLang="en-US" sz="24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非简单图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deg(v</a:t>
            </a:r>
            <a:r>
              <a:rPr kumimoji="1" lang="en-US" altLang="zh-CN" sz="2400" b="1" baseline="-250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)=4</a:t>
            </a:r>
          </a:p>
        </p:txBody>
      </p:sp>
      <p:sp>
        <p:nvSpPr>
          <p:cNvPr id="49" name="Line 52">
            <a:extLst>
              <a:ext uri="{FF2B5EF4-FFF2-40B4-BE49-F238E27FC236}">
                <a16:creationId xmlns:a16="http://schemas.microsoft.com/office/drawing/2014/main" id="{90D263A8-7FAF-4280-946D-3B74600C593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414319" y="2744787"/>
            <a:ext cx="990600" cy="457200"/>
          </a:xfrm>
          <a:prstGeom prst="line">
            <a:avLst/>
          </a:prstGeom>
          <a:noFill/>
          <a:ln w="9525">
            <a:solidFill>
              <a:srgbClr val="3333CC"/>
            </a:solidFill>
            <a:prstDash val="lgDash"/>
            <a:miter lim="800000"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0" name="Line 53">
            <a:extLst>
              <a:ext uri="{FF2B5EF4-FFF2-40B4-BE49-F238E27FC236}">
                <a16:creationId xmlns:a16="http://schemas.microsoft.com/office/drawing/2014/main" id="{18FC802E-7006-4EFC-8DB0-D6156C07D2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86119" y="2287587"/>
            <a:ext cx="609600" cy="762000"/>
          </a:xfrm>
          <a:prstGeom prst="line">
            <a:avLst/>
          </a:prstGeom>
          <a:noFill/>
          <a:ln w="9525">
            <a:solidFill>
              <a:srgbClr val="3333CC"/>
            </a:solidFill>
            <a:prstDash val="lgDash"/>
            <a:miter lim="800000"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" name="Line 54">
            <a:extLst>
              <a:ext uri="{FF2B5EF4-FFF2-40B4-BE49-F238E27FC236}">
                <a16:creationId xmlns:a16="http://schemas.microsoft.com/office/drawing/2014/main" id="{7DBEFFF6-1F79-40CE-BF2B-D8CBCBB3A53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700319" y="1754187"/>
            <a:ext cx="152400" cy="1447800"/>
          </a:xfrm>
          <a:prstGeom prst="line">
            <a:avLst/>
          </a:prstGeom>
          <a:noFill/>
          <a:ln w="9525">
            <a:solidFill>
              <a:srgbClr val="3333CC"/>
            </a:solidFill>
            <a:prstDash val="lgDash"/>
            <a:miter lim="800000"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" name="Line 55">
            <a:extLst>
              <a:ext uri="{FF2B5EF4-FFF2-40B4-BE49-F238E27FC236}">
                <a16:creationId xmlns:a16="http://schemas.microsoft.com/office/drawing/2014/main" id="{F53DE1EB-9E09-4AA8-B661-A569AFCC8A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81032" y="3811587"/>
            <a:ext cx="1462087" cy="903288"/>
          </a:xfrm>
          <a:prstGeom prst="line">
            <a:avLst/>
          </a:prstGeom>
          <a:noFill/>
          <a:ln w="9525">
            <a:solidFill>
              <a:srgbClr val="3333CC"/>
            </a:solidFill>
            <a:prstDash val="lgDash"/>
            <a:miter lim="800000"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" name="Line 56">
            <a:extLst>
              <a:ext uri="{FF2B5EF4-FFF2-40B4-BE49-F238E27FC236}">
                <a16:creationId xmlns:a16="http://schemas.microsoft.com/office/drawing/2014/main" id="{4DC63906-9AD9-4169-AC6E-186769CA0B54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6119" y="3963987"/>
            <a:ext cx="457200" cy="838200"/>
          </a:xfrm>
          <a:prstGeom prst="line">
            <a:avLst/>
          </a:prstGeom>
          <a:noFill/>
          <a:ln w="9525">
            <a:solidFill>
              <a:srgbClr val="3333CC"/>
            </a:solidFill>
            <a:prstDash val="lg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" name="Line 57">
            <a:extLst>
              <a:ext uri="{FF2B5EF4-FFF2-40B4-BE49-F238E27FC236}">
                <a16:creationId xmlns:a16="http://schemas.microsoft.com/office/drawing/2014/main" id="{FB1E5354-C8D5-4626-BD55-F8BF835214FB}"/>
              </a:ext>
            </a:extLst>
          </p:cNvPr>
          <p:cNvSpPr>
            <a:spLocks noChangeShapeType="1"/>
          </p:cNvSpPr>
          <p:nvPr/>
        </p:nvSpPr>
        <p:spPr bwMode="auto">
          <a:xfrm>
            <a:off x="5776519" y="3963987"/>
            <a:ext cx="990600" cy="914400"/>
          </a:xfrm>
          <a:prstGeom prst="line">
            <a:avLst/>
          </a:prstGeom>
          <a:noFill/>
          <a:ln w="9525">
            <a:solidFill>
              <a:srgbClr val="3333CC"/>
            </a:solidFill>
            <a:prstDash val="lg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" name="Text Box 58">
            <a:extLst>
              <a:ext uri="{FF2B5EF4-FFF2-40B4-BE49-F238E27FC236}">
                <a16:creationId xmlns:a16="http://schemas.microsoft.com/office/drawing/2014/main" id="{0F7B3333-367B-4919-9DFB-74F762D6AA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582" y="1257300"/>
            <a:ext cx="27051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E4A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边</a:t>
            </a:r>
            <a:r>
              <a:rPr lang="en-US" altLang="zh-CN"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e</a:t>
            </a:r>
            <a:r>
              <a:rPr lang="en-US" altLang="zh-CN" sz="2000" baseline="-3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en-US" sz="2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关联</a:t>
            </a:r>
            <a:r>
              <a:rPr kumimoji="1" lang="zh-CN" altLang="en-US"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结点</a:t>
            </a:r>
            <a:r>
              <a:rPr lang="en-US" altLang="zh-CN"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v</a:t>
            </a:r>
            <a:r>
              <a:rPr lang="en-US" altLang="zh-CN" sz="2000" baseline="-3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baseline="-3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v</a:t>
            </a:r>
            <a:r>
              <a:rPr lang="en-US" altLang="zh-CN" sz="2000" baseline="-3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</a:p>
        </p:txBody>
      </p:sp>
      <p:sp>
        <p:nvSpPr>
          <p:cNvPr id="56" name="Text Box 59">
            <a:extLst>
              <a:ext uri="{FF2B5EF4-FFF2-40B4-BE49-F238E27FC236}">
                <a16:creationId xmlns:a16="http://schemas.microsoft.com/office/drawing/2014/main" id="{1200E7FB-923B-4AB1-9BCE-A211B605F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3419" y="1830387"/>
            <a:ext cx="974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E4A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结点</a:t>
            </a:r>
            <a:endParaRPr kumimoji="1" lang="zh-CN" altLang="en-US" sz="2400" b="1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7" name="Text Box 60">
            <a:extLst>
              <a:ext uri="{FF2B5EF4-FFF2-40B4-BE49-F238E27FC236}">
                <a16:creationId xmlns:a16="http://schemas.microsoft.com/office/drawing/2014/main" id="{458293A3-9019-4F71-A2F7-D7C708D9C1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7119" y="4725987"/>
            <a:ext cx="25590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E4A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平行边</a:t>
            </a:r>
            <a:r>
              <a:rPr kumimoji="1" lang="en-US" altLang="zh-CN"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kumimoji="1"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重边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</a:t>
            </a: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多</a:t>
            </a:r>
            <a:r>
              <a:rPr kumimoji="1"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重图</a:t>
            </a:r>
          </a:p>
        </p:txBody>
      </p:sp>
      <p:sp>
        <p:nvSpPr>
          <p:cNvPr id="58" name="Text Box 63">
            <a:extLst>
              <a:ext uri="{FF2B5EF4-FFF2-40B4-BE49-F238E27FC236}">
                <a16:creationId xmlns:a16="http://schemas.microsoft.com/office/drawing/2014/main" id="{F81493AD-4373-457C-B359-608DDA135B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0094" y="4570412"/>
            <a:ext cx="1223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E4A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孤立点</a:t>
            </a:r>
            <a:endParaRPr kumimoji="1" lang="zh-CN" altLang="en-US" sz="2400" b="1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" name="Line 64">
            <a:extLst>
              <a:ext uri="{FF2B5EF4-FFF2-40B4-BE49-F238E27FC236}">
                <a16:creationId xmlns:a16="http://schemas.microsoft.com/office/drawing/2014/main" id="{21C57DD1-A0B8-4777-9DC7-6161A0F652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71919" y="3659187"/>
            <a:ext cx="609600" cy="609600"/>
          </a:xfrm>
          <a:prstGeom prst="line">
            <a:avLst/>
          </a:prstGeom>
          <a:noFill/>
          <a:ln w="9525">
            <a:solidFill>
              <a:srgbClr val="3333CC"/>
            </a:solidFill>
            <a:prstDash val="lgDash"/>
            <a:miter lim="800000"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" name="Text Box 65">
            <a:extLst>
              <a:ext uri="{FF2B5EF4-FFF2-40B4-BE49-F238E27FC236}">
                <a16:creationId xmlns:a16="http://schemas.microsoft.com/office/drawing/2014/main" id="{98EDA2C4-269D-490E-AE71-D997013B2E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6394" y="3189287"/>
            <a:ext cx="1098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E4A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悬挂边</a:t>
            </a:r>
            <a:endParaRPr kumimoji="1" lang="zh-CN" altLang="en-US" sz="240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" name="Line 66">
            <a:extLst>
              <a:ext uri="{FF2B5EF4-FFF2-40B4-BE49-F238E27FC236}">
                <a16:creationId xmlns:a16="http://schemas.microsoft.com/office/drawing/2014/main" id="{06249505-C609-46E9-B7B7-3AA88D4957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24319" y="4192587"/>
            <a:ext cx="457200" cy="381000"/>
          </a:xfrm>
          <a:prstGeom prst="line">
            <a:avLst/>
          </a:prstGeom>
          <a:noFill/>
          <a:ln w="9525">
            <a:solidFill>
              <a:srgbClr val="3333CC"/>
            </a:solidFill>
            <a:prstDash val="lgDash"/>
            <a:miter lim="800000"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" name="Text Box 67">
            <a:extLst>
              <a:ext uri="{FF2B5EF4-FFF2-40B4-BE49-F238E27FC236}">
                <a16:creationId xmlns:a16="http://schemas.microsoft.com/office/drawing/2014/main" id="{B6A829B0-7D3D-40DD-97E8-376C26C8C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9119" y="3875087"/>
            <a:ext cx="1098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E4A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悬挂点</a:t>
            </a:r>
            <a:endParaRPr kumimoji="1" lang="zh-CN" altLang="en-US" sz="240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3" name="Oval 68">
            <a:extLst>
              <a:ext uri="{FF2B5EF4-FFF2-40B4-BE49-F238E27FC236}">
                <a16:creationId xmlns:a16="http://schemas.microsoft.com/office/drawing/2014/main" id="{07CAC6FE-EF92-4381-B9A5-469FB32EE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1919" y="4573587"/>
            <a:ext cx="144463" cy="144463"/>
          </a:xfrm>
          <a:prstGeom prst="ellipse">
            <a:avLst/>
          </a:prstGeom>
          <a:solidFill>
            <a:srgbClr val="993366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6" name="Line 72">
            <a:extLst>
              <a:ext uri="{FF2B5EF4-FFF2-40B4-BE49-F238E27FC236}">
                <a16:creationId xmlns:a16="http://schemas.microsoft.com/office/drawing/2014/main" id="{7F77ED1A-8A6F-4D73-83AE-13418880C5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66919" y="4649787"/>
            <a:ext cx="304800" cy="990600"/>
          </a:xfrm>
          <a:prstGeom prst="line">
            <a:avLst/>
          </a:prstGeom>
          <a:noFill/>
          <a:ln w="9525">
            <a:solidFill>
              <a:srgbClr val="3333CC"/>
            </a:solidFill>
            <a:prstDash val="lgDash"/>
            <a:miter lim="800000"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7" name="Text Box 73">
            <a:extLst>
              <a:ext uri="{FF2B5EF4-FFF2-40B4-BE49-F238E27FC236}">
                <a16:creationId xmlns:a16="http://schemas.microsoft.com/office/drawing/2014/main" id="{9891A8CB-F3F6-46C3-8D2A-E77DA05B5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2832" y="5778500"/>
            <a:ext cx="38893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E4A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v</a:t>
            </a:r>
            <a:r>
              <a:rPr lang="en-US" altLang="zh-CN" sz="2800" baseline="-3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1" lang="zh-CN" altLang="en-US" sz="24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结点度</a:t>
            </a:r>
            <a:r>
              <a:rPr kumimoji="1"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kumimoji="1" lang="en-US" altLang="zh-CN" sz="24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3,</a:t>
            </a:r>
            <a:r>
              <a:rPr kumimoji="1" lang="en-US" altLang="zh-CN"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en-US" altLang="zh-CN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deg(v3)=3</a:t>
            </a:r>
          </a:p>
        </p:txBody>
      </p:sp>
      <p:sp>
        <p:nvSpPr>
          <p:cNvPr id="68" name="Rectangle 74">
            <a:extLst>
              <a:ext uri="{FF2B5EF4-FFF2-40B4-BE49-F238E27FC236}">
                <a16:creationId xmlns:a16="http://schemas.microsoft.com/office/drawing/2014/main" id="{AD8F9869-6F28-4BF7-BEBA-2BD86EC6B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4119" y="4438650"/>
            <a:ext cx="482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E4A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v</a:t>
            </a:r>
            <a:r>
              <a:rPr lang="en-US" altLang="zh-CN" sz="2800" baseline="-3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</a:p>
        </p:txBody>
      </p:sp>
      <p:sp>
        <p:nvSpPr>
          <p:cNvPr id="69" name="Oval 76">
            <a:extLst>
              <a:ext uri="{FF2B5EF4-FFF2-40B4-BE49-F238E27FC236}">
                <a16:creationId xmlns:a16="http://schemas.microsoft.com/office/drawing/2014/main" id="{6F708023-EC8B-477B-BCD0-CE87EF829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1319" y="3470275"/>
            <a:ext cx="144463" cy="144462"/>
          </a:xfrm>
          <a:prstGeom prst="ellipse">
            <a:avLst/>
          </a:prstGeom>
          <a:solidFill>
            <a:srgbClr val="993366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0" name="Oval 77">
            <a:extLst>
              <a:ext uri="{FF2B5EF4-FFF2-40B4-BE49-F238E27FC236}">
                <a16:creationId xmlns:a16="http://schemas.microsoft.com/office/drawing/2014/main" id="{86158DDE-7A13-403D-830C-67B5C84F6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2619" y="3109912"/>
            <a:ext cx="144463" cy="144463"/>
          </a:xfrm>
          <a:prstGeom prst="ellipse">
            <a:avLst/>
          </a:prstGeom>
          <a:solidFill>
            <a:srgbClr val="993366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" name="Oval 78">
            <a:extLst>
              <a:ext uri="{FF2B5EF4-FFF2-40B4-BE49-F238E27FC236}">
                <a16:creationId xmlns:a16="http://schemas.microsoft.com/office/drawing/2014/main" id="{5A6B1956-8545-4C30-8B7B-7E0D5E489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3119" y="3686175"/>
            <a:ext cx="144463" cy="144462"/>
          </a:xfrm>
          <a:prstGeom prst="ellipse">
            <a:avLst/>
          </a:prstGeom>
          <a:solidFill>
            <a:srgbClr val="993366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" name="Oval 79">
            <a:extLst>
              <a:ext uri="{FF2B5EF4-FFF2-40B4-BE49-F238E27FC236}">
                <a16:creationId xmlns:a16="http://schemas.microsoft.com/office/drawing/2014/main" id="{1D6ABD24-9385-4560-81BE-BBFB5DCF5A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9019" y="4549775"/>
            <a:ext cx="144463" cy="144462"/>
          </a:xfrm>
          <a:prstGeom prst="ellipse">
            <a:avLst/>
          </a:prstGeom>
          <a:solidFill>
            <a:srgbClr val="993366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3" name="Oval 80">
            <a:extLst>
              <a:ext uri="{FF2B5EF4-FFF2-40B4-BE49-F238E27FC236}">
                <a16:creationId xmlns:a16="http://schemas.microsoft.com/office/drawing/2014/main" id="{7D5CF399-CBE1-4BB7-B216-B81BD0CECE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8882" y="3902075"/>
            <a:ext cx="144462" cy="144462"/>
          </a:xfrm>
          <a:prstGeom prst="ellipse">
            <a:avLst/>
          </a:prstGeom>
          <a:solidFill>
            <a:srgbClr val="993366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4" name="Text Box 84">
            <a:extLst>
              <a:ext uri="{FF2B5EF4-FFF2-40B4-BE49-F238E27FC236}">
                <a16:creationId xmlns:a16="http://schemas.microsoft.com/office/drawing/2014/main" id="{DD73F1D8-4CA8-4F16-8EF3-09CCB7374E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7082" y="2770187"/>
            <a:ext cx="48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E4A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v</a:t>
            </a:r>
            <a:r>
              <a:rPr lang="en-US" altLang="zh-CN" sz="2800" baseline="-3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5" name="Text Box 85">
            <a:extLst>
              <a:ext uri="{FF2B5EF4-FFF2-40B4-BE49-F238E27FC236}">
                <a16:creationId xmlns:a16="http://schemas.microsoft.com/office/drawing/2014/main" id="{1543FBD5-8A94-4DF8-8B4E-31B14DF34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1319" y="2843212"/>
            <a:ext cx="48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E4A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v</a:t>
            </a:r>
            <a:r>
              <a:rPr lang="en-US" altLang="zh-CN" sz="2800" baseline="-3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en-US" altLang="zh-CN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6" name="Text Box 86">
            <a:extLst>
              <a:ext uri="{FF2B5EF4-FFF2-40B4-BE49-F238E27FC236}">
                <a16:creationId xmlns:a16="http://schemas.microsoft.com/office/drawing/2014/main" id="{47B692CF-BD13-452D-89EC-BF20230085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7582" y="3549650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E4A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EAEAEA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7" name="Text Box 87">
            <a:extLst>
              <a:ext uri="{FF2B5EF4-FFF2-40B4-BE49-F238E27FC236}">
                <a16:creationId xmlns:a16="http://schemas.microsoft.com/office/drawing/2014/main" id="{0265827E-33B4-4435-B156-AE5EBB2DB7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4782" y="3908425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E4A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EAEAEA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8" name="Text Box 88">
            <a:extLst>
              <a:ext uri="{FF2B5EF4-FFF2-40B4-BE49-F238E27FC236}">
                <a16:creationId xmlns:a16="http://schemas.microsoft.com/office/drawing/2014/main" id="{A792CC67-5BB1-420A-B228-1EA175355D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7719" y="2914650"/>
            <a:ext cx="482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E4A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e</a:t>
            </a:r>
            <a:r>
              <a:rPr lang="en-US" altLang="zh-CN" sz="2800" baseline="-3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9" name="Text Box 91">
            <a:extLst>
              <a:ext uri="{FF2B5EF4-FFF2-40B4-BE49-F238E27FC236}">
                <a16:creationId xmlns:a16="http://schemas.microsoft.com/office/drawing/2014/main" id="{96E0842A-0938-4A94-9B0F-964DE00B6A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4557" y="2843212"/>
            <a:ext cx="48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E4A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e</a:t>
            </a:r>
            <a:r>
              <a:rPr lang="en-US" altLang="zh-CN" sz="2800" baseline="-3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en-US" altLang="zh-CN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0" name="Text Box 92">
            <a:extLst>
              <a:ext uri="{FF2B5EF4-FFF2-40B4-BE49-F238E27FC236}">
                <a16:creationId xmlns:a16="http://schemas.microsoft.com/office/drawing/2014/main" id="{3D02549F-004F-491A-8AB0-69A438FE6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6857" y="3908425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E4A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EAEAEA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1" name="Text Box 93">
            <a:extLst>
              <a:ext uri="{FF2B5EF4-FFF2-40B4-BE49-F238E27FC236}">
                <a16:creationId xmlns:a16="http://schemas.microsoft.com/office/drawing/2014/main" id="{24735966-84BB-49A6-85E7-C4381BB45A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6719" y="4125912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E4A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EAEAEA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2" name="Text Box 94">
            <a:extLst>
              <a:ext uri="{FF2B5EF4-FFF2-40B4-BE49-F238E27FC236}">
                <a16:creationId xmlns:a16="http://schemas.microsoft.com/office/drawing/2014/main" id="{D9C25A80-CFD6-42DC-807C-D3A3781D6A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6007" y="3333750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E4A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EAEAEA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83" name="AutoShape 99">
            <a:extLst>
              <a:ext uri="{FF2B5EF4-FFF2-40B4-BE49-F238E27FC236}">
                <a16:creationId xmlns:a16="http://schemas.microsoft.com/office/drawing/2014/main" id="{B2F171BC-FEE3-442C-BFF7-4E34D7C07BD6}"/>
              </a:ext>
            </a:extLst>
          </p:cNvPr>
          <p:cNvCxnSpPr>
            <a:cxnSpLocks noChangeShapeType="1"/>
            <a:stCxn id="69" idx="3"/>
            <a:endCxn id="69" idx="1"/>
          </p:cNvCxnSpPr>
          <p:nvPr/>
        </p:nvCxnSpPr>
        <p:spPr bwMode="auto">
          <a:xfrm rot="5400000" flipH="1" flipV="1">
            <a:off x="4781157" y="3541712"/>
            <a:ext cx="103188" cy="1587"/>
          </a:xfrm>
          <a:prstGeom prst="curvedConnector5">
            <a:avLst>
              <a:gd name="adj1" fmla="val -240000"/>
              <a:gd name="adj2" fmla="val -22000000"/>
              <a:gd name="adj3" fmla="val 341537"/>
            </a:avLst>
          </a:prstGeom>
          <a:noFill/>
          <a:ln w="9525">
            <a:solidFill>
              <a:srgbClr val="200B5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4" name="AutoShape 100">
            <a:extLst>
              <a:ext uri="{FF2B5EF4-FFF2-40B4-BE49-F238E27FC236}">
                <a16:creationId xmlns:a16="http://schemas.microsoft.com/office/drawing/2014/main" id="{75B927C7-6521-4A3F-9D92-9B531F068F28}"/>
              </a:ext>
            </a:extLst>
          </p:cNvPr>
          <p:cNvCxnSpPr>
            <a:cxnSpLocks noChangeShapeType="1"/>
            <a:stCxn id="69" idx="6"/>
          </p:cNvCxnSpPr>
          <p:nvPr/>
        </p:nvCxnSpPr>
        <p:spPr bwMode="auto">
          <a:xfrm flipV="1">
            <a:off x="4955782" y="3181350"/>
            <a:ext cx="1366837" cy="361950"/>
          </a:xfrm>
          <a:prstGeom prst="straightConnector1">
            <a:avLst/>
          </a:prstGeom>
          <a:noFill/>
          <a:ln w="9525">
            <a:solidFill>
              <a:srgbClr val="200B5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5" name="AutoShape 101">
            <a:extLst>
              <a:ext uri="{FF2B5EF4-FFF2-40B4-BE49-F238E27FC236}">
                <a16:creationId xmlns:a16="http://schemas.microsoft.com/office/drawing/2014/main" id="{C529969E-F81B-444C-8533-9A66B5F159AE}"/>
              </a:ext>
            </a:extLst>
          </p:cNvPr>
          <p:cNvCxnSpPr>
            <a:cxnSpLocks noChangeShapeType="1"/>
            <a:stCxn id="72" idx="6"/>
            <a:endCxn id="70" idx="3"/>
          </p:cNvCxnSpPr>
          <p:nvPr/>
        </p:nvCxnSpPr>
        <p:spPr bwMode="auto">
          <a:xfrm flipV="1">
            <a:off x="5603482" y="3233737"/>
            <a:ext cx="739775" cy="1389063"/>
          </a:xfrm>
          <a:prstGeom prst="curvedConnector2">
            <a:avLst/>
          </a:prstGeom>
          <a:noFill/>
          <a:ln w="9525">
            <a:solidFill>
              <a:srgbClr val="200B5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6" name="AutoShape 103">
            <a:extLst>
              <a:ext uri="{FF2B5EF4-FFF2-40B4-BE49-F238E27FC236}">
                <a16:creationId xmlns:a16="http://schemas.microsoft.com/office/drawing/2014/main" id="{18339C0E-4D8E-45FB-AD3E-6D0B280B4641}"/>
              </a:ext>
            </a:extLst>
          </p:cNvPr>
          <p:cNvCxnSpPr>
            <a:cxnSpLocks noChangeShapeType="1"/>
            <a:stCxn id="72" idx="6"/>
            <a:endCxn id="70" idx="2"/>
          </p:cNvCxnSpPr>
          <p:nvPr/>
        </p:nvCxnSpPr>
        <p:spPr bwMode="auto">
          <a:xfrm flipV="1">
            <a:off x="5603482" y="3182937"/>
            <a:ext cx="719137" cy="1439863"/>
          </a:xfrm>
          <a:prstGeom prst="curvedConnector3">
            <a:avLst>
              <a:gd name="adj1" fmla="val 32227"/>
            </a:avLst>
          </a:prstGeom>
          <a:noFill/>
          <a:ln w="9525">
            <a:solidFill>
              <a:srgbClr val="200B5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7" name="AutoShape 104">
            <a:extLst>
              <a:ext uri="{FF2B5EF4-FFF2-40B4-BE49-F238E27FC236}">
                <a16:creationId xmlns:a16="http://schemas.microsoft.com/office/drawing/2014/main" id="{00FBADB4-F44B-4BC8-900E-6E90EF61024D}"/>
              </a:ext>
            </a:extLst>
          </p:cNvPr>
          <p:cNvCxnSpPr>
            <a:cxnSpLocks noChangeShapeType="1"/>
            <a:stCxn id="70" idx="2"/>
            <a:endCxn id="73" idx="1"/>
          </p:cNvCxnSpPr>
          <p:nvPr/>
        </p:nvCxnSpPr>
        <p:spPr bwMode="auto">
          <a:xfrm>
            <a:off x="6322619" y="3182937"/>
            <a:ext cx="596900" cy="739775"/>
          </a:xfrm>
          <a:prstGeom prst="straightConnector1">
            <a:avLst/>
          </a:prstGeom>
          <a:noFill/>
          <a:ln w="9525">
            <a:solidFill>
              <a:srgbClr val="200B5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8" name="AutoShape 106">
            <a:extLst>
              <a:ext uri="{FF2B5EF4-FFF2-40B4-BE49-F238E27FC236}">
                <a16:creationId xmlns:a16="http://schemas.microsoft.com/office/drawing/2014/main" id="{9BD596EC-EE5C-40B4-8E64-4A6AB7F3F171}"/>
              </a:ext>
            </a:extLst>
          </p:cNvPr>
          <p:cNvCxnSpPr>
            <a:cxnSpLocks noChangeShapeType="1"/>
            <a:stCxn id="73" idx="4"/>
            <a:endCxn id="63" idx="0"/>
          </p:cNvCxnSpPr>
          <p:nvPr/>
        </p:nvCxnSpPr>
        <p:spPr bwMode="auto">
          <a:xfrm>
            <a:off x="6971907" y="4046537"/>
            <a:ext cx="173037" cy="527050"/>
          </a:xfrm>
          <a:prstGeom prst="straightConnector1">
            <a:avLst/>
          </a:prstGeom>
          <a:noFill/>
          <a:ln w="9525">
            <a:solidFill>
              <a:srgbClr val="200B5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9" name="AutoShape 107">
            <a:extLst>
              <a:ext uri="{FF2B5EF4-FFF2-40B4-BE49-F238E27FC236}">
                <a16:creationId xmlns:a16="http://schemas.microsoft.com/office/drawing/2014/main" id="{C7B534C9-F608-4353-A3E5-1B1D141B0263}"/>
              </a:ext>
            </a:extLst>
          </p:cNvPr>
          <p:cNvCxnSpPr>
            <a:cxnSpLocks noChangeShapeType="1"/>
            <a:stCxn id="69" idx="4"/>
            <a:endCxn id="72" idx="1"/>
          </p:cNvCxnSpPr>
          <p:nvPr/>
        </p:nvCxnSpPr>
        <p:spPr bwMode="auto">
          <a:xfrm>
            <a:off x="4884344" y="3614737"/>
            <a:ext cx="595313" cy="955675"/>
          </a:xfrm>
          <a:prstGeom prst="straightConnector1">
            <a:avLst/>
          </a:prstGeom>
          <a:noFill/>
          <a:ln w="9525">
            <a:solidFill>
              <a:srgbClr val="200B5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0" name="Text Box 109">
            <a:extLst>
              <a:ext uri="{FF2B5EF4-FFF2-40B4-BE49-F238E27FC236}">
                <a16:creationId xmlns:a16="http://schemas.microsoft.com/office/drawing/2014/main" id="{ED5CE4C5-F884-4F07-9438-9FFD1AB70C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7019" y="1833562"/>
            <a:ext cx="1370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E4A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kumimoji="1" lang="en-US" altLang="zh-CN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(G)=4</a:t>
            </a:r>
          </a:p>
        </p:txBody>
      </p:sp>
      <p:sp>
        <p:nvSpPr>
          <p:cNvPr id="91" name="Text Box 110">
            <a:extLst>
              <a:ext uri="{FF2B5EF4-FFF2-40B4-BE49-F238E27FC236}">
                <a16:creationId xmlns:a16="http://schemas.microsoft.com/office/drawing/2014/main" id="{2C2A22C8-51D9-455F-92B1-C64404627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1032" y="4570412"/>
            <a:ext cx="14398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E4A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</a:t>
            </a:r>
            <a:r>
              <a:rPr kumimoji="1" lang="en-US" altLang="zh-CN" sz="2400" b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(G)=0</a:t>
            </a:r>
          </a:p>
        </p:txBody>
      </p:sp>
    </p:spTree>
    <p:extLst>
      <p:ext uri="{BB962C8B-B14F-4D97-AF65-F5344CB8AC3E}">
        <p14:creationId xmlns:p14="http://schemas.microsoft.com/office/powerpoint/2010/main" val="1316998535"/>
      </p:ext>
    </p:extLst>
  </p:cSld>
  <p:clrMapOvr>
    <a:masterClrMapping/>
  </p:clrMapOvr>
  <p:transition spd="slow" advTm="0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6" name="矩形 102403"/>
          <p:cNvSpPr/>
          <p:nvPr/>
        </p:nvSpPr>
        <p:spPr>
          <a:xfrm>
            <a:off x="1473142" y="1557136"/>
            <a:ext cx="7544435" cy="266944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sz="2000" b="0" dirty="0">
                <a:latin typeface="Microsoft YaHei" panose="020B0503020204020204" charset="-122"/>
                <a:ea typeface="Microsoft YaHei" panose="020B0503020204020204" charset="-122"/>
              </a:rPr>
              <a:t>图的表示的三种方法</a:t>
            </a:r>
          </a:p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sz="2000" b="0" dirty="0">
                <a:latin typeface="Microsoft YaHei" panose="020B0503020204020204" charset="-122"/>
                <a:ea typeface="Microsoft YaHei" panose="020B0503020204020204" charset="-122"/>
              </a:rPr>
              <a:t>（</a:t>
            </a:r>
            <a:r>
              <a:rPr lang="en-US" altLang="zh-CN" sz="2000" b="0" dirty="0"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r>
              <a:rPr lang="zh-CN" altLang="en-US" sz="2000" b="0" dirty="0">
                <a:latin typeface="Microsoft YaHei" panose="020B0503020204020204" charset="-122"/>
                <a:ea typeface="Microsoft YaHei" panose="020B0503020204020204" charset="-122"/>
              </a:rPr>
              <a:t>）集合表示</a:t>
            </a:r>
          </a:p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sz="2000" b="0" dirty="0">
                <a:latin typeface="Microsoft YaHei" panose="020B0503020204020204" charset="-122"/>
                <a:ea typeface="Microsoft YaHei" panose="020B0503020204020204" charset="-122"/>
              </a:rPr>
              <a:t>（</a:t>
            </a:r>
            <a:r>
              <a:rPr lang="en-US" altLang="zh-CN" sz="2000" b="0" dirty="0">
                <a:latin typeface="Microsoft YaHei" panose="020B0503020204020204" charset="-122"/>
                <a:ea typeface="Microsoft YaHei" panose="020B0503020204020204" charset="-122"/>
              </a:rPr>
              <a:t>2</a:t>
            </a:r>
            <a:r>
              <a:rPr lang="zh-CN" altLang="en-US" sz="2000" b="0" dirty="0">
                <a:latin typeface="Microsoft YaHei" panose="020B0503020204020204" charset="-122"/>
                <a:ea typeface="Microsoft YaHei" panose="020B0503020204020204" charset="-122"/>
              </a:rPr>
              <a:t>）邻接表（</a:t>
            </a:r>
            <a:r>
              <a:rPr lang="en-US" altLang="zh-CN" sz="2000" b="0" dirty="0">
                <a:latin typeface="Microsoft YaHei" panose="020B0503020204020204" charset="-122"/>
                <a:ea typeface="Microsoft YaHei" panose="020B0503020204020204" charset="-122"/>
              </a:rPr>
              <a:t>adjacency list</a:t>
            </a:r>
            <a:r>
              <a:rPr lang="zh-CN" altLang="en-US" sz="2000" b="0" dirty="0">
                <a:latin typeface="Microsoft YaHei" panose="020B0503020204020204" charset="-122"/>
                <a:ea typeface="Microsoft YaHei" panose="020B0503020204020204" charset="-122"/>
              </a:rPr>
              <a:t>）表示</a:t>
            </a:r>
          </a:p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sz="2000" b="0" dirty="0">
                <a:latin typeface="Microsoft YaHei" panose="020B0503020204020204" charset="-122"/>
                <a:ea typeface="Microsoft YaHei" panose="020B0503020204020204" charset="-122"/>
              </a:rPr>
              <a:t>（</a:t>
            </a:r>
            <a:r>
              <a:rPr lang="en-US" altLang="zh-CN" sz="2000" b="0" dirty="0">
                <a:latin typeface="Microsoft YaHei" panose="020B0503020204020204" charset="-122"/>
                <a:ea typeface="Microsoft YaHei" panose="020B0503020204020204" charset="-122"/>
              </a:rPr>
              <a:t>3</a:t>
            </a:r>
            <a:r>
              <a:rPr lang="zh-CN" altLang="en-US" sz="2000" b="0" dirty="0">
                <a:latin typeface="Microsoft YaHei" panose="020B0503020204020204" charset="-122"/>
                <a:ea typeface="Microsoft YaHei" panose="020B0503020204020204" charset="-122"/>
              </a:rPr>
              <a:t>）</a:t>
            </a:r>
            <a:r>
              <a:rPr lang="zh-CN" altLang="en-US" sz="2000" dirty="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</a:rPr>
              <a:t>矩阵</a:t>
            </a:r>
            <a:r>
              <a:rPr lang="zh-CN" altLang="en-US" sz="2000" b="0" dirty="0">
                <a:latin typeface="Microsoft YaHei" panose="020B0503020204020204" charset="-122"/>
                <a:ea typeface="Microsoft YaHei" panose="020B0503020204020204" charset="-122"/>
              </a:rPr>
              <a:t>表示</a:t>
            </a:r>
          </a:p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sz="2000" b="0" dirty="0">
                <a:latin typeface="Microsoft YaHei" panose="020B0503020204020204" charset="-122"/>
                <a:ea typeface="Microsoft YaHei" panose="020B0503020204020204" charset="-122"/>
              </a:rPr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273211001"/>
      </p:ext>
    </p:extLst>
  </p:cSld>
  <p:clrMapOvr>
    <a:masterClrMapping/>
  </p:clrMapOvr>
  <p:transition spd="slow" advTm="0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87C7D11-52A2-4545-B0CB-4B766A7F2E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9081" y="824767"/>
            <a:ext cx="8496300" cy="5208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Symbol" panose="05050102010706020507" pitchFamily="18" charset="2"/>
              <a:defRPr kumimoji="1" sz="2800" b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sz="24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2pPr>
            <a:lvl3pPr marL="11430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sz="20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3pPr>
            <a:lvl4pPr marL="16002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4pPr>
            <a:lvl5pPr marL="20574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3400" indent="-533400">
              <a:lnSpc>
                <a:spcPct val="110000"/>
              </a:lnSpc>
            </a:pPr>
            <a:r>
              <a:rPr lang="en-US" altLang="zh-CN" sz="2400" dirty="0">
                <a:solidFill>
                  <a:srgbClr val="99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令图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G=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），称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(V′,E′)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的子图（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Subgraph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），当</a:t>
            </a:r>
          </a:p>
          <a:p>
            <a:pPr marL="533400" indent="-533400" algn="just">
              <a:lnSpc>
                <a:spcPct val="110000"/>
              </a:lnSpc>
            </a:pPr>
            <a:r>
              <a:rPr kumimoji="0"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0"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(1)V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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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；</a:t>
            </a:r>
          </a:p>
          <a:p>
            <a:pPr marL="533400" indent="-533400">
              <a:lnSpc>
                <a:spcPct val="11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对任意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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，则与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相关联的结点</a:t>
            </a:r>
            <a:r>
              <a:rPr lang="en-US" altLang="zh-CN" sz="2400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sz="2400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,v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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533400" indent="-533400">
              <a:lnSpc>
                <a:spcPct val="11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   若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是 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的子图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则称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超图</a:t>
            </a:r>
            <a:r>
              <a:rPr lang="en-US" altLang="zh-CN" sz="24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母图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，记作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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533400" indent="-533400">
              <a:lnSpc>
                <a:spcPct val="11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	若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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≠G(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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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E)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，则称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真子图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533400" indent="-533400">
              <a:lnSpc>
                <a:spcPct val="11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	若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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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，则称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生成子图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Spanning Subgraph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）。</a:t>
            </a:r>
          </a:p>
          <a:p>
            <a:pPr marL="533400" indent="-533400">
              <a:lnSpc>
                <a:spcPct val="11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	设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2400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V,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2400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≠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，以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2400" baseline="-300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黑体" panose="02010609060101010101" pitchFamily="49" charset="-12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为结点集，以两端点均在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2400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中的全体边为边集的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的子图，称为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结点集</a:t>
            </a:r>
            <a:r>
              <a:rPr lang="en-US" altLang="zh-CN" sz="24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导出的导出子图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Derived Subgraph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）。</a:t>
            </a:r>
          </a:p>
          <a:p>
            <a:pPr marL="533400" indent="-533400">
              <a:lnSpc>
                <a:spcPct val="11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	设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2400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E,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2400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≠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，以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2400" baseline="-300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黑体" panose="02010609060101010101" pitchFamily="49" charset="-12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为边集，以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2400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中边关联的结点的全体为结点集的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的子图，称为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边集</a:t>
            </a:r>
            <a:r>
              <a:rPr lang="en-US" altLang="zh-CN" sz="24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2400" baseline="-250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导出的导出子图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en-US" sz="2400" dirty="0">
                <a:solidFill>
                  <a:srgbClr val="990000"/>
                </a:solidFill>
                <a:latin typeface="宋体" panose="02010600030101010101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6773622"/>
      </p:ext>
    </p:extLst>
  </p:cSld>
  <p:clrMapOvr>
    <a:masterClrMapping/>
  </p:clrMapOvr>
  <p:transition spd="slow" advTm="0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108" name="Rectangle 3">
            <a:extLst>
              <a:ext uri="{FF2B5EF4-FFF2-40B4-BE49-F238E27FC236}">
                <a16:creationId xmlns:a16="http://schemas.microsoft.com/office/drawing/2014/main" id="{A9959F11-65F6-40D8-9A45-7C2F9A27B51C}"/>
              </a:ext>
            </a:extLst>
          </p:cNvPr>
          <p:cNvSpPr txBox="1">
            <a:spLocks noChangeArrowheads="1"/>
          </p:cNvSpPr>
          <p:nvPr/>
        </p:nvSpPr>
        <p:spPr>
          <a:xfrm>
            <a:off x="1571625" y="862012"/>
            <a:ext cx="10488612" cy="51339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= &lt;V, E&gt;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为简单图，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G’ = &lt;V, E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为完全图，则称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&lt;V, E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-E&gt;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的补图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(Complement of Graph)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，记为    。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的补图也可理解为从结点集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的完全图中删除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中的边剩下的图，即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与其补图的结点集是相同的，边集是相对于完全图的边集为全集的补集。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显然，若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 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G=   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，即它们互为补图。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的补图为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个结点的零图。 </a:t>
            </a:r>
          </a:p>
        </p:txBody>
      </p:sp>
      <p:graphicFrame>
        <p:nvGraphicFramePr>
          <p:cNvPr id="109" name="Object 4">
            <a:extLst>
              <a:ext uri="{FF2B5EF4-FFF2-40B4-BE49-F238E27FC236}">
                <a16:creationId xmlns:a16="http://schemas.microsoft.com/office/drawing/2014/main" id="{52C83A22-8C2C-40D5-8654-C46BB8ED79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921" y="1325780"/>
          <a:ext cx="3159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26720" imgH="203040" progId="Equation.3">
                  <p:embed/>
                </p:oleObj>
              </mc:Choice>
              <mc:Fallback>
                <p:oleObj name="公式" r:id="rId4" imgW="126720" imgH="203040" progId="Equation.3">
                  <p:embed/>
                  <p:pic>
                    <p:nvPicPr>
                      <p:cNvPr id="109" name="Object 4">
                        <a:extLst>
                          <a:ext uri="{FF2B5EF4-FFF2-40B4-BE49-F238E27FC236}">
                            <a16:creationId xmlns:a16="http://schemas.microsoft.com/office/drawing/2014/main" id="{52C83A22-8C2C-40D5-8654-C46BB8ED79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921" y="1325780"/>
                        <a:ext cx="31591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" name="Object 6">
            <a:extLst>
              <a:ext uri="{FF2B5EF4-FFF2-40B4-BE49-F238E27FC236}">
                <a16:creationId xmlns:a16="http://schemas.microsoft.com/office/drawing/2014/main" id="{F2E8AD3D-4178-4864-BA41-CDDC8A39D1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15136" y="3448186"/>
          <a:ext cx="3159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26720" imgH="203040" progId="Equation.3">
                  <p:embed/>
                </p:oleObj>
              </mc:Choice>
              <mc:Fallback>
                <p:oleObj name="公式" r:id="rId6" imgW="126720" imgH="203040" progId="Equation.3">
                  <p:embed/>
                  <p:pic>
                    <p:nvPicPr>
                      <p:cNvPr id="110" name="Object 6">
                        <a:extLst>
                          <a:ext uri="{FF2B5EF4-FFF2-40B4-BE49-F238E27FC236}">
                            <a16:creationId xmlns:a16="http://schemas.microsoft.com/office/drawing/2014/main" id="{F2E8AD3D-4178-4864-BA41-CDDC8A39D1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5136" y="3448186"/>
                        <a:ext cx="31591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" name="Object 7">
            <a:extLst>
              <a:ext uri="{FF2B5EF4-FFF2-40B4-BE49-F238E27FC236}">
                <a16:creationId xmlns:a16="http://schemas.microsoft.com/office/drawing/2014/main" id="{B4065A1C-C5FA-44CE-BF61-2B5AF8DB32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4318" y="3428999"/>
          <a:ext cx="442913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77480" imgH="241200" progId="Equation.3">
                  <p:embed/>
                </p:oleObj>
              </mc:Choice>
              <mc:Fallback>
                <p:oleObj name="公式" r:id="rId7" imgW="177480" imgH="241200" progId="Equation.3">
                  <p:embed/>
                  <p:pic>
                    <p:nvPicPr>
                      <p:cNvPr id="111" name="Object 7">
                        <a:extLst>
                          <a:ext uri="{FF2B5EF4-FFF2-40B4-BE49-F238E27FC236}">
                            <a16:creationId xmlns:a16="http://schemas.microsoft.com/office/drawing/2014/main" id="{B4065A1C-C5FA-44CE-BF61-2B5AF8DB32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4318" y="3428999"/>
                        <a:ext cx="442913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" name="Rectangle 3">
            <a:extLst>
              <a:ext uri="{FF2B5EF4-FFF2-40B4-BE49-F238E27FC236}">
                <a16:creationId xmlns:a16="http://schemas.microsoft.com/office/drawing/2014/main" id="{F3849581-B6E4-4A16-96C6-34EA89FF1B3B}"/>
              </a:ext>
            </a:extLst>
          </p:cNvPr>
          <p:cNvSpPr txBox="1">
            <a:spLocks noChangeArrowheads="1"/>
          </p:cNvSpPr>
          <p:nvPr/>
        </p:nvSpPr>
        <p:spPr>
          <a:xfrm>
            <a:off x="718185" y="4873623"/>
            <a:ext cx="11125472" cy="1117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若设简单图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的邻接矩阵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n×n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，则它的补图的邻接矩阵          </a:t>
            </a:r>
          </a:p>
        </p:txBody>
      </p:sp>
      <p:graphicFrame>
        <p:nvGraphicFramePr>
          <p:cNvPr id="113" name="Object 36">
            <a:extLst>
              <a:ext uri="{FF2B5EF4-FFF2-40B4-BE49-F238E27FC236}">
                <a16:creationId xmlns:a16="http://schemas.microsoft.com/office/drawing/2014/main" id="{D9B58C9C-6DA5-485B-AC6C-F545370350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98591" y="5547299"/>
          <a:ext cx="6418263" cy="114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641320" imgH="457200" progId="Equation.3">
                  <p:embed/>
                </p:oleObj>
              </mc:Choice>
              <mc:Fallback>
                <p:oleObj name="公式" r:id="rId9" imgW="2641320" imgH="457200" progId="Equation.3">
                  <p:embed/>
                  <p:pic>
                    <p:nvPicPr>
                      <p:cNvPr id="113" name="Object 36">
                        <a:extLst>
                          <a:ext uri="{FF2B5EF4-FFF2-40B4-BE49-F238E27FC236}">
                            <a16:creationId xmlns:a16="http://schemas.microsoft.com/office/drawing/2014/main" id="{D9B58C9C-6DA5-485B-AC6C-F545370350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8591" y="5547299"/>
                        <a:ext cx="6418263" cy="1144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" name="Object 38">
            <a:extLst>
              <a:ext uri="{FF2B5EF4-FFF2-40B4-BE49-F238E27FC236}">
                <a16:creationId xmlns:a16="http://schemas.microsoft.com/office/drawing/2014/main" id="{8183128A-9661-436F-9E44-D3D5133512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16809" y="4827586"/>
          <a:ext cx="1735138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698400" imgH="241200" progId="Equation.3">
                  <p:embed/>
                </p:oleObj>
              </mc:Choice>
              <mc:Fallback>
                <p:oleObj name="公式" r:id="rId11" imgW="698400" imgH="241200" progId="Equation.3">
                  <p:embed/>
                  <p:pic>
                    <p:nvPicPr>
                      <p:cNvPr id="114" name="Object 38">
                        <a:extLst>
                          <a:ext uri="{FF2B5EF4-FFF2-40B4-BE49-F238E27FC236}">
                            <a16:creationId xmlns:a16="http://schemas.microsoft.com/office/drawing/2014/main" id="{8183128A-9661-436F-9E44-D3D5133512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16809" y="4827586"/>
                        <a:ext cx="1735138" cy="604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78870609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119" name="Rectangle 3">
            <a:extLst>
              <a:ext uri="{FF2B5EF4-FFF2-40B4-BE49-F238E27FC236}">
                <a16:creationId xmlns:a16="http://schemas.microsoft.com/office/drawing/2014/main" id="{90480F85-237E-45CD-94E3-232A8FFF6D2B}"/>
              </a:ext>
            </a:extLst>
          </p:cNvPr>
          <p:cNvSpPr txBox="1">
            <a:spLocks noChangeArrowheads="1"/>
          </p:cNvSpPr>
          <p:nvPr/>
        </p:nvSpPr>
        <p:spPr>
          <a:xfrm>
            <a:off x="1467122" y="979215"/>
            <a:ext cx="10724878" cy="43656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设图</a:t>
            </a:r>
            <a:r>
              <a:rPr lang="en-US" altLang="zh-CN" dirty="0"/>
              <a:t>G = &lt;V, E&gt;</a:t>
            </a:r>
            <a:r>
              <a:rPr lang="zh-CN" altLang="en-US" dirty="0"/>
              <a:t>。</a:t>
            </a:r>
          </a:p>
          <a:p>
            <a:pPr marL="457200" indent="-457200">
              <a:lnSpc>
                <a:spcPct val="100000"/>
              </a:lnSpc>
              <a:buClr>
                <a:srgbClr val="800080"/>
              </a:buClr>
              <a:buFont typeface="Wingdings" panose="05000000000000000000" pitchFamily="2" charset="2"/>
              <a:buAutoNum type="arabicPeriod"/>
            </a:pPr>
            <a:r>
              <a:rPr lang="zh-CN" altLang="en-US" dirty="0"/>
              <a:t>设</a:t>
            </a:r>
            <a:r>
              <a:rPr lang="en-US" altLang="zh-CN" dirty="0" err="1"/>
              <a:t>e∈E</a:t>
            </a:r>
            <a:r>
              <a:rPr lang="zh-CN" altLang="en-US" dirty="0"/>
              <a:t>，用</a:t>
            </a:r>
            <a:r>
              <a:rPr lang="en-US" altLang="zh-CN" dirty="0">
                <a:solidFill>
                  <a:srgbClr val="800080"/>
                </a:solidFill>
              </a:rPr>
              <a:t>G-e</a:t>
            </a:r>
            <a:r>
              <a:rPr lang="zh-CN" altLang="en-US" dirty="0"/>
              <a:t>表示从</a:t>
            </a:r>
            <a:r>
              <a:rPr lang="en-US" altLang="zh-CN" dirty="0"/>
              <a:t>G</a:t>
            </a:r>
            <a:r>
              <a:rPr lang="zh-CN" altLang="en-US" dirty="0"/>
              <a:t>中去掉边</a:t>
            </a:r>
            <a:r>
              <a:rPr lang="en-US" altLang="zh-CN" dirty="0"/>
              <a:t>e</a:t>
            </a:r>
            <a:r>
              <a:rPr lang="zh-CN" altLang="en-US" dirty="0"/>
              <a:t>得到的图，称为</a:t>
            </a:r>
            <a:r>
              <a:rPr lang="zh-CN" altLang="en-US" dirty="0">
                <a:solidFill>
                  <a:schemeClr val="accent1"/>
                </a:solidFill>
              </a:rPr>
              <a:t>删除边</a:t>
            </a:r>
            <a:r>
              <a:rPr lang="en-US" altLang="zh-CN" dirty="0">
                <a:solidFill>
                  <a:schemeClr val="accent1"/>
                </a:solidFill>
              </a:rPr>
              <a:t>e</a:t>
            </a:r>
            <a:r>
              <a:rPr lang="zh-CN" altLang="en-US" dirty="0"/>
              <a:t>。又设</a:t>
            </a:r>
            <a:r>
              <a:rPr lang="en-US" altLang="zh-CN" dirty="0"/>
              <a:t>E</a:t>
            </a:r>
            <a:r>
              <a:rPr lang="en-US" altLang="zh-CN" dirty="0">
                <a:sym typeface="Symbol" panose="05050102010706020507" pitchFamily="18" charset="2"/>
              </a:rPr>
              <a:t></a:t>
            </a:r>
            <a:r>
              <a:rPr lang="en-US" altLang="zh-CN" dirty="0"/>
              <a:t>E</a:t>
            </a:r>
            <a:r>
              <a:rPr lang="zh-CN" altLang="en-US" dirty="0"/>
              <a:t>，用</a:t>
            </a:r>
            <a:r>
              <a:rPr lang="en-US" altLang="zh-CN" dirty="0">
                <a:solidFill>
                  <a:srgbClr val="800080"/>
                </a:solidFill>
              </a:rPr>
              <a:t>G-E</a:t>
            </a:r>
            <a:r>
              <a:rPr lang="en-US" altLang="zh-CN" dirty="0">
                <a:solidFill>
                  <a:srgbClr val="800080"/>
                </a:solidFill>
                <a:sym typeface="Symbol" panose="05050102010706020507" pitchFamily="18" charset="2"/>
              </a:rPr>
              <a:t></a:t>
            </a:r>
            <a:r>
              <a:rPr lang="zh-CN" altLang="en-US" dirty="0"/>
              <a:t>表示从</a:t>
            </a:r>
            <a:r>
              <a:rPr lang="en-US" altLang="zh-CN" dirty="0"/>
              <a:t>G</a:t>
            </a:r>
            <a:r>
              <a:rPr lang="zh-CN" altLang="en-US" dirty="0"/>
              <a:t>中删除</a:t>
            </a:r>
            <a:r>
              <a:rPr lang="en-US" altLang="zh-CN" dirty="0"/>
              <a:t>E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zh-CN" altLang="en-US" dirty="0"/>
              <a:t>中所有边得到的图，称为</a:t>
            </a:r>
            <a:r>
              <a:rPr lang="zh-CN" altLang="en-US" dirty="0">
                <a:solidFill>
                  <a:schemeClr val="accent1"/>
                </a:solidFill>
              </a:rPr>
              <a:t>删除</a:t>
            </a:r>
            <a:r>
              <a:rPr lang="en-US" altLang="zh-CN" dirty="0">
                <a:solidFill>
                  <a:schemeClr val="accent1"/>
                </a:solidFill>
              </a:rPr>
              <a:t>E</a:t>
            </a:r>
            <a:r>
              <a:rPr lang="en-US" altLang="zh-CN" dirty="0">
                <a:solidFill>
                  <a:schemeClr val="accent1"/>
                </a:solidFill>
                <a:sym typeface="Symbol" panose="05050102010706020507" pitchFamily="18" charset="2"/>
              </a:rPr>
              <a:t></a:t>
            </a:r>
            <a:r>
              <a:rPr lang="zh-CN" altLang="en-US" dirty="0"/>
              <a:t>。</a:t>
            </a:r>
          </a:p>
          <a:p>
            <a:pPr marL="457200" indent="-457200">
              <a:lnSpc>
                <a:spcPct val="100000"/>
              </a:lnSpc>
              <a:buClr>
                <a:srgbClr val="800080"/>
              </a:buClr>
              <a:buFont typeface="Wingdings" panose="05000000000000000000" pitchFamily="2" charset="2"/>
              <a:buAutoNum type="arabicPeriod"/>
            </a:pPr>
            <a:r>
              <a:rPr lang="zh-CN" altLang="en-US" dirty="0"/>
              <a:t>设</a:t>
            </a:r>
            <a:r>
              <a:rPr lang="en-US" altLang="zh-CN" dirty="0" err="1"/>
              <a:t>v∈V</a:t>
            </a:r>
            <a:r>
              <a:rPr lang="zh-CN" altLang="en-US" dirty="0"/>
              <a:t>，用</a:t>
            </a:r>
            <a:r>
              <a:rPr lang="en-US" altLang="zh-CN" dirty="0">
                <a:solidFill>
                  <a:srgbClr val="800080"/>
                </a:solidFill>
              </a:rPr>
              <a:t>G-v</a:t>
            </a:r>
            <a:r>
              <a:rPr lang="zh-CN" altLang="en-US" dirty="0"/>
              <a:t>表示从</a:t>
            </a:r>
            <a:r>
              <a:rPr lang="en-US" altLang="zh-CN" dirty="0"/>
              <a:t>G</a:t>
            </a:r>
            <a:r>
              <a:rPr lang="zh-CN" altLang="en-US" dirty="0"/>
              <a:t>中去掉结点</a:t>
            </a:r>
            <a:r>
              <a:rPr lang="en-US" altLang="zh-CN" dirty="0"/>
              <a:t>v</a:t>
            </a:r>
            <a:r>
              <a:rPr lang="zh-CN" altLang="en-US" dirty="0"/>
              <a:t>及</a:t>
            </a:r>
            <a:r>
              <a:rPr lang="en-US" altLang="zh-CN" dirty="0"/>
              <a:t>v</a:t>
            </a:r>
            <a:r>
              <a:rPr lang="zh-CN" altLang="en-US" dirty="0"/>
              <a:t>关联的所有边得到的图，称为</a:t>
            </a:r>
            <a:r>
              <a:rPr lang="zh-CN" altLang="en-US" dirty="0">
                <a:solidFill>
                  <a:schemeClr val="accent1"/>
                </a:solidFill>
              </a:rPr>
              <a:t>删除结点</a:t>
            </a:r>
            <a:r>
              <a:rPr lang="en-US" altLang="zh-CN" dirty="0">
                <a:solidFill>
                  <a:schemeClr val="accent1"/>
                </a:solidFill>
              </a:rPr>
              <a:t>v</a:t>
            </a:r>
            <a:r>
              <a:rPr lang="zh-CN" altLang="en-US" dirty="0"/>
              <a:t>。又设</a:t>
            </a:r>
            <a:r>
              <a:rPr lang="en-US" altLang="zh-CN" dirty="0"/>
              <a:t>V</a:t>
            </a:r>
            <a:r>
              <a:rPr lang="en-US" altLang="zh-CN" dirty="0">
                <a:sym typeface="Symbol" panose="05050102010706020507" pitchFamily="18" charset="2"/>
              </a:rPr>
              <a:t></a:t>
            </a:r>
            <a:r>
              <a:rPr lang="en-US" altLang="zh-CN" dirty="0"/>
              <a:t>V</a:t>
            </a:r>
            <a:r>
              <a:rPr lang="zh-CN" altLang="en-US" dirty="0"/>
              <a:t>，用</a:t>
            </a:r>
            <a:r>
              <a:rPr lang="en-US" altLang="zh-CN" dirty="0">
                <a:solidFill>
                  <a:srgbClr val="800080"/>
                </a:solidFill>
              </a:rPr>
              <a:t>G-V</a:t>
            </a:r>
            <a:r>
              <a:rPr lang="en-US" altLang="zh-CN" dirty="0">
                <a:solidFill>
                  <a:srgbClr val="800080"/>
                </a:solidFill>
                <a:sym typeface="Symbol" panose="05050102010706020507" pitchFamily="18" charset="2"/>
              </a:rPr>
              <a:t></a:t>
            </a:r>
            <a:r>
              <a:rPr lang="en-US" altLang="zh-CN" dirty="0"/>
              <a:t> </a:t>
            </a:r>
            <a:r>
              <a:rPr lang="zh-CN" altLang="en-US" dirty="0"/>
              <a:t>表示从</a:t>
            </a:r>
            <a:r>
              <a:rPr lang="en-US" altLang="zh-CN" dirty="0"/>
              <a:t>G</a:t>
            </a:r>
            <a:r>
              <a:rPr lang="zh-CN" altLang="en-US" dirty="0"/>
              <a:t>中删除</a:t>
            </a:r>
            <a:r>
              <a:rPr lang="en-US" altLang="zh-CN" dirty="0"/>
              <a:t>V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zh-CN" altLang="en-US" dirty="0"/>
              <a:t>中所有结点及关联的所有边得到的图，称为</a:t>
            </a:r>
            <a:r>
              <a:rPr lang="zh-CN" altLang="en-US" dirty="0">
                <a:solidFill>
                  <a:schemeClr val="accent1"/>
                </a:solidFill>
              </a:rPr>
              <a:t>删除</a:t>
            </a:r>
            <a:r>
              <a:rPr lang="en-US" altLang="zh-CN" dirty="0">
                <a:solidFill>
                  <a:schemeClr val="accent1"/>
                </a:solidFill>
              </a:rPr>
              <a:t>V</a:t>
            </a:r>
            <a:r>
              <a:rPr lang="en-US" altLang="zh-CN" dirty="0">
                <a:solidFill>
                  <a:schemeClr val="accent1"/>
                </a:solidFill>
                <a:sym typeface="Symbol" panose="05050102010706020507" pitchFamily="18" charset="2"/>
              </a:rPr>
              <a:t></a:t>
            </a:r>
            <a:r>
              <a:rPr lang="zh-CN" altLang="en-US" dirty="0"/>
              <a:t>。</a:t>
            </a:r>
          </a:p>
        </p:txBody>
      </p:sp>
      <p:sp>
        <p:nvSpPr>
          <p:cNvPr id="120" name="Rectangle 3">
            <a:extLst>
              <a:ext uri="{FF2B5EF4-FFF2-40B4-BE49-F238E27FC236}">
                <a16:creationId xmlns:a16="http://schemas.microsoft.com/office/drawing/2014/main" id="{A5AB2357-3280-45BB-989E-FDB88155CC33}"/>
              </a:ext>
            </a:extLst>
          </p:cNvPr>
          <p:cNvSpPr txBox="1">
            <a:spLocks noChangeArrowheads="1"/>
          </p:cNvSpPr>
          <p:nvPr/>
        </p:nvSpPr>
        <p:spPr>
          <a:xfrm>
            <a:off x="1467122" y="3350623"/>
            <a:ext cx="10611667" cy="48133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3400" indent="-533400">
              <a:lnSpc>
                <a:spcPct val="100000"/>
              </a:lnSpc>
              <a:spcBef>
                <a:spcPct val="15000"/>
              </a:spcBef>
            </a:pPr>
            <a:endParaRPr lang="zh-CN" altLang="en-US" dirty="0"/>
          </a:p>
          <a:p>
            <a:pPr marL="533400" indent="-533400">
              <a:lnSpc>
                <a:spcPct val="100000"/>
              </a:lnSpc>
              <a:buClr>
                <a:srgbClr val="800080"/>
              </a:buClr>
              <a:buFont typeface="Wingdings" panose="05000000000000000000" pitchFamily="2" charset="2"/>
              <a:buAutoNum type="arabicPeriod" startAt="3"/>
            </a:pPr>
            <a:r>
              <a:rPr lang="zh-CN" altLang="en-US" dirty="0"/>
              <a:t>设</a:t>
            </a:r>
            <a:r>
              <a:rPr lang="en-US" altLang="zh-CN" dirty="0"/>
              <a:t>e = (u, v)∈E</a:t>
            </a:r>
            <a:r>
              <a:rPr lang="zh-CN" altLang="en-US" dirty="0"/>
              <a:t>，用</a:t>
            </a:r>
            <a:r>
              <a:rPr lang="en-US" altLang="zh-CN" dirty="0">
                <a:solidFill>
                  <a:srgbClr val="800080"/>
                </a:solidFill>
              </a:rPr>
              <a:t>G\e</a:t>
            </a:r>
            <a:r>
              <a:rPr lang="zh-CN" altLang="en-US" dirty="0"/>
              <a:t>表示从</a:t>
            </a:r>
            <a:r>
              <a:rPr lang="en-US" altLang="zh-CN" dirty="0"/>
              <a:t>G</a:t>
            </a:r>
            <a:r>
              <a:rPr lang="zh-CN" altLang="en-US" dirty="0"/>
              <a:t>中删除</a:t>
            </a:r>
            <a:r>
              <a:rPr lang="en-US" altLang="zh-CN" dirty="0"/>
              <a:t>e</a:t>
            </a:r>
            <a:r>
              <a:rPr lang="zh-CN" altLang="en-US" dirty="0"/>
              <a:t>，将</a:t>
            </a:r>
            <a:r>
              <a:rPr lang="en-US" altLang="zh-CN" dirty="0"/>
              <a:t>e</a:t>
            </a:r>
            <a:r>
              <a:rPr lang="zh-CN" altLang="en-US" dirty="0"/>
              <a:t>的两个端点</a:t>
            </a:r>
            <a:r>
              <a:rPr lang="en-US" altLang="zh-CN" dirty="0"/>
              <a:t>u, v</a:t>
            </a:r>
            <a:r>
              <a:rPr lang="zh-CN" altLang="en-US" dirty="0"/>
              <a:t>用一个新的结点</a:t>
            </a:r>
            <a:r>
              <a:rPr lang="en-US" altLang="zh-CN" dirty="0"/>
              <a:t>w</a:t>
            </a:r>
            <a:r>
              <a:rPr lang="zh-CN" altLang="en-US" dirty="0"/>
              <a:t>代替，使</a:t>
            </a:r>
            <a:r>
              <a:rPr lang="en-US" altLang="zh-CN" dirty="0"/>
              <a:t>w</a:t>
            </a:r>
            <a:r>
              <a:rPr lang="zh-CN" altLang="en-US" dirty="0"/>
              <a:t>关联除</a:t>
            </a:r>
            <a:r>
              <a:rPr lang="en-US" altLang="zh-CN" dirty="0"/>
              <a:t>e</a:t>
            </a:r>
            <a:r>
              <a:rPr lang="zh-CN" altLang="en-US" dirty="0"/>
              <a:t>外的</a:t>
            </a:r>
            <a:r>
              <a:rPr lang="en-US" altLang="zh-CN" dirty="0"/>
              <a:t>u</a:t>
            </a:r>
            <a:r>
              <a:rPr lang="zh-CN" altLang="en-US" dirty="0"/>
              <a:t>和</a:t>
            </a:r>
            <a:r>
              <a:rPr lang="en-US" altLang="zh-CN" dirty="0"/>
              <a:t>v</a:t>
            </a:r>
            <a:r>
              <a:rPr lang="zh-CN" altLang="en-US" dirty="0"/>
              <a:t>关联的一切边，称为</a:t>
            </a:r>
            <a:r>
              <a:rPr lang="zh-CN" altLang="en-US" dirty="0">
                <a:solidFill>
                  <a:schemeClr val="accent1"/>
                </a:solidFill>
              </a:rPr>
              <a:t>边</a:t>
            </a:r>
            <a:r>
              <a:rPr lang="en-US" altLang="zh-CN" dirty="0">
                <a:solidFill>
                  <a:schemeClr val="accent1"/>
                </a:solidFill>
              </a:rPr>
              <a:t>e</a:t>
            </a:r>
            <a:r>
              <a:rPr lang="zh-CN" altLang="en-US" dirty="0">
                <a:solidFill>
                  <a:schemeClr val="accent1"/>
                </a:solidFill>
              </a:rPr>
              <a:t>的收缩</a:t>
            </a:r>
            <a:r>
              <a:rPr lang="zh-CN" altLang="en-US" dirty="0"/>
              <a:t>。一个图</a:t>
            </a:r>
            <a:r>
              <a:rPr lang="en-US" altLang="zh-CN" dirty="0"/>
              <a:t>G</a:t>
            </a:r>
            <a:r>
              <a:rPr lang="zh-CN" altLang="en-US" dirty="0"/>
              <a:t>可以收缩为图</a:t>
            </a:r>
            <a:r>
              <a:rPr lang="en-US" altLang="zh-CN" dirty="0"/>
              <a:t>H</a:t>
            </a:r>
            <a:r>
              <a:rPr lang="zh-CN" altLang="en-US" dirty="0"/>
              <a:t>，是指</a:t>
            </a:r>
            <a:r>
              <a:rPr lang="en-US" altLang="zh-CN" dirty="0"/>
              <a:t>H</a:t>
            </a:r>
            <a:r>
              <a:rPr lang="zh-CN" altLang="en-US" dirty="0"/>
              <a:t>可以从</a:t>
            </a:r>
            <a:r>
              <a:rPr lang="en-US" altLang="zh-CN" dirty="0"/>
              <a:t>G</a:t>
            </a:r>
            <a:r>
              <a:rPr lang="zh-CN" altLang="en-US" dirty="0"/>
              <a:t>经过若干次边的收缩而得到。</a:t>
            </a:r>
          </a:p>
          <a:p>
            <a:pPr marL="533400" indent="-533400">
              <a:lnSpc>
                <a:spcPct val="100000"/>
              </a:lnSpc>
              <a:buClr>
                <a:srgbClr val="800080"/>
              </a:buClr>
              <a:buFont typeface="Wingdings" panose="05000000000000000000" pitchFamily="2" charset="2"/>
              <a:buAutoNum type="arabicPeriod" startAt="3"/>
            </a:pPr>
            <a:r>
              <a:rPr lang="zh-CN" altLang="en-US" dirty="0"/>
              <a:t>设</a:t>
            </a:r>
            <a:r>
              <a:rPr lang="en-US" altLang="zh-CN" dirty="0"/>
              <a:t>u, </a:t>
            </a:r>
            <a:r>
              <a:rPr lang="en-US" altLang="zh-CN" dirty="0" err="1"/>
              <a:t>v∈V</a:t>
            </a:r>
            <a:r>
              <a:rPr lang="en-US" altLang="zh-CN" dirty="0"/>
              <a:t>(u, v</a:t>
            </a:r>
            <a:r>
              <a:rPr lang="zh-CN" altLang="en-US" dirty="0"/>
              <a:t>可能相邻，也可能不相邻</a:t>
            </a:r>
            <a:r>
              <a:rPr lang="en-US" altLang="zh-CN" dirty="0"/>
              <a:t>)</a:t>
            </a:r>
            <a:r>
              <a:rPr lang="zh-CN" altLang="en-US" dirty="0"/>
              <a:t>，用</a:t>
            </a:r>
            <a:r>
              <a:rPr lang="en-US" altLang="zh-CN" dirty="0">
                <a:solidFill>
                  <a:srgbClr val="800080"/>
                </a:solidFill>
              </a:rPr>
              <a:t>G∪(u, v)</a:t>
            </a:r>
            <a:r>
              <a:rPr lang="zh-CN" altLang="en-US" dirty="0"/>
              <a:t>表示在</a:t>
            </a:r>
            <a:r>
              <a:rPr lang="en-US" altLang="zh-CN" dirty="0"/>
              <a:t>u, v</a:t>
            </a:r>
            <a:r>
              <a:rPr lang="zh-CN" altLang="en-US" dirty="0"/>
              <a:t>之间加一条边</a:t>
            </a:r>
            <a:r>
              <a:rPr lang="en-US" altLang="zh-CN" dirty="0"/>
              <a:t>(u, v)</a:t>
            </a:r>
            <a:r>
              <a:rPr lang="zh-CN" altLang="en-US" dirty="0"/>
              <a:t>，称为</a:t>
            </a:r>
            <a:r>
              <a:rPr lang="zh-CN" altLang="en-US" dirty="0">
                <a:solidFill>
                  <a:schemeClr val="accent1"/>
                </a:solidFill>
              </a:rPr>
              <a:t>加新边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49721467"/>
      </p:ext>
    </p:extLst>
  </p:cSld>
  <p:clrMapOvr>
    <a:masterClrMapping/>
  </p:clrMapOvr>
  <p:transition spd="slow" advTm="0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EE96B1A-478B-42C2-90E7-A2CDF74FAF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884" y="1451792"/>
            <a:ext cx="10461406" cy="391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Symbol" panose="05050102010706020507" pitchFamily="18" charset="2"/>
              <a:defRPr kumimoji="1" sz="2800" b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sz="24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2pPr>
            <a:lvl3pPr marL="11430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sz="20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3pPr>
            <a:lvl4pPr marL="16002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4pPr>
            <a:lvl5pPr marL="20574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定理（欧拉定理）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在任何图中，结点度的总和等于边数的两倍。</a:t>
            </a:r>
          </a:p>
          <a:p>
            <a:pPr algn="just"/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  该定理也被称为</a:t>
            </a: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握手定理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，被认为图论第一定理，可以用于证明图的相关性质。</a:t>
            </a:r>
          </a:p>
          <a:p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推论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在任意图中，奇数度的结点个数为偶数。</a:t>
            </a:r>
            <a:r>
              <a:rPr lang="zh-CN" altLang="en-US" dirty="0">
                <a:solidFill>
                  <a:srgbClr val="990000"/>
                </a:solidFill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67258168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7880736-C614-44A8-8FC0-F40C9026B2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70938"/>
            <a:ext cx="9345708" cy="626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Symbol" panose="05050102010706020507" pitchFamily="18" charset="2"/>
              <a:defRPr kumimoji="1" sz="2800" b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sz="24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2pPr>
            <a:lvl3pPr marL="11430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sz="20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3pPr>
            <a:lvl4pPr marL="16002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4pPr>
            <a:lvl5pPr marL="20574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定义</a:t>
            </a:r>
            <a:endParaRPr lang="en-US" altLang="zh-CN" dirty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若图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的结点可以分为两个非空集合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中的边的端点分别属于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，则称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二分图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Bipartite Graph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），可简记为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G(V</a:t>
            </a:r>
            <a:r>
              <a:rPr lang="en-US" altLang="zh-CN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 若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中结点与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中结点均邻接且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中结点与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中结点也均邻接，则称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完全二分图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Complete Bipartite Graph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），记为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baseline="-30000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m,n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m,n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分别是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的基数。</a:t>
            </a:r>
            <a:r>
              <a:rPr lang="zh-CN" altLang="en-US" dirty="0">
                <a:solidFill>
                  <a:srgbClr val="990000"/>
                </a:solidFill>
                <a:latin typeface="宋体" panose="02010600030101010101" pitchFamily="2" charset="-122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endParaRPr lang="zh-CN" altLang="en-US" dirty="0">
              <a:solidFill>
                <a:srgbClr val="990000"/>
              </a:solidFill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6440277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6" name="文本占位符 64514"/>
          <p:cNvSpPr txBox="1">
            <a:spLocks/>
          </p:cNvSpPr>
          <p:nvPr/>
        </p:nvSpPr>
        <p:spPr>
          <a:xfrm>
            <a:off x="1215005" y="1380605"/>
            <a:ext cx="8382000" cy="4495800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3333FF"/>
                </a:solidFill>
                <a:latin typeface="Microsoft YaHei" panose="020B0503020204020204" charset="-122"/>
                <a:ea typeface="Microsoft YaHei" panose="020B0503020204020204" charset="-122"/>
              </a:rPr>
              <a:t>图的同构</a:t>
            </a:r>
            <a:r>
              <a:rPr lang="en-US" altLang="zh-CN" dirty="0">
                <a:solidFill>
                  <a:srgbClr val="3333FF"/>
                </a:solidFill>
                <a:latin typeface="Microsoft YaHei" panose="020B0503020204020204" charset="-122"/>
                <a:ea typeface="Microsoft YaHei" panose="020B0503020204020204" charset="-122"/>
              </a:rPr>
              <a:t>(</a:t>
            </a:r>
            <a:r>
              <a:rPr lang="en-US" altLang="zh-CN" dirty="0">
                <a:solidFill>
                  <a:srgbClr val="3333FF"/>
                </a:solidFill>
                <a:sym typeface="+mn-ea"/>
              </a:rPr>
              <a:t>Isomorphism </a:t>
            </a:r>
            <a:r>
              <a:rPr lang="en-US" altLang="zh-CN" dirty="0">
                <a:solidFill>
                  <a:srgbClr val="3333FF"/>
                </a:solidFill>
                <a:latin typeface="Microsoft YaHei" panose="020B0503020204020204" charset="-122"/>
                <a:ea typeface="Microsoft YaHei" panose="020B0503020204020204" charset="-122"/>
              </a:rPr>
              <a:t>)</a:t>
            </a:r>
          </a:p>
          <a:p>
            <a:pPr>
              <a:lnSpc>
                <a:spcPct val="14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2400" dirty="0">
              <a:solidFill>
                <a:srgbClr val="FF3300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设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(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有向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)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图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G</a:t>
            </a:r>
            <a:r>
              <a:rPr lang="en-US" altLang="zh-CN" sz="2000" baseline="-25000" dirty="0"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=&lt;V</a:t>
            </a:r>
            <a:r>
              <a:rPr lang="en-US" altLang="zh-CN" sz="2000" baseline="-25000" dirty="0"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,E</a:t>
            </a:r>
            <a:r>
              <a:rPr lang="en-US" altLang="zh-CN" sz="2000" baseline="-25000" dirty="0"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&gt;, G</a:t>
            </a:r>
            <a:r>
              <a:rPr lang="en-US" altLang="zh-CN" sz="2000" baseline="-25000" dirty="0">
                <a:latin typeface="Microsoft YaHei" panose="020B0503020204020204" charset="-122"/>
                <a:ea typeface="Microsoft YaHei" panose="020B0503020204020204" charset="-122"/>
              </a:rPr>
              <a:t>2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=&lt;V</a:t>
            </a:r>
            <a:r>
              <a:rPr lang="en-US" altLang="zh-CN" sz="2000" baseline="-25000" dirty="0">
                <a:latin typeface="Microsoft YaHei" panose="020B0503020204020204" charset="-122"/>
                <a:ea typeface="Microsoft YaHei" panose="020B0503020204020204" charset="-122"/>
              </a:rPr>
              <a:t>2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,E</a:t>
            </a:r>
            <a:r>
              <a:rPr lang="en-US" altLang="zh-CN" sz="2000" baseline="-25000" dirty="0">
                <a:latin typeface="Microsoft YaHei" panose="020B0503020204020204" charset="-122"/>
                <a:ea typeface="Microsoft YaHei" panose="020B0503020204020204" charset="-122"/>
              </a:rPr>
              <a:t>2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&gt;, 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若存在双射 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f:V</a:t>
            </a:r>
            <a:r>
              <a:rPr lang="en-US" altLang="zh-CN" sz="2000" baseline="-25000" dirty="0"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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V</a:t>
            </a:r>
            <a:r>
              <a:rPr lang="en-US" altLang="zh-CN" sz="2000" baseline="-25000" dirty="0">
                <a:latin typeface="Microsoft YaHei" panose="020B0503020204020204" charset="-122"/>
                <a:ea typeface="Microsoft YaHei" panose="020B0503020204020204" charset="-122"/>
              </a:rPr>
              <a:t>2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, 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满足</a:t>
            </a:r>
          </a:p>
          <a:p>
            <a:pPr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    </a:t>
            </a:r>
          </a:p>
          <a:p>
            <a:pPr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		u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V</a:t>
            </a:r>
            <a:r>
              <a:rPr lang="en-US" altLang="zh-CN" sz="2000" baseline="-25000" dirty="0"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,v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V</a:t>
            </a:r>
            <a:r>
              <a:rPr lang="en-US" altLang="zh-CN" sz="2000" baseline="-25000" dirty="0"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, 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(</a:t>
            </a:r>
            <a:r>
              <a:rPr lang="en-US" altLang="zh-CN" sz="2000" dirty="0" err="1">
                <a:latin typeface="Microsoft YaHei" panose="020B0503020204020204" charset="-122"/>
                <a:ea typeface="Microsoft YaHei" panose="020B0503020204020204" charset="-122"/>
              </a:rPr>
              <a:t>u,v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)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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E</a:t>
            </a:r>
            <a:r>
              <a:rPr lang="en-US" altLang="zh-CN" sz="2000" baseline="-25000" dirty="0"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  (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f(u),f(v))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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E</a:t>
            </a:r>
            <a:r>
              <a:rPr lang="en-US" altLang="zh-CN" sz="1800" baseline="-25000" dirty="0">
                <a:latin typeface="Microsoft YaHei" panose="020B0503020204020204" charset="-122"/>
                <a:ea typeface="Microsoft YaHei" panose="020B0503020204020204" charset="-122"/>
              </a:rPr>
              <a:t>2</a:t>
            </a:r>
          </a:p>
          <a:p>
            <a:pPr algn="ctr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</a:rPr>
              <a:t>(&lt;</a:t>
            </a:r>
            <a:r>
              <a:rPr lang="en-US" altLang="zh-CN" sz="2000" dirty="0" err="1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</a:rPr>
              <a:t>u,v</a:t>
            </a:r>
            <a:r>
              <a:rPr lang="en-US" altLang="zh-CN" sz="2000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</a:rPr>
              <a:t>&gt;</a:t>
            </a:r>
            <a:r>
              <a:rPr lang="en-US" altLang="zh-CN" sz="2000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</a:t>
            </a:r>
            <a:r>
              <a:rPr lang="en-US" altLang="zh-CN" sz="2000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</a:rPr>
              <a:t>E</a:t>
            </a:r>
            <a:r>
              <a:rPr lang="en-US" altLang="zh-CN" sz="2000" baseline="-25000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r>
              <a:rPr lang="en-US" altLang="zh-CN" sz="2000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  </a:t>
            </a:r>
            <a:r>
              <a:rPr lang="en-US" altLang="zh-CN" sz="2000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</a:rPr>
              <a:t>&lt;f(u),f(v)&gt;</a:t>
            </a:r>
            <a:r>
              <a:rPr lang="en-US" altLang="zh-CN" sz="2000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</a:t>
            </a:r>
            <a:r>
              <a:rPr lang="en-US" altLang="zh-CN" sz="2000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</a:rPr>
              <a:t>E</a:t>
            </a:r>
            <a:r>
              <a:rPr lang="en-US" altLang="zh-CN" sz="2000" baseline="-25000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</a:rPr>
              <a:t>2</a:t>
            </a:r>
            <a:r>
              <a:rPr lang="en-US" altLang="zh-CN" sz="2000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</a:rPr>
              <a:t>)</a:t>
            </a:r>
          </a:p>
          <a:p>
            <a:pPr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则称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G</a:t>
            </a:r>
            <a:r>
              <a:rPr lang="en-US" altLang="zh-CN" sz="2000" baseline="-25000" dirty="0"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与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G</a:t>
            </a:r>
            <a:r>
              <a:rPr lang="en-US" altLang="zh-CN" sz="2000" baseline="-25000" dirty="0">
                <a:latin typeface="Microsoft YaHei" panose="020B0503020204020204" charset="-122"/>
                <a:ea typeface="Microsoft YaHei" panose="020B0503020204020204" charset="-122"/>
              </a:rPr>
              <a:t>2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同构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, 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记作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G</a:t>
            </a:r>
            <a:r>
              <a:rPr lang="en-US" altLang="zh-CN" sz="2000" baseline="-25000" dirty="0"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r>
              <a:rPr lang="en-US" altLang="zh-CN" sz="2400" b="1" dirty="0">
                <a:solidFill>
                  <a:srgbClr val="3333FF"/>
                </a:solidFill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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G</a:t>
            </a:r>
            <a:r>
              <a:rPr lang="en-US" altLang="zh-CN" sz="2000" baseline="-25000" dirty="0">
                <a:latin typeface="Microsoft YaHei" panose="020B0503020204020204" charset="-122"/>
                <a:ea typeface="Microsoft YaHei" panose="020B0503020204020204" charset="-122"/>
              </a:rPr>
              <a:t>2</a:t>
            </a:r>
          </a:p>
          <a:p>
            <a:pPr>
              <a:lnSpc>
                <a:spcPct val="14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1800" baseline="-2500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lnSpc>
                <a:spcPct val="14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1800" baseline="-25000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5756865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grpSp>
        <p:nvGrpSpPr>
          <p:cNvPr id="4" name="组合 65539"/>
          <p:cNvGrpSpPr/>
          <p:nvPr/>
        </p:nvGrpSpPr>
        <p:grpSpPr>
          <a:xfrm>
            <a:off x="1768650" y="1375785"/>
            <a:ext cx="7777162" cy="4471987"/>
            <a:chOff x="0" y="0"/>
            <a:chExt cx="4899" cy="2817"/>
          </a:xfrm>
        </p:grpSpPr>
        <p:sp>
          <p:nvSpPr>
            <p:cNvPr id="5" name="椭圆 65540"/>
            <p:cNvSpPr/>
            <p:nvPr/>
          </p:nvSpPr>
          <p:spPr>
            <a:xfrm>
              <a:off x="227" y="681"/>
              <a:ext cx="91" cy="91"/>
            </a:xfrm>
            <a:prstGeom prst="ellipse">
              <a:avLst/>
            </a:prstGeom>
            <a:solidFill>
              <a:srgbClr val="00008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6" name="椭圆 65541"/>
            <p:cNvSpPr/>
            <p:nvPr/>
          </p:nvSpPr>
          <p:spPr>
            <a:xfrm>
              <a:off x="726" y="363"/>
              <a:ext cx="91" cy="91"/>
            </a:xfrm>
            <a:prstGeom prst="ellipse">
              <a:avLst/>
            </a:prstGeom>
            <a:solidFill>
              <a:srgbClr val="00008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7" name="椭圆 65542"/>
            <p:cNvSpPr/>
            <p:nvPr/>
          </p:nvSpPr>
          <p:spPr>
            <a:xfrm>
              <a:off x="726" y="953"/>
              <a:ext cx="91" cy="91"/>
            </a:xfrm>
            <a:prstGeom prst="ellipse">
              <a:avLst/>
            </a:prstGeom>
            <a:solidFill>
              <a:srgbClr val="00008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8" name="椭圆 65543"/>
            <p:cNvSpPr/>
            <p:nvPr/>
          </p:nvSpPr>
          <p:spPr>
            <a:xfrm>
              <a:off x="1270" y="681"/>
              <a:ext cx="91" cy="91"/>
            </a:xfrm>
            <a:prstGeom prst="ellipse">
              <a:avLst/>
            </a:prstGeom>
            <a:solidFill>
              <a:srgbClr val="00008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9" name="椭圆 65544"/>
            <p:cNvSpPr/>
            <p:nvPr/>
          </p:nvSpPr>
          <p:spPr>
            <a:xfrm>
              <a:off x="1406" y="318"/>
              <a:ext cx="91" cy="91"/>
            </a:xfrm>
            <a:prstGeom prst="ellipse">
              <a:avLst/>
            </a:prstGeom>
            <a:solidFill>
              <a:srgbClr val="00008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0" name="椭圆 65545"/>
            <p:cNvSpPr/>
            <p:nvPr/>
          </p:nvSpPr>
          <p:spPr>
            <a:xfrm>
              <a:off x="2495" y="590"/>
              <a:ext cx="91" cy="91"/>
            </a:xfrm>
            <a:prstGeom prst="ellipse">
              <a:avLst/>
            </a:prstGeom>
            <a:solidFill>
              <a:srgbClr val="00008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1" name="直接连接符 65546"/>
            <p:cNvSpPr/>
            <p:nvPr/>
          </p:nvSpPr>
          <p:spPr>
            <a:xfrm flipH="1">
              <a:off x="272" y="408"/>
              <a:ext cx="499" cy="27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2" name="直接连接符 65547"/>
            <p:cNvSpPr/>
            <p:nvPr/>
          </p:nvSpPr>
          <p:spPr>
            <a:xfrm>
              <a:off x="816" y="408"/>
              <a:ext cx="499" cy="2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3" name="直接连接符 65548"/>
            <p:cNvSpPr/>
            <p:nvPr/>
          </p:nvSpPr>
          <p:spPr>
            <a:xfrm>
              <a:off x="272" y="771"/>
              <a:ext cx="454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4" name="直接连接符 65549"/>
            <p:cNvSpPr/>
            <p:nvPr/>
          </p:nvSpPr>
          <p:spPr>
            <a:xfrm flipV="1">
              <a:off x="816" y="771"/>
              <a:ext cx="454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5" name="直接连接符 65550"/>
            <p:cNvSpPr/>
            <p:nvPr/>
          </p:nvSpPr>
          <p:spPr>
            <a:xfrm flipV="1">
              <a:off x="1315" y="408"/>
              <a:ext cx="136" cy="3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cxnSp>
          <p:nvCxnSpPr>
            <p:cNvPr id="16" name="曲线连接符 65551"/>
            <p:cNvCxnSpPr/>
            <p:nvPr/>
          </p:nvCxnSpPr>
          <p:spPr>
            <a:xfrm flipH="1">
              <a:off x="726" y="408"/>
              <a:ext cx="91" cy="1"/>
            </a:xfrm>
            <a:prstGeom prst="curvedConnector5">
              <a:avLst>
                <a:gd name="adj1" fmla="val -158241"/>
                <a:gd name="adj2" fmla="val -30500000"/>
                <a:gd name="adj3" fmla="val 258241"/>
              </a:avLst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曲线连接符 65552"/>
            <p:cNvCxnSpPr>
              <a:stCxn id="7" idx="6"/>
              <a:endCxn id="6" idx="6"/>
            </p:cNvCxnSpPr>
            <p:nvPr/>
          </p:nvCxnSpPr>
          <p:spPr>
            <a:xfrm flipV="1">
              <a:off x="817" y="409"/>
              <a:ext cx="1" cy="590"/>
            </a:xfrm>
            <a:prstGeom prst="curvedConnector3">
              <a:avLst>
                <a:gd name="adj1" fmla="val 9200000"/>
              </a:avLst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曲线连接符 65553"/>
            <p:cNvCxnSpPr>
              <a:stCxn id="6" idx="2"/>
              <a:endCxn id="7" idx="2"/>
            </p:cNvCxnSpPr>
            <p:nvPr/>
          </p:nvCxnSpPr>
          <p:spPr>
            <a:xfrm rot="10800000" flipH="1" flipV="1">
              <a:off x="726" y="409"/>
              <a:ext cx="1" cy="590"/>
            </a:xfrm>
            <a:prstGeom prst="curvedConnector3">
              <a:avLst>
                <a:gd name="adj1" fmla="val -10500000"/>
              </a:avLst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" name="椭圆 65554"/>
            <p:cNvSpPr/>
            <p:nvPr/>
          </p:nvSpPr>
          <p:spPr>
            <a:xfrm>
              <a:off x="2132" y="907"/>
              <a:ext cx="91" cy="91"/>
            </a:xfrm>
            <a:prstGeom prst="ellipse">
              <a:avLst/>
            </a:prstGeom>
            <a:solidFill>
              <a:srgbClr val="00008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20" name="椭圆 65555"/>
            <p:cNvSpPr/>
            <p:nvPr/>
          </p:nvSpPr>
          <p:spPr>
            <a:xfrm>
              <a:off x="1996" y="318"/>
              <a:ext cx="91" cy="91"/>
            </a:xfrm>
            <a:prstGeom prst="ellipse">
              <a:avLst/>
            </a:prstGeom>
            <a:solidFill>
              <a:srgbClr val="00008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21" name="椭圆 65556"/>
            <p:cNvSpPr/>
            <p:nvPr/>
          </p:nvSpPr>
          <p:spPr>
            <a:xfrm>
              <a:off x="2812" y="862"/>
              <a:ext cx="91" cy="91"/>
            </a:xfrm>
            <a:prstGeom prst="ellipse">
              <a:avLst/>
            </a:prstGeom>
            <a:solidFill>
              <a:srgbClr val="00008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22" name="椭圆 65557"/>
            <p:cNvSpPr/>
            <p:nvPr/>
          </p:nvSpPr>
          <p:spPr>
            <a:xfrm>
              <a:off x="2676" y="318"/>
              <a:ext cx="91" cy="91"/>
            </a:xfrm>
            <a:prstGeom prst="ellipse">
              <a:avLst/>
            </a:prstGeom>
            <a:solidFill>
              <a:srgbClr val="00008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cxnSp>
          <p:nvCxnSpPr>
            <p:cNvPr id="23" name="曲线连接符 65558"/>
            <p:cNvCxnSpPr>
              <a:stCxn id="20" idx="4"/>
              <a:endCxn id="20" idx="6"/>
            </p:cNvCxnSpPr>
            <p:nvPr/>
          </p:nvCxnSpPr>
          <p:spPr>
            <a:xfrm rot="5400000" flipH="1" flipV="1">
              <a:off x="2028" y="350"/>
              <a:ext cx="45" cy="45"/>
            </a:xfrm>
            <a:prstGeom prst="curvedConnector4">
              <a:avLst>
                <a:gd name="adj1" fmla="val -320000"/>
                <a:gd name="adj2" fmla="val 420000"/>
              </a:avLst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" name="曲线连接符 65559"/>
            <p:cNvCxnSpPr/>
            <p:nvPr/>
          </p:nvCxnSpPr>
          <p:spPr>
            <a:xfrm rot="5400000" flipV="1">
              <a:off x="2130" y="200"/>
              <a:ext cx="622" cy="829"/>
            </a:xfrm>
            <a:prstGeom prst="curvedConnector4">
              <a:avLst>
                <a:gd name="adj1" fmla="val -31352"/>
                <a:gd name="adj2" fmla="val 112662"/>
              </a:avLst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" name="曲线连接符 65560"/>
            <p:cNvCxnSpPr>
              <a:stCxn id="21" idx="3"/>
              <a:endCxn id="20" idx="2"/>
            </p:cNvCxnSpPr>
            <p:nvPr/>
          </p:nvCxnSpPr>
          <p:spPr>
            <a:xfrm rot="-5400000" flipV="1">
              <a:off x="2108" y="223"/>
              <a:ext cx="576" cy="829"/>
            </a:xfrm>
            <a:prstGeom prst="curvedConnector4">
              <a:avLst>
                <a:gd name="adj1" fmla="val -27259"/>
                <a:gd name="adj2" fmla="val 117370"/>
              </a:avLst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" name="直接连接符 65561"/>
            <p:cNvSpPr/>
            <p:nvPr/>
          </p:nvSpPr>
          <p:spPr>
            <a:xfrm>
              <a:off x="2087" y="318"/>
              <a:ext cx="589" cy="4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27" name="直接连接符 65562"/>
            <p:cNvSpPr/>
            <p:nvPr/>
          </p:nvSpPr>
          <p:spPr>
            <a:xfrm>
              <a:off x="2767" y="363"/>
              <a:ext cx="91" cy="54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28" name="直接连接符 65563"/>
            <p:cNvSpPr/>
            <p:nvPr/>
          </p:nvSpPr>
          <p:spPr>
            <a:xfrm>
              <a:off x="2041" y="363"/>
              <a:ext cx="136" cy="5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29" name="直接连接符 65564"/>
            <p:cNvSpPr/>
            <p:nvPr/>
          </p:nvSpPr>
          <p:spPr>
            <a:xfrm>
              <a:off x="2177" y="953"/>
              <a:ext cx="63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30" name="直接连接符 65565"/>
            <p:cNvSpPr/>
            <p:nvPr/>
          </p:nvSpPr>
          <p:spPr>
            <a:xfrm flipH="1">
              <a:off x="2540" y="363"/>
              <a:ext cx="182" cy="2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31" name="椭圆 65566"/>
            <p:cNvSpPr/>
            <p:nvPr/>
          </p:nvSpPr>
          <p:spPr>
            <a:xfrm>
              <a:off x="4218" y="0"/>
              <a:ext cx="91" cy="91"/>
            </a:xfrm>
            <a:prstGeom prst="ellipse">
              <a:avLst/>
            </a:prstGeom>
            <a:solidFill>
              <a:srgbClr val="00008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32" name="椭圆 65567"/>
            <p:cNvSpPr/>
            <p:nvPr/>
          </p:nvSpPr>
          <p:spPr>
            <a:xfrm>
              <a:off x="3674" y="454"/>
              <a:ext cx="91" cy="91"/>
            </a:xfrm>
            <a:prstGeom prst="ellipse">
              <a:avLst/>
            </a:prstGeom>
            <a:solidFill>
              <a:srgbClr val="00008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33" name="椭圆 65568"/>
            <p:cNvSpPr/>
            <p:nvPr/>
          </p:nvSpPr>
          <p:spPr>
            <a:xfrm>
              <a:off x="4808" y="408"/>
              <a:ext cx="91" cy="91"/>
            </a:xfrm>
            <a:prstGeom prst="ellipse">
              <a:avLst/>
            </a:prstGeom>
            <a:solidFill>
              <a:srgbClr val="00008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34" name="椭圆 65569"/>
            <p:cNvSpPr/>
            <p:nvPr/>
          </p:nvSpPr>
          <p:spPr>
            <a:xfrm>
              <a:off x="3946" y="998"/>
              <a:ext cx="91" cy="91"/>
            </a:xfrm>
            <a:prstGeom prst="ellipse">
              <a:avLst/>
            </a:prstGeom>
            <a:solidFill>
              <a:srgbClr val="00008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35" name="椭圆 65570"/>
            <p:cNvSpPr/>
            <p:nvPr/>
          </p:nvSpPr>
          <p:spPr>
            <a:xfrm>
              <a:off x="4627" y="998"/>
              <a:ext cx="91" cy="91"/>
            </a:xfrm>
            <a:prstGeom prst="ellipse">
              <a:avLst/>
            </a:prstGeom>
            <a:solidFill>
              <a:srgbClr val="00008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36" name="椭圆 65571"/>
            <p:cNvSpPr/>
            <p:nvPr/>
          </p:nvSpPr>
          <p:spPr>
            <a:xfrm>
              <a:off x="4218" y="272"/>
              <a:ext cx="91" cy="91"/>
            </a:xfrm>
            <a:prstGeom prst="ellipse">
              <a:avLst/>
            </a:prstGeom>
            <a:solidFill>
              <a:srgbClr val="00008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37" name="椭圆 65572"/>
            <p:cNvSpPr/>
            <p:nvPr/>
          </p:nvSpPr>
          <p:spPr>
            <a:xfrm>
              <a:off x="3946" y="454"/>
              <a:ext cx="91" cy="91"/>
            </a:xfrm>
            <a:prstGeom prst="ellipse">
              <a:avLst/>
            </a:prstGeom>
            <a:solidFill>
              <a:srgbClr val="00008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38" name="椭圆 65573"/>
            <p:cNvSpPr/>
            <p:nvPr/>
          </p:nvSpPr>
          <p:spPr>
            <a:xfrm>
              <a:off x="4536" y="454"/>
              <a:ext cx="91" cy="91"/>
            </a:xfrm>
            <a:prstGeom prst="ellipse">
              <a:avLst/>
            </a:prstGeom>
            <a:solidFill>
              <a:srgbClr val="00008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39" name="椭圆 65574"/>
            <p:cNvSpPr/>
            <p:nvPr/>
          </p:nvSpPr>
          <p:spPr>
            <a:xfrm>
              <a:off x="4082" y="771"/>
              <a:ext cx="91" cy="91"/>
            </a:xfrm>
            <a:prstGeom prst="ellipse">
              <a:avLst/>
            </a:prstGeom>
            <a:solidFill>
              <a:srgbClr val="00008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40" name="椭圆 65575"/>
            <p:cNvSpPr/>
            <p:nvPr/>
          </p:nvSpPr>
          <p:spPr>
            <a:xfrm>
              <a:off x="4445" y="771"/>
              <a:ext cx="91" cy="91"/>
            </a:xfrm>
            <a:prstGeom prst="ellipse">
              <a:avLst/>
            </a:prstGeom>
            <a:solidFill>
              <a:srgbClr val="00008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41" name="椭圆 65576"/>
            <p:cNvSpPr/>
            <p:nvPr/>
          </p:nvSpPr>
          <p:spPr>
            <a:xfrm>
              <a:off x="771" y="1905"/>
              <a:ext cx="91" cy="91"/>
            </a:xfrm>
            <a:prstGeom prst="ellipse">
              <a:avLst/>
            </a:prstGeom>
            <a:solidFill>
              <a:srgbClr val="00008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42" name="直接连接符 65577"/>
            <p:cNvSpPr/>
            <p:nvPr/>
          </p:nvSpPr>
          <p:spPr>
            <a:xfrm flipH="1">
              <a:off x="3765" y="46"/>
              <a:ext cx="453" cy="40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43" name="直接连接符 65578"/>
            <p:cNvSpPr/>
            <p:nvPr/>
          </p:nvSpPr>
          <p:spPr>
            <a:xfrm>
              <a:off x="3719" y="545"/>
              <a:ext cx="273" cy="49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44" name="直接连接符 65579"/>
            <p:cNvSpPr/>
            <p:nvPr/>
          </p:nvSpPr>
          <p:spPr>
            <a:xfrm>
              <a:off x="4037" y="1043"/>
              <a:ext cx="63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45" name="直接连接符 65580"/>
            <p:cNvSpPr/>
            <p:nvPr/>
          </p:nvSpPr>
          <p:spPr>
            <a:xfrm>
              <a:off x="4264" y="0"/>
              <a:ext cx="589" cy="40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46" name="直接连接符 65581"/>
            <p:cNvSpPr/>
            <p:nvPr/>
          </p:nvSpPr>
          <p:spPr>
            <a:xfrm flipV="1">
              <a:off x="4717" y="499"/>
              <a:ext cx="136" cy="49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47" name="直接连接符 65582"/>
            <p:cNvSpPr/>
            <p:nvPr/>
          </p:nvSpPr>
          <p:spPr>
            <a:xfrm flipV="1">
              <a:off x="4037" y="318"/>
              <a:ext cx="227" cy="1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48" name="直接连接符 65583"/>
            <p:cNvSpPr/>
            <p:nvPr/>
          </p:nvSpPr>
          <p:spPr>
            <a:xfrm>
              <a:off x="4309" y="318"/>
              <a:ext cx="227" cy="1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49" name="直接连接符 65584"/>
            <p:cNvSpPr/>
            <p:nvPr/>
          </p:nvSpPr>
          <p:spPr>
            <a:xfrm>
              <a:off x="3992" y="545"/>
              <a:ext cx="136" cy="22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50" name="直接连接符 65585"/>
            <p:cNvSpPr/>
            <p:nvPr/>
          </p:nvSpPr>
          <p:spPr>
            <a:xfrm>
              <a:off x="4173" y="817"/>
              <a:ext cx="2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51" name="直接连接符 65586"/>
            <p:cNvSpPr/>
            <p:nvPr/>
          </p:nvSpPr>
          <p:spPr>
            <a:xfrm flipH="1">
              <a:off x="4491" y="499"/>
              <a:ext cx="90" cy="3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52" name="直接连接符 65587"/>
            <p:cNvSpPr/>
            <p:nvPr/>
          </p:nvSpPr>
          <p:spPr>
            <a:xfrm>
              <a:off x="3765" y="499"/>
              <a:ext cx="18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53" name="直接连接符 65588"/>
            <p:cNvSpPr/>
            <p:nvPr/>
          </p:nvSpPr>
          <p:spPr>
            <a:xfrm flipV="1">
              <a:off x="3992" y="817"/>
              <a:ext cx="136" cy="18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54" name="直接连接符 65589"/>
            <p:cNvSpPr/>
            <p:nvPr/>
          </p:nvSpPr>
          <p:spPr>
            <a:xfrm>
              <a:off x="4491" y="817"/>
              <a:ext cx="181" cy="18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55" name="直接连接符 65590"/>
            <p:cNvSpPr/>
            <p:nvPr/>
          </p:nvSpPr>
          <p:spPr>
            <a:xfrm>
              <a:off x="4264" y="46"/>
              <a:ext cx="0" cy="22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56" name="直接连接符 65591"/>
            <p:cNvSpPr/>
            <p:nvPr/>
          </p:nvSpPr>
          <p:spPr>
            <a:xfrm flipV="1">
              <a:off x="4627" y="454"/>
              <a:ext cx="181" cy="4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57" name="直接连接符 65592"/>
            <p:cNvSpPr/>
            <p:nvPr/>
          </p:nvSpPr>
          <p:spPr>
            <a:xfrm>
              <a:off x="3992" y="499"/>
              <a:ext cx="5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58" name="直接连接符 65593"/>
            <p:cNvSpPr/>
            <p:nvPr/>
          </p:nvSpPr>
          <p:spPr>
            <a:xfrm flipH="1">
              <a:off x="4128" y="318"/>
              <a:ext cx="136" cy="49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59" name="直接连接符 65594"/>
            <p:cNvSpPr/>
            <p:nvPr/>
          </p:nvSpPr>
          <p:spPr>
            <a:xfrm>
              <a:off x="4264" y="318"/>
              <a:ext cx="227" cy="45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60" name="直接连接符 65595"/>
            <p:cNvSpPr/>
            <p:nvPr/>
          </p:nvSpPr>
          <p:spPr>
            <a:xfrm>
              <a:off x="3992" y="499"/>
              <a:ext cx="453" cy="2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61" name="直接连接符 65596"/>
            <p:cNvSpPr/>
            <p:nvPr/>
          </p:nvSpPr>
          <p:spPr>
            <a:xfrm flipV="1">
              <a:off x="4128" y="499"/>
              <a:ext cx="453" cy="2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62" name="椭圆 65597"/>
            <p:cNvSpPr/>
            <p:nvPr/>
          </p:nvSpPr>
          <p:spPr>
            <a:xfrm>
              <a:off x="771" y="1452"/>
              <a:ext cx="91" cy="91"/>
            </a:xfrm>
            <a:prstGeom prst="ellipse">
              <a:avLst/>
            </a:prstGeom>
            <a:solidFill>
              <a:srgbClr val="00008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63" name="椭圆 65598"/>
            <p:cNvSpPr/>
            <p:nvPr/>
          </p:nvSpPr>
          <p:spPr>
            <a:xfrm>
              <a:off x="363" y="1724"/>
              <a:ext cx="91" cy="91"/>
            </a:xfrm>
            <a:prstGeom prst="ellipse">
              <a:avLst/>
            </a:prstGeom>
            <a:solidFill>
              <a:srgbClr val="00008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64" name="椭圆 65599"/>
            <p:cNvSpPr/>
            <p:nvPr/>
          </p:nvSpPr>
          <p:spPr>
            <a:xfrm>
              <a:off x="1134" y="1724"/>
              <a:ext cx="91" cy="91"/>
            </a:xfrm>
            <a:prstGeom prst="ellipse">
              <a:avLst/>
            </a:prstGeom>
            <a:solidFill>
              <a:srgbClr val="00008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65" name="椭圆 65600"/>
            <p:cNvSpPr/>
            <p:nvPr/>
          </p:nvSpPr>
          <p:spPr>
            <a:xfrm>
              <a:off x="1134" y="2132"/>
              <a:ext cx="91" cy="91"/>
            </a:xfrm>
            <a:prstGeom prst="ellipse">
              <a:avLst/>
            </a:prstGeom>
            <a:solidFill>
              <a:srgbClr val="00008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66" name="椭圆 65601"/>
            <p:cNvSpPr/>
            <p:nvPr/>
          </p:nvSpPr>
          <p:spPr>
            <a:xfrm>
              <a:off x="726" y="2404"/>
              <a:ext cx="91" cy="91"/>
            </a:xfrm>
            <a:prstGeom prst="ellipse">
              <a:avLst/>
            </a:prstGeom>
            <a:solidFill>
              <a:srgbClr val="00008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67" name="椭圆 65602"/>
            <p:cNvSpPr/>
            <p:nvPr/>
          </p:nvSpPr>
          <p:spPr>
            <a:xfrm>
              <a:off x="408" y="2177"/>
              <a:ext cx="91" cy="91"/>
            </a:xfrm>
            <a:prstGeom prst="ellipse">
              <a:avLst/>
            </a:prstGeom>
            <a:solidFill>
              <a:srgbClr val="00008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68" name="椭圆 65603"/>
            <p:cNvSpPr/>
            <p:nvPr/>
          </p:nvSpPr>
          <p:spPr>
            <a:xfrm>
              <a:off x="771" y="1678"/>
              <a:ext cx="91" cy="91"/>
            </a:xfrm>
            <a:prstGeom prst="ellipse">
              <a:avLst/>
            </a:prstGeom>
            <a:solidFill>
              <a:srgbClr val="00008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69" name="椭圆 65604"/>
            <p:cNvSpPr/>
            <p:nvPr/>
          </p:nvSpPr>
          <p:spPr>
            <a:xfrm>
              <a:off x="590" y="2041"/>
              <a:ext cx="91" cy="91"/>
            </a:xfrm>
            <a:prstGeom prst="ellipse">
              <a:avLst/>
            </a:prstGeom>
            <a:solidFill>
              <a:srgbClr val="00008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70" name="椭圆 65605"/>
            <p:cNvSpPr/>
            <p:nvPr/>
          </p:nvSpPr>
          <p:spPr>
            <a:xfrm>
              <a:off x="953" y="2041"/>
              <a:ext cx="91" cy="91"/>
            </a:xfrm>
            <a:prstGeom prst="ellipse">
              <a:avLst/>
            </a:prstGeom>
            <a:solidFill>
              <a:srgbClr val="00008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cxnSp>
          <p:nvCxnSpPr>
            <p:cNvPr id="71" name="曲线连接符 65606"/>
            <p:cNvCxnSpPr>
              <a:stCxn id="68" idx="6"/>
              <a:endCxn id="66" idx="6"/>
            </p:cNvCxnSpPr>
            <p:nvPr/>
          </p:nvCxnSpPr>
          <p:spPr>
            <a:xfrm flipH="1">
              <a:off x="817" y="1724"/>
              <a:ext cx="45" cy="726"/>
            </a:xfrm>
            <a:prstGeom prst="curvedConnector3">
              <a:avLst>
                <a:gd name="adj1" fmla="val -46667"/>
              </a:avLst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" name="曲线连接符 65607"/>
            <p:cNvCxnSpPr>
              <a:stCxn id="69" idx="0"/>
              <a:endCxn id="64" idx="2"/>
            </p:cNvCxnSpPr>
            <p:nvPr/>
          </p:nvCxnSpPr>
          <p:spPr>
            <a:xfrm rot="-5400000">
              <a:off x="735" y="1642"/>
              <a:ext cx="271" cy="498"/>
            </a:xfrm>
            <a:prstGeom prst="curvedConnector2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" name="曲线连接符 65608"/>
            <p:cNvCxnSpPr>
              <a:stCxn id="63" idx="4"/>
              <a:endCxn id="70" idx="2"/>
            </p:cNvCxnSpPr>
            <p:nvPr/>
          </p:nvCxnSpPr>
          <p:spPr>
            <a:xfrm rot="-5400000" flipH="1">
              <a:off x="545" y="1679"/>
              <a:ext cx="272" cy="544"/>
            </a:xfrm>
            <a:prstGeom prst="curvedConnector2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4" name="直接连接符 65609"/>
            <p:cNvSpPr/>
            <p:nvPr/>
          </p:nvSpPr>
          <p:spPr>
            <a:xfrm flipV="1">
              <a:off x="408" y="1497"/>
              <a:ext cx="363" cy="2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75" name="直接连接符 65610"/>
            <p:cNvSpPr/>
            <p:nvPr/>
          </p:nvSpPr>
          <p:spPr>
            <a:xfrm>
              <a:off x="862" y="1497"/>
              <a:ext cx="317" cy="2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76" name="直接连接符 65611"/>
            <p:cNvSpPr/>
            <p:nvPr/>
          </p:nvSpPr>
          <p:spPr>
            <a:xfrm>
              <a:off x="408" y="1815"/>
              <a:ext cx="46" cy="40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77" name="直接连接符 65612"/>
            <p:cNvSpPr/>
            <p:nvPr/>
          </p:nvSpPr>
          <p:spPr>
            <a:xfrm>
              <a:off x="454" y="2223"/>
              <a:ext cx="317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78" name="直接连接符 65613"/>
            <p:cNvSpPr/>
            <p:nvPr/>
          </p:nvSpPr>
          <p:spPr>
            <a:xfrm flipV="1">
              <a:off x="771" y="2177"/>
              <a:ext cx="408" cy="27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79" name="直接连接符 65614"/>
            <p:cNvSpPr/>
            <p:nvPr/>
          </p:nvSpPr>
          <p:spPr>
            <a:xfrm>
              <a:off x="1179" y="1769"/>
              <a:ext cx="0" cy="36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80" name="直接连接符 65615"/>
            <p:cNvSpPr/>
            <p:nvPr/>
          </p:nvSpPr>
          <p:spPr>
            <a:xfrm>
              <a:off x="816" y="1542"/>
              <a:ext cx="0" cy="1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81" name="直接连接符 65616"/>
            <p:cNvSpPr/>
            <p:nvPr/>
          </p:nvSpPr>
          <p:spPr>
            <a:xfrm>
              <a:off x="816" y="1769"/>
              <a:ext cx="0" cy="1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82" name="直接连接符 65617"/>
            <p:cNvSpPr/>
            <p:nvPr/>
          </p:nvSpPr>
          <p:spPr>
            <a:xfrm>
              <a:off x="862" y="1996"/>
              <a:ext cx="317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83" name="直接连接符 65618"/>
            <p:cNvSpPr/>
            <p:nvPr/>
          </p:nvSpPr>
          <p:spPr>
            <a:xfrm flipV="1">
              <a:off x="499" y="1951"/>
              <a:ext cx="317" cy="2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84" name="椭圆 65619"/>
            <p:cNvSpPr/>
            <p:nvPr/>
          </p:nvSpPr>
          <p:spPr>
            <a:xfrm>
              <a:off x="2359" y="1542"/>
              <a:ext cx="91" cy="91"/>
            </a:xfrm>
            <a:prstGeom prst="ellipse">
              <a:avLst/>
            </a:prstGeom>
            <a:solidFill>
              <a:srgbClr val="00008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85" name="椭圆 65620"/>
            <p:cNvSpPr/>
            <p:nvPr/>
          </p:nvSpPr>
          <p:spPr>
            <a:xfrm>
              <a:off x="1724" y="2404"/>
              <a:ext cx="91" cy="91"/>
            </a:xfrm>
            <a:prstGeom prst="ellipse">
              <a:avLst/>
            </a:prstGeom>
            <a:solidFill>
              <a:srgbClr val="00008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86" name="椭圆 65621"/>
            <p:cNvSpPr/>
            <p:nvPr/>
          </p:nvSpPr>
          <p:spPr>
            <a:xfrm>
              <a:off x="2903" y="2404"/>
              <a:ext cx="91" cy="91"/>
            </a:xfrm>
            <a:prstGeom prst="ellipse">
              <a:avLst/>
            </a:prstGeom>
            <a:solidFill>
              <a:srgbClr val="00008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87" name="椭圆 65622"/>
            <p:cNvSpPr/>
            <p:nvPr/>
          </p:nvSpPr>
          <p:spPr>
            <a:xfrm>
              <a:off x="2631" y="2268"/>
              <a:ext cx="91" cy="91"/>
            </a:xfrm>
            <a:prstGeom prst="ellipse">
              <a:avLst/>
            </a:prstGeom>
            <a:solidFill>
              <a:srgbClr val="00008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88" name="椭圆 65623"/>
            <p:cNvSpPr/>
            <p:nvPr/>
          </p:nvSpPr>
          <p:spPr>
            <a:xfrm>
              <a:off x="2359" y="1815"/>
              <a:ext cx="91" cy="91"/>
            </a:xfrm>
            <a:prstGeom prst="ellipse">
              <a:avLst/>
            </a:prstGeom>
            <a:solidFill>
              <a:srgbClr val="00008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89" name="椭圆 65624"/>
            <p:cNvSpPr/>
            <p:nvPr/>
          </p:nvSpPr>
          <p:spPr>
            <a:xfrm>
              <a:off x="2041" y="2268"/>
              <a:ext cx="91" cy="91"/>
            </a:xfrm>
            <a:prstGeom prst="ellipse">
              <a:avLst/>
            </a:prstGeom>
            <a:solidFill>
              <a:srgbClr val="00008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90" name="直接连接符 65625"/>
            <p:cNvSpPr/>
            <p:nvPr/>
          </p:nvSpPr>
          <p:spPr>
            <a:xfrm flipH="1">
              <a:off x="1769" y="1633"/>
              <a:ext cx="590" cy="8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91" name="直接连接符 65626"/>
            <p:cNvSpPr/>
            <p:nvPr/>
          </p:nvSpPr>
          <p:spPr>
            <a:xfrm flipV="1">
              <a:off x="2087" y="1815"/>
              <a:ext cx="363" cy="49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92" name="直接连接符 65627"/>
            <p:cNvSpPr/>
            <p:nvPr/>
          </p:nvSpPr>
          <p:spPr>
            <a:xfrm>
              <a:off x="2132" y="2314"/>
              <a:ext cx="5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93" name="直接连接符 65628"/>
            <p:cNvSpPr/>
            <p:nvPr/>
          </p:nvSpPr>
          <p:spPr>
            <a:xfrm>
              <a:off x="1769" y="2450"/>
              <a:ext cx="113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94" name="直接连接符 65629"/>
            <p:cNvSpPr/>
            <p:nvPr/>
          </p:nvSpPr>
          <p:spPr>
            <a:xfrm>
              <a:off x="2404" y="1860"/>
              <a:ext cx="272" cy="45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95" name="直接连接符 65630"/>
            <p:cNvSpPr/>
            <p:nvPr/>
          </p:nvSpPr>
          <p:spPr>
            <a:xfrm>
              <a:off x="2404" y="1588"/>
              <a:ext cx="0" cy="2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96" name="直接连接符 65631"/>
            <p:cNvSpPr/>
            <p:nvPr/>
          </p:nvSpPr>
          <p:spPr>
            <a:xfrm flipV="1">
              <a:off x="1769" y="2314"/>
              <a:ext cx="318" cy="1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97" name="直接连接符 65632"/>
            <p:cNvSpPr/>
            <p:nvPr/>
          </p:nvSpPr>
          <p:spPr>
            <a:xfrm>
              <a:off x="2676" y="2314"/>
              <a:ext cx="273" cy="1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98" name="直接连接符 65633"/>
            <p:cNvSpPr/>
            <p:nvPr/>
          </p:nvSpPr>
          <p:spPr>
            <a:xfrm>
              <a:off x="2404" y="1588"/>
              <a:ext cx="545" cy="8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99" name="椭圆 65634"/>
            <p:cNvSpPr/>
            <p:nvPr/>
          </p:nvSpPr>
          <p:spPr>
            <a:xfrm>
              <a:off x="3538" y="1588"/>
              <a:ext cx="91" cy="91"/>
            </a:xfrm>
            <a:prstGeom prst="ellipse">
              <a:avLst/>
            </a:prstGeom>
            <a:solidFill>
              <a:srgbClr val="00008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00" name="椭圆 65635"/>
            <p:cNvSpPr/>
            <p:nvPr/>
          </p:nvSpPr>
          <p:spPr>
            <a:xfrm>
              <a:off x="4128" y="1588"/>
              <a:ext cx="91" cy="91"/>
            </a:xfrm>
            <a:prstGeom prst="ellipse">
              <a:avLst/>
            </a:prstGeom>
            <a:solidFill>
              <a:srgbClr val="00008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01" name="椭圆 65636"/>
            <p:cNvSpPr/>
            <p:nvPr/>
          </p:nvSpPr>
          <p:spPr>
            <a:xfrm>
              <a:off x="4672" y="1588"/>
              <a:ext cx="91" cy="91"/>
            </a:xfrm>
            <a:prstGeom prst="ellipse">
              <a:avLst/>
            </a:prstGeom>
            <a:solidFill>
              <a:srgbClr val="00008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02" name="椭圆 65637"/>
            <p:cNvSpPr/>
            <p:nvPr/>
          </p:nvSpPr>
          <p:spPr>
            <a:xfrm>
              <a:off x="4672" y="2404"/>
              <a:ext cx="91" cy="91"/>
            </a:xfrm>
            <a:prstGeom prst="ellipse">
              <a:avLst/>
            </a:prstGeom>
            <a:solidFill>
              <a:srgbClr val="00008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03" name="椭圆 65638"/>
            <p:cNvSpPr/>
            <p:nvPr/>
          </p:nvSpPr>
          <p:spPr>
            <a:xfrm>
              <a:off x="4128" y="2450"/>
              <a:ext cx="91" cy="91"/>
            </a:xfrm>
            <a:prstGeom prst="ellipse">
              <a:avLst/>
            </a:prstGeom>
            <a:solidFill>
              <a:srgbClr val="00008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04" name="椭圆 65639"/>
            <p:cNvSpPr/>
            <p:nvPr/>
          </p:nvSpPr>
          <p:spPr>
            <a:xfrm>
              <a:off x="3538" y="2450"/>
              <a:ext cx="91" cy="91"/>
            </a:xfrm>
            <a:prstGeom prst="ellipse">
              <a:avLst/>
            </a:prstGeom>
            <a:solidFill>
              <a:srgbClr val="00008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05" name="直接连接符 65640"/>
            <p:cNvSpPr/>
            <p:nvPr/>
          </p:nvSpPr>
          <p:spPr>
            <a:xfrm>
              <a:off x="3583" y="1678"/>
              <a:ext cx="0" cy="8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06" name="直接连接符 65641"/>
            <p:cNvSpPr/>
            <p:nvPr/>
          </p:nvSpPr>
          <p:spPr>
            <a:xfrm>
              <a:off x="3583" y="1633"/>
              <a:ext cx="590" cy="8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07" name="直接连接符 65642"/>
            <p:cNvSpPr/>
            <p:nvPr/>
          </p:nvSpPr>
          <p:spPr>
            <a:xfrm>
              <a:off x="3629" y="1633"/>
              <a:ext cx="1088" cy="8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08" name="直接连接符 65643"/>
            <p:cNvSpPr/>
            <p:nvPr/>
          </p:nvSpPr>
          <p:spPr>
            <a:xfrm flipH="1">
              <a:off x="3629" y="1633"/>
              <a:ext cx="499" cy="8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09" name="直接连接符 65644"/>
            <p:cNvSpPr/>
            <p:nvPr/>
          </p:nvSpPr>
          <p:spPr>
            <a:xfrm>
              <a:off x="4173" y="1633"/>
              <a:ext cx="0" cy="8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10" name="直接连接符 65645"/>
            <p:cNvSpPr/>
            <p:nvPr/>
          </p:nvSpPr>
          <p:spPr>
            <a:xfrm>
              <a:off x="4218" y="1633"/>
              <a:ext cx="499" cy="8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11" name="直接连接符 65646"/>
            <p:cNvSpPr/>
            <p:nvPr/>
          </p:nvSpPr>
          <p:spPr>
            <a:xfrm flipH="1">
              <a:off x="3629" y="1633"/>
              <a:ext cx="1043" cy="8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12" name="直接连接符 65647"/>
            <p:cNvSpPr/>
            <p:nvPr/>
          </p:nvSpPr>
          <p:spPr>
            <a:xfrm flipH="1">
              <a:off x="4173" y="1633"/>
              <a:ext cx="544" cy="8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13" name="直接连接符 65648"/>
            <p:cNvSpPr/>
            <p:nvPr/>
          </p:nvSpPr>
          <p:spPr>
            <a:xfrm>
              <a:off x="4717" y="1633"/>
              <a:ext cx="0" cy="8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14" name="文本框 65649"/>
            <p:cNvSpPr txBox="1"/>
            <p:nvPr/>
          </p:nvSpPr>
          <p:spPr>
            <a:xfrm>
              <a:off x="590" y="1134"/>
              <a:ext cx="29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1800">
                  <a:solidFill>
                    <a:schemeClr val="accent1"/>
                  </a:solidFill>
                  <a:latin typeface="Arial" panose="020B0604020202020204" pitchFamily="34" charset="0"/>
                  <a:ea typeface="SimSun" panose="02010600030101010101" pitchFamily="2" charset="-122"/>
                </a:rPr>
                <a:t>(1)</a:t>
              </a:r>
            </a:p>
          </p:txBody>
        </p:sp>
        <p:sp>
          <p:nvSpPr>
            <p:cNvPr id="115" name="文本框 65650"/>
            <p:cNvSpPr txBox="1"/>
            <p:nvPr/>
          </p:nvSpPr>
          <p:spPr>
            <a:xfrm>
              <a:off x="2313" y="1180"/>
              <a:ext cx="29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1800">
                  <a:solidFill>
                    <a:schemeClr val="accent1"/>
                  </a:solidFill>
                  <a:latin typeface="Arial" panose="020B0604020202020204" pitchFamily="34" charset="0"/>
                  <a:ea typeface="SimSun" panose="02010600030101010101" pitchFamily="2" charset="-122"/>
                </a:rPr>
                <a:t>(2)</a:t>
              </a:r>
            </a:p>
          </p:txBody>
        </p:sp>
        <p:sp>
          <p:nvSpPr>
            <p:cNvPr id="116" name="文本框 65651"/>
            <p:cNvSpPr txBox="1"/>
            <p:nvPr/>
          </p:nvSpPr>
          <p:spPr>
            <a:xfrm>
              <a:off x="4173" y="1180"/>
              <a:ext cx="29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1800">
                  <a:solidFill>
                    <a:schemeClr val="folHlink"/>
                  </a:solidFill>
                  <a:latin typeface="Arial" panose="020B0604020202020204" pitchFamily="34" charset="0"/>
                  <a:ea typeface="SimSun" panose="02010600030101010101" pitchFamily="2" charset="-122"/>
                </a:rPr>
                <a:t>(3)</a:t>
              </a:r>
            </a:p>
          </p:txBody>
        </p:sp>
        <p:sp>
          <p:nvSpPr>
            <p:cNvPr id="117" name="文本框 65652"/>
            <p:cNvSpPr txBox="1"/>
            <p:nvPr/>
          </p:nvSpPr>
          <p:spPr>
            <a:xfrm>
              <a:off x="544" y="2540"/>
              <a:ext cx="29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1800">
                  <a:solidFill>
                    <a:schemeClr val="folHlink"/>
                  </a:solidFill>
                  <a:latin typeface="Arial" panose="020B0604020202020204" pitchFamily="34" charset="0"/>
                  <a:ea typeface="SimSun" panose="02010600030101010101" pitchFamily="2" charset="-122"/>
                </a:rPr>
                <a:t>(4)</a:t>
              </a:r>
            </a:p>
          </p:txBody>
        </p:sp>
        <p:sp>
          <p:nvSpPr>
            <p:cNvPr id="118" name="文本框 65653"/>
            <p:cNvSpPr txBox="1"/>
            <p:nvPr/>
          </p:nvSpPr>
          <p:spPr>
            <a:xfrm>
              <a:off x="2177" y="2586"/>
              <a:ext cx="29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r>
                <a:rPr lang="en-US" altLang="zh-CN" sz="1800">
                  <a:latin typeface="Arial" panose="020B0604020202020204" pitchFamily="34" charset="0"/>
                  <a:ea typeface="SimSun" panose="02010600030101010101" pitchFamily="2" charset="-122"/>
                </a:rPr>
                <a:t>(5)</a:t>
              </a:r>
            </a:p>
          </p:txBody>
        </p:sp>
        <p:sp>
          <p:nvSpPr>
            <p:cNvPr id="119" name="文本框 65654"/>
            <p:cNvSpPr txBox="1"/>
            <p:nvPr/>
          </p:nvSpPr>
          <p:spPr>
            <a:xfrm>
              <a:off x="3992" y="2586"/>
              <a:ext cx="29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1800">
                  <a:latin typeface="Arial" panose="020B0604020202020204" pitchFamily="34" charset="0"/>
                  <a:ea typeface="SimSun" panose="02010600030101010101" pitchFamily="2" charset="-122"/>
                </a:rPr>
                <a:t>(6)</a:t>
              </a:r>
            </a:p>
          </p:txBody>
        </p:sp>
        <p:sp>
          <p:nvSpPr>
            <p:cNvPr id="120" name="文本框 65655"/>
            <p:cNvSpPr txBox="1"/>
            <p:nvPr/>
          </p:nvSpPr>
          <p:spPr>
            <a:xfrm>
              <a:off x="635" y="136"/>
              <a:ext cx="19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1800">
                  <a:latin typeface="Arial" panose="020B0604020202020204" pitchFamily="34" charset="0"/>
                  <a:ea typeface="SimSun" panose="02010600030101010101" pitchFamily="2" charset="-122"/>
                </a:rPr>
                <a:t>a</a:t>
              </a:r>
            </a:p>
          </p:txBody>
        </p:sp>
        <p:sp>
          <p:nvSpPr>
            <p:cNvPr id="121" name="文本框 65656"/>
            <p:cNvSpPr txBox="1"/>
            <p:nvPr/>
          </p:nvSpPr>
          <p:spPr>
            <a:xfrm>
              <a:off x="0" y="590"/>
              <a:ext cx="19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1800">
                  <a:latin typeface="Arial" panose="020B0604020202020204" pitchFamily="34" charset="0"/>
                  <a:ea typeface="SimSun" panose="02010600030101010101" pitchFamily="2" charset="-122"/>
                </a:rPr>
                <a:t>b</a:t>
              </a:r>
            </a:p>
          </p:txBody>
        </p:sp>
        <p:sp>
          <p:nvSpPr>
            <p:cNvPr id="122" name="文本框 65657"/>
            <p:cNvSpPr txBox="1"/>
            <p:nvPr/>
          </p:nvSpPr>
          <p:spPr>
            <a:xfrm>
              <a:off x="771" y="953"/>
              <a:ext cx="1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1800">
                  <a:latin typeface="Arial" panose="020B0604020202020204" pitchFamily="34" charset="0"/>
                  <a:ea typeface="SimSun" panose="02010600030101010101" pitchFamily="2" charset="-122"/>
                </a:rPr>
                <a:t>c</a:t>
              </a:r>
            </a:p>
          </p:txBody>
        </p:sp>
        <p:sp>
          <p:nvSpPr>
            <p:cNvPr id="123" name="文本框 65658"/>
            <p:cNvSpPr txBox="1"/>
            <p:nvPr/>
          </p:nvSpPr>
          <p:spPr>
            <a:xfrm>
              <a:off x="1361" y="681"/>
              <a:ext cx="19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1800">
                  <a:latin typeface="Arial" panose="020B0604020202020204" pitchFamily="34" charset="0"/>
                  <a:ea typeface="SimSun" panose="02010600030101010101" pitchFamily="2" charset="-122"/>
                </a:rPr>
                <a:t>d</a:t>
              </a:r>
            </a:p>
          </p:txBody>
        </p:sp>
        <p:sp>
          <p:nvSpPr>
            <p:cNvPr id="124" name="文本框 65659"/>
            <p:cNvSpPr txBox="1"/>
            <p:nvPr/>
          </p:nvSpPr>
          <p:spPr>
            <a:xfrm>
              <a:off x="1497" y="182"/>
              <a:ext cx="19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1800">
                  <a:latin typeface="Arial" panose="020B0604020202020204" pitchFamily="34" charset="0"/>
                  <a:ea typeface="SimSun" panose="02010600030101010101" pitchFamily="2" charset="-122"/>
                </a:rPr>
                <a:t>e</a:t>
              </a:r>
            </a:p>
          </p:txBody>
        </p:sp>
        <p:sp>
          <p:nvSpPr>
            <p:cNvPr id="125" name="文本框 65660"/>
            <p:cNvSpPr txBox="1"/>
            <p:nvPr/>
          </p:nvSpPr>
          <p:spPr>
            <a:xfrm>
              <a:off x="1814" y="106"/>
              <a:ext cx="237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1800">
                  <a:latin typeface="Monotype Corsiva" pitchFamily="2" charset="0"/>
                  <a:ea typeface="SimSun" panose="02010600030101010101" pitchFamily="2" charset="-122"/>
                </a:rPr>
                <a:t>v</a:t>
              </a:r>
              <a:r>
                <a:rPr lang="en-US" altLang="zh-CN" sz="2000" baseline="-32000">
                  <a:latin typeface="Arial" panose="020B0604020202020204" pitchFamily="34" charset="0"/>
                  <a:ea typeface="SimSun" panose="02010600030101010101" pitchFamily="2" charset="-122"/>
                </a:rPr>
                <a:t>1</a:t>
              </a:r>
            </a:p>
          </p:txBody>
        </p:sp>
        <p:sp>
          <p:nvSpPr>
            <p:cNvPr id="126" name="文本框 65661"/>
            <p:cNvSpPr txBox="1"/>
            <p:nvPr/>
          </p:nvSpPr>
          <p:spPr>
            <a:xfrm>
              <a:off x="2132" y="726"/>
              <a:ext cx="237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1800">
                  <a:latin typeface="Monotype Corsiva" pitchFamily="2" charset="0"/>
                  <a:ea typeface="SimSun" panose="02010600030101010101" pitchFamily="2" charset="-122"/>
                </a:rPr>
                <a:t>v</a:t>
              </a:r>
              <a:r>
                <a:rPr lang="en-US" altLang="zh-CN" sz="2000" baseline="-32000">
                  <a:latin typeface="Arial" panose="020B0604020202020204" pitchFamily="34" charset="0"/>
                  <a:ea typeface="SimSun" panose="02010600030101010101" pitchFamily="2" charset="-122"/>
                </a:rPr>
                <a:t>2</a:t>
              </a:r>
            </a:p>
          </p:txBody>
        </p:sp>
        <p:sp>
          <p:nvSpPr>
            <p:cNvPr id="127" name="文本框 65662"/>
            <p:cNvSpPr txBox="1"/>
            <p:nvPr/>
          </p:nvSpPr>
          <p:spPr>
            <a:xfrm>
              <a:off x="2858" y="862"/>
              <a:ext cx="237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1800">
                  <a:latin typeface="Monotype Corsiva" pitchFamily="2" charset="0"/>
                  <a:ea typeface="SimSun" panose="02010600030101010101" pitchFamily="2" charset="-122"/>
                </a:rPr>
                <a:t>v</a:t>
              </a:r>
              <a:r>
                <a:rPr lang="en-US" altLang="zh-CN" sz="2000" baseline="-32000">
                  <a:latin typeface="Arial" panose="020B0604020202020204" pitchFamily="34" charset="0"/>
                  <a:ea typeface="SimSun" panose="02010600030101010101" pitchFamily="2" charset="-122"/>
                </a:rPr>
                <a:t>3</a:t>
              </a:r>
            </a:p>
          </p:txBody>
        </p:sp>
        <p:sp>
          <p:nvSpPr>
            <p:cNvPr id="128" name="文本框 65663"/>
            <p:cNvSpPr txBox="1"/>
            <p:nvPr/>
          </p:nvSpPr>
          <p:spPr>
            <a:xfrm>
              <a:off x="2722" y="227"/>
              <a:ext cx="237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1800">
                  <a:latin typeface="Monotype Corsiva" pitchFamily="2" charset="0"/>
                  <a:ea typeface="SimSun" panose="02010600030101010101" pitchFamily="2" charset="-122"/>
                </a:rPr>
                <a:t>v</a:t>
              </a:r>
              <a:r>
                <a:rPr lang="en-US" altLang="zh-CN" sz="2000" baseline="-32000">
                  <a:latin typeface="Arial" panose="020B0604020202020204" pitchFamily="34" charset="0"/>
                  <a:ea typeface="SimSun" panose="02010600030101010101" pitchFamily="2" charset="-122"/>
                </a:rPr>
                <a:t>4</a:t>
              </a:r>
            </a:p>
          </p:txBody>
        </p:sp>
        <p:sp>
          <p:nvSpPr>
            <p:cNvPr id="129" name="文本框 65664"/>
            <p:cNvSpPr txBox="1"/>
            <p:nvPr/>
          </p:nvSpPr>
          <p:spPr>
            <a:xfrm>
              <a:off x="2359" y="635"/>
              <a:ext cx="237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1800">
                  <a:latin typeface="Monotype Corsiva" pitchFamily="2" charset="0"/>
                  <a:ea typeface="SimSun" panose="02010600030101010101" pitchFamily="2" charset="-122"/>
                </a:rPr>
                <a:t>v</a:t>
              </a:r>
              <a:r>
                <a:rPr lang="en-US" altLang="zh-CN" sz="2000" baseline="-32000">
                  <a:latin typeface="Arial" panose="020B0604020202020204" pitchFamily="34" charset="0"/>
                  <a:ea typeface="SimSun" panose="02010600030101010101" pitchFamily="2" charset="-122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5482430"/>
      </p:ext>
    </p:extLst>
  </p:cSld>
  <p:clrMapOvr>
    <a:masterClrMapping/>
  </p:clrMapOvr>
  <p:transition spd="slow" advTm="0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6" name="椭圆 68611"/>
          <p:cNvSpPr/>
          <p:nvPr/>
        </p:nvSpPr>
        <p:spPr>
          <a:xfrm>
            <a:off x="3122815" y="3039687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7" name="椭圆 68612"/>
          <p:cNvSpPr/>
          <p:nvPr/>
        </p:nvSpPr>
        <p:spPr>
          <a:xfrm>
            <a:off x="2513215" y="3420687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8" name="椭圆 68613"/>
          <p:cNvSpPr/>
          <p:nvPr/>
        </p:nvSpPr>
        <p:spPr>
          <a:xfrm>
            <a:off x="2970415" y="3420687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9" name="椭圆 68614"/>
          <p:cNvSpPr/>
          <p:nvPr/>
        </p:nvSpPr>
        <p:spPr>
          <a:xfrm>
            <a:off x="2741815" y="2353887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10" name="椭圆 68615"/>
          <p:cNvSpPr/>
          <p:nvPr/>
        </p:nvSpPr>
        <p:spPr>
          <a:xfrm>
            <a:off x="2208415" y="3725487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11" name="椭圆 68616"/>
          <p:cNvSpPr/>
          <p:nvPr/>
        </p:nvSpPr>
        <p:spPr>
          <a:xfrm>
            <a:off x="3275215" y="3725487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12" name="椭圆 68617"/>
          <p:cNvSpPr/>
          <p:nvPr/>
        </p:nvSpPr>
        <p:spPr>
          <a:xfrm>
            <a:off x="3961015" y="3573087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13" name="椭圆 68618"/>
          <p:cNvSpPr/>
          <p:nvPr/>
        </p:nvSpPr>
        <p:spPr>
          <a:xfrm>
            <a:off x="4799215" y="4030287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14" name="椭圆 68619"/>
          <p:cNvSpPr/>
          <p:nvPr/>
        </p:nvSpPr>
        <p:spPr>
          <a:xfrm>
            <a:off x="4799215" y="2277687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15" name="椭圆 68620"/>
          <p:cNvSpPr/>
          <p:nvPr/>
        </p:nvSpPr>
        <p:spPr>
          <a:xfrm>
            <a:off x="5713615" y="2734887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16" name="椭圆 68621"/>
          <p:cNvSpPr/>
          <p:nvPr/>
        </p:nvSpPr>
        <p:spPr>
          <a:xfrm>
            <a:off x="3961015" y="2734887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17" name="椭圆 68622"/>
          <p:cNvSpPr/>
          <p:nvPr/>
        </p:nvSpPr>
        <p:spPr>
          <a:xfrm>
            <a:off x="5713615" y="3573087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18" name="文本框 68623"/>
          <p:cNvSpPr txBox="1"/>
          <p:nvPr/>
        </p:nvSpPr>
        <p:spPr>
          <a:xfrm>
            <a:off x="2665615" y="4182687"/>
            <a:ext cx="685800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Arial Narrow" pitchFamily="2" charset="0"/>
                <a:ea typeface="SimSun" panose="02010600030101010101" pitchFamily="2" charset="-122"/>
              </a:rPr>
              <a:t>G</a:t>
            </a:r>
            <a:r>
              <a:rPr lang="en-US" altLang="zh-CN" baseline="-25000">
                <a:latin typeface="Arial Narrow" pitchFamily="2" charset="0"/>
                <a:ea typeface="SimSun" panose="02010600030101010101" pitchFamily="2" charset="-122"/>
              </a:rPr>
              <a:t>1</a:t>
            </a:r>
          </a:p>
        </p:txBody>
      </p:sp>
      <p:sp>
        <p:nvSpPr>
          <p:cNvPr id="19" name="文本框 68624"/>
          <p:cNvSpPr txBox="1"/>
          <p:nvPr/>
        </p:nvSpPr>
        <p:spPr>
          <a:xfrm>
            <a:off x="4570615" y="4182687"/>
            <a:ext cx="685800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Arial Narrow" pitchFamily="2" charset="0"/>
                <a:ea typeface="SimSun" panose="02010600030101010101" pitchFamily="2" charset="-122"/>
              </a:rPr>
              <a:t>G</a:t>
            </a:r>
            <a:r>
              <a:rPr lang="en-US" altLang="zh-CN" baseline="-25000">
                <a:latin typeface="Arial Narrow" pitchFamily="2" charset="0"/>
                <a:ea typeface="SimSun" panose="02010600030101010101" pitchFamily="2" charset="-122"/>
              </a:rPr>
              <a:t>2</a:t>
            </a:r>
          </a:p>
        </p:txBody>
      </p:sp>
      <p:sp>
        <p:nvSpPr>
          <p:cNvPr id="20" name="文本框 68625"/>
          <p:cNvSpPr txBox="1"/>
          <p:nvPr/>
        </p:nvSpPr>
        <p:spPr>
          <a:xfrm>
            <a:off x="7466215" y="4335087"/>
            <a:ext cx="685800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Arial Narrow" pitchFamily="2" charset="0"/>
                <a:ea typeface="SimSun" panose="02010600030101010101" pitchFamily="2" charset="-122"/>
              </a:rPr>
              <a:t>G</a:t>
            </a:r>
            <a:r>
              <a:rPr lang="en-US" altLang="zh-CN" baseline="-25000">
                <a:latin typeface="Arial Narrow" pitchFamily="2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4037215" y="5051050"/>
            <a:ext cx="2209800" cy="57943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>
                <a:latin typeface="Arial" panose="020B0604020202020204" pitchFamily="34" charset="0"/>
                <a:ea typeface="SimSun" panose="02010600030101010101" pitchFamily="2" charset="-122"/>
              </a:rPr>
              <a:t>G</a:t>
            </a:r>
            <a:r>
              <a:rPr lang="en-US" altLang="zh-CN" sz="3200" baseline="-25000">
                <a:latin typeface="Arial" panose="020B0604020202020204" pitchFamily="34" charset="0"/>
                <a:ea typeface="SimSun" panose="02010600030101010101" pitchFamily="2" charset="-122"/>
              </a:rPr>
              <a:t>1</a:t>
            </a:r>
            <a:r>
              <a:rPr lang="en-US" altLang="zh-CN" sz="3200">
                <a:latin typeface="Arial" panose="020B0604020202020204" pitchFamily="34" charset="0"/>
                <a:ea typeface="SimSun" panose="02010600030101010101" pitchFamily="2" charset="-122"/>
                <a:sym typeface="Symbol" panose="05050102010706020507" pitchFamily="2" charset="2"/>
              </a:rPr>
              <a:t></a:t>
            </a:r>
            <a:r>
              <a:rPr lang="en-US" altLang="zh-CN" sz="3200">
                <a:latin typeface="Arial" panose="020B0604020202020204" pitchFamily="34" charset="0"/>
                <a:ea typeface="SimSun" panose="02010600030101010101" pitchFamily="2" charset="-122"/>
              </a:rPr>
              <a:t>G</a:t>
            </a:r>
            <a:r>
              <a:rPr lang="en-US" altLang="zh-CN" sz="3200" baseline="-25000">
                <a:latin typeface="Arial" panose="020B0604020202020204" pitchFamily="34" charset="0"/>
                <a:ea typeface="SimSun" panose="02010600030101010101" pitchFamily="2" charset="-122"/>
              </a:rPr>
              <a:t>2</a:t>
            </a:r>
            <a:r>
              <a:rPr lang="en-US" altLang="zh-CN" sz="3200">
                <a:latin typeface="Arial" panose="020B0604020202020204" pitchFamily="34" charset="0"/>
                <a:ea typeface="SimSun" panose="02010600030101010101" pitchFamily="2" charset="-122"/>
                <a:sym typeface="Symbol" panose="05050102010706020507" pitchFamily="2" charset="2"/>
              </a:rPr>
              <a:t></a:t>
            </a:r>
            <a:r>
              <a:rPr lang="en-US" altLang="zh-CN" sz="3200">
                <a:latin typeface="Arial" panose="020B0604020202020204" pitchFamily="34" charset="0"/>
                <a:ea typeface="SimSun" panose="02010600030101010101" pitchFamily="2" charset="-122"/>
              </a:rPr>
              <a:t>G</a:t>
            </a:r>
            <a:r>
              <a:rPr lang="en-US" altLang="zh-CN" sz="3200" baseline="-25000">
                <a:latin typeface="Arial" panose="020B0604020202020204" pitchFamily="34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22" name="椭圆 68627"/>
          <p:cNvSpPr/>
          <p:nvPr/>
        </p:nvSpPr>
        <p:spPr>
          <a:xfrm>
            <a:off x="1903615" y="2887287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23" name="椭圆 68628"/>
          <p:cNvSpPr/>
          <p:nvPr/>
        </p:nvSpPr>
        <p:spPr>
          <a:xfrm>
            <a:off x="3656215" y="2887287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24" name="椭圆 68629"/>
          <p:cNvSpPr/>
          <p:nvPr/>
        </p:nvSpPr>
        <p:spPr>
          <a:xfrm>
            <a:off x="2360815" y="3039687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25" name="椭圆 68630"/>
          <p:cNvSpPr/>
          <p:nvPr/>
        </p:nvSpPr>
        <p:spPr>
          <a:xfrm>
            <a:off x="2741815" y="2811087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26" name="直接连接符 68631"/>
          <p:cNvSpPr/>
          <p:nvPr/>
        </p:nvSpPr>
        <p:spPr>
          <a:xfrm>
            <a:off x="2513215" y="3115887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27" name="直接连接符 68632"/>
          <p:cNvSpPr/>
          <p:nvPr/>
        </p:nvSpPr>
        <p:spPr>
          <a:xfrm flipH="1">
            <a:off x="2589415" y="3192087"/>
            <a:ext cx="60960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28" name="直接连接符 68633"/>
          <p:cNvSpPr/>
          <p:nvPr/>
        </p:nvSpPr>
        <p:spPr>
          <a:xfrm flipV="1">
            <a:off x="2589415" y="2887287"/>
            <a:ext cx="22860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29" name="直接连接符 68634"/>
          <p:cNvSpPr/>
          <p:nvPr/>
        </p:nvSpPr>
        <p:spPr>
          <a:xfrm>
            <a:off x="2818015" y="2887287"/>
            <a:ext cx="22860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30" name="直接连接符 68635"/>
          <p:cNvSpPr/>
          <p:nvPr/>
        </p:nvSpPr>
        <p:spPr>
          <a:xfrm flipH="1" flipV="1">
            <a:off x="2513215" y="3115887"/>
            <a:ext cx="53340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31" name="直接连接符 68636"/>
          <p:cNvSpPr/>
          <p:nvPr/>
        </p:nvSpPr>
        <p:spPr>
          <a:xfrm flipV="1">
            <a:off x="2818015" y="2430087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32" name="直接连接符 68637"/>
          <p:cNvSpPr/>
          <p:nvPr/>
        </p:nvSpPr>
        <p:spPr>
          <a:xfrm flipV="1">
            <a:off x="3199015" y="2963487"/>
            <a:ext cx="5334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33" name="直接连接符 68638"/>
          <p:cNvSpPr/>
          <p:nvPr/>
        </p:nvSpPr>
        <p:spPr>
          <a:xfrm>
            <a:off x="3046615" y="3496887"/>
            <a:ext cx="30480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34" name="直接连接符 68639"/>
          <p:cNvSpPr/>
          <p:nvPr/>
        </p:nvSpPr>
        <p:spPr>
          <a:xfrm flipH="1">
            <a:off x="2284615" y="3496887"/>
            <a:ext cx="30480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35" name="直接连接符 68640"/>
          <p:cNvSpPr/>
          <p:nvPr/>
        </p:nvSpPr>
        <p:spPr>
          <a:xfrm flipH="1" flipV="1">
            <a:off x="2056015" y="2963487"/>
            <a:ext cx="3810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36" name="直接连接符 68641"/>
          <p:cNvSpPr/>
          <p:nvPr/>
        </p:nvSpPr>
        <p:spPr>
          <a:xfrm>
            <a:off x="2818015" y="2430087"/>
            <a:ext cx="83820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37" name="直接连接符 68642"/>
          <p:cNvSpPr/>
          <p:nvPr/>
        </p:nvSpPr>
        <p:spPr>
          <a:xfrm flipH="1">
            <a:off x="3351415" y="2963487"/>
            <a:ext cx="381000" cy="838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38" name="直接连接符 68643"/>
          <p:cNvSpPr/>
          <p:nvPr/>
        </p:nvSpPr>
        <p:spPr>
          <a:xfrm flipH="1">
            <a:off x="2284615" y="3801687"/>
            <a:ext cx="1066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39" name="直接连接符 68644"/>
          <p:cNvSpPr/>
          <p:nvPr/>
        </p:nvSpPr>
        <p:spPr>
          <a:xfrm flipH="1" flipV="1">
            <a:off x="1979815" y="2963487"/>
            <a:ext cx="304800" cy="838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40" name="直接连接符 68645"/>
          <p:cNvSpPr/>
          <p:nvPr/>
        </p:nvSpPr>
        <p:spPr>
          <a:xfrm flipV="1">
            <a:off x="1979815" y="2430087"/>
            <a:ext cx="83820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41" name="椭圆 68646"/>
          <p:cNvSpPr/>
          <p:nvPr/>
        </p:nvSpPr>
        <p:spPr>
          <a:xfrm>
            <a:off x="4799215" y="3268287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42" name="椭圆 68647"/>
          <p:cNvSpPr/>
          <p:nvPr/>
        </p:nvSpPr>
        <p:spPr>
          <a:xfrm>
            <a:off x="4799215" y="2811087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43" name="椭圆 68648"/>
          <p:cNvSpPr/>
          <p:nvPr/>
        </p:nvSpPr>
        <p:spPr>
          <a:xfrm>
            <a:off x="4342015" y="3420687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44" name="椭圆 68649"/>
          <p:cNvSpPr/>
          <p:nvPr/>
        </p:nvSpPr>
        <p:spPr>
          <a:xfrm>
            <a:off x="5256415" y="3420687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45" name="直接连接符 68650"/>
          <p:cNvSpPr/>
          <p:nvPr/>
        </p:nvSpPr>
        <p:spPr>
          <a:xfrm>
            <a:off x="4037215" y="2811087"/>
            <a:ext cx="0" cy="838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46" name="直接连接符 68651"/>
          <p:cNvSpPr/>
          <p:nvPr/>
        </p:nvSpPr>
        <p:spPr>
          <a:xfrm>
            <a:off x="4037215" y="3649287"/>
            <a:ext cx="8382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47" name="直接连接符 68652"/>
          <p:cNvSpPr/>
          <p:nvPr/>
        </p:nvSpPr>
        <p:spPr>
          <a:xfrm flipV="1">
            <a:off x="4875415" y="3649287"/>
            <a:ext cx="9144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48" name="直接连接符 68653"/>
          <p:cNvSpPr/>
          <p:nvPr/>
        </p:nvSpPr>
        <p:spPr>
          <a:xfrm flipV="1">
            <a:off x="5789815" y="2811087"/>
            <a:ext cx="0" cy="838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49" name="直接连接符 68654"/>
          <p:cNvSpPr/>
          <p:nvPr/>
        </p:nvSpPr>
        <p:spPr>
          <a:xfrm flipH="1" flipV="1">
            <a:off x="4875415" y="2353887"/>
            <a:ext cx="9144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50" name="直接连接符 68655"/>
          <p:cNvSpPr/>
          <p:nvPr/>
        </p:nvSpPr>
        <p:spPr>
          <a:xfrm flipH="1">
            <a:off x="4037215" y="2353887"/>
            <a:ext cx="8382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51" name="直接连接符 68656"/>
          <p:cNvSpPr/>
          <p:nvPr/>
        </p:nvSpPr>
        <p:spPr>
          <a:xfrm flipV="1">
            <a:off x="4113415" y="3344487"/>
            <a:ext cx="76200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52" name="直接连接符 68657"/>
          <p:cNvSpPr/>
          <p:nvPr/>
        </p:nvSpPr>
        <p:spPr>
          <a:xfrm flipV="1">
            <a:off x="4875415" y="2353887"/>
            <a:ext cx="0" cy="990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53" name="直接连接符 68658"/>
          <p:cNvSpPr/>
          <p:nvPr/>
        </p:nvSpPr>
        <p:spPr>
          <a:xfrm>
            <a:off x="4875415" y="3344487"/>
            <a:ext cx="83820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54" name="未知"/>
          <p:cNvSpPr/>
          <p:nvPr/>
        </p:nvSpPr>
        <p:spPr>
          <a:xfrm>
            <a:off x="4875415" y="2887287"/>
            <a:ext cx="254000" cy="1219200"/>
          </a:xfrm>
          <a:custGeom>
            <a:avLst/>
            <a:gdLst/>
            <a:ahLst/>
            <a:cxnLst/>
            <a:rect l="0" t="0" r="0" b="0"/>
            <a:pathLst>
              <a:path w="160" h="768">
                <a:moveTo>
                  <a:pt x="0" y="0"/>
                </a:moveTo>
                <a:cubicBezTo>
                  <a:pt x="36" y="36"/>
                  <a:pt x="72" y="72"/>
                  <a:pt x="96" y="144"/>
                </a:cubicBezTo>
                <a:cubicBezTo>
                  <a:pt x="120" y="216"/>
                  <a:pt x="160" y="328"/>
                  <a:pt x="144" y="432"/>
                </a:cubicBezTo>
                <a:cubicBezTo>
                  <a:pt x="128" y="536"/>
                  <a:pt x="64" y="652"/>
                  <a:pt x="0" y="7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未知"/>
          <p:cNvSpPr/>
          <p:nvPr/>
        </p:nvSpPr>
        <p:spPr>
          <a:xfrm>
            <a:off x="4418215" y="2811087"/>
            <a:ext cx="1371600" cy="685800"/>
          </a:xfrm>
          <a:custGeom>
            <a:avLst/>
            <a:gdLst/>
            <a:ahLst/>
            <a:cxnLst/>
            <a:rect l="0" t="0" r="0" b="0"/>
            <a:pathLst>
              <a:path w="864" h="432">
                <a:moveTo>
                  <a:pt x="0" y="432"/>
                </a:moveTo>
                <a:cubicBezTo>
                  <a:pt x="32" y="368"/>
                  <a:pt x="64" y="304"/>
                  <a:pt x="144" y="240"/>
                </a:cubicBezTo>
                <a:cubicBezTo>
                  <a:pt x="224" y="176"/>
                  <a:pt x="360" y="88"/>
                  <a:pt x="480" y="48"/>
                </a:cubicBezTo>
                <a:cubicBezTo>
                  <a:pt x="600" y="8"/>
                  <a:pt x="800" y="8"/>
                  <a:pt x="86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未知"/>
          <p:cNvSpPr/>
          <p:nvPr/>
        </p:nvSpPr>
        <p:spPr>
          <a:xfrm>
            <a:off x="4037215" y="2887287"/>
            <a:ext cx="1295400" cy="647700"/>
          </a:xfrm>
          <a:custGeom>
            <a:avLst/>
            <a:gdLst/>
            <a:ahLst/>
            <a:cxnLst/>
            <a:rect l="0" t="0" r="0" b="0"/>
            <a:pathLst>
              <a:path w="816" h="408">
                <a:moveTo>
                  <a:pt x="0" y="0"/>
                </a:moveTo>
                <a:cubicBezTo>
                  <a:pt x="56" y="88"/>
                  <a:pt x="112" y="176"/>
                  <a:pt x="192" y="240"/>
                </a:cubicBezTo>
                <a:cubicBezTo>
                  <a:pt x="272" y="304"/>
                  <a:pt x="376" y="360"/>
                  <a:pt x="480" y="384"/>
                </a:cubicBezTo>
                <a:cubicBezTo>
                  <a:pt x="584" y="408"/>
                  <a:pt x="700" y="396"/>
                  <a:pt x="816" y="3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椭圆 68662"/>
          <p:cNvSpPr/>
          <p:nvPr/>
        </p:nvSpPr>
        <p:spPr>
          <a:xfrm>
            <a:off x="7999615" y="3192087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58" name="椭圆 68663"/>
          <p:cNvSpPr/>
          <p:nvPr/>
        </p:nvSpPr>
        <p:spPr>
          <a:xfrm>
            <a:off x="7390015" y="3573087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59" name="椭圆 68664"/>
          <p:cNvSpPr/>
          <p:nvPr/>
        </p:nvSpPr>
        <p:spPr>
          <a:xfrm>
            <a:off x="7847215" y="3573087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60" name="椭圆 68665"/>
          <p:cNvSpPr/>
          <p:nvPr/>
        </p:nvSpPr>
        <p:spPr>
          <a:xfrm>
            <a:off x="7618615" y="1820487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61" name="椭圆 68666"/>
          <p:cNvSpPr/>
          <p:nvPr/>
        </p:nvSpPr>
        <p:spPr>
          <a:xfrm>
            <a:off x="6628015" y="4487487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62" name="椭圆 68667"/>
          <p:cNvSpPr/>
          <p:nvPr/>
        </p:nvSpPr>
        <p:spPr>
          <a:xfrm>
            <a:off x="8685415" y="4563687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63" name="椭圆 68668"/>
          <p:cNvSpPr/>
          <p:nvPr/>
        </p:nvSpPr>
        <p:spPr>
          <a:xfrm>
            <a:off x="6094615" y="2811087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64" name="椭圆 68669"/>
          <p:cNvSpPr/>
          <p:nvPr/>
        </p:nvSpPr>
        <p:spPr>
          <a:xfrm>
            <a:off x="9218815" y="2811087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65" name="椭圆 68670"/>
          <p:cNvSpPr/>
          <p:nvPr/>
        </p:nvSpPr>
        <p:spPr>
          <a:xfrm>
            <a:off x="7237615" y="3192087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66" name="椭圆 68671"/>
          <p:cNvSpPr/>
          <p:nvPr/>
        </p:nvSpPr>
        <p:spPr>
          <a:xfrm>
            <a:off x="7618615" y="2963487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67" name="直接连接符 68672"/>
          <p:cNvSpPr/>
          <p:nvPr/>
        </p:nvSpPr>
        <p:spPr>
          <a:xfrm>
            <a:off x="7694815" y="1972887"/>
            <a:ext cx="0" cy="1066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68" name="直接连接符 68673"/>
          <p:cNvSpPr/>
          <p:nvPr/>
        </p:nvSpPr>
        <p:spPr>
          <a:xfrm flipV="1">
            <a:off x="6704215" y="3649287"/>
            <a:ext cx="762000" cy="914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69" name="直接连接符 68674"/>
          <p:cNvSpPr/>
          <p:nvPr/>
        </p:nvSpPr>
        <p:spPr>
          <a:xfrm flipH="1" flipV="1">
            <a:off x="7999615" y="3725487"/>
            <a:ext cx="762000" cy="914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70" name="直接连接符 68675"/>
          <p:cNvSpPr/>
          <p:nvPr/>
        </p:nvSpPr>
        <p:spPr>
          <a:xfrm flipH="1">
            <a:off x="8075815" y="2887287"/>
            <a:ext cx="114300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71" name="直接连接符 68676"/>
          <p:cNvSpPr/>
          <p:nvPr/>
        </p:nvSpPr>
        <p:spPr>
          <a:xfrm>
            <a:off x="6170815" y="2887287"/>
            <a:ext cx="114300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72" name="未知"/>
          <p:cNvSpPr/>
          <p:nvPr/>
        </p:nvSpPr>
        <p:spPr>
          <a:xfrm>
            <a:off x="6704215" y="2887287"/>
            <a:ext cx="2590800" cy="1676400"/>
          </a:xfrm>
          <a:custGeom>
            <a:avLst/>
            <a:gdLst/>
            <a:ahLst/>
            <a:cxnLst/>
            <a:rect l="0" t="0" r="0" b="0"/>
            <a:pathLst>
              <a:path w="1632" h="1056">
                <a:moveTo>
                  <a:pt x="0" y="1056"/>
                </a:moveTo>
                <a:cubicBezTo>
                  <a:pt x="264" y="980"/>
                  <a:pt x="528" y="904"/>
                  <a:pt x="720" y="816"/>
                </a:cubicBezTo>
                <a:cubicBezTo>
                  <a:pt x="912" y="728"/>
                  <a:pt x="1000" y="664"/>
                  <a:pt x="1152" y="528"/>
                </a:cubicBezTo>
                <a:cubicBezTo>
                  <a:pt x="1304" y="392"/>
                  <a:pt x="1468" y="196"/>
                  <a:pt x="1632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未知"/>
          <p:cNvSpPr/>
          <p:nvPr/>
        </p:nvSpPr>
        <p:spPr>
          <a:xfrm>
            <a:off x="6704215" y="1896687"/>
            <a:ext cx="990600" cy="2667000"/>
          </a:xfrm>
          <a:custGeom>
            <a:avLst/>
            <a:gdLst/>
            <a:ahLst/>
            <a:cxnLst/>
            <a:rect l="0" t="0" r="0" b="0"/>
            <a:pathLst>
              <a:path w="624" h="1680">
                <a:moveTo>
                  <a:pt x="624" y="0"/>
                </a:moveTo>
                <a:cubicBezTo>
                  <a:pt x="480" y="160"/>
                  <a:pt x="336" y="320"/>
                  <a:pt x="240" y="480"/>
                </a:cubicBezTo>
                <a:cubicBezTo>
                  <a:pt x="144" y="640"/>
                  <a:pt x="88" y="760"/>
                  <a:pt x="48" y="960"/>
                </a:cubicBezTo>
                <a:cubicBezTo>
                  <a:pt x="8" y="1160"/>
                  <a:pt x="4" y="1420"/>
                  <a:pt x="0" y="168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未知"/>
          <p:cNvSpPr/>
          <p:nvPr/>
        </p:nvSpPr>
        <p:spPr>
          <a:xfrm>
            <a:off x="7694815" y="1896687"/>
            <a:ext cx="1066800" cy="2743200"/>
          </a:xfrm>
          <a:custGeom>
            <a:avLst/>
            <a:gdLst/>
            <a:ahLst/>
            <a:cxnLst/>
            <a:rect l="0" t="0" r="0" b="0"/>
            <a:pathLst>
              <a:path w="672" h="1728">
                <a:moveTo>
                  <a:pt x="0" y="0"/>
                </a:moveTo>
                <a:cubicBezTo>
                  <a:pt x="140" y="156"/>
                  <a:pt x="280" y="312"/>
                  <a:pt x="384" y="480"/>
                </a:cubicBezTo>
                <a:cubicBezTo>
                  <a:pt x="488" y="648"/>
                  <a:pt x="576" y="800"/>
                  <a:pt x="624" y="1008"/>
                </a:cubicBezTo>
                <a:cubicBezTo>
                  <a:pt x="672" y="1216"/>
                  <a:pt x="672" y="1472"/>
                  <a:pt x="672" y="17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未知"/>
          <p:cNvSpPr/>
          <p:nvPr/>
        </p:nvSpPr>
        <p:spPr>
          <a:xfrm>
            <a:off x="6170815" y="2531687"/>
            <a:ext cx="3048000" cy="355600"/>
          </a:xfrm>
          <a:custGeom>
            <a:avLst/>
            <a:gdLst/>
            <a:ahLst/>
            <a:cxnLst/>
            <a:rect l="0" t="0" r="0" b="0"/>
            <a:pathLst>
              <a:path w="1920" h="224">
                <a:moveTo>
                  <a:pt x="0" y="224"/>
                </a:moveTo>
                <a:cubicBezTo>
                  <a:pt x="264" y="144"/>
                  <a:pt x="528" y="64"/>
                  <a:pt x="720" y="32"/>
                </a:cubicBezTo>
                <a:cubicBezTo>
                  <a:pt x="912" y="0"/>
                  <a:pt x="952" y="0"/>
                  <a:pt x="1152" y="32"/>
                </a:cubicBezTo>
                <a:cubicBezTo>
                  <a:pt x="1352" y="64"/>
                  <a:pt x="1636" y="144"/>
                  <a:pt x="1920" y="2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未知"/>
          <p:cNvSpPr/>
          <p:nvPr/>
        </p:nvSpPr>
        <p:spPr>
          <a:xfrm>
            <a:off x="6170815" y="2887287"/>
            <a:ext cx="2514600" cy="1752600"/>
          </a:xfrm>
          <a:custGeom>
            <a:avLst/>
            <a:gdLst/>
            <a:ahLst/>
            <a:cxnLst/>
            <a:rect l="0" t="0" r="0" b="0"/>
            <a:pathLst>
              <a:path w="1584" h="1104">
                <a:moveTo>
                  <a:pt x="0" y="0"/>
                </a:moveTo>
                <a:cubicBezTo>
                  <a:pt x="164" y="240"/>
                  <a:pt x="328" y="480"/>
                  <a:pt x="480" y="624"/>
                </a:cubicBezTo>
                <a:cubicBezTo>
                  <a:pt x="632" y="768"/>
                  <a:pt x="728" y="784"/>
                  <a:pt x="912" y="864"/>
                </a:cubicBezTo>
                <a:cubicBezTo>
                  <a:pt x="1096" y="944"/>
                  <a:pt x="1464" y="1064"/>
                  <a:pt x="1584" y="110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直接连接符 76"/>
          <p:cNvSpPr/>
          <p:nvPr/>
        </p:nvSpPr>
        <p:spPr>
          <a:xfrm>
            <a:off x="4037215" y="3649287"/>
            <a:ext cx="838200" cy="457200"/>
          </a:xfrm>
          <a:prstGeom prst="line">
            <a:avLst/>
          </a:prstGeom>
          <a:ln w="9525" cap="flat" cmpd="sng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78" name="直接连接符 77"/>
          <p:cNvSpPr/>
          <p:nvPr/>
        </p:nvSpPr>
        <p:spPr>
          <a:xfrm flipV="1">
            <a:off x="4113415" y="3344487"/>
            <a:ext cx="762000" cy="304800"/>
          </a:xfrm>
          <a:prstGeom prst="line">
            <a:avLst/>
          </a:prstGeom>
          <a:ln w="9525" cap="flat" cmpd="sng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79" name="未知"/>
          <p:cNvSpPr/>
          <p:nvPr/>
        </p:nvSpPr>
        <p:spPr>
          <a:xfrm>
            <a:off x="4875415" y="2887287"/>
            <a:ext cx="254000" cy="1219200"/>
          </a:xfrm>
          <a:custGeom>
            <a:avLst/>
            <a:gdLst/>
            <a:ahLst/>
            <a:cxnLst/>
            <a:rect l="0" t="0" r="0" b="0"/>
            <a:pathLst>
              <a:path w="160" h="768">
                <a:moveTo>
                  <a:pt x="0" y="0"/>
                </a:moveTo>
                <a:cubicBezTo>
                  <a:pt x="36" y="36"/>
                  <a:pt x="72" y="72"/>
                  <a:pt x="96" y="144"/>
                </a:cubicBezTo>
                <a:cubicBezTo>
                  <a:pt x="120" y="216"/>
                  <a:pt x="160" y="328"/>
                  <a:pt x="144" y="432"/>
                </a:cubicBezTo>
                <a:cubicBezTo>
                  <a:pt x="128" y="536"/>
                  <a:pt x="64" y="652"/>
                  <a:pt x="0" y="768"/>
                </a:cubicBezTo>
              </a:path>
            </a:pathLst>
          </a:custGeom>
          <a:noFill/>
          <a:ln w="9525" cap="flat" cmpd="sng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" name="直接连接符 79"/>
          <p:cNvSpPr/>
          <p:nvPr/>
        </p:nvSpPr>
        <p:spPr>
          <a:xfrm>
            <a:off x="4875415" y="2892050"/>
            <a:ext cx="0" cy="4318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81" name="直接连接符 68686"/>
          <p:cNvSpPr/>
          <p:nvPr/>
        </p:nvSpPr>
        <p:spPr>
          <a:xfrm flipH="1">
            <a:off x="7313815" y="3039687"/>
            <a:ext cx="381000" cy="228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82" name="直接连接符 68687"/>
          <p:cNvSpPr/>
          <p:nvPr/>
        </p:nvSpPr>
        <p:spPr>
          <a:xfrm>
            <a:off x="7313815" y="3268287"/>
            <a:ext cx="15240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83" name="直接连接符 68688"/>
          <p:cNvSpPr/>
          <p:nvPr/>
        </p:nvSpPr>
        <p:spPr>
          <a:xfrm>
            <a:off x="7694815" y="3039687"/>
            <a:ext cx="381000" cy="228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84" name="直接连接符 68689"/>
          <p:cNvSpPr/>
          <p:nvPr/>
        </p:nvSpPr>
        <p:spPr>
          <a:xfrm flipH="1">
            <a:off x="7923415" y="3268287"/>
            <a:ext cx="15240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85" name="直接连接符 68690"/>
          <p:cNvSpPr/>
          <p:nvPr/>
        </p:nvSpPr>
        <p:spPr>
          <a:xfrm>
            <a:off x="7466215" y="3649287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86" name="直接连接符 85"/>
          <p:cNvSpPr/>
          <p:nvPr/>
        </p:nvSpPr>
        <p:spPr>
          <a:xfrm flipH="1">
            <a:off x="7290003" y="3034925"/>
            <a:ext cx="381000" cy="2286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87" name="直接连接符 86"/>
          <p:cNvSpPr/>
          <p:nvPr/>
        </p:nvSpPr>
        <p:spPr>
          <a:xfrm>
            <a:off x="7290003" y="3263525"/>
            <a:ext cx="152400" cy="3810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88" name="直接连接符 87"/>
          <p:cNvSpPr/>
          <p:nvPr/>
        </p:nvSpPr>
        <p:spPr>
          <a:xfrm>
            <a:off x="7671003" y="3034925"/>
            <a:ext cx="381000" cy="2286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89" name="直接连接符 88"/>
          <p:cNvSpPr/>
          <p:nvPr/>
        </p:nvSpPr>
        <p:spPr>
          <a:xfrm flipH="1">
            <a:off x="7899603" y="3263525"/>
            <a:ext cx="152400" cy="3810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90" name="直接连接符 89"/>
          <p:cNvSpPr/>
          <p:nvPr/>
        </p:nvSpPr>
        <p:spPr>
          <a:xfrm>
            <a:off x="7442403" y="3644525"/>
            <a:ext cx="4572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1989359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6" name="椭圆 69635"/>
          <p:cNvSpPr/>
          <p:nvPr/>
        </p:nvSpPr>
        <p:spPr>
          <a:xfrm>
            <a:off x="3171305" y="2630661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7" name="椭圆 69636"/>
          <p:cNvSpPr/>
          <p:nvPr/>
        </p:nvSpPr>
        <p:spPr>
          <a:xfrm>
            <a:off x="3171305" y="3697461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8" name="椭圆 69637"/>
          <p:cNvSpPr/>
          <p:nvPr/>
        </p:nvSpPr>
        <p:spPr>
          <a:xfrm>
            <a:off x="3933305" y="3164061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9" name="椭圆 69638"/>
          <p:cNvSpPr/>
          <p:nvPr/>
        </p:nvSpPr>
        <p:spPr>
          <a:xfrm>
            <a:off x="2409305" y="3164061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10" name="椭圆 69639"/>
          <p:cNvSpPr/>
          <p:nvPr/>
        </p:nvSpPr>
        <p:spPr>
          <a:xfrm>
            <a:off x="4314305" y="2478261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11" name="椭圆 69640"/>
          <p:cNvSpPr/>
          <p:nvPr/>
        </p:nvSpPr>
        <p:spPr>
          <a:xfrm>
            <a:off x="6371705" y="3621261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12" name="椭圆 69641"/>
          <p:cNvSpPr/>
          <p:nvPr/>
        </p:nvSpPr>
        <p:spPr>
          <a:xfrm>
            <a:off x="5304905" y="2554461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13" name="椭圆 69642"/>
          <p:cNvSpPr/>
          <p:nvPr/>
        </p:nvSpPr>
        <p:spPr>
          <a:xfrm>
            <a:off x="5838305" y="3087861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14" name="椭圆 69643"/>
          <p:cNvSpPr/>
          <p:nvPr/>
        </p:nvSpPr>
        <p:spPr>
          <a:xfrm>
            <a:off x="5457305" y="3468861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15" name="椭圆 69644"/>
          <p:cNvSpPr/>
          <p:nvPr/>
        </p:nvSpPr>
        <p:spPr>
          <a:xfrm>
            <a:off x="6219305" y="2783061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16" name="文本框 69645"/>
          <p:cNvSpPr txBox="1"/>
          <p:nvPr/>
        </p:nvSpPr>
        <p:spPr>
          <a:xfrm>
            <a:off x="3095105" y="4078461"/>
            <a:ext cx="685800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Arial Narrow" pitchFamily="2" charset="0"/>
                <a:ea typeface="SimSun" panose="02010600030101010101" pitchFamily="2" charset="-122"/>
              </a:rPr>
              <a:t>G</a:t>
            </a:r>
            <a:r>
              <a:rPr lang="en-US" altLang="zh-CN" baseline="-25000">
                <a:latin typeface="Arial Narrow" pitchFamily="2" charset="0"/>
                <a:ea typeface="SimSun" panose="02010600030101010101" pitchFamily="2" charset="-122"/>
              </a:rPr>
              <a:t>1</a:t>
            </a:r>
          </a:p>
        </p:txBody>
      </p:sp>
      <p:sp>
        <p:nvSpPr>
          <p:cNvPr id="17" name="文本框 69646"/>
          <p:cNvSpPr txBox="1"/>
          <p:nvPr/>
        </p:nvSpPr>
        <p:spPr>
          <a:xfrm>
            <a:off x="5685905" y="4078461"/>
            <a:ext cx="685800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Arial Narrow" pitchFamily="2" charset="0"/>
                <a:ea typeface="SimSun" panose="02010600030101010101" pitchFamily="2" charset="-122"/>
              </a:rPr>
              <a:t>G</a:t>
            </a:r>
            <a:r>
              <a:rPr lang="en-US" altLang="zh-CN" baseline="-25000">
                <a:latin typeface="Arial Narrow" pitchFamily="2" charset="0"/>
                <a:ea typeface="SimSun" panose="02010600030101010101" pitchFamily="2" charset="-122"/>
              </a:rPr>
              <a:t>2</a:t>
            </a:r>
          </a:p>
        </p:txBody>
      </p:sp>
      <p:sp>
        <p:nvSpPr>
          <p:cNvPr id="18" name="文本框 69647"/>
          <p:cNvSpPr txBox="1"/>
          <p:nvPr/>
        </p:nvSpPr>
        <p:spPr>
          <a:xfrm>
            <a:off x="8048105" y="4078461"/>
            <a:ext cx="685800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Arial Narrow" pitchFamily="2" charset="0"/>
                <a:ea typeface="SimSun" panose="02010600030101010101" pitchFamily="2" charset="-122"/>
              </a:rPr>
              <a:t>G</a:t>
            </a:r>
            <a:r>
              <a:rPr lang="en-US" altLang="zh-CN" baseline="-25000">
                <a:latin typeface="Arial Narrow" pitchFamily="2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19" name="文本框 69648"/>
          <p:cNvSpPr txBox="1"/>
          <p:nvPr/>
        </p:nvSpPr>
        <p:spPr>
          <a:xfrm>
            <a:off x="4238105" y="4611861"/>
            <a:ext cx="2971800" cy="57943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>
                <a:latin typeface="Arial" panose="020B0604020202020204" pitchFamily="34" charset="0"/>
                <a:ea typeface="SimSun" panose="02010600030101010101" pitchFamily="2" charset="-122"/>
              </a:rPr>
              <a:t>G</a:t>
            </a:r>
            <a:r>
              <a:rPr lang="en-US" altLang="zh-CN" sz="3200" baseline="-25000">
                <a:latin typeface="Arial" panose="020B0604020202020204" pitchFamily="34" charset="0"/>
                <a:ea typeface="SimSun" panose="02010600030101010101" pitchFamily="2" charset="-122"/>
              </a:rPr>
              <a:t>1</a:t>
            </a:r>
            <a:r>
              <a:rPr lang="en-US" altLang="zh-CN" sz="3200">
                <a:latin typeface="Arial" panose="020B0604020202020204" pitchFamily="34" charset="0"/>
                <a:ea typeface="SimSun" panose="02010600030101010101" pitchFamily="2" charset="-122"/>
                <a:sym typeface="Symbol" panose="05050102010706020507" pitchFamily="2" charset="2"/>
              </a:rPr>
              <a:t>G</a:t>
            </a:r>
            <a:r>
              <a:rPr lang="en-US" altLang="zh-CN" sz="3200" baseline="-25000">
                <a:latin typeface="Arial" panose="020B0604020202020204" pitchFamily="34" charset="0"/>
                <a:ea typeface="SimSun" panose="02010600030101010101" pitchFamily="2" charset="-122"/>
              </a:rPr>
              <a:t>2</a:t>
            </a:r>
            <a:r>
              <a:rPr lang="en-US" altLang="zh-CN" sz="3200">
                <a:latin typeface="Arial" panose="020B0604020202020204" pitchFamily="34" charset="0"/>
                <a:ea typeface="SimSun" panose="02010600030101010101" pitchFamily="2" charset="-122"/>
              </a:rPr>
              <a:t>,   G</a:t>
            </a:r>
            <a:r>
              <a:rPr lang="en-US" altLang="zh-CN" sz="3200" baseline="-25000">
                <a:latin typeface="Arial" panose="020B0604020202020204" pitchFamily="34" charset="0"/>
                <a:ea typeface="SimSun" panose="02010600030101010101" pitchFamily="2" charset="-122"/>
              </a:rPr>
              <a:t>2</a:t>
            </a:r>
            <a:r>
              <a:rPr lang="en-US" altLang="zh-CN" sz="3200">
                <a:latin typeface="Arial" panose="020B0604020202020204" pitchFamily="34" charset="0"/>
                <a:ea typeface="SimSun" panose="02010600030101010101" pitchFamily="2" charset="-122"/>
                <a:sym typeface="Symbol" panose="05050102010706020507" pitchFamily="2" charset="2"/>
              </a:rPr>
              <a:t>G</a:t>
            </a:r>
            <a:r>
              <a:rPr lang="en-US" altLang="zh-CN" sz="3200" baseline="-25000">
                <a:latin typeface="Arial" panose="020B0604020202020204" pitchFamily="34" charset="0"/>
                <a:ea typeface="SimSun" panose="02010600030101010101" pitchFamily="2" charset="-122"/>
              </a:rPr>
              <a:t>3</a:t>
            </a:r>
          </a:p>
        </p:txBody>
      </p:sp>
      <p:sp>
        <p:nvSpPr>
          <p:cNvPr id="20" name="直接连接符 69649"/>
          <p:cNvSpPr/>
          <p:nvPr/>
        </p:nvSpPr>
        <p:spPr>
          <a:xfrm flipH="1">
            <a:off x="6451080" y="4734098"/>
            <a:ext cx="152400" cy="3810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21" name="直接连接符 69650"/>
          <p:cNvSpPr/>
          <p:nvPr/>
        </p:nvSpPr>
        <p:spPr>
          <a:xfrm flipH="1" flipV="1">
            <a:off x="2561705" y="3240261"/>
            <a:ext cx="68580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22" name="直接连接符 69651"/>
          <p:cNvSpPr/>
          <p:nvPr/>
        </p:nvSpPr>
        <p:spPr>
          <a:xfrm flipH="1">
            <a:off x="2561705" y="2706861"/>
            <a:ext cx="6858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23" name="直接连接符 69652"/>
          <p:cNvSpPr/>
          <p:nvPr/>
        </p:nvSpPr>
        <p:spPr>
          <a:xfrm>
            <a:off x="3247505" y="2706861"/>
            <a:ext cx="6858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24" name="直接连接符 69653"/>
          <p:cNvSpPr/>
          <p:nvPr/>
        </p:nvSpPr>
        <p:spPr>
          <a:xfrm flipV="1">
            <a:off x="3247505" y="3240261"/>
            <a:ext cx="6858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25" name="直接连接符 69654"/>
          <p:cNvSpPr/>
          <p:nvPr/>
        </p:nvSpPr>
        <p:spPr>
          <a:xfrm flipV="1">
            <a:off x="4009505" y="2630661"/>
            <a:ext cx="38100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26" name="椭圆 69655"/>
          <p:cNvSpPr/>
          <p:nvPr/>
        </p:nvSpPr>
        <p:spPr>
          <a:xfrm>
            <a:off x="3018905" y="2249661"/>
            <a:ext cx="533400" cy="4572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27" name="直接连接符 69656"/>
          <p:cNvSpPr/>
          <p:nvPr/>
        </p:nvSpPr>
        <p:spPr>
          <a:xfrm flipH="1">
            <a:off x="3171305" y="2249661"/>
            <a:ext cx="7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28" name="椭圆 69657"/>
          <p:cNvSpPr/>
          <p:nvPr/>
        </p:nvSpPr>
        <p:spPr>
          <a:xfrm>
            <a:off x="3095105" y="2706861"/>
            <a:ext cx="304800" cy="9906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29" name="直接连接符 69658"/>
          <p:cNvSpPr/>
          <p:nvPr/>
        </p:nvSpPr>
        <p:spPr>
          <a:xfrm flipV="1">
            <a:off x="3399905" y="3164061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30" name="直接连接符 69659"/>
          <p:cNvSpPr/>
          <p:nvPr/>
        </p:nvSpPr>
        <p:spPr>
          <a:xfrm>
            <a:off x="3095105" y="3164061"/>
            <a:ext cx="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31" name="椭圆 69660"/>
          <p:cNvSpPr/>
          <p:nvPr/>
        </p:nvSpPr>
        <p:spPr>
          <a:xfrm>
            <a:off x="5076305" y="2478261"/>
            <a:ext cx="1600200" cy="14478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32" name="椭圆 69661"/>
          <p:cNvSpPr/>
          <p:nvPr/>
        </p:nvSpPr>
        <p:spPr>
          <a:xfrm>
            <a:off x="4923905" y="2249661"/>
            <a:ext cx="533400" cy="4572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33" name="直接连接符 69662"/>
          <p:cNvSpPr/>
          <p:nvPr/>
        </p:nvSpPr>
        <p:spPr>
          <a:xfrm flipH="1">
            <a:off x="5076305" y="2249661"/>
            <a:ext cx="7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34" name="直接连接符 69663"/>
          <p:cNvSpPr/>
          <p:nvPr/>
        </p:nvSpPr>
        <p:spPr>
          <a:xfrm>
            <a:off x="5381105" y="2630661"/>
            <a:ext cx="152400" cy="838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35" name="直接连接符 69664"/>
          <p:cNvSpPr/>
          <p:nvPr/>
        </p:nvSpPr>
        <p:spPr>
          <a:xfrm flipH="1" flipV="1">
            <a:off x="5609705" y="3545061"/>
            <a:ext cx="8382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36" name="直接连接符 69665"/>
          <p:cNvSpPr/>
          <p:nvPr/>
        </p:nvSpPr>
        <p:spPr>
          <a:xfrm flipH="1">
            <a:off x="5990705" y="2859261"/>
            <a:ext cx="30480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37" name="直接连接符 69666"/>
          <p:cNvSpPr/>
          <p:nvPr/>
        </p:nvSpPr>
        <p:spPr>
          <a:xfrm>
            <a:off x="5381105" y="2630661"/>
            <a:ext cx="8382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38" name="直接连接符 69667"/>
          <p:cNvSpPr/>
          <p:nvPr/>
        </p:nvSpPr>
        <p:spPr>
          <a:xfrm flipH="1" flipV="1">
            <a:off x="6295505" y="2935461"/>
            <a:ext cx="15240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39" name="直接连接符 69668"/>
          <p:cNvSpPr/>
          <p:nvPr/>
        </p:nvSpPr>
        <p:spPr>
          <a:xfrm>
            <a:off x="5076305" y="3240261"/>
            <a:ext cx="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40" name="直接连接符 69669"/>
          <p:cNvSpPr/>
          <p:nvPr/>
        </p:nvSpPr>
        <p:spPr>
          <a:xfrm flipV="1">
            <a:off x="6676505" y="3087861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41" name="椭圆 69670"/>
          <p:cNvSpPr/>
          <p:nvPr/>
        </p:nvSpPr>
        <p:spPr>
          <a:xfrm>
            <a:off x="8733905" y="3621261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42" name="椭圆 69671"/>
          <p:cNvSpPr/>
          <p:nvPr/>
        </p:nvSpPr>
        <p:spPr>
          <a:xfrm>
            <a:off x="7667105" y="2554461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43" name="椭圆 69672"/>
          <p:cNvSpPr/>
          <p:nvPr/>
        </p:nvSpPr>
        <p:spPr>
          <a:xfrm>
            <a:off x="8200505" y="3087861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44" name="椭圆 69673"/>
          <p:cNvSpPr/>
          <p:nvPr/>
        </p:nvSpPr>
        <p:spPr>
          <a:xfrm>
            <a:off x="7819505" y="3468861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45" name="椭圆 69674"/>
          <p:cNvSpPr/>
          <p:nvPr/>
        </p:nvSpPr>
        <p:spPr>
          <a:xfrm>
            <a:off x="8581505" y="2783061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46" name="椭圆 69675"/>
          <p:cNvSpPr/>
          <p:nvPr/>
        </p:nvSpPr>
        <p:spPr>
          <a:xfrm>
            <a:off x="7438505" y="2478261"/>
            <a:ext cx="1600200" cy="14478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47" name="椭圆 69676"/>
          <p:cNvSpPr/>
          <p:nvPr/>
        </p:nvSpPr>
        <p:spPr>
          <a:xfrm>
            <a:off x="7286105" y="2249661"/>
            <a:ext cx="533400" cy="4572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48" name="直接连接符 69677"/>
          <p:cNvSpPr/>
          <p:nvPr/>
        </p:nvSpPr>
        <p:spPr>
          <a:xfrm flipH="1">
            <a:off x="7438505" y="2249661"/>
            <a:ext cx="7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49" name="直接连接符 69678"/>
          <p:cNvSpPr/>
          <p:nvPr/>
        </p:nvSpPr>
        <p:spPr>
          <a:xfrm>
            <a:off x="7743305" y="2630661"/>
            <a:ext cx="152400" cy="838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50" name="直接连接符 69679"/>
          <p:cNvSpPr/>
          <p:nvPr/>
        </p:nvSpPr>
        <p:spPr>
          <a:xfrm flipH="1" flipV="1">
            <a:off x="7971905" y="3545061"/>
            <a:ext cx="8382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51" name="直接连接符 69680"/>
          <p:cNvSpPr/>
          <p:nvPr/>
        </p:nvSpPr>
        <p:spPr>
          <a:xfrm flipH="1">
            <a:off x="8276705" y="2859261"/>
            <a:ext cx="304800" cy="304800"/>
          </a:xfrm>
          <a:prstGeom prst="line">
            <a:avLst/>
          </a:prstGeom>
          <a:ln w="9525" cap="flat" cmpd="sng">
            <a:solidFill>
              <a:schemeClr val="folHlink"/>
            </a:solidFill>
            <a:prstDash val="solid"/>
            <a:round/>
            <a:headEnd type="triangle" w="med" len="med"/>
            <a:tailEnd type="non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52" name="直接连接符 69681"/>
          <p:cNvSpPr/>
          <p:nvPr/>
        </p:nvSpPr>
        <p:spPr>
          <a:xfrm>
            <a:off x="7743305" y="2630661"/>
            <a:ext cx="8382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53" name="直接连接符 69682"/>
          <p:cNvSpPr/>
          <p:nvPr/>
        </p:nvSpPr>
        <p:spPr>
          <a:xfrm flipH="1" flipV="1">
            <a:off x="8657705" y="2935461"/>
            <a:ext cx="15240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54" name="直接连接符 69683"/>
          <p:cNvSpPr/>
          <p:nvPr/>
        </p:nvSpPr>
        <p:spPr>
          <a:xfrm>
            <a:off x="7438505" y="3240261"/>
            <a:ext cx="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  <p:sp>
        <p:nvSpPr>
          <p:cNvPr id="55" name="直接连接符 69684"/>
          <p:cNvSpPr/>
          <p:nvPr/>
        </p:nvSpPr>
        <p:spPr>
          <a:xfrm flipV="1">
            <a:off x="9038705" y="3087861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pPr algn="ctr"/>
            <a:endParaRPr lang="zh-CN" altLang="en-US">
              <a:latin typeface="Times New Roman" panose="02020603050405020304" pitchFamily="2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843411"/>
      </p:ext>
    </p:extLst>
  </p:cSld>
  <p:clrMapOvr>
    <a:masterClrMapping/>
  </p:clrMapOvr>
  <p:transition spd="slow" advTm="0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C4E2DC8-1177-449A-B8C4-2370CA8DB1F2}"/>
              </a:ext>
            </a:extLst>
          </p:cNvPr>
          <p:cNvSpPr txBox="1">
            <a:spLocks noChangeArrowheads="1"/>
          </p:cNvSpPr>
          <p:nvPr/>
        </p:nvSpPr>
        <p:spPr>
          <a:xfrm>
            <a:off x="1493779" y="845103"/>
            <a:ext cx="9592232" cy="61912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altLang="zh-CN" sz="3200" b="1" dirty="0">
                <a:solidFill>
                  <a:srgbClr val="99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99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路径与图连通性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图论中的许多概念和应用都与对图的遍历有关，即是从一个结点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出发，到达与之相邻接的结点，在从该邻接结点出发到达其邻接的结点，依次类推，最后可以到达图中的某结点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，从而就得到一条从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3B3B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通路（</a:t>
            </a:r>
            <a:r>
              <a:rPr lang="en-US" altLang="zh-CN" b="1" dirty="0">
                <a:solidFill>
                  <a:srgbClr val="3B3B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entry</a:t>
            </a:r>
            <a:r>
              <a:rPr lang="zh-CN" altLang="en-US" b="1" dirty="0">
                <a:solidFill>
                  <a:srgbClr val="3B3B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。从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	 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的通路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的表示：</a:t>
            </a:r>
          </a:p>
          <a:p>
            <a:pPr algn="just">
              <a:lnSpc>
                <a:spcPct val="110000"/>
              </a:lnSpc>
              <a:buFontTx/>
              <a:buNone/>
            </a:pPr>
            <a:r>
              <a:rPr lang="es-ES_tradnl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W: u=v</a:t>
            </a:r>
            <a:r>
              <a:rPr lang="es-ES_tradnl" altLang="zh-CN" b="1" baseline="-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s-ES_tradnl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,v</a:t>
            </a:r>
            <a:r>
              <a:rPr lang="es-ES_tradnl" altLang="zh-CN" b="1" baseline="-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s-ES_tradnl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,v</a:t>
            </a:r>
            <a:r>
              <a:rPr lang="es-ES_tradnl" altLang="zh-CN" b="1" baseline="-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s-ES_tradnl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,…,v</a:t>
            </a:r>
            <a:r>
              <a:rPr lang="es-ES_tradnl" altLang="zh-CN" b="1" baseline="-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s-ES_tradnl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=v，k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s-ES_tradnl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0。</a:t>
            </a:r>
            <a:endParaRPr lang="zh-CN" altLang="en-US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	通路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常表示为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u-v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通路。这些结点序列中任意相邻的结点在图中是邻接的关系，称结点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=0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1,…,k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）以及边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(v</a:t>
            </a:r>
            <a:r>
              <a:rPr lang="en-US" altLang="zh-CN" b="1" baseline="-25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,v</a:t>
            </a:r>
            <a:r>
              <a:rPr lang="en-US" altLang="zh-CN" b="1" baseline="-25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i+1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 (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=0,1,…,k-1)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为通路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上的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结点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边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v</a:t>
            </a:r>
            <a:r>
              <a:rPr lang="en-US" altLang="zh-CN" b="1" baseline="-25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分别称为此通路的</a:t>
            </a:r>
            <a:r>
              <a:rPr lang="zh-CN" altLang="en-US" b="1" dirty="0">
                <a:solidFill>
                  <a:srgbClr val="3B3B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始点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zh-CN" altLang="en-US" b="1" dirty="0">
                <a:solidFill>
                  <a:srgbClr val="3B3B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终点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，统称为通路的</a:t>
            </a:r>
            <a:r>
              <a:rPr lang="zh-CN" altLang="en-US" b="1" dirty="0">
                <a:solidFill>
                  <a:srgbClr val="3B3B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端点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3763126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8F525E3-3503-4DE9-833D-2A47CBFFCBA1}"/>
              </a:ext>
            </a:extLst>
          </p:cNvPr>
          <p:cNvSpPr/>
          <p:nvPr/>
        </p:nvSpPr>
        <p:spPr>
          <a:xfrm>
            <a:off x="632225" y="823318"/>
            <a:ext cx="11289808" cy="52113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6600FF"/>
              </a:buClr>
            </a:pPr>
            <a:r>
              <a:rPr kumimoji="1" lang="zh-CN" altLang="en-US" sz="2400" b="1" dirty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路径与图连通性</a:t>
            </a:r>
          </a:p>
          <a:p>
            <a:pPr marL="324000" lvl="0" indent="45720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6600FF"/>
              </a:buClr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如果通路上首尾结点相同，则称该通路是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闭的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(Closed)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，否则称该通路是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开的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(Opened)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。</a:t>
            </a:r>
          </a:p>
          <a:p>
            <a:pPr marL="324000" lvl="0" indent="45720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6600FF"/>
              </a:buClr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如果通路上</a:t>
            </a:r>
            <a:r>
              <a:rPr kumimoji="1"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没有相同的边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，则称该通路为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迹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(Trail)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或</a:t>
            </a:r>
            <a:r>
              <a:rPr kumimoji="1" lang="zh-CN" altLang="en-US" sz="2400" b="1" dirty="0">
                <a:solidFill>
                  <a:srgbClr val="3B3BFF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简单通路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(Simple Entry)</a:t>
            </a:r>
            <a:r>
              <a:rPr kumimoji="1"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。</a:t>
            </a:r>
          </a:p>
          <a:p>
            <a:pPr marL="324000" lvl="0" indent="45720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6600FF"/>
              </a:buClr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如果迹上的开始结点与结束结点相同，则称之为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回路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(Circuit)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，若回路中的所有边互不相同，则称此回路为</a:t>
            </a:r>
            <a:r>
              <a:rPr kumimoji="1" lang="zh-CN" altLang="en-US" sz="2400" b="1" dirty="0">
                <a:solidFill>
                  <a:srgbClr val="3B3BFF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简单回路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(Simple Circuit)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或一条</a:t>
            </a:r>
            <a:r>
              <a:rPr kumimoji="1" lang="zh-CN" altLang="en-US" sz="2400" b="1" dirty="0">
                <a:solidFill>
                  <a:srgbClr val="3B3BFF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闭迹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。</a:t>
            </a:r>
          </a:p>
          <a:p>
            <a:pPr marL="324000" lvl="0" indent="45720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6600FF"/>
              </a:buClr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如果通路上</a:t>
            </a:r>
            <a:r>
              <a:rPr kumimoji="1"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没有相同的结点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，则称该通路为</a:t>
            </a:r>
            <a:r>
              <a:rPr kumimoji="1" lang="zh-CN" altLang="en-US" sz="2400" b="1" dirty="0">
                <a:solidFill>
                  <a:srgbClr val="3B3BFF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基本通路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(Basic Entry)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、</a:t>
            </a:r>
            <a:r>
              <a:rPr kumimoji="1" lang="zh-CN" altLang="en-US" sz="2400" b="1" dirty="0">
                <a:solidFill>
                  <a:srgbClr val="3B3BFF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初级通路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、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路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或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路径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(Path)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，有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n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个结点的路常记作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P</a:t>
            </a:r>
            <a:r>
              <a:rPr kumimoji="1" lang="en-US" altLang="zh-CN" sz="2400" b="1" baseline="-300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n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。</a:t>
            </a:r>
            <a:r>
              <a:rPr kumimoji="1" lang="zh-CN" altLang="en-US" sz="2400" b="1" dirty="0">
                <a:solidFill>
                  <a:srgbClr val="99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 </a:t>
            </a:r>
          </a:p>
          <a:p>
            <a:pPr marL="324000" lvl="0" indent="45720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6600FF"/>
              </a:buClr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如果回路上除了开始结点与结束结点没有相同的结点，则称之为</a:t>
            </a:r>
            <a:r>
              <a:rPr kumimoji="1" lang="zh-CN" altLang="en-US" sz="2400" b="1" dirty="0">
                <a:solidFill>
                  <a:srgbClr val="3B3BFF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基本回路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(Basic Circuit)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或者</a:t>
            </a:r>
            <a:r>
              <a:rPr kumimoji="1" lang="zh-CN" altLang="en-US" sz="2400" b="1" dirty="0">
                <a:solidFill>
                  <a:srgbClr val="3B3BFF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初级回路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、</a:t>
            </a:r>
            <a:r>
              <a:rPr kumimoji="1" lang="zh-CN" altLang="en-US" sz="2400" b="1" dirty="0">
                <a:solidFill>
                  <a:srgbClr val="3B3BFF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圈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、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环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(Cycle)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26908204"/>
      </p:ext>
    </p:extLst>
  </p:cSld>
  <p:clrMapOvr>
    <a:masterClrMapping/>
  </p:clrMapOvr>
  <p:transition spd="slow" advTm="0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908850-8E7E-47B6-AFFB-3CC3E7226980}"/>
              </a:ext>
            </a:extLst>
          </p:cNvPr>
          <p:cNvSpPr/>
          <p:nvPr/>
        </p:nvSpPr>
        <p:spPr>
          <a:xfrm>
            <a:off x="1717457" y="1143481"/>
            <a:ext cx="8696587" cy="5119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-342900" algn="just" fontAlgn="base">
              <a:lnSpc>
                <a:spcPct val="120000"/>
              </a:lnSpc>
              <a:spcAft>
                <a:spcPct val="0"/>
              </a:spcAft>
              <a:buClr>
                <a:srgbClr val="6600FF"/>
              </a:buClr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通路遍历过的边的数目为通路的</a:t>
            </a:r>
            <a:r>
              <a:rPr kumimoji="1" lang="zh-CN" altLang="en-US" sz="2400" b="1" dirty="0">
                <a:solidFill>
                  <a:srgbClr val="3B3BFF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长度</a:t>
            </a:r>
            <a:r>
              <a:rPr kumimoji="1" lang="en-US" altLang="zh-CN" sz="2400" b="1" dirty="0">
                <a:solidFill>
                  <a:srgbClr val="3B3BFF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(Length)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，如果通路长度为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0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，则称之为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平凡通路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Trivial Walk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）。两结点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u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，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v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间的路可能不只一条，将其中的最短的路称为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u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，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v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间的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距离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。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宋体"/>
              <a:cs typeface="Times New Roman" panose="02020603050405020304" pitchFamily="18" charset="0"/>
            </a:endParaRPr>
          </a:p>
          <a:p>
            <a:pPr lvl="0" indent="-342900" algn="just" fontAlgn="base">
              <a:lnSpc>
                <a:spcPct val="120000"/>
              </a:lnSpc>
              <a:spcAft>
                <a:spcPct val="0"/>
              </a:spcAft>
              <a:buClr>
                <a:srgbClr val="6600FF"/>
              </a:buClr>
            </a:pP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宋体"/>
              <a:cs typeface="Times New Roman" panose="02020603050405020304" pitchFamily="18" charset="0"/>
            </a:endParaRPr>
          </a:p>
          <a:p>
            <a:pPr lvl="0" indent="-342900" algn="just" fontAlgn="base">
              <a:lnSpc>
                <a:spcPct val="150000"/>
              </a:lnSpc>
              <a:spcAft>
                <a:spcPct val="0"/>
              </a:spcAft>
              <a:buClr>
                <a:srgbClr val="6600FF"/>
              </a:buClr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如果一条通路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W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上有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k+1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个结点，即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W: u=v</a:t>
            </a:r>
            <a:r>
              <a:rPr kumimoji="1" lang="en-US" altLang="zh-CN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0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,v</a:t>
            </a:r>
            <a:r>
              <a:rPr kumimoji="1" lang="en-US" altLang="zh-CN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,v</a:t>
            </a:r>
            <a:r>
              <a:rPr kumimoji="1" lang="en-US" altLang="zh-CN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,…,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v</a:t>
            </a:r>
            <a:r>
              <a:rPr kumimoji="1" lang="en-US" altLang="zh-CN" sz="2400" b="1" baseline="-300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k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=v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，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k</a:t>
            </a:r>
            <a:r>
              <a:rPr kumimoji="1" lang="es-ES_tradnl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≥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0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。则由于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W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上的边是由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W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上相邻结点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(v</a:t>
            </a:r>
            <a:r>
              <a:rPr kumimoji="1" lang="en-US" altLang="zh-CN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,v</a:t>
            </a:r>
            <a:r>
              <a:rPr kumimoji="1" lang="en-US" altLang="zh-CN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i+1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) (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=0,1,…,k-1)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构成，因此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W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上有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k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条边，即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W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的长度为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k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。如果一条环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C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上有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k+1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个结点，即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C: v</a:t>
            </a:r>
            <a:r>
              <a:rPr kumimoji="1" lang="en-US" altLang="zh-CN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0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,v</a:t>
            </a:r>
            <a:r>
              <a:rPr kumimoji="1" lang="en-US" altLang="zh-CN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,v</a:t>
            </a:r>
            <a:r>
              <a:rPr kumimoji="1" lang="en-US" altLang="zh-CN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,…,v</a:t>
            </a:r>
            <a:r>
              <a:rPr kumimoji="1" lang="en-US" altLang="zh-CN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k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v</a:t>
            </a:r>
            <a:r>
              <a:rPr kumimoji="1" lang="en-US" altLang="zh-CN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0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，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k</a:t>
            </a:r>
            <a:r>
              <a:rPr kumimoji="1" lang="es-ES_tradnl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≥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0.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则由于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C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上的边是由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C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上相邻结点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(v</a:t>
            </a:r>
            <a:r>
              <a:rPr kumimoji="1" lang="en-US" altLang="zh-CN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,v</a:t>
            </a:r>
            <a:r>
              <a:rPr kumimoji="1" lang="en-US" altLang="zh-CN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i+1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)(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=0,1,…,k-1)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以及（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v</a:t>
            </a:r>
            <a:r>
              <a:rPr kumimoji="1" lang="en-US" altLang="zh-CN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k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,v</a:t>
            </a:r>
            <a:r>
              <a:rPr kumimoji="1" lang="en-US" altLang="zh-CN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0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）构成，因此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C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上有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k+1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条边，即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C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的长度为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k+1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。</a:t>
            </a:r>
            <a:endParaRPr kumimoji="1" lang="zh-CN" altLang="en-US" sz="2400" b="1" dirty="0">
              <a:solidFill>
                <a:srgbClr val="990000"/>
              </a:solidFill>
              <a:latin typeface="Times New Roman" panose="02020603050405020304" pitchFamily="18" charset="0"/>
              <a:ea typeface="宋体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077886"/>
      </p:ext>
    </p:extLst>
  </p:cSld>
  <p:clrMapOvr>
    <a:masterClrMapping/>
  </p:clrMapOvr>
  <p:transition spd="slow" advTm="0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11C623F-F676-4D6C-838F-C50168CDB5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2318" y="738188"/>
            <a:ext cx="7489825" cy="604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Symbol" panose="05050102010706020507" pitchFamily="18" charset="2"/>
              <a:defRPr kumimoji="1" sz="2800" b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sz="24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2pPr>
            <a:lvl3pPr marL="11430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sz="20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3pPr>
            <a:lvl4pPr marL="16002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4pPr>
            <a:lvl5pPr marL="20574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如果图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上存在一条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u-v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通路，则必然存在一条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u-v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路；如果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上存在一条闭通路，则必然存在一条回路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环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     这是因为，如果通路上存在相同的结点</a:t>
            </a:r>
            <a:r>
              <a:rPr lang="en-US" altLang="zh-CN" sz="2400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2400" baseline="-30000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,v</a:t>
            </a:r>
            <a:r>
              <a:rPr lang="en-US" altLang="zh-CN" sz="2400" baseline="-30000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，则可将</a:t>
            </a:r>
            <a:r>
              <a:rPr lang="en-US" altLang="zh-CN" sz="2400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2400" baseline="-30000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,v</a:t>
            </a:r>
            <a:r>
              <a:rPr lang="en-US" altLang="zh-CN" sz="2400" baseline="-30000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之间的一段通路删除，并合并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2400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2400" baseline="-30000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为一个结点，从而得到一条更短的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u-v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通路。如果所得到的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u-v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通路上还存在相同的结点，则可以依此继续执行删除操作，最终一定可以得到一条没有相同结点的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u-v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通路，也就是一条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u-v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路。类似地，如果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上存在一条闭通路，则必然存在一条回路（环）。</a:t>
            </a:r>
            <a:r>
              <a:rPr lang="zh-CN" altLang="en-US" dirty="0">
                <a:solidFill>
                  <a:srgbClr val="99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8080186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0192AF26-060C-40A7-94F7-3D55DD1A35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890536"/>
            <a:ext cx="5545137" cy="5761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Symbol" panose="05050102010706020507" pitchFamily="18" charset="2"/>
              <a:defRPr kumimoji="1" sz="2800" b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sz="24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2pPr>
            <a:lvl3pPr marL="11430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sz="20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3pPr>
            <a:lvl4pPr marL="16002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4pPr>
            <a:lvl5pPr marL="20574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3400" indent="-533400">
              <a:lnSpc>
                <a:spcPct val="110000"/>
              </a:lnSpc>
            </a:pPr>
            <a:endParaRPr lang="zh-CN" altLang="en-US" sz="1000" dirty="0">
              <a:solidFill>
                <a:srgbClr val="99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33400" indent="-533400" algn="just">
              <a:lnSpc>
                <a:spcPct val="110000"/>
              </a:lnSpc>
            </a:pP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在右图中，</a:t>
            </a:r>
          </a:p>
          <a:p>
            <a:pPr marL="533400" indent="-533400" algn="just">
              <a:lnSpc>
                <a:spcPct val="11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1) 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找出一条包含图所有结点的通道；</a:t>
            </a:r>
          </a:p>
          <a:p>
            <a:pPr marL="533400" indent="-533400" algn="just">
              <a:lnSpc>
                <a:spcPct val="11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2) 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找出一条包含图所有结点的迹； </a:t>
            </a:r>
          </a:p>
          <a:p>
            <a:pPr marL="533400" indent="-533400" algn="just">
              <a:lnSpc>
                <a:spcPct val="11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3) 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找出所有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a-d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路，并求出其长度；</a:t>
            </a:r>
          </a:p>
          <a:p>
            <a:pPr marL="533400" indent="-533400" algn="just">
              <a:lnSpc>
                <a:spcPct val="11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4) 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找出图中所有的环。</a:t>
            </a:r>
          </a:p>
          <a:p>
            <a:pPr marL="533400" indent="-533400" algn="just">
              <a:lnSpc>
                <a:spcPct val="110000"/>
              </a:lnSpc>
            </a:pP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1) 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包含图所有结点的不是迹的通道：</a:t>
            </a:r>
            <a:r>
              <a:rPr lang="en-US" altLang="zh-CN" sz="2400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aebcaebd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533400" indent="-533400" algn="just">
              <a:lnSpc>
                <a:spcPct val="11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2) 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包含所有结点的迹：</a:t>
            </a:r>
            <a:r>
              <a:rPr lang="en-US" altLang="zh-CN" sz="2400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beacbd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533400" indent="-533400">
              <a:lnSpc>
                <a:spcPct val="11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</a:rPr>
              <a:t>3) a-d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路：</a:t>
            </a:r>
            <a:r>
              <a:rPr lang="en-US" altLang="zh-CN" sz="2400" dirty="0" err="1">
                <a:solidFill>
                  <a:srgbClr val="000000"/>
                </a:solidFill>
                <a:latin typeface="宋体" panose="02010600030101010101" pitchFamily="2" charset="-122"/>
              </a:rPr>
              <a:t>aebd,acbd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长度均为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。</a:t>
            </a:r>
            <a:endParaRPr lang="zh-CN" altLang="en-US" sz="24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33400" indent="-533400">
              <a:lnSpc>
                <a:spcPct val="11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4) 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环：</a:t>
            </a:r>
            <a:r>
              <a:rPr lang="en-US" altLang="zh-CN" sz="2400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acbea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，长度为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400" dirty="0">
              <a:solidFill>
                <a:srgbClr val="99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5" name="Group 4">
            <a:extLst>
              <a:ext uri="{FF2B5EF4-FFF2-40B4-BE49-F238E27FC236}">
                <a16:creationId xmlns:a16="http://schemas.microsoft.com/office/drawing/2014/main" id="{5A919756-A24E-4715-9FE3-D43DC3B2D5A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192861" y="1455738"/>
            <a:ext cx="2808287" cy="2447925"/>
            <a:chOff x="5443" y="1829"/>
            <a:chExt cx="3060" cy="2496"/>
          </a:xfrm>
        </p:grpSpPr>
        <p:sp>
          <p:nvSpPr>
            <p:cNvPr id="26" name="AutoShape 5">
              <a:extLst>
                <a:ext uri="{FF2B5EF4-FFF2-40B4-BE49-F238E27FC236}">
                  <a16:creationId xmlns:a16="http://schemas.microsoft.com/office/drawing/2014/main" id="{4C60BA09-0672-4E59-BA2E-365BA250D2B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443" y="1829"/>
              <a:ext cx="3060" cy="2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Oval 6">
              <a:extLst>
                <a:ext uri="{FF2B5EF4-FFF2-40B4-BE49-F238E27FC236}">
                  <a16:creationId xmlns:a16="http://schemas.microsoft.com/office/drawing/2014/main" id="{46A1DE1B-19C6-47E3-A98F-FF0C2DB631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9" y="2274"/>
              <a:ext cx="91" cy="9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Oval 7">
              <a:extLst>
                <a:ext uri="{FF2B5EF4-FFF2-40B4-BE49-F238E27FC236}">
                  <a16:creationId xmlns:a16="http://schemas.microsoft.com/office/drawing/2014/main" id="{9FBAADA1-B623-466B-8AB8-5A87227F15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51" y="2758"/>
              <a:ext cx="91" cy="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Oval 8">
              <a:extLst>
                <a:ext uri="{FF2B5EF4-FFF2-40B4-BE49-F238E27FC236}">
                  <a16:creationId xmlns:a16="http://schemas.microsoft.com/office/drawing/2014/main" id="{365D0702-FA1B-4EB9-B9B8-5C28F42463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5" y="2842"/>
              <a:ext cx="91" cy="9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9">
              <a:extLst>
                <a:ext uri="{FF2B5EF4-FFF2-40B4-BE49-F238E27FC236}">
                  <a16:creationId xmlns:a16="http://schemas.microsoft.com/office/drawing/2014/main" id="{B1F53FC2-E0E6-4DDB-A25B-0DCD7EB4B7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66" y="2367"/>
              <a:ext cx="663" cy="4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10">
              <a:extLst>
                <a:ext uri="{FF2B5EF4-FFF2-40B4-BE49-F238E27FC236}">
                  <a16:creationId xmlns:a16="http://schemas.microsoft.com/office/drawing/2014/main" id="{3F8FD2F4-A2BB-4B73-9601-64571CF697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02" y="2806"/>
              <a:ext cx="1513" cy="9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11">
              <a:extLst>
                <a:ext uri="{FF2B5EF4-FFF2-40B4-BE49-F238E27FC236}">
                  <a16:creationId xmlns:a16="http://schemas.microsoft.com/office/drawing/2014/main" id="{C939A979-8BBC-4222-A3D6-26A274C052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46" y="2836"/>
              <a:ext cx="1282" cy="8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12">
              <a:extLst>
                <a:ext uri="{FF2B5EF4-FFF2-40B4-BE49-F238E27FC236}">
                  <a16:creationId xmlns:a16="http://schemas.microsoft.com/office/drawing/2014/main" id="{B66EE797-CF6B-45C0-A0E8-291ED5ED33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51" y="2313"/>
              <a:ext cx="478" cy="13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Oval 13">
              <a:extLst>
                <a:ext uri="{FF2B5EF4-FFF2-40B4-BE49-F238E27FC236}">
                  <a16:creationId xmlns:a16="http://schemas.microsoft.com/office/drawing/2014/main" id="{F2CF25A0-C90E-4BA9-8EA1-1FD34F0EBB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31" y="3631"/>
              <a:ext cx="91" cy="9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Line 14">
              <a:extLst>
                <a:ext uri="{FF2B5EF4-FFF2-40B4-BE49-F238E27FC236}">
                  <a16:creationId xmlns:a16="http://schemas.microsoft.com/office/drawing/2014/main" id="{B543C308-CA62-47D5-9F16-C2B9A905C6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595" y="2453"/>
              <a:ext cx="953" cy="11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36" name="Oval 15">
              <a:extLst>
                <a:ext uri="{FF2B5EF4-FFF2-40B4-BE49-F238E27FC236}">
                  <a16:creationId xmlns:a16="http://schemas.microsoft.com/office/drawing/2014/main" id="{51C0C2DB-8597-4EE4-A878-1EAC3C52BF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12" y="2406"/>
              <a:ext cx="91" cy="9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Text Box 16">
              <a:extLst>
                <a:ext uri="{FF2B5EF4-FFF2-40B4-BE49-F238E27FC236}">
                  <a16:creationId xmlns:a16="http://schemas.microsoft.com/office/drawing/2014/main" id="{5C3B323A-5482-40BC-A2FC-C86F2B6791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83" y="2765"/>
              <a:ext cx="180" cy="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E4A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eaLnBrk="1" hangingPunct="1"/>
              <a:r>
                <a:rPr kumimoji="1" lang="en-US" altLang="zh-CN" sz="2000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a</a:t>
              </a:r>
            </a:p>
            <a:p>
              <a:pPr algn="l" eaLnBrk="1" hangingPunct="1"/>
              <a:endParaRPr kumimoji="1" lang="en-US" altLang="zh-CN" sz="2800" b="0">
                <a:solidFill>
                  <a:schemeClr val="tx1"/>
                </a:solidFill>
              </a:endParaRPr>
            </a:p>
          </p:txBody>
        </p:sp>
        <p:sp>
          <p:nvSpPr>
            <p:cNvPr id="38" name="Text Box 17">
              <a:extLst>
                <a:ext uri="{FF2B5EF4-FFF2-40B4-BE49-F238E27FC236}">
                  <a16:creationId xmlns:a16="http://schemas.microsoft.com/office/drawing/2014/main" id="{86C5B11C-3EE2-4A05-B77F-932BD46071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43" y="3545"/>
              <a:ext cx="180" cy="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E4A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eaLnBrk="1" hangingPunct="1"/>
              <a:r>
                <a:rPr kumimoji="1" lang="en-US" altLang="zh-CN" sz="2000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b</a:t>
              </a:r>
            </a:p>
            <a:p>
              <a:pPr eaLnBrk="1" hangingPunct="1"/>
              <a:endParaRPr kumimoji="1"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endParaRPr>
            </a:p>
          </p:txBody>
        </p:sp>
        <p:sp>
          <p:nvSpPr>
            <p:cNvPr id="39" name="Text Box 18">
              <a:extLst>
                <a:ext uri="{FF2B5EF4-FFF2-40B4-BE49-F238E27FC236}">
                  <a16:creationId xmlns:a16="http://schemas.microsoft.com/office/drawing/2014/main" id="{97B429FF-1B09-4F87-8A8F-34556C5339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3" y="1985"/>
              <a:ext cx="180" cy="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E4A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eaLnBrk="1" hangingPunct="1"/>
              <a:r>
                <a:rPr kumimoji="1" lang="en-US" altLang="zh-CN" sz="2000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e</a:t>
              </a:r>
            </a:p>
            <a:p>
              <a:pPr algn="l" eaLnBrk="1" hangingPunct="1"/>
              <a:endParaRPr kumimoji="1" lang="en-US" altLang="zh-CN" sz="2000">
                <a:solidFill>
                  <a:schemeClr val="tx1"/>
                </a:solidFill>
              </a:endParaRPr>
            </a:p>
          </p:txBody>
        </p:sp>
        <p:sp>
          <p:nvSpPr>
            <p:cNvPr id="40" name="Text Box 19">
              <a:extLst>
                <a:ext uri="{FF2B5EF4-FFF2-40B4-BE49-F238E27FC236}">
                  <a16:creationId xmlns:a16="http://schemas.microsoft.com/office/drawing/2014/main" id="{00053506-E6B0-4931-8C23-A5113C30DF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03" y="2141"/>
              <a:ext cx="180" cy="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E4A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eaLnBrk="1" hangingPunct="1"/>
              <a:r>
                <a:rPr kumimoji="1" lang="en-US" altLang="zh-CN" sz="2000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d</a:t>
              </a:r>
            </a:p>
            <a:p>
              <a:pPr eaLnBrk="1" hangingPunct="1"/>
              <a:endParaRPr kumimoji="1"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endParaRPr>
            </a:p>
          </p:txBody>
        </p:sp>
        <p:sp>
          <p:nvSpPr>
            <p:cNvPr id="41" name="Text Box 20">
              <a:extLst>
                <a:ext uri="{FF2B5EF4-FFF2-40B4-BE49-F238E27FC236}">
                  <a16:creationId xmlns:a16="http://schemas.microsoft.com/office/drawing/2014/main" id="{F7C5F01A-CCBF-46D7-A60B-06B45866D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3" y="2609"/>
              <a:ext cx="180" cy="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E4A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eaLnBrk="1" hangingPunct="1"/>
              <a:r>
                <a:rPr kumimoji="1" lang="en-US" altLang="zh-CN" sz="2000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c</a:t>
              </a:r>
            </a:p>
            <a:p>
              <a:pPr eaLnBrk="1" hangingPunct="1"/>
              <a:endParaRPr kumimoji="1"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99315629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3E13364-B62B-490B-87F1-3DB5BE3A5E21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2039976" y="941647"/>
            <a:ext cx="8112047" cy="410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Symbol" panose="05050102010706020507" pitchFamily="18" charset="2"/>
              <a:defRPr kumimoji="1" sz="2800" b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sz="24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2pPr>
            <a:lvl3pPr marL="11430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sz="20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3pPr>
            <a:lvl4pPr marL="16002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4pPr>
            <a:lvl5pPr marL="20574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每个结点的度数至少为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的图必包含一个回路。</a:t>
            </a:r>
          </a:p>
          <a:p>
            <a:pPr algn="just">
              <a:lnSpc>
                <a:spcPct val="100000"/>
              </a:lnSpc>
            </a:pP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证明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设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是图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zh-CN" altLang="en-US" sz="2400" dirty="0">
                <a:solidFill>
                  <a:srgbClr val="99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最长路径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中的一条，并设其长度为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m, P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的一个端点为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algn="just">
              <a:lnSpc>
                <a:spcPct val="10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 考察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中与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关联的边，由于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中每个结点的度至少为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，故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必关联一条不在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上的边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，从而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的另一个端点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必然在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上，否则，将这个结点加入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上，则可以得到更长的路。于是，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上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的的路与边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构成回路。</a:t>
            </a:r>
            <a:r>
              <a:rPr lang="zh-CN" altLang="en-US" sz="3200" dirty="0">
                <a:solidFill>
                  <a:srgbClr val="99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B0E96879-0E84-453A-9851-34F93E1E4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0837" y="5643028"/>
            <a:ext cx="219075" cy="341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E4A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eaLnBrk="1" hangingPunct="1"/>
            <a:r>
              <a:rPr kumimoji="1"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u</a:t>
            </a:r>
          </a:p>
          <a:p>
            <a:pPr algn="l" eaLnBrk="1" hangingPunct="1"/>
            <a:endParaRPr kumimoji="1" lang="en-US" altLang="zh-CN" sz="2800" b="0">
              <a:solidFill>
                <a:schemeClr val="tx1"/>
              </a:solidFill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415CFF15-4120-494E-803D-752FB52D81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1049" y="5646203"/>
            <a:ext cx="219075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E4A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eaLnBrk="1" hangingPunct="1"/>
            <a:r>
              <a:rPr kumimoji="1"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v</a:t>
            </a:r>
          </a:p>
          <a:p>
            <a:pPr eaLnBrk="1" hangingPunct="1"/>
            <a:endParaRPr kumimoji="1" lang="en-US" altLang="zh-CN" sz="2000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9" name="Line 7">
            <a:extLst>
              <a:ext uri="{FF2B5EF4-FFF2-40B4-BE49-F238E27FC236}">
                <a16:creationId xmlns:a16="http://schemas.microsoft.com/office/drawing/2014/main" id="{C0469362-9BE1-4680-AC2F-05147391766F}"/>
              </a:ext>
            </a:extLst>
          </p:cNvPr>
          <p:cNvSpPr>
            <a:spLocks noChangeShapeType="1"/>
          </p:cNvSpPr>
          <p:nvPr/>
        </p:nvSpPr>
        <p:spPr bwMode="auto">
          <a:xfrm>
            <a:off x="3400712" y="5503328"/>
            <a:ext cx="4824412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Oval 8">
            <a:extLst>
              <a:ext uri="{FF2B5EF4-FFF2-40B4-BE49-F238E27FC236}">
                <a16:creationId xmlns:a16="http://schemas.microsoft.com/office/drawing/2014/main" id="{091B3C91-C4DA-43EF-87DB-1F9368BBC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2449" y="5457290"/>
            <a:ext cx="111125" cy="100013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5147E7BE-D6AF-4834-9B74-D82560ABB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9349" y="5450940"/>
            <a:ext cx="109538" cy="100013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Oval 10">
            <a:extLst>
              <a:ext uri="{FF2B5EF4-FFF2-40B4-BE49-F238E27FC236}">
                <a16:creationId xmlns:a16="http://schemas.microsoft.com/office/drawing/2014/main" id="{1945C497-E7A2-4C79-86DD-469CA8643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0062" y="5439828"/>
            <a:ext cx="111125" cy="100012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Oval 11">
            <a:extLst>
              <a:ext uri="{FF2B5EF4-FFF2-40B4-BE49-F238E27FC236}">
                <a16:creationId xmlns:a16="http://schemas.microsoft.com/office/drawing/2014/main" id="{69E4881A-CF7D-402A-B441-6F5E655CC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7662" y="5455703"/>
            <a:ext cx="111125" cy="100012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Oval 12">
            <a:extLst>
              <a:ext uri="{FF2B5EF4-FFF2-40B4-BE49-F238E27FC236}">
                <a16:creationId xmlns:a16="http://schemas.microsoft.com/office/drawing/2014/main" id="{FE37DE80-8F88-443A-941A-64444B0D4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5537" y="5455703"/>
            <a:ext cx="111125" cy="100012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Oval 13">
            <a:extLst>
              <a:ext uri="{FF2B5EF4-FFF2-40B4-BE49-F238E27FC236}">
                <a16:creationId xmlns:a16="http://schemas.microsoft.com/office/drawing/2014/main" id="{82244941-D1B0-4BC2-97BA-381E4B713B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487" y="5466815"/>
            <a:ext cx="111125" cy="100013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Text Box 14">
            <a:extLst>
              <a:ext uri="{FF2B5EF4-FFF2-40B4-BE49-F238E27FC236}">
                <a16:creationId xmlns:a16="http://schemas.microsoft.com/office/drawing/2014/main" id="{7F14BB8B-5056-47AF-B38E-0F93C54FE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9524" y="5163603"/>
            <a:ext cx="438150" cy="68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 eaLnBrk="1" hangingPunct="1"/>
            <a:endParaRPr kumimoji="1" lang="zh-CN" altLang="zh-CN" sz="2800" b="0">
              <a:solidFill>
                <a:schemeClr val="tx1"/>
              </a:solidFill>
            </a:endParaRPr>
          </a:p>
        </p:txBody>
      </p:sp>
      <p:sp>
        <p:nvSpPr>
          <p:cNvPr id="17" name="Line 15">
            <a:extLst>
              <a:ext uri="{FF2B5EF4-FFF2-40B4-BE49-F238E27FC236}">
                <a16:creationId xmlns:a16="http://schemas.microsoft.com/office/drawing/2014/main" id="{178F8E1B-2843-4963-9375-6F5B4F4A1283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9524" y="5503328"/>
            <a:ext cx="438150" cy="1587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Oval 16">
            <a:extLst>
              <a:ext uri="{FF2B5EF4-FFF2-40B4-BE49-F238E27FC236}">
                <a16:creationId xmlns:a16="http://schemas.microsoft.com/office/drawing/2014/main" id="{2574D9F0-1EC5-4D2E-81D8-89331D090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3599" y="5450940"/>
            <a:ext cx="111125" cy="100013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Oval 17">
            <a:extLst>
              <a:ext uri="{FF2B5EF4-FFF2-40B4-BE49-F238E27FC236}">
                <a16:creationId xmlns:a16="http://schemas.microsoft.com/office/drawing/2014/main" id="{AE2B076B-E262-48E7-9A06-3117352F2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0974" y="5439828"/>
            <a:ext cx="111125" cy="100012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Text Box 18">
            <a:extLst>
              <a:ext uri="{FF2B5EF4-FFF2-40B4-BE49-F238E27FC236}">
                <a16:creationId xmlns:a16="http://schemas.microsoft.com/office/drawing/2014/main" id="{89CD5207-E4A3-48EE-BCDF-5CCFE8693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8770" y="5131853"/>
            <a:ext cx="438150" cy="102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 eaLnBrk="1" hangingPunct="1"/>
            <a:endParaRPr kumimoji="1" lang="zh-CN" altLang="zh-CN" sz="2800" b="0">
              <a:solidFill>
                <a:schemeClr val="tx1"/>
              </a:solidFill>
            </a:endParaRPr>
          </a:p>
        </p:txBody>
      </p:sp>
      <p:sp>
        <p:nvSpPr>
          <p:cNvPr id="21" name="Line 19">
            <a:extLst>
              <a:ext uri="{FF2B5EF4-FFF2-40B4-BE49-F238E27FC236}">
                <a16:creationId xmlns:a16="http://schemas.microsoft.com/office/drawing/2014/main" id="{E31A9D73-C571-4644-B48D-0D1A0BA5AE11}"/>
              </a:ext>
            </a:extLst>
          </p:cNvPr>
          <p:cNvSpPr>
            <a:spLocks noChangeShapeType="1"/>
          </p:cNvSpPr>
          <p:nvPr/>
        </p:nvSpPr>
        <p:spPr bwMode="auto">
          <a:xfrm>
            <a:off x="6278849" y="5503328"/>
            <a:ext cx="439738" cy="1587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C3497EFD-7719-4311-8B02-DAD42A685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7974" y="5443003"/>
            <a:ext cx="111125" cy="100012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Oval 21">
            <a:extLst>
              <a:ext uri="{FF2B5EF4-FFF2-40B4-BE49-F238E27FC236}">
                <a16:creationId xmlns:a16="http://schemas.microsoft.com/office/drawing/2014/main" id="{0780EA07-F9DD-488F-8AA9-4C6033ACF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812" y="5455703"/>
            <a:ext cx="111125" cy="100012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Freeform 22">
            <a:extLst>
              <a:ext uri="{FF2B5EF4-FFF2-40B4-BE49-F238E27FC236}">
                <a16:creationId xmlns:a16="http://schemas.microsoft.com/office/drawing/2014/main" id="{C210E6FA-2405-4FC3-9BB7-65F8D22E73AB}"/>
              </a:ext>
            </a:extLst>
          </p:cNvPr>
          <p:cNvSpPr>
            <a:spLocks/>
          </p:cNvSpPr>
          <p:nvPr/>
        </p:nvSpPr>
        <p:spPr bwMode="auto">
          <a:xfrm>
            <a:off x="6269324" y="4620678"/>
            <a:ext cx="1973263" cy="852487"/>
          </a:xfrm>
          <a:custGeom>
            <a:avLst/>
            <a:gdLst>
              <a:gd name="T0" fmla="*/ 1620 w 1620"/>
              <a:gd name="T1" fmla="*/ 780 h 780"/>
              <a:gd name="T2" fmla="*/ 720 w 1620"/>
              <a:gd name="T3" fmla="*/ 0 h 780"/>
              <a:gd name="T4" fmla="*/ 0 w 1620"/>
              <a:gd name="T5" fmla="*/ 780 h 7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620" h="780">
                <a:moveTo>
                  <a:pt x="1620" y="780"/>
                </a:moveTo>
                <a:cubicBezTo>
                  <a:pt x="1305" y="390"/>
                  <a:pt x="990" y="0"/>
                  <a:pt x="720" y="0"/>
                </a:cubicBezTo>
                <a:cubicBezTo>
                  <a:pt x="450" y="0"/>
                  <a:pt x="225" y="390"/>
                  <a:pt x="0" y="78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Text Box 23">
            <a:extLst>
              <a:ext uri="{FF2B5EF4-FFF2-40B4-BE49-F238E27FC236}">
                <a16:creationId xmlns:a16="http://schemas.microsoft.com/office/drawing/2014/main" id="{390BCBC2-396B-4E80-911B-4440046B9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2449" y="5098515"/>
            <a:ext cx="220663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E4A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eaLnBrk="1" hangingPunct="1"/>
            <a:r>
              <a:rPr kumimoji="1"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148326858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6" grpId="0"/>
      <p:bldP spid="20" grpId="0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grpSp>
        <p:nvGrpSpPr>
          <p:cNvPr id="5" name="Group 36">
            <a:extLst>
              <a:ext uri="{FF2B5EF4-FFF2-40B4-BE49-F238E27FC236}">
                <a16:creationId xmlns:a16="http://schemas.microsoft.com/office/drawing/2014/main" id="{4430DB96-C55E-47D5-9ED7-20AAD27DFCAE}"/>
              </a:ext>
            </a:extLst>
          </p:cNvPr>
          <p:cNvGrpSpPr>
            <a:grpSpLocks/>
          </p:cNvGrpSpPr>
          <p:nvPr/>
        </p:nvGrpSpPr>
        <p:grpSpPr bwMode="auto">
          <a:xfrm>
            <a:off x="3122204" y="2103437"/>
            <a:ext cx="5614988" cy="2651125"/>
            <a:chOff x="568" y="1665"/>
            <a:chExt cx="3537" cy="1670"/>
          </a:xfrm>
        </p:grpSpPr>
        <p:sp>
          <p:nvSpPr>
            <p:cNvPr id="7" name="Line 25">
              <a:extLst>
                <a:ext uri="{FF2B5EF4-FFF2-40B4-BE49-F238E27FC236}">
                  <a16:creationId xmlns:a16="http://schemas.microsoft.com/office/drawing/2014/main" id="{A05ACCC4-E6BC-4362-BBC2-060A6655C37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064" y="1988"/>
              <a:ext cx="0" cy="10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" name="Line 26">
              <a:extLst>
                <a:ext uri="{FF2B5EF4-FFF2-40B4-BE49-F238E27FC236}">
                  <a16:creationId xmlns:a16="http://schemas.microsoft.com/office/drawing/2014/main" id="{13124F8D-D552-4480-9BCB-D91D0BDA6B6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05" y="1979"/>
              <a:ext cx="1458" cy="111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9" name="Text Box 5">
              <a:extLst>
                <a:ext uri="{FF2B5EF4-FFF2-40B4-BE49-F238E27FC236}">
                  <a16:creationId xmlns:a16="http://schemas.microsoft.com/office/drawing/2014/main" id="{37B8E580-C6FF-43A8-BCFE-E5595DC97A4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68" y="2341"/>
              <a:ext cx="2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sz="2400" b="1"/>
                <a:t>v</a:t>
              </a:r>
              <a:r>
                <a:rPr lang="en-US" altLang="zh-CN" sz="2400" b="1" baseline="-25000"/>
                <a:t>1</a:t>
              </a:r>
              <a:endParaRPr lang="en-US" altLang="zh-CN" sz="2400" b="1"/>
            </a:p>
          </p:txBody>
        </p:sp>
        <p:sp>
          <p:nvSpPr>
            <p:cNvPr id="10" name="Oval 6">
              <a:extLst>
                <a:ext uri="{FF2B5EF4-FFF2-40B4-BE49-F238E27FC236}">
                  <a16:creationId xmlns:a16="http://schemas.microsoft.com/office/drawing/2014/main" id="{4754E962-EC3B-4851-83B3-4B9F2522438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07" y="2498"/>
              <a:ext cx="68" cy="6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69639C06-55DA-482D-9786-274C1694CCA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73" y="2558"/>
              <a:ext cx="681" cy="54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C82CDE50-2F71-4C55-8C18-35BBC6C4A82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864" y="1971"/>
              <a:ext cx="681" cy="54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75B23198-417D-424D-A62D-0DC202E18F1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097" y="1979"/>
              <a:ext cx="681" cy="54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27A4EE9C-3BDD-44D1-AB57-81D3CAC9725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093" y="2540"/>
              <a:ext cx="680" cy="54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5" name="Oval 12">
              <a:extLst>
                <a:ext uri="{FF2B5EF4-FFF2-40B4-BE49-F238E27FC236}">
                  <a16:creationId xmlns:a16="http://schemas.microsoft.com/office/drawing/2014/main" id="{492653AC-FA85-4AD2-B387-FD385F8BDE9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59" y="1926"/>
              <a:ext cx="68" cy="6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Oval 13">
              <a:extLst>
                <a:ext uri="{FF2B5EF4-FFF2-40B4-BE49-F238E27FC236}">
                  <a16:creationId xmlns:a16="http://schemas.microsoft.com/office/drawing/2014/main" id="{CAE09165-7E06-4F85-9343-BC624BD90F3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59" y="3069"/>
              <a:ext cx="68" cy="6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A61710FC-B2B4-420F-AA42-3FA252F83B6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25" y="1960"/>
              <a:ext cx="142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C018B17D-9D0A-4CFC-9DB1-2C4FD3E630C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25" y="3104"/>
              <a:ext cx="142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9" name="Text Box 16">
              <a:extLst>
                <a:ext uri="{FF2B5EF4-FFF2-40B4-BE49-F238E27FC236}">
                  <a16:creationId xmlns:a16="http://schemas.microsoft.com/office/drawing/2014/main" id="{BAD7EBE8-405C-4198-BC00-19A2731DB1D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455" y="3105"/>
              <a:ext cx="2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sz="2400" b="1"/>
                <a:t>v</a:t>
              </a:r>
              <a:r>
                <a:rPr lang="en-US" altLang="zh-CN" sz="2400" b="1" baseline="-25000"/>
                <a:t>3</a:t>
              </a:r>
              <a:endParaRPr lang="en-US" altLang="zh-CN" sz="2400" b="1"/>
            </a:p>
          </p:txBody>
        </p:sp>
        <p:sp>
          <p:nvSpPr>
            <p:cNvPr id="20" name="Text Box 17">
              <a:extLst>
                <a:ext uri="{FF2B5EF4-FFF2-40B4-BE49-F238E27FC236}">
                  <a16:creationId xmlns:a16="http://schemas.microsoft.com/office/drawing/2014/main" id="{E69A5AF8-3DA8-4E2A-9480-29AAF874B14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446" y="1665"/>
              <a:ext cx="27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sz="2400" b="1"/>
                <a:t>v</a:t>
              </a:r>
              <a:r>
                <a:rPr lang="en-US" altLang="zh-CN" sz="2400" b="1" baseline="-25000"/>
                <a:t>2</a:t>
              </a:r>
              <a:endParaRPr lang="en-US" altLang="zh-CN" sz="2400" b="1"/>
            </a:p>
          </p:txBody>
        </p:sp>
        <p:sp>
          <p:nvSpPr>
            <p:cNvPr id="21" name="Text Box 18">
              <a:extLst>
                <a:ext uri="{FF2B5EF4-FFF2-40B4-BE49-F238E27FC236}">
                  <a16:creationId xmlns:a16="http://schemas.microsoft.com/office/drawing/2014/main" id="{11DF7B1E-61C8-4802-B4AC-132AD1FA0D7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63" y="2033"/>
              <a:ext cx="13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sz="2400" b="1"/>
                <a:t>1</a:t>
              </a:r>
            </a:p>
          </p:txBody>
        </p:sp>
        <p:sp>
          <p:nvSpPr>
            <p:cNvPr id="22" name="Oval 19">
              <a:extLst>
                <a:ext uri="{FF2B5EF4-FFF2-40B4-BE49-F238E27FC236}">
                  <a16:creationId xmlns:a16="http://schemas.microsoft.com/office/drawing/2014/main" id="{58B070ED-BD1E-48D3-B579-985C77086A4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29" y="1926"/>
              <a:ext cx="68" cy="6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Oval 20">
              <a:extLst>
                <a:ext uri="{FF2B5EF4-FFF2-40B4-BE49-F238E27FC236}">
                  <a16:creationId xmlns:a16="http://schemas.microsoft.com/office/drawing/2014/main" id="{D9BD1327-B0C5-4F10-8EF4-F1185CE2409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29" y="3069"/>
              <a:ext cx="68" cy="6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4" name="Text Box 21">
              <a:extLst>
                <a:ext uri="{FF2B5EF4-FFF2-40B4-BE49-F238E27FC236}">
                  <a16:creationId xmlns:a16="http://schemas.microsoft.com/office/drawing/2014/main" id="{7BC9983C-4624-4FA9-A950-370AD3B62C5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910" y="3105"/>
              <a:ext cx="27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sz="2400" b="1"/>
                <a:t>v</a:t>
              </a:r>
              <a:r>
                <a:rPr lang="en-US" altLang="zh-CN" sz="2400" b="1" baseline="-25000"/>
                <a:t>5</a:t>
              </a:r>
              <a:endParaRPr lang="en-US" altLang="zh-CN" sz="2400" b="1"/>
            </a:p>
          </p:txBody>
        </p:sp>
        <p:sp>
          <p:nvSpPr>
            <p:cNvPr id="25" name="Text Box 22">
              <a:extLst>
                <a:ext uri="{FF2B5EF4-FFF2-40B4-BE49-F238E27FC236}">
                  <a16:creationId xmlns:a16="http://schemas.microsoft.com/office/drawing/2014/main" id="{FD1620B4-6F1A-4148-A899-B923ED6B917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910" y="1665"/>
              <a:ext cx="27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sz="2400" b="1"/>
                <a:t>v</a:t>
              </a:r>
              <a:r>
                <a:rPr lang="en-US" altLang="zh-CN" sz="2400" b="1" baseline="-25000"/>
                <a:t>4</a:t>
              </a:r>
              <a:endParaRPr lang="en-US" altLang="zh-CN" sz="2400" b="1"/>
            </a:p>
          </p:txBody>
        </p:sp>
        <p:sp>
          <p:nvSpPr>
            <p:cNvPr id="26" name="Oval 23">
              <a:extLst>
                <a:ext uri="{FF2B5EF4-FFF2-40B4-BE49-F238E27FC236}">
                  <a16:creationId xmlns:a16="http://schemas.microsoft.com/office/drawing/2014/main" id="{D53DF03E-0006-48F0-9477-089A2C38157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49" y="2498"/>
              <a:ext cx="68" cy="6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7" name="Line 24">
              <a:extLst>
                <a:ext uri="{FF2B5EF4-FFF2-40B4-BE49-F238E27FC236}">
                  <a16:creationId xmlns:a16="http://schemas.microsoft.com/office/drawing/2014/main" id="{BBE21C20-01B0-4C21-A90F-365D7C959C2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91" y="1984"/>
              <a:ext cx="0" cy="10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8" name="Text Box 27">
              <a:extLst>
                <a:ext uri="{FF2B5EF4-FFF2-40B4-BE49-F238E27FC236}">
                  <a16:creationId xmlns:a16="http://schemas.microsoft.com/office/drawing/2014/main" id="{170574C9-B3BC-466D-9A2C-19A54A24986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833" y="2341"/>
              <a:ext cx="2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sz="2400" b="1"/>
                <a:t>v</a:t>
              </a:r>
              <a:r>
                <a:rPr lang="en-US" altLang="zh-CN" sz="2400" b="1" baseline="-25000"/>
                <a:t>6</a:t>
              </a:r>
              <a:endParaRPr lang="en-US" altLang="zh-CN" sz="2400" b="1"/>
            </a:p>
          </p:txBody>
        </p:sp>
        <p:sp>
          <p:nvSpPr>
            <p:cNvPr id="29" name="Text Box 28">
              <a:extLst>
                <a:ext uri="{FF2B5EF4-FFF2-40B4-BE49-F238E27FC236}">
                  <a16:creationId xmlns:a16="http://schemas.microsoft.com/office/drawing/2014/main" id="{4B8A30DE-3CFD-46F5-AEED-DB85BBFB755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260" y="3064"/>
              <a:ext cx="13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sz="2400" b="1"/>
                <a:t>1</a:t>
              </a:r>
            </a:p>
          </p:txBody>
        </p:sp>
        <p:sp>
          <p:nvSpPr>
            <p:cNvPr id="30" name="Text Box 29">
              <a:extLst>
                <a:ext uri="{FF2B5EF4-FFF2-40B4-BE49-F238E27FC236}">
                  <a16:creationId xmlns:a16="http://schemas.microsoft.com/office/drawing/2014/main" id="{80ECF9B1-A973-4A6E-9201-6974CAFF5D3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428" y="2357"/>
              <a:ext cx="13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sz="2400" b="1"/>
                <a:t>2</a:t>
              </a:r>
            </a:p>
          </p:txBody>
        </p:sp>
        <p:sp>
          <p:nvSpPr>
            <p:cNvPr id="31" name="Text Box 30">
              <a:extLst>
                <a:ext uri="{FF2B5EF4-FFF2-40B4-BE49-F238E27FC236}">
                  <a16:creationId xmlns:a16="http://schemas.microsoft.com/office/drawing/2014/main" id="{CFFEF38E-7809-4DE9-8C20-92E5E2EDF6B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451" y="2056"/>
              <a:ext cx="13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sz="2400" b="1"/>
                <a:t>2</a:t>
              </a:r>
            </a:p>
          </p:txBody>
        </p:sp>
        <p:sp>
          <p:nvSpPr>
            <p:cNvPr id="32" name="Text Box 31">
              <a:extLst>
                <a:ext uri="{FF2B5EF4-FFF2-40B4-BE49-F238E27FC236}">
                  <a16:creationId xmlns:a16="http://schemas.microsoft.com/office/drawing/2014/main" id="{3BB3E1A1-3DB1-4A54-B6F2-7EA16C244BE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63" y="2763"/>
              <a:ext cx="13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sz="2400" b="1"/>
                <a:t>4</a:t>
              </a:r>
            </a:p>
          </p:txBody>
        </p:sp>
        <p:sp>
          <p:nvSpPr>
            <p:cNvPr id="33" name="Text Box 32">
              <a:extLst>
                <a:ext uri="{FF2B5EF4-FFF2-40B4-BE49-F238E27FC236}">
                  <a16:creationId xmlns:a16="http://schemas.microsoft.com/office/drawing/2014/main" id="{4CAEA8AF-06B5-4635-956A-BB123D3BAD0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371" y="2338"/>
              <a:ext cx="13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sz="2400" b="1"/>
                <a:t>5</a:t>
              </a:r>
            </a:p>
          </p:txBody>
        </p:sp>
        <p:sp>
          <p:nvSpPr>
            <p:cNvPr id="34" name="Text Box 33">
              <a:extLst>
                <a:ext uri="{FF2B5EF4-FFF2-40B4-BE49-F238E27FC236}">
                  <a16:creationId xmlns:a16="http://schemas.microsoft.com/office/drawing/2014/main" id="{2BA9512A-E9AC-44DC-B834-DA6E7C1102C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247" y="1703"/>
              <a:ext cx="13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sz="2400" b="1"/>
                <a:t>7</a:t>
              </a:r>
            </a:p>
          </p:txBody>
        </p:sp>
        <p:sp>
          <p:nvSpPr>
            <p:cNvPr id="35" name="Text Box 34">
              <a:extLst>
                <a:ext uri="{FF2B5EF4-FFF2-40B4-BE49-F238E27FC236}">
                  <a16:creationId xmlns:a16="http://schemas.microsoft.com/office/drawing/2014/main" id="{F5EC3406-2EEF-457B-AEF9-8D83FCC6E41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077" y="2357"/>
              <a:ext cx="13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sz="2400" b="1"/>
                <a:t>3</a:t>
              </a:r>
            </a:p>
          </p:txBody>
        </p:sp>
        <p:sp>
          <p:nvSpPr>
            <p:cNvPr id="36" name="Text Box 35">
              <a:extLst>
                <a:ext uri="{FF2B5EF4-FFF2-40B4-BE49-F238E27FC236}">
                  <a16:creationId xmlns:a16="http://schemas.microsoft.com/office/drawing/2014/main" id="{84E5F1B4-2EFB-41EB-8A58-6E8C42EC023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451" y="2731"/>
              <a:ext cx="13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sz="2400" b="1"/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75531600"/>
      </p:ext>
    </p:extLst>
  </p:cSld>
  <p:clrMapOvr>
    <a:masterClrMapping/>
  </p:clrMapOvr>
  <p:transition spd="slow" advTm="0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82F3755-A32C-4EB9-A994-F2178D080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485" y="1455738"/>
            <a:ext cx="10169744" cy="3816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Symbol" panose="05050102010706020507" pitchFamily="18" charset="2"/>
              <a:defRPr kumimoji="1" sz="2800" b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sz="24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2pPr>
            <a:lvl3pPr marL="11430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sz="20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3pPr>
            <a:lvl4pPr marL="16002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4pPr>
            <a:lvl5pPr marL="20574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1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20000"/>
              </a:lnSpc>
            </a:pP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定义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如果图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中结点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有一条路径，则称结点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可达的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Accesible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）或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连通的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Connected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）。结点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到其自身也定义为连通的。</a:t>
            </a:r>
          </a:p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如果图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的任何两个结点都是相互可达的，称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连通的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Connected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并称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连通图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(Connected Graph),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否则称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en-US" sz="2400" dirty="0">
                <a:solidFill>
                  <a:srgbClr val="3B3B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非连通图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(Unconnected Graph)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zh-CN" altLang="en-US" sz="2400" dirty="0">
                <a:solidFill>
                  <a:srgbClr val="3B3B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分离图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(Separated Graph)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8265120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8875115-FAA9-4B60-B628-3B524B83BB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3568" y="860425"/>
            <a:ext cx="9002146" cy="590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Symbol" panose="05050102010706020507" pitchFamily="18" charset="2"/>
              <a:defRPr kumimoji="1" sz="2800" b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sz="24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2pPr>
            <a:lvl3pPr marL="11430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sz="20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3pPr>
            <a:lvl4pPr marL="16002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4pPr>
            <a:lvl5pPr marL="20574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若将图中两个结点间的连通性看作图的结点间的一种关系，容易判定图中两个结点间的连通性是一个</a:t>
            </a: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等价关系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</a:p>
          <a:p>
            <a:pPr marL="0" indent="0"/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因为结点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是连通的满足自反性；若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是连通的，则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也是连通的，满足对称性；若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连通，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连通，则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存在一条通路，从而存在一条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的路径，故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是连通的，满足传递性。</a:t>
            </a:r>
          </a:p>
          <a:p>
            <a:pPr marL="0" indent="0"/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但对于有向图，结点间的连通性不满足对称性。</a:t>
            </a:r>
            <a:endParaRPr lang="zh-CN" altLang="en-US" sz="3200" dirty="0">
              <a:solidFill>
                <a:srgbClr val="99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4125890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4" name="Text Box 17">
            <a:extLst>
              <a:ext uri="{FF2B5EF4-FFF2-40B4-BE49-F238E27FC236}">
                <a16:creationId xmlns:a16="http://schemas.microsoft.com/office/drawing/2014/main" id="{32839A86-428E-4FD1-BAFD-6DE30BF635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4263" y="6422014"/>
            <a:ext cx="4435475" cy="75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just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just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just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just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just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2000" b="1" i="0" u="none" strike="noStrike" kern="1200" cap="none" spc="0" normalizeH="0" baseline="0" noProof="0">
              <a:ln>
                <a:noFill/>
              </a:ln>
              <a:solidFill>
                <a:srgbClr val="EAEAEA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5" name="Group 41">
            <a:extLst>
              <a:ext uri="{FF2B5EF4-FFF2-40B4-BE49-F238E27FC236}">
                <a16:creationId xmlns:a16="http://schemas.microsoft.com/office/drawing/2014/main" id="{A799833A-07A8-4DC5-8A79-913693414EC8}"/>
              </a:ext>
            </a:extLst>
          </p:cNvPr>
          <p:cNvGrpSpPr>
            <a:grpSpLocks/>
          </p:cNvGrpSpPr>
          <p:nvPr/>
        </p:nvGrpSpPr>
        <p:grpSpPr bwMode="auto">
          <a:xfrm>
            <a:off x="7548546" y="1375343"/>
            <a:ext cx="3167053" cy="719135"/>
            <a:chOff x="3765" y="2043"/>
            <a:chExt cx="1995" cy="453"/>
          </a:xfrm>
        </p:grpSpPr>
        <p:sp>
          <p:nvSpPr>
            <p:cNvPr id="58" name="Oval 11">
              <a:extLst>
                <a:ext uri="{FF2B5EF4-FFF2-40B4-BE49-F238E27FC236}">
                  <a16:creationId xmlns:a16="http://schemas.microsoft.com/office/drawing/2014/main" id="{2F33003D-439E-4592-B5D2-0549A60F0A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9" y="2119"/>
              <a:ext cx="101" cy="9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" name="Text Box 16">
              <a:extLst>
                <a:ext uri="{FF2B5EF4-FFF2-40B4-BE49-F238E27FC236}">
                  <a16:creationId xmlns:a16="http://schemas.microsoft.com/office/drawing/2014/main" id="{180A99FA-11E0-4354-B1F4-F7D07E4AE5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5" y="2088"/>
              <a:ext cx="311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E4A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defPPr>
                <a:defRPr lang="zh-CN"/>
              </a:defPPr>
              <a:lvl1pPr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4</a:t>
              </a:r>
            </a:p>
          </p:txBody>
        </p:sp>
        <p:sp>
          <p:nvSpPr>
            <p:cNvPr id="60" name="Line 31">
              <a:extLst>
                <a:ext uri="{FF2B5EF4-FFF2-40B4-BE49-F238E27FC236}">
                  <a16:creationId xmlns:a16="http://schemas.microsoft.com/office/drawing/2014/main" id="{F22836A1-BD97-4FDD-8199-2F71A57CED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2" y="2189"/>
              <a:ext cx="139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" name="Oval 32">
              <a:extLst>
                <a:ext uri="{FF2B5EF4-FFF2-40B4-BE49-F238E27FC236}">
                  <a16:creationId xmlns:a16="http://schemas.microsoft.com/office/drawing/2014/main" id="{B1821FFC-75DE-4B11-8461-D3D6E0FD00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6" y="2140"/>
              <a:ext cx="101" cy="9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" name="Text Box 33">
              <a:extLst>
                <a:ext uri="{FF2B5EF4-FFF2-40B4-BE49-F238E27FC236}">
                  <a16:creationId xmlns:a16="http://schemas.microsoft.com/office/drawing/2014/main" id="{EFC9861A-AF4A-489E-8260-B7659C5AF7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52" y="2043"/>
              <a:ext cx="30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E4A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defPPr>
                <a:defRPr lang="zh-CN"/>
              </a:defPPr>
              <a:lvl1pPr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5</a:t>
              </a:r>
            </a:p>
          </p:txBody>
        </p:sp>
        <p:sp>
          <p:nvSpPr>
            <p:cNvPr id="63" name="Text Box 34">
              <a:extLst>
                <a:ext uri="{FF2B5EF4-FFF2-40B4-BE49-F238E27FC236}">
                  <a16:creationId xmlns:a16="http://schemas.microsoft.com/office/drawing/2014/main" id="{9CF705B8-2B58-4450-A179-830078F6C5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7" y="2177"/>
              <a:ext cx="400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E4A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defPPr>
                <a:defRPr lang="zh-CN"/>
              </a:defPPr>
              <a:lvl1pPr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e</a:t>
              </a:r>
              <a:r>
                <a:rPr kumimoji="0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3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6" name="Group 43">
            <a:extLst>
              <a:ext uri="{FF2B5EF4-FFF2-40B4-BE49-F238E27FC236}">
                <a16:creationId xmlns:a16="http://schemas.microsoft.com/office/drawing/2014/main" id="{4CBA8C22-E882-45C6-9539-F70E8389B144}"/>
              </a:ext>
            </a:extLst>
          </p:cNvPr>
          <p:cNvGrpSpPr>
            <a:grpSpLocks/>
          </p:cNvGrpSpPr>
          <p:nvPr/>
        </p:nvGrpSpPr>
        <p:grpSpPr bwMode="auto">
          <a:xfrm>
            <a:off x="2182814" y="1159453"/>
            <a:ext cx="3944939" cy="2093914"/>
            <a:chOff x="385" y="527"/>
            <a:chExt cx="2485" cy="1319"/>
          </a:xfrm>
        </p:grpSpPr>
        <p:sp>
          <p:nvSpPr>
            <p:cNvPr id="48" name="Line 6">
              <a:extLst>
                <a:ext uri="{FF2B5EF4-FFF2-40B4-BE49-F238E27FC236}">
                  <a16:creationId xmlns:a16="http://schemas.microsoft.com/office/drawing/2014/main" id="{A1C749B2-E996-461B-BCA8-6E8919C4FE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8" y="749"/>
              <a:ext cx="1678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" name="Oval 9">
              <a:extLst>
                <a:ext uri="{FF2B5EF4-FFF2-40B4-BE49-F238E27FC236}">
                  <a16:creationId xmlns:a16="http://schemas.microsoft.com/office/drawing/2014/main" id="{7454BCF0-6F9A-4F85-966F-B50EE3AF42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" y="1593"/>
              <a:ext cx="101" cy="9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Text Box 12">
              <a:extLst>
                <a:ext uri="{FF2B5EF4-FFF2-40B4-BE49-F238E27FC236}">
                  <a16:creationId xmlns:a16="http://schemas.microsoft.com/office/drawing/2014/main" id="{D6507F35-E996-4964-A19C-43C93B1DBA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" y="709"/>
              <a:ext cx="199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E4A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defPPr>
                <a:defRPr lang="zh-CN"/>
              </a:defPPr>
              <a:lvl1pPr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1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Text Box 13">
              <a:extLst>
                <a:ext uri="{FF2B5EF4-FFF2-40B4-BE49-F238E27FC236}">
                  <a16:creationId xmlns:a16="http://schemas.microsoft.com/office/drawing/2014/main" id="{7369D7B5-DE12-48C3-8D96-FBE6ED6A14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1" y="1527"/>
              <a:ext cx="199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E4A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defPPr>
                <a:defRPr lang="zh-CN"/>
              </a:defPPr>
              <a:lvl1pPr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2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2" name="Oval 18">
              <a:extLst>
                <a:ext uri="{FF2B5EF4-FFF2-40B4-BE49-F238E27FC236}">
                  <a16:creationId xmlns:a16="http://schemas.microsoft.com/office/drawing/2014/main" id="{1A430804-6C8C-41E2-BA50-5B5F09F6B6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6" y="700"/>
              <a:ext cx="101" cy="9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" name="Text Box 22">
              <a:extLst>
                <a:ext uri="{FF2B5EF4-FFF2-40B4-BE49-F238E27FC236}">
                  <a16:creationId xmlns:a16="http://schemas.microsoft.com/office/drawing/2014/main" id="{8E47C81B-E8F5-49A8-B274-09F10ECDA7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0" y="616"/>
              <a:ext cx="290" cy="2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E4A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defPPr>
                <a:defRPr lang="zh-CN"/>
              </a:defPPr>
              <a:lvl1pPr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3</a:t>
              </a:r>
            </a:p>
          </p:txBody>
        </p:sp>
        <p:sp>
          <p:nvSpPr>
            <p:cNvPr id="54" name="Text Box 26">
              <a:extLst>
                <a:ext uri="{FF2B5EF4-FFF2-40B4-BE49-F238E27FC236}">
                  <a16:creationId xmlns:a16="http://schemas.microsoft.com/office/drawing/2014/main" id="{F5959238-4E23-4C76-AA1D-0D5D2BB979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2" y="527"/>
              <a:ext cx="400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E4A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defPPr>
                <a:defRPr lang="zh-CN"/>
              </a:defPPr>
              <a:lvl1pPr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e</a:t>
              </a:r>
              <a:r>
                <a:rPr kumimoji="0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2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" name="Line 35">
              <a:extLst>
                <a:ext uri="{FF2B5EF4-FFF2-40B4-BE49-F238E27FC236}">
                  <a16:creationId xmlns:a16="http://schemas.microsoft.com/office/drawing/2014/main" id="{D3DC69E8-BC8C-4F8A-A191-F1D9080A0C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7" y="814"/>
              <a:ext cx="400" cy="7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" name="Oval 36">
              <a:extLst>
                <a:ext uri="{FF2B5EF4-FFF2-40B4-BE49-F238E27FC236}">
                  <a16:creationId xmlns:a16="http://schemas.microsoft.com/office/drawing/2014/main" id="{8782A5F8-9583-4527-B36E-009F045404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" y="786"/>
              <a:ext cx="101" cy="9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" name="Text Box 37">
              <a:extLst>
                <a:ext uri="{FF2B5EF4-FFF2-40B4-BE49-F238E27FC236}">
                  <a16:creationId xmlns:a16="http://schemas.microsoft.com/office/drawing/2014/main" id="{A385D4CD-A327-4D01-AA97-A9C1A98941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" y="1117"/>
              <a:ext cx="399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E4A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defPPr>
                <a:defRPr lang="zh-CN"/>
              </a:defPPr>
              <a:lvl1pPr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just" rtl="0" eaLnBrk="0" fontAlgn="base" hangingPunct="0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e</a:t>
              </a:r>
              <a:r>
                <a:rPr kumimoji="0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7" name="Rectangle 42">
            <a:extLst>
              <a:ext uri="{FF2B5EF4-FFF2-40B4-BE49-F238E27FC236}">
                <a16:creationId xmlns:a16="http://schemas.microsoft.com/office/drawing/2014/main" id="{83198D27-970E-498F-AB79-D80B6EC11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25" y="3247014"/>
            <a:ext cx="8893175" cy="3457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just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just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just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just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just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V={1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5}</a:t>
            </a:r>
          </a:p>
          <a:p>
            <a:pPr eaLnBrk="1" hangingPunct="1"/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图上的连通关系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R={</a:t>
            </a:r>
          </a:p>
          <a:p>
            <a:pPr eaLnBrk="1" hangingPunct="1"/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(1,1),(2,2),(3,3),(1,2),(2,1),(1,3),(3,1),(2,3),(3,2),</a:t>
            </a:r>
          </a:p>
          <a:p>
            <a:pPr eaLnBrk="1" hangingPunct="1"/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(4,4), (5,5), (4,5), (5,4)</a:t>
            </a:r>
          </a:p>
          <a:p>
            <a:pPr eaLnBrk="1" hangingPunct="1"/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  <a:p>
            <a:pPr eaLnBrk="1" hangingPunct="1"/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是一个等价关系，</a:t>
            </a:r>
          </a:p>
          <a:p>
            <a:pPr eaLnBrk="1" hangingPunct="1"/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决定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的一个分类： 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{1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3}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{4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5}</a:t>
            </a:r>
          </a:p>
        </p:txBody>
      </p:sp>
    </p:spTree>
    <p:extLst>
      <p:ext uri="{BB962C8B-B14F-4D97-AF65-F5344CB8AC3E}">
        <p14:creationId xmlns:p14="http://schemas.microsoft.com/office/powerpoint/2010/main" val="3342586223"/>
      </p:ext>
    </p:extLst>
  </p:cSld>
  <p:clrMapOvr>
    <a:masterClrMapping/>
  </p:clrMapOvr>
  <p:transition spd="slow" advTm="0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C5ACC7A-8DBC-4619-838A-21F1E617A4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931862"/>
            <a:ext cx="8236518" cy="590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Symbol" panose="05050102010706020507" pitchFamily="18" charset="2"/>
              <a:defRPr kumimoji="1" sz="2800" b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sz="24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2pPr>
            <a:lvl3pPr marL="11430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sz="20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3pPr>
            <a:lvl4pPr marL="16002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4pPr>
            <a:lvl5pPr marL="20574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1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   </a:t>
            </a:r>
          </a:p>
          <a:p>
            <a:pPr algn="just">
              <a:lnSpc>
                <a:spcPct val="12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     现在可以利用结点的连通性对图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的结点集进行划分，于是利用这个划分可以得到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的多个连通子图，如</a:t>
            </a:r>
          </a:p>
          <a:p>
            <a:pPr algn="just">
              <a:lnSpc>
                <a:spcPct val="12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G[v]=(V[v],E[v]),</a:t>
            </a:r>
          </a:p>
          <a:p>
            <a:pPr algn="just">
              <a:lnSpc>
                <a:spcPct val="12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是结点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所在的一个连通子图，其中，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V[v]={</a:t>
            </a:r>
            <a:r>
              <a:rPr lang="en-US" altLang="zh-CN" sz="2400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zh-CN" altLang="es-ES_tradnl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es-ES_tradnl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可达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E[v]</a:t>
            </a:r>
            <a:r>
              <a:rPr lang="zh-CN" altLang="es-ES_tradnl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V[v]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中结点在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中相应的边之集合。</a:t>
            </a:r>
          </a:p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G[v]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具有一个特点，即不存在一个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的真子图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G′, G[v]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G′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的真子图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G′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也是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的连通子图。称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G[v]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连通分支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连通分图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Connected Component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也称为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极大连通子图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en-US" sz="2400" dirty="0">
                <a:solidFill>
                  <a:srgbClr val="990000"/>
                </a:solidFill>
                <a:latin typeface="宋体" panose="02010600030101010101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3214182"/>
      </p:ext>
    </p:extLst>
  </p:cSld>
  <p:clrMapOvr>
    <a:masterClrMapping/>
  </p:clrMapOvr>
  <p:transition spd="slow" advTm="0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799038F-A0B4-43A1-8228-F86956353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930292"/>
            <a:ext cx="8280400" cy="590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Symbol" panose="05050102010706020507" pitchFamily="18" charset="2"/>
              <a:defRPr kumimoji="1" sz="2800" b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sz="24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2pPr>
            <a:lvl3pPr marL="11430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sz="20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3pPr>
            <a:lvl4pPr marL="16002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4pPr>
            <a:lvl5pPr marL="20574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000" dirty="0">
              <a:solidFill>
                <a:srgbClr val="99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/>
            <a:r>
              <a:rPr lang="zh-CN" altLang="en-US" sz="32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如果图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恰有两个不同的奇数度的结点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，那么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必定是可达的。</a:t>
            </a:r>
          </a:p>
          <a:p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证明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如果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不可达，那么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不是连通的，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必分属于两个连通分支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，而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的子图，且都恰有一个奇数度结点。与欧拉定理推论矛盾。因而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是可达的。</a:t>
            </a:r>
            <a:r>
              <a:rPr lang="zh-CN" altLang="en-US" sz="3200" dirty="0">
                <a:solidFill>
                  <a:srgbClr val="99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90542632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5B7FBAF-867C-4E8C-8F74-FD25D117FC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2261" y="952500"/>
            <a:ext cx="8116118" cy="590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Symbol" panose="05050102010706020507" pitchFamily="18" charset="2"/>
              <a:defRPr kumimoji="1" sz="2800" b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sz="24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2pPr>
            <a:lvl3pPr marL="11430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sz="20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3pPr>
            <a:lvl4pPr marL="16002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4pPr>
            <a:lvl5pPr marL="20574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000" dirty="0">
              <a:solidFill>
                <a:srgbClr val="99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/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定理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 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设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G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是一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(n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m)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图，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G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有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ω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个分图，则</a:t>
            </a:r>
          </a:p>
          <a:p>
            <a:pPr algn="just"/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         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n-ω≤m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≤(n-ω)(n-ω+1)/2</a:t>
            </a:r>
          </a:p>
        </p:txBody>
      </p:sp>
    </p:spTree>
    <p:extLst>
      <p:ext uri="{BB962C8B-B14F-4D97-AF65-F5344CB8AC3E}">
        <p14:creationId xmlns:p14="http://schemas.microsoft.com/office/powerpoint/2010/main" val="217699419"/>
      </p:ext>
    </p:extLst>
  </p:cSld>
  <p:clrMapOvr>
    <a:masterClrMapping/>
  </p:clrMapOvr>
  <p:transition spd="slow" advTm="0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B97C554-C976-44B0-B63A-53A8DFE83F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5800" y="1055091"/>
            <a:ext cx="8280400" cy="590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Symbol" panose="05050102010706020507" pitchFamily="18" charset="2"/>
              <a:defRPr kumimoji="1" sz="2800" b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sz="24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2pPr>
            <a:lvl3pPr marL="11430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sz="20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3pPr>
            <a:lvl4pPr marL="16002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4pPr>
            <a:lvl5pPr marL="20574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 </a:t>
            </a:r>
          </a:p>
          <a:p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定义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为图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的结点集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的子集，称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点割集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Cut Set of Vertex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如果从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中删除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中的所有结点后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的连通分支数增加，但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的任何真子集均无这一特性。当点割集为单元素集合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{v}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时，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称为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割点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Cut Vertex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）。</a:t>
            </a:r>
            <a:r>
              <a:rPr lang="zh-CN" altLang="en-US" dirty="0">
                <a:solidFill>
                  <a:srgbClr val="99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     设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为连通图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边集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的子集，称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边割集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Cut set of Edge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），如果从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中删除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的所有边后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的连通分支数增加，但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的任何真子集均无这一特性。当割集为单元素集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{e}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时，称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桥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(Bridge)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割边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Cut Edge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）。</a:t>
            </a:r>
            <a:r>
              <a:rPr lang="zh-CN" altLang="en-US" sz="2400" dirty="0">
                <a:solidFill>
                  <a:srgbClr val="990000"/>
                </a:solidFill>
                <a:latin typeface="宋体" panose="02010600030101010101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94391301"/>
      </p:ext>
    </p:extLst>
  </p:cSld>
  <p:clrMapOvr>
    <a:masterClrMapping/>
  </p:clrMapOvr>
  <p:transition spd="slow" advTm="0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F6E5A71-BF27-4AEA-9AFF-4379BB300A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2853" y="1497785"/>
            <a:ext cx="4392613" cy="557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lnSpc>
                <a:spcPct val="130000"/>
              </a:lnSpc>
              <a:spcBef>
                <a:spcPct val="20000"/>
              </a:spcBef>
              <a:buClr>
                <a:schemeClr val="bg1"/>
              </a:buClr>
              <a:buFont typeface="Symbol" panose="05050102010706020507" pitchFamily="18" charset="2"/>
              <a:defRPr kumimoji="1" sz="2800" b="1">
                <a:solidFill>
                  <a:srgbClr val="003399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 algn="l">
              <a:lnSpc>
                <a:spcPct val="130000"/>
              </a:lnSpc>
              <a:spcBef>
                <a:spcPct val="20000"/>
              </a:spcBef>
              <a:buClr>
                <a:schemeClr val="bg1"/>
              </a:buClr>
              <a:buChar char="–"/>
              <a:defRPr kumimoji="1" sz="2400" b="1">
                <a:solidFill>
                  <a:srgbClr val="003399"/>
                </a:solidFill>
                <a:latin typeface="Comic Sans MS" panose="030F0702030302020204" pitchFamily="66" charset="0"/>
                <a:ea typeface="黑体" panose="02010609060101010101" pitchFamily="49" charset="-122"/>
              </a:defRPr>
            </a:lvl2pPr>
            <a:lvl3pPr marL="1143000" indent="-228600" algn="l">
              <a:lnSpc>
                <a:spcPct val="130000"/>
              </a:lnSpc>
              <a:spcBef>
                <a:spcPct val="20000"/>
              </a:spcBef>
              <a:buClr>
                <a:schemeClr val="bg1"/>
              </a:buClr>
              <a:buChar char="•"/>
              <a:defRPr kumimoji="1" sz="2000" b="1">
                <a:solidFill>
                  <a:srgbClr val="003399"/>
                </a:solidFill>
                <a:latin typeface="Comic Sans MS" panose="030F0702030302020204" pitchFamily="66" charset="0"/>
                <a:ea typeface="黑体" panose="02010609060101010101" pitchFamily="49" charset="-122"/>
              </a:defRPr>
            </a:lvl3pPr>
            <a:lvl4pPr marL="1600200" indent="-228600" algn="l">
              <a:lnSpc>
                <a:spcPct val="130000"/>
              </a:lnSpc>
              <a:spcBef>
                <a:spcPct val="20000"/>
              </a:spcBef>
              <a:buClr>
                <a:schemeClr val="bg1"/>
              </a:buClr>
              <a:buChar char="–"/>
              <a:defRPr kumimoji="1" b="1">
                <a:solidFill>
                  <a:srgbClr val="003399"/>
                </a:solidFill>
                <a:latin typeface="Comic Sans MS" panose="030F0702030302020204" pitchFamily="66" charset="0"/>
                <a:ea typeface="黑体" panose="02010609060101010101" pitchFamily="49" charset="-122"/>
              </a:defRPr>
            </a:lvl4pPr>
            <a:lvl5pPr marL="2057400" indent="-228600" algn="l">
              <a:lnSpc>
                <a:spcPct val="130000"/>
              </a:lnSpc>
              <a:spcBef>
                <a:spcPct val="20000"/>
              </a:spcBef>
              <a:buClr>
                <a:schemeClr val="bg1"/>
              </a:buClr>
              <a:buChar char="•"/>
              <a:defRPr kumimoji="1" b="1">
                <a:solidFill>
                  <a:srgbClr val="003399"/>
                </a:solidFill>
                <a:latin typeface="Comic Sans MS" panose="030F0702030302020204" pitchFamily="66" charset="0"/>
                <a:ea typeface="黑体" panose="02010609060101010101" pitchFamily="49" charset="-122"/>
              </a:defRPr>
            </a:lvl5pPr>
            <a:lvl6pPr marL="2514600" indent="-22860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b="1">
                <a:solidFill>
                  <a:srgbClr val="003399"/>
                </a:solidFill>
                <a:latin typeface="Comic Sans MS" panose="030F0702030302020204" pitchFamily="66" charset="0"/>
                <a:ea typeface="黑体" panose="02010609060101010101" pitchFamily="49" charset="-122"/>
              </a:defRPr>
            </a:lvl6pPr>
            <a:lvl7pPr marL="2971800" indent="-22860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b="1">
                <a:solidFill>
                  <a:srgbClr val="003399"/>
                </a:solidFill>
                <a:latin typeface="Comic Sans MS" panose="030F0702030302020204" pitchFamily="66" charset="0"/>
                <a:ea typeface="黑体" panose="02010609060101010101" pitchFamily="49" charset="-122"/>
              </a:defRPr>
            </a:lvl7pPr>
            <a:lvl8pPr marL="3429000" indent="-22860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b="1">
                <a:solidFill>
                  <a:srgbClr val="003399"/>
                </a:solidFill>
                <a:latin typeface="Comic Sans MS" panose="030F0702030302020204" pitchFamily="66" charset="0"/>
                <a:ea typeface="黑体" panose="02010609060101010101" pitchFamily="49" charset="-122"/>
              </a:defRPr>
            </a:lvl8pPr>
            <a:lvl9pPr marL="3886200" indent="-22860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b="1">
                <a:solidFill>
                  <a:srgbClr val="003399"/>
                </a:solidFill>
                <a:latin typeface="Comic Sans MS" panose="030F0702030302020204" pitchFamily="66" charset="0"/>
                <a:ea typeface="黑体" panose="02010609060101010101" pitchFamily="49" charset="-122"/>
              </a:defRPr>
            </a:lvl9pPr>
          </a:lstStyle>
          <a:p>
            <a:pPr fontAlgn="base">
              <a:spcAft>
                <a:spcPct val="0"/>
              </a:spcAft>
              <a:buClr>
                <a:srgbClr val="6600FF"/>
              </a:buClr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{1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5}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是点割集，</a:t>
            </a:r>
          </a:p>
          <a:p>
            <a:pPr fontAlgn="base">
              <a:spcAft>
                <a:spcPct val="0"/>
              </a:spcAft>
              <a:buClr>
                <a:srgbClr val="6600FF"/>
              </a:buClr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是割点，</a:t>
            </a:r>
          </a:p>
          <a:p>
            <a:pPr fontAlgn="base">
              <a:spcAft>
                <a:spcPct val="0"/>
              </a:spcAft>
              <a:buClr>
                <a:srgbClr val="6600FF"/>
              </a:buClr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是割点，</a:t>
            </a:r>
          </a:p>
          <a:p>
            <a:pPr fontAlgn="base">
              <a:spcAft>
                <a:spcPct val="0"/>
              </a:spcAft>
              <a:buClr>
                <a:srgbClr val="6600FF"/>
              </a:buClr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{4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7}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不是点割集。</a:t>
            </a:r>
          </a:p>
          <a:p>
            <a:pPr fontAlgn="base">
              <a:spcAft>
                <a:spcPct val="0"/>
              </a:spcAft>
              <a:buClr>
                <a:srgbClr val="6600FF"/>
              </a:buClr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{e</a:t>
            </a:r>
            <a:r>
              <a:rPr lang="en-US" altLang="zh-CN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,e</a:t>
            </a:r>
            <a:r>
              <a:rPr lang="en-US" altLang="zh-CN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是边割集，</a:t>
            </a:r>
          </a:p>
          <a:p>
            <a:pPr fontAlgn="base">
              <a:spcAft>
                <a:spcPct val="0"/>
              </a:spcAft>
              <a:buClr>
                <a:srgbClr val="6600FF"/>
              </a:buClr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{e</a:t>
            </a:r>
            <a:r>
              <a:rPr lang="en-US" altLang="zh-CN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,e</a:t>
            </a:r>
            <a:r>
              <a:rPr lang="en-US" altLang="zh-CN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是边割集，</a:t>
            </a:r>
          </a:p>
          <a:p>
            <a:pPr fontAlgn="base">
              <a:spcAft>
                <a:spcPct val="0"/>
              </a:spcAft>
              <a:buClr>
                <a:srgbClr val="6600FF"/>
              </a:buClr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{e</a:t>
            </a:r>
            <a:r>
              <a:rPr lang="en-US" altLang="zh-CN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,e</a:t>
            </a:r>
            <a:r>
              <a:rPr lang="en-US" altLang="zh-CN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是边割集，</a:t>
            </a:r>
          </a:p>
          <a:p>
            <a:pPr fontAlgn="base">
              <a:spcAft>
                <a:spcPct val="0"/>
              </a:spcAft>
              <a:buClr>
                <a:srgbClr val="6600FF"/>
              </a:buClr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是割边。</a:t>
            </a:r>
          </a:p>
        </p:txBody>
      </p:sp>
      <p:grpSp>
        <p:nvGrpSpPr>
          <p:cNvPr id="40" name="Group 121">
            <a:extLst>
              <a:ext uri="{FF2B5EF4-FFF2-40B4-BE49-F238E27FC236}">
                <a16:creationId xmlns:a16="http://schemas.microsoft.com/office/drawing/2014/main" id="{8F2E0CD7-2C6F-4E27-BF4B-24A43F1D574F}"/>
              </a:ext>
            </a:extLst>
          </p:cNvPr>
          <p:cNvGrpSpPr>
            <a:grpSpLocks/>
          </p:cNvGrpSpPr>
          <p:nvPr/>
        </p:nvGrpSpPr>
        <p:grpSpPr bwMode="auto">
          <a:xfrm>
            <a:off x="4710666" y="1165998"/>
            <a:ext cx="5824537" cy="2749550"/>
            <a:chOff x="2250" y="609"/>
            <a:chExt cx="3805" cy="1732"/>
          </a:xfrm>
        </p:grpSpPr>
        <p:sp>
          <p:nvSpPr>
            <p:cNvPr id="41" name="Text Box 40">
              <a:extLst>
                <a:ext uri="{FF2B5EF4-FFF2-40B4-BE49-F238E27FC236}">
                  <a16:creationId xmlns:a16="http://schemas.microsoft.com/office/drawing/2014/main" id="{1E01FAAA-A9CF-4616-A59E-9F93F33DC3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1" y="678"/>
              <a:ext cx="2464" cy="4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zh-CN" sz="2000" b="1">
                <a:solidFill>
                  <a:srgbClr val="EAEAEA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" name="Line 41">
              <a:extLst>
                <a:ext uri="{FF2B5EF4-FFF2-40B4-BE49-F238E27FC236}">
                  <a16:creationId xmlns:a16="http://schemas.microsoft.com/office/drawing/2014/main" id="{783131DC-A73D-4C0C-B4AE-6BA1EFE76F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11" y="883"/>
              <a:ext cx="648" cy="42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" name="Line 42">
              <a:extLst>
                <a:ext uri="{FF2B5EF4-FFF2-40B4-BE49-F238E27FC236}">
                  <a16:creationId xmlns:a16="http://schemas.microsoft.com/office/drawing/2014/main" id="{582F79BE-8A75-4448-A2B5-D447206C67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41" y="1277"/>
              <a:ext cx="1479" cy="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" name="Line 43">
              <a:extLst>
                <a:ext uri="{FF2B5EF4-FFF2-40B4-BE49-F238E27FC236}">
                  <a16:creationId xmlns:a16="http://schemas.microsoft.com/office/drawing/2014/main" id="{11F6FD10-5630-4369-AC83-655BB633C3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42" y="1261"/>
              <a:ext cx="1254" cy="7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" name="Line 44">
              <a:extLst>
                <a:ext uri="{FF2B5EF4-FFF2-40B4-BE49-F238E27FC236}">
                  <a16:creationId xmlns:a16="http://schemas.microsoft.com/office/drawing/2014/main" id="{2481A370-F054-4FCF-9741-1E71255EE7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3" y="844"/>
              <a:ext cx="913" cy="40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0E981E1-D297-4927-8151-9942376B6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5" y="2021"/>
              <a:ext cx="89" cy="8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" name="Line 46">
              <a:extLst>
                <a:ext uri="{FF2B5EF4-FFF2-40B4-BE49-F238E27FC236}">
                  <a16:creationId xmlns:a16="http://schemas.microsoft.com/office/drawing/2014/main" id="{2FF099F4-8702-4DE0-A6C4-9160983809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7" y="2030"/>
              <a:ext cx="1690" cy="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just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E1A6AE6D-E13B-49B2-8A2B-C427D88AAF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7" y="2030"/>
              <a:ext cx="89" cy="8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" name="Text Box 48">
              <a:extLst>
                <a:ext uri="{FF2B5EF4-FFF2-40B4-BE49-F238E27FC236}">
                  <a16:creationId xmlns:a16="http://schemas.microsoft.com/office/drawing/2014/main" id="{8404F246-D4E1-4BF8-B410-392F029A1D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0" y="1288"/>
              <a:ext cx="176" cy="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E4A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just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50" name="Text Box 49">
              <a:extLst>
                <a:ext uri="{FF2B5EF4-FFF2-40B4-BE49-F238E27FC236}">
                  <a16:creationId xmlns:a16="http://schemas.microsoft.com/office/drawing/2014/main" id="{6E371DA0-5D00-44F1-A51D-C3F996D85F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3" y="1966"/>
              <a:ext cx="176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E4A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just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" name="Text Box 50">
              <a:extLst>
                <a:ext uri="{FF2B5EF4-FFF2-40B4-BE49-F238E27FC236}">
                  <a16:creationId xmlns:a16="http://schemas.microsoft.com/office/drawing/2014/main" id="{112732BD-EE3A-4379-B76F-41970EA93E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8" y="609"/>
              <a:ext cx="176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E4A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just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52" name="Text Box 51">
              <a:extLst>
                <a:ext uri="{FF2B5EF4-FFF2-40B4-BE49-F238E27FC236}">
                  <a16:creationId xmlns:a16="http://schemas.microsoft.com/office/drawing/2014/main" id="{8129F97F-7627-4978-A5CB-11F98D2AB8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02" y="1153"/>
              <a:ext cx="176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E4A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just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7</a:t>
              </a:r>
              <a:endParaRPr lang="en-US" altLang="zh-CN"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3" name="Text Box 52">
              <a:extLst>
                <a:ext uri="{FF2B5EF4-FFF2-40B4-BE49-F238E27FC236}">
                  <a16:creationId xmlns:a16="http://schemas.microsoft.com/office/drawing/2014/main" id="{C786DDE2-6E2B-49AE-9BF7-588BC33A62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9" y="2052"/>
              <a:ext cx="176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E4A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just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3</a:t>
              </a:r>
            </a:p>
            <a:p>
              <a:pPr algn="just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zh-CN"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5F3AF2B5-742C-43EC-A78A-67E001E2B9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5" y="1234"/>
              <a:ext cx="89" cy="8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9948430A-205B-46DC-9B0B-486195AB05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4" y="798"/>
              <a:ext cx="89" cy="8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" name="Line 55">
              <a:extLst>
                <a:ext uri="{FF2B5EF4-FFF2-40B4-BE49-F238E27FC236}">
                  <a16:creationId xmlns:a16="http://schemas.microsoft.com/office/drawing/2014/main" id="{17440983-EC0D-423E-AA5F-74080A3091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74" y="1251"/>
              <a:ext cx="2676" cy="7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just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530600FC-B76D-4F1E-AA68-4767E460D7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7" y="1230"/>
              <a:ext cx="89" cy="8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8" name="Text Box 57">
              <a:extLst>
                <a:ext uri="{FF2B5EF4-FFF2-40B4-BE49-F238E27FC236}">
                  <a16:creationId xmlns:a16="http://schemas.microsoft.com/office/drawing/2014/main" id="{0C65E06D-DE46-48F4-A0CB-FBA8B4BE84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5" y="1153"/>
              <a:ext cx="176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E4A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just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59" name="Line 58">
              <a:extLst>
                <a:ext uri="{FF2B5EF4-FFF2-40B4-BE49-F238E27FC236}">
                  <a16:creationId xmlns:a16="http://schemas.microsoft.com/office/drawing/2014/main" id="{28252AAA-BF79-4212-A512-EF5C60837E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87" y="1251"/>
              <a:ext cx="880" cy="8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just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" name="Text Box 59">
              <a:extLst>
                <a:ext uri="{FF2B5EF4-FFF2-40B4-BE49-F238E27FC236}">
                  <a16:creationId xmlns:a16="http://schemas.microsoft.com/office/drawing/2014/main" id="{5257A263-8EE5-443D-9607-AA62C93409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4" y="881"/>
              <a:ext cx="352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E4A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just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e</a:t>
              </a:r>
              <a:r>
                <a:rPr lang="en-US" altLang="zh-CN" sz="2000" b="1" baseline="-2500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endParaRPr lang="en-US" altLang="zh-CN"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1" name="Text Box 60">
              <a:extLst>
                <a:ext uri="{FF2B5EF4-FFF2-40B4-BE49-F238E27FC236}">
                  <a16:creationId xmlns:a16="http://schemas.microsoft.com/office/drawing/2014/main" id="{AA619019-371A-470A-9066-7ECA8FDF41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7" y="835"/>
              <a:ext cx="352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E4A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just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e</a:t>
              </a:r>
              <a:r>
                <a:rPr lang="en-US" altLang="zh-CN" sz="2000" b="1" baseline="-2500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3</a:t>
              </a:r>
              <a:endParaRPr lang="en-US" altLang="zh-CN"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2" name="Text Box 61">
              <a:extLst>
                <a:ext uri="{FF2B5EF4-FFF2-40B4-BE49-F238E27FC236}">
                  <a16:creationId xmlns:a16="http://schemas.microsoft.com/office/drawing/2014/main" id="{404C79BF-E9A4-45F8-BD20-EA7849D262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3" y="1061"/>
              <a:ext cx="352" cy="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E4A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just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e</a:t>
              </a:r>
              <a:r>
                <a:rPr lang="en-US" altLang="zh-CN" sz="2000" b="1" baseline="-2500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endParaRPr lang="en-US" altLang="zh-CN"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3" name="Text Box 62">
              <a:extLst>
                <a:ext uri="{FF2B5EF4-FFF2-40B4-BE49-F238E27FC236}">
                  <a16:creationId xmlns:a16="http://schemas.microsoft.com/office/drawing/2014/main" id="{1369D980-7FE5-4835-901A-5F2909FFAF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6" y="1515"/>
              <a:ext cx="352" cy="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E4A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just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e</a:t>
              </a:r>
              <a:r>
                <a:rPr lang="en-US" altLang="zh-CN" sz="2000" b="1" baseline="-2500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4</a:t>
              </a:r>
              <a:endParaRPr lang="en-US" altLang="zh-CN"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4" name="Text Box 63">
              <a:extLst>
                <a:ext uri="{FF2B5EF4-FFF2-40B4-BE49-F238E27FC236}">
                  <a16:creationId xmlns:a16="http://schemas.microsoft.com/office/drawing/2014/main" id="{B7D48DCD-ADDF-4067-87A1-79B838703B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9" y="1529"/>
              <a:ext cx="352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E4A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just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e</a:t>
              </a:r>
              <a:r>
                <a:rPr lang="en-US" altLang="zh-CN" sz="2000" b="1" baseline="-2500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7</a:t>
              </a:r>
              <a:endParaRPr lang="en-US" altLang="zh-CN"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just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zh-CN"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5" name="Text Box 64">
              <a:extLst>
                <a:ext uri="{FF2B5EF4-FFF2-40B4-BE49-F238E27FC236}">
                  <a16:creationId xmlns:a16="http://schemas.microsoft.com/office/drawing/2014/main" id="{ECE2D02C-DB5D-460A-A54F-5ECC817D7C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3" y="2015"/>
              <a:ext cx="352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E4A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just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e</a:t>
              </a:r>
              <a:r>
                <a:rPr lang="en-US" altLang="zh-CN" sz="2000" b="1" baseline="-2500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8</a:t>
              </a:r>
              <a:endParaRPr lang="en-US" altLang="zh-CN"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6" name="Text Box 65">
              <a:extLst>
                <a:ext uri="{FF2B5EF4-FFF2-40B4-BE49-F238E27FC236}">
                  <a16:creationId xmlns:a16="http://schemas.microsoft.com/office/drawing/2014/main" id="{76960335-BA4C-46D8-8405-E680D5D292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5" y="1572"/>
              <a:ext cx="352" cy="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E4A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just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  e</a:t>
              </a:r>
              <a:r>
                <a:rPr lang="en-US" altLang="zh-CN" sz="2000" b="1" baseline="-2500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6</a:t>
              </a:r>
              <a:endParaRPr lang="en-US" altLang="zh-CN"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just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zh-CN"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7" name="Line 66">
              <a:extLst>
                <a:ext uri="{FF2B5EF4-FFF2-40B4-BE49-F238E27FC236}">
                  <a16:creationId xmlns:a16="http://schemas.microsoft.com/office/drawing/2014/main" id="{EA8914D1-F347-4F56-9DFF-F76F6D3CBA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9" y="2092"/>
              <a:ext cx="1232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just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67DFCB5D-78CB-49D6-9557-7C1792E121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9" y="2048"/>
              <a:ext cx="89" cy="8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" name="Text Box 68">
              <a:extLst>
                <a:ext uri="{FF2B5EF4-FFF2-40B4-BE49-F238E27FC236}">
                  <a16:creationId xmlns:a16="http://schemas.microsoft.com/office/drawing/2014/main" id="{07F4E655-73D4-46DA-BD47-63233AFEF4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79" y="1978"/>
              <a:ext cx="176" cy="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E4A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just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70" name="Text Box 69">
              <a:extLst>
                <a:ext uri="{FF2B5EF4-FFF2-40B4-BE49-F238E27FC236}">
                  <a16:creationId xmlns:a16="http://schemas.microsoft.com/office/drawing/2014/main" id="{3FCC9A4C-5CB7-4D0F-A531-B8C6E4C679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5" y="2059"/>
              <a:ext cx="352" cy="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E4A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just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e</a:t>
              </a:r>
              <a:r>
                <a:rPr lang="en-US" altLang="zh-CN" sz="2000" b="1" baseline="-2500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9</a:t>
              </a:r>
              <a:endParaRPr lang="en-US" altLang="zh-CN"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1" name="Line 70">
              <a:extLst>
                <a:ext uri="{FF2B5EF4-FFF2-40B4-BE49-F238E27FC236}">
                  <a16:creationId xmlns:a16="http://schemas.microsoft.com/office/drawing/2014/main" id="{B8570CA7-B3E1-4CC4-A28E-FE56E77D31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2" y="1334"/>
              <a:ext cx="352" cy="7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just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9C8020AC-7A33-4B66-BC17-856033165C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7" y="1310"/>
              <a:ext cx="88" cy="8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3" name="Text Box 72">
              <a:extLst>
                <a:ext uri="{FF2B5EF4-FFF2-40B4-BE49-F238E27FC236}">
                  <a16:creationId xmlns:a16="http://schemas.microsoft.com/office/drawing/2014/main" id="{CA4420DE-6053-4F17-9FA8-498C13BBD8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3" y="1594"/>
              <a:ext cx="352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E4A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1C1C1C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just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e</a:t>
              </a:r>
              <a:r>
                <a:rPr lang="en-US" altLang="zh-CN" sz="2000" b="1" baseline="-2500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5</a:t>
              </a:r>
              <a:endParaRPr lang="en-US" altLang="zh-CN"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2909380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DC817DE-D62B-41AD-93FC-4DD60CE4F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0087" y="952500"/>
            <a:ext cx="7634287" cy="590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Symbol" panose="05050102010706020507" pitchFamily="18" charset="2"/>
              <a:defRPr kumimoji="1" sz="2800" b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sz="24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2pPr>
            <a:lvl3pPr marL="11430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sz="20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3pPr>
            <a:lvl4pPr marL="16002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4pPr>
            <a:lvl5pPr marL="20574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试证明：图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的任一边，若其不是割边，则必出现于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的某一环里。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证明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设图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的边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e=(v</a:t>
            </a:r>
            <a:r>
              <a:rPr lang="en-US" altLang="zh-CN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30000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不是分割边，去掉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后，与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相连接的结点集为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，与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30000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相连接的结点集为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，由割边定义知，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∩V</a:t>
            </a:r>
            <a:r>
              <a:rPr lang="en-US" altLang="zh-CN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≠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。因而存在一结点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v∈V</a:t>
            </a:r>
            <a:r>
              <a:rPr lang="en-US" altLang="zh-CN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∩V</a:t>
            </a:r>
            <a:r>
              <a:rPr lang="en-US" altLang="zh-CN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，使得在去掉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后，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有路相连，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30000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有路相连。于是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30000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有路相连接，因而必存在一条连接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30000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的路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P=v</a:t>
            </a:r>
            <a:r>
              <a:rPr lang="en-US" altLang="zh-CN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…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…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30000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，从而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与边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(v</a:t>
            </a:r>
            <a:r>
              <a:rPr lang="en-US" altLang="zh-CN" baseline="-30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30000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组成一个环。</a:t>
            </a:r>
            <a:r>
              <a:rPr lang="zh-CN" altLang="en-US" dirty="0">
                <a:solidFill>
                  <a:srgbClr val="99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47544308"/>
      </p:ext>
    </p:extLst>
  </p:cSld>
  <p:clrMapOvr>
    <a:masterClrMapping/>
  </p:clrMapOvr>
  <p:transition spd="slow" advTm="0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7E50AB2-F990-4146-A554-8538B68AA6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5800" y="952500"/>
            <a:ext cx="8280400" cy="590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Symbol" panose="05050102010706020507" pitchFamily="18" charset="2"/>
              <a:defRPr kumimoji="1" sz="2800" b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sz="24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2pPr>
            <a:lvl3pPr marL="11430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sz="20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3pPr>
            <a:lvl4pPr marL="16002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4pPr>
            <a:lvl5pPr marL="20574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 </a:t>
            </a:r>
          </a:p>
          <a:p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定义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点连通度   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κ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2400" dirty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边连通度   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λ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2400" dirty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          0           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非连通 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2400" baseline="-250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en-US" altLang="zh-CN" sz="2400" dirty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κ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=   n-1         </a:t>
            </a:r>
            <a:r>
              <a:rPr lang="en-US" altLang="zh-CN" sz="2400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n</a:t>
            </a:r>
            <a:endParaRPr lang="en-US" altLang="zh-CN" sz="2400" baseline="-25000" dirty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          min{|S|}    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连通非完全</a:t>
            </a:r>
            <a:endParaRPr lang="en-US" altLang="zh-CN" sz="2400" dirty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82DABC4-CC79-40F7-A764-CF6F8ECF1A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5800" y="4882742"/>
            <a:ext cx="8116118" cy="10356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Symbol" panose="05050102010706020507" pitchFamily="18" charset="2"/>
              <a:defRPr kumimoji="1" sz="2800" b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sz="24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2pPr>
            <a:lvl3pPr marL="11430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sz="20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3pPr>
            <a:lvl4pPr marL="16002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4pPr>
            <a:lvl5pPr marL="20574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000" dirty="0">
              <a:solidFill>
                <a:srgbClr val="99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/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定理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 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κ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（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G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）≤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λ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（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G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）≤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δ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（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G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）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23217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C22852F-A464-4AFB-8D6E-DE87D8F8F287}"/>
              </a:ext>
            </a:extLst>
          </p:cNvPr>
          <p:cNvSpPr txBox="1">
            <a:spLocks noChangeArrowheads="1"/>
          </p:cNvSpPr>
          <p:nvPr/>
        </p:nvSpPr>
        <p:spPr>
          <a:xfrm>
            <a:off x="1126860" y="3960698"/>
            <a:ext cx="9846415" cy="18716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容易判断，强连通图必定是单向连通图，单向连通图必定是弱连通图。</a:t>
            </a:r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2F80E9AB-4162-4D32-AEBC-CDAC7744B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4206" y="4373448"/>
            <a:ext cx="76200" cy="1000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Oval 6">
            <a:extLst>
              <a:ext uri="{FF2B5EF4-FFF2-40B4-BE49-F238E27FC236}">
                <a16:creationId xmlns:a16="http://schemas.microsoft.com/office/drawing/2014/main" id="{7782EC6D-A706-449A-B7AF-C7CA3720C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0493" y="4863985"/>
            <a:ext cx="76200" cy="10001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Oval 7">
            <a:extLst>
              <a:ext uri="{FF2B5EF4-FFF2-40B4-BE49-F238E27FC236}">
                <a16:creationId xmlns:a16="http://schemas.microsoft.com/office/drawing/2014/main" id="{99927A08-E60A-41E8-A4BE-B604B4256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0743" y="4457585"/>
            <a:ext cx="76200" cy="10001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05AAE3F6-093A-4564-9D1A-3E38E6204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5081" y="4957648"/>
            <a:ext cx="76200" cy="1000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Line 9">
            <a:extLst>
              <a:ext uri="{FF2B5EF4-FFF2-40B4-BE49-F238E27FC236}">
                <a16:creationId xmlns:a16="http://schemas.microsoft.com/office/drawing/2014/main" id="{76E9D726-86FA-4524-9CC4-A791540116C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82843" y="4494098"/>
            <a:ext cx="9477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99F945F7-A456-48AA-A1B6-37FC571B36F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03468" y="4597285"/>
            <a:ext cx="1588" cy="1262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11">
            <a:extLst>
              <a:ext uri="{FF2B5EF4-FFF2-40B4-BE49-F238E27FC236}">
                <a16:creationId xmlns:a16="http://schemas.microsoft.com/office/drawing/2014/main" id="{D5655C73-F533-4768-A8C8-E24911C9492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82843" y="5964123"/>
            <a:ext cx="9477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12">
            <a:extLst>
              <a:ext uri="{FF2B5EF4-FFF2-40B4-BE49-F238E27FC236}">
                <a16:creationId xmlns:a16="http://schemas.microsoft.com/office/drawing/2014/main" id="{61DB816C-A38E-4F9D-B1F7-44971A6CD22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11543" y="4597285"/>
            <a:ext cx="0" cy="1262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13">
            <a:extLst>
              <a:ext uri="{FF2B5EF4-FFF2-40B4-BE49-F238E27FC236}">
                <a16:creationId xmlns:a16="http://schemas.microsoft.com/office/drawing/2014/main" id="{461DBAD4-9013-4F58-B18A-C76DB027E4C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03468" y="4494098"/>
            <a:ext cx="1108075" cy="14700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9418D245-A4AF-4CDB-AD36-FB04D2E516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82843" y="4605223"/>
            <a:ext cx="944563" cy="12541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479F3E0A-F37E-4D69-A090-E51E5D41B8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43343" y="4430598"/>
            <a:ext cx="555625" cy="527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F4A7B7BE-1350-411A-8138-92B4B268FB80}"/>
              </a:ext>
            </a:extLst>
          </p:cNvPr>
          <p:cNvSpPr>
            <a:spLocks noChangeShapeType="1"/>
          </p:cNvSpPr>
          <p:nvPr/>
        </p:nvSpPr>
        <p:spPr bwMode="auto">
          <a:xfrm>
            <a:off x="3667231" y="4422660"/>
            <a:ext cx="706437" cy="4683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92475C6E-7E3D-4206-982E-A6EAF37659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73506" y="4916373"/>
            <a:ext cx="1266825" cy="1031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BE3BD303-9371-4521-A3CB-B1866370207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124306" y="5960948"/>
            <a:ext cx="1133475" cy="285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19">
            <a:extLst>
              <a:ext uri="{FF2B5EF4-FFF2-40B4-BE49-F238E27FC236}">
                <a16:creationId xmlns:a16="http://schemas.microsoft.com/office/drawing/2014/main" id="{3ADF0B02-C61C-417D-A298-61A81EF0F9F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43343" y="5470410"/>
            <a:ext cx="912813" cy="4905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Oval 20">
            <a:extLst>
              <a:ext uri="{FF2B5EF4-FFF2-40B4-BE49-F238E27FC236}">
                <a16:creationId xmlns:a16="http://schemas.microsoft.com/office/drawing/2014/main" id="{174E29E7-1740-4409-B30E-597CB02B1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7468" y="5894273"/>
            <a:ext cx="76200" cy="10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Oval 21">
            <a:extLst>
              <a:ext uri="{FF2B5EF4-FFF2-40B4-BE49-F238E27FC236}">
                <a16:creationId xmlns:a16="http://schemas.microsoft.com/office/drawing/2014/main" id="{B73D0F7F-7D4F-4BE4-AE71-0B022D1E2D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981" y="5875223"/>
            <a:ext cx="76200" cy="1000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Oval 22">
            <a:extLst>
              <a:ext uri="{FF2B5EF4-FFF2-40B4-BE49-F238E27FC236}">
                <a16:creationId xmlns:a16="http://schemas.microsoft.com/office/drawing/2014/main" id="{1C8AB5C1-E85A-420C-B7DE-3379B11E08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4418" y="5860935"/>
            <a:ext cx="76200" cy="10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Oval 23">
            <a:extLst>
              <a:ext uri="{FF2B5EF4-FFF2-40B4-BE49-F238E27FC236}">
                <a16:creationId xmlns:a16="http://schemas.microsoft.com/office/drawing/2014/main" id="{AE71F387-0B40-40F7-ABD5-B598ECA25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8093" y="5922848"/>
            <a:ext cx="76200" cy="10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Oval 24">
            <a:extLst>
              <a:ext uri="{FF2B5EF4-FFF2-40B4-BE49-F238E27FC236}">
                <a16:creationId xmlns:a16="http://schemas.microsoft.com/office/drawing/2014/main" id="{058501F1-F574-41FE-B926-4DB08FBF8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3781" y="4457585"/>
            <a:ext cx="76200" cy="10001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Oval 25">
            <a:extLst>
              <a:ext uri="{FF2B5EF4-FFF2-40B4-BE49-F238E27FC236}">
                <a16:creationId xmlns:a16="http://schemas.microsoft.com/office/drawing/2014/main" id="{5921491D-DC9C-45B7-B0D6-CF8DEA9E0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6793" y="5389448"/>
            <a:ext cx="76200" cy="10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Oval 26">
            <a:extLst>
              <a:ext uri="{FF2B5EF4-FFF2-40B4-BE49-F238E27FC236}">
                <a16:creationId xmlns:a16="http://schemas.microsoft.com/office/drawing/2014/main" id="{20A43AD8-9002-4FA0-9994-106D623B4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318" y="4443298"/>
            <a:ext cx="76200" cy="10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Line 27">
            <a:extLst>
              <a:ext uri="{FF2B5EF4-FFF2-40B4-BE49-F238E27FC236}">
                <a16:creationId xmlns:a16="http://schemas.microsoft.com/office/drawing/2014/main" id="{2FE50C8B-3ECE-40AD-91D4-43F4914BF58C}"/>
              </a:ext>
            </a:extLst>
          </p:cNvPr>
          <p:cNvSpPr>
            <a:spLocks noChangeShapeType="1"/>
          </p:cNvSpPr>
          <p:nvPr/>
        </p:nvSpPr>
        <p:spPr bwMode="auto">
          <a:xfrm>
            <a:off x="5038831" y="4479810"/>
            <a:ext cx="949325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Line 28">
            <a:extLst>
              <a:ext uri="{FF2B5EF4-FFF2-40B4-BE49-F238E27FC236}">
                <a16:creationId xmlns:a16="http://schemas.microsoft.com/office/drawing/2014/main" id="{C1FC2D06-F610-456A-9119-CFBD05934E6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1043" y="4584585"/>
            <a:ext cx="0" cy="1262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29">
            <a:extLst>
              <a:ext uri="{FF2B5EF4-FFF2-40B4-BE49-F238E27FC236}">
                <a16:creationId xmlns:a16="http://schemas.microsoft.com/office/drawing/2014/main" id="{C69780A4-3804-4A98-9982-48323A5B0C3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38831" y="5949835"/>
            <a:ext cx="949325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Line 30">
            <a:extLst>
              <a:ext uri="{FF2B5EF4-FFF2-40B4-BE49-F238E27FC236}">
                <a16:creationId xmlns:a16="http://schemas.microsoft.com/office/drawing/2014/main" id="{9A27C909-AF02-46BA-AE33-F4596588780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7531" y="4584585"/>
            <a:ext cx="1587" cy="1262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Oval 31">
            <a:extLst>
              <a:ext uri="{FF2B5EF4-FFF2-40B4-BE49-F238E27FC236}">
                <a16:creationId xmlns:a16="http://schemas.microsoft.com/office/drawing/2014/main" id="{EE4FA873-8CDE-445B-B3F1-E486C5E61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968" y="5860935"/>
            <a:ext cx="76200" cy="10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Oval 32">
            <a:extLst>
              <a:ext uri="{FF2B5EF4-FFF2-40B4-BE49-F238E27FC236}">
                <a16:creationId xmlns:a16="http://schemas.microsoft.com/office/drawing/2014/main" id="{50338B54-3EB1-426B-85E4-2927AF6C6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0406" y="5848235"/>
            <a:ext cx="76200" cy="10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Oval 33">
            <a:extLst>
              <a:ext uri="{FF2B5EF4-FFF2-40B4-BE49-F238E27FC236}">
                <a16:creationId xmlns:a16="http://schemas.microsoft.com/office/drawing/2014/main" id="{CE05046B-9C62-471A-ABE5-50968ECAD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9768" y="4443298"/>
            <a:ext cx="76200" cy="10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Oval 34">
            <a:extLst>
              <a:ext uri="{FF2B5EF4-FFF2-40B4-BE49-F238E27FC236}">
                <a16:creationId xmlns:a16="http://schemas.microsoft.com/office/drawing/2014/main" id="{BAD7A24A-4571-4BD4-ACCB-FC90F7ECD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3931" y="4378210"/>
            <a:ext cx="76200" cy="10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Line 35">
            <a:extLst>
              <a:ext uri="{FF2B5EF4-FFF2-40B4-BE49-F238E27FC236}">
                <a16:creationId xmlns:a16="http://schemas.microsoft.com/office/drawing/2014/main" id="{A0A78BA1-6D8E-4B22-8928-18B875F27F26}"/>
              </a:ext>
            </a:extLst>
          </p:cNvPr>
          <p:cNvSpPr>
            <a:spLocks noChangeShapeType="1"/>
          </p:cNvSpPr>
          <p:nvPr/>
        </p:nvSpPr>
        <p:spPr bwMode="auto">
          <a:xfrm>
            <a:off x="6764443" y="4414723"/>
            <a:ext cx="949325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Line 36">
            <a:extLst>
              <a:ext uri="{FF2B5EF4-FFF2-40B4-BE49-F238E27FC236}">
                <a16:creationId xmlns:a16="http://schemas.microsoft.com/office/drawing/2014/main" id="{BE9EA3D3-F5B9-40B6-9ABE-F8CA891B82AE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6656" y="4519498"/>
            <a:ext cx="0" cy="12604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Line 37">
            <a:extLst>
              <a:ext uri="{FF2B5EF4-FFF2-40B4-BE49-F238E27FC236}">
                <a16:creationId xmlns:a16="http://schemas.microsoft.com/office/drawing/2014/main" id="{64AADA33-63A3-47DF-B8B1-F1800C507FF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64443" y="5884748"/>
            <a:ext cx="949325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Line 38">
            <a:extLst>
              <a:ext uri="{FF2B5EF4-FFF2-40B4-BE49-F238E27FC236}">
                <a16:creationId xmlns:a16="http://schemas.microsoft.com/office/drawing/2014/main" id="{94C3611F-A7BC-4FFC-89B8-FBAF10C74162}"/>
              </a:ext>
            </a:extLst>
          </p:cNvPr>
          <p:cNvSpPr>
            <a:spLocks noChangeShapeType="1"/>
          </p:cNvSpPr>
          <p:nvPr/>
        </p:nvSpPr>
        <p:spPr bwMode="auto">
          <a:xfrm>
            <a:off x="7793143" y="4519498"/>
            <a:ext cx="1588" cy="12604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Oval 39">
            <a:extLst>
              <a:ext uri="{FF2B5EF4-FFF2-40B4-BE49-F238E27FC236}">
                <a16:creationId xmlns:a16="http://schemas.microsoft.com/office/drawing/2014/main" id="{55D9424E-68FB-4C7A-9720-90B875FA4A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9168" y="5795848"/>
            <a:ext cx="76200" cy="10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" name="Oval 40">
            <a:extLst>
              <a:ext uri="{FF2B5EF4-FFF2-40B4-BE49-F238E27FC236}">
                <a16:creationId xmlns:a16="http://schemas.microsoft.com/office/drawing/2014/main" id="{AEF59F39-BD4B-49A3-BEFC-07E22928B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6018" y="5783148"/>
            <a:ext cx="76200" cy="10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" name="Oval 41">
            <a:extLst>
              <a:ext uri="{FF2B5EF4-FFF2-40B4-BE49-F238E27FC236}">
                <a16:creationId xmlns:a16="http://schemas.microsoft.com/office/drawing/2014/main" id="{3CD37A0C-5898-45D0-9177-A90F362C5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6968" y="4378210"/>
            <a:ext cx="74613" cy="10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" name="Oval 42">
            <a:extLst>
              <a:ext uri="{FF2B5EF4-FFF2-40B4-BE49-F238E27FC236}">
                <a16:creationId xmlns:a16="http://schemas.microsoft.com/office/drawing/2014/main" id="{1FB0FCB0-C6D3-4415-B78F-C8D1C0E02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4956" y="4443298"/>
            <a:ext cx="76200" cy="10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" name="Line 43">
            <a:extLst>
              <a:ext uri="{FF2B5EF4-FFF2-40B4-BE49-F238E27FC236}">
                <a16:creationId xmlns:a16="http://schemas.microsoft.com/office/drawing/2014/main" id="{18F894CE-8AC4-4525-87C9-19757BF4EFAD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7056" y="4479810"/>
            <a:ext cx="947737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" name="Line 44">
            <a:extLst>
              <a:ext uri="{FF2B5EF4-FFF2-40B4-BE49-F238E27FC236}">
                <a16:creationId xmlns:a16="http://schemas.microsoft.com/office/drawing/2014/main" id="{F7BA537E-DD75-43A0-9D5A-BBED6B4CCDED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7681" y="4584585"/>
            <a:ext cx="1587" cy="12604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" name="Line 45">
            <a:extLst>
              <a:ext uri="{FF2B5EF4-FFF2-40B4-BE49-F238E27FC236}">
                <a16:creationId xmlns:a16="http://schemas.microsoft.com/office/drawing/2014/main" id="{9BB3C14F-030F-47EE-A1B4-C83AD812A03C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7056" y="5949835"/>
            <a:ext cx="947737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" name="Line 46">
            <a:extLst>
              <a:ext uri="{FF2B5EF4-FFF2-40B4-BE49-F238E27FC236}">
                <a16:creationId xmlns:a16="http://schemas.microsoft.com/office/drawing/2014/main" id="{2A9B8BA9-7B05-42EF-92BB-3580AB01BAD7}"/>
              </a:ext>
            </a:extLst>
          </p:cNvPr>
          <p:cNvSpPr>
            <a:spLocks noChangeShapeType="1"/>
          </p:cNvSpPr>
          <p:nvPr/>
        </p:nvSpPr>
        <p:spPr bwMode="auto">
          <a:xfrm>
            <a:off x="9645756" y="4584585"/>
            <a:ext cx="0" cy="12604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" name="Oval 47">
            <a:extLst>
              <a:ext uri="{FF2B5EF4-FFF2-40B4-BE49-F238E27FC236}">
                <a16:creationId xmlns:a16="http://schemas.microsoft.com/office/drawing/2014/main" id="{91D800AD-F990-4679-A449-583D49B71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0193" y="5860935"/>
            <a:ext cx="76200" cy="10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Oval 48">
            <a:extLst>
              <a:ext uri="{FF2B5EF4-FFF2-40B4-BE49-F238E27FC236}">
                <a16:creationId xmlns:a16="http://schemas.microsoft.com/office/drawing/2014/main" id="{92B5B689-D0A3-4DFE-832C-37574B7A8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7043" y="5848235"/>
            <a:ext cx="76200" cy="10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" name="Oval 49">
            <a:extLst>
              <a:ext uri="{FF2B5EF4-FFF2-40B4-BE49-F238E27FC236}">
                <a16:creationId xmlns:a16="http://schemas.microsoft.com/office/drawing/2014/main" id="{98D5CF85-72DE-4760-9AA6-3BB990EE6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7993" y="4443298"/>
            <a:ext cx="76200" cy="10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C1C1C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" name="Rectangle 51">
            <a:extLst>
              <a:ext uri="{FF2B5EF4-FFF2-40B4-BE49-F238E27FC236}">
                <a16:creationId xmlns:a16="http://schemas.microsoft.com/office/drawing/2014/main" id="{CA0365EC-2209-4F4C-9DEA-73FD83F4E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5218" y="6178435"/>
            <a:ext cx="10112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bIns="0">
            <a:spAutoFit/>
          </a:bodyPr>
          <a:lstStyle/>
          <a:p>
            <a:r>
              <a:rPr kumimoji="1" lang="zh-CN" altLang="en-US"/>
              <a:t>连通图</a:t>
            </a:r>
          </a:p>
        </p:txBody>
      </p:sp>
      <p:sp>
        <p:nvSpPr>
          <p:cNvPr id="51" name="Rectangle 52">
            <a:extLst>
              <a:ext uri="{FF2B5EF4-FFF2-40B4-BE49-F238E27FC236}">
                <a16:creationId xmlns:a16="http://schemas.microsoft.com/office/drawing/2014/main" id="{EF2FA6E4-3085-45AE-9BC3-43634E71B8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6518" y="6178435"/>
            <a:ext cx="13684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bIns="0">
            <a:spAutoFit/>
          </a:bodyPr>
          <a:lstStyle/>
          <a:p>
            <a:r>
              <a:rPr kumimoji="1" lang="zh-CN" altLang="en-US"/>
              <a:t>非连通图</a:t>
            </a:r>
          </a:p>
        </p:txBody>
      </p:sp>
      <p:sp>
        <p:nvSpPr>
          <p:cNvPr id="52" name="Rectangle 53">
            <a:extLst>
              <a:ext uri="{FF2B5EF4-FFF2-40B4-BE49-F238E27FC236}">
                <a16:creationId xmlns:a16="http://schemas.microsoft.com/office/drawing/2014/main" id="{032C20A2-FC7B-4FAB-909D-62A117E22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3568" y="6183198"/>
            <a:ext cx="14446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bIns="0">
            <a:spAutoFit/>
          </a:bodyPr>
          <a:lstStyle/>
          <a:p>
            <a:r>
              <a:rPr kumimoji="1" lang="zh-CN" altLang="en-US"/>
              <a:t>强连通图</a:t>
            </a:r>
          </a:p>
        </p:txBody>
      </p:sp>
      <p:sp>
        <p:nvSpPr>
          <p:cNvPr id="53" name="Rectangle 54">
            <a:extLst>
              <a:ext uri="{FF2B5EF4-FFF2-40B4-BE49-F238E27FC236}">
                <a16:creationId xmlns:a16="http://schemas.microsoft.com/office/drawing/2014/main" id="{E6BCA4DE-34F7-432F-8C7F-BC4B8B0B5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1068" y="6183198"/>
            <a:ext cx="172878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bIns="0">
            <a:spAutoFit/>
          </a:bodyPr>
          <a:lstStyle/>
          <a:p>
            <a:r>
              <a:rPr kumimoji="1" lang="zh-CN" altLang="en-US"/>
              <a:t>单向连通图</a:t>
            </a:r>
          </a:p>
        </p:txBody>
      </p:sp>
      <p:sp>
        <p:nvSpPr>
          <p:cNvPr id="54" name="Rectangle 55">
            <a:extLst>
              <a:ext uri="{FF2B5EF4-FFF2-40B4-BE49-F238E27FC236}">
                <a16:creationId xmlns:a16="http://schemas.microsoft.com/office/drawing/2014/main" id="{2A87D258-0A4F-4464-99D9-102324D43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0218" y="6183198"/>
            <a:ext cx="15843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bIns="0">
            <a:spAutoFit/>
          </a:bodyPr>
          <a:lstStyle/>
          <a:p>
            <a:r>
              <a:rPr kumimoji="1" lang="zh-CN" altLang="en-US"/>
              <a:t>弱连通图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12415A54-4779-4331-846C-033270883053}"/>
              </a:ext>
            </a:extLst>
          </p:cNvPr>
          <p:cNvSpPr txBox="1"/>
          <p:nvPr/>
        </p:nvSpPr>
        <p:spPr>
          <a:xfrm>
            <a:off x="1612000" y="771640"/>
            <a:ext cx="8433071" cy="3154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对于</a:t>
            </a:r>
            <a:r>
              <a:rPr lang="zh-CN" altLang="en-US" sz="2800" b="1" dirty="0">
                <a:solidFill>
                  <a:srgbClr val="99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有向图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，如果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的任何两个结点都是相互可达的，则称有向图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强连通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的；</a:t>
            </a: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的任何两个结点中，至少从一个结点到另一个结点是可达的，称有向图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单向连通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的；</a:t>
            </a: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的有向边被看作无向边时是连通的，称有向图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弱连通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的。</a:t>
            </a:r>
            <a:r>
              <a:rPr lang="zh-CN" altLang="en-US" sz="2800" b="1" dirty="0">
                <a:solidFill>
                  <a:srgbClr val="990000"/>
                </a:solidFill>
                <a:latin typeface="宋体" panose="02010600030101010101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17762197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3" grpId="0"/>
      <p:bldP spid="5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EF14578-5276-4784-9583-54500758AF4A}"/>
              </a:ext>
            </a:extLst>
          </p:cNvPr>
          <p:cNvSpPr txBox="1">
            <a:spLocks noChangeArrowheads="1"/>
          </p:cNvSpPr>
          <p:nvPr/>
        </p:nvSpPr>
        <p:spPr>
          <a:xfrm>
            <a:off x="1717456" y="1010513"/>
            <a:ext cx="9412097" cy="44513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在有向图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G = &lt;V, E&gt;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中，设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G’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的子图，如果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G’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强连通的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单向连通的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b="1" dirty="0">
                <a:solidFill>
                  <a:srgbClr val="8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弱连通的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）；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）对任意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G"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⊆ 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，若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G’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⊆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G"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，则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G"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不是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强连通</a:t>
            </a:r>
            <a:r>
              <a:rPr lang="zh-CN" altLang="en-US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单向连通的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b="1" dirty="0">
                <a:solidFill>
                  <a:srgbClr val="8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弱连通的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）；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那么称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G’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强连通分支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单向连通分支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b="1" dirty="0">
                <a:solidFill>
                  <a:srgbClr val="8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弱连通分支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(Strongly/Unilaterally/weakly Connected Component)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，或称为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强分图（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单向分图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b="1" dirty="0">
                <a:solidFill>
                  <a:srgbClr val="8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弱分图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）。 </a:t>
            </a:r>
          </a:p>
        </p:txBody>
      </p:sp>
    </p:spTree>
    <p:extLst>
      <p:ext uri="{BB962C8B-B14F-4D97-AF65-F5344CB8AC3E}">
        <p14:creationId xmlns:p14="http://schemas.microsoft.com/office/powerpoint/2010/main" val="1361952345"/>
      </p:ext>
    </p:extLst>
  </p:cSld>
  <p:clrMapOvr>
    <a:masterClrMapping/>
  </p:clrMapOvr>
  <p:transition spd="slow" advTm="0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grpSp>
        <p:nvGrpSpPr>
          <p:cNvPr id="5" name="Group 54">
            <a:extLst>
              <a:ext uri="{FF2B5EF4-FFF2-40B4-BE49-F238E27FC236}">
                <a16:creationId xmlns:a16="http://schemas.microsoft.com/office/drawing/2014/main" id="{1F1FB17D-6EE2-4A12-8A31-6737045D18D6}"/>
              </a:ext>
            </a:extLst>
          </p:cNvPr>
          <p:cNvGrpSpPr>
            <a:grpSpLocks/>
          </p:cNvGrpSpPr>
          <p:nvPr/>
        </p:nvGrpSpPr>
        <p:grpSpPr bwMode="auto">
          <a:xfrm>
            <a:off x="1903413" y="1068388"/>
            <a:ext cx="7842250" cy="2409824"/>
            <a:chOff x="431" y="1389"/>
            <a:chExt cx="4940" cy="1518"/>
          </a:xfrm>
        </p:grpSpPr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340F3FB3-3430-4DFF-B253-AE1CC69E5DB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359" y="2650"/>
              <a:ext cx="237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ctr"/>
              <a:r>
                <a:rPr lang="en-US" altLang="zh-CN" sz="2400" b="1" dirty="0"/>
                <a:t>G</a:t>
              </a:r>
              <a:r>
                <a:rPr lang="en-US" altLang="zh-CN" sz="2400" b="1" baseline="-25000" dirty="0"/>
                <a:t>2</a:t>
              </a:r>
              <a:endParaRPr lang="en-US" altLang="zh-CN" sz="2400" b="1" dirty="0"/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53C6A314-99B5-4317-925F-9AF56174063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584" y="1704"/>
              <a:ext cx="0" cy="68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BBD83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010217EE-358C-477D-81FC-5F674D019CF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605" y="1672"/>
              <a:ext cx="68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med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BBD83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2C430CD-A041-41BD-9F04-8BD9B7EC326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64" y="1662"/>
              <a:ext cx="45" cy="46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1BD6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BBD83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96093F1F-2906-4C8A-8E2F-0D640499C69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605" y="2388"/>
              <a:ext cx="68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BBD83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536BEA7-AC55-4FB7-A95E-38CEBBCDDA5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66" y="2372"/>
              <a:ext cx="46" cy="45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1BD6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BBD83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C6FD676F-E27E-4E9B-92A3-EC8ABF4DFA5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312" y="1704"/>
              <a:ext cx="0" cy="68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BBD83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15E90CA-BD0B-4BE2-8600-F21F33654A7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91" y="1662"/>
              <a:ext cx="45" cy="46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1BD6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BBD83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8ABFAA9-A210-4E47-AC14-9F5C5D9A3E2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93" y="2369"/>
              <a:ext cx="46" cy="46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1BD6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BBD83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6" name="Text Box 15">
              <a:extLst>
                <a:ext uri="{FF2B5EF4-FFF2-40B4-BE49-F238E27FC236}">
                  <a16:creationId xmlns:a16="http://schemas.microsoft.com/office/drawing/2014/main" id="{E7AEC722-8471-47E6-A652-5CCF12CEBFF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503" y="1389"/>
              <a:ext cx="182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ctr"/>
              <a:r>
                <a:rPr lang="en-US" altLang="zh-CN" sz="2400" b="1"/>
                <a:t>v</a:t>
              </a:r>
              <a:r>
                <a:rPr lang="en-US" altLang="zh-CN" sz="2400" b="1" baseline="-25000"/>
                <a:t>1</a:t>
              </a:r>
              <a:endParaRPr lang="en-US" altLang="zh-CN" sz="2400" b="1"/>
            </a:p>
          </p:txBody>
        </p:sp>
        <p:sp>
          <p:nvSpPr>
            <p:cNvPr id="17" name="Text Box 16">
              <a:extLst>
                <a:ext uri="{FF2B5EF4-FFF2-40B4-BE49-F238E27FC236}">
                  <a16:creationId xmlns:a16="http://schemas.microsoft.com/office/drawing/2014/main" id="{869B07A5-F4EC-493A-B481-35C27243837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503" y="2380"/>
              <a:ext cx="182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ctr"/>
              <a:r>
                <a:rPr lang="en-US" altLang="zh-CN" sz="2400" b="1"/>
                <a:t>v</a:t>
              </a:r>
              <a:r>
                <a:rPr lang="en-US" altLang="zh-CN" sz="2400" b="1" baseline="-25000"/>
                <a:t>2</a:t>
              </a:r>
              <a:endParaRPr lang="en-US" altLang="zh-CN" sz="2400" b="1"/>
            </a:p>
          </p:txBody>
        </p:sp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1E5B9295-AE87-4310-90F6-8769B4867AF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229" y="1389"/>
              <a:ext cx="182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ctr"/>
              <a:r>
                <a:rPr lang="en-US" altLang="zh-CN" sz="2400" b="1"/>
                <a:t>v</a:t>
              </a:r>
              <a:r>
                <a:rPr lang="en-US" altLang="zh-CN" sz="2400" b="1" baseline="-25000"/>
                <a:t>3</a:t>
              </a:r>
              <a:endParaRPr lang="en-US" altLang="zh-CN" sz="2400" b="1"/>
            </a:p>
          </p:txBody>
        </p:sp>
        <p:sp>
          <p:nvSpPr>
            <p:cNvPr id="19" name="Text Box 18">
              <a:extLst>
                <a:ext uri="{FF2B5EF4-FFF2-40B4-BE49-F238E27FC236}">
                  <a16:creationId xmlns:a16="http://schemas.microsoft.com/office/drawing/2014/main" id="{739EFFC2-1276-4BE2-82FB-C349933BF65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236" y="2380"/>
              <a:ext cx="181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ctr"/>
              <a:r>
                <a:rPr lang="en-US" altLang="zh-CN" sz="2400" b="1"/>
                <a:t>v</a:t>
              </a:r>
              <a:r>
                <a:rPr lang="en-US" altLang="zh-CN" sz="2400" b="1" baseline="-25000"/>
                <a:t>4</a:t>
              </a:r>
              <a:endParaRPr lang="en-US" altLang="zh-CN" sz="2400" b="1"/>
            </a:p>
          </p:txBody>
        </p:sp>
        <p:sp>
          <p:nvSpPr>
            <p:cNvPr id="20" name="Text Box 19">
              <a:extLst>
                <a:ext uri="{FF2B5EF4-FFF2-40B4-BE49-F238E27FC236}">
                  <a16:creationId xmlns:a16="http://schemas.microsoft.com/office/drawing/2014/main" id="{715E676E-37E6-4084-84A4-8DB354D8CD1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359" y="2681"/>
              <a:ext cx="657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ctr"/>
              <a:r>
                <a:rPr lang="en-US" altLang="zh-CN" sz="2400" b="1" dirty="0"/>
                <a:t>G1</a:t>
              </a:r>
            </a:p>
          </p:txBody>
        </p: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3D4720B8-31E0-41A3-8F29-9A59DD8FFFB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093" y="1704"/>
              <a:ext cx="0" cy="45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lg" len="lg"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BBD83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22" name="Line 21">
              <a:extLst>
                <a:ext uri="{FF2B5EF4-FFF2-40B4-BE49-F238E27FC236}">
                  <a16:creationId xmlns:a16="http://schemas.microsoft.com/office/drawing/2014/main" id="{5D1D4B3C-8322-477C-99C6-C9012C89C90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22" y="1672"/>
              <a:ext cx="90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med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BBD83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2E58569-FA84-4FC6-932E-844B79EFBC8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72" y="1662"/>
              <a:ext cx="46" cy="46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1BD6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BBD83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24" name="Line 23">
              <a:extLst>
                <a:ext uri="{FF2B5EF4-FFF2-40B4-BE49-F238E27FC236}">
                  <a16:creationId xmlns:a16="http://schemas.microsoft.com/office/drawing/2014/main" id="{9C05F1B3-B0B4-4646-BB51-5EE8006A4E2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22" y="2167"/>
              <a:ext cx="90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lg" len="lg"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BBD83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667F232-238C-493B-9FCD-8F88E2DF8C3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74" y="2151"/>
              <a:ext cx="46" cy="45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1BD6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BBD83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26" name="Line 25">
              <a:extLst>
                <a:ext uri="{FF2B5EF4-FFF2-40B4-BE49-F238E27FC236}">
                  <a16:creationId xmlns:a16="http://schemas.microsoft.com/office/drawing/2014/main" id="{48D2D1CB-3AA8-47A4-884D-3EC249A2250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040" y="1704"/>
              <a:ext cx="0" cy="45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BBD83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41BEFD35-47D1-4C4E-8D51-C3802C0BD1F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19" y="1662"/>
              <a:ext cx="46" cy="46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1BD6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BBD83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88CE2A46-94AA-445B-B48B-C5541C33625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22" y="2148"/>
              <a:ext cx="45" cy="46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1BD6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BBD83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29" name="Text Box 28">
              <a:extLst>
                <a:ext uri="{FF2B5EF4-FFF2-40B4-BE49-F238E27FC236}">
                  <a16:creationId xmlns:a16="http://schemas.microsoft.com/office/drawing/2014/main" id="{8770FC33-0055-4793-9A2C-6D3FCE9EA55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32" y="1389"/>
              <a:ext cx="182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ctr"/>
              <a:r>
                <a:rPr lang="en-US" altLang="zh-CN" sz="2400" b="1"/>
                <a:t>v</a:t>
              </a:r>
              <a:r>
                <a:rPr lang="en-US" altLang="zh-CN" sz="2400" b="1" baseline="-25000"/>
                <a:t>1</a:t>
              </a:r>
              <a:endParaRPr lang="en-US" altLang="zh-CN" sz="2400" b="1"/>
            </a:p>
          </p:txBody>
        </p:sp>
        <p:sp>
          <p:nvSpPr>
            <p:cNvPr id="30" name="Text Box 29">
              <a:extLst>
                <a:ext uri="{FF2B5EF4-FFF2-40B4-BE49-F238E27FC236}">
                  <a16:creationId xmlns:a16="http://schemas.microsoft.com/office/drawing/2014/main" id="{E3BD00FD-7CC3-43B3-BEDE-86E1E9AA203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21" y="2120"/>
              <a:ext cx="182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ctr"/>
              <a:r>
                <a:rPr lang="en-US" altLang="zh-CN" sz="2400" b="1"/>
                <a:t>v</a:t>
              </a:r>
              <a:r>
                <a:rPr lang="en-US" altLang="zh-CN" sz="2400" b="1" baseline="-25000"/>
                <a:t>3</a:t>
              </a:r>
              <a:endParaRPr lang="en-US" altLang="zh-CN" sz="2400" b="1"/>
            </a:p>
          </p:txBody>
        </p:sp>
        <p:sp>
          <p:nvSpPr>
            <p:cNvPr id="31" name="Text Box 30">
              <a:extLst>
                <a:ext uri="{FF2B5EF4-FFF2-40B4-BE49-F238E27FC236}">
                  <a16:creationId xmlns:a16="http://schemas.microsoft.com/office/drawing/2014/main" id="{C12DE2FB-A067-4193-9D24-89827BAB319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974" y="1389"/>
              <a:ext cx="181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ctr"/>
              <a:r>
                <a:rPr lang="en-US" altLang="zh-CN" sz="2400" b="1"/>
                <a:t>v</a:t>
              </a:r>
              <a:r>
                <a:rPr lang="en-US" altLang="zh-CN" sz="2400" b="1" baseline="-25000"/>
                <a:t>7</a:t>
              </a:r>
              <a:endParaRPr lang="en-US" altLang="zh-CN" sz="2400" b="1"/>
            </a:p>
          </p:txBody>
        </p:sp>
        <p:sp>
          <p:nvSpPr>
            <p:cNvPr id="32" name="Text Box 31">
              <a:extLst>
                <a:ext uri="{FF2B5EF4-FFF2-40B4-BE49-F238E27FC236}">
                  <a16:creationId xmlns:a16="http://schemas.microsoft.com/office/drawing/2014/main" id="{D2EDDD86-C0F4-4281-A6DD-92C84645EBB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016" y="2120"/>
              <a:ext cx="182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ctr"/>
              <a:r>
                <a:rPr lang="en-US" altLang="zh-CN" sz="2400" b="1"/>
                <a:t>v</a:t>
              </a:r>
              <a:r>
                <a:rPr lang="en-US" altLang="zh-CN" sz="2400" b="1" baseline="-25000"/>
                <a:t>5</a:t>
              </a:r>
              <a:endParaRPr lang="en-US" altLang="zh-CN" sz="2400" b="1"/>
            </a:p>
          </p:txBody>
        </p:sp>
        <p:sp>
          <p:nvSpPr>
            <p:cNvPr id="33" name="Line 32">
              <a:extLst>
                <a:ext uri="{FF2B5EF4-FFF2-40B4-BE49-F238E27FC236}">
                  <a16:creationId xmlns:a16="http://schemas.microsoft.com/office/drawing/2014/main" id="{35FEE9AE-C311-4149-90E6-65DB46B8E45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603" y="1689"/>
              <a:ext cx="680" cy="68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BBD83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34" name="Line 33">
              <a:extLst>
                <a:ext uri="{FF2B5EF4-FFF2-40B4-BE49-F238E27FC236}">
                  <a16:creationId xmlns:a16="http://schemas.microsoft.com/office/drawing/2014/main" id="{80EEA1FF-9BCA-45B3-814F-A9C1AD993AE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500" y="1704"/>
              <a:ext cx="0" cy="68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lg" len="lg"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BBD83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35" name="Line 34">
              <a:extLst>
                <a:ext uri="{FF2B5EF4-FFF2-40B4-BE49-F238E27FC236}">
                  <a16:creationId xmlns:a16="http://schemas.microsoft.com/office/drawing/2014/main" id="{7F24729F-6325-42C8-BF68-B1D9E8507FD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531" y="1672"/>
              <a:ext cx="68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med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BBD83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8FD77966-BB46-4E54-8E5F-854593FDD64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80" y="1662"/>
              <a:ext cx="45" cy="46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1BD6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BBD83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30EE471C-4210-43D6-8751-C12E2AD28DD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82" y="2372"/>
              <a:ext cx="46" cy="45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1BD6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BBD83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38" name="Line 37">
              <a:extLst>
                <a:ext uri="{FF2B5EF4-FFF2-40B4-BE49-F238E27FC236}">
                  <a16:creationId xmlns:a16="http://schemas.microsoft.com/office/drawing/2014/main" id="{DD0B9E43-4E6D-41A7-9982-6148878E829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528" y="1704"/>
              <a:ext cx="681" cy="68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BBD83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AB8FED59-8B2A-4DE8-9742-1A7137C1A09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28" y="1662"/>
              <a:ext cx="45" cy="46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1BD6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BBD83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40" name="Text Box 39">
              <a:extLst>
                <a:ext uri="{FF2B5EF4-FFF2-40B4-BE49-F238E27FC236}">
                  <a16:creationId xmlns:a16="http://schemas.microsoft.com/office/drawing/2014/main" id="{687339F3-6FDE-4B1E-A339-377561DE222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415" y="1389"/>
              <a:ext cx="181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ctr"/>
              <a:r>
                <a:rPr lang="en-US" altLang="zh-CN" sz="2400" b="1"/>
                <a:t>v</a:t>
              </a:r>
              <a:r>
                <a:rPr lang="en-US" altLang="zh-CN" sz="2400" b="1" baseline="-25000"/>
                <a:t>5</a:t>
              </a:r>
              <a:endParaRPr lang="en-US" altLang="zh-CN" sz="2400" b="1"/>
            </a:p>
          </p:txBody>
        </p:sp>
        <p:sp>
          <p:nvSpPr>
            <p:cNvPr id="41" name="Text Box 40">
              <a:extLst>
                <a:ext uri="{FF2B5EF4-FFF2-40B4-BE49-F238E27FC236}">
                  <a16:creationId xmlns:a16="http://schemas.microsoft.com/office/drawing/2014/main" id="{F62B7508-4BA7-4158-8817-D27A01C6396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421" y="2380"/>
              <a:ext cx="182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ctr"/>
              <a:r>
                <a:rPr lang="en-US" altLang="zh-CN" sz="2400" b="1"/>
                <a:t>v</a:t>
              </a:r>
              <a:r>
                <a:rPr lang="en-US" altLang="zh-CN" sz="2400" b="1" baseline="-25000"/>
                <a:t>6</a:t>
              </a:r>
              <a:endParaRPr lang="en-US" altLang="zh-CN" sz="2400" b="1"/>
            </a:p>
          </p:txBody>
        </p:sp>
        <p:sp>
          <p:nvSpPr>
            <p:cNvPr id="42" name="Text Box 41">
              <a:extLst>
                <a:ext uri="{FF2B5EF4-FFF2-40B4-BE49-F238E27FC236}">
                  <a16:creationId xmlns:a16="http://schemas.microsoft.com/office/drawing/2014/main" id="{1285B3EA-7AEB-44FB-943A-43FD0869765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189" y="1389"/>
              <a:ext cx="182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ctr"/>
              <a:r>
                <a:rPr lang="en-US" altLang="zh-CN" sz="2400" b="1"/>
                <a:t>v</a:t>
              </a:r>
              <a:r>
                <a:rPr lang="en-US" altLang="zh-CN" sz="2400" b="1" baseline="-25000"/>
                <a:t>7</a:t>
              </a:r>
              <a:endParaRPr lang="en-US" altLang="zh-CN" sz="2400" b="1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2DA21FD2-2C31-4978-9FBE-BCD774D2D0C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93" y="1906"/>
              <a:ext cx="45" cy="46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1BD6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BBD83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44" name="Text Box 43">
              <a:extLst>
                <a:ext uri="{FF2B5EF4-FFF2-40B4-BE49-F238E27FC236}">
                  <a16:creationId xmlns:a16="http://schemas.microsoft.com/office/drawing/2014/main" id="{1B247E77-D6D2-46C4-94DC-C95125E7AE4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31" y="1818"/>
              <a:ext cx="182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ctr"/>
              <a:r>
                <a:rPr lang="en-US" altLang="zh-CN" sz="2400" b="1"/>
                <a:t>v</a:t>
              </a:r>
              <a:r>
                <a:rPr lang="en-US" altLang="zh-CN" sz="2400" b="1" baseline="-25000"/>
                <a:t>2</a:t>
              </a:r>
              <a:endParaRPr lang="en-US" altLang="zh-CN" sz="2400" b="1"/>
            </a:p>
          </p:txBody>
        </p:sp>
        <p:sp>
          <p:nvSpPr>
            <p:cNvPr id="45" name="Line 44">
              <a:extLst>
                <a:ext uri="{FF2B5EF4-FFF2-40B4-BE49-F238E27FC236}">
                  <a16:creationId xmlns:a16="http://schemas.microsoft.com/office/drawing/2014/main" id="{89A5656C-4FAE-4B20-AE41-794C5174CAC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623" y="1693"/>
              <a:ext cx="454" cy="22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BBD83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46" name="Line 45">
              <a:extLst>
                <a:ext uri="{FF2B5EF4-FFF2-40B4-BE49-F238E27FC236}">
                  <a16:creationId xmlns:a16="http://schemas.microsoft.com/office/drawing/2014/main" id="{B52D5D80-ED72-4CC7-93D9-574E5D62F06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623" y="1943"/>
              <a:ext cx="454" cy="22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BBD83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47" name="Line 46">
              <a:extLst>
                <a:ext uri="{FF2B5EF4-FFF2-40B4-BE49-F238E27FC236}">
                  <a16:creationId xmlns:a16="http://schemas.microsoft.com/office/drawing/2014/main" id="{A809BE95-2E5A-4B0D-B1E6-5708F943EC2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2051" y="1693"/>
              <a:ext cx="454" cy="22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lg" len="lg"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BBD83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48" name="Line 47">
              <a:extLst>
                <a:ext uri="{FF2B5EF4-FFF2-40B4-BE49-F238E27FC236}">
                  <a16:creationId xmlns:a16="http://schemas.microsoft.com/office/drawing/2014/main" id="{2C1070F9-643C-4347-BE02-D4D7E42CDBC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051" y="1943"/>
              <a:ext cx="454" cy="22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lg" len="lg"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BBD83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665538A4-D733-4F0D-96ED-68B5C3025D6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94" y="1906"/>
              <a:ext cx="45" cy="46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1BD6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BBD83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50" name="Text Box 49">
              <a:extLst>
                <a:ext uri="{FF2B5EF4-FFF2-40B4-BE49-F238E27FC236}">
                  <a16:creationId xmlns:a16="http://schemas.microsoft.com/office/drawing/2014/main" id="{6B9192D5-5433-4B74-A923-6AD2A312B9E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563" y="1818"/>
              <a:ext cx="181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ctr"/>
              <a:r>
                <a:rPr lang="en-US" altLang="zh-CN" sz="2400" b="1"/>
                <a:t>v</a:t>
              </a:r>
              <a:r>
                <a:rPr lang="en-US" altLang="zh-CN" sz="2400" b="1" baseline="-25000"/>
                <a:t>6</a:t>
              </a:r>
              <a:endParaRPr lang="en-US" altLang="zh-CN" sz="2400" b="1"/>
            </a:p>
          </p:txBody>
        </p:sp>
        <p:sp>
          <p:nvSpPr>
            <p:cNvPr id="51" name="Text Box 50">
              <a:extLst>
                <a:ext uri="{FF2B5EF4-FFF2-40B4-BE49-F238E27FC236}">
                  <a16:creationId xmlns:a16="http://schemas.microsoft.com/office/drawing/2014/main" id="{E8DEAC6F-7D4B-46B5-BA34-36C994C373D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497" y="2400"/>
              <a:ext cx="181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ctr"/>
              <a:r>
                <a:rPr lang="en-US" altLang="zh-CN" sz="2400" b="1"/>
                <a:t>v</a:t>
              </a:r>
              <a:r>
                <a:rPr lang="en-US" altLang="zh-CN" sz="2400" b="1" baseline="-25000"/>
                <a:t>4</a:t>
              </a:r>
              <a:endParaRPr lang="en-US" altLang="zh-CN" sz="2400" b="1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78CB59E-FFF2-499C-987F-7B19856DB90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58" y="2407"/>
              <a:ext cx="46" cy="45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1BD6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BBD83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53" name="Line 52">
              <a:extLst>
                <a:ext uri="{FF2B5EF4-FFF2-40B4-BE49-F238E27FC236}">
                  <a16:creationId xmlns:a16="http://schemas.microsoft.com/office/drawing/2014/main" id="{733A04FB-6804-47C7-A538-51F570676A3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16" y="2192"/>
              <a:ext cx="454" cy="22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med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BBD83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54" name="Line 53">
              <a:extLst>
                <a:ext uri="{FF2B5EF4-FFF2-40B4-BE49-F238E27FC236}">
                  <a16:creationId xmlns:a16="http://schemas.microsoft.com/office/drawing/2014/main" id="{62FF1DBC-5708-4AEA-BE8D-4580B56D7A4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590" y="2192"/>
              <a:ext cx="453" cy="22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lg" len="lg"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BBD83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</p:grpSp>
      <p:sp>
        <p:nvSpPr>
          <p:cNvPr id="55" name="Rectangle 3">
            <a:extLst>
              <a:ext uri="{FF2B5EF4-FFF2-40B4-BE49-F238E27FC236}">
                <a16:creationId xmlns:a16="http://schemas.microsoft.com/office/drawing/2014/main" id="{327F4EBD-0F04-4D32-BCAC-E50174709892}"/>
              </a:ext>
            </a:extLst>
          </p:cNvPr>
          <p:cNvSpPr txBox="1">
            <a:spLocks noChangeArrowheads="1"/>
          </p:cNvSpPr>
          <p:nvPr/>
        </p:nvSpPr>
        <p:spPr>
          <a:xfrm>
            <a:off x="183923" y="4016565"/>
            <a:ext cx="11824154" cy="47926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在图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中，由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导出的子图都是强连通分支；由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导出的子图都是单向连通分支；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本身为弱连通分支。</a:t>
            </a:r>
          </a:p>
          <a:p>
            <a:pPr>
              <a:lnSpc>
                <a:spcPct val="1000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在图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中，由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导出的子图都是强连通分支；由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导出的子图都是单向连通分支；由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导出的子图都是弱连通分支。</a:t>
            </a:r>
          </a:p>
        </p:txBody>
      </p:sp>
    </p:spTree>
    <p:extLst>
      <p:ext uri="{BB962C8B-B14F-4D97-AF65-F5344CB8AC3E}">
        <p14:creationId xmlns:p14="http://schemas.microsoft.com/office/powerpoint/2010/main" val="2659038897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F40B942-9E50-41F9-B28E-B6BF810F3E92}"/>
              </a:ext>
            </a:extLst>
          </p:cNvPr>
          <p:cNvSpPr txBox="1">
            <a:spLocks noChangeArrowheads="1"/>
          </p:cNvSpPr>
          <p:nvPr/>
        </p:nvSpPr>
        <p:spPr>
          <a:xfrm>
            <a:off x="1995851" y="1373981"/>
            <a:ext cx="8064500" cy="41100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在有向图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= &lt;V, E&gt;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中，它的每一个结点位于且仅位于一个强（弱）连通分支中。</a:t>
            </a:r>
          </a:p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在有向图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= &lt;V, E&gt;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中，它的每一个结点至少位于一个单向连通分支中。</a:t>
            </a:r>
          </a:p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在有向图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= &lt;V, E&gt;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中，它的每一条边至多在一个强连通分支中；至少在一个单向连通分支中；在且仅在一个弱连通分支中。</a:t>
            </a:r>
          </a:p>
        </p:txBody>
      </p:sp>
    </p:spTree>
    <p:extLst>
      <p:ext uri="{BB962C8B-B14F-4D97-AF65-F5344CB8AC3E}">
        <p14:creationId xmlns:p14="http://schemas.microsoft.com/office/powerpoint/2010/main" val="1336567737"/>
      </p:ext>
    </p:extLst>
  </p:cSld>
  <p:clrMapOvr>
    <a:masterClrMapping/>
  </p:clrMapOvr>
  <p:transition spd="slow" advTm="0">
    <p:wip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DB0B0B4-F112-491F-BAF0-6195608D17C1}"/>
              </a:ext>
            </a:extLst>
          </p:cNvPr>
          <p:cNvSpPr txBox="1">
            <a:spLocks noChangeArrowheads="1"/>
          </p:cNvSpPr>
          <p:nvPr/>
        </p:nvSpPr>
        <p:spPr>
          <a:xfrm>
            <a:off x="1571625" y="1245644"/>
            <a:ext cx="8064500" cy="1117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对于</a:t>
            </a:r>
            <a:r>
              <a:rPr lang="zh-CN" altLang="en-US" dirty="0">
                <a:latin typeface="宋体" panose="02010600030101010101" pitchFamily="2" charset="-122"/>
              </a:rPr>
              <a:t>“</a:t>
            </a:r>
            <a:r>
              <a:rPr lang="zh-CN" altLang="en-US" dirty="0"/>
              <a:t>两结点在同一单向连通分支中</a:t>
            </a:r>
            <a:r>
              <a:rPr lang="zh-CN" altLang="en-US" dirty="0">
                <a:latin typeface="宋体" panose="02010600030101010101" pitchFamily="2" charset="-122"/>
              </a:rPr>
              <a:t>”</a:t>
            </a:r>
            <a:r>
              <a:rPr lang="zh-CN" altLang="en-US" dirty="0"/>
              <a:t>这一关系，虽然它是自反的，对称的，但它不是传递的。</a:t>
            </a:r>
          </a:p>
        </p:txBody>
      </p:sp>
      <p:grpSp>
        <p:nvGrpSpPr>
          <p:cNvPr id="6" name="Group 14">
            <a:extLst>
              <a:ext uri="{FF2B5EF4-FFF2-40B4-BE49-F238E27FC236}">
                <a16:creationId xmlns:a16="http://schemas.microsoft.com/office/drawing/2014/main" id="{5B7F1115-39E5-42A1-825D-B306762456D3}"/>
              </a:ext>
            </a:extLst>
          </p:cNvPr>
          <p:cNvGrpSpPr>
            <a:grpSpLocks/>
          </p:cNvGrpSpPr>
          <p:nvPr/>
        </p:nvGrpSpPr>
        <p:grpSpPr bwMode="auto">
          <a:xfrm>
            <a:off x="4236244" y="2821452"/>
            <a:ext cx="2735262" cy="2257425"/>
            <a:chOff x="1156" y="2659"/>
            <a:chExt cx="1723" cy="1422"/>
          </a:xfrm>
        </p:grpSpPr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3DCB77E6-09F5-43CA-B29A-FC8835930A3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013" y="3049"/>
              <a:ext cx="681" cy="68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BBD83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03BA7BCC-56A7-484E-A57B-3FA8A4E67D7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276" y="3049"/>
              <a:ext cx="681" cy="68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BBD83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0" name="Oval 8">
              <a:extLst>
                <a:ext uri="{FF2B5EF4-FFF2-40B4-BE49-F238E27FC236}">
                  <a16:creationId xmlns:a16="http://schemas.microsoft.com/office/drawing/2014/main" id="{0F7AC2F7-2FC8-482A-AFB4-0C8F3646E78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51" y="2971"/>
              <a:ext cx="68" cy="69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1BD6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BBD83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1" name="Oval 9">
              <a:extLst>
                <a:ext uri="{FF2B5EF4-FFF2-40B4-BE49-F238E27FC236}">
                  <a16:creationId xmlns:a16="http://schemas.microsoft.com/office/drawing/2014/main" id="{7DC92C03-5988-468B-9B64-E583AC003B9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50" y="3729"/>
              <a:ext cx="68" cy="68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1BD6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BBD83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2" name="Oval 10">
              <a:extLst>
                <a:ext uri="{FF2B5EF4-FFF2-40B4-BE49-F238E27FC236}">
                  <a16:creationId xmlns:a16="http://schemas.microsoft.com/office/drawing/2014/main" id="{3C0F30FA-DCE4-4C84-B2BB-B63ADB8EF34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60" y="3729"/>
              <a:ext cx="69" cy="68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1BD6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BBD83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3" name="Text Box 11">
              <a:extLst>
                <a:ext uri="{FF2B5EF4-FFF2-40B4-BE49-F238E27FC236}">
                  <a16:creationId xmlns:a16="http://schemas.microsoft.com/office/drawing/2014/main" id="{56821D8A-8B34-4DB6-94F5-59BF45D5EE6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861" y="2659"/>
              <a:ext cx="272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ctr"/>
              <a:r>
                <a:rPr lang="en-US" altLang="zh-CN" sz="2400" b="1"/>
                <a:t>v</a:t>
              </a:r>
              <a:r>
                <a:rPr lang="en-US" altLang="zh-CN" sz="2400" b="1" baseline="-25000"/>
                <a:t>1</a:t>
              </a:r>
              <a:endParaRPr lang="en-US" altLang="zh-CN" sz="2400" b="1"/>
            </a:p>
          </p:txBody>
        </p:sp>
        <p:sp>
          <p:nvSpPr>
            <p:cNvPr id="14" name="Text Box 12">
              <a:extLst>
                <a:ext uri="{FF2B5EF4-FFF2-40B4-BE49-F238E27FC236}">
                  <a16:creationId xmlns:a16="http://schemas.microsoft.com/office/drawing/2014/main" id="{80DAF88F-D033-4DE6-AA5E-40F514E0520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56" y="3741"/>
              <a:ext cx="273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ctr"/>
              <a:r>
                <a:rPr lang="en-US" altLang="zh-CN" sz="2400" b="1"/>
                <a:t>v</a:t>
              </a:r>
              <a:r>
                <a:rPr lang="en-US" altLang="zh-CN" sz="2400" b="1" baseline="-25000"/>
                <a:t>2</a:t>
              </a:r>
              <a:endParaRPr lang="en-US" altLang="zh-CN" sz="2400" b="1"/>
            </a:p>
          </p:txBody>
        </p:sp>
        <p:sp>
          <p:nvSpPr>
            <p:cNvPr id="15" name="Text Box 13">
              <a:extLst>
                <a:ext uri="{FF2B5EF4-FFF2-40B4-BE49-F238E27FC236}">
                  <a16:creationId xmlns:a16="http://schemas.microsoft.com/office/drawing/2014/main" id="{049BDE09-6251-4186-926E-F55EA426D3D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606" y="3741"/>
              <a:ext cx="273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ctr"/>
              <a:r>
                <a:rPr lang="en-US" altLang="zh-CN" sz="2400" b="1"/>
                <a:t>v</a:t>
              </a:r>
              <a:r>
                <a:rPr lang="en-US" altLang="zh-CN" sz="2400" b="1" baseline="-25000"/>
                <a:t>3</a:t>
              </a:r>
              <a:endParaRPr lang="en-US" altLang="zh-CN" sz="2400" b="1"/>
            </a:p>
          </p:txBody>
        </p:sp>
      </p:grpSp>
    </p:spTree>
    <p:extLst>
      <p:ext uri="{BB962C8B-B14F-4D97-AF65-F5344CB8AC3E}">
        <p14:creationId xmlns:p14="http://schemas.microsoft.com/office/powerpoint/2010/main" val="137720657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6510</TotalTime>
  <Words>3972</Words>
  <Application>Microsoft Office PowerPoint</Application>
  <PresentationFormat>宽屏</PresentationFormat>
  <Paragraphs>344</Paragraphs>
  <Slides>39</Slides>
  <Notes>39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7" baseType="lpstr">
      <vt:lpstr>等线</vt:lpstr>
      <vt:lpstr>等线 Light</vt:lpstr>
      <vt:lpstr>黑体</vt:lpstr>
      <vt:lpstr>KaiTi</vt:lpstr>
      <vt:lpstr>宋体</vt:lpstr>
      <vt:lpstr>Microsoft YaHei</vt:lpstr>
      <vt:lpstr>Microsoft YaHei Light</vt:lpstr>
      <vt:lpstr>Arial</vt:lpstr>
      <vt:lpstr>Arial Black</vt:lpstr>
      <vt:lpstr>Arial Narrow</vt:lpstr>
      <vt:lpstr>Lucida Handwriting</vt:lpstr>
      <vt:lpstr>Monotype Corsiva</vt:lpstr>
      <vt:lpstr>Segoe UI Semibold</vt:lpstr>
      <vt:lpstr>Symbol</vt:lpstr>
      <vt:lpstr>Times New Roman</vt:lpstr>
      <vt:lpstr>Wingdings</vt:lpstr>
      <vt:lpstr>Office 主题​​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wyq</dc:creator>
  <cp:lastModifiedBy>y z</cp:lastModifiedBy>
  <cp:revision>56</cp:revision>
  <dcterms:created xsi:type="dcterms:W3CDTF">2021-11-05T13:12:46Z</dcterms:created>
  <dcterms:modified xsi:type="dcterms:W3CDTF">2025-12-16T08:38:28Z</dcterms:modified>
</cp:coreProperties>
</file>