
<file path=[Content_Types].xml><?xml version="1.0" encoding="utf-8"?>
<Types xmlns="http://schemas.openxmlformats.org/package/2006/content-types">
  <Default Extension="bin" ContentType="application/vnd.openxmlformats-officedocument.oleObject"/>
  <Default Extension="com&amp;app=2002&amp;size=f9999,10000&amp;q=a80&amp;n=0&amp;g=0n&amp;fmt=jpeg" ContentType="image/jpeg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8"/>
  </p:notesMasterIdLst>
  <p:sldIdLst>
    <p:sldId id="445" r:id="rId2"/>
    <p:sldId id="2354" r:id="rId3"/>
    <p:sldId id="2355" r:id="rId4"/>
    <p:sldId id="2356" r:id="rId5"/>
    <p:sldId id="2357" r:id="rId6"/>
    <p:sldId id="2358" r:id="rId7"/>
    <p:sldId id="2369" r:id="rId8"/>
    <p:sldId id="2359" r:id="rId9"/>
    <p:sldId id="1542" r:id="rId10"/>
    <p:sldId id="1556" r:id="rId11"/>
    <p:sldId id="1543" r:id="rId12"/>
    <p:sldId id="1544" r:id="rId13"/>
    <p:sldId id="1497" r:id="rId14"/>
    <p:sldId id="1491" r:id="rId15"/>
    <p:sldId id="1498" r:id="rId16"/>
    <p:sldId id="1499" r:id="rId17"/>
    <p:sldId id="1500" r:id="rId18"/>
    <p:sldId id="1501" r:id="rId19"/>
    <p:sldId id="1502" r:id="rId20"/>
    <p:sldId id="1503" r:id="rId21"/>
    <p:sldId id="1504" r:id="rId22"/>
    <p:sldId id="1509" r:id="rId23"/>
    <p:sldId id="1505" r:id="rId24"/>
    <p:sldId id="1506" r:id="rId25"/>
    <p:sldId id="1507" r:id="rId26"/>
    <p:sldId id="1517" r:id="rId27"/>
    <p:sldId id="1510" r:id="rId28"/>
    <p:sldId id="1511" r:id="rId29"/>
    <p:sldId id="2395" r:id="rId30"/>
    <p:sldId id="2396" r:id="rId31"/>
    <p:sldId id="2397" r:id="rId32"/>
    <p:sldId id="2398" r:id="rId33"/>
    <p:sldId id="2399" r:id="rId34"/>
    <p:sldId id="1574" r:id="rId35"/>
    <p:sldId id="1575" r:id="rId36"/>
    <p:sldId id="1577" r:id="rId37"/>
    <p:sldId id="1576" r:id="rId38"/>
    <p:sldId id="1578" r:id="rId39"/>
    <p:sldId id="2373" r:id="rId40"/>
    <p:sldId id="2383" r:id="rId41"/>
    <p:sldId id="2384" r:id="rId42"/>
    <p:sldId id="1535" r:id="rId43"/>
    <p:sldId id="1536" r:id="rId44"/>
    <p:sldId id="1537" r:id="rId45"/>
    <p:sldId id="1549" r:id="rId46"/>
    <p:sldId id="1550" r:id="rId47"/>
    <p:sldId id="1551" r:id="rId48"/>
    <p:sldId id="1552" r:id="rId49"/>
    <p:sldId id="1553" r:id="rId50"/>
    <p:sldId id="2376" r:id="rId51"/>
    <p:sldId id="2382" r:id="rId52"/>
    <p:sldId id="1538" r:id="rId53"/>
    <p:sldId id="1539" r:id="rId54"/>
    <p:sldId id="2394" r:id="rId55"/>
    <p:sldId id="1541" r:id="rId56"/>
    <p:sldId id="2375" r:id="rId5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3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366" autoAdjust="0"/>
  </p:normalViewPr>
  <p:slideViewPr>
    <p:cSldViewPr snapToGrid="0">
      <p:cViewPr varScale="1">
        <p:scale>
          <a:sx n="67" d="100"/>
          <a:sy n="67" d="100"/>
        </p:scale>
        <p:origin x="83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65E74C-0388-460B-8A1A-12262F716AB4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A12EA6-5A00-4649-A385-8C3D605DC7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3410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>
            <a:extLst>
              <a:ext uri="{FF2B5EF4-FFF2-40B4-BE49-F238E27FC236}">
                <a16:creationId xmlns:a16="http://schemas.microsoft.com/office/drawing/2014/main" id="{2214FF63-7E78-4CEA-B78B-294BDB7C41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>
            <a:extLst>
              <a:ext uri="{FF2B5EF4-FFF2-40B4-BE49-F238E27FC236}">
                <a16:creationId xmlns:a16="http://schemas.microsoft.com/office/drawing/2014/main" id="{999858BC-515F-4514-A470-A99FA05D13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>
            <a:extLst>
              <a:ext uri="{FF2B5EF4-FFF2-40B4-BE49-F238E27FC236}">
                <a16:creationId xmlns:a16="http://schemas.microsoft.com/office/drawing/2014/main" id="{DB2CFB14-3F96-47B7-9206-1409F9E89C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222AA93-F3F5-44B4-89DC-39F3993E743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44798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04687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68544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19004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11517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33885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96571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58412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19729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03395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98644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00080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69760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89406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27208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39944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1582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8228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55719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74805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60681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04569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781059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51682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7288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384861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526833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527608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516590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539071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588288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300459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990854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564570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014115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237993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720928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425136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693448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931726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143618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727182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995762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644053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340989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612865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059931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89957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898200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267826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310392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558448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678384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063359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239251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256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C38839-3093-4729-8FEC-B8F7E98C00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56451D4-D3E9-4B1A-95FF-7D3B8AF5E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3796E7-D825-4C6E-BB57-A7CD8789F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09B286-5F09-4022-9FBE-42A79B112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B49831-1415-4A89-9C0F-0B710298F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6948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AF371C-923A-4556-89D9-6D9283A0A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F452F5-C1B4-4538-A3E8-6DDD4E3FA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AD3449-79F7-4668-B887-D81CE8C88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D3B59D-BF5B-4DBC-9568-C8AAA663B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140E4E-BBD4-4D8B-98E4-EA30CF029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1869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0BCA1D-712E-4F01-BAE5-8839C0DA0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7AE37AA-2A2A-48D0-8688-D6F59D6675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0A6700-85CF-420A-ABAE-FF91735ED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62237A-DAB1-4E98-8B5B-CC1845DB6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5D0C69-48ED-4B44-A7D1-9AE23383C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405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06A286-E7EE-4D49-B4B0-76832A509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139823-13D0-4FEF-A29A-E79B586622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9679F6-6354-42A0-8470-199F282203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08206FB-A032-418A-BB97-4CE861AB4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5238BE2-4D63-4513-89E9-8162B99BA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67CBF8-AFBC-4D68-AF29-C94A97009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3454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009053-D199-4CC7-98FA-E112AB4B4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62E4443-2D08-45C3-A860-96FD1AF4F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F96351A-C85B-412D-9175-4D3FD33ED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91DAADB-9A7A-4973-AE1B-CED0F8308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2AFD96D-F559-4505-952C-8BA09BFA93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05D621F-C4F8-4B34-A7F6-16826D050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1B6E70F-70C0-4744-BA5C-79003E6B7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1C0EED7-721D-410A-8683-671A021E0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0760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905F9F-E778-4AF2-97CA-47B468DCD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5461C9F-E0FE-424D-BAD5-9433FCE03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0C30F9B-24B1-4F3C-B51F-EF11DC105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71B3E22-D4E5-4B77-801C-2F976DDDF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7254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1BE8AAB-8A93-4DA4-91BB-AA1694AF7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E338EE8-71EA-462E-A54F-FCC3FC6F7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7FFFDF-496B-4AE6-A7F6-4838B6C69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1825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B799E-158D-4F13-B1D8-75C44E562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B3B7AF-9C05-48B9-B50C-1D3595D5E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0F83C59-6E43-49DE-9EA3-A9A734C2F3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B972035-E581-4546-A646-9CE73C3E3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16B245-4FB7-4C26-88C6-480F93289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3EA37DF-1C3E-4187-9F19-56F9CF40D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9317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29CBD2-48C7-4DD4-85B9-665DB9CA2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E43F06E-1C36-4C66-9E8E-1B38D38BBD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E2AACA3-D5EA-4976-B46A-426D9DD6B1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E97B16B-9109-428A-AA9F-6433D823A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A6ED09-92F3-4027-B4D7-6B8809BEC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EE1814-E277-48BF-A37C-B8DC23077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5023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DB03DE-A4A4-4F0A-A9BD-028DD3FCE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84C1679-A24E-4034-B873-263855CD39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D25EB0-BC97-43A3-83EE-556D5C864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A40581-EA82-4D2B-98B5-74D4D112D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9EE154-45E0-4D8D-8A71-8D4CF08FF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673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CEE343A-5B65-4716-95F1-9E48DCD8C9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36F6630-FD54-4703-A7DD-DF2E514B53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43D9D7-7F8E-4C14-8CA9-F338013DD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1EEFCF-892B-49DF-A6EE-D431C832B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FF0452-FBD7-4399-AEDE-FC430C2E6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42828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D73D5CAC-F429-4F2F-9F7B-6223C359040B}"/>
              </a:ext>
            </a:extLst>
          </p:cNvPr>
          <p:cNvSpPr txBox="1"/>
          <p:nvPr userDrawn="1"/>
        </p:nvSpPr>
        <p:spPr>
          <a:xfrm>
            <a:off x="76200" y="117475"/>
            <a:ext cx="1701800" cy="676275"/>
          </a:xfrm>
          <a:prstGeom prst="rect">
            <a:avLst/>
          </a:prstGeom>
          <a:noFill/>
        </p:spPr>
        <p:txBody>
          <a:bodyPr lIns="121900" tIns="60949" rIns="121900" bIns="60949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598" b="1" spc="-150" dirty="0">
                <a:solidFill>
                  <a:schemeClr val="accent1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3598" b="1" spc="-150" dirty="0">
              <a:solidFill>
                <a:schemeClr val="accent1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44DE135-33BF-4676-B43F-8AA62673A58B}"/>
              </a:ext>
            </a:extLst>
          </p:cNvPr>
          <p:cNvCxnSpPr/>
          <p:nvPr userDrawn="1"/>
        </p:nvCxnSpPr>
        <p:spPr>
          <a:xfrm>
            <a:off x="1562100" y="693738"/>
            <a:ext cx="10629900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665028"/>
      </p:ext>
    </p:extLst>
  </p:cSld>
  <p:clrMapOvr>
    <a:masterClrMapping/>
  </p:clrMapOvr>
  <p:transition spd="slow" advTm="0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1591E61-2795-47C4-BFA6-697F942D9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4E90BB-9C04-4BA4-8EBF-3BD6F7FF9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86B6A8-6B45-45E5-A763-39B87EACB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854364-00D7-41EA-9F35-087FAD37449B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F0F76C-578E-4398-A65C-C96041DE22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81C9BE-7819-4C7C-BFE7-801F21DF3C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1031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com&amp;app=2002&amp;size=f9999,10000&amp;q=a80&amp;n=0&amp;g=0n&amp;fmt=jpeg"/><Relationship Id="rId4" Type="http://schemas.openxmlformats.org/officeDocument/2006/relationships/image" Target="../media/image9.com&amp;app=2002&amp;size=f9999,10000&amp;q=a80&amp;n=0&amp;g=0n&amp;fmt=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.wm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wmf"/><Relationship Id="rId5" Type="http://schemas.openxmlformats.org/officeDocument/2006/relationships/image" Target="../media/image12.wmf"/><Relationship Id="rId4" Type="http://schemas.openxmlformats.org/officeDocument/2006/relationships/image" Target="../media/image11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.wm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wmf"/><Relationship Id="rId5" Type="http://schemas.openxmlformats.org/officeDocument/2006/relationships/image" Target="../media/image12.wmf"/><Relationship Id="rId4" Type="http://schemas.openxmlformats.org/officeDocument/2006/relationships/image" Target="../media/image11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wmf"/><Relationship Id="rId5" Type="http://schemas.openxmlformats.org/officeDocument/2006/relationships/image" Target="../media/image12.wmf"/><Relationship Id="rId4" Type="http://schemas.openxmlformats.org/officeDocument/2006/relationships/image" Target="../media/image11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.wm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wmf"/><Relationship Id="rId5" Type="http://schemas.openxmlformats.org/officeDocument/2006/relationships/image" Target="../media/image12.wmf"/><Relationship Id="rId4" Type="http://schemas.openxmlformats.org/officeDocument/2006/relationships/image" Target="../media/image11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image" Target="../media/image1.png"/><Relationship Id="rId7" Type="http://schemas.openxmlformats.org/officeDocument/2006/relationships/image" Target="../media/image17.wmf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wmf"/><Relationship Id="rId5" Type="http://schemas.openxmlformats.org/officeDocument/2006/relationships/image" Target="../media/image12.wmf"/><Relationship Id="rId4" Type="http://schemas.openxmlformats.org/officeDocument/2006/relationships/image" Target="../media/image11.w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4">
            <a:extLst>
              <a:ext uri="{FF2B5EF4-FFF2-40B4-BE49-F238E27FC236}">
                <a16:creationId xmlns:a16="http://schemas.microsoft.com/office/drawing/2014/main" id="{13E189C7-8218-4052-85AE-E01EC1124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3073">
            <a:extLst>
              <a:ext uri="{FF2B5EF4-FFF2-40B4-BE49-F238E27FC236}">
                <a16:creationId xmlns:a16="http://schemas.microsoft.com/office/drawing/2014/main" id="{F7D2571E-1D87-457C-8CCC-C3C98F94D652}"/>
              </a:ext>
            </a:extLst>
          </p:cNvPr>
          <p:cNvSpPr>
            <a:spLocks noGrp="1"/>
          </p:cNvSpPr>
          <p:nvPr/>
        </p:nvSpPr>
        <p:spPr>
          <a:xfrm>
            <a:off x="2390775" y="3140075"/>
            <a:ext cx="7772400" cy="95091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5400" noProof="1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 panose="02010609060101010101" charset="-122"/>
                <a:ea typeface="KaiTi" panose="02010609060101010101" charset="-122"/>
                <a:cs typeface="Times New Roman" panose="02020603050405020304" pitchFamily="2" charset="0"/>
              </a:rPr>
              <a:t>离散数学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400" noProof="1">
                <a:solidFill>
                  <a:srgbClr val="0066FF"/>
                </a:solidFill>
                <a:latin typeface="Arial Black" panose="020B0A04020102020204" charset="0"/>
                <a:ea typeface="+mn-ea"/>
                <a:cs typeface="Times New Roman" panose="02020603050405020304" pitchFamily="2" charset="0"/>
              </a:rPr>
              <a:t>Discrete Mathematics</a:t>
            </a:r>
          </a:p>
        </p:txBody>
      </p:sp>
      <p:sp>
        <p:nvSpPr>
          <p:cNvPr id="4100" name="矩形 3074">
            <a:extLst>
              <a:ext uri="{FF2B5EF4-FFF2-40B4-BE49-F238E27FC236}">
                <a16:creationId xmlns:a16="http://schemas.microsoft.com/office/drawing/2014/main" id="{AA238628-3C73-45C1-88BF-CA2DFF4F68C6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485900" y="4337050"/>
            <a:ext cx="9104313" cy="233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zh-CN" altLang="en-US" sz="2400">
              <a:solidFill>
                <a:srgbClr val="0066FF"/>
              </a:solidFill>
              <a:latin typeface="Segoe UI Semibold" panose="020B0702040204020203" pitchFamily="34" charset="0"/>
              <a:ea typeface="宋体" panose="02010600030101010101" pitchFamily="2" charset="-122"/>
            </a:endParaRPr>
          </a:p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zh-CN" altLang="en-US" sz="2400">
              <a:solidFill>
                <a:srgbClr val="0066FF"/>
              </a:solidFill>
              <a:latin typeface="Segoe UI Semibold" panose="020B0702040204020203" pitchFamily="34" charset="0"/>
              <a:ea typeface="宋体" panose="02010600030101010101" pitchFamily="2" charset="-122"/>
            </a:endParaRPr>
          </a:p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zh-CN" altLang="en-US" sz="2400" b="1">
                <a:solidFill>
                  <a:srgbClr val="A5002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计算机学院 </a:t>
            </a:r>
          </a:p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zh-CN" altLang="en-US" sz="2400" b="1">
                <a:solidFill>
                  <a:srgbClr val="A5002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吴亦奇  </a:t>
            </a:r>
            <a:r>
              <a:rPr lang="en-US" altLang="zh-CN" sz="2400">
                <a:solidFill>
                  <a:srgbClr val="A50021"/>
                </a:solidFill>
                <a:latin typeface="Segoe UI Semibold" panose="020B0702040204020203" pitchFamily="34" charset="0"/>
                <a:ea typeface="宋体" panose="02010600030101010101" pitchFamily="2" charset="-122"/>
              </a:rPr>
              <a:t>wuyq</a:t>
            </a:r>
            <a:r>
              <a:rPr lang="zh-CN" altLang="en-US" sz="2400">
                <a:solidFill>
                  <a:srgbClr val="A50021"/>
                </a:solidFill>
                <a:latin typeface="Segoe UI Semibold" panose="020B0702040204020203" pitchFamily="34" charset="0"/>
                <a:ea typeface="宋体" panose="02010600030101010101" pitchFamily="2" charset="-122"/>
              </a:rPr>
              <a:t>@cug.edu.cn</a:t>
            </a:r>
            <a:endParaRPr lang="zh-CN" altLang="en-US" sz="32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101" name="内容占位符 3076">
            <a:extLst>
              <a:ext uri="{FF2B5EF4-FFF2-40B4-BE49-F238E27FC236}">
                <a16:creationId xmlns:a16="http://schemas.microsoft.com/office/drawing/2014/main" id="{31156996-2154-42A9-9D69-9E3C40E3A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52513"/>
            <a:ext cx="9137650" cy="168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821093"/>
      </p:ext>
    </p:extLst>
  </p:cSld>
  <p:clrMapOvr>
    <a:masterClrMapping/>
  </p:clrMapOvr>
  <p:transition spd="slow" advTm="0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Special Graph 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标题 5121">
            <a:extLst>
              <a:ext uri="{FF2B5EF4-FFF2-40B4-BE49-F238E27FC236}">
                <a16:creationId xmlns:a16="http://schemas.microsoft.com/office/drawing/2014/main" id="{5A17C800-241B-4A93-8639-677019E0363C}"/>
              </a:ext>
            </a:extLst>
          </p:cNvPr>
          <p:cNvSpPr txBox="1">
            <a:spLocks/>
          </p:cNvSpPr>
          <p:nvPr/>
        </p:nvSpPr>
        <p:spPr>
          <a:xfrm>
            <a:off x="1915160" y="2860675"/>
            <a:ext cx="8361680" cy="1136650"/>
          </a:xfrm>
          <a:prstGeom prst="rect">
            <a:avLst/>
          </a:prstGeom>
          <a:ln>
            <a:noFill/>
            <a:miter/>
          </a:ln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base">
              <a:lnSpc>
                <a:spcPct val="135000"/>
              </a:lnSpc>
            </a:pPr>
            <a:r>
              <a:rPr lang="zh-CN" altLang="en-US" sz="4200" b="1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SimHei" panose="02010609060101010101" pitchFamily="2" charset="-122"/>
              </a:rPr>
              <a:t>特殊图</a:t>
            </a:r>
            <a:endParaRPr lang="en-US" altLang="zh-CN" sz="4200" b="1" noProof="1">
              <a:solidFill>
                <a:srgbClr val="CC3300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SimHei" panose="02010609060101010101" pitchFamily="2" charset="-122"/>
            </a:endParaRPr>
          </a:p>
          <a:p>
            <a:pPr algn="ctr" fontAlgn="base">
              <a:lnSpc>
                <a:spcPct val="135000"/>
              </a:lnSpc>
            </a:pPr>
            <a:r>
              <a:rPr lang="en-US" altLang="x-none" sz="4200" b="1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SimSun" panose="02010600030101010101" pitchFamily="2" charset="-122"/>
              </a:rPr>
              <a:t>S</a:t>
            </a:r>
            <a:r>
              <a:rPr lang="en-US" altLang="zh-CN" sz="4200" b="1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SimSun" panose="02010600030101010101" pitchFamily="2" charset="-122"/>
              </a:rPr>
              <a:t>pecial Graph</a:t>
            </a:r>
          </a:p>
        </p:txBody>
      </p:sp>
    </p:spTree>
    <p:extLst>
      <p:ext uri="{BB962C8B-B14F-4D97-AF65-F5344CB8AC3E}">
        <p14:creationId xmlns:p14="http://schemas.microsoft.com/office/powerpoint/2010/main" val="2666052979"/>
      </p:ext>
    </p:extLst>
  </p:cSld>
  <p:clrMapOvr>
    <a:masterClrMapping/>
  </p:clrMapOvr>
  <p:transition spd="slow" advTm="0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占位符 10243">
            <a:extLst>
              <a:ext uri="{FF2B5EF4-FFF2-40B4-BE49-F238E27FC236}">
                <a16:creationId xmlns:a16="http://schemas.microsoft.com/office/drawing/2014/main" id="{876C5746-46FC-4079-BCBC-4A122A932794}"/>
              </a:ext>
            </a:extLst>
          </p:cNvPr>
          <p:cNvSpPr txBox="1">
            <a:spLocks/>
          </p:cNvSpPr>
          <p:nvPr/>
        </p:nvSpPr>
        <p:spPr>
          <a:xfrm>
            <a:off x="2075104" y="1364956"/>
            <a:ext cx="7772400" cy="4495800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平面图（</a:t>
            </a:r>
            <a:r>
              <a:rPr lang="en-US" altLang="zh-CN" sz="2000" b="1" dirty="0">
                <a:latin typeface="Microsoft YaHei" panose="020B0503020204020204" charset="-122"/>
                <a:ea typeface="Microsoft YaHei" panose="020B0503020204020204" charset="-122"/>
              </a:rPr>
              <a:t>planar graph</a:t>
            </a: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）：平面嵌入</a:t>
            </a:r>
            <a:r>
              <a:rPr lang="zh-CN" altLang="en-US" sz="2400" b="1" dirty="0">
                <a:latin typeface="Microsoft YaHei" panose="020B0503020204020204" charset="-122"/>
                <a:ea typeface="Microsoft YaHei" panose="020B0503020204020204" charset="-122"/>
              </a:rPr>
              <a:t> </a:t>
            </a: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 </a:t>
            </a:r>
          </a:p>
          <a:p>
            <a:pPr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面（</a:t>
            </a:r>
            <a:r>
              <a:rPr lang="en-US" altLang="zh-CN" sz="2000" b="1" dirty="0">
                <a:latin typeface="Microsoft YaHei" panose="020B0503020204020204" charset="-122"/>
                <a:ea typeface="Microsoft YaHei" panose="020B0503020204020204" charset="-122"/>
              </a:rPr>
              <a:t>regions</a:t>
            </a: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）</a:t>
            </a:r>
          </a:p>
          <a:p>
            <a:pPr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有界面、外部面（无界面）</a:t>
            </a:r>
          </a:p>
          <a:p>
            <a:pPr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边界（</a:t>
            </a:r>
            <a:r>
              <a:rPr lang="en-US" altLang="zh-CN" sz="2000" b="1" dirty="0">
                <a:latin typeface="Microsoft YaHei" panose="020B0503020204020204" charset="-122"/>
                <a:ea typeface="Microsoft YaHei" panose="020B0503020204020204" charset="-122"/>
              </a:rPr>
              <a:t>boundary</a:t>
            </a: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）、度</a:t>
            </a:r>
            <a:r>
              <a:rPr lang="en-US" altLang="zh-CN" sz="2000" b="1" dirty="0">
                <a:latin typeface="Microsoft YaHei" panose="020B0503020204020204" charset="-122"/>
                <a:ea typeface="Microsoft YaHei" panose="020B0503020204020204" charset="-122"/>
              </a:rPr>
              <a:t>/</a:t>
            </a: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次（</a:t>
            </a:r>
            <a:r>
              <a:rPr lang="en-US" altLang="zh-CN" sz="2000" b="1" dirty="0">
                <a:latin typeface="Microsoft YaHei" panose="020B0503020204020204" charset="-122"/>
                <a:ea typeface="Microsoft YaHei" panose="020B0503020204020204" charset="-122"/>
              </a:rPr>
              <a:t>degree</a:t>
            </a: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）</a:t>
            </a:r>
          </a:p>
          <a:p>
            <a:pPr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极大平面图</a:t>
            </a:r>
          </a:p>
        </p:txBody>
      </p:sp>
      <p:graphicFrame>
        <p:nvGraphicFramePr>
          <p:cNvPr id="5" name="对象 11267">
            <a:extLst>
              <a:ext uri="{FF2B5EF4-FFF2-40B4-BE49-F238E27FC236}">
                <a16:creationId xmlns:a16="http://schemas.microsoft.com/office/drawing/2014/main" id="{09B63C3F-1B18-45A5-92A5-29EE47ED38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68223" y="2984384"/>
          <a:ext cx="4190470" cy="2217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457575" imgH="2400300" progId="PBrush">
                  <p:embed/>
                </p:oleObj>
              </mc:Choice>
              <mc:Fallback>
                <p:oleObj r:id="rId4" imgW="3457575" imgH="2400300" progId="PBrush">
                  <p:embed/>
                  <p:pic>
                    <p:nvPicPr>
                      <p:cNvPr id="5" name="对象 11267">
                        <a:extLst>
                          <a:ext uri="{FF2B5EF4-FFF2-40B4-BE49-F238E27FC236}">
                            <a16:creationId xmlns:a16="http://schemas.microsoft.com/office/drawing/2014/main" id="{09B63C3F-1B18-45A5-92A5-29EE47ED38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168223" y="2984384"/>
                        <a:ext cx="4190470" cy="2217051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904C7BA5-8238-40CA-B39D-CE2BA48226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0137" y="615312"/>
            <a:ext cx="7772400" cy="93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rgbClr val="990000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990000"/>
                </a:solidFill>
                <a:latin typeface="Comic Sans MS" panose="030F0702030302020204" pitchFamily="66" charset="0"/>
                <a:ea typeface="黑体" panose="02010609060101010101" pitchFamily="49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990000"/>
                </a:solidFill>
                <a:latin typeface="Comic Sans MS" panose="030F0702030302020204" pitchFamily="66" charset="0"/>
                <a:ea typeface="黑体" panose="02010609060101010101" pitchFamily="49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990000"/>
                </a:solidFill>
                <a:latin typeface="Comic Sans MS" panose="030F0702030302020204" pitchFamily="66" charset="0"/>
                <a:ea typeface="黑体" panose="02010609060101010101" pitchFamily="49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990000"/>
                </a:solidFill>
                <a:latin typeface="Comic Sans MS" panose="030F0702030302020204" pitchFamily="66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990000"/>
                </a:solidFill>
                <a:latin typeface="Comic Sans MS" panose="030F0702030302020204" pitchFamily="66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990000"/>
                </a:solidFill>
                <a:latin typeface="Comic Sans MS" panose="030F0702030302020204" pitchFamily="66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990000"/>
                </a:solidFill>
                <a:latin typeface="Comic Sans MS" panose="030F0702030302020204" pitchFamily="66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990000"/>
                </a:solidFill>
                <a:latin typeface="Comic Sans MS" panose="030F0702030302020204" pitchFamily="66" charset="0"/>
                <a:ea typeface="黑体" panose="02010609060101010101" pitchFamily="49" charset="-122"/>
              </a:defRPr>
            </a:lvl9pPr>
          </a:lstStyle>
          <a:p>
            <a:r>
              <a:rPr lang="en-US" altLang="zh-CN" dirty="0">
                <a:latin typeface="黑体" panose="02010609060101010101" pitchFamily="49" charset="-122"/>
              </a:rPr>
              <a:t> </a:t>
            </a:r>
            <a:r>
              <a:rPr lang="zh-CN" altLang="en-US" dirty="0">
                <a:latin typeface="黑体" panose="02010609060101010101" pitchFamily="49" charset="-122"/>
              </a:rPr>
              <a:t>平面图</a:t>
            </a:r>
          </a:p>
        </p:txBody>
      </p:sp>
      <p:sp>
        <p:nvSpPr>
          <p:cNvPr id="7" name="文本框 2">
            <a:extLst>
              <a:ext uri="{FF2B5EF4-FFF2-40B4-BE49-F238E27FC236}">
                <a16:creationId xmlns:a16="http://schemas.microsoft.com/office/drawing/2014/main" id="{E3B7C91C-AE24-4FE6-9AD2-B1B9DCDED4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Special Graph 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5010839"/>
      </p:ext>
    </p:extLst>
  </p:cSld>
  <p:clrMapOvr>
    <a:masterClrMapping/>
  </p:clrMapOvr>
  <p:transition spd="slow" advTm="0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Special Graph 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内容占位符 15362">
            <a:extLst>
              <a:ext uri="{FF2B5EF4-FFF2-40B4-BE49-F238E27FC236}">
                <a16:creationId xmlns:a16="http://schemas.microsoft.com/office/drawing/2014/main" id="{3BBF487D-7BEE-4634-BDD1-47D4FA7834A9}"/>
              </a:ext>
            </a:extLst>
          </p:cNvPr>
          <p:cNvSpPr txBox="1">
            <a:spLocks/>
          </p:cNvSpPr>
          <p:nvPr/>
        </p:nvSpPr>
        <p:spPr>
          <a:xfrm>
            <a:off x="664845" y="1307465"/>
            <a:ext cx="7521575" cy="1143000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7675" indent="-447675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rgbClr val="3333FF"/>
                </a:solidFill>
                <a:latin typeface="Microsoft YaHei" panose="020B0503020204020204" charset="-122"/>
                <a:ea typeface="Microsoft YaHei" panose="020B0503020204020204" charset="-122"/>
              </a:rPr>
              <a:t>1</a:t>
            </a:r>
            <a:r>
              <a:rPr lang="en-US" altLang="zh-CN" sz="2400" dirty="0">
                <a:latin typeface="Microsoft YaHei" panose="020B0503020204020204" charset="-122"/>
                <a:ea typeface="Microsoft YaHei" panose="020B0503020204020204" charset="-122"/>
              </a:rPr>
              <a:t> 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一个有限平面图，面的次数之和等于其边数的两倍。</a:t>
            </a:r>
          </a:p>
          <a:p>
            <a:pPr marL="447675" indent="-447675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sz="2400" dirty="0">
              <a:latin typeface="Microsoft YaHei" panose="020B0503020204020204" charset="-122"/>
              <a:ea typeface="Microsoft YaHei" panose="020B0503020204020204" charset="-122"/>
            </a:endParaRPr>
          </a:p>
          <a:p>
            <a:pPr marL="447675" indent="-447675">
              <a:buFont typeface="Arial" panose="020B0604020202020204" pitchFamily="34" charset="0"/>
              <a:buNone/>
            </a:pPr>
            <a:endParaRPr lang="zh-CN" altLang="en-US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C327336-D007-4E7F-BCE5-80BDF62B63BD}"/>
              </a:ext>
            </a:extLst>
          </p:cNvPr>
          <p:cNvSpPr/>
          <p:nvPr/>
        </p:nvSpPr>
        <p:spPr>
          <a:xfrm>
            <a:off x="739775" y="3057525"/>
            <a:ext cx="7664450" cy="1873718"/>
          </a:xfrm>
          <a:prstGeom prst="rect">
            <a:avLst/>
          </a:prstGeom>
          <a:noFill/>
          <a:ln w="9525">
            <a:noFill/>
            <a:miter/>
          </a:ln>
        </p:spPr>
        <p:txBody>
          <a:bodyPr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50000"/>
              </a:spcBef>
              <a:buClr>
                <a:srgbClr val="CC3300"/>
              </a:buClr>
              <a:buFont typeface="Symbol" panose="05050102010706020507" pitchFamily="2" charset="2"/>
              <a:buNone/>
            </a:pPr>
            <a:r>
              <a:rPr lang="en-US" altLang="zh-CN" sz="2400" b="0" dirty="0">
                <a:solidFill>
                  <a:srgbClr val="3333FF"/>
                </a:solidFill>
                <a:effectLst/>
                <a:latin typeface="Microsoft YaHei" panose="020B0503020204020204" charset="-122"/>
                <a:ea typeface="Microsoft YaHei" panose="020B0503020204020204" charset="-122"/>
              </a:rPr>
              <a:t>2</a:t>
            </a:r>
            <a:r>
              <a:rPr lang="en-US" altLang="zh-CN" sz="2400" b="0" dirty="0">
                <a:solidFill>
                  <a:schemeClr val="tx1"/>
                </a:solidFill>
                <a:effectLst/>
                <a:latin typeface="Microsoft YaHei" panose="020B0503020204020204" charset="-122"/>
                <a:ea typeface="Microsoft YaHei" panose="020B0503020204020204" charset="-122"/>
              </a:rPr>
              <a:t> (</a:t>
            </a:r>
            <a:r>
              <a:rPr lang="zh-CN" altLang="en-US" sz="2400" b="0" dirty="0">
                <a:solidFill>
                  <a:srgbClr val="3333FF"/>
                </a:solidFill>
                <a:effectLst/>
                <a:latin typeface="Microsoft YaHei" panose="020B0503020204020204" charset="-122"/>
                <a:ea typeface="Microsoft YaHei" panose="020B0503020204020204" charset="-122"/>
              </a:rPr>
              <a:t>欧拉定理</a:t>
            </a:r>
            <a:r>
              <a:rPr lang="en-US" altLang="zh-CN" sz="2400" b="0" dirty="0">
                <a:solidFill>
                  <a:schemeClr val="tx1"/>
                </a:solidFill>
                <a:effectLst/>
                <a:latin typeface="Microsoft YaHei" panose="020B0503020204020204" charset="-122"/>
                <a:ea typeface="Microsoft YaHei" panose="020B0503020204020204" charset="-122"/>
              </a:rPr>
              <a:t>)  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Microsoft YaHei" panose="020B0503020204020204" charset="-122"/>
                <a:ea typeface="Microsoft YaHei" panose="020B0503020204020204" charset="-122"/>
              </a:rPr>
              <a:t>设有一个连通平面图</a:t>
            </a:r>
            <a:r>
              <a:rPr lang="en-US" altLang="zh-CN" sz="2400" b="0" dirty="0">
                <a:solidFill>
                  <a:schemeClr val="tx1"/>
                </a:solidFill>
                <a:effectLst/>
                <a:latin typeface="Microsoft YaHei" panose="020B0503020204020204" charset="-122"/>
                <a:ea typeface="Microsoft YaHei" panose="020B0503020204020204" charset="-122"/>
              </a:rPr>
              <a:t>G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Microsoft YaHei" panose="020B0503020204020204" charset="-122"/>
                <a:ea typeface="Microsoft YaHei" panose="020B0503020204020204" charset="-122"/>
              </a:rPr>
              <a:t>，共有</a:t>
            </a:r>
            <a:r>
              <a:rPr lang="en-US" altLang="zh-CN" sz="2400" b="0" dirty="0">
                <a:solidFill>
                  <a:schemeClr val="tx1"/>
                </a:solidFill>
                <a:effectLst/>
                <a:latin typeface="Microsoft YaHei" panose="020B0503020204020204" charset="-122"/>
                <a:ea typeface="Microsoft YaHei" panose="020B0503020204020204" charset="-122"/>
              </a:rPr>
              <a:t>n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Microsoft YaHei" panose="020B0503020204020204" charset="-122"/>
                <a:ea typeface="Microsoft YaHei" panose="020B0503020204020204" charset="-122"/>
              </a:rPr>
              <a:t>个结点</a:t>
            </a:r>
            <a:r>
              <a:rPr lang="en-US" altLang="zh-CN" sz="2400" b="0" dirty="0">
                <a:solidFill>
                  <a:schemeClr val="tx1"/>
                </a:solidFill>
                <a:effectLst/>
                <a:latin typeface="Microsoft YaHei" panose="020B0503020204020204" charset="-122"/>
                <a:ea typeface="Microsoft YaHei" panose="020B0503020204020204" charset="-122"/>
              </a:rPr>
              <a:t>m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Microsoft YaHei" panose="020B0503020204020204" charset="-122"/>
                <a:ea typeface="Microsoft YaHei" panose="020B0503020204020204" charset="-122"/>
              </a:rPr>
              <a:t>条边</a:t>
            </a:r>
            <a:r>
              <a:rPr lang="en-US" altLang="zh-CN" sz="2400" b="0" dirty="0">
                <a:solidFill>
                  <a:schemeClr val="tx1"/>
                </a:solidFill>
                <a:effectLst/>
                <a:latin typeface="Microsoft YaHei" panose="020B0503020204020204" charset="-122"/>
                <a:ea typeface="Microsoft YaHei" panose="020B0503020204020204" charset="-122"/>
              </a:rPr>
              <a:t>f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Microsoft YaHei" panose="020B0503020204020204" charset="-122"/>
                <a:ea typeface="Microsoft YaHei" panose="020B0503020204020204" charset="-122"/>
              </a:rPr>
              <a:t>个面，则</a:t>
            </a:r>
          </a:p>
          <a:p>
            <a:pPr marL="457200" indent="-457200" algn="ctr">
              <a:lnSpc>
                <a:spcPct val="150000"/>
              </a:lnSpc>
              <a:spcBef>
                <a:spcPct val="50000"/>
              </a:spcBef>
              <a:buClr>
                <a:srgbClr val="CC3300"/>
              </a:buClr>
              <a:buFont typeface="Symbol" panose="05050102010706020507" pitchFamily="2" charset="2"/>
              <a:buNone/>
            </a:pPr>
            <a:r>
              <a:rPr lang="en-US" altLang="zh-CN" sz="2400" b="0" i="1" dirty="0" err="1">
                <a:solidFill>
                  <a:schemeClr val="tx1"/>
                </a:solidFill>
                <a:effectLst/>
                <a:latin typeface="Microsoft YaHei" panose="020B0503020204020204" charset="-122"/>
                <a:ea typeface="Microsoft YaHei" panose="020B0503020204020204" charset="-122"/>
              </a:rPr>
              <a:t>n-m</a:t>
            </a:r>
            <a:r>
              <a:rPr lang="en-US" altLang="zh-CN" sz="2400" b="0" dirty="0" err="1">
                <a:solidFill>
                  <a:schemeClr val="tx1"/>
                </a:solidFill>
                <a:effectLst/>
                <a:latin typeface="Microsoft YaHei" panose="020B0503020204020204" charset="-122"/>
                <a:ea typeface="Microsoft YaHei" panose="020B0503020204020204" charset="-122"/>
              </a:rPr>
              <a:t>+f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Microsoft YaHei" panose="020B0503020204020204" charset="-122"/>
                <a:ea typeface="Microsoft YaHei" panose="020B0503020204020204" charset="-122"/>
              </a:rPr>
              <a:t>＝</a:t>
            </a:r>
            <a:r>
              <a:rPr lang="en-US" altLang="zh-CN" sz="2400" b="0" dirty="0">
                <a:solidFill>
                  <a:schemeClr val="tx1"/>
                </a:solidFill>
                <a:effectLst/>
                <a:latin typeface="Microsoft YaHei" panose="020B0503020204020204" charset="-122"/>
                <a:ea typeface="Microsoft YaHei" panose="020B0503020204020204" charset="-122"/>
              </a:rPr>
              <a:t>2</a:t>
            </a:r>
          </a:p>
        </p:txBody>
      </p:sp>
      <p:sp>
        <p:nvSpPr>
          <p:cNvPr id="6" name="文本占位符 16386">
            <a:extLst>
              <a:ext uri="{FF2B5EF4-FFF2-40B4-BE49-F238E27FC236}">
                <a16:creationId xmlns:a16="http://schemas.microsoft.com/office/drawing/2014/main" id="{42D5E64C-6BBD-4B16-9A0F-43DE555AB5E0}"/>
              </a:ext>
            </a:extLst>
          </p:cNvPr>
          <p:cNvSpPr txBox="1">
            <a:spLocks/>
          </p:cNvSpPr>
          <p:nvPr/>
        </p:nvSpPr>
        <p:spPr>
          <a:xfrm>
            <a:off x="631825" y="5638800"/>
            <a:ext cx="7772400" cy="1219200"/>
          </a:xfrm>
          <a:prstGeom prst="rect">
            <a:avLst/>
          </a:prstGeom>
          <a:ln>
            <a:miter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buFont typeface="Arial" panose="020B0604020202020204" pitchFamily="34" charset="0"/>
              <a:buNone/>
            </a:pPr>
            <a:r>
              <a:rPr lang="en-US" altLang="zh-CN" sz="2400" noProof="1">
                <a:solidFill>
                  <a:srgbClr val="3333FF"/>
                </a:solidFill>
                <a:latin typeface="Microsoft YaHei" panose="020B0503020204020204" charset="-122"/>
                <a:ea typeface="Microsoft YaHei" panose="020B0503020204020204" charset="-122"/>
              </a:rPr>
              <a:t>3</a:t>
            </a:r>
            <a:r>
              <a:rPr lang="en-US" altLang="zh-CN" sz="2400" noProof="1">
                <a:effectLst>
                  <a:outerShdw blurRad="38100" dist="38100" dir="2700000">
                    <a:srgbClr val="C0C0C0"/>
                  </a:outerShdw>
                </a:effectLst>
                <a:latin typeface="Microsoft YaHei" panose="020B0503020204020204" charset="-122"/>
                <a:ea typeface="Microsoft YaHei" panose="020B0503020204020204" charset="-122"/>
              </a:rPr>
              <a:t> </a:t>
            </a:r>
            <a:r>
              <a:rPr lang="zh-CN" altLang="en-US" sz="2400" noProof="1">
                <a:effectLst>
                  <a:outerShdw blurRad="38100" dist="38100" dir="2700000">
                    <a:srgbClr val="C0C0C0"/>
                  </a:outerShdw>
                </a:effectLst>
                <a:latin typeface="Microsoft YaHei" panose="020B0503020204020204" charset="-122"/>
                <a:ea typeface="Microsoft YaHei" panose="020B0503020204020204" charset="-122"/>
              </a:rPr>
              <a:t>设</a:t>
            </a:r>
            <a:r>
              <a:rPr lang="en-US" altLang="zh-CN" sz="2400" noProof="1">
                <a:effectLst>
                  <a:outerShdw blurRad="38100" dist="38100" dir="2700000">
                    <a:srgbClr val="C0C0C0"/>
                  </a:outerShdw>
                </a:effectLst>
                <a:latin typeface="Microsoft YaHei" panose="020B0503020204020204" charset="-122"/>
                <a:ea typeface="Microsoft YaHei" panose="020B0503020204020204" charset="-122"/>
              </a:rPr>
              <a:t>G</a:t>
            </a:r>
            <a:r>
              <a:rPr lang="zh-CN" altLang="en-US" sz="2400" noProof="1">
                <a:effectLst>
                  <a:outerShdw blurRad="38100" dist="38100" dir="2700000">
                    <a:srgbClr val="C0C0C0"/>
                  </a:outerShdw>
                </a:effectLst>
                <a:latin typeface="Microsoft YaHei" panose="020B0503020204020204" charset="-122"/>
                <a:ea typeface="Microsoft YaHei" panose="020B0503020204020204" charset="-122"/>
              </a:rPr>
              <a:t>为有</a:t>
            </a:r>
            <a:r>
              <a:rPr lang="en-US" altLang="zh-CN" sz="2400" noProof="1">
                <a:effectLst>
                  <a:outerShdw blurRad="38100" dist="38100" dir="2700000">
                    <a:srgbClr val="C0C0C0"/>
                  </a:outerShdw>
                </a:effectLst>
                <a:latin typeface="Microsoft YaHei" panose="020B0503020204020204" charset="-122"/>
                <a:ea typeface="Microsoft YaHei" panose="020B0503020204020204" charset="-122"/>
              </a:rPr>
              <a:t>n</a:t>
            </a:r>
            <a:r>
              <a:rPr lang="zh-CN" altLang="en-US" sz="2400" noProof="1">
                <a:effectLst>
                  <a:outerShdw blurRad="38100" dist="38100" dir="2700000">
                    <a:srgbClr val="C0C0C0"/>
                  </a:outerShdw>
                </a:effectLst>
                <a:latin typeface="Microsoft YaHei" panose="020B0503020204020204" charset="-122"/>
                <a:ea typeface="Microsoft YaHei" panose="020B0503020204020204" charset="-122"/>
              </a:rPr>
              <a:t>个结点</a:t>
            </a:r>
            <a:r>
              <a:rPr lang="en-US" altLang="zh-CN" sz="2400" noProof="1">
                <a:effectLst>
                  <a:outerShdw blurRad="38100" dist="38100" dir="2700000">
                    <a:srgbClr val="C0C0C0"/>
                  </a:outerShdw>
                </a:effectLst>
                <a:latin typeface="Microsoft YaHei" panose="020B0503020204020204" charset="-122"/>
                <a:ea typeface="Microsoft YaHei" panose="020B0503020204020204" charset="-122"/>
              </a:rPr>
              <a:t>m</a:t>
            </a:r>
            <a:r>
              <a:rPr lang="zh-CN" altLang="en-US" sz="2400" noProof="1">
                <a:effectLst>
                  <a:outerShdw blurRad="38100" dist="38100" dir="2700000">
                    <a:srgbClr val="C0C0C0"/>
                  </a:outerShdw>
                </a:effectLst>
                <a:latin typeface="Microsoft YaHei" panose="020B0503020204020204" charset="-122"/>
                <a:ea typeface="Microsoft YaHei" panose="020B0503020204020204" charset="-122"/>
              </a:rPr>
              <a:t>条边的连通平面图，若</a:t>
            </a:r>
            <a:r>
              <a:rPr lang="en-US" altLang="zh-CN" sz="2400" noProof="1">
                <a:effectLst>
                  <a:outerShdw blurRad="38100" dist="38100" dir="2700000">
                    <a:srgbClr val="C0C0C0"/>
                  </a:outerShdw>
                </a:effectLst>
                <a:latin typeface="Microsoft YaHei" panose="020B0503020204020204" charset="-122"/>
                <a:ea typeface="Microsoft YaHei" panose="020B0503020204020204" charset="-122"/>
              </a:rPr>
              <a:t>n≥3</a:t>
            </a:r>
            <a:r>
              <a:rPr lang="zh-CN" altLang="en-US" sz="2400" noProof="1">
                <a:effectLst>
                  <a:outerShdw blurRad="38100" dist="38100" dir="2700000">
                    <a:srgbClr val="C0C0C0"/>
                  </a:outerShdw>
                </a:effectLst>
                <a:latin typeface="Microsoft YaHei" panose="020B0503020204020204" charset="-122"/>
                <a:ea typeface="Microsoft YaHei" panose="020B0503020204020204" charset="-122"/>
              </a:rPr>
              <a:t>，则</a:t>
            </a:r>
            <a:r>
              <a:rPr lang="en-US" altLang="zh-CN" sz="2400" noProof="1">
                <a:effectLst>
                  <a:outerShdw blurRad="38100" dist="38100" dir="2700000">
                    <a:srgbClr val="C0C0C0"/>
                  </a:outerShdw>
                </a:effectLst>
                <a:latin typeface="Microsoft YaHei" panose="020B0503020204020204" charset="-122"/>
                <a:ea typeface="Microsoft YaHei" panose="020B0503020204020204" charset="-122"/>
              </a:rPr>
              <a:t>m≤3n-6</a:t>
            </a:r>
            <a:r>
              <a:rPr lang="zh-CN" altLang="en-US" sz="2400" noProof="1">
                <a:effectLst>
                  <a:outerShdw blurRad="38100" dist="38100" dir="2700000">
                    <a:srgbClr val="C0C0C0"/>
                  </a:outerShdw>
                </a:effectLst>
                <a:latin typeface="Microsoft YaHei" panose="020B0503020204020204" charset="-122"/>
                <a:ea typeface="Microsoft YaHei" panose="020B0503020204020204" charset="-122"/>
              </a:rPr>
              <a:t>。</a:t>
            </a:r>
          </a:p>
          <a:p>
            <a:pPr fontAlgn="base">
              <a:buFont typeface="Arial" panose="020B0604020202020204" pitchFamily="34" charset="0"/>
              <a:buNone/>
            </a:pPr>
            <a:endParaRPr lang="zh-CN" altLang="en-US" sz="2400" noProof="1">
              <a:effectLst>
                <a:outerShdw blurRad="38100" dist="38100" dir="2700000">
                  <a:srgbClr val="C0C0C0"/>
                </a:outerShdw>
              </a:effectLst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34657222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Special Graph 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grpSp>
        <p:nvGrpSpPr>
          <p:cNvPr id="4" name="Group 5">
            <a:extLst>
              <a:ext uri="{FF2B5EF4-FFF2-40B4-BE49-F238E27FC236}">
                <a16:creationId xmlns:a16="http://schemas.microsoft.com/office/drawing/2014/main" id="{169981BE-D4D4-4473-A496-432EA52685DC}"/>
              </a:ext>
            </a:extLst>
          </p:cNvPr>
          <p:cNvGrpSpPr>
            <a:grpSpLocks/>
          </p:cNvGrpSpPr>
          <p:nvPr/>
        </p:nvGrpSpPr>
        <p:grpSpPr bwMode="auto">
          <a:xfrm>
            <a:off x="2929710" y="897309"/>
            <a:ext cx="1603214" cy="1494200"/>
            <a:chOff x="3840" y="576"/>
            <a:chExt cx="1378" cy="1554"/>
          </a:xfrm>
        </p:grpSpPr>
        <p:sp>
          <p:nvSpPr>
            <p:cNvPr id="5" name="Oval 6">
              <a:extLst>
                <a:ext uri="{FF2B5EF4-FFF2-40B4-BE49-F238E27FC236}">
                  <a16:creationId xmlns:a16="http://schemas.microsoft.com/office/drawing/2014/main" id="{9B879D13-D5DE-4889-95EB-6EE5504428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576"/>
              <a:ext cx="90" cy="90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" name="Oval 7">
              <a:extLst>
                <a:ext uri="{FF2B5EF4-FFF2-40B4-BE49-F238E27FC236}">
                  <a16:creationId xmlns:a16="http://schemas.microsoft.com/office/drawing/2014/main" id="{4FE6A4F1-9625-47BE-94D1-D3EA416215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051"/>
              <a:ext cx="90" cy="90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Oval 8">
              <a:extLst>
                <a:ext uri="{FF2B5EF4-FFF2-40B4-BE49-F238E27FC236}">
                  <a16:creationId xmlns:a16="http://schemas.microsoft.com/office/drawing/2014/main" id="{36DBFF8D-5A1C-41E4-B4B8-636A7599A6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8" y="1049"/>
              <a:ext cx="90" cy="90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Oval 9">
              <a:extLst>
                <a:ext uri="{FF2B5EF4-FFF2-40B4-BE49-F238E27FC236}">
                  <a16:creationId xmlns:a16="http://schemas.microsoft.com/office/drawing/2014/main" id="{2D64878D-CA99-4BF6-9F84-67780A36FE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8" y="1820"/>
              <a:ext cx="89" cy="90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Oval 10">
              <a:extLst>
                <a:ext uri="{FF2B5EF4-FFF2-40B4-BE49-F238E27FC236}">
                  <a16:creationId xmlns:a16="http://schemas.microsoft.com/office/drawing/2014/main" id="{F6849663-E191-4E86-90E3-5B889F7329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8" y="1808"/>
              <a:ext cx="90" cy="90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820DB2A2-DC17-4090-946A-1827E2F649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6" y="636"/>
              <a:ext cx="579" cy="419"/>
            </a:xfrm>
            <a:custGeom>
              <a:avLst/>
              <a:gdLst>
                <a:gd name="T0" fmla="*/ 579 w 579"/>
                <a:gd name="T1" fmla="*/ 0 h 419"/>
                <a:gd name="T2" fmla="*/ 0 w 579"/>
                <a:gd name="T3" fmla="*/ 41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9" h="419">
                  <a:moveTo>
                    <a:pt x="579" y="0"/>
                  </a:moveTo>
                  <a:lnTo>
                    <a:pt x="0" y="419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571F7E23-5D66-42CC-B1C8-64EC044DCA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8" y="636"/>
              <a:ext cx="579" cy="423"/>
            </a:xfrm>
            <a:custGeom>
              <a:avLst/>
              <a:gdLst>
                <a:gd name="T0" fmla="*/ 0 w 579"/>
                <a:gd name="T1" fmla="*/ 0 h 423"/>
                <a:gd name="T2" fmla="*/ 579 w 579"/>
                <a:gd name="T3" fmla="*/ 423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9" h="423">
                  <a:moveTo>
                    <a:pt x="0" y="0"/>
                  </a:moveTo>
                  <a:lnTo>
                    <a:pt x="579" y="42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4C79C2DA-51CD-4161-9B57-801BF115AF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1" y="1140"/>
              <a:ext cx="210" cy="684"/>
            </a:xfrm>
            <a:custGeom>
              <a:avLst/>
              <a:gdLst>
                <a:gd name="T0" fmla="*/ 210 w 210"/>
                <a:gd name="T1" fmla="*/ 0 h 684"/>
                <a:gd name="T2" fmla="*/ 0 w 210"/>
                <a:gd name="T3" fmla="*/ 684 h 6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10" h="684">
                  <a:moveTo>
                    <a:pt x="210" y="0"/>
                  </a:moveTo>
                  <a:lnTo>
                    <a:pt x="0" y="684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9626CC5F-3357-4356-A392-A71A9F1D66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7" y="1884"/>
              <a:ext cx="707" cy="1"/>
            </a:xfrm>
            <a:custGeom>
              <a:avLst/>
              <a:gdLst>
                <a:gd name="T0" fmla="*/ 0 w 707"/>
                <a:gd name="T1" fmla="*/ 0 h 1"/>
                <a:gd name="T2" fmla="*/ 707 w 707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07" h="1">
                  <a:moveTo>
                    <a:pt x="0" y="0"/>
                  </a:moveTo>
                  <a:lnTo>
                    <a:pt x="707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5">
              <a:extLst>
                <a:ext uri="{FF2B5EF4-FFF2-40B4-BE49-F238E27FC236}">
                  <a16:creationId xmlns:a16="http://schemas.microsoft.com/office/drawing/2014/main" id="{CCCB213F-448F-4466-986C-3B5CCE4B8D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2" y="1140"/>
              <a:ext cx="222" cy="696"/>
            </a:xfrm>
            <a:custGeom>
              <a:avLst/>
              <a:gdLst>
                <a:gd name="T0" fmla="*/ 0 w 222"/>
                <a:gd name="T1" fmla="*/ 0 h 696"/>
                <a:gd name="T2" fmla="*/ 222 w 222"/>
                <a:gd name="T3" fmla="*/ 696 h 6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2" h="696">
                  <a:moveTo>
                    <a:pt x="0" y="0"/>
                  </a:moveTo>
                  <a:lnTo>
                    <a:pt x="222" y="696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6">
              <a:extLst>
                <a:ext uri="{FF2B5EF4-FFF2-40B4-BE49-F238E27FC236}">
                  <a16:creationId xmlns:a16="http://schemas.microsoft.com/office/drawing/2014/main" id="{747EB436-352C-4946-BC5B-69D9AECA3B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8" y="1134"/>
              <a:ext cx="957" cy="717"/>
            </a:xfrm>
            <a:custGeom>
              <a:avLst/>
              <a:gdLst>
                <a:gd name="T0" fmla="*/ 0 w 957"/>
                <a:gd name="T1" fmla="*/ 717 h 717"/>
                <a:gd name="T2" fmla="*/ 957 w 957"/>
                <a:gd name="T3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57" h="717">
                  <a:moveTo>
                    <a:pt x="0" y="717"/>
                  </a:moveTo>
                  <a:lnTo>
                    <a:pt x="957" y="0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Text Box 17">
              <a:extLst>
                <a:ext uri="{FF2B5EF4-FFF2-40B4-BE49-F238E27FC236}">
                  <a16:creationId xmlns:a16="http://schemas.microsoft.com/office/drawing/2014/main" id="{A22C4609-793D-4F79-8C10-7E3C897311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0" y="1938"/>
              <a:ext cx="7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/>
            <a:p>
              <a:r>
                <a:rPr lang="en-US" altLang="zh-CN" sz="2000" i="1" dirty="0"/>
                <a:t>K</a:t>
              </a:r>
              <a:r>
                <a:rPr lang="en-US" altLang="zh-CN" sz="2000" b="0" baseline="-25000" dirty="0"/>
                <a:t>5</a:t>
              </a:r>
            </a:p>
          </p:txBody>
        </p:sp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24831ABD-C71F-45ED-A07A-8F98F7D88A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1" y="666"/>
              <a:ext cx="366" cy="1158"/>
            </a:xfrm>
            <a:custGeom>
              <a:avLst/>
              <a:gdLst>
                <a:gd name="T0" fmla="*/ 366 w 366"/>
                <a:gd name="T1" fmla="*/ 0 h 1158"/>
                <a:gd name="T2" fmla="*/ 0 w 366"/>
                <a:gd name="T3" fmla="*/ 1158 h 1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66" h="1158">
                  <a:moveTo>
                    <a:pt x="366" y="0"/>
                  </a:moveTo>
                  <a:lnTo>
                    <a:pt x="0" y="1158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9">
              <a:extLst>
                <a:ext uri="{FF2B5EF4-FFF2-40B4-BE49-F238E27FC236}">
                  <a16:creationId xmlns:a16="http://schemas.microsoft.com/office/drawing/2014/main" id="{E11BA662-ABFE-42F9-BD3A-DF1BFE3B36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1" y="1089"/>
              <a:ext cx="1200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Freeform 20">
              <a:extLst>
                <a:ext uri="{FF2B5EF4-FFF2-40B4-BE49-F238E27FC236}">
                  <a16:creationId xmlns:a16="http://schemas.microsoft.com/office/drawing/2014/main" id="{D1DC1F29-9FBC-4FFF-9BF6-11BD18C935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2" y="663"/>
              <a:ext cx="381" cy="1146"/>
            </a:xfrm>
            <a:custGeom>
              <a:avLst/>
              <a:gdLst>
                <a:gd name="T0" fmla="*/ 0 w 381"/>
                <a:gd name="T1" fmla="*/ 0 h 1146"/>
                <a:gd name="T2" fmla="*/ 381 w 381"/>
                <a:gd name="T3" fmla="*/ 1146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81" h="1146">
                  <a:moveTo>
                    <a:pt x="0" y="0"/>
                  </a:moveTo>
                  <a:lnTo>
                    <a:pt x="381" y="1146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Freeform 21">
              <a:extLst>
                <a:ext uri="{FF2B5EF4-FFF2-40B4-BE49-F238E27FC236}">
                  <a16:creationId xmlns:a16="http://schemas.microsoft.com/office/drawing/2014/main" id="{F00D3BBA-0FDD-4688-A735-23139B479B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9" y="1131"/>
              <a:ext cx="972" cy="708"/>
            </a:xfrm>
            <a:custGeom>
              <a:avLst/>
              <a:gdLst>
                <a:gd name="T0" fmla="*/ 0 w 972"/>
                <a:gd name="T1" fmla="*/ 0 h 708"/>
                <a:gd name="T2" fmla="*/ 972 w 972"/>
                <a:gd name="T3" fmla="*/ 708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2" h="708">
                  <a:moveTo>
                    <a:pt x="0" y="0"/>
                  </a:moveTo>
                  <a:lnTo>
                    <a:pt x="972" y="708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8580C124-AB1A-4C0B-B54E-B7394D730F0F}"/>
              </a:ext>
            </a:extLst>
          </p:cNvPr>
          <p:cNvSpPr/>
          <p:nvPr/>
        </p:nvSpPr>
        <p:spPr>
          <a:xfrm>
            <a:off x="6244699" y="1342364"/>
            <a:ext cx="236955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n=5，m=10</a:t>
            </a:r>
            <a:endParaRPr lang="zh-CN" alt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0C56789-1B38-4D57-8714-5D2AA92E24AA}"/>
              </a:ext>
            </a:extLst>
          </p:cNvPr>
          <p:cNvSpPr/>
          <p:nvPr/>
        </p:nvSpPr>
        <p:spPr>
          <a:xfrm>
            <a:off x="6222822" y="2146949"/>
            <a:ext cx="40318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m=10</a:t>
            </a:r>
            <a:r>
              <a:rPr lang="en-US" altLang="zh-CN" sz="28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</a:t>
            </a:r>
            <a:r>
              <a:rPr lang="en-US" altLang="zh-CN" sz="28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9=3</a:t>
            </a:r>
            <a:r>
              <a:rPr lang="en-US" altLang="zh-CN" sz="28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</a:t>
            </a:r>
            <a:r>
              <a:rPr lang="en-US" altLang="zh-CN" sz="28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5-6=3n-6 </a:t>
            </a:r>
            <a:endParaRPr lang="zh-CN" alt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3" name="Group 4">
            <a:extLst>
              <a:ext uri="{FF2B5EF4-FFF2-40B4-BE49-F238E27FC236}">
                <a16:creationId xmlns:a16="http://schemas.microsoft.com/office/drawing/2014/main" id="{4D869252-9258-4A7B-B799-A3F23BC74067}"/>
              </a:ext>
            </a:extLst>
          </p:cNvPr>
          <p:cNvGrpSpPr>
            <a:grpSpLocks/>
          </p:cNvGrpSpPr>
          <p:nvPr/>
        </p:nvGrpSpPr>
        <p:grpSpPr bwMode="auto">
          <a:xfrm>
            <a:off x="3139659" y="3022478"/>
            <a:ext cx="1350217" cy="1357791"/>
            <a:chOff x="4416" y="2256"/>
            <a:chExt cx="952" cy="1053"/>
          </a:xfrm>
        </p:grpSpPr>
        <p:sp>
          <p:nvSpPr>
            <p:cNvPr id="24" name="Oval 5">
              <a:extLst>
                <a:ext uri="{FF2B5EF4-FFF2-40B4-BE49-F238E27FC236}">
                  <a16:creationId xmlns:a16="http://schemas.microsoft.com/office/drawing/2014/main" id="{CD1EFEF3-A5EA-4928-B610-68F7DFE513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2256"/>
              <a:ext cx="91" cy="9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Oval 6">
              <a:extLst>
                <a:ext uri="{FF2B5EF4-FFF2-40B4-BE49-F238E27FC236}">
                  <a16:creationId xmlns:a16="http://schemas.microsoft.com/office/drawing/2014/main" id="{0BB376E5-8A2E-41E2-9883-8596934BAC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2981"/>
              <a:ext cx="91" cy="9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Line 7">
              <a:extLst>
                <a:ext uri="{FF2B5EF4-FFF2-40B4-BE49-F238E27FC236}">
                  <a16:creationId xmlns:a16="http://schemas.microsoft.com/office/drawing/2014/main" id="{E16E2545-F9A4-476C-BF65-38769CB516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2352"/>
              <a:ext cx="0" cy="6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Oval 8">
              <a:extLst>
                <a:ext uri="{FF2B5EF4-FFF2-40B4-BE49-F238E27FC236}">
                  <a16:creationId xmlns:a16="http://schemas.microsoft.com/office/drawing/2014/main" id="{93D9724A-CA56-4D85-B864-48DE9F3F79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8" y="2256"/>
              <a:ext cx="91" cy="9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Oval 9">
              <a:extLst>
                <a:ext uri="{FF2B5EF4-FFF2-40B4-BE49-F238E27FC236}">
                  <a16:creationId xmlns:a16="http://schemas.microsoft.com/office/drawing/2014/main" id="{B12F0EB4-19DB-4BA1-A123-D6FF922E9A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8" y="2981"/>
              <a:ext cx="91" cy="9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2A7F3F38-21AC-4740-8958-3D95FBE3FF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6" y="2352"/>
              <a:ext cx="1" cy="630"/>
            </a:xfrm>
            <a:custGeom>
              <a:avLst/>
              <a:gdLst>
                <a:gd name="T0" fmla="*/ 0 w 1"/>
                <a:gd name="T1" fmla="*/ 0 h 630"/>
                <a:gd name="T2" fmla="*/ 0 w 1"/>
                <a:gd name="T3" fmla="*/ 630 h 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630">
                  <a:moveTo>
                    <a:pt x="0" y="0"/>
                  </a:moveTo>
                  <a:lnTo>
                    <a:pt x="0" y="63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Oval 11">
              <a:extLst>
                <a:ext uri="{FF2B5EF4-FFF2-40B4-BE49-F238E27FC236}">
                  <a16:creationId xmlns:a16="http://schemas.microsoft.com/office/drawing/2014/main" id="{C95BE3CE-AA27-4C13-8AFA-E0B0A11965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7" y="2256"/>
              <a:ext cx="91" cy="9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Oval 12">
              <a:extLst>
                <a:ext uri="{FF2B5EF4-FFF2-40B4-BE49-F238E27FC236}">
                  <a16:creationId xmlns:a16="http://schemas.microsoft.com/office/drawing/2014/main" id="{F39DC75A-9D84-4CDC-8FFA-21D8B394E7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7" y="2981"/>
              <a:ext cx="91" cy="9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Line 13">
              <a:extLst>
                <a:ext uri="{FF2B5EF4-FFF2-40B4-BE49-F238E27FC236}">
                  <a16:creationId xmlns:a16="http://schemas.microsoft.com/office/drawing/2014/main" id="{2C46B80B-010F-4DFB-9326-1E060D8295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5" y="2352"/>
              <a:ext cx="0" cy="6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Freeform 14">
              <a:extLst>
                <a:ext uri="{FF2B5EF4-FFF2-40B4-BE49-F238E27FC236}">
                  <a16:creationId xmlns:a16="http://schemas.microsoft.com/office/drawing/2014/main" id="{528769CB-11F4-4ED6-A47E-CA04D5AB0E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9" y="2313"/>
              <a:ext cx="774" cy="699"/>
            </a:xfrm>
            <a:custGeom>
              <a:avLst/>
              <a:gdLst>
                <a:gd name="T0" fmla="*/ 0 w 774"/>
                <a:gd name="T1" fmla="*/ 0 h 699"/>
                <a:gd name="T2" fmla="*/ 774 w 774"/>
                <a:gd name="T3" fmla="*/ 699 h 6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4" h="699">
                  <a:moveTo>
                    <a:pt x="0" y="0"/>
                  </a:moveTo>
                  <a:lnTo>
                    <a:pt x="774" y="699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Freeform 15">
              <a:extLst>
                <a:ext uri="{FF2B5EF4-FFF2-40B4-BE49-F238E27FC236}">
                  <a16:creationId xmlns:a16="http://schemas.microsoft.com/office/drawing/2014/main" id="{0B3C0C3D-8144-440B-8A24-623CF21D3D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2322"/>
              <a:ext cx="771" cy="702"/>
            </a:xfrm>
            <a:custGeom>
              <a:avLst/>
              <a:gdLst>
                <a:gd name="T0" fmla="*/ 0 w 771"/>
                <a:gd name="T1" fmla="*/ 702 h 702"/>
                <a:gd name="T2" fmla="*/ 771 w 771"/>
                <a:gd name="T3" fmla="*/ 0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1" h="702">
                  <a:moveTo>
                    <a:pt x="0" y="702"/>
                  </a:moveTo>
                  <a:lnTo>
                    <a:pt x="771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Freeform 16">
              <a:extLst>
                <a:ext uri="{FF2B5EF4-FFF2-40B4-BE49-F238E27FC236}">
                  <a16:creationId xmlns:a16="http://schemas.microsoft.com/office/drawing/2014/main" id="{52D7C14F-7CD1-42E6-9280-32FF2F8A4D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8" y="2343"/>
              <a:ext cx="378" cy="651"/>
            </a:xfrm>
            <a:custGeom>
              <a:avLst/>
              <a:gdLst>
                <a:gd name="T0" fmla="*/ 0 w 378"/>
                <a:gd name="T1" fmla="*/ 0 h 651"/>
                <a:gd name="T2" fmla="*/ 378 w 378"/>
                <a:gd name="T3" fmla="*/ 651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8" h="651">
                  <a:moveTo>
                    <a:pt x="0" y="0"/>
                  </a:moveTo>
                  <a:lnTo>
                    <a:pt x="378" y="651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Freeform 17">
              <a:extLst>
                <a:ext uri="{FF2B5EF4-FFF2-40B4-BE49-F238E27FC236}">
                  <a16:creationId xmlns:a16="http://schemas.microsoft.com/office/drawing/2014/main" id="{6A0956AA-7146-4B67-A1F3-1F5DD937EE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5" y="2334"/>
              <a:ext cx="375" cy="660"/>
            </a:xfrm>
            <a:custGeom>
              <a:avLst/>
              <a:gdLst>
                <a:gd name="T0" fmla="*/ 375 w 375"/>
                <a:gd name="T1" fmla="*/ 0 h 660"/>
                <a:gd name="T2" fmla="*/ 0 w 375"/>
                <a:gd name="T3" fmla="*/ 660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5" h="660">
                  <a:moveTo>
                    <a:pt x="375" y="0"/>
                  </a:moveTo>
                  <a:lnTo>
                    <a:pt x="0" y="66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Freeform 18">
              <a:extLst>
                <a:ext uri="{FF2B5EF4-FFF2-40B4-BE49-F238E27FC236}">
                  <a16:creationId xmlns:a16="http://schemas.microsoft.com/office/drawing/2014/main" id="{5A4AB9EE-4622-4269-9E3F-3437023D37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6" y="2340"/>
              <a:ext cx="375" cy="651"/>
            </a:xfrm>
            <a:custGeom>
              <a:avLst/>
              <a:gdLst>
                <a:gd name="T0" fmla="*/ 0 w 375"/>
                <a:gd name="T1" fmla="*/ 0 h 651"/>
                <a:gd name="T2" fmla="*/ 375 w 375"/>
                <a:gd name="T3" fmla="*/ 651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5" h="651">
                  <a:moveTo>
                    <a:pt x="0" y="0"/>
                  </a:moveTo>
                  <a:lnTo>
                    <a:pt x="375" y="651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Freeform 19">
              <a:extLst>
                <a:ext uri="{FF2B5EF4-FFF2-40B4-BE49-F238E27FC236}">
                  <a16:creationId xmlns:a16="http://schemas.microsoft.com/office/drawing/2014/main" id="{6067164F-5B45-4338-B877-9E0FC582F7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2" y="2346"/>
              <a:ext cx="363" cy="654"/>
            </a:xfrm>
            <a:custGeom>
              <a:avLst/>
              <a:gdLst>
                <a:gd name="T0" fmla="*/ 0 w 363"/>
                <a:gd name="T1" fmla="*/ 654 h 654"/>
                <a:gd name="T2" fmla="*/ 363 w 363"/>
                <a:gd name="T3" fmla="*/ 0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63" h="654">
                  <a:moveTo>
                    <a:pt x="0" y="654"/>
                  </a:moveTo>
                  <a:lnTo>
                    <a:pt x="363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Text Box 20">
              <a:extLst>
                <a:ext uri="{FF2B5EF4-FFF2-40B4-BE49-F238E27FC236}">
                  <a16:creationId xmlns:a16="http://schemas.microsoft.com/office/drawing/2014/main" id="{FE9431B8-1792-4955-B9D7-60614E75F1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3117"/>
              <a:ext cx="6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>
              <a:spAutoFit/>
            </a:bodyPr>
            <a:lstStyle/>
            <a:p>
              <a:r>
                <a:rPr lang="en-US" altLang="zh-CN" sz="2000" i="1" dirty="0">
                  <a:solidFill>
                    <a:srgbClr val="000000"/>
                  </a:solidFill>
                </a:rPr>
                <a:t>K</a:t>
              </a:r>
              <a:r>
                <a:rPr lang="en-US" altLang="zh-CN" sz="2000" b="0" baseline="-25000" dirty="0">
                  <a:solidFill>
                    <a:srgbClr val="000000"/>
                  </a:solidFill>
                </a:rPr>
                <a:t>3,3</a:t>
              </a:r>
            </a:p>
          </p:txBody>
        </p:sp>
      </p:grpSp>
      <p:sp>
        <p:nvSpPr>
          <p:cNvPr id="21" name="矩形 20">
            <a:extLst>
              <a:ext uri="{FF2B5EF4-FFF2-40B4-BE49-F238E27FC236}">
                <a16:creationId xmlns:a16="http://schemas.microsoft.com/office/drawing/2014/main" id="{50F5F0E0-6392-433A-B0F3-5F77683B50AE}"/>
              </a:ext>
            </a:extLst>
          </p:cNvPr>
          <p:cNvSpPr/>
          <p:nvPr/>
        </p:nvSpPr>
        <p:spPr>
          <a:xfrm>
            <a:off x="6096000" y="2988552"/>
            <a:ext cx="39260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m=9</a:t>
            </a:r>
            <a:r>
              <a:rPr lang="en-US" altLang="zh-CN" sz="28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</a:t>
            </a:r>
            <a:r>
              <a:rPr lang="en-US" altLang="zh-CN" sz="28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12=3</a:t>
            </a:r>
            <a:r>
              <a:rPr lang="en-US" altLang="zh-CN" sz="28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</a:t>
            </a:r>
            <a:r>
              <a:rPr lang="en-US" altLang="zh-CN" sz="28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6-6=3n-6</a:t>
            </a:r>
            <a:endParaRPr lang="zh-CN" alt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5E26E16-4930-49CB-B400-82D050E8B25A}"/>
              </a:ext>
            </a:extLst>
          </p:cNvPr>
          <p:cNvSpPr/>
          <p:nvPr/>
        </p:nvSpPr>
        <p:spPr>
          <a:xfrm>
            <a:off x="6617801" y="3878085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en-US" altLang="zh-CN" sz="28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</a:t>
            </a:r>
            <a:r>
              <a:rPr lang="en-US" altLang="zh-CN" sz="28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2n</a:t>
            </a:r>
            <a:r>
              <a:rPr lang="en-US" altLang="zh-CN" sz="28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endParaRPr lang="zh-CN" alt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Rectangle 3">
            <a:extLst>
              <a:ext uri="{FF2B5EF4-FFF2-40B4-BE49-F238E27FC236}">
                <a16:creationId xmlns:a16="http://schemas.microsoft.com/office/drawing/2014/main" id="{54350B6E-D420-4B60-A88A-91A9E0F218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4823373"/>
            <a:ext cx="80645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algn="just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800" b="1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just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800" b="1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800" b="1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defRPr sz="2800" b="1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defRPr sz="2800" b="1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/>
                <a:ea typeface="黑体"/>
                <a:cs typeface="+mn-cs"/>
              </a:rPr>
              <a:t>设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/>
                <a:ea typeface="黑体"/>
                <a:cs typeface="+mn-cs"/>
              </a:rPr>
              <a:t>G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/>
                <a:ea typeface="黑体"/>
                <a:cs typeface="+mn-cs"/>
              </a:rPr>
              <a:t>是一个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/>
                <a:ea typeface="黑体"/>
                <a:cs typeface="+mn-cs"/>
              </a:rPr>
              <a:t>(n, m)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/>
                <a:ea typeface="黑体"/>
                <a:cs typeface="+mn-cs"/>
              </a:rPr>
              <a:t>简单连通平面图，若每个面的次数至少为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/>
                <a:ea typeface="黑体"/>
                <a:cs typeface="+mn-cs"/>
              </a:rPr>
              <a:t>k(k≥3)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/>
                <a:ea typeface="黑体"/>
                <a:cs typeface="+mn-cs"/>
              </a:rPr>
              <a:t>，则有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/>
                <a:ea typeface="黑体"/>
                <a:cs typeface="+mn-cs"/>
              </a:rPr>
              <a:t> </a:t>
            </a:r>
          </a:p>
        </p:txBody>
      </p:sp>
      <p:graphicFrame>
        <p:nvGraphicFramePr>
          <p:cNvPr id="44" name="Object 4">
            <a:extLst>
              <a:ext uri="{FF2B5EF4-FFF2-40B4-BE49-F238E27FC236}">
                <a16:creationId xmlns:a16="http://schemas.microsoft.com/office/drawing/2014/main" id="{95E7DF9A-8136-4D08-B995-F678272C17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34198" y="5377204"/>
          <a:ext cx="2541587" cy="985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02960" imgH="393480" progId="Equation.DSMT4">
                  <p:embed/>
                </p:oleObj>
              </mc:Choice>
              <mc:Fallback>
                <p:oleObj name="Equation" r:id="rId4" imgW="1002960" imgH="393480" progId="Equation.DSMT4">
                  <p:embed/>
                  <p:pic>
                    <p:nvPicPr>
                      <p:cNvPr id="44" name="Object 4">
                        <a:extLst>
                          <a:ext uri="{FF2B5EF4-FFF2-40B4-BE49-F238E27FC236}">
                            <a16:creationId xmlns:a16="http://schemas.microsoft.com/office/drawing/2014/main" id="{95E7DF9A-8136-4D08-B995-F678272C17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4198" y="5377204"/>
                        <a:ext cx="2541587" cy="985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59889685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Special Graph 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内容占位符 17410">
            <a:extLst>
              <a:ext uri="{FF2B5EF4-FFF2-40B4-BE49-F238E27FC236}">
                <a16:creationId xmlns:a16="http://schemas.microsoft.com/office/drawing/2014/main" id="{64EAF1D7-9DE3-4692-9368-789228884F67}"/>
              </a:ext>
            </a:extLst>
          </p:cNvPr>
          <p:cNvSpPr txBox="1">
            <a:spLocks/>
          </p:cNvSpPr>
          <p:nvPr/>
        </p:nvSpPr>
        <p:spPr>
          <a:xfrm>
            <a:off x="1571625" y="1455738"/>
            <a:ext cx="8766175" cy="1037590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2400">
                <a:solidFill>
                  <a:srgbClr val="3333FF"/>
                </a:solidFill>
                <a:latin typeface="Microsoft YaHei" panose="020B0503020204020204" charset="-122"/>
                <a:ea typeface="Microsoft YaHei" panose="020B0503020204020204" charset="-122"/>
              </a:rPr>
              <a:t>（Kuratowski’s Theorem）</a:t>
            </a:r>
            <a:r>
              <a:rPr lang="zh-CN" altLang="en-US" sz="2400">
                <a:latin typeface="Microsoft YaHei" panose="020B0503020204020204" charset="-122"/>
                <a:ea typeface="Microsoft YaHei" panose="020B0503020204020204" charset="-122"/>
              </a:rPr>
              <a:t>图</a:t>
            </a:r>
            <a:r>
              <a:rPr lang="en-US" altLang="zh-CN" sz="2400">
                <a:latin typeface="Microsoft YaHei" panose="020B0503020204020204" charset="-122"/>
                <a:ea typeface="Microsoft YaHei" panose="020B0503020204020204" charset="-122"/>
              </a:rPr>
              <a:t>G</a:t>
            </a:r>
            <a:r>
              <a:rPr lang="zh-CN" altLang="en-US" sz="2400">
                <a:latin typeface="Microsoft YaHei" panose="020B0503020204020204" charset="-122"/>
                <a:ea typeface="Microsoft YaHei" panose="020B0503020204020204" charset="-122"/>
              </a:rPr>
              <a:t>是平面图，当且仅当</a:t>
            </a:r>
            <a:r>
              <a:rPr lang="en-US" altLang="zh-CN" sz="2400">
                <a:latin typeface="Microsoft YaHei" panose="020B0503020204020204" charset="-122"/>
                <a:ea typeface="Microsoft YaHei" panose="020B0503020204020204" charset="-122"/>
              </a:rPr>
              <a:t>K</a:t>
            </a:r>
            <a:r>
              <a:rPr lang="en-US" altLang="zh-CN" sz="2400" baseline="-25000">
                <a:latin typeface="Microsoft YaHei" panose="020B0503020204020204" charset="-122"/>
                <a:ea typeface="Microsoft YaHei" panose="020B0503020204020204" charset="-122"/>
              </a:rPr>
              <a:t>5</a:t>
            </a:r>
            <a:r>
              <a:rPr lang="zh-CN" altLang="en-US" sz="2400">
                <a:latin typeface="Microsoft YaHei" panose="020B0503020204020204" charset="-122"/>
                <a:ea typeface="Microsoft YaHei" panose="020B0503020204020204" charset="-122"/>
              </a:rPr>
              <a:t>与</a:t>
            </a:r>
            <a:r>
              <a:rPr lang="en-US" altLang="zh-CN" sz="2400">
                <a:latin typeface="Microsoft YaHei" panose="020B0503020204020204" charset="-122"/>
                <a:ea typeface="Microsoft YaHei" panose="020B0503020204020204" charset="-122"/>
              </a:rPr>
              <a:t>K</a:t>
            </a:r>
            <a:r>
              <a:rPr lang="en-US" altLang="zh-CN" sz="2400" baseline="-25000">
                <a:latin typeface="Microsoft YaHei" panose="020B0503020204020204" charset="-122"/>
                <a:ea typeface="Microsoft YaHei" panose="020B0503020204020204" charset="-122"/>
              </a:rPr>
              <a:t>3,3</a:t>
            </a:r>
            <a:r>
              <a:rPr lang="zh-CN" altLang="en-US" sz="2400">
                <a:latin typeface="Microsoft YaHei" panose="020B0503020204020204" charset="-122"/>
                <a:ea typeface="Microsoft YaHei" panose="020B0503020204020204" charset="-122"/>
              </a:rPr>
              <a:t>的任何细分图都不是</a:t>
            </a:r>
            <a:r>
              <a:rPr lang="en-US" altLang="zh-CN" sz="2400">
                <a:latin typeface="Microsoft YaHei" panose="020B0503020204020204" charset="-122"/>
                <a:ea typeface="Microsoft YaHei" panose="020B0503020204020204" charset="-122"/>
              </a:rPr>
              <a:t>G</a:t>
            </a:r>
            <a:r>
              <a:rPr lang="zh-CN" altLang="en-US" sz="2400">
                <a:latin typeface="Microsoft YaHei" panose="020B0503020204020204" charset="-122"/>
                <a:ea typeface="Microsoft YaHei" panose="020B0503020204020204" charset="-122"/>
              </a:rPr>
              <a:t>的子图</a:t>
            </a:r>
            <a:r>
              <a:rPr lang="en-US" altLang="zh-CN" sz="2400">
                <a:latin typeface="Microsoft YaHei" panose="020B0503020204020204" charset="-122"/>
                <a:ea typeface="Microsoft YaHei" panose="020B0503020204020204" charset="-122"/>
              </a:rPr>
              <a:t>.</a:t>
            </a:r>
            <a:r>
              <a:rPr lang="zh-CN" altLang="en-US">
                <a:latin typeface="Microsoft YaHei" panose="020B0503020204020204" charset="-122"/>
                <a:ea typeface="Microsoft YaHei" panose="020B0503020204020204" charset="-122"/>
              </a:rPr>
              <a:t> </a:t>
            </a:r>
            <a:endParaRPr lang="zh-CN" altLang="en-US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059D6AD-47CF-4C8F-B73A-B43EA97CD8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8725" y="2925128"/>
            <a:ext cx="6121400" cy="2670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图片 17412" descr="Image8">
            <a:extLst>
              <a:ext uri="{FF2B5EF4-FFF2-40B4-BE49-F238E27FC236}">
                <a16:creationId xmlns:a16="http://schemas.microsoft.com/office/drawing/2014/main" id="{6731C739-2778-45B2-9BDE-9FEE6677AB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2500" y="3141028"/>
            <a:ext cx="1800225" cy="1714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17415">
            <a:extLst>
              <a:ext uri="{FF2B5EF4-FFF2-40B4-BE49-F238E27FC236}">
                <a16:creationId xmlns:a16="http://schemas.microsoft.com/office/drawing/2014/main" id="{68551385-8E5A-4494-9FDC-1B4DAAAC0223}"/>
              </a:ext>
            </a:extLst>
          </p:cNvPr>
          <p:cNvSpPr txBox="1"/>
          <p:nvPr/>
        </p:nvSpPr>
        <p:spPr>
          <a:xfrm>
            <a:off x="2417763" y="5393691"/>
            <a:ext cx="1383665" cy="39878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000">
                <a:solidFill>
                  <a:srgbClr val="3333FF"/>
                </a:solidFill>
                <a:latin typeface="Times New Roman" panose="02020603050405020304" pitchFamily="2" charset="0"/>
                <a:ea typeface="SimSun" panose="02010600030101010101" pitchFamily="2" charset="-122"/>
              </a:rPr>
              <a:t>Peterson</a:t>
            </a:r>
            <a:r>
              <a:rPr lang="zh-CN" altLang="en-US" sz="2000">
                <a:solidFill>
                  <a:srgbClr val="3333FF"/>
                </a:solidFill>
                <a:latin typeface="Times New Roman" panose="02020603050405020304" pitchFamily="2" charset="0"/>
                <a:ea typeface="SimSun" panose="02010600030101010101" pitchFamily="2" charset="-122"/>
              </a:rPr>
              <a:t>图</a:t>
            </a:r>
          </a:p>
        </p:txBody>
      </p:sp>
    </p:spTree>
    <p:extLst>
      <p:ext uri="{BB962C8B-B14F-4D97-AF65-F5344CB8AC3E}">
        <p14:creationId xmlns:p14="http://schemas.microsoft.com/office/powerpoint/2010/main" val="2442932599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Special Graph 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内容占位符 17410">
            <a:extLst>
              <a:ext uri="{FF2B5EF4-FFF2-40B4-BE49-F238E27FC236}">
                <a16:creationId xmlns:a16="http://schemas.microsoft.com/office/drawing/2014/main" id="{64EAF1D7-9DE3-4692-9368-789228884F67}"/>
              </a:ext>
            </a:extLst>
          </p:cNvPr>
          <p:cNvSpPr txBox="1">
            <a:spLocks/>
          </p:cNvSpPr>
          <p:nvPr/>
        </p:nvSpPr>
        <p:spPr>
          <a:xfrm>
            <a:off x="1571625" y="936943"/>
            <a:ext cx="8766175" cy="1037590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3333FF"/>
                </a:solidFill>
                <a:latin typeface="Microsoft YaHei" panose="020B0503020204020204" charset="-122"/>
                <a:ea typeface="Microsoft YaHei" panose="020B0503020204020204" charset="-122"/>
              </a:rPr>
              <a:t>（Kuratowski’s Theorem）</a:t>
            </a:r>
            <a:r>
              <a:rPr lang="zh-CN" altLang="en-US" sz="2400" dirty="0">
                <a:solidFill>
                  <a:srgbClr val="0000FF"/>
                </a:solidFill>
              </a:rPr>
              <a:t>一个图是平面图的充分必要条件是它的任何子图都不可能收缩为</a:t>
            </a:r>
            <a:r>
              <a:rPr lang="en-US" altLang="zh-CN" sz="2400" dirty="0">
                <a:solidFill>
                  <a:srgbClr val="0000FF"/>
                </a:solidFill>
              </a:rPr>
              <a:t>K</a:t>
            </a:r>
            <a:r>
              <a:rPr lang="en-US" altLang="zh-CN" sz="2400" baseline="-25000" dirty="0">
                <a:solidFill>
                  <a:srgbClr val="0000FF"/>
                </a:solidFill>
              </a:rPr>
              <a:t>5</a:t>
            </a:r>
            <a:r>
              <a:rPr lang="zh-CN" altLang="en-US" sz="2400" dirty="0">
                <a:solidFill>
                  <a:srgbClr val="0000FF"/>
                </a:solidFill>
              </a:rPr>
              <a:t>或</a:t>
            </a:r>
            <a:r>
              <a:rPr lang="en-US" altLang="zh-CN" sz="2400" dirty="0">
                <a:solidFill>
                  <a:srgbClr val="0000FF"/>
                </a:solidFill>
              </a:rPr>
              <a:t>K</a:t>
            </a:r>
            <a:r>
              <a:rPr lang="en-US" altLang="zh-CN" sz="2400" baseline="-25000" dirty="0">
                <a:solidFill>
                  <a:srgbClr val="0000FF"/>
                </a:solidFill>
              </a:rPr>
              <a:t>3,3</a:t>
            </a:r>
            <a:r>
              <a:rPr lang="zh-CN" altLang="en-US" sz="2400" dirty="0">
                <a:solidFill>
                  <a:srgbClr val="0000FF"/>
                </a:solidFill>
              </a:rPr>
              <a:t>。</a:t>
            </a:r>
            <a:r>
              <a:rPr lang="zh-CN" altLang="en-US" dirty="0">
                <a:latin typeface="Microsoft YaHei" panose="020B0503020204020204" charset="-122"/>
                <a:ea typeface="Microsoft YaHei" panose="020B0503020204020204" charset="-122"/>
              </a:rPr>
              <a:t> </a:t>
            </a:r>
          </a:p>
        </p:txBody>
      </p:sp>
      <p:grpSp>
        <p:nvGrpSpPr>
          <p:cNvPr id="8" name="Group 119">
            <a:extLst>
              <a:ext uri="{FF2B5EF4-FFF2-40B4-BE49-F238E27FC236}">
                <a16:creationId xmlns:a16="http://schemas.microsoft.com/office/drawing/2014/main" id="{B9DDD4D0-0F3A-4D16-B823-3918AAF68759}"/>
              </a:ext>
            </a:extLst>
          </p:cNvPr>
          <p:cNvGrpSpPr>
            <a:grpSpLocks/>
          </p:cNvGrpSpPr>
          <p:nvPr/>
        </p:nvGrpSpPr>
        <p:grpSpPr bwMode="auto">
          <a:xfrm>
            <a:off x="514512" y="2109534"/>
            <a:ext cx="2846388" cy="2852737"/>
            <a:chOff x="340" y="1344"/>
            <a:chExt cx="1793" cy="1797"/>
          </a:xfrm>
        </p:grpSpPr>
        <p:sp>
          <p:nvSpPr>
            <p:cNvPr id="9" name="Line 5">
              <a:extLst>
                <a:ext uri="{FF2B5EF4-FFF2-40B4-BE49-F238E27FC236}">
                  <a16:creationId xmlns:a16="http://schemas.microsoft.com/office/drawing/2014/main" id="{D342FF2F-1AF4-4474-B511-FBC1F4B2594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229" y="1696"/>
              <a:ext cx="681" cy="54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0" name="Line 6">
              <a:extLst>
                <a:ext uri="{FF2B5EF4-FFF2-40B4-BE49-F238E27FC236}">
                  <a16:creationId xmlns:a16="http://schemas.microsoft.com/office/drawing/2014/main" id="{B98494B4-BD5E-4C9A-BA0C-1E9FB42E94E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804" y="2996"/>
              <a:ext cx="81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1" name="Line 7">
              <a:extLst>
                <a:ext uri="{FF2B5EF4-FFF2-40B4-BE49-F238E27FC236}">
                  <a16:creationId xmlns:a16="http://schemas.microsoft.com/office/drawing/2014/main" id="{85700AE3-DFE6-4CE7-AD74-0CA6A973F93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460" y="2686"/>
              <a:ext cx="156" cy="27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2" name="Line 8">
              <a:extLst>
                <a:ext uri="{FF2B5EF4-FFF2-40B4-BE49-F238E27FC236}">
                  <a16:creationId xmlns:a16="http://schemas.microsoft.com/office/drawing/2014/main" id="{54E7FFA1-4341-42AD-A6A4-0784584D9B7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02" y="2274"/>
              <a:ext cx="272" cy="68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" name="Line 9">
              <a:extLst>
                <a:ext uri="{FF2B5EF4-FFF2-40B4-BE49-F238E27FC236}">
                  <a16:creationId xmlns:a16="http://schemas.microsoft.com/office/drawing/2014/main" id="{BE8DD6AA-708B-437C-9129-9F8FAA0CFCE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637" y="2284"/>
              <a:ext cx="273" cy="68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4" name="Oval 10">
              <a:extLst>
                <a:ext uri="{FF2B5EF4-FFF2-40B4-BE49-F238E27FC236}">
                  <a16:creationId xmlns:a16="http://schemas.microsoft.com/office/drawing/2014/main" id="{790E6358-06D6-45AE-8633-A66738F622D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50" y="2945"/>
              <a:ext cx="69" cy="69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5" name="Oval 11">
              <a:extLst>
                <a:ext uri="{FF2B5EF4-FFF2-40B4-BE49-F238E27FC236}">
                  <a16:creationId xmlns:a16="http://schemas.microsoft.com/office/drawing/2014/main" id="{E4BDAAB1-F403-4EA7-865C-4BBC2D51D1C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96" y="2945"/>
              <a:ext cx="69" cy="69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Oval 12">
              <a:extLst>
                <a:ext uri="{FF2B5EF4-FFF2-40B4-BE49-F238E27FC236}">
                  <a16:creationId xmlns:a16="http://schemas.microsoft.com/office/drawing/2014/main" id="{D5F0A854-0995-4396-9F16-3455ECBBE50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180" y="1649"/>
              <a:ext cx="68" cy="68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7" name="Oval 13">
              <a:extLst>
                <a:ext uri="{FF2B5EF4-FFF2-40B4-BE49-F238E27FC236}">
                  <a16:creationId xmlns:a16="http://schemas.microsoft.com/office/drawing/2014/main" id="{0D641ED9-03C4-4993-A226-9CE6EF4A33F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88" y="2228"/>
              <a:ext cx="68" cy="68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8" name="Line 14">
              <a:extLst>
                <a:ext uri="{FF2B5EF4-FFF2-40B4-BE49-F238E27FC236}">
                  <a16:creationId xmlns:a16="http://schemas.microsoft.com/office/drawing/2014/main" id="{10D090AB-8321-4109-B058-6B093F31667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498" y="1692"/>
              <a:ext cx="681" cy="54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9" name="Line 16">
              <a:extLst>
                <a:ext uri="{FF2B5EF4-FFF2-40B4-BE49-F238E27FC236}">
                  <a16:creationId xmlns:a16="http://schemas.microsoft.com/office/drawing/2014/main" id="{88745A89-DCF9-4A18-9E52-9E4C47B7360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19" y="2265"/>
              <a:ext cx="136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0" name="Line 17">
              <a:extLst>
                <a:ext uri="{FF2B5EF4-FFF2-40B4-BE49-F238E27FC236}">
                  <a16:creationId xmlns:a16="http://schemas.microsoft.com/office/drawing/2014/main" id="{EDF212B0-3934-4B8E-BB63-B680C94B115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981" y="2022"/>
              <a:ext cx="217" cy="64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1" name="Line 18">
              <a:extLst>
                <a:ext uri="{FF2B5EF4-FFF2-40B4-BE49-F238E27FC236}">
                  <a16:creationId xmlns:a16="http://schemas.microsoft.com/office/drawing/2014/main" id="{8CB760B8-2C23-48E3-A088-CF2F4AF0E96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241" y="2028"/>
              <a:ext cx="217" cy="64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2" name="Line 19">
              <a:extLst>
                <a:ext uri="{FF2B5EF4-FFF2-40B4-BE49-F238E27FC236}">
                  <a16:creationId xmlns:a16="http://schemas.microsoft.com/office/drawing/2014/main" id="{B4DE8321-C999-4838-BDF2-3B30C6385E0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018" y="2261"/>
              <a:ext cx="612" cy="40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3" name="Line 20">
              <a:extLst>
                <a:ext uri="{FF2B5EF4-FFF2-40B4-BE49-F238E27FC236}">
                  <a16:creationId xmlns:a16="http://schemas.microsoft.com/office/drawing/2014/main" id="{74923F2B-2E67-40D2-91A1-EBF63EAC9D3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826" y="2266"/>
              <a:ext cx="612" cy="40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4" name="Line 21">
              <a:extLst>
                <a:ext uri="{FF2B5EF4-FFF2-40B4-BE49-F238E27FC236}">
                  <a16:creationId xmlns:a16="http://schemas.microsoft.com/office/drawing/2014/main" id="{0817A21F-CD90-4179-AE36-7556202177F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214" y="1727"/>
              <a:ext cx="0" cy="27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5" name="Line 22">
              <a:extLst>
                <a:ext uri="{FF2B5EF4-FFF2-40B4-BE49-F238E27FC236}">
                  <a16:creationId xmlns:a16="http://schemas.microsoft.com/office/drawing/2014/main" id="{49451B5B-D1B1-45BE-9B4A-86A5EE0EF4E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803" y="2687"/>
              <a:ext cx="191" cy="27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6" name="Oval 23">
              <a:extLst>
                <a:ext uri="{FF2B5EF4-FFF2-40B4-BE49-F238E27FC236}">
                  <a16:creationId xmlns:a16="http://schemas.microsoft.com/office/drawing/2014/main" id="{664C0344-F50D-4A1C-B2D4-FAC16AEF54F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92" y="2229"/>
              <a:ext cx="68" cy="68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7" name="Oval 24">
              <a:extLst>
                <a:ext uri="{FF2B5EF4-FFF2-40B4-BE49-F238E27FC236}">
                  <a16:creationId xmlns:a16="http://schemas.microsoft.com/office/drawing/2014/main" id="{0A8ACE59-9350-41E5-B858-99B7612CC56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84" y="2222"/>
              <a:ext cx="68" cy="68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8" name="Oval 25">
              <a:extLst>
                <a:ext uri="{FF2B5EF4-FFF2-40B4-BE49-F238E27FC236}">
                  <a16:creationId xmlns:a16="http://schemas.microsoft.com/office/drawing/2014/main" id="{1CAEC7AE-09CF-4267-9F73-31ABF1A5AFC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62" y="2222"/>
              <a:ext cx="69" cy="68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9" name="Text Box 26">
              <a:extLst>
                <a:ext uri="{FF2B5EF4-FFF2-40B4-BE49-F238E27FC236}">
                  <a16:creationId xmlns:a16="http://schemas.microsoft.com/office/drawing/2014/main" id="{5636CA78-8B28-4D37-A1B6-208F599DC1A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100" y="1344"/>
              <a:ext cx="27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zh-CN" b="1"/>
                <a:t>v</a:t>
              </a:r>
              <a:r>
                <a:rPr lang="en-US" altLang="zh-CN" b="1" baseline="-25000"/>
                <a:t>1</a:t>
              </a:r>
              <a:endParaRPr lang="en-US" altLang="zh-CN" b="1"/>
            </a:p>
          </p:txBody>
        </p:sp>
        <p:sp>
          <p:nvSpPr>
            <p:cNvPr id="30" name="Text Box 27">
              <a:extLst>
                <a:ext uri="{FF2B5EF4-FFF2-40B4-BE49-F238E27FC236}">
                  <a16:creationId xmlns:a16="http://schemas.microsoft.com/office/drawing/2014/main" id="{4FC57EBC-1C92-463F-BBF9-B1C21EC98E83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40" y="1887"/>
              <a:ext cx="27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just"/>
              <a:r>
                <a:rPr lang="en-US" altLang="zh-CN" b="1"/>
                <a:t>v</a:t>
              </a:r>
              <a:r>
                <a:rPr lang="en-US" altLang="zh-CN" b="1" baseline="-25000"/>
                <a:t>2</a:t>
              </a:r>
              <a:endParaRPr lang="en-US" altLang="zh-CN" b="1"/>
            </a:p>
          </p:txBody>
        </p:sp>
        <p:sp>
          <p:nvSpPr>
            <p:cNvPr id="31" name="Text Box 28">
              <a:extLst>
                <a:ext uri="{FF2B5EF4-FFF2-40B4-BE49-F238E27FC236}">
                  <a16:creationId xmlns:a16="http://schemas.microsoft.com/office/drawing/2014/main" id="{1CE89A09-63F9-4799-8723-92ABC149E6E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91" y="2911"/>
              <a:ext cx="27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zh-CN" b="1"/>
                <a:t>v</a:t>
              </a:r>
              <a:r>
                <a:rPr lang="en-US" altLang="zh-CN" b="1" baseline="-25000"/>
                <a:t>3</a:t>
              </a:r>
              <a:endParaRPr lang="en-US" altLang="zh-CN" b="1"/>
            </a:p>
          </p:txBody>
        </p:sp>
        <p:sp>
          <p:nvSpPr>
            <p:cNvPr id="32" name="Text Box 29">
              <a:extLst>
                <a:ext uri="{FF2B5EF4-FFF2-40B4-BE49-F238E27FC236}">
                  <a16:creationId xmlns:a16="http://schemas.microsoft.com/office/drawing/2014/main" id="{ED931429-DF9F-474A-A732-C0902FF06C9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575" y="2911"/>
              <a:ext cx="27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just"/>
              <a:r>
                <a:rPr lang="en-US" altLang="zh-CN" b="1"/>
                <a:t>v</a:t>
              </a:r>
              <a:r>
                <a:rPr lang="en-US" altLang="zh-CN" b="1" baseline="-25000"/>
                <a:t>4</a:t>
              </a:r>
              <a:endParaRPr lang="en-US" altLang="zh-CN" b="1"/>
            </a:p>
          </p:txBody>
        </p:sp>
        <p:sp>
          <p:nvSpPr>
            <p:cNvPr id="33" name="Text Box 30">
              <a:extLst>
                <a:ext uri="{FF2B5EF4-FFF2-40B4-BE49-F238E27FC236}">
                  <a16:creationId xmlns:a16="http://schemas.microsoft.com/office/drawing/2014/main" id="{3E7F5BA2-AA8C-4A18-81D3-8189750DA152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860" y="1887"/>
              <a:ext cx="273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just"/>
              <a:r>
                <a:rPr lang="en-US" altLang="zh-CN" b="1"/>
                <a:t>v</a:t>
              </a:r>
              <a:r>
                <a:rPr lang="en-US" altLang="zh-CN" b="1" baseline="-25000"/>
                <a:t>5</a:t>
              </a:r>
              <a:endParaRPr lang="en-US" altLang="zh-CN" b="1"/>
            </a:p>
          </p:txBody>
        </p:sp>
        <p:sp>
          <p:nvSpPr>
            <p:cNvPr id="34" name="Text Box 31">
              <a:extLst>
                <a:ext uri="{FF2B5EF4-FFF2-40B4-BE49-F238E27FC236}">
                  <a16:creationId xmlns:a16="http://schemas.microsoft.com/office/drawing/2014/main" id="{8EC7625C-8D7F-4499-9F04-3A13BE875914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282" y="1831"/>
              <a:ext cx="27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just"/>
              <a:r>
                <a:rPr lang="en-US" altLang="zh-CN" b="1"/>
                <a:t>u</a:t>
              </a:r>
              <a:r>
                <a:rPr lang="en-US" altLang="zh-CN" b="1" baseline="-25000"/>
                <a:t>1</a:t>
              </a:r>
              <a:endParaRPr lang="en-US" altLang="zh-CN" b="1"/>
            </a:p>
          </p:txBody>
        </p:sp>
        <p:sp>
          <p:nvSpPr>
            <p:cNvPr id="35" name="Text Box 32">
              <a:extLst>
                <a:ext uri="{FF2B5EF4-FFF2-40B4-BE49-F238E27FC236}">
                  <a16:creationId xmlns:a16="http://schemas.microsoft.com/office/drawing/2014/main" id="{5E15D5C9-247C-4D88-AB91-AA5EFED2B022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708" y="2218"/>
              <a:ext cx="273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just"/>
              <a:r>
                <a:rPr lang="en-US" altLang="zh-CN" b="1"/>
                <a:t>u</a:t>
              </a:r>
              <a:r>
                <a:rPr lang="en-US" altLang="zh-CN" b="1" baseline="-25000"/>
                <a:t>2</a:t>
              </a:r>
              <a:endParaRPr lang="en-US" altLang="zh-CN" b="1"/>
            </a:p>
          </p:txBody>
        </p:sp>
        <p:sp>
          <p:nvSpPr>
            <p:cNvPr id="36" name="Text Box 33">
              <a:extLst>
                <a:ext uri="{FF2B5EF4-FFF2-40B4-BE49-F238E27FC236}">
                  <a16:creationId xmlns:a16="http://schemas.microsoft.com/office/drawing/2014/main" id="{AC786AE0-A175-46E1-949D-F98E1DFAB75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990" y="2627"/>
              <a:ext cx="273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just"/>
              <a:r>
                <a:rPr lang="en-US" altLang="zh-CN" b="1"/>
                <a:t>u</a:t>
              </a:r>
              <a:r>
                <a:rPr lang="en-US" altLang="zh-CN" b="1" baseline="-25000"/>
                <a:t>3</a:t>
              </a:r>
              <a:endParaRPr lang="en-US" altLang="zh-CN" b="1"/>
            </a:p>
          </p:txBody>
        </p:sp>
        <p:sp>
          <p:nvSpPr>
            <p:cNvPr id="37" name="Text Box 34">
              <a:extLst>
                <a:ext uri="{FF2B5EF4-FFF2-40B4-BE49-F238E27FC236}">
                  <a16:creationId xmlns:a16="http://schemas.microsoft.com/office/drawing/2014/main" id="{4345EFF4-CE09-4AA9-B541-DB6580513FB3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286" y="2632"/>
              <a:ext cx="272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just"/>
              <a:r>
                <a:rPr lang="en-US" altLang="zh-CN" b="1"/>
                <a:t>u</a:t>
              </a:r>
              <a:r>
                <a:rPr lang="en-US" altLang="zh-CN" b="1" baseline="-25000"/>
                <a:t>4</a:t>
              </a:r>
              <a:endParaRPr lang="en-US" altLang="zh-CN" b="1"/>
            </a:p>
          </p:txBody>
        </p:sp>
        <p:sp>
          <p:nvSpPr>
            <p:cNvPr id="38" name="Text Box 35">
              <a:extLst>
                <a:ext uri="{FF2B5EF4-FFF2-40B4-BE49-F238E27FC236}">
                  <a16:creationId xmlns:a16="http://schemas.microsoft.com/office/drawing/2014/main" id="{3E329224-DD94-4BE3-BE1E-DE994644071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578" y="2229"/>
              <a:ext cx="273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just"/>
              <a:r>
                <a:rPr lang="en-US" altLang="zh-CN" b="1"/>
                <a:t>u</a:t>
              </a:r>
              <a:r>
                <a:rPr lang="en-US" altLang="zh-CN" b="1" baseline="-25000"/>
                <a:t>5</a:t>
              </a:r>
              <a:endParaRPr lang="en-US" altLang="zh-CN" b="1"/>
            </a:p>
          </p:txBody>
        </p:sp>
        <p:sp>
          <p:nvSpPr>
            <p:cNvPr id="39" name="Oval 36">
              <a:extLst>
                <a:ext uri="{FF2B5EF4-FFF2-40B4-BE49-F238E27FC236}">
                  <a16:creationId xmlns:a16="http://schemas.microsoft.com/office/drawing/2014/main" id="{F43501F7-C8CE-4057-A148-A1F4932DA91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65" y="2650"/>
              <a:ext cx="69" cy="69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40" name="Oval 37">
              <a:extLst>
                <a:ext uri="{FF2B5EF4-FFF2-40B4-BE49-F238E27FC236}">
                  <a16:creationId xmlns:a16="http://schemas.microsoft.com/office/drawing/2014/main" id="{DDAA56DD-EA77-4E31-8E4D-1B355F317D0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12" y="2636"/>
              <a:ext cx="68" cy="68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41" name="Oval 38">
              <a:extLst>
                <a:ext uri="{FF2B5EF4-FFF2-40B4-BE49-F238E27FC236}">
                  <a16:creationId xmlns:a16="http://schemas.microsoft.com/office/drawing/2014/main" id="{4BEA8E99-2CDC-4BAC-B9EB-EBD273C7E2E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179" y="1972"/>
              <a:ext cx="68" cy="68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42" name="Group 121">
            <a:extLst>
              <a:ext uri="{FF2B5EF4-FFF2-40B4-BE49-F238E27FC236}">
                <a16:creationId xmlns:a16="http://schemas.microsoft.com/office/drawing/2014/main" id="{72653427-7B81-437D-AE32-2EC1BECD110A}"/>
              </a:ext>
            </a:extLst>
          </p:cNvPr>
          <p:cNvGrpSpPr>
            <a:grpSpLocks/>
          </p:cNvGrpSpPr>
          <p:nvPr/>
        </p:nvGrpSpPr>
        <p:grpSpPr bwMode="auto">
          <a:xfrm>
            <a:off x="4204676" y="2161854"/>
            <a:ext cx="2338136" cy="2310824"/>
            <a:chOff x="4516" y="1344"/>
            <a:chExt cx="1793" cy="1796"/>
          </a:xfrm>
        </p:grpSpPr>
        <p:sp>
          <p:nvSpPr>
            <p:cNvPr id="43" name="Line 61">
              <a:extLst>
                <a:ext uri="{FF2B5EF4-FFF2-40B4-BE49-F238E27FC236}">
                  <a16:creationId xmlns:a16="http://schemas.microsoft.com/office/drawing/2014/main" id="{00D02290-B091-48A2-BBE2-EE508474839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812" y="2260"/>
              <a:ext cx="27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44" name="Line 62">
              <a:extLst>
                <a:ext uri="{FF2B5EF4-FFF2-40B4-BE49-F238E27FC236}">
                  <a16:creationId xmlns:a16="http://schemas.microsoft.com/office/drawing/2014/main" id="{D3B5B772-09CD-4F1C-BD49-8C45512E4B4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405" y="1696"/>
              <a:ext cx="681" cy="54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45" name="Line 63">
              <a:extLst>
                <a:ext uri="{FF2B5EF4-FFF2-40B4-BE49-F238E27FC236}">
                  <a16:creationId xmlns:a16="http://schemas.microsoft.com/office/drawing/2014/main" id="{0D2872AD-9B1F-4159-954B-CC11F3AAF01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981" y="2996"/>
              <a:ext cx="81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46" name="Line 64">
              <a:extLst>
                <a:ext uri="{FF2B5EF4-FFF2-40B4-BE49-F238E27FC236}">
                  <a16:creationId xmlns:a16="http://schemas.microsoft.com/office/drawing/2014/main" id="{C8071BBA-290D-4A4A-8A10-60FBB6693EA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636" y="2686"/>
              <a:ext cx="156" cy="27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47" name="Line 65">
              <a:extLst>
                <a:ext uri="{FF2B5EF4-FFF2-40B4-BE49-F238E27FC236}">
                  <a16:creationId xmlns:a16="http://schemas.microsoft.com/office/drawing/2014/main" id="{2FA1207F-1F96-45A7-8B5B-25D50A6CAA9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678" y="2274"/>
              <a:ext cx="273" cy="68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48" name="Line 66">
              <a:extLst>
                <a:ext uri="{FF2B5EF4-FFF2-40B4-BE49-F238E27FC236}">
                  <a16:creationId xmlns:a16="http://schemas.microsoft.com/office/drawing/2014/main" id="{B0EABB8C-A2E3-44E1-90BF-F14DDCEC834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5813" y="2284"/>
              <a:ext cx="273" cy="68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49" name="Oval 67">
              <a:extLst>
                <a:ext uri="{FF2B5EF4-FFF2-40B4-BE49-F238E27FC236}">
                  <a16:creationId xmlns:a16="http://schemas.microsoft.com/office/drawing/2014/main" id="{673B98C3-F99D-411C-B03C-268F4EAA984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927" y="2945"/>
              <a:ext cx="68" cy="69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50" name="Oval 68">
              <a:extLst>
                <a:ext uri="{FF2B5EF4-FFF2-40B4-BE49-F238E27FC236}">
                  <a16:creationId xmlns:a16="http://schemas.microsoft.com/office/drawing/2014/main" id="{43EA5923-0A97-4441-9071-EF38E625B8D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773" y="2945"/>
              <a:ext cx="68" cy="69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51" name="Oval 69">
              <a:extLst>
                <a:ext uri="{FF2B5EF4-FFF2-40B4-BE49-F238E27FC236}">
                  <a16:creationId xmlns:a16="http://schemas.microsoft.com/office/drawing/2014/main" id="{B6D589F9-B638-42D5-BC43-74554C823EA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356" y="1649"/>
              <a:ext cx="69" cy="68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52" name="Oval 70">
              <a:extLst>
                <a:ext uri="{FF2B5EF4-FFF2-40B4-BE49-F238E27FC236}">
                  <a16:creationId xmlns:a16="http://schemas.microsoft.com/office/drawing/2014/main" id="{C1D8F884-52AD-46AC-BC4C-9F013620C32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064" y="2225"/>
              <a:ext cx="69" cy="69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53" name="Line 71">
              <a:extLst>
                <a:ext uri="{FF2B5EF4-FFF2-40B4-BE49-F238E27FC236}">
                  <a16:creationId xmlns:a16="http://schemas.microsoft.com/office/drawing/2014/main" id="{4AC89FEF-1165-4795-A7EB-31980D457AB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4675" y="1692"/>
              <a:ext cx="680" cy="54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54" name="Line 73">
              <a:extLst>
                <a:ext uri="{FF2B5EF4-FFF2-40B4-BE49-F238E27FC236}">
                  <a16:creationId xmlns:a16="http://schemas.microsoft.com/office/drawing/2014/main" id="{5E6E7E09-6456-4111-BDF2-3AE095533C3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695" y="2260"/>
              <a:ext cx="27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55" name="Line 74">
              <a:extLst>
                <a:ext uri="{FF2B5EF4-FFF2-40B4-BE49-F238E27FC236}">
                  <a16:creationId xmlns:a16="http://schemas.microsoft.com/office/drawing/2014/main" id="{D3AC54AB-2F81-48F0-BD82-4D31D88B171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5157" y="2022"/>
              <a:ext cx="217" cy="64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56" name="Line 75">
              <a:extLst>
                <a:ext uri="{FF2B5EF4-FFF2-40B4-BE49-F238E27FC236}">
                  <a16:creationId xmlns:a16="http://schemas.microsoft.com/office/drawing/2014/main" id="{DFA013AA-88ED-4E75-9417-D7BA43A64A1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417" y="2028"/>
              <a:ext cx="218" cy="64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57" name="Line 76">
              <a:extLst>
                <a:ext uri="{FF2B5EF4-FFF2-40B4-BE49-F238E27FC236}">
                  <a16:creationId xmlns:a16="http://schemas.microsoft.com/office/drawing/2014/main" id="{B7B29468-4605-4DC7-A994-5C44294B182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5194" y="2261"/>
              <a:ext cx="612" cy="40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58" name="Line 77">
              <a:extLst>
                <a:ext uri="{FF2B5EF4-FFF2-40B4-BE49-F238E27FC236}">
                  <a16:creationId xmlns:a16="http://schemas.microsoft.com/office/drawing/2014/main" id="{09E5B1D6-F60D-415A-B196-71AD9B67C1C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002" y="2266"/>
              <a:ext cx="612" cy="40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59" name="Line 78">
              <a:extLst>
                <a:ext uri="{FF2B5EF4-FFF2-40B4-BE49-F238E27FC236}">
                  <a16:creationId xmlns:a16="http://schemas.microsoft.com/office/drawing/2014/main" id="{5525A42D-1B1A-4262-8F1D-6A1698EB3F4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390" y="1727"/>
              <a:ext cx="0" cy="27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0" name="Line 79">
              <a:extLst>
                <a:ext uri="{FF2B5EF4-FFF2-40B4-BE49-F238E27FC236}">
                  <a16:creationId xmlns:a16="http://schemas.microsoft.com/office/drawing/2014/main" id="{9CE20813-4F75-4AFD-9473-A4CCCD5D10B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4979" y="2687"/>
              <a:ext cx="191" cy="27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1" name="Oval 80">
              <a:extLst>
                <a:ext uri="{FF2B5EF4-FFF2-40B4-BE49-F238E27FC236}">
                  <a16:creationId xmlns:a16="http://schemas.microsoft.com/office/drawing/2014/main" id="{2A8824E0-297A-4063-9CA1-A459159F6C4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768" y="2225"/>
              <a:ext cx="68" cy="69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2" name="Oval 81">
              <a:extLst>
                <a:ext uri="{FF2B5EF4-FFF2-40B4-BE49-F238E27FC236}">
                  <a16:creationId xmlns:a16="http://schemas.microsoft.com/office/drawing/2014/main" id="{D4C464EF-2EB1-4E4C-BF37-0671D14C5A5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960" y="2225"/>
              <a:ext cx="69" cy="69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3" name="Oval 82">
              <a:extLst>
                <a:ext uri="{FF2B5EF4-FFF2-40B4-BE49-F238E27FC236}">
                  <a16:creationId xmlns:a16="http://schemas.microsoft.com/office/drawing/2014/main" id="{1B6FAFE7-601A-4CAC-B7E4-20AB9898E6C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639" y="2225"/>
              <a:ext cx="68" cy="69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4" name="Text Box 83">
              <a:extLst>
                <a:ext uri="{FF2B5EF4-FFF2-40B4-BE49-F238E27FC236}">
                  <a16:creationId xmlns:a16="http://schemas.microsoft.com/office/drawing/2014/main" id="{C08EEF3A-C153-47AC-8CD6-8BDB33FF8E14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276" y="1344"/>
              <a:ext cx="27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zh-CN" b="1"/>
                <a:t>v</a:t>
              </a:r>
              <a:r>
                <a:rPr lang="en-US" altLang="zh-CN" b="1" baseline="-25000"/>
                <a:t>1</a:t>
              </a:r>
              <a:endParaRPr lang="en-US" altLang="zh-CN" b="1"/>
            </a:p>
          </p:txBody>
        </p:sp>
        <p:sp>
          <p:nvSpPr>
            <p:cNvPr id="65" name="Text Box 84">
              <a:extLst>
                <a:ext uri="{FF2B5EF4-FFF2-40B4-BE49-F238E27FC236}">
                  <a16:creationId xmlns:a16="http://schemas.microsoft.com/office/drawing/2014/main" id="{F2FCA060-F06C-4F87-9217-CDF38DBED5B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516" y="1887"/>
              <a:ext cx="273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just"/>
              <a:r>
                <a:rPr lang="en-US" altLang="zh-CN" b="1"/>
                <a:t>v</a:t>
              </a:r>
              <a:r>
                <a:rPr lang="en-US" altLang="zh-CN" b="1" baseline="-25000"/>
                <a:t>2</a:t>
              </a:r>
              <a:endParaRPr lang="en-US" altLang="zh-CN" b="1"/>
            </a:p>
          </p:txBody>
        </p:sp>
        <p:sp>
          <p:nvSpPr>
            <p:cNvPr id="66" name="Text Box 85">
              <a:extLst>
                <a:ext uri="{FF2B5EF4-FFF2-40B4-BE49-F238E27FC236}">
                  <a16:creationId xmlns:a16="http://schemas.microsoft.com/office/drawing/2014/main" id="{816AFC7A-7A6C-41CC-BB5B-7DAAFAE7C5B3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767" y="2909"/>
              <a:ext cx="2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zh-CN" b="1"/>
                <a:t>v</a:t>
              </a:r>
              <a:r>
                <a:rPr lang="en-US" altLang="zh-CN" b="1" baseline="-25000"/>
                <a:t>3</a:t>
              </a:r>
              <a:endParaRPr lang="en-US" altLang="zh-CN" b="1"/>
            </a:p>
          </p:txBody>
        </p:sp>
        <p:sp>
          <p:nvSpPr>
            <p:cNvPr id="67" name="Text Box 86">
              <a:extLst>
                <a:ext uri="{FF2B5EF4-FFF2-40B4-BE49-F238E27FC236}">
                  <a16:creationId xmlns:a16="http://schemas.microsoft.com/office/drawing/2014/main" id="{B388698C-CD10-4C46-955B-F215A1619511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751" y="2909"/>
              <a:ext cx="2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just"/>
              <a:r>
                <a:rPr lang="en-US" altLang="zh-CN" b="1"/>
                <a:t>v</a:t>
              </a:r>
              <a:r>
                <a:rPr lang="en-US" altLang="zh-CN" b="1" baseline="-25000"/>
                <a:t>4</a:t>
              </a:r>
              <a:endParaRPr lang="en-US" altLang="zh-CN" b="1"/>
            </a:p>
          </p:txBody>
        </p:sp>
        <p:sp>
          <p:nvSpPr>
            <p:cNvPr id="68" name="Text Box 87">
              <a:extLst>
                <a:ext uri="{FF2B5EF4-FFF2-40B4-BE49-F238E27FC236}">
                  <a16:creationId xmlns:a16="http://schemas.microsoft.com/office/drawing/2014/main" id="{1490A8A6-28F2-4C9D-82BB-EE3E88E41BC2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6037" y="1887"/>
              <a:ext cx="27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just"/>
              <a:r>
                <a:rPr lang="en-US" altLang="zh-CN" b="1" dirty="0"/>
                <a:t>v</a:t>
              </a:r>
              <a:r>
                <a:rPr lang="en-US" altLang="zh-CN" b="1" baseline="-25000" dirty="0"/>
                <a:t>5</a:t>
              </a:r>
              <a:endParaRPr lang="en-US" altLang="zh-CN" b="1" dirty="0"/>
            </a:p>
          </p:txBody>
        </p:sp>
        <p:sp>
          <p:nvSpPr>
            <p:cNvPr id="69" name="Text Box 88">
              <a:extLst>
                <a:ext uri="{FF2B5EF4-FFF2-40B4-BE49-F238E27FC236}">
                  <a16:creationId xmlns:a16="http://schemas.microsoft.com/office/drawing/2014/main" id="{D02573E7-46FD-423A-9C87-0A1DDFC63E71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458" y="1831"/>
              <a:ext cx="273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just"/>
              <a:r>
                <a:rPr lang="en-US" altLang="zh-CN" b="1"/>
                <a:t>u</a:t>
              </a:r>
              <a:r>
                <a:rPr lang="en-US" altLang="zh-CN" b="1" baseline="-25000"/>
                <a:t>1</a:t>
              </a:r>
              <a:endParaRPr lang="en-US" altLang="zh-CN" b="1"/>
            </a:p>
          </p:txBody>
        </p:sp>
        <p:sp>
          <p:nvSpPr>
            <p:cNvPr id="70" name="Text Box 89">
              <a:extLst>
                <a:ext uri="{FF2B5EF4-FFF2-40B4-BE49-F238E27FC236}">
                  <a16:creationId xmlns:a16="http://schemas.microsoft.com/office/drawing/2014/main" id="{18D26D4F-1F20-4BE4-9F35-C4712C1F1B2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885" y="2218"/>
              <a:ext cx="27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just"/>
              <a:r>
                <a:rPr lang="en-US" altLang="zh-CN" b="1"/>
                <a:t>u</a:t>
              </a:r>
              <a:r>
                <a:rPr lang="en-US" altLang="zh-CN" b="1" baseline="-25000"/>
                <a:t>2</a:t>
              </a:r>
              <a:endParaRPr lang="en-US" altLang="zh-CN" b="1"/>
            </a:p>
          </p:txBody>
        </p:sp>
        <p:sp>
          <p:nvSpPr>
            <p:cNvPr id="71" name="Text Box 90">
              <a:extLst>
                <a:ext uri="{FF2B5EF4-FFF2-40B4-BE49-F238E27FC236}">
                  <a16:creationId xmlns:a16="http://schemas.microsoft.com/office/drawing/2014/main" id="{FDEC92C1-8E7F-413C-9E47-46CB964C4A2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167" y="2627"/>
              <a:ext cx="27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just"/>
              <a:r>
                <a:rPr lang="en-US" altLang="zh-CN" b="1" dirty="0"/>
                <a:t>u</a:t>
              </a:r>
              <a:r>
                <a:rPr lang="en-US" altLang="zh-CN" b="1" baseline="-25000" dirty="0"/>
                <a:t>3</a:t>
              </a:r>
              <a:endParaRPr lang="en-US" altLang="zh-CN" b="1" dirty="0"/>
            </a:p>
          </p:txBody>
        </p:sp>
        <p:sp>
          <p:nvSpPr>
            <p:cNvPr id="72" name="Text Box 91">
              <a:extLst>
                <a:ext uri="{FF2B5EF4-FFF2-40B4-BE49-F238E27FC236}">
                  <a16:creationId xmlns:a16="http://schemas.microsoft.com/office/drawing/2014/main" id="{2FDAB313-9828-4A91-967F-8ABA8586D76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462" y="2632"/>
              <a:ext cx="2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just"/>
              <a:r>
                <a:rPr lang="en-US" altLang="zh-CN" b="1"/>
                <a:t>u</a:t>
              </a:r>
              <a:r>
                <a:rPr lang="en-US" altLang="zh-CN" b="1" baseline="-25000"/>
                <a:t>4</a:t>
              </a:r>
              <a:endParaRPr lang="en-US" altLang="zh-CN" b="1"/>
            </a:p>
          </p:txBody>
        </p:sp>
        <p:sp>
          <p:nvSpPr>
            <p:cNvPr id="73" name="Text Box 92">
              <a:extLst>
                <a:ext uri="{FF2B5EF4-FFF2-40B4-BE49-F238E27FC236}">
                  <a16:creationId xmlns:a16="http://schemas.microsoft.com/office/drawing/2014/main" id="{E6D2CF78-C2CA-46EC-8253-52F6EF7BD49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755" y="2229"/>
              <a:ext cx="27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just"/>
              <a:r>
                <a:rPr lang="en-US" altLang="zh-CN" b="1"/>
                <a:t>u</a:t>
              </a:r>
              <a:r>
                <a:rPr lang="en-US" altLang="zh-CN" b="1" baseline="-25000"/>
                <a:t>5</a:t>
              </a:r>
              <a:endParaRPr lang="en-US" altLang="zh-CN" b="1"/>
            </a:p>
          </p:txBody>
        </p:sp>
        <p:sp>
          <p:nvSpPr>
            <p:cNvPr id="74" name="Oval 93">
              <a:extLst>
                <a:ext uri="{FF2B5EF4-FFF2-40B4-BE49-F238E27FC236}">
                  <a16:creationId xmlns:a16="http://schemas.microsoft.com/office/drawing/2014/main" id="{7A1968D4-5B72-4293-936C-67124B12E6E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141" y="2650"/>
              <a:ext cx="69" cy="69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75" name="Oval 94">
              <a:extLst>
                <a:ext uri="{FF2B5EF4-FFF2-40B4-BE49-F238E27FC236}">
                  <a16:creationId xmlns:a16="http://schemas.microsoft.com/office/drawing/2014/main" id="{1C91A735-7DB2-488B-BCCD-341BF1A8C5B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588" y="2636"/>
              <a:ext cx="68" cy="68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76" name="Oval 95">
              <a:extLst>
                <a:ext uri="{FF2B5EF4-FFF2-40B4-BE49-F238E27FC236}">
                  <a16:creationId xmlns:a16="http://schemas.microsoft.com/office/drawing/2014/main" id="{880EA21A-8200-48C2-898F-164A86FE0B6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355" y="1972"/>
              <a:ext cx="68" cy="68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77" name="Group 120">
            <a:extLst>
              <a:ext uri="{FF2B5EF4-FFF2-40B4-BE49-F238E27FC236}">
                <a16:creationId xmlns:a16="http://schemas.microsoft.com/office/drawing/2014/main" id="{C1A94F98-A044-4942-B087-B4C699B5212A}"/>
              </a:ext>
            </a:extLst>
          </p:cNvPr>
          <p:cNvGrpSpPr>
            <a:grpSpLocks/>
          </p:cNvGrpSpPr>
          <p:nvPr/>
        </p:nvGrpSpPr>
        <p:grpSpPr bwMode="auto">
          <a:xfrm>
            <a:off x="7703275" y="2101596"/>
            <a:ext cx="2846387" cy="2851150"/>
            <a:chOff x="2428" y="1344"/>
            <a:chExt cx="1793" cy="1796"/>
          </a:xfrm>
        </p:grpSpPr>
        <p:sp>
          <p:nvSpPr>
            <p:cNvPr id="78" name="Text Box 40">
              <a:extLst>
                <a:ext uri="{FF2B5EF4-FFF2-40B4-BE49-F238E27FC236}">
                  <a16:creationId xmlns:a16="http://schemas.microsoft.com/office/drawing/2014/main" id="{2508F071-9B90-4516-971D-188E81C4EC53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663" y="2909"/>
              <a:ext cx="2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just"/>
              <a:r>
                <a:rPr lang="en-US" altLang="zh-CN" b="1"/>
                <a:t>w</a:t>
              </a:r>
              <a:r>
                <a:rPr lang="en-US" altLang="zh-CN" b="1" baseline="-25000"/>
                <a:t>4</a:t>
              </a:r>
              <a:endParaRPr lang="en-US" altLang="zh-CN" b="1"/>
            </a:p>
          </p:txBody>
        </p:sp>
        <p:sp>
          <p:nvSpPr>
            <p:cNvPr id="79" name="Line 41">
              <a:extLst>
                <a:ext uri="{FF2B5EF4-FFF2-40B4-BE49-F238E27FC236}">
                  <a16:creationId xmlns:a16="http://schemas.microsoft.com/office/drawing/2014/main" id="{72BF49A4-BAE3-42E9-8D0E-864623E9EAB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317" y="1696"/>
              <a:ext cx="681" cy="54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80" name="Line 42">
              <a:extLst>
                <a:ext uri="{FF2B5EF4-FFF2-40B4-BE49-F238E27FC236}">
                  <a16:creationId xmlns:a16="http://schemas.microsoft.com/office/drawing/2014/main" id="{D8321377-8AD7-4C1D-8BA8-DE56B03C698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892" y="2996"/>
              <a:ext cx="81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81" name="Line 43">
              <a:extLst>
                <a:ext uri="{FF2B5EF4-FFF2-40B4-BE49-F238E27FC236}">
                  <a16:creationId xmlns:a16="http://schemas.microsoft.com/office/drawing/2014/main" id="{BD69F6AE-8AC3-435F-9719-707E60234B2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590" y="2274"/>
              <a:ext cx="272" cy="68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82" name="Line 44">
              <a:extLst>
                <a:ext uri="{FF2B5EF4-FFF2-40B4-BE49-F238E27FC236}">
                  <a16:creationId xmlns:a16="http://schemas.microsoft.com/office/drawing/2014/main" id="{658BAF4B-38A3-45A8-8A7C-DFB498F317C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3725" y="2284"/>
              <a:ext cx="273" cy="68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83" name="Oval 45">
              <a:extLst>
                <a:ext uri="{FF2B5EF4-FFF2-40B4-BE49-F238E27FC236}">
                  <a16:creationId xmlns:a16="http://schemas.microsoft.com/office/drawing/2014/main" id="{C32809C3-ED53-4FA1-92F4-8C6F2414AED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38" y="2945"/>
              <a:ext cx="69" cy="69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84" name="Oval 46">
              <a:extLst>
                <a:ext uri="{FF2B5EF4-FFF2-40B4-BE49-F238E27FC236}">
                  <a16:creationId xmlns:a16="http://schemas.microsoft.com/office/drawing/2014/main" id="{C7881517-6094-47EF-B174-F18E7F25223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68" y="1649"/>
              <a:ext cx="68" cy="68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85" name="Oval 47">
              <a:extLst>
                <a:ext uri="{FF2B5EF4-FFF2-40B4-BE49-F238E27FC236}">
                  <a16:creationId xmlns:a16="http://schemas.microsoft.com/office/drawing/2014/main" id="{FD77D1D8-2D8A-494D-96F4-66879DA4E2F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76" y="2228"/>
              <a:ext cx="68" cy="68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86" name="Line 48">
              <a:extLst>
                <a:ext uri="{FF2B5EF4-FFF2-40B4-BE49-F238E27FC236}">
                  <a16:creationId xmlns:a16="http://schemas.microsoft.com/office/drawing/2014/main" id="{E72F9A0F-6D87-481B-8761-13832331627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586" y="1692"/>
              <a:ext cx="681" cy="54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87" name="Line 50">
              <a:extLst>
                <a:ext uri="{FF2B5EF4-FFF2-40B4-BE49-F238E27FC236}">
                  <a16:creationId xmlns:a16="http://schemas.microsoft.com/office/drawing/2014/main" id="{9348DBB2-B656-46F2-B4C0-5EA370999E1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607" y="2265"/>
              <a:ext cx="136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88" name="Line 51">
              <a:extLst>
                <a:ext uri="{FF2B5EF4-FFF2-40B4-BE49-F238E27FC236}">
                  <a16:creationId xmlns:a16="http://schemas.microsoft.com/office/drawing/2014/main" id="{2B98E549-D3DA-41F5-94BD-0647A1A7E05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879" y="1709"/>
              <a:ext cx="408" cy="122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89" name="Line 52">
              <a:extLst>
                <a:ext uri="{FF2B5EF4-FFF2-40B4-BE49-F238E27FC236}">
                  <a16:creationId xmlns:a16="http://schemas.microsoft.com/office/drawing/2014/main" id="{E17288A9-FAAD-4A2B-885E-2E6942ACC91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310" y="1709"/>
              <a:ext cx="408" cy="125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90" name="Line 53">
              <a:extLst>
                <a:ext uri="{FF2B5EF4-FFF2-40B4-BE49-F238E27FC236}">
                  <a16:creationId xmlns:a16="http://schemas.microsoft.com/office/drawing/2014/main" id="{A5285EDA-1215-4158-B5B4-664E584AF99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891" y="2280"/>
              <a:ext cx="1089" cy="68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91" name="Line 54">
              <a:extLst>
                <a:ext uri="{FF2B5EF4-FFF2-40B4-BE49-F238E27FC236}">
                  <a16:creationId xmlns:a16="http://schemas.microsoft.com/office/drawing/2014/main" id="{8A4A93F4-C21E-4DDF-A5D8-F22128E374A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596" y="2266"/>
              <a:ext cx="1088" cy="71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92" name="Oval 55">
              <a:extLst>
                <a:ext uri="{FF2B5EF4-FFF2-40B4-BE49-F238E27FC236}">
                  <a16:creationId xmlns:a16="http://schemas.microsoft.com/office/drawing/2014/main" id="{57C275F8-6311-4609-9C5C-19F34E072EA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50" y="2222"/>
              <a:ext cx="69" cy="68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93" name="Text Box 56">
              <a:extLst>
                <a:ext uri="{FF2B5EF4-FFF2-40B4-BE49-F238E27FC236}">
                  <a16:creationId xmlns:a16="http://schemas.microsoft.com/office/drawing/2014/main" id="{70C2586F-13D0-4119-B580-EB95E602D17E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188" y="1344"/>
              <a:ext cx="27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zh-CN" b="1"/>
                <a:t>w</a:t>
              </a:r>
              <a:r>
                <a:rPr lang="en-US" altLang="zh-CN" b="1" baseline="-25000"/>
                <a:t>1</a:t>
              </a:r>
              <a:endParaRPr lang="en-US" altLang="zh-CN" b="1"/>
            </a:p>
          </p:txBody>
        </p:sp>
        <p:sp>
          <p:nvSpPr>
            <p:cNvPr id="94" name="Text Box 57">
              <a:extLst>
                <a:ext uri="{FF2B5EF4-FFF2-40B4-BE49-F238E27FC236}">
                  <a16:creationId xmlns:a16="http://schemas.microsoft.com/office/drawing/2014/main" id="{96A9791B-3050-4383-82F1-5B814DAF3CE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428" y="1887"/>
              <a:ext cx="27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just"/>
              <a:r>
                <a:rPr lang="en-US" altLang="zh-CN" b="1"/>
                <a:t>w</a:t>
              </a:r>
              <a:r>
                <a:rPr lang="en-US" altLang="zh-CN" b="1" baseline="-25000"/>
                <a:t>2</a:t>
              </a:r>
              <a:endParaRPr lang="en-US" altLang="zh-CN" b="1"/>
            </a:p>
          </p:txBody>
        </p:sp>
        <p:sp>
          <p:nvSpPr>
            <p:cNvPr id="95" name="Text Box 58">
              <a:extLst>
                <a:ext uri="{FF2B5EF4-FFF2-40B4-BE49-F238E27FC236}">
                  <a16:creationId xmlns:a16="http://schemas.microsoft.com/office/drawing/2014/main" id="{C0A9DDBD-350F-403F-AC6C-251FAF5CE94E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679" y="2909"/>
              <a:ext cx="2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zh-CN" b="1"/>
                <a:t>w</a:t>
              </a:r>
              <a:r>
                <a:rPr lang="en-US" altLang="zh-CN" b="1" baseline="-25000"/>
                <a:t>3</a:t>
              </a:r>
              <a:endParaRPr lang="en-US" altLang="zh-CN" b="1"/>
            </a:p>
          </p:txBody>
        </p:sp>
        <p:sp>
          <p:nvSpPr>
            <p:cNvPr id="96" name="Text Box 59">
              <a:extLst>
                <a:ext uri="{FF2B5EF4-FFF2-40B4-BE49-F238E27FC236}">
                  <a16:creationId xmlns:a16="http://schemas.microsoft.com/office/drawing/2014/main" id="{68BCD97B-217E-4100-A412-1EE6EB5F439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948" y="1887"/>
              <a:ext cx="273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just"/>
              <a:r>
                <a:rPr lang="en-US" altLang="zh-CN" b="1"/>
                <a:t>w</a:t>
              </a:r>
              <a:r>
                <a:rPr lang="en-US" altLang="zh-CN" b="1" baseline="-25000"/>
                <a:t>5</a:t>
              </a:r>
              <a:endParaRPr lang="en-US" altLang="zh-CN" b="1"/>
            </a:p>
          </p:txBody>
        </p:sp>
        <p:sp>
          <p:nvSpPr>
            <p:cNvPr id="97" name="Oval 60">
              <a:extLst>
                <a:ext uri="{FF2B5EF4-FFF2-40B4-BE49-F238E27FC236}">
                  <a16:creationId xmlns:a16="http://schemas.microsoft.com/office/drawing/2014/main" id="{F2F58EE7-80CD-4423-A11D-7CE491FEF4D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84" y="2945"/>
              <a:ext cx="69" cy="69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98" name="Group 122">
            <a:extLst>
              <a:ext uri="{FF2B5EF4-FFF2-40B4-BE49-F238E27FC236}">
                <a16:creationId xmlns:a16="http://schemas.microsoft.com/office/drawing/2014/main" id="{92624C2B-75E0-4942-AA6C-F55CEB9F8696}"/>
              </a:ext>
            </a:extLst>
          </p:cNvPr>
          <p:cNvGrpSpPr>
            <a:grpSpLocks/>
          </p:cNvGrpSpPr>
          <p:nvPr/>
        </p:nvGrpSpPr>
        <p:grpSpPr bwMode="auto">
          <a:xfrm>
            <a:off x="4121822" y="4622547"/>
            <a:ext cx="2068566" cy="1924300"/>
            <a:chOff x="6604" y="1344"/>
            <a:chExt cx="1793" cy="1796"/>
          </a:xfrm>
        </p:grpSpPr>
        <p:sp>
          <p:nvSpPr>
            <p:cNvPr id="99" name="Line 96">
              <a:extLst>
                <a:ext uri="{FF2B5EF4-FFF2-40B4-BE49-F238E27FC236}">
                  <a16:creationId xmlns:a16="http://schemas.microsoft.com/office/drawing/2014/main" id="{0C9CFFBE-5981-45CF-8AF4-62A2A6DB6D9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492" y="2015"/>
              <a:ext cx="408" cy="95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00" name="Line 97">
              <a:extLst>
                <a:ext uri="{FF2B5EF4-FFF2-40B4-BE49-F238E27FC236}">
                  <a16:creationId xmlns:a16="http://schemas.microsoft.com/office/drawing/2014/main" id="{92C8AD11-D2EE-449F-8C02-3DF095FBBEE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493" y="1696"/>
              <a:ext cx="681" cy="54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01" name="Line 98">
              <a:extLst>
                <a:ext uri="{FF2B5EF4-FFF2-40B4-BE49-F238E27FC236}">
                  <a16:creationId xmlns:a16="http://schemas.microsoft.com/office/drawing/2014/main" id="{EA3A9ACC-F639-4476-9BF8-514A9411BCA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069" y="2996"/>
              <a:ext cx="81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02" name="Line 99">
              <a:extLst>
                <a:ext uri="{FF2B5EF4-FFF2-40B4-BE49-F238E27FC236}">
                  <a16:creationId xmlns:a16="http://schemas.microsoft.com/office/drawing/2014/main" id="{DEA5FF2C-7051-42BE-85D9-E4E8C82FA9B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6766" y="2274"/>
              <a:ext cx="273" cy="68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03" name="Line 100">
              <a:extLst>
                <a:ext uri="{FF2B5EF4-FFF2-40B4-BE49-F238E27FC236}">
                  <a16:creationId xmlns:a16="http://schemas.microsoft.com/office/drawing/2014/main" id="{6BE71EB4-D91F-442A-8AC0-FC4CAF277C0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7901" y="2284"/>
              <a:ext cx="273" cy="68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04" name="Oval 101">
              <a:extLst>
                <a:ext uri="{FF2B5EF4-FFF2-40B4-BE49-F238E27FC236}">
                  <a16:creationId xmlns:a16="http://schemas.microsoft.com/office/drawing/2014/main" id="{2AC54F8E-76E6-4FA9-9B41-D30FE8C45A6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015" y="2945"/>
              <a:ext cx="68" cy="69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05" name="Oval 102">
              <a:extLst>
                <a:ext uri="{FF2B5EF4-FFF2-40B4-BE49-F238E27FC236}">
                  <a16:creationId xmlns:a16="http://schemas.microsoft.com/office/drawing/2014/main" id="{CD9B4F82-B9B1-4F1E-B3E1-11972BAC5DE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861" y="2945"/>
              <a:ext cx="68" cy="69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06" name="Oval 103">
              <a:extLst>
                <a:ext uri="{FF2B5EF4-FFF2-40B4-BE49-F238E27FC236}">
                  <a16:creationId xmlns:a16="http://schemas.microsoft.com/office/drawing/2014/main" id="{D42418B6-AE46-4FBF-9B86-3E3BD14849E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444" y="1649"/>
              <a:ext cx="69" cy="68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07" name="Oval 104">
              <a:extLst>
                <a:ext uri="{FF2B5EF4-FFF2-40B4-BE49-F238E27FC236}">
                  <a16:creationId xmlns:a16="http://schemas.microsoft.com/office/drawing/2014/main" id="{6829EE29-B8EA-4070-B530-76795225F83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152" y="2225"/>
              <a:ext cx="69" cy="69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08" name="Line 105">
              <a:extLst>
                <a:ext uri="{FF2B5EF4-FFF2-40B4-BE49-F238E27FC236}">
                  <a16:creationId xmlns:a16="http://schemas.microsoft.com/office/drawing/2014/main" id="{39798D10-492C-4ED8-AB85-A0D201A508D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6763" y="1692"/>
              <a:ext cx="680" cy="54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09" name="Line 107">
              <a:extLst>
                <a:ext uri="{FF2B5EF4-FFF2-40B4-BE49-F238E27FC236}">
                  <a16:creationId xmlns:a16="http://schemas.microsoft.com/office/drawing/2014/main" id="{882C9C95-252A-43B2-9C97-B94AE916E28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7064" y="2009"/>
              <a:ext cx="408" cy="95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10" name="Line 108">
              <a:extLst>
                <a:ext uri="{FF2B5EF4-FFF2-40B4-BE49-F238E27FC236}">
                  <a16:creationId xmlns:a16="http://schemas.microsoft.com/office/drawing/2014/main" id="{BB469F6C-0552-4EA8-A535-01E31EDFCEF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7064" y="2261"/>
              <a:ext cx="1088" cy="68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11" name="Line 109">
              <a:extLst>
                <a:ext uri="{FF2B5EF4-FFF2-40B4-BE49-F238E27FC236}">
                  <a16:creationId xmlns:a16="http://schemas.microsoft.com/office/drawing/2014/main" id="{B02B63D9-4FDA-4DE1-8DD0-A1DD9EF8B46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6772" y="2266"/>
              <a:ext cx="1089" cy="68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12" name="Line 110">
              <a:extLst>
                <a:ext uri="{FF2B5EF4-FFF2-40B4-BE49-F238E27FC236}">
                  <a16:creationId xmlns:a16="http://schemas.microsoft.com/office/drawing/2014/main" id="{AB5697CB-A293-4930-A7E3-D72565B762E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478" y="1727"/>
              <a:ext cx="0" cy="27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13" name="Oval 111">
              <a:extLst>
                <a:ext uri="{FF2B5EF4-FFF2-40B4-BE49-F238E27FC236}">
                  <a16:creationId xmlns:a16="http://schemas.microsoft.com/office/drawing/2014/main" id="{EEED9B59-A3EE-41D8-BFE7-A6900D34608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727" y="2225"/>
              <a:ext cx="68" cy="69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14" name="Text Box 112">
              <a:extLst>
                <a:ext uri="{FF2B5EF4-FFF2-40B4-BE49-F238E27FC236}">
                  <a16:creationId xmlns:a16="http://schemas.microsoft.com/office/drawing/2014/main" id="{1616398E-9CD1-4AC1-A008-6DF40E5B846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7364" y="1344"/>
              <a:ext cx="27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zh-CN" b="1"/>
                <a:t>v</a:t>
              </a:r>
              <a:r>
                <a:rPr lang="en-US" altLang="zh-CN" b="1" baseline="-25000"/>
                <a:t>1</a:t>
              </a:r>
              <a:endParaRPr lang="en-US" altLang="zh-CN" b="1"/>
            </a:p>
          </p:txBody>
        </p:sp>
        <p:sp>
          <p:nvSpPr>
            <p:cNvPr id="115" name="Text Box 113">
              <a:extLst>
                <a:ext uri="{FF2B5EF4-FFF2-40B4-BE49-F238E27FC236}">
                  <a16:creationId xmlns:a16="http://schemas.microsoft.com/office/drawing/2014/main" id="{3B0D208B-B079-4751-B26D-DFA1E7D0B20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6604" y="1887"/>
              <a:ext cx="273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just"/>
              <a:r>
                <a:rPr lang="en-US" altLang="zh-CN" b="1" dirty="0"/>
                <a:t>w</a:t>
              </a:r>
              <a:r>
                <a:rPr lang="en-US" altLang="zh-CN" b="1" baseline="-25000" dirty="0"/>
                <a:t>2</a:t>
              </a:r>
              <a:endParaRPr lang="en-US" altLang="zh-CN" b="1" dirty="0"/>
            </a:p>
          </p:txBody>
        </p:sp>
        <p:sp>
          <p:nvSpPr>
            <p:cNvPr id="116" name="Text Box 114">
              <a:extLst>
                <a:ext uri="{FF2B5EF4-FFF2-40B4-BE49-F238E27FC236}">
                  <a16:creationId xmlns:a16="http://schemas.microsoft.com/office/drawing/2014/main" id="{A0CA0C36-1806-4F09-99BF-5FD9B4C82BEE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6855" y="2909"/>
              <a:ext cx="2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zh-CN" b="1"/>
                <a:t>w</a:t>
              </a:r>
              <a:r>
                <a:rPr lang="en-US" altLang="zh-CN" b="1" baseline="-25000"/>
                <a:t>3</a:t>
              </a:r>
              <a:endParaRPr lang="en-US" altLang="zh-CN" b="1"/>
            </a:p>
          </p:txBody>
        </p:sp>
        <p:sp>
          <p:nvSpPr>
            <p:cNvPr id="117" name="Text Box 115">
              <a:extLst>
                <a:ext uri="{FF2B5EF4-FFF2-40B4-BE49-F238E27FC236}">
                  <a16:creationId xmlns:a16="http://schemas.microsoft.com/office/drawing/2014/main" id="{49ACAF60-35AD-4F52-B664-CA8E75840A7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7839" y="2909"/>
              <a:ext cx="2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just"/>
              <a:r>
                <a:rPr lang="en-US" altLang="zh-CN" b="1"/>
                <a:t>w</a:t>
              </a:r>
              <a:r>
                <a:rPr lang="en-US" altLang="zh-CN" b="1" baseline="-25000"/>
                <a:t>4</a:t>
              </a:r>
              <a:endParaRPr lang="en-US" altLang="zh-CN" b="1"/>
            </a:p>
          </p:txBody>
        </p:sp>
        <p:sp>
          <p:nvSpPr>
            <p:cNvPr id="118" name="Text Box 116">
              <a:extLst>
                <a:ext uri="{FF2B5EF4-FFF2-40B4-BE49-F238E27FC236}">
                  <a16:creationId xmlns:a16="http://schemas.microsoft.com/office/drawing/2014/main" id="{62848B2C-33DA-40AF-80D4-0A42AAD498E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8125" y="1887"/>
              <a:ext cx="27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just"/>
              <a:r>
                <a:rPr lang="en-US" altLang="zh-CN" b="1"/>
                <a:t>w</a:t>
              </a:r>
              <a:r>
                <a:rPr lang="en-US" altLang="zh-CN" b="1" baseline="-25000"/>
                <a:t>5</a:t>
              </a:r>
              <a:endParaRPr lang="en-US" altLang="zh-CN" b="1"/>
            </a:p>
          </p:txBody>
        </p:sp>
        <p:sp>
          <p:nvSpPr>
            <p:cNvPr id="119" name="Text Box 117">
              <a:extLst>
                <a:ext uri="{FF2B5EF4-FFF2-40B4-BE49-F238E27FC236}">
                  <a16:creationId xmlns:a16="http://schemas.microsoft.com/office/drawing/2014/main" id="{50D3649E-945D-450B-81AE-050B9C0C90FE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7546" y="1831"/>
              <a:ext cx="273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just"/>
              <a:r>
                <a:rPr lang="en-US" altLang="zh-CN" b="1" dirty="0"/>
                <a:t>u</a:t>
              </a:r>
              <a:r>
                <a:rPr lang="en-US" altLang="zh-CN" b="1" baseline="-25000" dirty="0"/>
                <a:t>1</a:t>
              </a:r>
              <a:endParaRPr lang="en-US" altLang="zh-CN" b="1" dirty="0"/>
            </a:p>
          </p:txBody>
        </p:sp>
        <p:sp>
          <p:nvSpPr>
            <p:cNvPr id="120" name="Oval 118">
              <a:extLst>
                <a:ext uri="{FF2B5EF4-FFF2-40B4-BE49-F238E27FC236}">
                  <a16:creationId xmlns:a16="http://schemas.microsoft.com/office/drawing/2014/main" id="{BBDA555C-4BE4-4CD9-B647-07553A3F502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443" y="1972"/>
              <a:ext cx="68" cy="68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51046757"/>
      </p:ext>
    </p:extLst>
  </p:cSld>
  <p:clrMapOvr>
    <a:masterClrMapping/>
  </p:clrMapOvr>
  <p:transition spd="slow" advTm="0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Special Graph 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文本占位符 21506">
            <a:extLst>
              <a:ext uri="{FF2B5EF4-FFF2-40B4-BE49-F238E27FC236}">
                <a16:creationId xmlns:a16="http://schemas.microsoft.com/office/drawing/2014/main" id="{A0C6B1B7-B962-4BD8-8A9F-5C667B726C60}"/>
              </a:ext>
            </a:extLst>
          </p:cNvPr>
          <p:cNvSpPr txBox="1">
            <a:spLocks/>
          </p:cNvSpPr>
          <p:nvPr/>
        </p:nvSpPr>
        <p:spPr>
          <a:xfrm>
            <a:off x="1717457" y="1082675"/>
            <a:ext cx="7772400" cy="2133600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>
                <a:latin typeface="Microsoft YaHei" panose="020B0503020204020204" charset="-122"/>
                <a:ea typeface="Microsoft YaHei" panose="020B0503020204020204" charset="-122"/>
              </a:rPr>
              <a:t>四色猜想</a:t>
            </a:r>
            <a:r>
              <a:rPr lang="en-US" altLang="zh-CN">
                <a:latin typeface="Microsoft YaHei" panose="020B0503020204020204" charset="-122"/>
                <a:ea typeface="Microsoft YaHei" panose="020B0503020204020204" charset="-122"/>
                <a:sym typeface="Wingdings" panose="05000000000000000000" pitchFamily="2" charset="2"/>
              </a:rPr>
              <a:t></a:t>
            </a:r>
            <a:r>
              <a:rPr lang="zh-CN" altLang="en-US">
                <a:latin typeface="Microsoft YaHei" panose="020B0503020204020204" charset="-122"/>
                <a:ea typeface="Microsoft YaHei" panose="020B0503020204020204" charset="-122"/>
              </a:rPr>
              <a:t>四色定理</a:t>
            </a:r>
          </a:p>
          <a:p>
            <a:endParaRPr lang="zh-CN" altLang="en-US">
              <a:latin typeface="Microsoft YaHei" panose="020B0503020204020204" charset="-122"/>
              <a:ea typeface="Microsoft YaHei" panose="020B0503020204020204" charset="-122"/>
            </a:endParaRPr>
          </a:p>
          <a:p>
            <a:endParaRPr lang="zh-CN" altLang="en-US">
              <a:latin typeface="Microsoft YaHei" panose="020B0503020204020204" charset="-122"/>
              <a:ea typeface="Microsoft YaHei" panose="020B0503020204020204" charset="-122"/>
            </a:endParaRPr>
          </a:p>
          <a:p>
            <a:endParaRPr lang="zh-CN" altLang="en-US">
              <a:latin typeface="Microsoft YaHei" panose="020B0503020204020204" charset="-122"/>
              <a:ea typeface="Microsoft YaHei" panose="020B0503020204020204" charset="-122"/>
            </a:endParaRPr>
          </a:p>
          <a:p>
            <a:endParaRPr lang="zh-CN" altLang="en-US">
              <a:latin typeface="Microsoft YaHei" panose="020B0503020204020204" charset="-122"/>
              <a:ea typeface="Microsoft YaHei" panose="020B0503020204020204" charset="-122"/>
            </a:endParaRPr>
          </a:p>
          <a:p>
            <a:pPr algn="just"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</a:rPr>
              <a:t> </a:t>
            </a:r>
          </a:p>
          <a:p>
            <a:pPr>
              <a:buFont typeface="Arial" panose="020B0604020202020204" pitchFamily="34" charset="0"/>
              <a:buNone/>
            </a:pPr>
            <a:endParaRPr lang="zh-CN" altLang="en-US" sz="180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7C7C72B-F10E-4973-97BD-18E1CFFD1796}"/>
              </a:ext>
            </a:extLst>
          </p:cNvPr>
          <p:cNvSpPr txBox="1"/>
          <p:nvPr/>
        </p:nvSpPr>
        <p:spPr>
          <a:xfrm>
            <a:off x="1844457" y="1804670"/>
            <a:ext cx="881973" cy="341632"/>
          </a:xfrm>
          <a:prstGeom prst="rect">
            <a:avLst/>
          </a:prstGeom>
          <a:solidFill>
            <a:schemeClr val="folHlink"/>
          </a:solidFill>
          <a:ln w="9525">
            <a:noFill/>
            <a:miter/>
          </a:ln>
        </p:spPr>
        <p:txBody>
          <a:bodyPr wrap="none" anchor="t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rgbClr val="CC3300"/>
              </a:buClr>
              <a:buFont typeface="Symbol" panose="05050102010706020507" pitchFamily="2" charset="2"/>
            </a:pPr>
            <a:r>
              <a:rPr lang="zh-CN" altLang="en-US" b="1" dirty="0">
                <a:solidFill>
                  <a:srgbClr val="3333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SimHei" panose="02010609060101010101" pitchFamily="2" charset="-122"/>
              </a:rPr>
              <a:t>对偶图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3FD78BD-BA59-4452-BA30-6A44154FF6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6497" y="2414270"/>
            <a:ext cx="3923665" cy="20955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D993181-8C51-497D-986F-F271C129CB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9677" y="4784725"/>
            <a:ext cx="3837940" cy="1981200"/>
          </a:xfrm>
          <a:prstGeom prst="rect">
            <a:avLst/>
          </a:prstGeom>
        </p:spPr>
      </p:pic>
      <p:sp>
        <p:nvSpPr>
          <p:cNvPr id="9" name="文本占位符 22530">
            <a:extLst>
              <a:ext uri="{FF2B5EF4-FFF2-40B4-BE49-F238E27FC236}">
                <a16:creationId xmlns:a16="http://schemas.microsoft.com/office/drawing/2014/main" id="{CEB46DB3-CC9E-414D-A476-7CD252B8B9F7}"/>
              </a:ext>
            </a:extLst>
          </p:cNvPr>
          <p:cNvSpPr txBox="1">
            <a:spLocks/>
          </p:cNvSpPr>
          <p:nvPr/>
        </p:nvSpPr>
        <p:spPr>
          <a:xfrm>
            <a:off x="6334693" y="1975486"/>
            <a:ext cx="4012850" cy="1295400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latin typeface="Microsoft YaHei" panose="020B0503020204020204" charset="-122"/>
                <a:ea typeface="Microsoft YaHei" panose="020B0503020204020204" charset="-122"/>
              </a:rPr>
              <a:t>图</a:t>
            </a:r>
            <a:r>
              <a:rPr lang="en-US" altLang="zh-CN" dirty="0">
                <a:latin typeface="Microsoft YaHei" panose="020B0503020204020204" charset="-122"/>
                <a:ea typeface="Microsoft YaHei" panose="020B0503020204020204" charset="-122"/>
              </a:rPr>
              <a:t>G</a:t>
            </a:r>
            <a:r>
              <a:rPr lang="zh-CN" altLang="en-US" dirty="0">
                <a:latin typeface="Microsoft YaHei" panose="020B0503020204020204" charset="-122"/>
                <a:ea typeface="Microsoft YaHei" panose="020B0503020204020204" charset="-122"/>
              </a:rPr>
              <a:t>的色数</a:t>
            </a:r>
            <a:r>
              <a:rPr lang="en-US" altLang="zh-CN" dirty="0">
                <a:latin typeface="Microsoft YaHei" panose="020B0503020204020204" charset="-122"/>
                <a:ea typeface="Microsoft YaHei" panose="020B0503020204020204" charset="-122"/>
              </a:rPr>
              <a:t>(Chromatic Number)</a:t>
            </a:r>
            <a:r>
              <a:rPr lang="zh-CN" altLang="en-US" dirty="0">
                <a:latin typeface="Microsoft YaHei" panose="020B0503020204020204" charset="-122"/>
                <a:ea typeface="Microsoft YaHei" panose="020B0503020204020204" charset="-122"/>
              </a:rPr>
              <a:t>：</a:t>
            </a:r>
            <a:r>
              <a:rPr lang="zh-CN" altLang="en-US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  <a:cs typeface="Comic Sans MS" panose="030F0702030302020204" charset="0"/>
              </a:rPr>
              <a:t>如果图</a:t>
            </a:r>
            <a:r>
              <a:rPr lang="en-US" altLang="zh-CN" i="1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  <a:cs typeface="Comic Sans MS" panose="030F0702030302020204" charset="0"/>
              </a:rPr>
              <a:t>G</a:t>
            </a:r>
            <a:r>
              <a:rPr lang="zh-CN" altLang="en-US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  <a:cs typeface="Comic Sans MS" panose="030F0702030302020204" charset="0"/>
              </a:rPr>
              <a:t>在着色时</a:t>
            </a:r>
            <a:r>
              <a:rPr lang="zh-CN" altLang="en-US" dirty="0">
                <a:solidFill>
                  <a:srgbClr val="FF0000"/>
                </a:solidFill>
                <a:latin typeface="Microsoft YaHei" panose="020B0503020204020204" charset="-122"/>
                <a:ea typeface="Microsoft YaHei" panose="020B0503020204020204" charset="-122"/>
                <a:cs typeface="Comic Sans MS" panose="030F0702030302020204" charset="0"/>
              </a:rPr>
              <a:t>最少</a:t>
            </a:r>
            <a:r>
              <a:rPr lang="zh-CN" altLang="en-US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  <a:cs typeface="Comic Sans MS" panose="030F0702030302020204" charset="0"/>
              </a:rPr>
              <a:t>用</a:t>
            </a:r>
            <a:r>
              <a:rPr lang="en-US" altLang="zh-CN" i="1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  <a:cs typeface="Comic Sans MS" panose="030F0702030302020204" charset="0"/>
              </a:rPr>
              <a:t>n</a:t>
            </a:r>
            <a:r>
              <a:rPr lang="zh-CN" altLang="en-US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  <a:cs typeface="Comic Sans MS" panose="030F0702030302020204" charset="0"/>
              </a:rPr>
              <a:t>种颜色</a:t>
            </a:r>
            <a:r>
              <a:rPr lang="en-US" altLang="zh-CN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  <a:cs typeface="Comic Sans MS" panose="030F0702030302020204" charset="0"/>
              </a:rPr>
              <a:t>(n-</a:t>
            </a:r>
            <a:r>
              <a:rPr lang="zh-CN" altLang="en-US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  <a:cs typeface="Comic Sans MS" panose="030F0702030302020204" charset="0"/>
              </a:rPr>
              <a:t>可着色</a:t>
            </a:r>
            <a:r>
              <a:rPr lang="en-US" altLang="zh-CN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  <a:cs typeface="Comic Sans MS" panose="030F0702030302020204" charset="0"/>
              </a:rPr>
              <a:t>)</a:t>
            </a:r>
            <a:r>
              <a:rPr lang="zh-CN" altLang="en-US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  <a:cs typeface="Comic Sans MS" panose="030F0702030302020204" charset="0"/>
              </a:rPr>
              <a:t>，称</a:t>
            </a:r>
            <a:r>
              <a:rPr lang="en-US" altLang="zh-CN" i="1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  <a:cs typeface="Comic Sans MS" panose="030F0702030302020204" charset="0"/>
              </a:rPr>
              <a:t>G</a:t>
            </a:r>
            <a:r>
              <a:rPr lang="zh-CN" altLang="en-US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  <a:cs typeface="Comic Sans MS" panose="030F0702030302020204" charset="0"/>
              </a:rPr>
              <a:t>为</a:t>
            </a:r>
            <a:r>
              <a:rPr lang="en-US" altLang="zh-CN" i="1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  <a:cs typeface="Comic Sans MS" panose="030F0702030302020204" charset="0"/>
              </a:rPr>
              <a:t>n</a:t>
            </a:r>
            <a:r>
              <a:rPr lang="en-US" altLang="zh-CN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  <a:cs typeface="Comic Sans MS" panose="030F0702030302020204" charset="0"/>
              </a:rPr>
              <a:t>-</a:t>
            </a:r>
            <a:r>
              <a:rPr lang="zh-CN" altLang="en-US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  <a:cs typeface="Comic Sans MS" panose="030F0702030302020204" charset="0"/>
              </a:rPr>
              <a:t>色的。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dirty="0">
              <a:solidFill>
                <a:srgbClr val="003399"/>
              </a:solidFill>
              <a:latin typeface="Microsoft YaHei" panose="020B0503020204020204" charset="-122"/>
              <a:ea typeface="Microsoft YaHei" panose="020B0503020204020204" charset="-122"/>
              <a:cs typeface="Comic Sans MS" panose="030F0702030302020204" charset="0"/>
            </a:endParaRPr>
          </a:p>
          <a:p>
            <a:pPr marL="0" indent="0">
              <a:buNone/>
            </a:pPr>
            <a:endParaRPr lang="zh-CN" altLang="en-US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79231910"/>
      </p:ext>
    </p:extLst>
  </p:cSld>
  <p:clrMapOvr>
    <a:masterClrMapping/>
  </p:clrMapOvr>
  <p:transition spd="slow" advTm="0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91E7A5-716D-41D4-9EA5-83854DDFE388}"/>
              </a:ext>
            </a:extLst>
          </p:cNvPr>
          <p:cNvSpPr/>
          <p:nvPr/>
        </p:nvSpPr>
        <p:spPr>
          <a:xfrm>
            <a:off x="3144711" y="2644170"/>
            <a:ext cx="5902578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800" b="1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SimHei" panose="02010609060101010101" pitchFamily="2" charset="-122"/>
              </a:rPr>
              <a:t>代数结构  </a:t>
            </a:r>
            <a:endParaRPr lang="en-US" altLang="zh-CN" sz="4800" b="1" noProof="1">
              <a:solidFill>
                <a:srgbClr val="CC3300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SimHei" panose="02010609060101010101" pitchFamily="2" charset="-122"/>
            </a:endParaRPr>
          </a:p>
          <a:p>
            <a:pPr algn="ctr"/>
            <a:r>
              <a:rPr lang="en-US" altLang="x-none" sz="4800" b="1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SimSun" panose="02010600030101010101" pitchFamily="2" charset="-122"/>
              </a:rPr>
              <a:t>Algebraic Structure</a:t>
            </a:r>
            <a:endParaRPr lang="zh-CN" altLang="en-US" sz="4800" dirty="0"/>
          </a:p>
        </p:txBody>
      </p:sp>
    </p:spTree>
    <p:extLst>
      <p:ext uri="{BB962C8B-B14F-4D97-AF65-F5344CB8AC3E}">
        <p14:creationId xmlns:p14="http://schemas.microsoft.com/office/powerpoint/2010/main" val="2441377878"/>
      </p:ext>
    </p:extLst>
  </p:cSld>
  <p:clrMapOvr>
    <a:masterClrMapping/>
  </p:clrMapOvr>
  <p:transition spd="slow" advTm="0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E727DE5-AC4E-43EF-AB30-9899AA5CD4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8347" y="1572126"/>
            <a:ext cx="2313184" cy="2638926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416196F0-C591-4323-B5F8-DAA98BE9D9E9}"/>
              </a:ext>
            </a:extLst>
          </p:cNvPr>
          <p:cNvSpPr txBox="1"/>
          <p:nvPr/>
        </p:nvSpPr>
        <p:spPr>
          <a:xfrm>
            <a:off x="2197768" y="4490774"/>
            <a:ext cx="23131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阿贝尔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Niels Henrik Abel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99E7397-FB6B-48A3-964B-4D284BB26C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7459" y="1451809"/>
            <a:ext cx="2627257" cy="2759243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6C83F9DB-0F32-45A2-BE73-29D1A696A270}"/>
              </a:ext>
            </a:extLst>
          </p:cNvPr>
          <p:cNvSpPr txBox="1"/>
          <p:nvPr/>
        </p:nvSpPr>
        <p:spPr>
          <a:xfrm>
            <a:off x="6184495" y="4490774"/>
            <a:ext cx="23131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伽罗瓦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b="0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Évariste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Galois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8F7BD74-BBA1-473A-818E-358AA9BDB7CD}"/>
              </a:ext>
            </a:extLst>
          </p:cNvPr>
          <p:cNvSpPr txBox="1"/>
          <p:nvPr/>
        </p:nvSpPr>
        <p:spPr>
          <a:xfrm>
            <a:off x="2716685" y="5392764"/>
            <a:ext cx="1275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1802-1829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F091759-F534-4EF5-9717-FD5B1E7140D9}"/>
              </a:ext>
            </a:extLst>
          </p:cNvPr>
          <p:cNvSpPr txBox="1"/>
          <p:nvPr/>
        </p:nvSpPr>
        <p:spPr>
          <a:xfrm>
            <a:off x="6703412" y="5392764"/>
            <a:ext cx="1275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1811-1832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950546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B24646C-2A47-4F31-95A3-C42A9E3B0F61}"/>
              </a:ext>
            </a:extLst>
          </p:cNvPr>
          <p:cNvSpPr txBox="1"/>
          <p:nvPr/>
        </p:nvSpPr>
        <p:spPr>
          <a:xfrm>
            <a:off x="1686267" y="870963"/>
            <a:ext cx="37748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accent1">
                    <a:lumMod val="75000"/>
                  </a:schemeClr>
                </a:solidFill>
              </a:rPr>
              <a:t>代数运算</a:t>
            </a:r>
            <a:endParaRPr lang="en-US" altLang="zh-CN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0209815-7832-4347-9285-D890496B93B4}"/>
              </a:ext>
            </a:extLst>
          </p:cNvPr>
          <p:cNvSpPr txBox="1"/>
          <p:nvPr/>
        </p:nvSpPr>
        <p:spPr>
          <a:xfrm>
            <a:off x="1571625" y="1542128"/>
            <a:ext cx="863455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是一个非空集合。如果有一个法则，它对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任意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两个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有序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元素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都有一个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唯一确定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的元素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与它们对应，则称这个法则是集合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上的一个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二元运算。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0775860-6DFE-43AA-8E0C-0B1125622A1A}"/>
              </a:ext>
            </a:extLst>
          </p:cNvPr>
          <p:cNvSpPr txBox="1"/>
          <p:nvPr/>
        </p:nvSpPr>
        <p:spPr>
          <a:xfrm>
            <a:off x="1529636" y="3176847"/>
            <a:ext cx="91327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是一个非空集合。如果有一个法则，它对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任意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个有序元素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···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都有一个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唯一确定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的元素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与它们对应，则称这个法则是集合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上的一个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元运算。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47B8223-EDEA-491B-BFDB-7ED04C53F527}"/>
              </a:ext>
            </a:extLst>
          </p:cNvPr>
          <p:cNvSpPr/>
          <p:nvPr/>
        </p:nvSpPr>
        <p:spPr>
          <a:xfrm>
            <a:off x="1571624" y="4921970"/>
            <a:ext cx="928372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是集合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上的一个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元运算，非空集合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，如果对于每一个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)∈S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，都有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)∈S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，则称</a:t>
            </a:r>
            <a:r>
              <a:rPr lang="en-US" altLang="zh-CN" sz="2800" dirty="0">
                <a:solidFill>
                  <a:srgbClr val="99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800" dirty="0">
                <a:solidFill>
                  <a:srgbClr val="99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在运算</a:t>
            </a:r>
            <a:r>
              <a:rPr lang="en-US" altLang="zh-CN" sz="2800" dirty="0">
                <a:solidFill>
                  <a:srgbClr val="99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zh-CN" altLang="en-US" sz="2800" dirty="0">
                <a:solidFill>
                  <a:srgbClr val="99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下是封闭的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，或</a:t>
            </a:r>
            <a:r>
              <a:rPr lang="en-US" altLang="zh-CN" sz="2800" dirty="0">
                <a:solidFill>
                  <a:srgbClr val="99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zh-CN" altLang="en-US" sz="2800" dirty="0">
                <a:solidFill>
                  <a:srgbClr val="99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在集合</a:t>
            </a:r>
            <a:r>
              <a:rPr lang="en-US" altLang="zh-CN" sz="2800" dirty="0">
                <a:solidFill>
                  <a:srgbClr val="99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800" dirty="0">
                <a:solidFill>
                  <a:srgbClr val="99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上是封闭的。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3023560"/>
      </p:ext>
    </p:extLst>
  </p:cSld>
  <p:clrMapOvr>
    <a:masterClrMapping/>
  </p:clrMapOvr>
  <p:transition spd="slow" advTm="0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5A41F49-2BD8-4167-ABA4-C25E3582CE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6965" y="1061424"/>
            <a:ext cx="1482725" cy="1008062"/>
          </a:xfrm>
          <a:prstGeom prst="rect">
            <a:avLst/>
          </a:prstGeom>
          <a:solidFill>
            <a:srgbClr val="BBE0E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集合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S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？</a:t>
            </a:r>
            <a:b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</a:b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 运算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O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？</a:t>
            </a:r>
          </a:p>
        </p:txBody>
      </p:sp>
      <p:sp>
        <p:nvSpPr>
          <p:cNvPr id="6" name="下箭头 45060">
            <a:extLst>
              <a:ext uri="{FF2B5EF4-FFF2-40B4-BE49-F238E27FC236}">
                <a16:creationId xmlns:a16="http://schemas.microsoft.com/office/drawing/2014/main" id="{564D0F12-2B3B-434F-B0A8-FD949DD95D76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646031" y="1170167"/>
            <a:ext cx="546100" cy="790575"/>
          </a:xfrm>
          <a:prstGeom prst="downArrow">
            <a:avLst>
              <a:gd name="adj1" fmla="val 50000"/>
              <a:gd name="adj2" fmla="val 3616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>
              <a:ea typeface="MS PGothic" panose="020B0600070205080204" pitchFamily="34" charset="-128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7765B81-DD88-40EC-BDD9-CA15635939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8472" y="1292404"/>
            <a:ext cx="3176587" cy="576262"/>
          </a:xfrm>
          <a:prstGeom prst="rect">
            <a:avLst/>
          </a:prstGeom>
          <a:solidFill>
            <a:srgbClr val="BBE0E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代数结构？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〈S;O〉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721F0F8-7494-4FAD-A510-12E9DB50A82C}"/>
              </a:ext>
            </a:extLst>
          </p:cNvPr>
          <p:cNvSpPr/>
          <p:nvPr/>
        </p:nvSpPr>
        <p:spPr>
          <a:xfrm>
            <a:off x="1283653" y="3163560"/>
            <a:ext cx="10192486" cy="25268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  <a:spcBef>
                <a:spcPct val="50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代数系统　代数结构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(algebra structure)</a:t>
            </a:r>
          </a:p>
          <a:p>
            <a:pPr algn="just">
              <a:lnSpc>
                <a:spcPct val="90000"/>
              </a:lnSpc>
              <a:spcBef>
                <a:spcPct val="5000"/>
              </a:spcBef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一个代数系统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代数结构，简称代数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是如下的一个有序元组：       </a:t>
            </a:r>
          </a:p>
          <a:p>
            <a:pPr algn="just">
              <a:lnSpc>
                <a:spcPct val="90000"/>
              </a:lnSpc>
              <a:spcBef>
                <a:spcPct val="50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A=(X;  R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lnSpc>
                <a:spcPct val="90000"/>
              </a:lnSpc>
              <a:spcBef>
                <a:spcPct val="50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其中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</a:p>
          <a:p>
            <a:pPr algn="just">
              <a:lnSpc>
                <a:spcPct val="90000"/>
              </a:lnSpc>
              <a:spcBef>
                <a:spcPct val="5000"/>
              </a:spcBef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 (1)X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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是一个任意集合；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algn="just">
              <a:lnSpc>
                <a:spcPct val="90000"/>
              </a:lnSpc>
              <a:spcBef>
                <a:spcPct val="50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(2)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上的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个运算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(m1) 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7930474"/>
      </p:ext>
    </p:extLst>
  </p:cSld>
  <p:clrMapOvr>
    <a:masterClrMapping/>
  </p:clrMapOvr>
  <p:transition spd="slow" advTm="0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D5E45F2-22F9-4FC1-B1A3-0927BF457449}"/>
              </a:ext>
            </a:extLst>
          </p:cNvPr>
          <p:cNvSpPr/>
          <p:nvPr/>
        </p:nvSpPr>
        <p:spPr>
          <a:xfrm>
            <a:off x="1571624" y="1515606"/>
            <a:ext cx="9183061" cy="3258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/>
              <a:t>代数系统的性质一般是由代数系统中所具有的运算的个数，每个运算的元数，以及每个运算所具有的性质决定的。</a:t>
            </a:r>
            <a:endParaRPr lang="en-US" altLang="zh-CN" sz="2800" dirty="0"/>
          </a:p>
          <a:p>
            <a:pPr algn="just">
              <a:lnSpc>
                <a:spcPct val="150000"/>
              </a:lnSpc>
            </a:pPr>
            <a:endParaRPr lang="en-US" altLang="zh-CN" sz="2800" dirty="0"/>
          </a:p>
          <a:p>
            <a:pPr algn="just">
              <a:lnSpc>
                <a:spcPct val="150000"/>
              </a:lnSpc>
            </a:pPr>
            <a:r>
              <a:rPr lang="zh-CN" altLang="en-US" sz="2800" dirty="0"/>
              <a:t>因此研究一个代数系统，主要是研究代数系统中每个运算所具有的性质。</a:t>
            </a:r>
          </a:p>
        </p:txBody>
      </p:sp>
    </p:spTree>
    <p:extLst>
      <p:ext uri="{BB962C8B-B14F-4D97-AF65-F5344CB8AC3E}">
        <p14:creationId xmlns:p14="http://schemas.microsoft.com/office/powerpoint/2010/main" val="2541891381"/>
      </p:ext>
    </p:extLst>
  </p:cSld>
  <p:clrMapOvr>
    <a:masterClrMapping/>
  </p:clrMapOvr>
  <p:transition spd="slow" advTm="0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FF63290-B538-4EE7-A8EB-882E59DA42B9}"/>
              </a:ext>
            </a:extLst>
          </p:cNvPr>
          <p:cNvSpPr/>
          <p:nvPr/>
        </p:nvSpPr>
        <p:spPr>
          <a:xfrm>
            <a:off x="1493495" y="1546337"/>
            <a:ext cx="9205009" cy="26080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上的二元运算。则我们称</a:t>
            </a:r>
          </a:p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运算满足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结合律 </a:t>
            </a:r>
          </a:p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(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)(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)(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 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运算满足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交换律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(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)(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 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 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0E667BC-7983-44F7-B6BF-D99E3A53477F}"/>
              </a:ext>
            </a:extLst>
          </p:cNvPr>
          <p:cNvSpPr/>
          <p:nvPr/>
        </p:nvSpPr>
        <p:spPr>
          <a:xfrm>
            <a:off x="1751013" y="4408292"/>
            <a:ext cx="8310694" cy="22430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结合律改变的是运算的先后次序；交换律改变的是运算对象的位置顺序。</a:t>
            </a:r>
            <a:endParaRPr lang="en-US" altLang="zh-CN" sz="2400" dirty="0">
              <a:latin typeface="楷体_GB2312" pitchFamily="49" charset="-122"/>
              <a:ea typeface="楷体_GB2312" pitchFamily="49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前者是对</a:t>
            </a:r>
            <a:r>
              <a:rPr lang="zh-CN" altLang="en-US" sz="2400" u="sng" dirty="0">
                <a:latin typeface="楷体_GB2312" pitchFamily="49" charset="-122"/>
                <a:ea typeface="楷体_GB2312" pitchFamily="49" charset="-122"/>
              </a:rPr>
              <a:t>运算符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而言；后者是对</a:t>
            </a:r>
            <a:r>
              <a:rPr lang="zh-CN" altLang="en-US" sz="2400" u="sng" dirty="0">
                <a:latin typeface="楷体_GB2312" pitchFamily="49" charset="-122"/>
                <a:ea typeface="楷体_GB2312" pitchFamily="49" charset="-122"/>
              </a:rPr>
              <a:t>运算对象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而言。</a:t>
            </a:r>
            <a:endParaRPr lang="en-US" altLang="zh-CN" sz="2400" dirty="0">
              <a:latin typeface="楷体_GB2312" pitchFamily="49" charset="-122"/>
              <a:ea typeface="楷体_GB2312" pitchFamily="49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为此二元运算的结合律和交换律是两个根本不同的概念。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15DD494-E1EA-4B75-9519-D309BA82FEB3}"/>
              </a:ext>
            </a:extLst>
          </p:cNvPr>
          <p:cNvSpPr txBox="1"/>
          <p:nvPr/>
        </p:nvSpPr>
        <p:spPr>
          <a:xfrm>
            <a:off x="1686267" y="870963"/>
            <a:ext cx="37748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accent1">
                    <a:lumMod val="75000"/>
                  </a:schemeClr>
                </a:solidFill>
              </a:rPr>
              <a:t>运算性质</a:t>
            </a:r>
            <a:endParaRPr lang="en-US" altLang="zh-CN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5521668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CDB04F6-E6E5-4ECC-BBE0-5B6C0E81D81B}"/>
              </a:ext>
            </a:extLst>
          </p:cNvPr>
          <p:cNvSpPr/>
          <p:nvPr/>
        </p:nvSpPr>
        <p:spPr>
          <a:xfrm>
            <a:off x="2074876" y="978684"/>
            <a:ext cx="722012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800" dirty="0"/>
              <a:t>在代数系统</a:t>
            </a:r>
            <a:r>
              <a:rPr lang="en-US" altLang="zh-CN" sz="2800" dirty="0"/>
              <a:t>(I,+,</a:t>
            </a:r>
            <a:r>
              <a:rPr lang="en-US" altLang="zh-CN" sz="2800" dirty="0">
                <a:sym typeface="Symbol" panose="05050102010706020507" pitchFamily="18" charset="2"/>
              </a:rPr>
              <a:t></a:t>
            </a:r>
            <a:r>
              <a:rPr lang="en-US" altLang="zh-CN" sz="2800" dirty="0"/>
              <a:t>)</a:t>
            </a:r>
            <a:r>
              <a:rPr lang="zh-CN" altLang="en-US" sz="2800" dirty="0"/>
              <a:t>中，二元运算加法</a:t>
            </a:r>
            <a:r>
              <a:rPr lang="en-US" altLang="zh-CN" sz="2800" dirty="0"/>
              <a:t>+</a:t>
            </a:r>
            <a:r>
              <a:rPr lang="zh-CN" altLang="en-US" sz="2800" dirty="0"/>
              <a:t>和乘法</a:t>
            </a:r>
            <a:r>
              <a:rPr lang="zh-CN" altLang="en-US" sz="2800" dirty="0">
                <a:sym typeface="Symbol" panose="05050102010706020507" pitchFamily="18" charset="2"/>
              </a:rPr>
              <a:t></a:t>
            </a:r>
            <a:r>
              <a:rPr lang="zh-CN" altLang="en-US" sz="2800" dirty="0"/>
              <a:t>都满足结合律和交换律。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856A9B8-84FB-4480-8031-BCF03602F83F}"/>
              </a:ext>
            </a:extLst>
          </p:cNvPr>
          <p:cNvSpPr/>
          <p:nvPr/>
        </p:nvSpPr>
        <p:spPr>
          <a:xfrm>
            <a:off x="2074876" y="2342346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800" dirty="0"/>
              <a:t>在代数系统 </a:t>
            </a:r>
            <a:r>
              <a:rPr lang="en-US" altLang="zh-CN" sz="2800" dirty="0"/>
              <a:t>(2</a:t>
            </a:r>
            <a:r>
              <a:rPr lang="en-US" altLang="zh-CN" sz="2800" baseline="30000" dirty="0"/>
              <a:t>X</a:t>
            </a:r>
            <a:r>
              <a:rPr lang="en-US" altLang="zh-CN" sz="2800" dirty="0"/>
              <a:t>, </a:t>
            </a:r>
            <a:r>
              <a:rPr lang="en-US" altLang="zh-CN" sz="2800" dirty="0">
                <a:sym typeface="Symbol" panose="05050102010706020507" pitchFamily="18" charset="2"/>
              </a:rPr>
              <a:t> </a:t>
            </a:r>
            <a:r>
              <a:rPr lang="en-US" altLang="zh-CN" sz="2800" dirty="0"/>
              <a:t>,</a:t>
            </a:r>
            <a:r>
              <a:rPr lang="en-US" altLang="zh-CN" sz="2800" dirty="0">
                <a:sym typeface="Symbol" panose="05050102010706020507" pitchFamily="18" charset="2"/>
              </a:rPr>
              <a:t> </a:t>
            </a:r>
            <a:r>
              <a:rPr lang="en-US" altLang="zh-CN" sz="2800" dirty="0"/>
              <a:t>) </a:t>
            </a:r>
            <a:r>
              <a:rPr lang="zh-CN" altLang="en-US" sz="2800" dirty="0"/>
              <a:t>中，二元运算交</a:t>
            </a:r>
            <a:r>
              <a:rPr lang="zh-CN" altLang="en-US" sz="2800" dirty="0">
                <a:sym typeface="Symbol" panose="05050102010706020507" pitchFamily="18" charset="2"/>
              </a:rPr>
              <a:t></a:t>
            </a:r>
            <a:r>
              <a:rPr lang="zh-CN" altLang="en-US" sz="2800" dirty="0"/>
              <a:t>和并</a:t>
            </a:r>
            <a:r>
              <a:rPr lang="zh-CN" altLang="en-US" sz="2800" dirty="0">
                <a:sym typeface="Symbol" panose="05050102010706020507" pitchFamily="18" charset="2"/>
              </a:rPr>
              <a:t></a:t>
            </a:r>
            <a:r>
              <a:rPr lang="zh-CN" altLang="en-US" sz="2800" dirty="0"/>
              <a:t>都满足结合律和交换律。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828B00D-285D-40A7-885A-5420B08A69A0}"/>
              </a:ext>
            </a:extLst>
          </p:cNvPr>
          <p:cNvSpPr/>
          <p:nvPr/>
        </p:nvSpPr>
        <p:spPr>
          <a:xfrm>
            <a:off x="2074876" y="3949010"/>
            <a:ext cx="88184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/>
              <a:t>在代数系统</a:t>
            </a:r>
            <a:r>
              <a:rPr lang="en-US" altLang="zh-CN" sz="2800" dirty="0"/>
              <a:t>(I,-)</a:t>
            </a:r>
            <a:r>
              <a:rPr lang="zh-CN" altLang="en-US" sz="2800" dirty="0"/>
              <a:t>中，减法运算</a:t>
            </a:r>
            <a:r>
              <a:rPr lang="en-US" altLang="zh-CN" sz="2800" dirty="0"/>
              <a:t>-</a:t>
            </a:r>
            <a:r>
              <a:rPr lang="zh-CN" altLang="en-US" sz="2800" dirty="0"/>
              <a:t>不满足结合律和交换律。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4DF343C-5E32-4AD9-AA72-902323828399}"/>
              </a:ext>
            </a:extLst>
          </p:cNvPr>
          <p:cNvSpPr/>
          <p:nvPr/>
        </p:nvSpPr>
        <p:spPr>
          <a:xfrm>
            <a:off x="3199001" y="5003356"/>
            <a:ext cx="6096000" cy="911019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95000"/>
              </a:lnSpc>
              <a:spcBef>
                <a:spcPct val="0"/>
              </a:spcBef>
            </a:pPr>
            <a:r>
              <a:rPr lang="en-US" altLang="zh-CN" sz="2800" dirty="0"/>
              <a:t>(3-2)-1=0≠2=3-(2-1)</a:t>
            </a:r>
          </a:p>
          <a:p>
            <a:pPr algn="just">
              <a:lnSpc>
                <a:spcPct val="95000"/>
              </a:lnSpc>
              <a:spcBef>
                <a:spcPct val="0"/>
              </a:spcBef>
            </a:pPr>
            <a:r>
              <a:rPr lang="en-US" altLang="zh-CN" sz="2800" dirty="0"/>
              <a:t>        3-2 =1≠-1= 2-3</a:t>
            </a:r>
          </a:p>
        </p:txBody>
      </p:sp>
    </p:spTree>
    <p:extLst>
      <p:ext uri="{BB962C8B-B14F-4D97-AF65-F5344CB8AC3E}">
        <p14:creationId xmlns:p14="http://schemas.microsoft.com/office/powerpoint/2010/main" val="2599551622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F972519-9D6B-42C0-978E-54083A7F34E9}"/>
              </a:ext>
            </a:extLst>
          </p:cNvPr>
          <p:cNvSpPr/>
          <p:nvPr/>
        </p:nvSpPr>
        <p:spPr>
          <a:xfrm>
            <a:off x="1675511" y="1014675"/>
            <a:ext cx="8508723" cy="32451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消去律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(cancellation law)</a:t>
            </a:r>
          </a:p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设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(X,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是代数系统，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上的二元运算。</a:t>
            </a:r>
          </a:p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称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运算满足消去律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</a:p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(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b) (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9AF61C3-2083-41D3-BA4C-09721046A14A}"/>
              </a:ext>
            </a:extLst>
          </p:cNvPr>
          <p:cNvSpPr txBox="1"/>
          <p:nvPr/>
        </p:nvSpPr>
        <p:spPr>
          <a:xfrm>
            <a:off x="2470138" y="4744239"/>
            <a:ext cx="61438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x(y)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可消去元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4422352"/>
      </p:ext>
    </p:extLst>
  </p:cSld>
  <p:clrMapOvr>
    <a:masterClrMapping/>
  </p:clrMapOvr>
  <p:transition spd="slow" advTm="0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0B506E1-DD9D-48DE-82E9-4EE5B7F4E3DD}"/>
              </a:ext>
            </a:extLst>
          </p:cNvPr>
          <p:cNvSpPr/>
          <p:nvPr/>
        </p:nvSpPr>
        <p:spPr>
          <a:xfrm>
            <a:off x="1655426" y="1215672"/>
            <a:ext cx="9980103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2800" dirty="0"/>
              <a:t>在代数系统</a:t>
            </a:r>
            <a:r>
              <a:rPr lang="en-US" altLang="zh-CN" sz="2800" dirty="0"/>
              <a:t>(I,+,</a:t>
            </a:r>
            <a:r>
              <a:rPr lang="en-US" altLang="zh-CN" sz="2800" dirty="0">
                <a:sym typeface="Symbol" panose="05050102010706020507" pitchFamily="18" charset="2"/>
              </a:rPr>
              <a:t></a:t>
            </a:r>
            <a:r>
              <a:rPr lang="en-US" altLang="zh-CN" sz="2800" dirty="0"/>
              <a:t>)</a:t>
            </a:r>
            <a:r>
              <a:rPr lang="zh-CN" altLang="en-US" sz="2800" dirty="0"/>
              <a:t>中，加法</a:t>
            </a:r>
            <a:r>
              <a:rPr lang="en-US" altLang="zh-CN" sz="2800" dirty="0"/>
              <a:t>+</a:t>
            </a:r>
            <a:r>
              <a:rPr lang="zh-CN" altLang="en-US" sz="2800" dirty="0"/>
              <a:t>满足消去律；乘法</a:t>
            </a:r>
            <a:r>
              <a:rPr lang="zh-CN" altLang="en-US" sz="2800" dirty="0">
                <a:sym typeface="Symbol" panose="05050102010706020507" pitchFamily="18" charset="2"/>
              </a:rPr>
              <a:t></a:t>
            </a:r>
            <a:r>
              <a:rPr lang="zh-CN" altLang="en-US" sz="2800" dirty="0"/>
              <a:t>不满足消去律。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E4D5441-EC35-45B1-9D65-ED733246B82F}"/>
              </a:ext>
            </a:extLst>
          </p:cNvPr>
          <p:cNvSpPr/>
          <p:nvPr/>
        </p:nvSpPr>
        <p:spPr>
          <a:xfrm>
            <a:off x="1571625" y="2585519"/>
            <a:ext cx="403988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/>
              <a:t>在代数系统 </a:t>
            </a:r>
            <a:r>
              <a:rPr lang="en-US" altLang="zh-CN" sz="2800" dirty="0"/>
              <a:t>(2</a:t>
            </a:r>
            <a:r>
              <a:rPr lang="en-US" altLang="zh-CN" sz="2800" baseline="30000" dirty="0"/>
              <a:t>X</a:t>
            </a:r>
            <a:r>
              <a:rPr lang="en-US" altLang="zh-CN" sz="2800" dirty="0"/>
              <a:t>,</a:t>
            </a:r>
            <a:r>
              <a:rPr lang="en-US" altLang="zh-CN" sz="2800" dirty="0">
                <a:sym typeface="Symbol" panose="05050102010706020507" pitchFamily="18" charset="2"/>
              </a:rPr>
              <a:t></a:t>
            </a:r>
            <a:r>
              <a:rPr lang="en-US" altLang="zh-CN" sz="2800" dirty="0"/>
              <a:t>,</a:t>
            </a:r>
            <a:r>
              <a:rPr lang="en-US" altLang="zh-CN" sz="2800" dirty="0">
                <a:sym typeface="Symbol" panose="05050102010706020507" pitchFamily="18" charset="2"/>
              </a:rPr>
              <a:t></a:t>
            </a:r>
            <a:r>
              <a:rPr lang="en-US" altLang="zh-CN" sz="2800" dirty="0"/>
              <a:t>)</a:t>
            </a:r>
            <a:r>
              <a:rPr lang="zh-CN" altLang="en-US" sz="2800" dirty="0"/>
              <a:t>中，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C0DB228-5DEB-4CB8-8B60-04C7A57E52F8}"/>
              </a:ext>
            </a:extLst>
          </p:cNvPr>
          <p:cNvSpPr/>
          <p:nvPr/>
        </p:nvSpPr>
        <p:spPr>
          <a:xfrm>
            <a:off x="5380577" y="2608276"/>
            <a:ext cx="396775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ym typeface="Symbol" panose="05050102010706020507" pitchFamily="18" charset="2"/>
              </a:rPr>
              <a:t></a:t>
            </a:r>
            <a:r>
              <a:rPr lang="zh-CN" altLang="en-US" sz="2800" dirty="0"/>
              <a:t>和</a:t>
            </a:r>
            <a:r>
              <a:rPr lang="zh-CN" altLang="en-US" sz="2800" dirty="0">
                <a:sym typeface="Symbol" panose="05050102010706020507" pitchFamily="18" charset="2"/>
              </a:rPr>
              <a:t></a:t>
            </a:r>
            <a:r>
              <a:rPr lang="zh-CN" altLang="en-US" sz="2800" dirty="0"/>
              <a:t>都不满足消去律。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B6835DB-C09A-4349-9945-B1F4861AC233}"/>
              </a:ext>
            </a:extLst>
          </p:cNvPr>
          <p:cNvSpPr/>
          <p:nvPr/>
        </p:nvSpPr>
        <p:spPr>
          <a:xfrm>
            <a:off x="1237813" y="4118377"/>
            <a:ext cx="10397716" cy="1768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dirty="0"/>
              <a:t>设</a:t>
            </a:r>
            <a:r>
              <a:rPr lang="en-US" altLang="zh-CN" sz="2400" dirty="0"/>
              <a:t>X={</a:t>
            </a:r>
            <a:r>
              <a:rPr lang="en-US" altLang="zh-CN" sz="2400" dirty="0" err="1"/>
              <a:t>a,b,c,d</a:t>
            </a:r>
            <a:r>
              <a:rPr lang="en-US" altLang="zh-CN" sz="2400" dirty="0"/>
              <a:t>}</a:t>
            </a:r>
            <a:r>
              <a:rPr lang="zh-CN" altLang="en-US" sz="2400" dirty="0"/>
              <a:t>，</a:t>
            </a:r>
            <a:r>
              <a:rPr lang="en-US" altLang="zh-CN" sz="2400" dirty="0"/>
              <a:t>S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={</a:t>
            </a:r>
            <a:r>
              <a:rPr lang="en-US" altLang="zh-CN" sz="2400" dirty="0" err="1"/>
              <a:t>a,b</a:t>
            </a:r>
            <a:r>
              <a:rPr lang="en-US" altLang="zh-CN" sz="2400" dirty="0"/>
              <a:t>}, S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={</a:t>
            </a:r>
            <a:r>
              <a:rPr lang="en-US" altLang="zh-CN" sz="2400" dirty="0" err="1"/>
              <a:t>b,c</a:t>
            </a:r>
            <a:r>
              <a:rPr lang="en-US" altLang="zh-CN" sz="2400" dirty="0"/>
              <a:t>}, S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={b}, S</a:t>
            </a:r>
            <a:r>
              <a:rPr lang="en-US" altLang="zh-CN" sz="2400" baseline="-25000" dirty="0"/>
              <a:t>4</a:t>
            </a:r>
            <a:r>
              <a:rPr lang="en-US" altLang="zh-CN" sz="2400" dirty="0"/>
              <a:t> ={</a:t>
            </a:r>
            <a:r>
              <a:rPr lang="en-US" altLang="zh-CN" sz="2400" dirty="0" err="1"/>
              <a:t>a,b,c</a:t>
            </a:r>
            <a:r>
              <a:rPr lang="en-US" altLang="zh-CN" sz="2400" dirty="0"/>
              <a:t>}</a:t>
            </a:r>
            <a:r>
              <a:rPr lang="zh-CN" altLang="en-US" sz="2400" dirty="0"/>
              <a:t>，   则</a:t>
            </a:r>
            <a:r>
              <a:rPr lang="en-US" altLang="zh-CN" sz="2400" dirty="0"/>
              <a:t>S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 S</a:t>
            </a:r>
            <a:r>
              <a:rPr lang="en-US" altLang="zh-CN" sz="2400" baseline="-25000" dirty="0"/>
              <a:t>2 </a:t>
            </a:r>
            <a:r>
              <a:rPr lang="en-US" altLang="zh-CN" sz="2400" dirty="0"/>
              <a:t>S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, S</a:t>
            </a:r>
            <a:r>
              <a:rPr lang="en-US" altLang="zh-CN" sz="2400" baseline="-25000" dirty="0"/>
              <a:t>4</a:t>
            </a:r>
            <a:r>
              <a:rPr lang="en-US" altLang="zh-CN" sz="2400" dirty="0">
                <a:sym typeface="Symbol" panose="05050102010706020507" pitchFamily="18" charset="2"/>
              </a:rPr>
              <a:t>2</a:t>
            </a:r>
            <a:r>
              <a:rPr lang="en-US" altLang="zh-CN" sz="2400" baseline="30000" dirty="0">
                <a:sym typeface="Symbol" panose="05050102010706020507" pitchFamily="18" charset="2"/>
              </a:rPr>
              <a:t>X </a:t>
            </a:r>
            <a:r>
              <a:rPr lang="zh-CN" altLang="en-US" sz="2400" dirty="0"/>
              <a:t>。</a:t>
            </a:r>
          </a:p>
          <a:p>
            <a:pPr algn="just">
              <a:lnSpc>
                <a:spcPct val="150000"/>
              </a:lnSpc>
              <a:spcBef>
                <a:spcPct val="10000"/>
              </a:spcBef>
            </a:pPr>
            <a:r>
              <a:rPr lang="zh-CN" altLang="en-US" sz="2400" dirty="0"/>
              <a:t>    由于 </a:t>
            </a:r>
            <a:r>
              <a:rPr lang="en-US" altLang="zh-CN" sz="2400" dirty="0"/>
              <a:t>S</a:t>
            </a:r>
            <a:r>
              <a:rPr lang="en-US" altLang="zh-CN" sz="2400" baseline="-25000" dirty="0"/>
              <a:t>1 </a:t>
            </a:r>
            <a:r>
              <a:rPr lang="en-US" altLang="zh-CN" sz="2400" dirty="0">
                <a:sym typeface="Symbol" panose="05050102010706020507" pitchFamily="18" charset="2"/>
              </a:rPr>
              <a:t></a:t>
            </a:r>
            <a:r>
              <a:rPr lang="en-US" altLang="zh-CN" sz="2400" baseline="-25000" dirty="0"/>
              <a:t> </a:t>
            </a:r>
            <a:r>
              <a:rPr lang="en-US" altLang="zh-CN" sz="2400" dirty="0"/>
              <a:t>S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 ={b}= S</a:t>
            </a:r>
            <a:r>
              <a:rPr lang="en-US" altLang="zh-CN" sz="2400" baseline="-25000" dirty="0"/>
              <a:t>2 </a:t>
            </a:r>
            <a:r>
              <a:rPr lang="en-US" altLang="zh-CN" sz="2400" dirty="0">
                <a:sym typeface="Symbol" panose="05050102010706020507" pitchFamily="18" charset="2"/>
              </a:rPr>
              <a:t></a:t>
            </a:r>
            <a:r>
              <a:rPr lang="en-US" altLang="zh-CN" sz="2400" baseline="-25000" dirty="0"/>
              <a:t> </a:t>
            </a:r>
            <a:r>
              <a:rPr lang="en-US" altLang="zh-CN" sz="2400" dirty="0"/>
              <a:t>S</a:t>
            </a:r>
            <a:r>
              <a:rPr lang="en-US" altLang="zh-CN" sz="2400" baseline="-25000" dirty="0"/>
              <a:t>3</a:t>
            </a:r>
            <a:r>
              <a:rPr lang="zh-CN" altLang="en-US" sz="2400" dirty="0"/>
              <a:t>，但</a:t>
            </a:r>
            <a:r>
              <a:rPr lang="en-US" altLang="zh-CN" sz="2400" dirty="0"/>
              <a:t>S</a:t>
            </a:r>
            <a:r>
              <a:rPr lang="en-US" altLang="zh-CN" sz="2400" baseline="-25000" dirty="0"/>
              <a:t>1 </a:t>
            </a:r>
            <a:r>
              <a:rPr lang="en-US" altLang="zh-CN" sz="2400" dirty="0">
                <a:sym typeface="Symbol" panose="05050102010706020507" pitchFamily="18" charset="2"/>
              </a:rPr>
              <a:t></a:t>
            </a:r>
            <a:r>
              <a:rPr lang="en-US" altLang="zh-CN" sz="2400" baseline="-25000" dirty="0"/>
              <a:t> </a:t>
            </a:r>
            <a:r>
              <a:rPr lang="en-US" altLang="zh-CN" sz="2400" dirty="0"/>
              <a:t>S</a:t>
            </a:r>
            <a:r>
              <a:rPr lang="en-US" altLang="zh-CN" sz="2400" baseline="-25000" dirty="0"/>
              <a:t>2</a:t>
            </a:r>
            <a:r>
              <a:rPr lang="zh-CN" altLang="en-US" sz="2400" dirty="0"/>
              <a:t>，故</a:t>
            </a:r>
            <a:r>
              <a:rPr lang="zh-CN" altLang="en-US" sz="2400" dirty="0">
                <a:sym typeface="Symbol" panose="05050102010706020507" pitchFamily="18" charset="2"/>
              </a:rPr>
              <a:t></a:t>
            </a:r>
            <a:r>
              <a:rPr lang="zh-CN" altLang="en-US" sz="2400" dirty="0"/>
              <a:t>不满足消去律。</a:t>
            </a:r>
          </a:p>
          <a:p>
            <a:pPr algn="just">
              <a:lnSpc>
                <a:spcPct val="150000"/>
              </a:lnSpc>
              <a:spcBef>
                <a:spcPct val="10000"/>
              </a:spcBef>
            </a:pPr>
            <a:r>
              <a:rPr lang="zh-CN" altLang="en-US" sz="2400" dirty="0"/>
              <a:t>    由于 </a:t>
            </a:r>
            <a:r>
              <a:rPr lang="en-US" altLang="zh-CN" sz="2400" dirty="0"/>
              <a:t>S</a:t>
            </a:r>
            <a:r>
              <a:rPr lang="en-US" altLang="zh-CN" sz="2400" baseline="-25000" dirty="0"/>
              <a:t>1 </a:t>
            </a:r>
            <a:r>
              <a:rPr lang="en-US" altLang="zh-CN" sz="2400" dirty="0">
                <a:sym typeface="Symbol" panose="05050102010706020507" pitchFamily="18" charset="2"/>
              </a:rPr>
              <a:t></a:t>
            </a:r>
            <a:r>
              <a:rPr lang="en-US" altLang="zh-CN" sz="2400" dirty="0"/>
              <a:t> S</a:t>
            </a:r>
            <a:r>
              <a:rPr lang="en-US" altLang="zh-CN" sz="2400" baseline="-25000" dirty="0"/>
              <a:t>4</a:t>
            </a:r>
            <a:r>
              <a:rPr lang="en-US" altLang="zh-CN" sz="2400" dirty="0"/>
              <a:t>={</a:t>
            </a:r>
            <a:r>
              <a:rPr lang="en-US" altLang="zh-CN" sz="2400" dirty="0" err="1"/>
              <a:t>a,b,c</a:t>
            </a:r>
            <a:r>
              <a:rPr lang="en-US" altLang="zh-CN" sz="2400" dirty="0"/>
              <a:t>}= S</a:t>
            </a:r>
            <a:r>
              <a:rPr lang="en-US" altLang="zh-CN" sz="2400" baseline="-25000" dirty="0"/>
              <a:t>2 </a:t>
            </a:r>
            <a:r>
              <a:rPr lang="en-US" altLang="zh-CN" sz="2400" dirty="0">
                <a:sym typeface="Symbol" panose="05050102010706020507" pitchFamily="18" charset="2"/>
              </a:rPr>
              <a:t></a:t>
            </a:r>
            <a:r>
              <a:rPr lang="en-US" altLang="zh-CN" sz="2400" dirty="0"/>
              <a:t> S</a:t>
            </a:r>
            <a:r>
              <a:rPr lang="en-US" altLang="zh-CN" sz="2400" baseline="-25000" dirty="0"/>
              <a:t>4</a:t>
            </a:r>
            <a:r>
              <a:rPr lang="en-US" altLang="zh-CN" sz="2400" dirty="0"/>
              <a:t> </a:t>
            </a:r>
            <a:r>
              <a:rPr lang="zh-CN" altLang="en-US" sz="2400" dirty="0"/>
              <a:t>，但</a:t>
            </a:r>
            <a:r>
              <a:rPr lang="en-US" altLang="zh-CN" sz="2400" dirty="0"/>
              <a:t>S</a:t>
            </a:r>
            <a:r>
              <a:rPr lang="en-US" altLang="zh-CN" sz="2400" baseline="-25000" dirty="0"/>
              <a:t>1 </a:t>
            </a:r>
            <a:r>
              <a:rPr lang="en-US" altLang="zh-CN" sz="2400" dirty="0">
                <a:sym typeface="Symbol" panose="05050102010706020507" pitchFamily="18" charset="2"/>
              </a:rPr>
              <a:t></a:t>
            </a:r>
            <a:r>
              <a:rPr lang="en-US" altLang="zh-CN" sz="2400" baseline="-25000" dirty="0"/>
              <a:t> </a:t>
            </a:r>
            <a:r>
              <a:rPr lang="en-US" altLang="zh-CN" sz="2400" dirty="0"/>
              <a:t>S</a:t>
            </a:r>
            <a:r>
              <a:rPr lang="en-US" altLang="zh-CN" sz="2400" baseline="-25000" dirty="0"/>
              <a:t>2</a:t>
            </a:r>
            <a:r>
              <a:rPr lang="zh-CN" altLang="en-US" sz="2400" dirty="0"/>
              <a:t>，故</a:t>
            </a:r>
            <a:r>
              <a:rPr lang="zh-CN" altLang="en-US" sz="2400" dirty="0">
                <a:sym typeface="Symbol" panose="05050102010706020507" pitchFamily="18" charset="2"/>
              </a:rPr>
              <a:t></a:t>
            </a:r>
            <a:r>
              <a:rPr lang="zh-CN" altLang="en-US" sz="2400" dirty="0"/>
              <a:t>不满足消去律。</a:t>
            </a:r>
          </a:p>
        </p:txBody>
      </p:sp>
    </p:spTree>
    <p:extLst>
      <p:ext uri="{BB962C8B-B14F-4D97-AF65-F5344CB8AC3E}">
        <p14:creationId xmlns:p14="http://schemas.microsoft.com/office/powerpoint/2010/main" val="3598237357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1D55F2-8F14-4644-8D00-9ED4CF89317A}"/>
              </a:ext>
            </a:extLst>
          </p:cNvPr>
          <p:cNvSpPr txBox="1">
            <a:spLocks noChangeArrowheads="1"/>
          </p:cNvSpPr>
          <p:nvPr/>
        </p:nvSpPr>
        <p:spPr>
          <a:xfrm>
            <a:off x="1571625" y="829811"/>
            <a:ext cx="7620000" cy="57912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endParaRPr lang="en-US" altLang="zh-CN" sz="1400" dirty="0"/>
          </a:p>
          <a:p>
            <a:pPr marL="0" indent="0" fontAlgn="t"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C00000"/>
                </a:solidFill>
                <a:latin typeface="宋体" panose="02010600030101010101" pitchFamily="2" charset="-122"/>
              </a:rPr>
              <a:t>分配律</a:t>
            </a:r>
            <a:r>
              <a:rPr lang="en-US" altLang="zh-CN" sz="2400" dirty="0">
                <a:solidFill>
                  <a:srgbClr val="C00000"/>
                </a:solidFill>
              </a:rPr>
              <a:t>(distributive law)</a:t>
            </a:r>
            <a:endParaRPr lang="en-US" altLang="zh-CN" sz="2400" b="1" dirty="0">
              <a:solidFill>
                <a:srgbClr val="C00000"/>
              </a:solidFill>
            </a:endParaRPr>
          </a:p>
          <a:p>
            <a:pPr marL="0" indent="0" fontAlgn="t">
              <a:buFont typeface="Wingdings" panose="05000000000000000000" pitchFamily="2" charset="2"/>
              <a:buNone/>
            </a:pPr>
            <a:r>
              <a:rPr lang="en-US" altLang="zh-CN" sz="2400" dirty="0">
                <a:latin typeface="宋体" panose="02010600030101010101" pitchFamily="2" charset="-122"/>
              </a:rPr>
              <a:t>  </a:t>
            </a:r>
            <a:r>
              <a:rPr lang="zh-CN" altLang="en-US" sz="2400" dirty="0">
                <a:latin typeface="宋体" panose="02010600030101010101" pitchFamily="2" charset="-122"/>
              </a:rPr>
              <a:t>设</a:t>
            </a:r>
            <a:r>
              <a:rPr lang="en-US" altLang="zh-CN" sz="2400" dirty="0">
                <a:latin typeface="宋体" panose="02010600030101010101" pitchFamily="2" charset="-122"/>
              </a:rPr>
              <a:t>(</a:t>
            </a:r>
            <a:r>
              <a:rPr lang="en-US" altLang="zh-CN" sz="2400" dirty="0">
                <a:sym typeface="Symbol" panose="05050102010706020507" pitchFamily="18" charset="2"/>
              </a:rPr>
              <a:t>X,</a:t>
            </a:r>
            <a:r>
              <a:rPr lang="en-US" altLang="zh-CN" sz="2400" dirty="0">
                <a:latin typeface="宋体" panose="02010600030101010101" pitchFamily="2" charset="-122"/>
              </a:rPr>
              <a:t>*,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</a:t>
            </a:r>
            <a:r>
              <a:rPr lang="en-US" altLang="zh-CN" sz="2400" dirty="0">
                <a:latin typeface="宋体" panose="02010600030101010101" pitchFamily="2" charset="-122"/>
              </a:rPr>
              <a:t>)</a:t>
            </a:r>
            <a:r>
              <a:rPr lang="zh-CN" altLang="en-US" sz="2400" dirty="0">
                <a:latin typeface="宋体" panose="02010600030101010101" pitchFamily="2" charset="-122"/>
              </a:rPr>
              <a:t>是代数系统，*和</a:t>
            </a:r>
            <a:r>
              <a:rPr lang="zh-CN" altLang="en-US" sz="2400" dirty="0">
                <a:latin typeface="宋体" panose="02010600030101010101" pitchFamily="2" charset="-122"/>
                <a:sym typeface="Symbol" panose="05050102010706020507" pitchFamily="18" charset="2"/>
              </a:rPr>
              <a:t></a:t>
            </a:r>
            <a:r>
              <a:rPr lang="zh-CN" altLang="en-US" sz="2400" dirty="0">
                <a:latin typeface="宋体" panose="02010600030101010101" pitchFamily="2" charset="-122"/>
              </a:rPr>
              <a:t>是</a:t>
            </a:r>
            <a:r>
              <a:rPr lang="en-US" altLang="zh-CN" sz="2400" dirty="0">
                <a:sym typeface="Symbol" panose="05050102010706020507" pitchFamily="18" charset="2"/>
              </a:rPr>
              <a:t>X</a:t>
            </a:r>
            <a:r>
              <a:rPr lang="zh-CN" altLang="en-US" sz="2400" dirty="0">
                <a:latin typeface="宋体" panose="02010600030101010101" pitchFamily="2" charset="-122"/>
              </a:rPr>
              <a:t>上的两个二元运算。</a:t>
            </a:r>
            <a:endParaRPr lang="zh-CN" altLang="en-US" sz="2400" dirty="0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宋体" panose="02010600030101010101" pitchFamily="2" charset="-122"/>
                <a:sym typeface="Symbol" panose="05050102010706020507" pitchFamily="18" charset="2"/>
              </a:rPr>
              <a:t>   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(1)</a:t>
            </a:r>
            <a:r>
              <a:rPr lang="zh-CN" altLang="en-US" sz="2400" dirty="0">
                <a:latin typeface="宋体" panose="02010600030101010101" pitchFamily="2" charset="-122"/>
              </a:rPr>
              <a:t>称*运算对</a:t>
            </a:r>
            <a:r>
              <a:rPr lang="zh-CN" altLang="en-US" sz="2400" dirty="0">
                <a:latin typeface="宋体" panose="02010600030101010101" pitchFamily="2" charset="-122"/>
                <a:sym typeface="Symbol" panose="05050102010706020507" pitchFamily="18" charset="2"/>
              </a:rPr>
              <a:t></a:t>
            </a:r>
            <a:r>
              <a:rPr lang="zh-CN" altLang="en-US" sz="2400" dirty="0">
                <a:latin typeface="宋体" panose="02010600030101010101" pitchFamily="2" charset="-122"/>
              </a:rPr>
              <a:t>运算满足分配律</a:t>
            </a:r>
            <a:r>
              <a:rPr lang="zh-CN" altLang="en-US" sz="2400" dirty="0">
                <a:sym typeface="Symbol" panose="05050102010706020507" pitchFamily="18" charset="2"/>
              </a:rPr>
              <a:t></a:t>
            </a: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zh-CN" altLang="en-US" sz="2400" dirty="0"/>
              <a:t>          </a:t>
            </a:r>
            <a:r>
              <a:rPr lang="en-US" altLang="zh-CN" sz="2400" dirty="0"/>
              <a:t>a) (</a:t>
            </a:r>
            <a:r>
              <a:rPr lang="en-US" altLang="zh-CN" sz="2400" dirty="0">
                <a:sym typeface="Symbol" panose="05050102010706020507" pitchFamily="18" charset="2"/>
              </a:rPr>
              <a:t></a:t>
            </a:r>
            <a:r>
              <a:rPr lang="en-US" altLang="zh-CN" sz="2400" i="1" dirty="0" err="1">
                <a:sym typeface="Symbol" panose="05050102010706020507" pitchFamily="18" charset="2"/>
              </a:rPr>
              <a:t>x</a:t>
            </a:r>
            <a:r>
              <a:rPr lang="en-US" altLang="zh-CN" sz="2400" dirty="0" err="1">
                <a:sym typeface="Symbol" panose="05050102010706020507" pitchFamily="18" charset="2"/>
              </a:rPr>
              <a:t>X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  <a:r>
              <a:rPr lang="en-US" altLang="zh-CN" sz="2400" dirty="0"/>
              <a:t>(</a:t>
            </a:r>
            <a:r>
              <a:rPr lang="en-US" altLang="zh-CN" sz="2400" dirty="0">
                <a:sym typeface="Symbol" panose="05050102010706020507" pitchFamily="18" charset="2"/>
              </a:rPr>
              <a:t></a:t>
            </a:r>
            <a:r>
              <a:rPr lang="en-US" altLang="zh-CN" sz="2400" i="1" dirty="0" err="1">
                <a:sym typeface="Symbol" panose="05050102010706020507" pitchFamily="18" charset="2"/>
              </a:rPr>
              <a:t>y</a:t>
            </a:r>
            <a:r>
              <a:rPr lang="en-US" altLang="zh-CN" sz="2400" dirty="0" err="1">
                <a:sym typeface="Symbol" panose="05050102010706020507" pitchFamily="18" charset="2"/>
              </a:rPr>
              <a:t>X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  <a:r>
              <a:rPr lang="en-US" altLang="zh-CN" sz="2400" dirty="0"/>
              <a:t>(</a:t>
            </a:r>
            <a:r>
              <a:rPr lang="en-US" altLang="zh-CN" sz="2400" dirty="0">
                <a:sym typeface="Symbol" panose="05050102010706020507" pitchFamily="18" charset="2"/>
              </a:rPr>
              <a:t></a:t>
            </a:r>
            <a:r>
              <a:rPr lang="en-US" altLang="zh-CN" sz="2400" i="1" dirty="0" err="1">
                <a:sym typeface="Symbol" panose="05050102010706020507" pitchFamily="18" charset="2"/>
              </a:rPr>
              <a:t>z</a:t>
            </a:r>
            <a:r>
              <a:rPr lang="en-US" altLang="zh-CN" sz="2400" dirty="0" err="1">
                <a:sym typeface="Symbol" panose="05050102010706020507" pitchFamily="18" charset="2"/>
              </a:rPr>
              <a:t>X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                           (</a:t>
            </a:r>
            <a:r>
              <a:rPr lang="en-US" altLang="zh-CN" sz="2400" i="1" dirty="0">
                <a:sym typeface="Symbol" panose="05050102010706020507" pitchFamily="18" charset="2"/>
              </a:rPr>
              <a:t>x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 (</a:t>
            </a:r>
            <a:r>
              <a:rPr lang="en-US" altLang="zh-CN" sz="2400" dirty="0"/>
              <a:t> </a:t>
            </a:r>
            <a:r>
              <a:rPr lang="en-US" altLang="zh-CN" sz="2400" i="1" dirty="0">
                <a:sym typeface="Symbol" panose="05050102010706020507" pitchFamily="18" charset="2"/>
              </a:rPr>
              <a:t>y 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</a:t>
            </a:r>
            <a:r>
              <a:rPr lang="en-US" altLang="zh-CN" sz="2400" i="1" dirty="0">
                <a:sym typeface="Symbol" panose="05050102010706020507" pitchFamily="18" charset="2"/>
              </a:rPr>
              <a:t> z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  <a:r>
              <a:rPr lang="en-US" altLang="zh-CN" sz="2400" dirty="0"/>
              <a:t> = </a:t>
            </a:r>
            <a:r>
              <a:rPr lang="en-US" altLang="zh-CN" sz="2400" dirty="0">
                <a:sym typeface="Symbol" panose="05050102010706020507" pitchFamily="18" charset="2"/>
              </a:rPr>
              <a:t>(</a:t>
            </a:r>
            <a:r>
              <a:rPr lang="en-US" altLang="zh-CN" sz="2400" dirty="0"/>
              <a:t> </a:t>
            </a:r>
            <a:r>
              <a:rPr lang="en-US" altLang="zh-CN" sz="2400" i="1" dirty="0">
                <a:sym typeface="Symbol" panose="05050102010706020507" pitchFamily="18" charset="2"/>
              </a:rPr>
              <a:t>x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</a:t>
            </a:r>
            <a:r>
              <a:rPr lang="en-US" altLang="zh-CN" sz="2400" dirty="0"/>
              <a:t> </a:t>
            </a:r>
            <a:r>
              <a:rPr lang="en-US" altLang="zh-CN" sz="2400" i="1" dirty="0">
                <a:sym typeface="Symbol" panose="05050102010706020507" pitchFamily="18" charset="2"/>
              </a:rPr>
              <a:t>y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) 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</a:t>
            </a:r>
            <a:r>
              <a:rPr lang="en-US" altLang="zh-CN" sz="2400" dirty="0">
                <a:sym typeface="Symbol" panose="05050102010706020507" pitchFamily="18" charset="2"/>
              </a:rPr>
              <a:t>(</a:t>
            </a:r>
            <a:r>
              <a:rPr lang="en-US" altLang="zh-CN" sz="2400" i="1" dirty="0">
                <a:sym typeface="Symbol" panose="05050102010706020507" pitchFamily="18" charset="2"/>
              </a:rPr>
              <a:t>x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</a:t>
            </a:r>
            <a:r>
              <a:rPr lang="en-US" altLang="zh-CN" sz="2400" dirty="0"/>
              <a:t> </a:t>
            </a:r>
            <a:r>
              <a:rPr lang="en-US" altLang="zh-CN" sz="2400" i="1" dirty="0">
                <a:sym typeface="Symbol" panose="05050102010706020507" pitchFamily="18" charset="2"/>
              </a:rPr>
              <a:t>z </a:t>
            </a:r>
            <a:r>
              <a:rPr lang="en-US" altLang="zh-CN" sz="2400" dirty="0">
                <a:sym typeface="Symbol" panose="05050102010706020507" pitchFamily="18" charset="2"/>
              </a:rPr>
              <a:t>))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 </a:t>
            </a: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en-US" altLang="zh-CN" sz="2400" dirty="0"/>
              <a:t>          b) (</a:t>
            </a:r>
            <a:r>
              <a:rPr lang="en-US" altLang="zh-CN" sz="2400" dirty="0">
                <a:sym typeface="Symbol" panose="05050102010706020507" pitchFamily="18" charset="2"/>
              </a:rPr>
              <a:t></a:t>
            </a:r>
            <a:r>
              <a:rPr lang="en-US" altLang="zh-CN" sz="2400" i="1" dirty="0" err="1">
                <a:sym typeface="Symbol" panose="05050102010706020507" pitchFamily="18" charset="2"/>
              </a:rPr>
              <a:t>x</a:t>
            </a:r>
            <a:r>
              <a:rPr lang="en-US" altLang="zh-CN" sz="2400" dirty="0" err="1">
                <a:sym typeface="Symbol" panose="05050102010706020507" pitchFamily="18" charset="2"/>
              </a:rPr>
              <a:t>X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  <a:r>
              <a:rPr lang="en-US" altLang="zh-CN" sz="2400" dirty="0"/>
              <a:t>(</a:t>
            </a:r>
            <a:r>
              <a:rPr lang="en-US" altLang="zh-CN" sz="2400" dirty="0">
                <a:sym typeface="Symbol" panose="05050102010706020507" pitchFamily="18" charset="2"/>
              </a:rPr>
              <a:t></a:t>
            </a:r>
            <a:r>
              <a:rPr lang="en-US" altLang="zh-CN" sz="2400" i="1" dirty="0" err="1">
                <a:sym typeface="Symbol" panose="05050102010706020507" pitchFamily="18" charset="2"/>
              </a:rPr>
              <a:t>y</a:t>
            </a:r>
            <a:r>
              <a:rPr lang="en-US" altLang="zh-CN" sz="2400" dirty="0" err="1">
                <a:sym typeface="Symbol" panose="05050102010706020507" pitchFamily="18" charset="2"/>
              </a:rPr>
              <a:t>X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  <a:r>
              <a:rPr lang="en-US" altLang="zh-CN" sz="2400" dirty="0"/>
              <a:t>(</a:t>
            </a:r>
            <a:r>
              <a:rPr lang="en-US" altLang="zh-CN" sz="2400" dirty="0">
                <a:sym typeface="Symbol" panose="05050102010706020507" pitchFamily="18" charset="2"/>
              </a:rPr>
              <a:t></a:t>
            </a:r>
            <a:r>
              <a:rPr lang="en-US" altLang="zh-CN" sz="2400" i="1" dirty="0" err="1">
                <a:sym typeface="Symbol" panose="05050102010706020507" pitchFamily="18" charset="2"/>
              </a:rPr>
              <a:t>z</a:t>
            </a:r>
            <a:r>
              <a:rPr lang="en-US" altLang="zh-CN" sz="2400" dirty="0" err="1">
                <a:sym typeface="Symbol" panose="05050102010706020507" pitchFamily="18" charset="2"/>
              </a:rPr>
              <a:t>X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                           (</a:t>
            </a:r>
            <a:r>
              <a:rPr lang="en-US" altLang="zh-CN" sz="2400" i="1" dirty="0"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(</a:t>
            </a:r>
            <a:r>
              <a:rPr lang="en-US" altLang="zh-CN" sz="2400" dirty="0"/>
              <a:t> </a:t>
            </a:r>
            <a:r>
              <a:rPr lang="en-US" altLang="zh-CN" sz="2400" i="1" dirty="0">
                <a:sym typeface="Symbol" panose="05050102010706020507" pitchFamily="18" charset="2"/>
              </a:rPr>
              <a:t>y 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</a:t>
            </a:r>
            <a:r>
              <a:rPr lang="en-US" altLang="zh-CN" sz="2400" i="1" dirty="0">
                <a:sym typeface="Symbol" panose="05050102010706020507" pitchFamily="18" charset="2"/>
              </a:rPr>
              <a:t> z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) </a:t>
            </a:r>
            <a:r>
              <a:rPr lang="en-US" altLang="zh-CN" sz="2400" dirty="0"/>
              <a:t> </a:t>
            </a:r>
            <a:r>
              <a:rPr lang="en-US" altLang="zh-CN" sz="2400" i="1" dirty="0">
                <a:sym typeface="Symbol" panose="05050102010706020507" pitchFamily="18" charset="2"/>
              </a:rPr>
              <a:t>x</a:t>
            </a:r>
            <a:r>
              <a:rPr lang="en-US" altLang="zh-CN" sz="2400" dirty="0"/>
              <a:t> = </a:t>
            </a:r>
            <a:r>
              <a:rPr lang="en-US" altLang="zh-CN" sz="2400" dirty="0">
                <a:sym typeface="Symbol" panose="05050102010706020507" pitchFamily="18" charset="2"/>
              </a:rPr>
              <a:t>(</a:t>
            </a:r>
            <a:r>
              <a:rPr lang="en-US" altLang="zh-CN" sz="2400" dirty="0"/>
              <a:t> </a:t>
            </a:r>
            <a:r>
              <a:rPr lang="en-US" altLang="zh-CN" sz="2400" i="1" dirty="0">
                <a:sym typeface="Symbol" panose="05050102010706020507" pitchFamily="18" charset="2"/>
              </a:rPr>
              <a:t>y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</a:t>
            </a:r>
            <a:r>
              <a:rPr lang="en-US" altLang="zh-CN" sz="2400" dirty="0"/>
              <a:t> </a:t>
            </a:r>
            <a:r>
              <a:rPr lang="en-US" altLang="zh-CN" sz="2400" i="1" dirty="0">
                <a:sym typeface="Symbol" panose="05050102010706020507" pitchFamily="18" charset="2"/>
              </a:rPr>
              <a:t>x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) 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</a:t>
            </a:r>
            <a:r>
              <a:rPr lang="en-US" altLang="zh-CN" sz="2400" dirty="0">
                <a:sym typeface="Symbol" panose="05050102010706020507" pitchFamily="18" charset="2"/>
              </a:rPr>
              <a:t>(</a:t>
            </a:r>
            <a:r>
              <a:rPr lang="en-US" altLang="zh-CN" sz="2400" i="1" dirty="0">
                <a:sym typeface="Symbol" panose="05050102010706020507" pitchFamily="18" charset="2"/>
              </a:rPr>
              <a:t>z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</a:t>
            </a:r>
            <a:r>
              <a:rPr lang="en-US" altLang="zh-CN" sz="2400" dirty="0"/>
              <a:t> </a:t>
            </a:r>
            <a:r>
              <a:rPr lang="en-US" altLang="zh-CN" sz="2400" i="1" dirty="0">
                <a:sym typeface="Symbol" panose="05050102010706020507" pitchFamily="18" charset="2"/>
              </a:rPr>
              <a:t>x </a:t>
            </a:r>
            <a:r>
              <a:rPr lang="en-US" altLang="zh-CN" sz="2400" dirty="0">
                <a:sym typeface="Symbol" panose="05050102010706020507" pitchFamily="18" charset="2"/>
              </a:rPr>
              <a:t>))</a:t>
            </a:r>
            <a:r>
              <a:rPr lang="zh-CN" altLang="en-US" sz="2400" dirty="0">
                <a:sym typeface="Symbol" panose="05050102010706020507" pitchFamily="18" charset="2"/>
              </a:rPr>
              <a:t>；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   </a:t>
            </a:r>
            <a:r>
              <a:rPr lang="en-US" altLang="zh-CN" sz="2400" dirty="0">
                <a:latin typeface="宋体" panose="02010600030101010101" pitchFamily="2" charset="-122"/>
              </a:rPr>
              <a:t>(2)</a:t>
            </a:r>
            <a:r>
              <a:rPr lang="zh-CN" altLang="en-US" sz="2400" dirty="0">
                <a:latin typeface="宋体" panose="02010600030101010101" pitchFamily="2" charset="-122"/>
              </a:rPr>
              <a:t>称运算</a:t>
            </a:r>
            <a:r>
              <a:rPr lang="zh-CN" altLang="en-US" sz="2400" dirty="0">
                <a:latin typeface="宋体" panose="02010600030101010101" pitchFamily="2" charset="-122"/>
                <a:sym typeface="Symbol" panose="05050102010706020507" pitchFamily="18" charset="2"/>
              </a:rPr>
              <a:t></a:t>
            </a:r>
            <a:r>
              <a:rPr lang="zh-CN" altLang="en-US" sz="2400" dirty="0">
                <a:latin typeface="宋体" panose="02010600030101010101" pitchFamily="2" charset="-122"/>
              </a:rPr>
              <a:t>对运算*满足分配律</a:t>
            </a:r>
            <a:r>
              <a:rPr lang="zh-CN" altLang="en-US" sz="2400" dirty="0">
                <a:sym typeface="Symbol" panose="05050102010706020507" pitchFamily="18" charset="2"/>
              </a:rPr>
              <a:t></a:t>
            </a: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zh-CN" altLang="en-US" sz="2400" dirty="0"/>
              <a:t>          </a:t>
            </a:r>
            <a:r>
              <a:rPr lang="en-US" altLang="zh-CN" sz="2400" dirty="0"/>
              <a:t>a) (</a:t>
            </a:r>
            <a:r>
              <a:rPr lang="en-US" altLang="zh-CN" sz="2400" dirty="0">
                <a:sym typeface="Symbol" panose="05050102010706020507" pitchFamily="18" charset="2"/>
              </a:rPr>
              <a:t></a:t>
            </a:r>
            <a:r>
              <a:rPr lang="en-US" altLang="zh-CN" sz="2400" i="1" dirty="0" err="1">
                <a:sym typeface="Symbol" panose="05050102010706020507" pitchFamily="18" charset="2"/>
              </a:rPr>
              <a:t>x</a:t>
            </a:r>
            <a:r>
              <a:rPr lang="en-US" altLang="zh-CN" sz="2400" dirty="0" err="1">
                <a:sym typeface="Symbol" panose="05050102010706020507" pitchFamily="18" charset="2"/>
              </a:rPr>
              <a:t>X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  <a:r>
              <a:rPr lang="en-US" altLang="zh-CN" sz="2400" dirty="0"/>
              <a:t>(</a:t>
            </a:r>
            <a:r>
              <a:rPr lang="en-US" altLang="zh-CN" sz="2400" dirty="0">
                <a:sym typeface="Symbol" panose="05050102010706020507" pitchFamily="18" charset="2"/>
              </a:rPr>
              <a:t></a:t>
            </a:r>
            <a:r>
              <a:rPr lang="en-US" altLang="zh-CN" sz="2400" i="1" dirty="0" err="1">
                <a:sym typeface="Symbol" panose="05050102010706020507" pitchFamily="18" charset="2"/>
              </a:rPr>
              <a:t>y</a:t>
            </a:r>
            <a:r>
              <a:rPr lang="en-US" altLang="zh-CN" sz="2400" dirty="0" err="1">
                <a:sym typeface="Symbol" panose="05050102010706020507" pitchFamily="18" charset="2"/>
              </a:rPr>
              <a:t>X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  <a:r>
              <a:rPr lang="en-US" altLang="zh-CN" sz="2400" dirty="0"/>
              <a:t>(</a:t>
            </a:r>
            <a:r>
              <a:rPr lang="en-US" altLang="zh-CN" sz="2400" dirty="0">
                <a:sym typeface="Symbol" panose="05050102010706020507" pitchFamily="18" charset="2"/>
              </a:rPr>
              <a:t></a:t>
            </a:r>
            <a:r>
              <a:rPr lang="en-US" altLang="zh-CN" sz="2400" i="1" dirty="0" err="1">
                <a:sym typeface="Symbol" panose="05050102010706020507" pitchFamily="18" charset="2"/>
              </a:rPr>
              <a:t>z</a:t>
            </a:r>
            <a:r>
              <a:rPr lang="en-US" altLang="zh-CN" sz="2400" dirty="0" err="1">
                <a:sym typeface="Symbol" panose="05050102010706020507" pitchFamily="18" charset="2"/>
              </a:rPr>
              <a:t>X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                           (</a:t>
            </a:r>
            <a:r>
              <a:rPr lang="en-US" altLang="zh-CN" sz="2400" i="1" dirty="0">
                <a:sym typeface="Symbol" panose="05050102010706020507" pitchFamily="18" charset="2"/>
              </a:rPr>
              <a:t>x</a:t>
            </a:r>
            <a:r>
              <a:rPr lang="en-US" altLang="zh-CN" sz="2400" dirty="0"/>
              <a:t> 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</a:t>
            </a:r>
            <a:r>
              <a:rPr lang="en-US" altLang="zh-CN" sz="2400" dirty="0">
                <a:sym typeface="Symbol" panose="05050102010706020507" pitchFamily="18" charset="2"/>
              </a:rPr>
              <a:t>(</a:t>
            </a:r>
            <a:r>
              <a:rPr lang="en-US" altLang="zh-CN" sz="2400" dirty="0"/>
              <a:t> </a:t>
            </a:r>
            <a:r>
              <a:rPr lang="en-US" altLang="zh-CN" sz="2400" i="1" dirty="0">
                <a:sym typeface="Symbol" panose="05050102010706020507" pitchFamily="18" charset="2"/>
              </a:rPr>
              <a:t>y </a:t>
            </a:r>
            <a:r>
              <a:rPr lang="en-US" altLang="zh-CN" sz="2400" dirty="0">
                <a:sym typeface="Symbol" panose="05050102010706020507" pitchFamily="18" charset="2"/>
              </a:rPr>
              <a:t></a:t>
            </a:r>
            <a:r>
              <a:rPr lang="en-US" altLang="zh-CN" sz="2400" i="1" dirty="0">
                <a:sym typeface="Symbol" panose="05050102010706020507" pitchFamily="18" charset="2"/>
              </a:rPr>
              <a:t>z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  <a:r>
              <a:rPr lang="en-US" altLang="zh-CN" sz="2400" dirty="0"/>
              <a:t> = </a:t>
            </a:r>
            <a:r>
              <a:rPr lang="en-US" altLang="zh-CN" sz="2400" dirty="0">
                <a:sym typeface="Symbol" panose="05050102010706020507" pitchFamily="18" charset="2"/>
              </a:rPr>
              <a:t>(</a:t>
            </a:r>
            <a:r>
              <a:rPr lang="en-US" altLang="zh-CN" sz="2400" dirty="0"/>
              <a:t> </a:t>
            </a:r>
            <a:r>
              <a:rPr lang="en-US" altLang="zh-CN" sz="2400" i="1" dirty="0">
                <a:sym typeface="Symbol" panose="05050102010706020507" pitchFamily="18" charset="2"/>
              </a:rPr>
              <a:t>x 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</a:t>
            </a:r>
            <a:r>
              <a:rPr lang="en-US" altLang="zh-CN" sz="2400" i="1" dirty="0">
                <a:sym typeface="Symbol" panose="05050102010706020507" pitchFamily="18" charset="2"/>
              </a:rPr>
              <a:t> y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(</a:t>
            </a:r>
            <a:r>
              <a:rPr lang="en-US" altLang="zh-CN" sz="2400" i="1" dirty="0">
                <a:sym typeface="Symbol" panose="05050102010706020507" pitchFamily="18" charset="2"/>
              </a:rPr>
              <a:t>x 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</a:t>
            </a:r>
            <a:r>
              <a:rPr lang="en-US" altLang="zh-CN" sz="2400" i="1" dirty="0">
                <a:sym typeface="Symbol" panose="05050102010706020507" pitchFamily="18" charset="2"/>
              </a:rPr>
              <a:t> z </a:t>
            </a:r>
            <a:r>
              <a:rPr lang="en-US" altLang="zh-CN" sz="2400" dirty="0">
                <a:sym typeface="Symbol" panose="05050102010706020507" pitchFamily="18" charset="2"/>
              </a:rPr>
              <a:t>))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dirty="0"/>
              <a:t>          </a:t>
            </a: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en-US" altLang="zh-CN" sz="2000" dirty="0"/>
              <a:t>            </a:t>
            </a:r>
            <a:r>
              <a:rPr lang="en-US" altLang="zh-CN" sz="2400" dirty="0"/>
              <a:t>b) (</a:t>
            </a:r>
            <a:r>
              <a:rPr lang="en-US" altLang="zh-CN" sz="2400" dirty="0">
                <a:sym typeface="Symbol" panose="05050102010706020507" pitchFamily="18" charset="2"/>
              </a:rPr>
              <a:t></a:t>
            </a:r>
            <a:r>
              <a:rPr lang="en-US" altLang="zh-CN" sz="2400" i="1" dirty="0" err="1">
                <a:sym typeface="Symbol" panose="05050102010706020507" pitchFamily="18" charset="2"/>
              </a:rPr>
              <a:t>x</a:t>
            </a:r>
            <a:r>
              <a:rPr lang="en-US" altLang="zh-CN" sz="2400" dirty="0" err="1">
                <a:sym typeface="Symbol" panose="05050102010706020507" pitchFamily="18" charset="2"/>
              </a:rPr>
              <a:t>X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  <a:r>
              <a:rPr lang="en-US" altLang="zh-CN" sz="2400" dirty="0"/>
              <a:t>(</a:t>
            </a:r>
            <a:r>
              <a:rPr lang="en-US" altLang="zh-CN" sz="2400" dirty="0">
                <a:sym typeface="Symbol" panose="05050102010706020507" pitchFamily="18" charset="2"/>
              </a:rPr>
              <a:t></a:t>
            </a:r>
            <a:r>
              <a:rPr lang="en-US" altLang="zh-CN" sz="2400" i="1" dirty="0" err="1">
                <a:sym typeface="Symbol" panose="05050102010706020507" pitchFamily="18" charset="2"/>
              </a:rPr>
              <a:t>y</a:t>
            </a:r>
            <a:r>
              <a:rPr lang="en-US" altLang="zh-CN" sz="2400" dirty="0" err="1">
                <a:sym typeface="Symbol" panose="05050102010706020507" pitchFamily="18" charset="2"/>
              </a:rPr>
              <a:t>X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  <a:r>
              <a:rPr lang="en-US" altLang="zh-CN" sz="2400" dirty="0"/>
              <a:t>(</a:t>
            </a:r>
            <a:r>
              <a:rPr lang="en-US" altLang="zh-CN" sz="2400" dirty="0">
                <a:sym typeface="Symbol" panose="05050102010706020507" pitchFamily="18" charset="2"/>
              </a:rPr>
              <a:t></a:t>
            </a:r>
            <a:r>
              <a:rPr lang="en-US" altLang="zh-CN" sz="2400" i="1" dirty="0" err="1">
                <a:sym typeface="Symbol" panose="05050102010706020507" pitchFamily="18" charset="2"/>
              </a:rPr>
              <a:t>z</a:t>
            </a:r>
            <a:r>
              <a:rPr lang="en-US" altLang="zh-CN" sz="2400" dirty="0" err="1">
                <a:sym typeface="Symbol" panose="05050102010706020507" pitchFamily="18" charset="2"/>
              </a:rPr>
              <a:t>X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                           (</a:t>
            </a:r>
            <a:r>
              <a:rPr lang="en-US" altLang="zh-CN" sz="2400" i="1" dirty="0"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(</a:t>
            </a:r>
            <a:r>
              <a:rPr lang="en-US" altLang="zh-CN" sz="2400" dirty="0"/>
              <a:t> </a:t>
            </a:r>
            <a:r>
              <a:rPr lang="en-US" altLang="zh-CN" sz="2400" i="1" dirty="0">
                <a:sym typeface="Symbol" panose="05050102010706020507" pitchFamily="18" charset="2"/>
              </a:rPr>
              <a:t>y</a:t>
            </a:r>
            <a:r>
              <a:rPr lang="en-US" altLang="zh-CN" sz="2400" dirty="0">
                <a:sym typeface="Symbol" panose="05050102010706020507" pitchFamily="18" charset="2"/>
              </a:rPr>
              <a:t> </a:t>
            </a:r>
            <a:r>
              <a:rPr lang="en-US" altLang="zh-CN" sz="2400" i="1" dirty="0">
                <a:sym typeface="Symbol" panose="05050102010706020507" pitchFamily="18" charset="2"/>
              </a:rPr>
              <a:t> z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) 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</a:t>
            </a:r>
            <a:r>
              <a:rPr lang="en-US" altLang="zh-CN" sz="2400" dirty="0"/>
              <a:t> </a:t>
            </a:r>
            <a:r>
              <a:rPr lang="en-US" altLang="zh-CN" sz="2400" i="1" dirty="0">
                <a:sym typeface="Symbol" panose="05050102010706020507" pitchFamily="18" charset="2"/>
              </a:rPr>
              <a:t>x</a:t>
            </a:r>
            <a:r>
              <a:rPr lang="en-US" altLang="zh-CN" sz="2400" dirty="0"/>
              <a:t> = </a:t>
            </a:r>
            <a:r>
              <a:rPr lang="en-US" altLang="zh-CN" sz="2400" dirty="0">
                <a:sym typeface="Symbol" panose="05050102010706020507" pitchFamily="18" charset="2"/>
              </a:rPr>
              <a:t>(</a:t>
            </a:r>
            <a:r>
              <a:rPr lang="en-US" altLang="zh-CN" sz="2400" dirty="0"/>
              <a:t> </a:t>
            </a:r>
            <a:r>
              <a:rPr lang="en-US" altLang="zh-CN" sz="2400" i="1" dirty="0">
                <a:sym typeface="Symbol" panose="05050102010706020507" pitchFamily="18" charset="2"/>
              </a:rPr>
              <a:t>y 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</a:t>
            </a:r>
            <a:r>
              <a:rPr lang="en-US" altLang="zh-CN" sz="2400" i="1" dirty="0">
                <a:sym typeface="Symbol" panose="05050102010706020507" pitchFamily="18" charset="2"/>
              </a:rPr>
              <a:t> x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(</a:t>
            </a:r>
            <a:r>
              <a:rPr lang="en-US" altLang="zh-CN" sz="2400" i="1" dirty="0">
                <a:sym typeface="Symbol" panose="05050102010706020507" pitchFamily="18" charset="2"/>
              </a:rPr>
              <a:t>z</a:t>
            </a:r>
            <a:r>
              <a:rPr lang="en-US" altLang="zh-CN" sz="2400" dirty="0"/>
              <a:t> 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</a:t>
            </a:r>
            <a:r>
              <a:rPr lang="en-US" altLang="zh-CN" sz="2400" dirty="0"/>
              <a:t> </a:t>
            </a:r>
            <a:r>
              <a:rPr lang="en-US" altLang="zh-CN" sz="2400" i="1" dirty="0">
                <a:sym typeface="Symbol" panose="05050102010706020507" pitchFamily="18" charset="2"/>
              </a:rPr>
              <a:t>x </a:t>
            </a:r>
            <a:r>
              <a:rPr lang="en-US" altLang="zh-CN" sz="2400" dirty="0">
                <a:sym typeface="Symbol" panose="05050102010706020507" pitchFamily="18" charset="2"/>
              </a:rPr>
              <a:t>)) </a:t>
            </a:r>
            <a:r>
              <a:rPr lang="zh-CN" altLang="en-US" sz="2400" dirty="0">
                <a:sym typeface="Symbol" panose="05050102010706020507" pitchFamily="18" charset="2"/>
              </a:rPr>
              <a:t>。</a:t>
            </a:r>
          </a:p>
          <a:p>
            <a:pPr marL="0" indent="0" algn="just">
              <a:buFont typeface="Wingdings" panose="05000000000000000000" pitchFamily="2" charset="2"/>
              <a:buNone/>
            </a:pP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738809241"/>
      </p:ext>
    </p:extLst>
  </p:cSld>
  <p:clrMapOvr>
    <a:masterClrMapping/>
  </p:clrMapOvr>
  <p:transition spd="slow" advTm="0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0EDEA6-514A-4821-85DE-17A4D7B84C22}"/>
              </a:ext>
            </a:extLst>
          </p:cNvPr>
          <p:cNvSpPr txBox="1">
            <a:spLocks noChangeArrowheads="1"/>
          </p:cNvSpPr>
          <p:nvPr/>
        </p:nvSpPr>
        <p:spPr>
          <a:xfrm>
            <a:off x="1751013" y="533400"/>
            <a:ext cx="7620000" cy="57912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Wingdings" panose="05000000000000000000" pitchFamily="2" charset="2"/>
              <a:buNone/>
            </a:pPr>
            <a:endParaRPr lang="en-US" altLang="zh-CN" sz="1400" dirty="0"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在代数系统</a:t>
            </a:r>
            <a:r>
              <a:rPr lang="en-US" altLang="zh-CN" sz="2400" dirty="0">
                <a:latin typeface="宋体" panose="02010600030101010101" pitchFamily="2" charset="-122"/>
              </a:rPr>
              <a:t>(I,</a:t>
            </a:r>
            <a:r>
              <a:rPr lang="en-US" altLang="zh-CN" sz="2400" dirty="0"/>
              <a:t>+</a:t>
            </a:r>
            <a:r>
              <a:rPr lang="en-US" altLang="zh-CN" sz="2400" dirty="0">
                <a:latin typeface="宋体" panose="02010600030101010101" pitchFamily="2" charset="-122"/>
              </a:rPr>
              <a:t>,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 sz="2400" dirty="0">
                <a:latin typeface="宋体" panose="02010600030101010101" pitchFamily="2" charset="-122"/>
              </a:rPr>
              <a:t>)</a:t>
            </a:r>
            <a:r>
              <a:rPr lang="zh-CN" altLang="en-US" sz="2400" dirty="0">
                <a:latin typeface="宋体" panose="02010600030101010101" pitchFamily="2" charset="-122"/>
              </a:rPr>
              <a:t>中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  </a:t>
            </a:r>
            <a:r>
              <a:rPr lang="en-US" altLang="zh-CN" sz="2400" dirty="0">
                <a:latin typeface="宋体" panose="02010600030101010101" pitchFamily="2" charset="-122"/>
              </a:rPr>
              <a:t>(1)</a:t>
            </a:r>
            <a:r>
              <a:rPr lang="zh-CN" altLang="en-US" sz="2400" dirty="0">
                <a:latin typeface="宋体" panose="02010600030101010101" pitchFamily="2" charset="-122"/>
              </a:rPr>
              <a:t>乘法对加法满足分配律。因为 </a:t>
            </a:r>
            <a:r>
              <a:rPr lang="zh-CN" altLang="en-US" sz="2400" dirty="0">
                <a:latin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2400" dirty="0" err="1">
                <a:latin typeface="宋体" panose="02010600030101010101" pitchFamily="2" charset="-122"/>
              </a:rPr>
              <a:t>a,b,c</a:t>
            </a:r>
            <a:r>
              <a:rPr lang="en-US" altLang="zh-CN" sz="2400" dirty="0" err="1">
                <a:latin typeface="宋体" panose="02010600030101010101" pitchFamily="2" charset="-122"/>
                <a:sym typeface="Symbol" panose="05050102010706020507" pitchFamily="18" charset="2"/>
              </a:rPr>
              <a:t>I</a:t>
            </a:r>
            <a:r>
              <a:rPr lang="zh-CN" altLang="en-US" sz="2400" dirty="0">
                <a:latin typeface="宋体" panose="02010600030101010101" pitchFamily="2" charset="-122"/>
                <a:sym typeface="Symbol" panose="05050102010706020507" pitchFamily="18" charset="2"/>
              </a:rPr>
              <a:t>，有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宋体" panose="02010600030101010101" pitchFamily="2" charset="-122"/>
                <a:sym typeface="Symbol" panose="05050102010706020507" pitchFamily="18" charset="2"/>
              </a:rPr>
              <a:t>       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a</a:t>
            </a:r>
            <a:r>
              <a:rPr lang="en-US" altLang="zh-CN" sz="2400" dirty="0">
                <a:sym typeface="Symbol" panose="05050102010706020507" pitchFamily="18" charset="2"/>
              </a:rPr>
              <a:t>(</a:t>
            </a:r>
            <a:r>
              <a:rPr lang="en-US" altLang="zh-CN" sz="2400" dirty="0" err="1">
                <a:latin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2400" dirty="0" err="1"/>
              <a:t>+</a:t>
            </a:r>
            <a:r>
              <a:rPr lang="en-US" altLang="zh-CN" sz="2400" dirty="0" err="1">
                <a:latin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sz="2400" dirty="0">
                <a:sym typeface="Symbol" panose="05050102010706020507" pitchFamily="18" charset="2"/>
              </a:rPr>
              <a:t>)=(</a:t>
            </a:r>
            <a:r>
              <a:rPr lang="en-US" altLang="zh-CN" sz="2400" dirty="0" err="1">
                <a:latin typeface="宋体" panose="02010600030101010101" pitchFamily="2" charset="-122"/>
                <a:sym typeface="Symbol" panose="05050102010706020507" pitchFamily="18" charset="2"/>
              </a:rPr>
              <a:t>ab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  <a:r>
              <a:rPr lang="en-US" altLang="zh-CN" sz="2400" dirty="0"/>
              <a:t>+</a:t>
            </a:r>
            <a:r>
              <a:rPr lang="en-US" altLang="zh-CN" sz="2400" dirty="0">
                <a:sym typeface="Symbol" panose="05050102010706020507" pitchFamily="18" charset="2"/>
              </a:rPr>
              <a:t>(</a:t>
            </a:r>
            <a:r>
              <a:rPr lang="en-US" altLang="zh-CN" sz="2400" dirty="0" err="1">
                <a:latin typeface="宋体" panose="02010600030101010101" pitchFamily="2" charset="-122"/>
                <a:sym typeface="Symbol" panose="05050102010706020507" pitchFamily="18" charset="2"/>
              </a:rPr>
              <a:t>ac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latin typeface="宋体" panose="02010600030101010101" pitchFamily="2" charset="-122"/>
                <a:sym typeface="Symbol" panose="05050102010706020507" pitchFamily="18" charset="2"/>
              </a:rPr>
              <a:t>；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宋体" panose="02010600030101010101" pitchFamily="2" charset="-122"/>
                <a:sym typeface="Symbol" panose="05050102010706020507" pitchFamily="18" charset="2"/>
              </a:rPr>
              <a:t>  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(2)</a:t>
            </a:r>
            <a:r>
              <a:rPr lang="zh-CN" altLang="en-US" sz="2400" dirty="0">
                <a:latin typeface="宋体" panose="02010600030101010101" pitchFamily="2" charset="-122"/>
                <a:sym typeface="Symbol" panose="05050102010706020507" pitchFamily="18" charset="2"/>
              </a:rPr>
              <a:t>加法对乘法不满足分配律。因为对于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2,3,5I</a:t>
            </a:r>
            <a:r>
              <a:rPr lang="zh-CN" altLang="en-US" sz="2400" dirty="0">
                <a:latin typeface="宋体" panose="02010600030101010101" pitchFamily="2" charset="-122"/>
                <a:sym typeface="Symbol" panose="05050102010706020507" pitchFamily="18" charset="2"/>
              </a:rPr>
              <a:t>，有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宋体" panose="02010600030101010101" pitchFamily="2" charset="-122"/>
                <a:sym typeface="Symbol" panose="05050102010706020507" pitchFamily="18" charset="2"/>
              </a:rPr>
              <a:t>       </a:t>
            </a:r>
            <a:r>
              <a:rPr lang="en-US" altLang="zh-CN" sz="2400" dirty="0">
                <a:sym typeface="Symbol" panose="05050102010706020507" pitchFamily="18" charset="2"/>
              </a:rPr>
              <a:t>(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23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  <a:r>
              <a:rPr lang="en-US" altLang="zh-CN" sz="2400" dirty="0"/>
              <a:t>+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5</a:t>
            </a:r>
            <a:r>
              <a:rPr lang="en-US" altLang="zh-CN" sz="2400" dirty="0">
                <a:sym typeface="Symbol" panose="05050102010706020507" pitchFamily="18" charset="2"/>
              </a:rPr>
              <a:t>=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11</a:t>
            </a:r>
            <a:r>
              <a:rPr lang="en-US" altLang="zh-CN" sz="2400" dirty="0">
                <a:sym typeface="Symbol" panose="05050102010706020507" pitchFamily="18" charset="2"/>
              </a:rPr>
              <a:t>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56</a:t>
            </a:r>
            <a:r>
              <a:rPr lang="en-US" altLang="zh-CN" sz="2400" dirty="0">
                <a:sym typeface="Symbol" panose="05050102010706020507" pitchFamily="18" charset="2"/>
              </a:rPr>
              <a:t>=(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400" dirty="0"/>
              <a:t>+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5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 sz="2400" dirty="0">
                <a:sym typeface="Symbol" panose="05050102010706020507" pitchFamily="18" charset="2"/>
              </a:rPr>
              <a:t>(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3</a:t>
            </a:r>
            <a:r>
              <a:rPr lang="en-US" altLang="zh-CN" sz="2400" dirty="0"/>
              <a:t>+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5</a:t>
            </a:r>
            <a:r>
              <a:rPr lang="en-US" altLang="zh-CN" sz="2400" dirty="0">
                <a:sym typeface="Symbol" panose="05050102010706020507" pitchFamily="18" charset="2"/>
              </a:rPr>
              <a:t>)  </a:t>
            </a:r>
            <a:r>
              <a:rPr lang="zh-CN" altLang="en-US" sz="2400" dirty="0">
                <a:latin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sz="1400" dirty="0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宋体" panose="02010600030101010101" pitchFamily="2" charset="-122"/>
                <a:sym typeface="Symbol" panose="05050102010706020507" pitchFamily="18" charset="2"/>
              </a:rPr>
              <a:t>在代数系统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(2</a:t>
            </a:r>
            <a:r>
              <a:rPr lang="en-US" altLang="zh-CN" sz="2400" baseline="30000" dirty="0">
                <a:sym typeface="Symbol" panose="05050102010706020507" pitchFamily="18" charset="2"/>
              </a:rPr>
              <a:t>X</a:t>
            </a:r>
            <a:r>
              <a:rPr lang="en-US" altLang="zh-CN" sz="2400" dirty="0"/>
              <a:t>,</a:t>
            </a:r>
            <a:r>
              <a:rPr lang="en-US" altLang="zh-CN" sz="2400" dirty="0">
                <a:sym typeface="Symbol" panose="05050102010706020507" pitchFamily="18" charset="2"/>
              </a:rPr>
              <a:t></a:t>
            </a:r>
            <a:r>
              <a:rPr lang="en-US" altLang="zh-CN" sz="2400" dirty="0"/>
              <a:t>,</a:t>
            </a:r>
            <a:r>
              <a:rPr lang="en-US" altLang="zh-CN" sz="2400" dirty="0">
                <a:sym typeface="Symbol" panose="05050102010706020507" pitchFamily="18" charset="2"/>
              </a:rPr>
              <a:t>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latin typeface="宋体" panose="02010600030101010101" pitchFamily="2" charset="-122"/>
                <a:sym typeface="Symbol" panose="05050102010706020507" pitchFamily="18" charset="2"/>
              </a:rPr>
              <a:t>中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宋体" panose="02010600030101010101" pitchFamily="2" charset="-122"/>
                <a:sym typeface="Symbol" panose="05050102010706020507" pitchFamily="18" charset="2"/>
              </a:rPr>
              <a:t>  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(1)</a:t>
            </a:r>
            <a:r>
              <a:rPr lang="en-US" altLang="zh-CN" sz="2400" dirty="0">
                <a:sym typeface="Symbol" panose="05050102010706020507" pitchFamily="18" charset="2"/>
              </a:rPr>
              <a:t></a:t>
            </a:r>
            <a:r>
              <a:rPr lang="zh-CN" altLang="en-US" sz="2400" dirty="0">
                <a:latin typeface="宋体" panose="02010600030101010101" pitchFamily="2" charset="-122"/>
                <a:sym typeface="Symbol" panose="05050102010706020507" pitchFamily="18" charset="2"/>
              </a:rPr>
              <a:t>对</a:t>
            </a:r>
            <a:r>
              <a:rPr lang="zh-CN" altLang="en-US" sz="2400" dirty="0">
                <a:sym typeface="Symbol" panose="05050102010706020507" pitchFamily="18" charset="2"/>
              </a:rPr>
              <a:t></a:t>
            </a:r>
            <a:r>
              <a:rPr lang="zh-CN" altLang="en-US" sz="2400" dirty="0">
                <a:latin typeface="宋体" panose="02010600030101010101" pitchFamily="2" charset="-122"/>
                <a:sym typeface="Symbol" panose="05050102010706020507" pitchFamily="18" charset="2"/>
              </a:rPr>
              <a:t>满足分配律，因为 </a:t>
            </a:r>
            <a:r>
              <a:rPr lang="zh-CN" altLang="en-US" sz="2400" dirty="0">
                <a:sym typeface="Symbol" panose="05050102010706020507" pitchFamily="18" charset="2"/>
              </a:rPr>
              <a:t></a:t>
            </a:r>
            <a:r>
              <a:rPr lang="en-US" altLang="zh-CN" sz="2400" dirty="0">
                <a:sym typeface="Symbol" panose="05050102010706020507" pitchFamily="18" charset="2"/>
              </a:rPr>
              <a:t>A,B,C2</a:t>
            </a:r>
            <a:r>
              <a:rPr lang="en-US" altLang="zh-CN" sz="2400" baseline="30000" dirty="0">
                <a:sym typeface="Symbol" panose="05050102010706020507" pitchFamily="18" charset="2"/>
              </a:rPr>
              <a:t>X</a:t>
            </a:r>
            <a:r>
              <a:rPr lang="zh-CN" altLang="en-US" sz="2400" dirty="0">
                <a:latin typeface="宋体" panose="02010600030101010101" pitchFamily="2" charset="-122"/>
                <a:sym typeface="Symbol" panose="05050102010706020507" pitchFamily="18" charset="2"/>
              </a:rPr>
              <a:t>，有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宋体" panose="02010600030101010101" pitchFamily="2" charset="-122"/>
                <a:sym typeface="Symbol" panose="05050102010706020507" pitchFamily="18" charset="2"/>
              </a:rPr>
              <a:t>       </a:t>
            </a:r>
            <a:r>
              <a:rPr lang="en-US" altLang="zh-CN" sz="2400" dirty="0">
                <a:sym typeface="Symbol" panose="05050102010706020507" pitchFamily="18" charset="2"/>
              </a:rPr>
              <a:t>A(BC)</a:t>
            </a:r>
            <a:r>
              <a:rPr lang="zh-CN" altLang="en-US" sz="2400" dirty="0">
                <a:sym typeface="Symbol" panose="05050102010706020507" pitchFamily="18" charset="2"/>
              </a:rPr>
              <a:t>＝</a:t>
            </a:r>
            <a:r>
              <a:rPr lang="en-US" altLang="zh-CN" sz="2400" dirty="0">
                <a:sym typeface="Symbol" panose="05050102010706020507" pitchFamily="18" charset="2"/>
              </a:rPr>
              <a:t>(AB)(AC)</a:t>
            </a:r>
            <a:r>
              <a:rPr lang="zh-CN" altLang="en-US" sz="2400" dirty="0">
                <a:latin typeface="宋体" panose="02010600030101010101" pitchFamily="2" charset="-122"/>
                <a:sym typeface="Symbol" panose="05050102010706020507" pitchFamily="18" charset="2"/>
              </a:rPr>
              <a:t>；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宋体" panose="02010600030101010101" pitchFamily="2" charset="-122"/>
                <a:sym typeface="Symbol" panose="05050102010706020507" pitchFamily="18" charset="2"/>
              </a:rPr>
              <a:t>  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(2)</a:t>
            </a:r>
            <a:r>
              <a:rPr lang="en-US" altLang="zh-CN" sz="2400" dirty="0">
                <a:sym typeface="Symbol" panose="05050102010706020507" pitchFamily="18" charset="2"/>
              </a:rPr>
              <a:t></a:t>
            </a:r>
            <a:r>
              <a:rPr lang="zh-CN" altLang="en-US" sz="2400" dirty="0">
                <a:latin typeface="宋体" panose="02010600030101010101" pitchFamily="2" charset="-122"/>
                <a:sym typeface="Symbol" panose="05050102010706020507" pitchFamily="18" charset="2"/>
              </a:rPr>
              <a:t>对</a:t>
            </a:r>
            <a:r>
              <a:rPr lang="zh-CN" altLang="en-US" sz="2400" dirty="0">
                <a:sym typeface="Symbol" panose="05050102010706020507" pitchFamily="18" charset="2"/>
              </a:rPr>
              <a:t></a:t>
            </a:r>
            <a:r>
              <a:rPr lang="zh-CN" altLang="en-US" sz="2400" dirty="0">
                <a:latin typeface="宋体" panose="02010600030101010101" pitchFamily="2" charset="-122"/>
                <a:sym typeface="Symbol" panose="05050102010706020507" pitchFamily="18" charset="2"/>
              </a:rPr>
              <a:t>满足分配律，因为 </a:t>
            </a:r>
            <a:r>
              <a:rPr lang="zh-CN" altLang="en-US" sz="2400" dirty="0">
                <a:sym typeface="Symbol" panose="05050102010706020507" pitchFamily="18" charset="2"/>
              </a:rPr>
              <a:t></a:t>
            </a:r>
            <a:r>
              <a:rPr lang="en-US" altLang="zh-CN" sz="2400" dirty="0">
                <a:sym typeface="Symbol" panose="05050102010706020507" pitchFamily="18" charset="2"/>
              </a:rPr>
              <a:t>A,B,C2</a:t>
            </a:r>
            <a:r>
              <a:rPr lang="en-US" altLang="zh-CN" sz="2400" baseline="30000" dirty="0">
                <a:sym typeface="Symbol" panose="05050102010706020507" pitchFamily="18" charset="2"/>
              </a:rPr>
              <a:t>X</a:t>
            </a:r>
            <a:r>
              <a:rPr lang="zh-CN" altLang="en-US" sz="2400" dirty="0">
                <a:latin typeface="宋体" panose="02010600030101010101" pitchFamily="2" charset="-122"/>
                <a:sym typeface="Symbol" panose="05050102010706020507" pitchFamily="18" charset="2"/>
              </a:rPr>
              <a:t>，有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宋体" panose="02010600030101010101" pitchFamily="2" charset="-122"/>
                <a:sym typeface="Symbol" panose="05050102010706020507" pitchFamily="18" charset="2"/>
              </a:rPr>
              <a:t>       </a:t>
            </a:r>
            <a:r>
              <a:rPr lang="en-US" altLang="zh-CN" sz="2400" dirty="0">
                <a:sym typeface="Symbol" panose="05050102010706020507" pitchFamily="18" charset="2"/>
              </a:rPr>
              <a:t>A(BC)</a:t>
            </a:r>
            <a:r>
              <a:rPr lang="zh-CN" altLang="en-US" sz="2400" dirty="0">
                <a:sym typeface="Symbol" panose="05050102010706020507" pitchFamily="18" charset="2"/>
              </a:rPr>
              <a:t>＝</a:t>
            </a:r>
            <a:r>
              <a:rPr lang="en-US" altLang="zh-CN" sz="2400" dirty="0">
                <a:sym typeface="Symbol" panose="05050102010706020507" pitchFamily="18" charset="2"/>
              </a:rPr>
              <a:t>(AB)(AC)</a:t>
            </a:r>
            <a:r>
              <a:rPr lang="zh-CN" altLang="en-US" sz="2400" dirty="0">
                <a:latin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sz="2400" dirty="0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000" dirty="0">
                <a:latin typeface="楷体_GB2312" pitchFamily="49" charset="-122"/>
                <a:ea typeface="楷体_GB2312" pitchFamily="49" charset="-122"/>
              </a:rPr>
              <a:t>注：</a:t>
            </a:r>
            <a:r>
              <a:rPr lang="zh-CN" altLang="en-US" sz="2000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</a:t>
            </a:r>
            <a:r>
              <a:rPr lang="zh-CN" altLang="en-US" sz="2000" dirty="0"/>
              <a:t> </a:t>
            </a:r>
            <a:r>
              <a:rPr lang="zh-CN" altLang="en-US" sz="2000" dirty="0">
                <a:latin typeface="楷体_GB2312" pitchFamily="49" charset="-122"/>
                <a:ea typeface="楷体_GB2312" pitchFamily="49" charset="-122"/>
              </a:rPr>
              <a:t>以上两例的两个</a:t>
            </a:r>
            <a:r>
              <a:rPr lang="zh-CN" altLang="en-US" sz="2000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二元运算都满足交换律，因此两个等式只要有一个成立即可。</a:t>
            </a:r>
          </a:p>
        </p:txBody>
      </p:sp>
    </p:spTree>
    <p:extLst>
      <p:ext uri="{BB962C8B-B14F-4D97-AF65-F5344CB8AC3E}">
        <p14:creationId xmlns:p14="http://schemas.microsoft.com/office/powerpoint/2010/main" val="3600768170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37895F-7743-4B86-B2BD-7B2ED35EFF8C}"/>
              </a:ext>
            </a:extLst>
          </p:cNvPr>
          <p:cNvSpPr txBox="1">
            <a:spLocks noChangeArrowheads="1"/>
          </p:cNvSpPr>
          <p:nvPr/>
        </p:nvSpPr>
        <p:spPr>
          <a:xfrm>
            <a:off x="1571625" y="829811"/>
            <a:ext cx="7620000" cy="57912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endParaRPr lang="en-US" altLang="zh-CN" sz="1400" dirty="0"/>
          </a:p>
          <a:p>
            <a:pPr marL="0" indent="0" fontAlgn="t"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C00000"/>
                </a:solidFill>
                <a:latin typeface="宋体" panose="02010600030101010101" pitchFamily="2" charset="-122"/>
              </a:rPr>
              <a:t>吸收律</a:t>
            </a:r>
            <a:r>
              <a:rPr lang="en-US" altLang="zh-CN" sz="2400" dirty="0">
                <a:latin typeface="宋体" panose="02010600030101010101" pitchFamily="2" charset="-122"/>
              </a:rPr>
              <a:t>  </a:t>
            </a:r>
            <a:r>
              <a:rPr lang="zh-CN" altLang="en-US" sz="2400" dirty="0">
                <a:latin typeface="宋体" panose="02010600030101010101" pitchFamily="2" charset="-122"/>
              </a:rPr>
              <a:t>设</a:t>
            </a:r>
            <a:r>
              <a:rPr lang="en-US" altLang="zh-CN" sz="2400" dirty="0">
                <a:latin typeface="宋体" panose="02010600030101010101" pitchFamily="2" charset="-122"/>
              </a:rPr>
              <a:t>(</a:t>
            </a:r>
            <a:r>
              <a:rPr lang="en-US" altLang="zh-CN" sz="2400" dirty="0">
                <a:sym typeface="Symbol" panose="05050102010706020507" pitchFamily="18" charset="2"/>
              </a:rPr>
              <a:t>X,</a:t>
            </a:r>
            <a:r>
              <a:rPr lang="en-US" altLang="zh-CN" sz="2400" dirty="0">
                <a:latin typeface="宋体" panose="02010600030101010101" pitchFamily="2" charset="-122"/>
              </a:rPr>
              <a:t>*,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</a:t>
            </a:r>
            <a:r>
              <a:rPr lang="en-US" altLang="zh-CN" sz="2400" dirty="0">
                <a:latin typeface="宋体" panose="02010600030101010101" pitchFamily="2" charset="-122"/>
              </a:rPr>
              <a:t>)</a:t>
            </a:r>
            <a:r>
              <a:rPr lang="zh-CN" altLang="en-US" sz="2400" dirty="0">
                <a:latin typeface="宋体" panose="02010600030101010101" pitchFamily="2" charset="-122"/>
              </a:rPr>
              <a:t>是代数系统，*和</a:t>
            </a:r>
            <a:r>
              <a:rPr lang="zh-CN" altLang="en-US" sz="2400" dirty="0">
                <a:latin typeface="宋体" panose="02010600030101010101" pitchFamily="2" charset="-122"/>
                <a:sym typeface="Symbol" panose="05050102010706020507" pitchFamily="18" charset="2"/>
              </a:rPr>
              <a:t></a:t>
            </a:r>
            <a:r>
              <a:rPr lang="zh-CN" altLang="en-US" sz="2400" dirty="0">
                <a:latin typeface="宋体" panose="02010600030101010101" pitchFamily="2" charset="-122"/>
              </a:rPr>
              <a:t>是</a:t>
            </a:r>
            <a:r>
              <a:rPr lang="en-US" altLang="zh-CN" sz="2400" dirty="0">
                <a:sym typeface="Symbol" panose="05050102010706020507" pitchFamily="18" charset="2"/>
              </a:rPr>
              <a:t>X</a:t>
            </a:r>
            <a:r>
              <a:rPr lang="zh-CN" altLang="en-US" sz="2400" dirty="0">
                <a:latin typeface="宋体" panose="02010600030101010101" pitchFamily="2" charset="-122"/>
              </a:rPr>
              <a:t>上的两个二元运算。</a:t>
            </a:r>
            <a:endParaRPr lang="zh-CN" altLang="en-US" sz="2400" dirty="0">
              <a:latin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宋体" panose="02010600030101010101" pitchFamily="2" charset="-122"/>
                <a:sym typeface="Symbol" panose="05050102010706020507" pitchFamily="18" charset="2"/>
              </a:rPr>
              <a:t>   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(1)</a:t>
            </a:r>
            <a:r>
              <a:rPr lang="zh-CN" altLang="en-US" sz="2400" dirty="0">
                <a:latin typeface="宋体" panose="02010600030101010101" pitchFamily="2" charset="-122"/>
              </a:rPr>
              <a:t>称*运算对</a:t>
            </a:r>
            <a:r>
              <a:rPr lang="zh-CN" altLang="en-US" sz="2400" dirty="0">
                <a:latin typeface="宋体" panose="02010600030101010101" pitchFamily="2" charset="-122"/>
                <a:sym typeface="Symbol" panose="05050102010706020507" pitchFamily="18" charset="2"/>
              </a:rPr>
              <a:t></a:t>
            </a:r>
            <a:r>
              <a:rPr lang="zh-CN" altLang="en-US" sz="2400" dirty="0">
                <a:latin typeface="宋体" panose="02010600030101010101" pitchFamily="2" charset="-122"/>
              </a:rPr>
              <a:t>运算满足吸收律</a:t>
            </a:r>
            <a:r>
              <a:rPr lang="zh-CN" altLang="en-US" sz="2400" dirty="0">
                <a:sym typeface="Symbol" panose="05050102010706020507" pitchFamily="18" charset="2"/>
              </a:rPr>
              <a:t></a:t>
            </a: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zh-CN" altLang="en-US" sz="2400" dirty="0"/>
              <a:t>          </a:t>
            </a:r>
            <a:r>
              <a:rPr lang="en-US" altLang="zh-CN" sz="2400" dirty="0"/>
              <a:t>a) (</a:t>
            </a:r>
            <a:r>
              <a:rPr lang="en-US" altLang="zh-CN" sz="2400" dirty="0">
                <a:sym typeface="Symbol" panose="05050102010706020507" pitchFamily="18" charset="2"/>
              </a:rPr>
              <a:t></a:t>
            </a:r>
            <a:r>
              <a:rPr lang="en-US" altLang="zh-CN" sz="2400" i="1" dirty="0" err="1">
                <a:sym typeface="Symbol" panose="05050102010706020507" pitchFamily="18" charset="2"/>
              </a:rPr>
              <a:t>x</a:t>
            </a:r>
            <a:r>
              <a:rPr lang="en-US" altLang="zh-CN" sz="2400" dirty="0" err="1">
                <a:sym typeface="Symbol" panose="05050102010706020507" pitchFamily="18" charset="2"/>
              </a:rPr>
              <a:t>X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  <a:r>
              <a:rPr lang="en-US" altLang="zh-CN" sz="2400" dirty="0"/>
              <a:t>(</a:t>
            </a:r>
            <a:r>
              <a:rPr lang="en-US" altLang="zh-CN" sz="2400" dirty="0">
                <a:sym typeface="Symbol" panose="05050102010706020507" pitchFamily="18" charset="2"/>
              </a:rPr>
              <a:t></a:t>
            </a:r>
            <a:r>
              <a:rPr lang="en-US" altLang="zh-CN" sz="2400" i="1" dirty="0" err="1">
                <a:sym typeface="Symbol" panose="05050102010706020507" pitchFamily="18" charset="2"/>
              </a:rPr>
              <a:t>y</a:t>
            </a:r>
            <a:r>
              <a:rPr lang="en-US" altLang="zh-CN" sz="2400" dirty="0" err="1">
                <a:sym typeface="Symbol" panose="05050102010706020507" pitchFamily="18" charset="2"/>
              </a:rPr>
              <a:t>X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                           (</a:t>
            </a:r>
            <a:r>
              <a:rPr lang="en-US" altLang="zh-CN" sz="2400" i="1" dirty="0">
                <a:sym typeface="Symbol" panose="05050102010706020507" pitchFamily="18" charset="2"/>
              </a:rPr>
              <a:t>x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 (</a:t>
            </a:r>
            <a:r>
              <a:rPr lang="en-US" altLang="zh-CN" sz="2400" dirty="0"/>
              <a:t> </a:t>
            </a:r>
            <a:r>
              <a:rPr lang="en-US" altLang="zh-CN" sz="2400" i="1" dirty="0">
                <a:sym typeface="Symbol" panose="05050102010706020507" pitchFamily="18" charset="2"/>
              </a:rPr>
              <a:t>x 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</a:t>
            </a:r>
            <a:r>
              <a:rPr lang="en-US" altLang="zh-CN" sz="2400" i="1" dirty="0">
                <a:sym typeface="Symbol" panose="05050102010706020507" pitchFamily="18" charset="2"/>
              </a:rPr>
              <a:t> y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  <a:r>
              <a:rPr lang="en-US" altLang="zh-CN" sz="2400" dirty="0"/>
              <a:t> = </a:t>
            </a:r>
            <a:r>
              <a:rPr lang="en-US" altLang="zh-CN" sz="2400" dirty="0">
                <a:sym typeface="Symbol" panose="05050102010706020507" pitchFamily="18" charset="2"/>
              </a:rPr>
              <a:t>x)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 </a:t>
            </a: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en-US" altLang="zh-CN" sz="2400" dirty="0"/>
              <a:t>          b) (</a:t>
            </a:r>
            <a:r>
              <a:rPr lang="en-US" altLang="zh-CN" sz="2400" dirty="0">
                <a:sym typeface="Symbol" panose="05050102010706020507" pitchFamily="18" charset="2"/>
              </a:rPr>
              <a:t></a:t>
            </a:r>
            <a:r>
              <a:rPr lang="en-US" altLang="zh-CN" sz="2400" i="1" dirty="0" err="1">
                <a:sym typeface="Symbol" panose="05050102010706020507" pitchFamily="18" charset="2"/>
              </a:rPr>
              <a:t>x</a:t>
            </a:r>
            <a:r>
              <a:rPr lang="en-US" altLang="zh-CN" sz="2400" dirty="0" err="1">
                <a:sym typeface="Symbol" panose="05050102010706020507" pitchFamily="18" charset="2"/>
              </a:rPr>
              <a:t>X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  <a:r>
              <a:rPr lang="en-US" altLang="zh-CN" sz="2400" dirty="0"/>
              <a:t>(</a:t>
            </a:r>
            <a:r>
              <a:rPr lang="en-US" altLang="zh-CN" sz="2400" dirty="0">
                <a:sym typeface="Symbol" panose="05050102010706020507" pitchFamily="18" charset="2"/>
              </a:rPr>
              <a:t></a:t>
            </a:r>
            <a:r>
              <a:rPr lang="en-US" altLang="zh-CN" sz="2400" i="1" dirty="0" err="1">
                <a:sym typeface="Symbol" panose="05050102010706020507" pitchFamily="18" charset="2"/>
              </a:rPr>
              <a:t>y</a:t>
            </a:r>
            <a:r>
              <a:rPr lang="en-US" altLang="zh-CN" sz="2400" dirty="0" err="1">
                <a:sym typeface="Symbol" panose="05050102010706020507" pitchFamily="18" charset="2"/>
              </a:rPr>
              <a:t>X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                           (</a:t>
            </a:r>
            <a:r>
              <a:rPr lang="en-US" altLang="zh-CN" sz="2400" i="1" dirty="0"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(</a:t>
            </a:r>
            <a:r>
              <a:rPr lang="en-US" altLang="zh-CN" sz="2400" dirty="0"/>
              <a:t> </a:t>
            </a:r>
            <a:r>
              <a:rPr lang="en-US" altLang="zh-CN" sz="2400" i="1" dirty="0">
                <a:sym typeface="Symbol" panose="05050102010706020507" pitchFamily="18" charset="2"/>
              </a:rPr>
              <a:t>x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</a:t>
            </a:r>
            <a:r>
              <a:rPr lang="en-US" altLang="zh-CN" sz="2400" i="1" dirty="0">
                <a:sym typeface="Symbol" panose="05050102010706020507" pitchFamily="18" charset="2"/>
              </a:rPr>
              <a:t> y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) </a:t>
            </a:r>
            <a:r>
              <a:rPr lang="en-US" altLang="zh-CN" sz="2400" dirty="0"/>
              <a:t> </a:t>
            </a:r>
            <a:r>
              <a:rPr lang="en-US" altLang="zh-CN" sz="2400" i="1" dirty="0">
                <a:sym typeface="Symbol" panose="05050102010706020507" pitchFamily="18" charset="2"/>
              </a:rPr>
              <a:t>x</a:t>
            </a:r>
            <a:r>
              <a:rPr lang="en-US" altLang="zh-CN" sz="2400" dirty="0"/>
              <a:t> = </a:t>
            </a:r>
            <a:r>
              <a:rPr lang="en-US" altLang="zh-CN" sz="2400" dirty="0">
                <a:sym typeface="Symbol" panose="05050102010706020507" pitchFamily="18" charset="2"/>
              </a:rPr>
              <a:t>x)</a:t>
            </a:r>
            <a:r>
              <a:rPr lang="zh-CN" altLang="en-US" sz="2400" dirty="0">
                <a:sym typeface="Symbol" panose="05050102010706020507" pitchFamily="18" charset="2"/>
              </a:rPr>
              <a:t>；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   </a:t>
            </a:r>
            <a:r>
              <a:rPr lang="en-US" altLang="zh-CN" sz="2400" dirty="0">
                <a:latin typeface="宋体" panose="02010600030101010101" pitchFamily="2" charset="-122"/>
              </a:rPr>
              <a:t>(2)</a:t>
            </a:r>
            <a:r>
              <a:rPr lang="zh-CN" altLang="en-US" sz="2400" dirty="0">
                <a:latin typeface="宋体" panose="02010600030101010101" pitchFamily="2" charset="-122"/>
              </a:rPr>
              <a:t>称运算</a:t>
            </a:r>
            <a:r>
              <a:rPr lang="zh-CN" altLang="en-US" sz="2400" dirty="0">
                <a:latin typeface="宋体" panose="02010600030101010101" pitchFamily="2" charset="-122"/>
                <a:sym typeface="Symbol" panose="05050102010706020507" pitchFamily="18" charset="2"/>
              </a:rPr>
              <a:t></a:t>
            </a:r>
            <a:r>
              <a:rPr lang="zh-CN" altLang="en-US" sz="2400" dirty="0">
                <a:latin typeface="宋体" panose="02010600030101010101" pitchFamily="2" charset="-122"/>
              </a:rPr>
              <a:t>对运算*满足吸收律</a:t>
            </a:r>
            <a:r>
              <a:rPr lang="zh-CN" altLang="en-US" sz="2400" dirty="0">
                <a:sym typeface="Symbol" panose="05050102010706020507" pitchFamily="18" charset="2"/>
              </a:rPr>
              <a:t></a:t>
            </a: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zh-CN" altLang="en-US" sz="2400" dirty="0"/>
              <a:t>          </a:t>
            </a:r>
            <a:r>
              <a:rPr lang="en-US" altLang="zh-CN" sz="2400" dirty="0"/>
              <a:t>a) (</a:t>
            </a:r>
            <a:r>
              <a:rPr lang="en-US" altLang="zh-CN" sz="2400" dirty="0">
                <a:sym typeface="Symbol" panose="05050102010706020507" pitchFamily="18" charset="2"/>
              </a:rPr>
              <a:t></a:t>
            </a:r>
            <a:r>
              <a:rPr lang="en-US" altLang="zh-CN" sz="2400" i="1" dirty="0" err="1">
                <a:sym typeface="Symbol" panose="05050102010706020507" pitchFamily="18" charset="2"/>
              </a:rPr>
              <a:t>x</a:t>
            </a:r>
            <a:r>
              <a:rPr lang="en-US" altLang="zh-CN" sz="2400" dirty="0" err="1">
                <a:sym typeface="Symbol" panose="05050102010706020507" pitchFamily="18" charset="2"/>
              </a:rPr>
              <a:t>X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  <a:r>
              <a:rPr lang="en-US" altLang="zh-CN" sz="2400" dirty="0"/>
              <a:t>(</a:t>
            </a:r>
            <a:r>
              <a:rPr lang="en-US" altLang="zh-CN" sz="2400" dirty="0">
                <a:sym typeface="Symbol" panose="05050102010706020507" pitchFamily="18" charset="2"/>
              </a:rPr>
              <a:t></a:t>
            </a:r>
            <a:r>
              <a:rPr lang="en-US" altLang="zh-CN" sz="2400" i="1" dirty="0" err="1">
                <a:sym typeface="Symbol" panose="05050102010706020507" pitchFamily="18" charset="2"/>
              </a:rPr>
              <a:t>y</a:t>
            </a:r>
            <a:r>
              <a:rPr lang="en-US" altLang="zh-CN" sz="2400" dirty="0" err="1">
                <a:sym typeface="Symbol" panose="05050102010706020507" pitchFamily="18" charset="2"/>
              </a:rPr>
              <a:t>X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                           (</a:t>
            </a:r>
            <a:r>
              <a:rPr lang="en-US" altLang="zh-CN" sz="2400" i="1" dirty="0">
                <a:sym typeface="Symbol" panose="05050102010706020507" pitchFamily="18" charset="2"/>
              </a:rPr>
              <a:t>x</a:t>
            </a:r>
            <a:r>
              <a:rPr lang="en-US" altLang="zh-CN" sz="2400" dirty="0"/>
              <a:t> 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</a:t>
            </a:r>
            <a:r>
              <a:rPr lang="en-US" altLang="zh-CN" sz="2400" dirty="0">
                <a:sym typeface="Symbol" panose="05050102010706020507" pitchFamily="18" charset="2"/>
              </a:rPr>
              <a:t>(</a:t>
            </a:r>
            <a:r>
              <a:rPr lang="en-US" altLang="zh-CN" sz="2400" dirty="0"/>
              <a:t> </a:t>
            </a:r>
            <a:r>
              <a:rPr lang="en-US" altLang="zh-CN" sz="2400" i="1" dirty="0">
                <a:sym typeface="Symbol" panose="05050102010706020507" pitchFamily="18" charset="2"/>
              </a:rPr>
              <a:t>x </a:t>
            </a:r>
            <a:r>
              <a:rPr lang="en-US" altLang="zh-CN" sz="2400" dirty="0">
                <a:sym typeface="Symbol" panose="05050102010706020507" pitchFamily="18" charset="2"/>
              </a:rPr>
              <a:t></a:t>
            </a:r>
            <a:r>
              <a:rPr lang="en-US" altLang="zh-CN" sz="2400" i="1" dirty="0">
                <a:sym typeface="Symbol" panose="05050102010706020507" pitchFamily="18" charset="2"/>
              </a:rPr>
              <a:t>y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  <a:r>
              <a:rPr lang="en-US" altLang="zh-CN" sz="2400" dirty="0"/>
              <a:t> =x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dirty="0"/>
              <a:t>          </a:t>
            </a: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en-US" altLang="zh-CN" sz="2000" dirty="0"/>
              <a:t>            </a:t>
            </a:r>
            <a:r>
              <a:rPr lang="en-US" altLang="zh-CN" sz="2400" dirty="0"/>
              <a:t>b) (</a:t>
            </a:r>
            <a:r>
              <a:rPr lang="en-US" altLang="zh-CN" sz="2400" dirty="0">
                <a:sym typeface="Symbol" panose="05050102010706020507" pitchFamily="18" charset="2"/>
              </a:rPr>
              <a:t></a:t>
            </a:r>
            <a:r>
              <a:rPr lang="en-US" altLang="zh-CN" sz="2400" i="1" dirty="0" err="1">
                <a:sym typeface="Symbol" panose="05050102010706020507" pitchFamily="18" charset="2"/>
              </a:rPr>
              <a:t>x</a:t>
            </a:r>
            <a:r>
              <a:rPr lang="en-US" altLang="zh-CN" sz="2400" dirty="0" err="1">
                <a:sym typeface="Symbol" panose="05050102010706020507" pitchFamily="18" charset="2"/>
              </a:rPr>
              <a:t>X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  <a:r>
              <a:rPr lang="en-US" altLang="zh-CN" sz="2400" dirty="0"/>
              <a:t>(</a:t>
            </a:r>
            <a:r>
              <a:rPr lang="en-US" altLang="zh-CN" sz="2400" dirty="0">
                <a:sym typeface="Symbol" panose="05050102010706020507" pitchFamily="18" charset="2"/>
              </a:rPr>
              <a:t></a:t>
            </a:r>
            <a:r>
              <a:rPr lang="en-US" altLang="zh-CN" sz="2400" i="1" dirty="0" err="1">
                <a:sym typeface="Symbol" panose="05050102010706020507" pitchFamily="18" charset="2"/>
              </a:rPr>
              <a:t>y</a:t>
            </a:r>
            <a:r>
              <a:rPr lang="en-US" altLang="zh-CN" sz="2400" dirty="0" err="1">
                <a:sym typeface="Symbol" panose="05050102010706020507" pitchFamily="18" charset="2"/>
              </a:rPr>
              <a:t>X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                           (</a:t>
            </a:r>
            <a:r>
              <a:rPr lang="en-US" altLang="zh-CN" sz="2400" i="1" dirty="0"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(</a:t>
            </a:r>
            <a:r>
              <a:rPr lang="en-US" altLang="zh-CN" sz="2400" dirty="0"/>
              <a:t> </a:t>
            </a:r>
            <a:r>
              <a:rPr lang="en-US" altLang="zh-CN" sz="2400" i="1" dirty="0">
                <a:sym typeface="Symbol" panose="05050102010706020507" pitchFamily="18" charset="2"/>
              </a:rPr>
              <a:t>x</a:t>
            </a:r>
            <a:r>
              <a:rPr lang="en-US" altLang="zh-CN" sz="2400" dirty="0">
                <a:sym typeface="Symbol" panose="05050102010706020507" pitchFamily="18" charset="2"/>
              </a:rPr>
              <a:t> </a:t>
            </a:r>
            <a:r>
              <a:rPr lang="en-US" altLang="zh-CN" sz="2400" i="1" dirty="0">
                <a:sym typeface="Symbol" panose="05050102010706020507" pitchFamily="18" charset="2"/>
              </a:rPr>
              <a:t> y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) 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</a:t>
            </a:r>
            <a:r>
              <a:rPr lang="en-US" altLang="zh-CN" sz="2400" dirty="0"/>
              <a:t> </a:t>
            </a:r>
            <a:r>
              <a:rPr lang="en-US" altLang="zh-CN" sz="2400" i="1" dirty="0">
                <a:sym typeface="Symbol" panose="05050102010706020507" pitchFamily="18" charset="2"/>
              </a:rPr>
              <a:t>x</a:t>
            </a:r>
            <a:r>
              <a:rPr lang="en-US" altLang="zh-CN" sz="2400" dirty="0"/>
              <a:t> = </a:t>
            </a:r>
            <a:r>
              <a:rPr lang="en-US" altLang="zh-CN" sz="2400" dirty="0">
                <a:sym typeface="Symbol" panose="05050102010706020507" pitchFamily="18" charset="2"/>
              </a:rPr>
              <a:t>x) </a:t>
            </a:r>
            <a:r>
              <a:rPr lang="zh-CN" altLang="en-US" sz="2400" dirty="0">
                <a:sym typeface="Symbol" panose="05050102010706020507" pitchFamily="18" charset="2"/>
              </a:rPr>
              <a:t>。</a:t>
            </a:r>
          </a:p>
          <a:p>
            <a:pPr marL="0" indent="0" algn="just">
              <a:buFont typeface="Wingdings" panose="05000000000000000000" pitchFamily="2" charset="2"/>
              <a:buNone/>
            </a:pP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4116660490"/>
      </p:ext>
    </p:extLst>
  </p:cSld>
  <p:clrMapOvr>
    <a:masterClrMapping/>
  </p:clrMapOvr>
  <p:transition spd="slow" advTm="0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1A70CFD-670B-4694-848C-859155C12251}"/>
              </a:ext>
            </a:extLst>
          </p:cNvPr>
          <p:cNvSpPr txBox="1"/>
          <p:nvPr/>
        </p:nvSpPr>
        <p:spPr>
          <a:xfrm>
            <a:off x="2382473" y="1124125"/>
            <a:ext cx="398477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&lt;P(A)</a:t>
            </a:r>
            <a:r>
              <a:rPr lang="zh-CN" altLang="en-US" sz="2800" dirty="0"/>
              <a:t>；∩，∪</a:t>
            </a:r>
            <a:r>
              <a:rPr lang="en-US" altLang="zh-CN" sz="2800" dirty="0"/>
              <a:t>&gt;</a:t>
            </a:r>
          </a:p>
          <a:p>
            <a:endParaRPr lang="en-US" altLang="zh-CN" sz="2800" dirty="0"/>
          </a:p>
          <a:p>
            <a:r>
              <a:rPr lang="en-US" altLang="zh-CN" sz="2800" dirty="0"/>
              <a:t>U</a:t>
            </a:r>
            <a:r>
              <a:rPr lang="zh-CN" altLang="en-US" sz="2800" dirty="0"/>
              <a:t>和∩ 满足 吸收率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en-US" altLang="zh-CN" sz="2800" dirty="0"/>
              <a:t>&lt;{0,1}, </a:t>
            </a:r>
            <a:r>
              <a:rPr lang="zh-CN" altLang="en-US" dirty="0"/>
              <a:t>∧，</a:t>
            </a:r>
            <a:r>
              <a:rPr lang="en-US" altLang="zh-CN" dirty="0"/>
              <a:t>V</a:t>
            </a:r>
            <a:r>
              <a:rPr lang="en-US" altLang="zh-CN" sz="2800" dirty="0"/>
              <a:t>&gt;</a:t>
            </a:r>
          </a:p>
          <a:p>
            <a:endParaRPr lang="en-US" altLang="zh-CN" sz="2800" dirty="0"/>
          </a:p>
          <a:p>
            <a:r>
              <a:rPr lang="zh-CN" altLang="en-US" sz="2800" dirty="0"/>
              <a:t>∧和</a:t>
            </a:r>
            <a:r>
              <a:rPr lang="en-US" altLang="zh-CN" sz="2800" dirty="0"/>
              <a:t>V</a:t>
            </a:r>
            <a:r>
              <a:rPr lang="zh-CN" altLang="en-US" sz="2800" dirty="0"/>
              <a:t> 满足 吸收率</a:t>
            </a:r>
            <a:endParaRPr lang="en-US" altLang="zh-CN" sz="2800" dirty="0"/>
          </a:p>
          <a:p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122457979"/>
      </p:ext>
    </p:extLst>
  </p:cSld>
  <p:clrMapOvr>
    <a:masterClrMapping/>
  </p:clrMapOvr>
  <p:transition spd="slow" advTm="0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37895F-7743-4B86-B2BD-7B2ED35EFF8C}"/>
              </a:ext>
            </a:extLst>
          </p:cNvPr>
          <p:cNvSpPr txBox="1">
            <a:spLocks noChangeArrowheads="1"/>
          </p:cNvSpPr>
          <p:nvPr/>
        </p:nvSpPr>
        <p:spPr>
          <a:xfrm>
            <a:off x="1571625" y="829811"/>
            <a:ext cx="7620000" cy="57912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endParaRPr lang="en-US" altLang="zh-CN" sz="1400" dirty="0"/>
          </a:p>
          <a:p>
            <a:pPr marL="0" indent="0" fontAlgn="t"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C00000"/>
                </a:solidFill>
                <a:latin typeface="宋体" panose="02010600030101010101" pitchFamily="2" charset="-122"/>
              </a:rPr>
              <a:t>幂等律</a:t>
            </a:r>
            <a:r>
              <a:rPr lang="en-US" altLang="zh-CN" sz="2400" dirty="0">
                <a:solidFill>
                  <a:srgbClr val="C00000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2400" dirty="0">
                <a:solidFill>
                  <a:srgbClr val="C00000"/>
                </a:solidFill>
                <a:latin typeface="宋体" panose="02010600030101010101" pitchFamily="2" charset="-122"/>
              </a:rPr>
              <a:t>幂等元</a:t>
            </a:r>
            <a:endParaRPr lang="en-US" altLang="zh-CN" sz="2400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0" indent="0" fontAlgn="t">
              <a:buFont typeface="Wingdings" panose="05000000000000000000" pitchFamily="2" charset="2"/>
              <a:buNone/>
            </a:pPr>
            <a:endParaRPr lang="en-US" altLang="zh-CN" sz="2400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0" indent="0" fontAlgn="t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&lt;S; *&gt;</a:t>
            </a:r>
          </a:p>
          <a:p>
            <a:pPr marL="0" indent="0" fontAlgn="t">
              <a:buFont typeface="Wingdings" panose="05000000000000000000" pitchFamily="2" charset="2"/>
              <a:buNone/>
            </a:pPr>
            <a:endParaRPr lang="en-US" altLang="zh-CN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t"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X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(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x*x=x)</a:t>
            </a:r>
          </a:p>
          <a:p>
            <a:pPr marL="0" indent="0" fontAlgn="t">
              <a:buFont typeface="Wingdings" panose="05000000000000000000" pitchFamily="2" charset="2"/>
              <a:buNone/>
            </a:pPr>
            <a:endParaRPr lang="en-US" altLang="zh-CN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t"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如果某些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满足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x*x=x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，称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为*运算的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幂等元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  </a:t>
            </a:r>
            <a:endParaRPr lang="en-US" altLang="zh-CN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03710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8D93C95-009C-47BF-BDFD-345915A9213C}"/>
              </a:ext>
            </a:extLst>
          </p:cNvPr>
          <p:cNvSpPr txBox="1"/>
          <p:nvPr/>
        </p:nvSpPr>
        <p:spPr>
          <a:xfrm>
            <a:off x="1686267" y="1000016"/>
            <a:ext cx="37748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accent1">
                    <a:lumMod val="75000"/>
                  </a:schemeClr>
                </a:solidFill>
              </a:rPr>
              <a:t>特殊元素</a:t>
            </a:r>
            <a:endParaRPr lang="en-US" altLang="zh-CN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219A07D-42EC-43EF-BCFB-E1148B293CF1}"/>
              </a:ext>
            </a:extLst>
          </p:cNvPr>
          <p:cNvSpPr/>
          <p:nvPr/>
        </p:nvSpPr>
        <p:spPr>
          <a:xfrm>
            <a:off x="1686267" y="1584791"/>
            <a:ext cx="9787157" cy="28019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ct val="15000"/>
              </a:spcBef>
            </a:pP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单位元　零元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(identity element, zero element)</a:t>
            </a:r>
          </a:p>
          <a:p>
            <a:pPr algn="just">
              <a:lnSpc>
                <a:spcPct val="150000"/>
              </a:lnSpc>
              <a:spcBef>
                <a:spcPct val="15000"/>
              </a:spcBef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(X,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是代数系统，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上的二元运算，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。则称</a:t>
            </a:r>
          </a:p>
          <a:p>
            <a:pPr algn="just">
              <a:lnSpc>
                <a:spcPct val="150000"/>
              </a:lnSpc>
              <a:spcBef>
                <a:spcPct val="150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是关于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运算的单位元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(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 algn="just">
              <a:lnSpc>
                <a:spcPct val="150000"/>
              </a:lnSpc>
              <a:spcBef>
                <a:spcPct val="150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是关于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运算的零元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(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3096497"/>
      </p:ext>
    </p:extLst>
  </p:cSld>
  <p:clrMapOvr>
    <a:masterClrMapping/>
  </p:clrMapOvr>
  <p:transition spd="slow" advTm="0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2F2A85-5CEE-4CC5-B43D-490E7713C56E}"/>
              </a:ext>
            </a:extLst>
          </p:cNvPr>
          <p:cNvSpPr txBox="1">
            <a:spLocks noChangeArrowheads="1"/>
          </p:cNvSpPr>
          <p:nvPr/>
        </p:nvSpPr>
        <p:spPr>
          <a:xfrm>
            <a:off x="1006679" y="2806372"/>
            <a:ext cx="10469460" cy="5715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在代数系统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(I,+,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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中，加法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的单位元是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，乘法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的单位元是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marL="0" indent="0" algn="just">
              <a:buFont typeface="Wingdings" panose="05000000000000000000" pitchFamily="2" charset="2"/>
              <a:buNone/>
            </a:pP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在代数系统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( 2</a:t>
            </a:r>
            <a:r>
              <a:rPr lang="en-US" altLang="zh-C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中，交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的单位元是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，并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的单位元是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。</a:t>
            </a:r>
          </a:p>
          <a:p>
            <a:pPr marL="0" indent="0" algn="just">
              <a:buFont typeface="Wingdings" panose="05000000000000000000" pitchFamily="2" charset="2"/>
              <a:buNone/>
            </a:pP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在代数系统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(I,+,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中，关于加法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无零元，乘法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的零元是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marL="0" indent="0" algn="just">
              <a:buFont typeface="Wingdings" panose="05000000000000000000" pitchFamily="2" charset="2"/>
              <a:buNone/>
            </a:pP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在代数系统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中，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的零元是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 ，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的零元是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C789EB-9DBF-432C-858D-AECCA8649614}"/>
              </a:ext>
            </a:extLst>
          </p:cNvPr>
          <p:cNvSpPr/>
          <p:nvPr/>
        </p:nvSpPr>
        <p:spPr>
          <a:xfrm>
            <a:off x="1869975" y="1194128"/>
            <a:ext cx="130356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(I,+,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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9F21448-7AB1-4668-A9D4-E1F0E60490AF}"/>
              </a:ext>
            </a:extLst>
          </p:cNvPr>
          <p:cNvSpPr/>
          <p:nvPr/>
        </p:nvSpPr>
        <p:spPr>
          <a:xfrm>
            <a:off x="3819449" y="1194128"/>
            <a:ext cx="168828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( 2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0290266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C347E5D-9986-42F6-9054-5F657865944B}"/>
              </a:ext>
            </a:extLst>
          </p:cNvPr>
          <p:cNvSpPr/>
          <p:nvPr/>
        </p:nvSpPr>
        <p:spPr>
          <a:xfrm>
            <a:off x="1571625" y="932518"/>
            <a:ext cx="687399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逆元　可逆性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(inverse element , invertibility)</a:t>
            </a:r>
            <a:endParaRPr lang="en-US" altLang="zh-CN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027">
            <a:extLst>
              <a:ext uri="{FF2B5EF4-FFF2-40B4-BE49-F238E27FC236}">
                <a16:creationId xmlns:a16="http://schemas.microsoft.com/office/drawing/2014/main" id="{8549A296-BCC4-43A4-9569-538EB434C2DB}"/>
              </a:ext>
            </a:extLst>
          </p:cNvPr>
          <p:cNvSpPr txBox="1">
            <a:spLocks noChangeArrowheads="1"/>
          </p:cNvSpPr>
          <p:nvPr/>
        </p:nvSpPr>
        <p:spPr>
          <a:xfrm>
            <a:off x="1571624" y="1662859"/>
            <a:ext cx="9149505" cy="5715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,*,e)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是代数系统，*是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上的二元运算，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是关于*运算有单位元。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对于某一元素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存在着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某个元素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,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使得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*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*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=e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则称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关于*运算的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逆元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，并称</a:t>
            </a:r>
            <a:r>
              <a:rPr lang="en-US" altLang="zh-CN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关于*运算是可逆的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(invertible)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，同时称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是关于*运算的可逆元；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称：　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*</a:t>
            </a:r>
            <a:r>
              <a:rPr lang="zh-CN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运算在</a:t>
            </a:r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上是可逆的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　　 </a:t>
            </a:r>
            <a:r>
              <a:rPr lang="en-US" altLang="zh-CN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X</a:t>
            </a:r>
            <a:r>
              <a:rPr lang="en-US" altLang="zh-CN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)(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X</a:t>
            </a:r>
            <a:r>
              <a:rPr lang="en-US" altLang="zh-CN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)(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*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*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=e</a:t>
            </a:r>
            <a:r>
              <a:rPr lang="en-US" altLang="zh-CN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X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中的每个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元素都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是关于*运算的可逆元 。</a:t>
            </a:r>
          </a:p>
        </p:txBody>
      </p:sp>
    </p:spTree>
    <p:extLst>
      <p:ext uri="{BB962C8B-B14F-4D97-AF65-F5344CB8AC3E}">
        <p14:creationId xmlns:p14="http://schemas.microsoft.com/office/powerpoint/2010/main" val="350201870"/>
      </p:ext>
    </p:extLst>
  </p:cSld>
  <p:clrMapOvr>
    <a:masterClrMapping/>
  </p:clrMapOvr>
  <p:transition spd="slow" advTm="0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E21F3F-1C30-44F9-BCB1-D7E31008D464}"/>
              </a:ext>
            </a:extLst>
          </p:cNvPr>
          <p:cNvSpPr txBox="1">
            <a:spLocks noChangeArrowheads="1"/>
          </p:cNvSpPr>
          <p:nvPr/>
        </p:nvSpPr>
        <p:spPr>
          <a:xfrm>
            <a:off x="1571625" y="775673"/>
            <a:ext cx="7634287" cy="50403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X={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a,b,c,d,e,f,g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，*是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上的二元运算，*运算的运算表。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从表可知，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，*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是代数系统，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是关于*运算的单位元。由于有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b*e=e*b=a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b*f=f*b=a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b*g=g*b=a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故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e,f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均为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逆元，即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的逆元不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唯一。原因在于*运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算不满足结合律。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e*b*g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Group 116">
            <a:extLst>
              <a:ext uri="{FF2B5EF4-FFF2-40B4-BE49-F238E27FC236}">
                <a16:creationId xmlns:a16="http://schemas.microsoft.com/office/drawing/2014/main" id="{40C3D839-E1E0-43FB-85D9-89AC92F4BD15}"/>
              </a:ext>
            </a:extLst>
          </p:cNvPr>
          <p:cNvGraphicFramePr>
            <a:graphicFrameLocks/>
          </p:cNvGraphicFramePr>
          <p:nvPr/>
        </p:nvGraphicFramePr>
        <p:xfrm>
          <a:off x="5815783" y="1976002"/>
          <a:ext cx="4598988" cy="3240090"/>
        </p:xfrm>
        <a:graphic>
          <a:graphicData uri="http://schemas.openxmlformats.org/drawingml/2006/table">
            <a:tbl>
              <a:tblPr/>
              <a:tblGrid>
                <a:gridCol w="690563">
                  <a:extLst>
                    <a:ext uri="{9D8B030D-6E8A-4147-A177-3AD203B41FA5}">
                      <a16:colId xmlns:a16="http://schemas.microsoft.com/office/drawing/2014/main" val="3989063780"/>
                    </a:ext>
                  </a:extLst>
                </a:gridCol>
                <a:gridCol w="600075">
                  <a:extLst>
                    <a:ext uri="{9D8B030D-6E8A-4147-A177-3AD203B41FA5}">
                      <a16:colId xmlns:a16="http://schemas.microsoft.com/office/drawing/2014/main" val="3540761832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3035896268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3698172070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157831511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4245471374"/>
                    </a:ext>
                  </a:extLst>
                </a:gridCol>
                <a:gridCol w="563562">
                  <a:extLst>
                    <a:ext uri="{9D8B030D-6E8A-4147-A177-3AD203B41FA5}">
                      <a16:colId xmlns:a16="http://schemas.microsoft.com/office/drawing/2014/main" val="1267405381"/>
                    </a:ext>
                  </a:extLst>
                </a:gridCol>
                <a:gridCol w="484188">
                  <a:extLst>
                    <a:ext uri="{9D8B030D-6E8A-4147-A177-3AD203B41FA5}">
                      <a16:colId xmlns:a16="http://schemas.microsoft.com/office/drawing/2014/main" val="1564897458"/>
                    </a:ext>
                  </a:extLst>
                </a:gridCol>
              </a:tblGrid>
              <a:tr h="45878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*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diamond" w="med" len="lg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diamond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diamond" w="med" len="lg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diamond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diamond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diamond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diamond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diamond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diamond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diamond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1622370"/>
                  </a:ext>
                </a:extLst>
              </a:tr>
              <a:tr h="3254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diamond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diamond" w="med" len="lg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diamond" w="med" len="lg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diamond" w="med" len="lg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diamond" w="med" len="lg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diamond" w="med" len="lg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diamond" w="med" len="lg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diamond" w="med" len="lg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diamond" w="med" len="lg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diamond" w="med" len="lg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015702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diamond" w="med" len="lg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diamond" w="med" len="lg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6221602"/>
                  </a:ext>
                </a:extLst>
              </a:tr>
              <a:tr h="42068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diamond" w="med" len="lg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diamond" w="med" len="lg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4145014"/>
                  </a:ext>
                </a:extLst>
              </a:tr>
              <a:tr h="40798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diamond" w="med" len="lg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diamond" w="med" len="lg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1889800"/>
                  </a:ext>
                </a:extLst>
              </a:tr>
              <a:tr h="40798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diamond" w="med" len="lg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diamond" w="med" len="lg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6295280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diamond" w="med" len="lg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diamond" w="med" len="lg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9975132"/>
                  </a:ext>
                </a:extLst>
              </a:tr>
              <a:tr h="4064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diamond" w="med" len="lg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diamond" w="med" len="lg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8820450"/>
                  </a:ext>
                </a:extLst>
              </a:tr>
            </a:tbl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2971C186-A328-496E-AD73-ADE71A167133}"/>
              </a:ext>
            </a:extLst>
          </p:cNvPr>
          <p:cNvSpPr/>
          <p:nvPr/>
        </p:nvSpPr>
        <p:spPr>
          <a:xfrm>
            <a:off x="4868411" y="5908610"/>
            <a:ext cx="6096000" cy="84023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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当不满足结合律时</a:t>
            </a:r>
            <a:r>
              <a:rPr lang="zh-CN" altLang="en-US" dirty="0">
                <a:latin typeface="宋体" panose="02010600030101010101" pitchFamily="2" charset="-122"/>
              </a:rPr>
              <a:t>，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逆元的情况变得极为复杂；</a:t>
            </a:r>
          </a:p>
          <a:p>
            <a:pPr>
              <a:lnSpc>
                <a:spcPct val="90000"/>
              </a:lnSpc>
            </a:pPr>
            <a:endParaRPr lang="en-US" altLang="zh-CN" dirty="0"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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结合律的验证有时是十分困难。</a:t>
            </a:r>
          </a:p>
        </p:txBody>
      </p:sp>
    </p:spTree>
    <p:extLst>
      <p:ext uri="{BB962C8B-B14F-4D97-AF65-F5344CB8AC3E}">
        <p14:creationId xmlns:p14="http://schemas.microsoft.com/office/powerpoint/2010/main" val="3467667122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DDFF8A8-00DE-4306-9F9C-74921C480383}"/>
              </a:ext>
            </a:extLst>
          </p:cNvPr>
          <p:cNvSpPr txBox="1">
            <a:spLocks noChangeArrowheads="1"/>
          </p:cNvSpPr>
          <p:nvPr/>
        </p:nvSpPr>
        <p:spPr>
          <a:xfrm>
            <a:off x="1751013" y="1384183"/>
            <a:ext cx="7620000" cy="5715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在代数系统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(I,+,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加法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的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单位元是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的逆元是其本身。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每个元素关于＋都有逆元。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I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的逆元是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-a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；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(2)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乘法的单位元是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的逆元是其本身。除了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以外，每个元素关于都无逆元。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在代数系统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(2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,,)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中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(1)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的单位元是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的逆元是其本身。除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外每个元素关于都无逆元 ；    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(2)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的单位元是，的逆元是其本身。除外每个元素关于都无逆元。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240383547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180EDE-188A-46B3-9E95-0C2468E4F6FF}"/>
              </a:ext>
            </a:extLst>
          </p:cNvPr>
          <p:cNvSpPr txBox="1">
            <a:spLocks noChangeArrowheads="1"/>
          </p:cNvSpPr>
          <p:nvPr/>
        </p:nvSpPr>
        <p:spPr>
          <a:xfrm>
            <a:off x="1240227" y="237309"/>
            <a:ext cx="10309815" cy="57912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</a:pP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   单位元和零元是对整个代数系统而言。即在一个代数系统中，对某个二元运算来说，只可能有一个单位元，同样也只可能有一个零元。</a:t>
            </a:r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　　而逆元是对代数系统中的每个元素而言的。现在讨论的是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中的某个元素对某个二元运算是否有逆元的问题。当然关于逆元的讨论，只能在二元运算有单位元的前提下进行，即单位元的存在是讨论逆元的先决条件，否则逆元问题无从谈起。</a:t>
            </a:r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从定义可以看出，如果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的逆元，则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也是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的逆元。这两者的关系是同时成立的。另外如果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有逆元存在，则称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是可逆元。当知道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有逆元存在时，并不一定知道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的逆元究竟是谁。 因此可逆元的概念是元素本身的性质，而逆元的概念则是两个元素之间的关系，并且这两个元素可能是相同的，也可能是不相同的。</a:t>
            </a:r>
          </a:p>
        </p:txBody>
      </p:sp>
    </p:spTree>
    <p:extLst>
      <p:ext uri="{BB962C8B-B14F-4D97-AF65-F5344CB8AC3E}">
        <p14:creationId xmlns:p14="http://schemas.microsoft.com/office/powerpoint/2010/main" val="943053503"/>
      </p:ext>
    </p:extLst>
  </p:cSld>
  <p:clrMapOvr>
    <a:masterClrMapping/>
  </p:clrMapOvr>
  <p:transition spd="slow" advTm="0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6B10485-6724-4BC9-A5E6-6E926232D63D}"/>
              </a:ext>
            </a:extLst>
          </p:cNvPr>
          <p:cNvSpPr/>
          <p:nvPr/>
        </p:nvSpPr>
        <p:spPr>
          <a:xfrm>
            <a:off x="1487647" y="851630"/>
            <a:ext cx="9527098" cy="4550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子代数系统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(subalgebra system)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A=(X,O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,O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,…,O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是代数系统，其中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,O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,…,O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个运算，其元数分别为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。若有子集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S≠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，对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中的每一个运算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有其子关系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，使得</a:t>
            </a:r>
            <a:r>
              <a:rPr lang="en-US" altLang="zh-CN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也是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上的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元运算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，从而使得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(S, O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S2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…,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也构成一代数系统，则我们称此代数系统是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的子代数系统，记为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　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=(S, O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 ,O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8655207"/>
      </p:ext>
    </p:extLst>
  </p:cSld>
  <p:clrMapOvr>
    <a:masterClrMapping/>
  </p:clrMapOvr>
  <p:transition spd="slow" advTm="0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1911CB-5556-4DF4-AB41-8B5464B4745D}"/>
              </a:ext>
            </a:extLst>
          </p:cNvPr>
          <p:cNvSpPr txBox="1">
            <a:spLocks noChangeArrowheads="1"/>
          </p:cNvSpPr>
          <p:nvPr/>
        </p:nvSpPr>
        <p:spPr>
          <a:xfrm>
            <a:off x="1371600" y="990600"/>
            <a:ext cx="7620000" cy="5638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,*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(X,*)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的子代数系统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,*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不是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(X,*)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的子代数系统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这里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X={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a,b,c,d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c,d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的两个子集； *是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上的一个二元运算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Group 123">
            <a:extLst>
              <a:ext uri="{FF2B5EF4-FFF2-40B4-BE49-F238E27FC236}">
                <a16:creationId xmlns:a16="http://schemas.microsoft.com/office/drawing/2014/main" id="{660F0A12-931D-4180-96EF-EDC3B39E67C1}"/>
              </a:ext>
            </a:extLst>
          </p:cNvPr>
          <p:cNvGraphicFramePr>
            <a:graphicFrameLocks noGrp="1"/>
          </p:cNvGraphicFramePr>
          <p:nvPr/>
        </p:nvGraphicFramePr>
        <p:xfrm>
          <a:off x="1547813" y="3644900"/>
          <a:ext cx="3352800" cy="2286000"/>
        </p:xfrm>
        <a:graphic>
          <a:graphicData uri="http://schemas.openxmlformats.org/drawingml/2006/table">
            <a:tbl>
              <a:tblPr/>
              <a:tblGrid>
                <a:gridCol w="692150">
                  <a:extLst>
                    <a:ext uri="{9D8B030D-6E8A-4147-A177-3AD203B41FA5}">
                      <a16:colId xmlns:a16="http://schemas.microsoft.com/office/drawing/2014/main" val="1776260999"/>
                    </a:ext>
                  </a:extLst>
                </a:gridCol>
                <a:gridCol w="650875">
                  <a:extLst>
                    <a:ext uri="{9D8B030D-6E8A-4147-A177-3AD203B41FA5}">
                      <a16:colId xmlns:a16="http://schemas.microsoft.com/office/drawing/2014/main" val="1769507714"/>
                    </a:ext>
                  </a:extLst>
                </a:gridCol>
                <a:gridCol w="696912">
                  <a:extLst>
                    <a:ext uri="{9D8B030D-6E8A-4147-A177-3AD203B41FA5}">
                      <a16:colId xmlns:a16="http://schemas.microsoft.com/office/drawing/2014/main" val="533893031"/>
                    </a:ext>
                  </a:extLst>
                </a:gridCol>
                <a:gridCol w="574675">
                  <a:extLst>
                    <a:ext uri="{9D8B030D-6E8A-4147-A177-3AD203B41FA5}">
                      <a16:colId xmlns:a16="http://schemas.microsoft.com/office/drawing/2014/main" val="3939532626"/>
                    </a:ext>
                  </a:extLst>
                </a:gridCol>
                <a:gridCol w="738188">
                  <a:extLst>
                    <a:ext uri="{9D8B030D-6E8A-4147-A177-3AD203B41FA5}">
                      <a16:colId xmlns:a16="http://schemas.microsoft.com/office/drawing/2014/main" val="1178017879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494622"/>
                  </a:ext>
                </a:extLst>
              </a:tr>
              <a:tr h="45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0801600"/>
                  </a:ext>
                </a:extLst>
              </a:tr>
              <a:tr h="431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2635735"/>
                  </a:ext>
                </a:extLst>
              </a:tr>
              <a:tr h="45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4378416"/>
                  </a:ext>
                </a:extLst>
              </a:tr>
              <a:tr h="45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7762442"/>
                  </a:ext>
                </a:extLst>
              </a:tr>
            </a:tbl>
          </a:graphicData>
        </a:graphic>
      </p:graphicFrame>
      <p:graphicFrame>
        <p:nvGraphicFramePr>
          <p:cNvPr id="6" name="Group 128">
            <a:extLst>
              <a:ext uri="{FF2B5EF4-FFF2-40B4-BE49-F238E27FC236}">
                <a16:creationId xmlns:a16="http://schemas.microsoft.com/office/drawing/2014/main" id="{47928688-E19A-4C1A-AD53-91D627EBB8C3}"/>
              </a:ext>
            </a:extLst>
          </p:cNvPr>
          <p:cNvGraphicFramePr>
            <a:graphicFrameLocks noGrp="1"/>
          </p:cNvGraphicFramePr>
          <p:nvPr/>
        </p:nvGraphicFramePr>
        <p:xfrm>
          <a:off x="5219700" y="3573463"/>
          <a:ext cx="1676400" cy="1570038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61539638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95284937"/>
                    </a:ext>
                  </a:extLst>
                </a:gridCol>
                <a:gridCol w="523875">
                  <a:extLst>
                    <a:ext uri="{9D8B030D-6E8A-4147-A177-3AD203B41FA5}">
                      <a16:colId xmlns:a16="http://schemas.microsoft.com/office/drawing/2014/main" val="2425707275"/>
                    </a:ext>
                  </a:extLst>
                </a:gridCol>
              </a:tblGrid>
              <a:tr h="5032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*</a:t>
                      </a:r>
                      <a:r>
                        <a:rPr kumimoji="1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3373103"/>
                  </a:ext>
                </a:extLst>
              </a:tr>
              <a:tr h="5334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7404299"/>
                  </a:ext>
                </a:extLst>
              </a:tr>
              <a:tr h="5334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3863009"/>
                  </a:ext>
                </a:extLst>
              </a:tr>
            </a:tbl>
          </a:graphicData>
        </a:graphic>
      </p:graphicFrame>
      <p:graphicFrame>
        <p:nvGraphicFramePr>
          <p:cNvPr id="7" name="Group 127">
            <a:extLst>
              <a:ext uri="{FF2B5EF4-FFF2-40B4-BE49-F238E27FC236}">
                <a16:creationId xmlns:a16="http://schemas.microsoft.com/office/drawing/2014/main" id="{7A50F725-9071-4D82-9ECE-E0DD36E7243B}"/>
              </a:ext>
            </a:extLst>
          </p:cNvPr>
          <p:cNvGraphicFramePr>
            <a:graphicFrameLocks noGrp="1"/>
          </p:cNvGraphicFramePr>
          <p:nvPr/>
        </p:nvGraphicFramePr>
        <p:xfrm>
          <a:off x="7235825" y="3573463"/>
          <a:ext cx="1597025" cy="1571626"/>
        </p:xfrm>
        <a:graphic>
          <a:graphicData uri="http://schemas.openxmlformats.org/drawingml/2006/table">
            <a:tbl>
              <a:tblPr/>
              <a:tblGrid>
                <a:gridCol w="438150">
                  <a:extLst>
                    <a:ext uri="{9D8B030D-6E8A-4147-A177-3AD203B41FA5}">
                      <a16:colId xmlns:a16="http://schemas.microsoft.com/office/drawing/2014/main" val="167983904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1725336429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4260956880"/>
                    </a:ext>
                  </a:extLst>
                </a:gridCol>
              </a:tblGrid>
              <a:tr h="5048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*</a:t>
                      </a:r>
                      <a:r>
                        <a:rPr kumimoji="1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0329379"/>
                  </a:ext>
                </a:extLst>
              </a:tr>
              <a:tr h="5381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296017"/>
                  </a:ext>
                </a:extLst>
              </a:tr>
              <a:tr h="5286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80907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8760114"/>
      </p:ext>
    </p:extLst>
  </p:cSld>
  <p:clrMapOvr>
    <a:masterClrMapping/>
  </p:clrMapOvr>
  <p:transition spd="slow" advTm="0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D22A367-8C14-47C9-A730-D0D298922B15}"/>
              </a:ext>
            </a:extLst>
          </p:cNvPr>
          <p:cNvSpPr/>
          <p:nvPr/>
        </p:nvSpPr>
        <p:spPr>
          <a:xfrm>
            <a:off x="1705761" y="1667832"/>
            <a:ext cx="8780477" cy="26080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(N,+,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(I, +,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(Q, +,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都是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(R, +,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的子代数系统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在代数系统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(R,+,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+,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对自然数集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、整数集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、有理数集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都是封闭的，故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(N,+,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(I, +,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(Q, +,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都是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(R, +,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的子代数系统。</a:t>
            </a:r>
          </a:p>
        </p:txBody>
      </p:sp>
    </p:spTree>
    <p:extLst>
      <p:ext uri="{BB962C8B-B14F-4D97-AF65-F5344CB8AC3E}">
        <p14:creationId xmlns:p14="http://schemas.microsoft.com/office/powerpoint/2010/main" val="288410877"/>
      </p:ext>
    </p:extLst>
  </p:cSld>
  <p:clrMapOvr>
    <a:masterClrMapping/>
  </p:clrMapOvr>
  <p:transition spd="slow" advTm="0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3F5386C-57B3-4F27-8021-1E40E4FD52AE}"/>
              </a:ext>
            </a:extLst>
          </p:cNvPr>
          <p:cNvSpPr/>
          <p:nvPr/>
        </p:nvSpPr>
        <p:spPr>
          <a:xfrm>
            <a:off x="2284602" y="3575456"/>
            <a:ext cx="8621086" cy="19584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(E, +,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(I, +,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的子代数系统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(O, +,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不能构成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(I, +,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的子代数系统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7C4212F-E137-4DEA-8F7D-BC7C6862FF8E}"/>
              </a:ext>
            </a:extLst>
          </p:cNvPr>
          <p:cNvSpPr/>
          <p:nvPr/>
        </p:nvSpPr>
        <p:spPr>
          <a:xfrm>
            <a:off x="1751013" y="1019615"/>
            <a:ext cx="6096000" cy="1958421"/>
          </a:xfrm>
          <a:prstGeom prst="rect">
            <a:avLst/>
          </a:prstGeom>
        </p:spPr>
        <p:txBody>
          <a:bodyPr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在代数系统 </a:t>
            </a:r>
            <a:r>
              <a:rPr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(I, +, </a:t>
            </a:r>
            <a:r>
              <a:rPr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中，取</a:t>
            </a:r>
            <a:r>
              <a:rPr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的两个子集如下：</a:t>
            </a:r>
          </a:p>
          <a:p>
            <a:pPr lvl="0">
              <a:lnSpc>
                <a:spcPct val="150000"/>
              </a:lnSpc>
            </a:pPr>
            <a:r>
              <a:rPr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E={</a:t>
            </a:r>
            <a:r>
              <a:rPr lang="en-US" altLang="zh-CN" sz="28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是偶数</a:t>
            </a:r>
            <a:r>
              <a:rPr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O={</a:t>
            </a:r>
            <a:r>
              <a:rPr lang="en-US" altLang="zh-CN" sz="28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是奇数</a:t>
            </a:r>
            <a:r>
              <a:rPr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32361614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564F9FE-9F63-4F8B-9447-729DFA46D5E4}"/>
              </a:ext>
            </a:extLst>
          </p:cNvPr>
          <p:cNvSpPr/>
          <p:nvPr/>
        </p:nvSpPr>
        <p:spPr>
          <a:xfrm>
            <a:off x="1571625" y="738188"/>
            <a:ext cx="9367707" cy="5090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遗传性定理</a:t>
            </a:r>
          </a:p>
          <a:p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，*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是代数系统，*是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上的二元运算。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，*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，*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的子代数系统。则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(1)*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运算在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上有结合律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*运算在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上有结合律；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(2)*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运算在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上有交换律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*运算在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上有交换律。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证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对于任何元数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a,b,c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，由于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，所以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a,b,c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。而*运算在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上有结合律，因此有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(a*b)*c=a*(b*c)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但由于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，*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，*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的子代数系统，*运算关于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封闭，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(a*b)* c, a*(b*c)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，因此上述等式在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上也是成立的。这说明*运算在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上也有结合律。</a:t>
            </a:r>
          </a:p>
          <a:p>
            <a:pPr>
              <a:lnSpc>
                <a:spcPct val="80000"/>
              </a:lnSpc>
            </a:pP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5A4D942-9514-4F20-8A3D-1F9947F80450}"/>
              </a:ext>
            </a:extLst>
          </p:cNvPr>
          <p:cNvSpPr/>
          <p:nvPr/>
        </p:nvSpPr>
        <p:spPr>
          <a:xfrm>
            <a:off x="2074876" y="5658147"/>
            <a:ext cx="776540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其它许多性质，诸如消去律、分配律、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de </a:t>
            </a:r>
            <a:r>
              <a:rPr lang="en-US" altLang="zh-CN" sz="240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morgan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律等等，在其各自所在类的代数系统与其子代数系统间，都有遗传性定理成立！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2666360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AutoShape 3">
            <a:extLst>
              <a:ext uri="{FF2B5EF4-FFF2-40B4-BE49-F238E27FC236}">
                <a16:creationId xmlns:a16="http://schemas.microsoft.com/office/drawing/2014/main" id="{C5B18677-C76B-4A83-863B-B2F14DB5A86C}"/>
              </a:ext>
            </a:extLst>
          </p:cNvPr>
          <p:cNvSpPr txBox="1">
            <a:spLocks noChangeAspect="1" noChangeArrowheads="1"/>
          </p:cNvSpPr>
          <p:nvPr/>
        </p:nvSpPr>
        <p:spPr>
          <a:xfrm>
            <a:off x="1681993" y="898321"/>
            <a:ext cx="7543800" cy="5638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C00000"/>
                </a:solidFill>
              </a:rPr>
              <a:t>同态和同构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sz="1400" b="1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/>
              <a:t>(2</a:t>
            </a:r>
            <a:r>
              <a:rPr lang="en-US" altLang="zh-CN" sz="2400" baseline="30000" dirty="0"/>
              <a:t>A</a:t>
            </a:r>
            <a:r>
              <a:rPr lang="en-US" altLang="zh-CN" sz="2400" dirty="0"/>
              <a:t>,</a:t>
            </a:r>
            <a:r>
              <a:rPr lang="en-US" altLang="zh-CN" sz="2400" dirty="0">
                <a:sym typeface="Symbol" panose="05050102010706020507" pitchFamily="18" charset="2"/>
              </a:rPr>
              <a:t></a:t>
            </a:r>
            <a:r>
              <a:rPr lang="en-US" altLang="zh-CN" sz="2400" dirty="0"/>
              <a:t>)</a:t>
            </a:r>
            <a:r>
              <a:rPr lang="zh-CN" altLang="en-US" sz="2400" dirty="0"/>
              <a:t>是代数系统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/>
              <a:t>　这里</a:t>
            </a:r>
            <a:r>
              <a:rPr lang="en-US" altLang="zh-CN" sz="2400" dirty="0"/>
              <a:t>A={a}</a:t>
            </a:r>
            <a:r>
              <a:rPr lang="zh-CN" altLang="en-US" sz="2400" dirty="0"/>
              <a:t>，</a:t>
            </a:r>
            <a:r>
              <a:rPr lang="zh-CN" altLang="en-US" sz="2400" dirty="0">
                <a:sym typeface="Symbol" panose="05050102010706020507" pitchFamily="18" charset="2"/>
              </a:rPr>
              <a:t></a:t>
            </a:r>
            <a:r>
              <a:rPr lang="zh-CN" altLang="en-US" sz="2400" dirty="0"/>
              <a:t>是</a:t>
            </a:r>
            <a:r>
              <a:rPr lang="en-US" altLang="zh-CN" sz="2400" dirty="0"/>
              <a:t>2</a:t>
            </a:r>
            <a:r>
              <a:rPr lang="en-US" altLang="zh-CN" sz="2400" baseline="30000" dirty="0"/>
              <a:t>A</a:t>
            </a:r>
            <a:r>
              <a:rPr lang="zh-CN" altLang="en-US" sz="2400" dirty="0"/>
              <a:t>上的并运算。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sz="1400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/>
              <a:t>( B,</a:t>
            </a:r>
            <a:r>
              <a:rPr lang="en-US" altLang="zh-CN" sz="2400" dirty="0">
                <a:sym typeface="Symbol" panose="05050102010706020507" pitchFamily="18" charset="2"/>
              </a:rPr>
              <a:t></a:t>
            </a:r>
            <a:r>
              <a:rPr lang="en-US" altLang="zh-CN" sz="2400" dirty="0"/>
              <a:t>)</a:t>
            </a:r>
            <a:r>
              <a:rPr lang="zh-CN" altLang="en-US" sz="2400" dirty="0"/>
              <a:t>是代数系统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/>
              <a:t>　这里</a:t>
            </a:r>
            <a:r>
              <a:rPr lang="en-US" altLang="zh-CN" sz="2400" dirty="0"/>
              <a:t>B={0,1}</a:t>
            </a:r>
            <a:r>
              <a:rPr lang="zh-CN" altLang="en-US" sz="2400" dirty="0"/>
              <a:t>，</a:t>
            </a:r>
            <a:r>
              <a:rPr lang="zh-CN" altLang="en-US" sz="2400" dirty="0">
                <a:sym typeface="Symbol" panose="05050102010706020507" pitchFamily="18" charset="2"/>
              </a:rPr>
              <a:t></a:t>
            </a:r>
            <a:r>
              <a:rPr lang="zh-CN" altLang="en-US" sz="2400" dirty="0"/>
              <a:t>是</a:t>
            </a:r>
            <a:r>
              <a:rPr lang="en-US" altLang="zh-CN" sz="2400" dirty="0"/>
              <a:t>B</a:t>
            </a:r>
            <a:r>
              <a:rPr lang="zh-CN" altLang="en-US" sz="2400" dirty="0"/>
              <a:t>上的或运算。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/>
              <a:t>                                                                    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sz="2000" dirty="0">
              <a:ea typeface="楷体_GB2312" pitchFamily="49" charset="-122"/>
            </a:endParaRPr>
          </a:p>
        </p:txBody>
      </p:sp>
      <p:graphicFrame>
        <p:nvGraphicFramePr>
          <p:cNvPr id="5" name="Group 69">
            <a:extLst>
              <a:ext uri="{FF2B5EF4-FFF2-40B4-BE49-F238E27FC236}">
                <a16:creationId xmlns:a16="http://schemas.microsoft.com/office/drawing/2014/main" id="{FED0F43E-B50B-4C18-AA29-FD7DCD0D87CF}"/>
              </a:ext>
            </a:extLst>
          </p:cNvPr>
          <p:cNvGraphicFramePr>
            <a:graphicFrameLocks noGrp="1"/>
          </p:cNvGraphicFramePr>
          <p:nvPr/>
        </p:nvGraphicFramePr>
        <p:xfrm>
          <a:off x="7389303" y="1759591"/>
          <a:ext cx="1676400" cy="1219201"/>
        </p:xfrm>
        <a:graphic>
          <a:graphicData uri="http://schemas.openxmlformats.org/drawingml/2006/table">
            <a:tbl>
              <a:tblPr/>
              <a:tblGrid>
                <a:gridCol w="558800">
                  <a:extLst>
                    <a:ext uri="{9D8B030D-6E8A-4147-A177-3AD203B41FA5}">
                      <a16:colId xmlns:a16="http://schemas.microsoft.com/office/drawing/2014/main" val="1877422026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337563164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3812470636"/>
                    </a:ext>
                  </a:extLst>
                </a:gridCol>
              </a:tblGrid>
              <a:tr h="4270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</a:t>
                      </a:r>
                    </a:p>
                  </a:txBody>
                  <a:tcPr marL="0" marR="0" marT="0" marB="0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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0" marB="0" anchorCtr="1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7439587"/>
                  </a:ext>
                </a:extLst>
              </a:tr>
              <a:tr h="4048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</a:t>
                      </a:r>
                    </a:p>
                  </a:txBody>
                  <a:tcPr marL="0" marR="0" marT="0" marB="0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</a:t>
                      </a:r>
                    </a:p>
                  </a:txBody>
                  <a:tcPr marL="0" marR="0" marT="0" marB="0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0" marB="0" anchorCtr="1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4688317"/>
                  </a:ext>
                </a:extLst>
              </a:tr>
              <a:tr h="3873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0" marB="0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0" marB="0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0" marB="0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6059384"/>
                  </a:ext>
                </a:extLst>
              </a:tr>
            </a:tbl>
          </a:graphicData>
        </a:graphic>
      </p:graphicFrame>
      <p:graphicFrame>
        <p:nvGraphicFramePr>
          <p:cNvPr id="6" name="Group 72">
            <a:extLst>
              <a:ext uri="{FF2B5EF4-FFF2-40B4-BE49-F238E27FC236}">
                <a16:creationId xmlns:a16="http://schemas.microsoft.com/office/drawing/2014/main" id="{EB92D843-1185-4E0E-A79C-F14B7571B36C}"/>
              </a:ext>
            </a:extLst>
          </p:cNvPr>
          <p:cNvGraphicFramePr>
            <a:graphicFrameLocks noGrp="1"/>
          </p:cNvGraphicFramePr>
          <p:nvPr/>
        </p:nvGraphicFramePr>
        <p:xfrm>
          <a:off x="7465503" y="3518482"/>
          <a:ext cx="1600200" cy="1127125"/>
        </p:xfrm>
        <a:graphic>
          <a:graphicData uri="http://schemas.openxmlformats.org/drawingml/2006/table">
            <a:tbl>
              <a:tblPr/>
              <a:tblGrid>
                <a:gridCol w="557213">
                  <a:extLst>
                    <a:ext uri="{9D8B030D-6E8A-4147-A177-3AD203B41FA5}">
                      <a16:colId xmlns:a16="http://schemas.microsoft.com/office/drawing/2014/main" val="237585495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463472599"/>
                    </a:ext>
                  </a:extLst>
                </a:gridCol>
                <a:gridCol w="557212">
                  <a:extLst>
                    <a:ext uri="{9D8B030D-6E8A-4147-A177-3AD203B41FA5}">
                      <a16:colId xmlns:a16="http://schemas.microsoft.com/office/drawing/2014/main" val="1274527542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</a:t>
                      </a:r>
                    </a:p>
                  </a:txBody>
                  <a:tcPr marL="0" marR="0" marT="0" marB="0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Ctr="1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6959013"/>
                  </a:ext>
                </a:extLst>
              </a:tr>
              <a:tr h="3429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Ctr="1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5950899"/>
                  </a:ext>
                </a:extLst>
              </a:tr>
              <a:tr h="3270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6206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6609390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2A25910-A178-49FC-AD23-E76B9F347F6F}"/>
              </a:ext>
            </a:extLst>
          </p:cNvPr>
          <p:cNvSpPr/>
          <p:nvPr/>
        </p:nvSpPr>
        <p:spPr>
          <a:xfrm>
            <a:off x="1571625" y="1021252"/>
            <a:ext cx="30524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同类型</a:t>
            </a:r>
            <a:r>
              <a:rPr lang="en-US" altLang="zh-CN" sz="28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(same type)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FDA9DB0-E9B5-4901-88A1-2DF960257F03}"/>
              </a:ext>
            </a:extLst>
          </p:cNvPr>
          <p:cNvSpPr/>
          <p:nvPr/>
        </p:nvSpPr>
        <p:spPr>
          <a:xfrm>
            <a:off x="1855165" y="1878916"/>
            <a:ext cx="9090869" cy="32510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称两个代数系统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A=(X,O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,O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,···,O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B=(Y,    ,     ,···,     )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同类型的代数系统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m = n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(2)O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运算和相对应的    运算的元数相同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1, ···,m 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6" name="Picture 1060">
            <a:extLst>
              <a:ext uri="{FF2B5EF4-FFF2-40B4-BE49-F238E27FC236}">
                <a16:creationId xmlns:a16="http://schemas.microsoft.com/office/drawing/2014/main" id="{03BCD37B-ABAA-4CD1-A7C0-BC9B9D048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3968" y="2658507"/>
            <a:ext cx="415925" cy="47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7" name="Picture 1061">
            <a:extLst>
              <a:ext uri="{FF2B5EF4-FFF2-40B4-BE49-F238E27FC236}">
                <a16:creationId xmlns:a16="http://schemas.microsoft.com/office/drawing/2014/main" id="{678CC513-D35B-4071-A8CC-BB1D34D6AF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1168" y="2658507"/>
            <a:ext cx="444500" cy="47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8" name="Picture 1062">
            <a:extLst>
              <a:ext uri="{FF2B5EF4-FFF2-40B4-BE49-F238E27FC236}">
                <a16:creationId xmlns:a16="http://schemas.microsoft.com/office/drawing/2014/main" id="{896CA955-7177-4682-A271-2F33CAA29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3168" y="2658507"/>
            <a:ext cx="471488" cy="47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9" name="Picture 1063">
            <a:extLst>
              <a:ext uri="{FF2B5EF4-FFF2-40B4-BE49-F238E27FC236}">
                <a16:creationId xmlns:a16="http://schemas.microsoft.com/office/drawing/2014/main" id="{33890692-6FE4-4156-AC6A-C5EC80A913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173" y="4591873"/>
            <a:ext cx="417513" cy="47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FC82C247-D913-4393-B93B-428338CA84EF}"/>
              </a:ext>
            </a:extLst>
          </p:cNvPr>
          <p:cNvSpPr/>
          <p:nvPr/>
        </p:nvSpPr>
        <p:spPr>
          <a:xfrm>
            <a:off x="2073653" y="5836748"/>
            <a:ext cx="731963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(I, +,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是两个同类型的代数系统</a:t>
            </a:r>
          </a:p>
        </p:txBody>
      </p:sp>
    </p:spTree>
    <p:extLst>
      <p:ext uri="{BB962C8B-B14F-4D97-AF65-F5344CB8AC3E}">
        <p14:creationId xmlns:p14="http://schemas.microsoft.com/office/powerpoint/2010/main" val="477143514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grpSp>
        <p:nvGrpSpPr>
          <p:cNvPr id="5" name="Group 80">
            <a:extLst>
              <a:ext uri="{FF2B5EF4-FFF2-40B4-BE49-F238E27FC236}">
                <a16:creationId xmlns:a16="http://schemas.microsoft.com/office/drawing/2014/main" id="{59E4F394-7A87-4C80-9429-DD1358524EFA}"/>
              </a:ext>
            </a:extLst>
          </p:cNvPr>
          <p:cNvGrpSpPr>
            <a:grpSpLocks/>
          </p:cNvGrpSpPr>
          <p:nvPr/>
        </p:nvGrpSpPr>
        <p:grpSpPr bwMode="auto">
          <a:xfrm>
            <a:off x="2946196" y="2307074"/>
            <a:ext cx="6096000" cy="2378075"/>
            <a:chOff x="1344" y="816"/>
            <a:chExt cx="3840" cy="1498"/>
          </a:xfrm>
        </p:grpSpPr>
        <p:sp>
          <p:nvSpPr>
            <p:cNvPr id="6" name="Oval 24">
              <a:extLst>
                <a:ext uri="{FF2B5EF4-FFF2-40B4-BE49-F238E27FC236}">
                  <a16:creationId xmlns:a16="http://schemas.microsoft.com/office/drawing/2014/main" id="{D0573DE2-83C6-4A2A-ADED-23DE4F24A1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816"/>
              <a:ext cx="1440" cy="1104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Oval 25">
              <a:extLst>
                <a:ext uri="{FF2B5EF4-FFF2-40B4-BE49-F238E27FC236}">
                  <a16:creationId xmlns:a16="http://schemas.microsoft.com/office/drawing/2014/main" id="{BA698C3F-F0AE-4D1A-9B16-101D1F7BB0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816"/>
              <a:ext cx="1488" cy="1104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Text Box 26">
              <a:extLst>
                <a:ext uri="{FF2B5EF4-FFF2-40B4-BE49-F238E27FC236}">
                  <a16:creationId xmlns:a16="http://schemas.microsoft.com/office/drawing/2014/main" id="{96F435BF-91DB-4CD3-9EB2-9A92E10641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920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X</a:t>
              </a:r>
            </a:p>
          </p:txBody>
        </p:sp>
        <p:sp>
          <p:nvSpPr>
            <p:cNvPr id="9" name="Text Box 27">
              <a:extLst>
                <a:ext uri="{FF2B5EF4-FFF2-40B4-BE49-F238E27FC236}">
                  <a16:creationId xmlns:a16="http://schemas.microsoft.com/office/drawing/2014/main" id="{CE9DCC44-3431-4A17-B232-CB03C61243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1920"/>
              <a:ext cx="48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Y</a:t>
              </a:r>
            </a:p>
          </p:txBody>
        </p:sp>
        <p:sp>
          <p:nvSpPr>
            <p:cNvPr id="10" name="Oval 28">
              <a:extLst>
                <a:ext uri="{FF2B5EF4-FFF2-40B4-BE49-F238E27FC236}">
                  <a16:creationId xmlns:a16="http://schemas.microsoft.com/office/drawing/2014/main" id="{749340E5-43B6-4076-A78C-E7CE5A6496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1152"/>
              <a:ext cx="96" cy="96"/>
            </a:xfrm>
            <a:prstGeom prst="ellipse">
              <a:avLst/>
            </a:prstGeom>
            <a:solidFill>
              <a:schemeClr val="accent2"/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Oval 29">
              <a:extLst>
                <a:ext uri="{FF2B5EF4-FFF2-40B4-BE49-F238E27FC236}">
                  <a16:creationId xmlns:a16="http://schemas.microsoft.com/office/drawing/2014/main" id="{0B46BD83-5E57-4D49-B80A-DA57A5332C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1056"/>
              <a:ext cx="96" cy="96"/>
            </a:xfrm>
            <a:prstGeom prst="ellipse">
              <a:avLst/>
            </a:prstGeom>
            <a:solidFill>
              <a:schemeClr val="accent2"/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Oval 30">
              <a:extLst>
                <a:ext uri="{FF2B5EF4-FFF2-40B4-BE49-F238E27FC236}">
                  <a16:creationId xmlns:a16="http://schemas.microsoft.com/office/drawing/2014/main" id="{4460F9AC-904A-4A06-AC75-51493C7626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1200"/>
              <a:ext cx="96" cy="96"/>
            </a:xfrm>
            <a:prstGeom prst="ellipse">
              <a:avLst/>
            </a:prstGeom>
            <a:solidFill>
              <a:schemeClr val="accent2"/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Oval 31">
              <a:extLst>
                <a:ext uri="{FF2B5EF4-FFF2-40B4-BE49-F238E27FC236}">
                  <a16:creationId xmlns:a16="http://schemas.microsoft.com/office/drawing/2014/main" id="{C0B75C13-DFE5-45C1-8AE6-376B1D6F24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1536"/>
              <a:ext cx="96" cy="96"/>
            </a:xfrm>
            <a:prstGeom prst="ellipse">
              <a:avLst/>
            </a:prstGeom>
            <a:solidFill>
              <a:srgbClr val="FFFF00"/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Oval 32">
              <a:extLst>
                <a:ext uri="{FF2B5EF4-FFF2-40B4-BE49-F238E27FC236}">
                  <a16:creationId xmlns:a16="http://schemas.microsoft.com/office/drawing/2014/main" id="{4E906567-EDEA-43DF-BD14-92BC8A3859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1200"/>
              <a:ext cx="96" cy="96"/>
            </a:xfrm>
            <a:prstGeom prst="ellipse">
              <a:avLst/>
            </a:prstGeom>
            <a:solidFill>
              <a:schemeClr val="accent2"/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Oval 33">
              <a:extLst>
                <a:ext uri="{FF2B5EF4-FFF2-40B4-BE49-F238E27FC236}">
                  <a16:creationId xmlns:a16="http://schemas.microsoft.com/office/drawing/2014/main" id="{CCC1FEFF-9EF2-4218-9148-C8F468D8BC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1008"/>
              <a:ext cx="96" cy="96"/>
            </a:xfrm>
            <a:prstGeom prst="ellipse">
              <a:avLst/>
            </a:prstGeom>
            <a:solidFill>
              <a:schemeClr val="accent2"/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Oval 35">
              <a:extLst>
                <a:ext uri="{FF2B5EF4-FFF2-40B4-BE49-F238E27FC236}">
                  <a16:creationId xmlns:a16="http://schemas.microsoft.com/office/drawing/2014/main" id="{A2B93C83-7BD9-4097-A863-4DF1F88A6D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1104"/>
              <a:ext cx="96" cy="96"/>
            </a:xfrm>
            <a:prstGeom prst="ellipse">
              <a:avLst/>
            </a:prstGeom>
            <a:solidFill>
              <a:schemeClr val="accent2"/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Oval 36">
              <a:extLst>
                <a:ext uri="{FF2B5EF4-FFF2-40B4-BE49-F238E27FC236}">
                  <a16:creationId xmlns:a16="http://schemas.microsoft.com/office/drawing/2014/main" id="{E2DD0BBF-D2AC-464F-9A9E-F0A7849B63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1584"/>
              <a:ext cx="96" cy="96"/>
            </a:xfrm>
            <a:prstGeom prst="ellipse">
              <a:avLst/>
            </a:prstGeom>
            <a:solidFill>
              <a:srgbClr val="FFFF00"/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Oval 37">
              <a:extLst>
                <a:ext uri="{FF2B5EF4-FFF2-40B4-BE49-F238E27FC236}">
                  <a16:creationId xmlns:a16="http://schemas.microsoft.com/office/drawing/2014/main" id="{FDAD771D-57EB-443C-BA54-FB781E7F60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1056"/>
              <a:ext cx="48" cy="48"/>
            </a:xfrm>
            <a:prstGeom prst="ellipse">
              <a:avLst/>
            </a:prstGeom>
            <a:solidFill>
              <a:schemeClr val="tx1"/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Oval 38">
              <a:extLst>
                <a:ext uri="{FF2B5EF4-FFF2-40B4-BE49-F238E27FC236}">
                  <a16:creationId xmlns:a16="http://schemas.microsoft.com/office/drawing/2014/main" id="{007BD51B-E446-40E1-A0AD-517AFBFAD0C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208" y="1056"/>
              <a:ext cx="48" cy="48"/>
            </a:xfrm>
            <a:prstGeom prst="ellipse">
              <a:avLst/>
            </a:prstGeom>
            <a:solidFill>
              <a:schemeClr val="tx1"/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Oval 39">
              <a:extLst>
                <a:ext uri="{FF2B5EF4-FFF2-40B4-BE49-F238E27FC236}">
                  <a16:creationId xmlns:a16="http://schemas.microsoft.com/office/drawing/2014/main" id="{81959F90-DB5C-4E50-8248-B2F75FAAD7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104"/>
              <a:ext cx="48" cy="48"/>
            </a:xfrm>
            <a:prstGeom prst="ellipse">
              <a:avLst/>
            </a:prstGeom>
            <a:solidFill>
              <a:schemeClr val="tx1"/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Oval 41">
              <a:extLst>
                <a:ext uri="{FF2B5EF4-FFF2-40B4-BE49-F238E27FC236}">
                  <a16:creationId xmlns:a16="http://schemas.microsoft.com/office/drawing/2014/main" id="{E76C4B4E-BE70-4395-BBD7-4814781D8A9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416" y="1008"/>
              <a:ext cx="48" cy="48"/>
            </a:xfrm>
            <a:prstGeom prst="ellipse">
              <a:avLst/>
            </a:prstGeom>
            <a:solidFill>
              <a:schemeClr val="tx1"/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Oval 42">
              <a:extLst>
                <a:ext uri="{FF2B5EF4-FFF2-40B4-BE49-F238E27FC236}">
                  <a16:creationId xmlns:a16="http://schemas.microsoft.com/office/drawing/2014/main" id="{F87C2C3D-B631-41BC-9972-56878BA3908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560" y="1008"/>
              <a:ext cx="48" cy="48"/>
            </a:xfrm>
            <a:prstGeom prst="ellipse">
              <a:avLst/>
            </a:prstGeom>
            <a:solidFill>
              <a:schemeClr val="tx1"/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Oval 43">
              <a:extLst>
                <a:ext uri="{FF2B5EF4-FFF2-40B4-BE49-F238E27FC236}">
                  <a16:creationId xmlns:a16="http://schemas.microsoft.com/office/drawing/2014/main" id="{AAE3B9A0-425E-400F-B752-BB46EEF98F5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704" y="1056"/>
              <a:ext cx="48" cy="48"/>
            </a:xfrm>
            <a:prstGeom prst="ellipse">
              <a:avLst/>
            </a:prstGeom>
            <a:solidFill>
              <a:schemeClr val="tx1"/>
            </a:solidFill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Text Box 48">
              <a:extLst>
                <a:ext uri="{FF2B5EF4-FFF2-40B4-BE49-F238E27FC236}">
                  <a16:creationId xmlns:a16="http://schemas.microsoft.com/office/drawing/2014/main" id="{D4702481-1BA9-49DC-8FFD-73989A295C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584"/>
              <a:ext cx="13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O</a:t>
              </a:r>
              <a:r>
                <a:rPr lang="en-US" altLang="zh-CN" baseline="-25000"/>
                <a:t>i</a:t>
              </a:r>
              <a:r>
                <a:rPr lang="en-US" altLang="zh-CN"/>
                <a:t>(a</a:t>
              </a:r>
              <a:r>
                <a:rPr lang="en-US" altLang="zh-CN" baseline="-25000"/>
                <a:t>1</a:t>
              </a:r>
              <a:r>
                <a:rPr lang="en-US" altLang="zh-CN"/>
                <a:t>, a</a:t>
              </a:r>
              <a:r>
                <a:rPr lang="en-US" altLang="zh-CN" baseline="-25000"/>
                <a:t>2</a:t>
              </a:r>
              <a:r>
                <a:rPr lang="en-US" altLang="zh-CN"/>
                <a:t>,</a:t>
              </a:r>
              <a:r>
                <a:rPr lang="en-US" altLang="zh-CN">
                  <a:sym typeface="Symbol" panose="05050102010706020507" pitchFamily="18" charset="2"/>
                </a:rPr>
                <a:t></a:t>
              </a:r>
              <a:r>
                <a:rPr lang="en-US" altLang="zh-CN"/>
                <a:t> ,a</a:t>
              </a:r>
              <a:r>
                <a:rPr lang="en-US" altLang="zh-CN" baseline="-25000"/>
                <a:t>pi</a:t>
              </a:r>
              <a:r>
                <a:rPr lang="en-US" altLang="zh-CN"/>
                <a:t>)</a:t>
              </a:r>
            </a:p>
          </p:txBody>
        </p:sp>
        <p:sp>
          <p:nvSpPr>
            <p:cNvPr id="25" name="Text Box 44">
              <a:extLst>
                <a:ext uri="{FF2B5EF4-FFF2-40B4-BE49-F238E27FC236}">
                  <a16:creationId xmlns:a16="http://schemas.microsoft.com/office/drawing/2014/main" id="{6E59ED60-3ACE-4103-8968-6E846786F2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1200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a</a:t>
              </a:r>
              <a:r>
                <a:rPr lang="en-US" altLang="zh-CN" baseline="-25000"/>
                <a:t>1</a:t>
              </a:r>
              <a:endParaRPr lang="en-US" altLang="zh-CN"/>
            </a:p>
          </p:txBody>
        </p:sp>
        <p:sp>
          <p:nvSpPr>
            <p:cNvPr id="26" name="Text Box 45">
              <a:extLst>
                <a:ext uri="{FF2B5EF4-FFF2-40B4-BE49-F238E27FC236}">
                  <a16:creationId xmlns:a16="http://schemas.microsoft.com/office/drawing/2014/main" id="{49C87B75-7DD0-4DB6-935B-F49C59C2EA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104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a</a:t>
              </a:r>
              <a:r>
                <a:rPr lang="en-US" altLang="zh-CN" baseline="-25000"/>
                <a:t>2</a:t>
              </a:r>
              <a:endParaRPr lang="en-US" altLang="zh-CN"/>
            </a:p>
          </p:txBody>
        </p:sp>
        <p:sp>
          <p:nvSpPr>
            <p:cNvPr id="27" name="Text Box 47">
              <a:extLst>
                <a:ext uri="{FF2B5EF4-FFF2-40B4-BE49-F238E27FC236}">
                  <a16:creationId xmlns:a16="http://schemas.microsoft.com/office/drawing/2014/main" id="{93CE33A2-B6ED-4297-9CC5-696F63CD22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1632"/>
              <a:ext cx="13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zh-CN"/>
            </a:p>
          </p:txBody>
        </p:sp>
        <p:sp>
          <p:nvSpPr>
            <p:cNvPr id="28" name="Text Box 46">
              <a:extLst>
                <a:ext uri="{FF2B5EF4-FFF2-40B4-BE49-F238E27FC236}">
                  <a16:creationId xmlns:a16="http://schemas.microsoft.com/office/drawing/2014/main" id="{44367F2D-16E1-457B-BEDB-D3C8B479CE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1248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a</a:t>
              </a:r>
              <a:r>
                <a:rPr lang="en-US" altLang="zh-CN" baseline="-25000"/>
                <a:t>pi</a:t>
              </a:r>
              <a:endParaRPr lang="en-US" altLang="zh-CN"/>
            </a:p>
          </p:txBody>
        </p:sp>
        <p:sp>
          <p:nvSpPr>
            <p:cNvPr id="29" name="Text Box 49">
              <a:extLst>
                <a:ext uri="{FF2B5EF4-FFF2-40B4-BE49-F238E27FC236}">
                  <a16:creationId xmlns:a16="http://schemas.microsoft.com/office/drawing/2014/main" id="{78BD7B0A-D158-4D5D-8DE3-531D3E4F61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248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b</a:t>
              </a:r>
              <a:r>
                <a:rPr lang="en-US" altLang="zh-CN" baseline="-25000"/>
                <a:t>1</a:t>
              </a:r>
              <a:endParaRPr lang="en-US" altLang="zh-CN"/>
            </a:p>
          </p:txBody>
        </p:sp>
        <p:sp>
          <p:nvSpPr>
            <p:cNvPr id="30" name="Text Box 52">
              <a:extLst>
                <a:ext uri="{FF2B5EF4-FFF2-40B4-BE49-F238E27FC236}">
                  <a16:creationId xmlns:a16="http://schemas.microsoft.com/office/drawing/2014/main" id="{30780AD9-9DAA-4795-919A-DC93582BC6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2" y="1632"/>
              <a:ext cx="13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(b</a:t>
              </a:r>
              <a:r>
                <a:rPr lang="en-US" altLang="zh-CN" baseline="-25000"/>
                <a:t>1</a:t>
              </a:r>
              <a:r>
                <a:rPr lang="en-US" altLang="zh-CN"/>
                <a:t>, b</a:t>
              </a:r>
              <a:r>
                <a:rPr lang="en-US" altLang="zh-CN" baseline="-25000"/>
                <a:t>2</a:t>
              </a:r>
              <a:r>
                <a:rPr lang="en-US" altLang="zh-CN"/>
                <a:t>,</a:t>
              </a:r>
              <a:r>
                <a:rPr lang="en-US" altLang="zh-CN">
                  <a:sym typeface="Symbol" panose="05050102010706020507" pitchFamily="18" charset="2"/>
                </a:rPr>
                <a:t></a:t>
              </a:r>
              <a:r>
                <a:rPr lang="en-US" altLang="zh-CN"/>
                <a:t> ,b</a:t>
              </a:r>
              <a:r>
                <a:rPr lang="en-US" altLang="zh-CN" baseline="-25000"/>
                <a:t>pi</a:t>
              </a:r>
              <a:r>
                <a:rPr lang="en-US" altLang="zh-CN"/>
                <a:t>)</a:t>
              </a:r>
            </a:p>
          </p:txBody>
        </p:sp>
        <p:sp>
          <p:nvSpPr>
            <p:cNvPr id="31" name="Text Box 50">
              <a:extLst>
                <a:ext uri="{FF2B5EF4-FFF2-40B4-BE49-F238E27FC236}">
                  <a16:creationId xmlns:a16="http://schemas.microsoft.com/office/drawing/2014/main" id="{71568A0D-4191-49E7-AF2C-DC368D25AA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1056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b</a:t>
              </a:r>
              <a:r>
                <a:rPr lang="en-US" altLang="zh-CN" baseline="-25000"/>
                <a:t>2</a:t>
              </a:r>
              <a:endParaRPr lang="en-US" altLang="zh-CN"/>
            </a:p>
          </p:txBody>
        </p:sp>
        <p:sp>
          <p:nvSpPr>
            <p:cNvPr id="32" name="Text Box 51">
              <a:extLst>
                <a:ext uri="{FF2B5EF4-FFF2-40B4-BE49-F238E27FC236}">
                  <a16:creationId xmlns:a16="http://schemas.microsoft.com/office/drawing/2014/main" id="{59152D9D-B455-4C42-8EFB-E5B15CA1BA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4" y="1152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b</a:t>
              </a:r>
              <a:r>
                <a:rPr lang="en-US" altLang="zh-CN" baseline="-25000"/>
                <a:t>pi</a:t>
              </a:r>
              <a:endParaRPr lang="en-US" altLang="zh-CN"/>
            </a:p>
          </p:txBody>
        </p:sp>
        <p:pic>
          <p:nvPicPr>
            <p:cNvPr id="33" name="Picture 54">
              <a:extLst>
                <a:ext uri="{FF2B5EF4-FFF2-40B4-BE49-F238E27FC236}">
                  <a16:creationId xmlns:a16="http://schemas.microsoft.com/office/drawing/2014/main" id="{6C9936DC-7BC3-4234-B00F-D854CA4DBE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91" y="1654"/>
              <a:ext cx="229" cy="2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cxnSp>
          <p:nvCxnSpPr>
            <p:cNvPr id="34" name="AutoShape 56">
              <a:extLst>
                <a:ext uri="{FF2B5EF4-FFF2-40B4-BE49-F238E27FC236}">
                  <a16:creationId xmlns:a16="http://schemas.microsoft.com/office/drawing/2014/main" id="{CA824AE0-2D9B-49E9-8A57-6A4F335171B4}"/>
                </a:ext>
              </a:extLst>
            </p:cNvPr>
            <p:cNvCxnSpPr>
              <a:cxnSpLocks noChangeShapeType="1"/>
              <a:stCxn id="25" idx="0"/>
              <a:endCxn id="14" idx="0"/>
            </p:cNvCxnSpPr>
            <p:nvPr/>
          </p:nvCxnSpPr>
          <p:spPr bwMode="auto">
            <a:xfrm rot="5400000" flipV="1">
              <a:off x="2843" y="13"/>
              <a:ext cx="1" cy="2376"/>
            </a:xfrm>
            <a:prstGeom prst="curvedConnector3">
              <a:avLst>
                <a:gd name="adj1" fmla="val -67700005"/>
              </a:avLst>
            </a:prstGeom>
            <a:noFill/>
            <a:ln w="12700" cap="sq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5" name="AutoShape 57">
              <a:extLst>
                <a:ext uri="{FF2B5EF4-FFF2-40B4-BE49-F238E27FC236}">
                  <a16:creationId xmlns:a16="http://schemas.microsoft.com/office/drawing/2014/main" id="{8CC7DDD0-9D6B-4D47-A55D-E938010AFB66}"/>
                </a:ext>
              </a:extLst>
            </p:cNvPr>
            <p:cNvCxnSpPr>
              <a:cxnSpLocks noChangeShapeType="1"/>
              <a:stCxn id="26" idx="0"/>
              <a:endCxn id="15" idx="0"/>
            </p:cNvCxnSpPr>
            <p:nvPr/>
          </p:nvCxnSpPr>
          <p:spPr bwMode="auto">
            <a:xfrm rot="16200000">
              <a:off x="3012" y="-108"/>
              <a:ext cx="96" cy="2328"/>
            </a:xfrm>
            <a:prstGeom prst="curvedConnector3">
              <a:avLst>
                <a:gd name="adj1" fmla="val 561454"/>
              </a:avLst>
            </a:prstGeom>
            <a:noFill/>
            <a:ln w="12700" cap="sq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" name="AutoShape 58">
              <a:extLst>
                <a:ext uri="{FF2B5EF4-FFF2-40B4-BE49-F238E27FC236}">
                  <a16:creationId xmlns:a16="http://schemas.microsoft.com/office/drawing/2014/main" id="{C7D03B3F-F5C5-45FB-810D-A5BFFCA7094C}"/>
                </a:ext>
              </a:extLst>
            </p:cNvPr>
            <p:cNvCxnSpPr>
              <a:cxnSpLocks noChangeShapeType="1"/>
              <a:stCxn id="28" idx="0"/>
              <a:endCxn id="16" idx="7"/>
            </p:cNvCxnSpPr>
            <p:nvPr/>
          </p:nvCxnSpPr>
          <p:spPr bwMode="auto">
            <a:xfrm rot="16200000">
              <a:off x="3660" y="26"/>
              <a:ext cx="130" cy="2314"/>
            </a:xfrm>
            <a:prstGeom prst="curvedConnector3">
              <a:avLst>
                <a:gd name="adj1" fmla="val 508458"/>
              </a:avLst>
            </a:prstGeom>
            <a:noFill/>
            <a:ln w="12700" cap="sq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7" name="AutoShape 59">
              <a:extLst>
                <a:ext uri="{FF2B5EF4-FFF2-40B4-BE49-F238E27FC236}">
                  <a16:creationId xmlns:a16="http://schemas.microsoft.com/office/drawing/2014/main" id="{63E3D375-556E-4D06-820B-2A04782F58D2}"/>
                </a:ext>
              </a:extLst>
            </p:cNvPr>
            <p:cNvCxnSpPr>
              <a:cxnSpLocks noChangeShapeType="1"/>
              <a:stCxn id="13" idx="0"/>
              <a:endCxn id="17" idx="0"/>
            </p:cNvCxnSpPr>
            <p:nvPr/>
          </p:nvCxnSpPr>
          <p:spPr bwMode="auto">
            <a:xfrm rot="5400000" flipV="1">
              <a:off x="3216" y="384"/>
              <a:ext cx="48" cy="2352"/>
            </a:xfrm>
            <a:prstGeom prst="curvedConnector3">
              <a:avLst>
                <a:gd name="adj1" fmla="val -737505"/>
              </a:avLst>
            </a:prstGeom>
            <a:noFill/>
            <a:ln w="12700" cap="sq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8" name="Text Box 60">
              <a:extLst>
                <a:ext uri="{FF2B5EF4-FFF2-40B4-BE49-F238E27FC236}">
                  <a16:creationId xmlns:a16="http://schemas.microsoft.com/office/drawing/2014/main" id="{F7F48482-BD20-43CD-8DFA-361C8D8DC5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912"/>
              <a:ext cx="38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h</a:t>
              </a:r>
            </a:p>
          </p:txBody>
        </p:sp>
        <p:sp>
          <p:nvSpPr>
            <p:cNvPr id="39" name="Text Box 62">
              <a:extLst>
                <a:ext uri="{FF2B5EF4-FFF2-40B4-BE49-F238E27FC236}">
                  <a16:creationId xmlns:a16="http://schemas.microsoft.com/office/drawing/2014/main" id="{7A08A133-E94C-42AF-9562-2F53CC8F84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2064"/>
              <a:ext cx="355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>
                  <a:latin typeface="楷体_GB2312" pitchFamily="49" charset="-122"/>
                  <a:ea typeface="楷体_GB2312" pitchFamily="49" charset="-122"/>
                </a:rPr>
                <a:t>元素运算结果的象等于元素象的运算结果</a:t>
              </a:r>
            </a:p>
          </p:txBody>
        </p:sp>
        <p:sp>
          <p:nvSpPr>
            <p:cNvPr id="41" name="Freeform 75">
              <a:extLst>
                <a:ext uri="{FF2B5EF4-FFF2-40B4-BE49-F238E27FC236}">
                  <a16:creationId xmlns:a16="http://schemas.microsoft.com/office/drawing/2014/main" id="{E7823235-71E2-40C1-8EAA-EA7AE3207D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4" y="1182"/>
              <a:ext cx="132" cy="318"/>
            </a:xfrm>
            <a:custGeom>
              <a:avLst/>
              <a:gdLst>
                <a:gd name="T0" fmla="*/ 0 w 132"/>
                <a:gd name="T1" fmla="*/ 0 h 318"/>
                <a:gd name="T2" fmla="*/ 132 w 132"/>
                <a:gd name="T3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32" h="318">
                  <a:moveTo>
                    <a:pt x="0" y="0"/>
                  </a:moveTo>
                  <a:lnTo>
                    <a:pt x="132" y="318"/>
                  </a:lnTo>
                </a:path>
              </a:pathLst>
            </a:custGeom>
            <a:noFill/>
            <a:ln w="19050" cap="sq" cmpd="sng">
              <a:solidFill>
                <a:srgbClr val="00FF00"/>
              </a:solidFill>
              <a:prstDash val="solid"/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Freeform 74">
              <a:extLst>
                <a:ext uri="{FF2B5EF4-FFF2-40B4-BE49-F238E27FC236}">
                  <a16:creationId xmlns:a16="http://schemas.microsoft.com/office/drawing/2014/main" id="{53121FE1-B876-4949-8094-745BAD27FF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2" y="1272"/>
              <a:ext cx="294" cy="270"/>
            </a:xfrm>
            <a:custGeom>
              <a:avLst/>
              <a:gdLst>
                <a:gd name="T0" fmla="*/ 0 w 294"/>
                <a:gd name="T1" fmla="*/ 0 h 270"/>
                <a:gd name="T2" fmla="*/ 294 w 294"/>
                <a:gd name="T3" fmla="*/ 27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94" h="270">
                  <a:moveTo>
                    <a:pt x="0" y="0"/>
                  </a:moveTo>
                  <a:lnTo>
                    <a:pt x="294" y="270"/>
                  </a:lnTo>
                </a:path>
              </a:pathLst>
            </a:custGeom>
            <a:noFill/>
            <a:ln w="19050" cap="sq" cmpd="sng">
              <a:solidFill>
                <a:srgbClr val="00FF00"/>
              </a:solidFill>
              <a:prstDash val="solid"/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Freeform 76">
              <a:extLst>
                <a:ext uri="{FF2B5EF4-FFF2-40B4-BE49-F238E27FC236}">
                  <a16:creationId xmlns:a16="http://schemas.microsoft.com/office/drawing/2014/main" id="{B68D6DE0-B603-4AE8-927F-B50A2A7BDC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6" y="1320"/>
              <a:ext cx="360" cy="228"/>
            </a:xfrm>
            <a:custGeom>
              <a:avLst/>
              <a:gdLst>
                <a:gd name="T0" fmla="*/ 360 w 360"/>
                <a:gd name="T1" fmla="*/ 0 h 228"/>
                <a:gd name="T2" fmla="*/ 0 w 360"/>
                <a:gd name="T3" fmla="*/ 228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60" h="228">
                  <a:moveTo>
                    <a:pt x="360" y="0"/>
                  </a:moveTo>
                  <a:lnTo>
                    <a:pt x="0" y="228"/>
                  </a:lnTo>
                </a:path>
              </a:pathLst>
            </a:custGeom>
            <a:noFill/>
            <a:ln w="19050" cap="sq" cmpd="sng">
              <a:solidFill>
                <a:srgbClr val="00FF00"/>
              </a:solidFill>
              <a:prstDash val="solid"/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Freeform 78">
              <a:extLst>
                <a:ext uri="{FF2B5EF4-FFF2-40B4-BE49-F238E27FC236}">
                  <a16:creationId xmlns:a16="http://schemas.microsoft.com/office/drawing/2014/main" id="{0148C388-7570-40A5-BC3D-5DD7BB63BE1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6" y="1146"/>
              <a:ext cx="150" cy="366"/>
            </a:xfrm>
            <a:custGeom>
              <a:avLst/>
              <a:gdLst>
                <a:gd name="T0" fmla="*/ 0 w 150"/>
                <a:gd name="T1" fmla="*/ 0 h 366"/>
                <a:gd name="T2" fmla="*/ 150 w 150"/>
                <a:gd name="T3" fmla="*/ 366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50" h="366">
                  <a:moveTo>
                    <a:pt x="0" y="0"/>
                  </a:moveTo>
                  <a:lnTo>
                    <a:pt x="150" y="366"/>
                  </a:lnTo>
                </a:path>
              </a:pathLst>
            </a:custGeom>
            <a:noFill/>
            <a:ln w="19050" cap="sq" cmpd="sng">
              <a:solidFill>
                <a:srgbClr val="00FF00"/>
              </a:solidFill>
              <a:prstDash val="solid"/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77">
              <a:extLst>
                <a:ext uri="{FF2B5EF4-FFF2-40B4-BE49-F238E27FC236}">
                  <a16:creationId xmlns:a16="http://schemas.microsoft.com/office/drawing/2014/main" id="{41150331-01B3-48A0-852D-B5F393D479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2" y="1302"/>
              <a:ext cx="264" cy="288"/>
            </a:xfrm>
            <a:custGeom>
              <a:avLst/>
              <a:gdLst>
                <a:gd name="T0" fmla="*/ 0 w 264"/>
                <a:gd name="T1" fmla="*/ 0 h 288"/>
                <a:gd name="T2" fmla="*/ 264 w 264"/>
                <a:gd name="T3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64" h="288">
                  <a:moveTo>
                    <a:pt x="0" y="0"/>
                  </a:moveTo>
                  <a:lnTo>
                    <a:pt x="264" y="288"/>
                  </a:lnTo>
                </a:path>
              </a:pathLst>
            </a:custGeom>
            <a:noFill/>
            <a:ln w="19050" cap="sq" cmpd="sng">
              <a:solidFill>
                <a:srgbClr val="00FF00"/>
              </a:solidFill>
              <a:prstDash val="solid"/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Freeform 79">
              <a:extLst>
                <a:ext uri="{FF2B5EF4-FFF2-40B4-BE49-F238E27FC236}">
                  <a16:creationId xmlns:a16="http://schemas.microsoft.com/office/drawing/2014/main" id="{0E8E41A2-AFD3-4080-918A-D17BAA6FE1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2" y="1224"/>
              <a:ext cx="360" cy="348"/>
            </a:xfrm>
            <a:custGeom>
              <a:avLst/>
              <a:gdLst>
                <a:gd name="T0" fmla="*/ 360 w 360"/>
                <a:gd name="T1" fmla="*/ 0 h 348"/>
                <a:gd name="T2" fmla="*/ 0 w 360"/>
                <a:gd name="T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60" h="348">
                  <a:moveTo>
                    <a:pt x="360" y="0"/>
                  </a:moveTo>
                  <a:lnTo>
                    <a:pt x="0" y="348"/>
                  </a:lnTo>
                </a:path>
              </a:pathLst>
            </a:custGeom>
            <a:noFill/>
            <a:ln w="19050" cap="sq" cmpd="sng">
              <a:solidFill>
                <a:srgbClr val="00FF00"/>
              </a:solidFill>
              <a:prstDash val="solid"/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67417110"/>
      </p:ext>
    </p:extLst>
  </p:cSld>
  <p:clrMapOvr>
    <a:masterClrMapping/>
  </p:clrMapOvr>
  <p:transition spd="slow" advTm="0">
    <p:wip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Rectangle 1027">
            <a:extLst>
              <a:ext uri="{FF2B5EF4-FFF2-40B4-BE49-F238E27FC236}">
                <a16:creationId xmlns:a16="http://schemas.microsoft.com/office/drawing/2014/main" id="{1AAFBFAB-EC92-4443-9F88-D50D5907E32C}"/>
              </a:ext>
            </a:extLst>
          </p:cNvPr>
          <p:cNvSpPr txBox="1">
            <a:spLocks noChangeArrowheads="1"/>
          </p:cNvSpPr>
          <p:nvPr/>
        </p:nvSpPr>
        <p:spPr>
          <a:xfrm>
            <a:off x="1690382" y="738188"/>
            <a:ext cx="7620000" cy="5638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同态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(homomorphism)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zh-CN" altLang="en-US" b="1" u="sng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1027">
            <a:extLst>
              <a:ext uri="{FF2B5EF4-FFF2-40B4-BE49-F238E27FC236}">
                <a16:creationId xmlns:a16="http://schemas.microsoft.com/office/drawing/2014/main" id="{011A83D6-BFE2-4100-B7F7-DD07F67AEE77}"/>
              </a:ext>
            </a:extLst>
          </p:cNvPr>
          <p:cNvSpPr txBox="1">
            <a:spLocks noChangeArrowheads="1"/>
          </p:cNvSpPr>
          <p:nvPr/>
        </p:nvSpPr>
        <p:spPr>
          <a:xfrm>
            <a:off x="481727" y="1384301"/>
            <a:ext cx="10717495" cy="5638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称两个同类型的代数系统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A=(X,O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,O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,···,O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B= (Y,     ,     ,···,     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是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同态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存在着一个函数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X→Y   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使得：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对任何一对运算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  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1, ···,m ) (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设其元数为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都满足如下的</a:t>
            </a:r>
            <a:r>
              <a:rPr lang="zh-CN" alt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同态公式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</a:t>
            </a:r>
            <a:r>
              <a:rPr lang="zh-CN" altLang="en-US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(x</a:t>
            </a:r>
            <a:r>
              <a:rPr lang="en-US" altLang="zh-CN" sz="2400" baseline="-250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,x</a:t>
            </a:r>
            <a:r>
              <a:rPr lang="en-US" altLang="zh-CN" sz="2400" baseline="-250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,…,</a:t>
            </a:r>
            <a:r>
              <a:rPr lang="en-US" altLang="zh-CN" sz="24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aseline="-250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pi</a:t>
            </a:r>
            <a:r>
              <a:rPr lang="en-US" altLang="zh-CN" sz="2400" baseline="-250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)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h (O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,x</a:t>
            </a:r>
            <a:r>
              <a:rPr lang="en-US" altLang="zh-CN" sz="2400" baseline="-250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,…,</a:t>
            </a:r>
            <a:r>
              <a:rPr lang="en-US" altLang="zh-CN" sz="24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aseline="-250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pi</a:t>
            </a:r>
            <a:r>
              <a:rPr lang="en-US" altLang="zh-CN" sz="2400" baseline="-250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))=     (h(x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),h(x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),…,h(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注：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称函数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是保持运算的；并称函数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为从</a:t>
            </a: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到</a:t>
            </a: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的同态函数，记为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~</a:t>
            </a: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 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；称两代数系统</a:t>
            </a: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同态，记为</a:t>
            </a: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~</a:t>
            </a:r>
            <a:r>
              <a:rPr lang="en-US" altLang="zh-CN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B 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；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   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对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和     保持运算的含义是指在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的作用下，</a:t>
            </a:r>
            <a:r>
              <a:rPr lang="zh-CN" altLang="en-US" sz="2000" b="1" u="sng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元素运算结果的象等于元素象的运算结果。     </a:t>
            </a:r>
          </a:p>
        </p:txBody>
      </p:sp>
      <p:grpSp>
        <p:nvGrpSpPr>
          <p:cNvPr id="11" name="Group 1048">
            <a:extLst>
              <a:ext uri="{FF2B5EF4-FFF2-40B4-BE49-F238E27FC236}">
                <a16:creationId xmlns:a16="http://schemas.microsoft.com/office/drawing/2014/main" id="{1074802F-F5AA-4211-A6C3-61A9AC6BF034}"/>
              </a:ext>
            </a:extLst>
          </p:cNvPr>
          <p:cNvGrpSpPr>
            <a:grpSpLocks/>
          </p:cNvGrpSpPr>
          <p:nvPr/>
        </p:nvGrpSpPr>
        <p:grpSpPr bwMode="auto">
          <a:xfrm>
            <a:off x="1873579" y="2225248"/>
            <a:ext cx="6161092" cy="4206881"/>
            <a:chOff x="1793" y="1177"/>
            <a:chExt cx="3881" cy="2650"/>
          </a:xfrm>
        </p:grpSpPr>
        <p:pic>
          <p:nvPicPr>
            <p:cNvPr id="12" name="Picture 1039">
              <a:extLst>
                <a:ext uri="{FF2B5EF4-FFF2-40B4-BE49-F238E27FC236}">
                  <a16:creationId xmlns:a16="http://schemas.microsoft.com/office/drawing/2014/main" id="{B8BDDB9B-C9BD-42BE-80C5-D68D5917D7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92" y="1177"/>
              <a:ext cx="262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13" name="Picture 1040">
              <a:extLst>
                <a:ext uri="{FF2B5EF4-FFF2-40B4-BE49-F238E27FC236}">
                  <a16:creationId xmlns:a16="http://schemas.microsoft.com/office/drawing/2014/main" id="{F38C23F4-8DEC-490A-9A0F-C550B08C75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80" y="1177"/>
              <a:ext cx="280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14" name="Picture 1041">
              <a:extLst>
                <a:ext uri="{FF2B5EF4-FFF2-40B4-BE49-F238E27FC236}">
                  <a16:creationId xmlns:a16="http://schemas.microsoft.com/office/drawing/2014/main" id="{DA7E81CC-560E-40CF-A190-65654A2766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0" y="1177"/>
              <a:ext cx="314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15" name="Picture 1042">
              <a:extLst>
                <a:ext uri="{FF2B5EF4-FFF2-40B4-BE49-F238E27FC236}">
                  <a16:creationId xmlns:a16="http://schemas.microsoft.com/office/drawing/2014/main" id="{84B88FD2-E6D1-441F-9F9E-DEC86CA9AD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00" y="1777"/>
              <a:ext cx="263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16" name="Picture 1043">
              <a:extLst>
                <a:ext uri="{FF2B5EF4-FFF2-40B4-BE49-F238E27FC236}">
                  <a16:creationId xmlns:a16="http://schemas.microsoft.com/office/drawing/2014/main" id="{E9F12E85-166D-4724-956B-FAFFCAB53C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90" y="2653"/>
              <a:ext cx="263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17" name="Picture 1044">
              <a:extLst>
                <a:ext uri="{FF2B5EF4-FFF2-40B4-BE49-F238E27FC236}">
                  <a16:creationId xmlns:a16="http://schemas.microsoft.com/office/drawing/2014/main" id="{545F7E6F-E619-4989-B9BD-23A50120E5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93" y="3575"/>
              <a:ext cx="22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536467142"/>
      </p:ext>
    </p:extLst>
  </p:cSld>
  <p:clrMapOvr>
    <a:masterClrMapping/>
  </p:clrMapOvr>
  <p:transition spd="slow" advTm="0">
    <p:wip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AutoShape 3">
            <a:extLst>
              <a:ext uri="{FF2B5EF4-FFF2-40B4-BE49-F238E27FC236}">
                <a16:creationId xmlns:a16="http://schemas.microsoft.com/office/drawing/2014/main" id="{548021F5-2291-4053-88F7-1756C8254BC5}"/>
              </a:ext>
            </a:extLst>
          </p:cNvPr>
          <p:cNvSpPr txBox="1">
            <a:spLocks noChangeAspect="1" noChangeArrowheads="1"/>
          </p:cNvSpPr>
          <p:nvPr/>
        </p:nvSpPr>
        <p:spPr>
          <a:xfrm>
            <a:off x="1571625" y="1274762"/>
            <a:ext cx="7543800" cy="5562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同态象  单同态   满同态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设代数系统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A=(X,O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,O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,···,O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同态于代数系统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B= (Y,     ,     ,···,     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，其同态函数为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X→Y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下的象集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h(X)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的所有运算一起组成的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C= (h(X),     ,     ,···,     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同态象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是单射函数，则称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单同态函数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并称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的单同态象； 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是满射函数，则称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满同态函数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；并称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的满同态象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这时有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h(X)=Y ,C=B)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7639E21-5324-4C2D-B52D-6DB8E18577FD}"/>
              </a:ext>
            </a:extLst>
          </p:cNvPr>
          <p:cNvGrpSpPr>
            <a:grpSpLocks/>
          </p:cNvGrpSpPr>
          <p:nvPr/>
        </p:nvGrpSpPr>
        <p:grpSpPr bwMode="auto">
          <a:xfrm>
            <a:off x="2045556" y="2020922"/>
            <a:ext cx="2924175" cy="1243013"/>
            <a:chOff x="1268" y="3090"/>
            <a:chExt cx="1842" cy="78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42568D9-68FB-413B-A0EC-195C470C1D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68" y="3090"/>
              <a:ext cx="1082" cy="297"/>
              <a:chOff x="1244" y="3030"/>
              <a:chExt cx="1082" cy="297"/>
            </a:xfrm>
          </p:grpSpPr>
          <p:pic>
            <p:nvPicPr>
              <p:cNvPr id="10" name="Picture 6">
                <a:extLst>
                  <a:ext uri="{FF2B5EF4-FFF2-40B4-BE49-F238E27FC236}">
                    <a16:creationId xmlns:a16="http://schemas.microsoft.com/office/drawing/2014/main" id="{7C07C2DF-B22B-4E1F-944E-1D71A5844C1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44" y="3030"/>
                <a:ext cx="262" cy="29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pic>
            <p:nvPicPr>
              <p:cNvPr id="11" name="Picture 7">
                <a:extLst>
                  <a:ext uri="{FF2B5EF4-FFF2-40B4-BE49-F238E27FC236}">
                    <a16:creationId xmlns:a16="http://schemas.microsoft.com/office/drawing/2014/main" id="{5FC916E8-832C-411F-B951-CAE5C719B3A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32" y="3030"/>
                <a:ext cx="280" cy="29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pic>
            <p:nvPicPr>
              <p:cNvPr id="12" name="Picture 8">
                <a:extLst>
                  <a:ext uri="{FF2B5EF4-FFF2-40B4-BE49-F238E27FC236}">
                    <a16:creationId xmlns:a16="http://schemas.microsoft.com/office/drawing/2014/main" id="{71923DC2-F143-476E-8463-5DABB74E58E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12" y="3030"/>
                <a:ext cx="314" cy="29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</p:grpSp>
        <p:pic>
          <p:nvPicPr>
            <p:cNvPr id="7" name="Picture 9">
              <a:extLst>
                <a:ext uri="{FF2B5EF4-FFF2-40B4-BE49-F238E27FC236}">
                  <a16:creationId xmlns:a16="http://schemas.microsoft.com/office/drawing/2014/main" id="{5CDDB1DF-8F76-4674-9AD2-ABE96A0D12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28" y="3576"/>
              <a:ext cx="262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8" name="Picture 10">
              <a:extLst>
                <a:ext uri="{FF2B5EF4-FFF2-40B4-BE49-F238E27FC236}">
                  <a16:creationId xmlns:a16="http://schemas.microsoft.com/office/drawing/2014/main" id="{6CBB92A6-394C-42F5-B696-7872CEB224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6" y="3576"/>
              <a:ext cx="280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9" name="Picture 11">
              <a:extLst>
                <a:ext uri="{FF2B5EF4-FFF2-40B4-BE49-F238E27FC236}">
                  <a16:creationId xmlns:a16="http://schemas.microsoft.com/office/drawing/2014/main" id="{40CA01A8-CC60-4D71-BA7D-B194DCE017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96" y="3576"/>
              <a:ext cx="314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908384542"/>
      </p:ext>
    </p:extLst>
  </p:cSld>
  <p:clrMapOvr>
    <a:masterClrMapping/>
  </p:clrMapOvr>
  <p:transition spd="slow" advTm="0">
    <p:wip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7934AECC-D4FF-4AFB-9EC6-BDB308286C02}"/>
              </a:ext>
            </a:extLst>
          </p:cNvPr>
          <p:cNvSpPr txBox="1">
            <a:spLocks noChangeArrowheads="1"/>
          </p:cNvSpPr>
          <p:nvPr/>
        </p:nvSpPr>
        <p:spPr>
          <a:xfrm>
            <a:off x="1631659" y="914400"/>
            <a:ext cx="7688510" cy="5715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70C0"/>
                </a:solidFill>
              </a:rPr>
              <a:t>同构</a:t>
            </a:r>
            <a:r>
              <a:rPr lang="en-US" altLang="zh-CN" sz="2400" dirty="0">
                <a:solidFill>
                  <a:srgbClr val="0070C0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2400" dirty="0">
                <a:solidFill>
                  <a:srgbClr val="0070C0"/>
                </a:solidFill>
              </a:rPr>
              <a:t>isomorphism</a:t>
            </a:r>
            <a:r>
              <a:rPr lang="en-US" altLang="zh-CN" sz="2400" dirty="0">
                <a:solidFill>
                  <a:srgbClr val="0070C0"/>
                </a:solidFill>
                <a:latin typeface="宋体" panose="02010600030101010101" pitchFamily="2" charset="-122"/>
              </a:rPr>
              <a:t>)</a:t>
            </a:r>
            <a:endParaRPr lang="en-US" altLang="zh-CN" sz="2400" dirty="0">
              <a:solidFill>
                <a:srgbClr val="0070C0"/>
              </a:solidFill>
            </a:endParaRPr>
          </a:p>
          <a:p>
            <a:pPr marL="0" indent="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        </a:t>
            </a:r>
            <a:r>
              <a:rPr lang="zh-CN" altLang="en-US" sz="2400" dirty="0"/>
              <a:t>设代数系统</a:t>
            </a:r>
            <a:r>
              <a:rPr lang="en-US" altLang="zh-CN" sz="2400" dirty="0"/>
              <a:t>A=</a:t>
            </a:r>
            <a:r>
              <a:rPr lang="en-US" altLang="zh-CN" sz="2400" dirty="0">
                <a:latin typeface="宋体" panose="02010600030101010101" pitchFamily="2" charset="-122"/>
              </a:rPr>
              <a:t>(</a:t>
            </a:r>
            <a:r>
              <a:rPr lang="en-US" altLang="zh-CN" sz="2400" dirty="0"/>
              <a:t>X,O</a:t>
            </a:r>
            <a:r>
              <a:rPr lang="en-US" altLang="zh-CN" sz="2400" baseline="-25000" dirty="0">
                <a:cs typeface="Times New Roman" panose="02020603050405020304" pitchFamily="18" charset="0"/>
              </a:rPr>
              <a:t>1</a:t>
            </a:r>
            <a:r>
              <a:rPr lang="en-US" altLang="zh-CN" sz="2400" dirty="0"/>
              <a:t>,O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,</a:t>
            </a:r>
            <a:r>
              <a:rPr lang="en-US" altLang="zh-CN" sz="2400" dirty="0">
                <a:cs typeface="Times New Roman" panose="02020603050405020304" pitchFamily="18" charset="0"/>
              </a:rPr>
              <a:t>···,O</a:t>
            </a:r>
            <a:r>
              <a:rPr lang="en-US" altLang="zh-CN" sz="2400" baseline="-25000" dirty="0">
                <a:cs typeface="Times New Roman" panose="02020603050405020304" pitchFamily="18" charset="0"/>
              </a:rPr>
              <a:t>m</a:t>
            </a:r>
            <a:r>
              <a:rPr lang="en-US" altLang="zh-CN" sz="2400" dirty="0">
                <a:latin typeface="宋体" panose="02010600030101010101" pitchFamily="2" charset="-122"/>
              </a:rPr>
              <a:t>)</a:t>
            </a:r>
            <a:r>
              <a:rPr lang="zh-CN" altLang="en-US" sz="2400" dirty="0"/>
              <a:t>同态于代数系统</a:t>
            </a:r>
            <a:r>
              <a:rPr lang="en-US" altLang="zh-CN" sz="2400" dirty="0"/>
              <a:t>B= </a:t>
            </a:r>
            <a:r>
              <a:rPr lang="en-US" altLang="zh-CN" sz="2400" dirty="0">
                <a:latin typeface="宋体" panose="02010600030101010101" pitchFamily="2" charset="-122"/>
              </a:rPr>
              <a:t>(</a:t>
            </a:r>
            <a:r>
              <a:rPr lang="en-US" altLang="zh-CN" sz="2400" dirty="0"/>
              <a:t>Y,     ,     ,</a:t>
            </a:r>
            <a:r>
              <a:rPr lang="en-US" altLang="zh-CN" sz="2400" dirty="0">
                <a:cs typeface="Times New Roman" panose="02020603050405020304" pitchFamily="18" charset="0"/>
              </a:rPr>
              <a:t>···,</a:t>
            </a:r>
            <a:r>
              <a:rPr lang="en-US" altLang="zh-CN" sz="2400" dirty="0"/>
              <a:t>     </a:t>
            </a:r>
            <a:r>
              <a:rPr lang="en-US" altLang="zh-CN" sz="2400" dirty="0">
                <a:latin typeface="宋体" panose="02010600030101010101" pitchFamily="2" charset="-122"/>
              </a:rPr>
              <a:t>)</a:t>
            </a:r>
            <a:r>
              <a:rPr lang="zh-CN" altLang="en-US" sz="2400" dirty="0">
                <a:latin typeface="宋体" panose="02010600030101010101" pitchFamily="2" charset="-122"/>
              </a:rPr>
              <a:t>，其同态</a:t>
            </a:r>
            <a:r>
              <a:rPr lang="zh-CN" altLang="en-US" sz="2400" dirty="0"/>
              <a:t>函数为 </a:t>
            </a:r>
            <a:r>
              <a:rPr lang="en-US" altLang="zh-CN" sz="2400" dirty="0"/>
              <a:t>h</a:t>
            </a:r>
            <a:r>
              <a:rPr lang="zh-CN" altLang="en-US" sz="2400" dirty="0"/>
              <a:t>：</a:t>
            </a:r>
            <a:r>
              <a:rPr lang="en-US" altLang="zh-CN" sz="2400" dirty="0"/>
              <a:t>X→Y </a:t>
            </a:r>
            <a:r>
              <a:rPr lang="zh-CN" altLang="en-US" sz="2400" dirty="0">
                <a:latin typeface="宋体" panose="02010600030101010101" pitchFamily="2" charset="-122"/>
              </a:rPr>
              <a:t>。若</a:t>
            </a:r>
            <a:r>
              <a:rPr lang="en-US" altLang="zh-CN" sz="2400" dirty="0"/>
              <a:t>h</a:t>
            </a:r>
            <a:r>
              <a:rPr lang="zh-CN" altLang="en-US" sz="2400" dirty="0"/>
              <a:t>还是双射函数，则称</a:t>
            </a:r>
            <a:r>
              <a:rPr lang="en-US" altLang="zh-CN" sz="2400" dirty="0"/>
              <a:t>h</a:t>
            </a:r>
            <a:r>
              <a:rPr lang="zh-CN" altLang="en-US" sz="2400" dirty="0"/>
              <a:t>是从</a:t>
            </a:r>
            <a:r>
              <a:rPr lang="en-US" altLang="zh-CN" sz="2400" dirty="0"/>
              <a:t>A</a:t>
            </a:r>
            <a:r>
              <a:rPr lang="zh-CN" altLang="en-US" sz="2400" dirty="0"/>
              <a:t>到</a:t>
            </a:r>
            <a:r>
              <a:rPr lang="en-US" altLang="zh-CN" sz="2400" dirty="0"/>
              <a:t>B</a:t>
            </a:r>
            <a:r>
              <a:rPr lang="zh-CN" altLang="en-US" sz="2400" dirty="0"/>
              <a:t>的</a:t>
            </a:r>
            <a:r>
              <a:rPr lang="zh-CN" altLang="en-US" sz="2400" dirty="0">
                <a:solidFill>
                  <a:srgbClr val="C00000"/>
                </a:solidFill>
              </a:rPr>
              <a:t>同构函数</a:t>
            </a:r>
            <a:r>
              <a:rPr lang="en-US" altLang="zh-CN" sz="2400" dirty="0"/>
              <a:t>,</a:t>
            </a:r>
            <a:r>
              <a:rPr lang="zh-CN" altLang="en-US" sz="2400" dirty="0"/>
              <a:t>记为</a:t>
            </a:r>
            <a:r>
              <a:rPr lang="en-US" altLang="zh-CN" sz="2400" dirty="0">
                <a:solidFill>
                  <a:srgbClr val="C00000"/>
                </a:solidFill>
              </a:rPr>
              <a:t>h</a:t>
            </a:r>
            <a:r>
              <a:rPr lang="zh-CN" altLang="en-US" sz="2400" dirty="0">
                <a:solidFill>
                  <a:srgbClr val="C00000"/>
                </a:solidFill>
              </a:rPr>
              <a:t>：</a:t>
            </a:r>
            <a:r>
              <a:rPr lang="en-US" altLang="zh-CN" sz="2400" dirty="0">
                <a:solidFill>
                  <a:srgbClr val="C00000"/>
                </a:solidFill>
              </a:rPr>
              <a:t>A   B </a:t>
            </a:r>
            <a:r>
              <a:rPr lang="zh-CN" altLang="en-US" sz="2400" dirty="0"/>
              <a:t>；并且这时我们称</a:t>
            </a:r>
            <a:r>
              <a:rPr lang="en-US" altLang="zh-CN" sz="2400" dirty="0">
                <a:solidFill>
                  <a:srgbClr val="C00000"/>
                </a:solidFill>
              </a:rPr>
              <a:t>A</a:t>
            </a:r>
            <a:r>
              <a:rPr lang="zh-CN" altLang="en-US" sz="2400" dirty="0">
                <a:solidFill>
                  <a:srgbClr val="C00000"/>
                </a:solidFill>
              </a:rPr>
              <a:t>和</a:t>
            </a:r>
            <a:r>
              <a:rPr lang="en-US" altLang="zh-CN" sz="2400" dirty="0">
                <a:solidFill>
                  <a:srgbClr val="C00000"/>
                </a:solidFill>
              </a:rPr>
              <a:t>B</a:t>
            </a:r>
            <a:r>
              <a:rPr lang="zh-CN" altLang="en-US" sz="2400" dirty="0">
                <a:solidFill>
                  <a:srgbClr val="C00000"/>
                </a:solidFill>
              </a:rPr>
              <a:t>同构</a:t>
            </a:r>
            <a:r>
              <a:rPr lang="en-US" altLang="zh-CN" sz="2400" dirty="0"/>
              <a:t>,</a:t>
            </a:r>
            <a:r>
              <a:rPr lang="zh-CN" altLang="en-US" sz="2400" dirty="0"/>
              <a:t>记为</a:t>
            </a:r>
            <a:r>
              <a:rPr lang="en-US" altLang="zh-CN" sz="2400" dirty="0">
                <a:solidFill>
                  <a:srgbClr val="C00000"/>
                </a:solidFill>
              </a:rPr>
              <a:t>A   B</a:t>
            </a:r>
            <a:r>
              <a:rPr lang="en-US" altLang="zh-CN" sz="2400" dirty="0"/>
              <a:t> </a:t>
            </a:r>
            <a:r>
              <a:rPr lang="zh-CN" altLang="en-US" sz="2400" dirty="0"/>
              <a:t>。</a:t>
            </a:r>
          </a:p>
          <a:p>
            <a:pPr marL="0" indent="0">
              <a:lnSpc>
                <a:spcPct val="100000"/>
              </a:lnSpc>
              <a:buFont typeface="Wingdings" panose="05000000000000000000" pitchFamily="2" charset="2"/>
              <a:buNone/>
            </a:pPr>
            <a:endParaRPr lang="en-US" altLang="zh-CN" sz="1600" dirty="0">
              <a:sym typeface="Symbol" panose="05050102010706020507" pitchFamily="18" charset="2"/>
            </a:endParaRPr>
          </a:p>
          <a:p>
            <a:pPr marL="0" indent="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     </a:t>
            </a:r>
            <a:r>
              <a:rPr lang="zh-CN" altLang="en-US" sz="2000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</a:t>
            </a:r>
            <a:r>
              <a:rPr lang="zh-CN" altLang="en-US" sz="2000" dirty="0">
                <a:latin typeface="宋体" panose="02010600030101010101" pitchFamily="2" charset="-122"/>
                <a:ea typeface="楷体_GB2312" pitchFamily="49" charset="-122"/>
              </a:rPr>
              <a:t>同态和</a:t>
            </a:r>
            <a:r>
              <a:rPr lang="zh-CN" altLang="en-US" sz="2000" dirty="0">
                <a:ea typeface="楷体_GB2312" pitchFamily="49" charset="-122"/>
              </a:rPr>
              <a:t>同构概念要求两个代数系统必须是同类型的</a:t>
            </a:r>
            <a:endParaRPr lang="zh-CN" altLang="en-US" sz="2000" dirty="0"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  <a:p>
            <a:pPr marL="0" indent="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ea typeface="楷体_GB2312" pitchFamily="49" charset="-122"/>
              </a:rPr>
              <a:t>     从定义可知，论及两个代数系统间的</a:t>
            </a:r>
            <a:r>
              <a:rPr lang="zh-CN" altLang="en-US" sz="2000" dirty="0">
                <a:latin typeface="宋体" panose="02010600030101010101" pitchFamily="2" charset="-122"/>
                <a:ea typeface="楷体_GB2312" pitchFamily="49" charset="-122"/>
              </a:rPr>
              <a:t>同态和</a:t>
            </a:r>
            <a:r>
              <a:rPr lang="zh-CN" altLang="en-US" sz="2000" dirty="0">
                <a:ea typeface="楷体_GB2312" pitchFamily="49" charset="-122"/>
              </a:rPr>
              <a:t>同构，必须在两个同类型的代数系统之间讨论，即两个代数系统中运算的个数必须一样多，且对应的运算的元数也必须相同，否则</a:t>
            </a:r>
            <a:r>
              <a:rPr lang="zh-CN" altLang="en-US" sz="2000" dirty="0">
                <a:latin typeface="宋体" panose="02010600030101010101" pitchFamily="2" charset="-122"/>
                <a:ea typeface="楷体_GB2312" pitchFamily="49" charset="-122"/>
              </a:rPr>
              <a:t>同态和</a:t>
            </a:r>
            <a:r>
              <a:rPr lang="zh-CN" altLang="en-US" sz="2000" dirty="0">
                <a:ea typeface="楷体_GB2312" pitchFamily="49" charset="-122"/>
              </a:rPr>
              <a:t>同构就无从谈起；</a:t>
            </a:r>
          </a:p>
          <a:p>
            <a:pPr marL="0" indent="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　  </a:t>
            </a:r>
            <a:r>
              <a:rPr lang="zh-CN" altLang="en-US" sz="2000" dirty="0">
                <a:ea typeface="楷体_GB2312" pitchFamily="49" charset="-122"/>
              </a:rPr>
              <a:t>同构概念要求两个集合必须是等势的</a:t>
            </a:r>
            <a:r>
              <a:rPr lang="en-US" altLang="zh-CN" sz="2000" dirty="0">
                <a:latin typeface="宋体" panose="02010600030101010101" pitchFamily="2" charset="-122"/>
              </a:rPr>
              <a:t>(</a:t>
            </a:r>
            <a:r>
              <a:rPr lang="zh-CN" altLang="en-US" sz="2000" dirty="0">
                <a:ea typeface="楷体_GB2312" pitchFamily="49" charset="-122"/>
              </a:rPr>
              <a:t>即　　　　　　 </a:t>
            </a:r>
            <a:r>
              <a:rPr lang="en-US" altLang="zh-CN" sz="2000" dirty="0">
                <a:latin typeface="宋体" panose="02010600030101010101" pitchFamily="2" charset="-122"/>
              </a:rPr>
              <a:t>)</a:t>
            </a:r>
            <a:endParaRPr lang="en-US" altLang="zh-CN" sz="2000" dirty="0"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000" dirty="0">
                <a:ea typeface="楷体_GB2312" pitchFamily="49" charset="-122"/>
              </a:rPr>
              <a:t>　代数系统间的同构要求有一个双射函数存在，因此如果两个代数系统同构，那么这两个代数系统的集合的势是一样的，故有限代数系统绝对不会和无限代数系统同构。同时这个双射函数还要对每一对相应的运算满足同态公式，这样两个代数系统才能同构。</a:t>
            </a:r>
          </a:p>
          <a:p>
            <a:pPr marL="0" indent="0">
              <a:lnSpc>
                <a:spcPct val="100000"/>
              </a:lnSpc>
              <a:buFont typeface="Wingdings" panose="05000000000000000000" pitchFamily="2" charset="2"/>
              <a:buNone/>
            </a:pPr>
            <a:endParaRPr lang="zh-CN" altLang="en-US" sz="2000" dirty="0">
              <a:ea typeface="楷体_GB2312" pitchFamily="49" charset="-122"/>
            </a:endParaRPr>
          </a:p>
        </p:txBody>
      </p:sp>
      <p:grpSp>
        <p:nvGrpSpPr>
          <p:cNvPr id="5" name="Group 1043">
            <a:extLst>
              <a:ext uri="{FF2B5EF4-FFF2-40B4-BE49-F238E27FC236}">
                <a16:creationId xmlns:a16="http://schemas.microsoft.com/office/drawing/2014/main" id="{3CFBA410-464C-4970-93A3-F3F25F173F7D}"/>
              </a:ext>
            </a:extLst>
          </p:cNvPr>
          <p:cNvGrpSpPr>
            <a:grpSpLocks/>
          </p:cNvGrpSpPr>
          <p:nvPr/>
        </p:nvGrpSpPr>
        <p:grpSpPr bwMode="auto">
          <a:xfrm>
            <a:off x="2081503" y="1765167"/>
            <a:ext cx="1717675" cy="471488"/>
            <a:chOff x="1392" y="1152"/>
            <a:chExt cx="1082" cy="297"/>
          </a:xfrm>
        </p:grpSpPr>
        <p:pic>
          <p:nvPicPr>
            <p:cNvPr id="6" name="Picture 1039">
              <a:extLst>
                <a:ext uri="{FF2B5EF4-FFF2-40B4-BE49-F238E27FC236}">
                  <a16:creationId xmlns:a16="http://schemas.microsoft.com/office/drawing/2014/main" id="{33CBE3BE-33ED-44C3-9056-94CE9B4E08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92" y="1152"/>
              <a:ext cx="262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7" name="Picture 1040">
              <a:extLst>
                <a:ext uri="{FF2B5EF4-FFF2-40B4-BE49-F238E27FC236}">
                  <a16:creationId xmlns:a16="http://schemas.microsoft.com/office/drawing/2014/main" id="{640FD2E2-D644-46B2-8163-9D296BBD80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0" y="1152"/>
              <a:ext cx="279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8" name="Picture 1041">
              <a:extLst>
                <a:ext uri="{FF2B5EF4-FFF2-40B4-BE49-F238E27FC236}">
                  <a16:creationId xmlns:a16="http://schemas.microsoft.com/office/drawing/2014/main" id="{2A10AAB9-57C2-4351-B11F-57765E9DA0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60" y="1152"/>
              <a:ext cx="314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grpSp>
        <p:nvGrpSpPr>
          <p:cNvPr id="9" name="Group 1044">
            <a:extLst>
              <a:ext uri="{FF2B5EF4-FFF2-40B4-BE49-F238E27FC236}">
                <a16:creationId xmlns:a16="http://schemas.microsoft.com/office/drawing/2014/main" id="{741C7B3F-BD37-4B57-8583-59D3ED79E918}"/>
              </a:ext>
            </a:extLst>
          </p:cNvPr>
          <p:cNvGrpSpPr>
            <a:grpSpLocks/>
          </p:cNvGrpSpPr>
          <p:nvPr/>
        </p:nvGrpSpPr>
        <p:grpSpPr bwMode="auto">
          <a:xfrm>
            <a:off x="7916119" y="2262781"/>
            <a:ext cx="152400" cy="152400"/>
            <a:chOff x="2016" y="1837"/>
            <a:chExt cx="144" cy="131"/>
          </a:xfrm>
        </p:grpSpPr>
        <p:sp>
          <p:nvSpPr>
            <p:cNvPr id="10" name="Line 1045">
              <a:extLst>
                <a:ext uri="{FF2B5EF4-FFF2-40B4-BE49-F238E27FC236}">
                  <a16:creationId xmlns:a16="http://schemas.microsoft.com/office/drawing/2014/main" id="{0C4D5C38-5C0B-4621-822F-07DCEE1F69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1968"/>
              <a:ext cx="144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Freeform 1046">
              <a:extLst>
                <a:ext uri="{FF2B5EF4-FFF2-40B4-BE49-F238E27FC236}">
                  <a16:creationId xmlns:a16="http://schemas.microsoft.com/office/drawing/2014/main" id="{FE997AA5-AF69-48C7-896C-8E5BE74832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6" y="1837"/>
              <a:ext cx="139" cy="28"/>
            </a:xfrm>
            <a:custGeom>
              <a:avLst/>
              <a:gdLst>
                <a:gd name="T0" fmla="*/ 0 w 278"/>
                <a:gd name="T1" fmla="*/ 60 h 69"/>
                <a:gd name="T2" fmla="*/ 94 w 278"/>
                <a:gd name="T3" fmla="*/ 1 h 69"/>
                <a:gd name="T4" fmla="*/ 202 w 278"/>
                <a:gd name="T5" fmla="*/ 68 h 69"/>
                <a:gd name="T6" fmla="*/ 278 w 278"/>
                <a:gd name="T7" fmla="*/ 5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8" h="69">
                  <a:moveTo>
                    <a:pt x="0" y="60"/>
                  </a:moveTo>
                  <a:cubicBezTo>
                    <a:pt x="16" y="50"/>
                    <a:pt x="60" y="0"/>
                    <a:pt x="94" y="1"/>
                  </a:cubicBezTo>
                  <a:cubicBezTo>
                    <a:pt x="128" y="2"/>
                    <a:pt x="171" y="67"/>
                    <a:pt x="202" y="68"/>
                  </a:cubicBezTo>
                  <a:cubicBezTo>
                    <a:pt x="233" y="69"/>
                    <a:pt x="262" y="18"/>
                    <a:pt x="278" y="5"/>
                  </a:cubicBezTo>
                </a:path>
              </a:pathLst>
            </a:custGeom>
            <a:noFill/>
            <a:ln w="254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047">
              <a:extLst>
                <a:ext uri="{FF2B5EF4-FFF2-40B4-BE49-F238E27FC236}">
                  <a16:creationId xmlns:a16="http://schemas.microsoft.com/office/drawing/2014/main" id="{25C8BE36-AB99-4FB2-9C5A-EB608DF566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1917"/>
              <a:ext cx="144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" name="Group 1044">
            <a:extLst>
              <a:ext uri="{FF2B5EF4-FFF2-40B4-BE49-F238E27FC236}">
                <a16:creationId xmlns:a16="http://schemas.microsoft.com/office/drawing/2014/main" id="{4BE6BF00-E5AB-41D7-AD5E-65224527A1AE}"/>
              </a:ext>
            </a:extLst>
          </p:cNvPr>
          <p:cNvGrpSpPr>
            <a:grpSpLocks/>
          </p:cNvGrpSpPr>
          <p:nvPr/>
        </p:nvGrpSpPr>
        <p:grpSpPr bwMode="auto">
          <a:xfrm>
            <a:off x="5734982" y="2688711"/>
            <a:ext cx="152400" cy="152400"/>
            <a:chOff x="2016" y="1837"/>
            <a:chExt cx="144" cy="131"/>
          </a:xfrm>
        </p:grpSpPr>
        <p:sp>
          <p:nvSpPr>
            <p:cNvPr id="14" name="Line 1045">
              <a:extLst>
                <a:ext uri="{FF2B5EF4-FFF2-40B4-BE49-F238E27FC236}">
                  <a16:creationId xmlns:a16="http://schemas.microsoft.com/office/drawing/2014/main" id="{9D8BA468-CD48-4D27-B37B-43989215F3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1968"/>
              <a:ext cx="144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046">
              <a:extLst>
                <a:ext uri="{FF2B5EF4-FFF2-40B4-BE49-F238E27FC236}">
                  <a16:creationId xmlns:a16="http://schemas.microsoft.com/office/drawing/2014/main" id="{F7721070-3381-4B16-A2FE-493B943FE7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6" y="1837"/>
              <a:ext cx="139" cy="28"/>
            </a:xfrm>
            <a:custGeom>
              <a:avLst/>
              <a:gdLst>
                <a:gd name="T0" fmla="*/ 0 w 278"/>
                <a:gd name="T1" fmla="*/ 60 h 69"/>
                <a:gd name="T2" fmla="*/ 94 w 278"/>
                <a:gd name="T3" fmla="*/ 1 h 69"/>
                <a:gd name="T4" fmla="*/ 202 w 278"/>
                <a:gd name="T5" fmla="*/ 68 h 69"/>
                <a:gd name="T6" fmla="*/ 278 w 278"/>
                <a:gd name="T7" fmla="*/ 5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8" h="69">
                  <a:moveTo>
                    <a:pt x="0" y="60"/>
                  </a:moveTo>
                  <a:cubicBezTo>
                    <a:pt x="16" y="50"/>
                    <a:pt x="60" y="0"/>
                    <a:pt x="94" y="1"/>
                  </a:cubicBezTo>
                  <a:cubicBezTo>
                    <a:pt x="128" y="2"/>
                    <a:pt x="171" y="67"/>
                    <a:pt x="202" y="68"/>
                  </a:cubicBezTo>
                  <a:cubicBezTo>
                    <a:pt x="233" y="69"/>
                    <a:pt x="262" y="18"/>
                    <a:pt x="278" y="5"/>
                  </a:cubicBezTo>
                </a:path>
              </a:pathLst>
            </a:custGeom>
            <a:noFill/>
            <a:ln w="254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047">
              <a:extLst>
                <a:ext uri="{FF2B5EF4-FFF2-40B4-BE49-F238E27FC236}">
                  <a16:creationId xmlns:a16="http://schemas.microsoft.com/office/drawing/2014/main" id="{08ADEC89-22AE-4949-8571-969A06E57D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1917"/>
              <a:ext cx="144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17" name="Picture 1042">
            <a:extLst>
              <a:ext uri="{FF2B5EF4-FFF2-40B4-BE49-F238E27FC236}">
                <a16:creationId xmlns:a16="http://schemas.microsoft.com/office/drawing/2014/main" id="{A180A57B-FB4D-4B3A-8162-AA10712D1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1950" y="4785283"/>
            <a:ext cx="1600200" cy="45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39559724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Rectangle 1027">
            <a:extLst>
              <a:ext uri="{FF2B5EF4-FFF2-40B4-BE49-F238E27FC236}">
                <a16:creationId xmlns:a16="http://schemas.microsoft.com/office/drawing/2014/main" id="{1AAFBFAB-EC92-4443-9F88-D50D5907E32C}"/>
              </a:ext>
            </a:extLst>
          </p:cNvPr>
          <p:cNvSpPr txBox="1">
            <a:spLocks noChangeArrowheads="1"/>
          </p:cNvSpPr>
          <p:nvPr/>
        </p:nvSpPr>
        <p:spPr>
          <a:xfrm>
            <a:off x="1690382" y="738188"/>
            <a:ext cx="7620000" cy="5638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同态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(homomorphism)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zh-CN" altLang="en-US" b="1" u="sng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C72BD6E6-C2C3-4B90-9C00-427190740E8E}"/>
              </a:ext>
            </a:extLst>
          </p:cNvPr>
          <p:cNvSpPr txBox="1">
            <a:spLocks noChangeArrowheads="1"/>
          </p:cNvSpPr>
          <p:nvPr/>
        </p:nvSpPr>
        <p:spPr>
          <a:xfrm>
            <a:off x="1267835" y="1108869"/>
            <a:ext cx="9425701" cy="48974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·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设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&lt;A,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&lt;B,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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为两个二元代数系统，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ψ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的映射。对任意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x, 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y∈A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，都有</a:t>
            </a:r>
          </a:p>
          <a:p>
            <a:pPr marL="0" indent="0" algn="ctr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ψ(</a:t>
            </a:r>
            <a:r>
              <a:rPr lang="en-US" altLang="zh-CN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en-US" altLang="zh-CN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= ψ(x) 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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ψ(y)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则称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ψ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是从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&lt;A,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&lt;B,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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同态映射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，称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ψ(A)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同态象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，其中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ψ(A) = {ψ(x) | 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x∈A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·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如果存在一个从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&lt;A,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&lt;B,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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&gt;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的同态映射，则称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&lt;A,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&lt;B,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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&gt;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同态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，记为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&lt;A,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&gt;∽&lt;B,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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&gt;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·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当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 = B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时，称其同态为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自同态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23984240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9" name="Rectangle 3">
            <a:extLst>
              <a:ext uri="{FF2B5EF4-FFF2-40B4-BE49-F238E27FC236}">
                <a16:creationId xmlns:a16="http://schemas.microsoft.com/office/drawing/2014/main" id="{87443C86-A79D-47AD-A42E-CFBC4EB5F8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1304648"/>
            <a:ext cx="8064500" cy="489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–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•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Char char="–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Char char="»"/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defRPr sz="2800" b="1">
                <a:solidFill>
                  <a:srgbClr val="000000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当同态映射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ψ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分别是单射、满射、双射时，分别称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ψ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单一同态映射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满同态映射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同构映射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如果存在一个从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&lt;A,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&gt;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&lt;B,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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&gt;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的同构映射（单一同态映射、满同态映射），则称代数系统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&lt;A,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&gt;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&lt;B,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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&gt;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同构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单一同态、满同态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）。</a:t>
            </a: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用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&lt;A,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&gt;≌&lt;B,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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&gt;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表示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&lt;A,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&gt;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&lt;B,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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&gt;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同构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3506380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AutoShape 3">
            <a:extLst>
              <a:ext uri="{FF2B5EF4-FFF2-40B4-BE49-F238E27FC236}">
                <a16:creationId xmlns:a16="http://schemas.microsoft.com/office/drawing/2014/main" id="{149A58F6-DBE6-4167-A984-406CFAC8573A}"/>
              </a:ext>
            </a:extLst>
          </p:cNvPr>
          <p:cNvSpPr txBox="1">
            <a:spLocks noChangeAspect="1" noChangeArrowheads="1"/>
          </p:cNvSpPr>
          <p:nvPr/>
        </p:nvSpPr>
        <p:spPr>
          <a:xfrm>
            <a:off x="1655219" y="738188"/>
            <a:ext cx="7543800" cy="5562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代数系统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(N, +)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与代数系统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</a:t>
            </a:r>
            <a:r>
              <a:rPr lang="en-US" altLang="zh-CN" sz="2400" b="1" baseline="-2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+</a:t>
            </a:r>
            <a:r>
              <a:rPr lang="en-US" altLang="zh-CN" sz="2400" b="1" baseline="-2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是满同态的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这里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是自然数集合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＋是自然数加法， 故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(N, +)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是代数系统； 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aseline="-2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={[0]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[1]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,…,[m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－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1]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，二元运算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400" baseline="-2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定义如下：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]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,[j]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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aseline="-2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aseline="-2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[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]</a:t>
            </a:r>
            <a:r>
              <a:rPr lang="en-US" altLang="zh-CN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400" baseline="-2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aseline="-2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 j ]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[(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i+j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)mod m]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i+j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mod m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 m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，因此运算结果唯一，且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[(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i+j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)mod m]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 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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aseline="-2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，满足封闭性。故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400" baseline="-2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aseline="-2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上的二元运算，故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</a:t>
            </a:r>
            <a:r>
              <a:rPr lang="en-US" altLang="zh-CN" sz="2400" baseline="-2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+</a:t>
            </a:r>
            <a:r>
              <a:rPr lang="en-US" altLang="zh-CN" sz="2400" baseline="-2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是代数系统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</p:txBody>
      </p:sp>
    </p:spTree>
    <p:extLst>
      <p:ext uri="{BB962C8B-B14F-4D97-AF65-F5344CB8AC3E}">
        <p14:creationId xmlns:p14="http://schemas.microsoft.com/office/powerpoint/2010/main" val="714275820"/>
      </p:ext>
    </p:extLst>
  </p:cSld>
  <p:clrMapOvr>
    <a:masterClrMapping/>
  </p:clrMapOvr>
  <p:transition spd="slow" advTm="0">
    <p:wip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AutoShape 3">
            <a:extLst>
              <a:ext uri="{FF2B5EF4-FFF2-40B4-BE49-F238E27FC236}">
                <a16:creationId xmlns:a16="http://schemas.microsoft.com/office/drawing/2014/main" id="{A7E8CE8D-92F7-4581-B61F-E9BF76EEB6CB}"/>
              </a:ext>
            </a:extLst>
          </p:cNvPr>
          <p:cNvSpPr txBox="1">
            <a:spLocks noChangeAspect="1" noChangeArrowheads="1"/>
          </p:cNvSpPr>
          <p:nvPr/>
        </p:nvSpPr>
        <p:spPr>
          <a:xfrm>
            <a:off x="2017552" y="982211"/>
            <a:ext cx="7543800" cy="5638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定义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函数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 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aseline="-2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  </a:t>
            </a:r>
            <a:r>
              <a:rPr lang="zh-CN" altLang="en-US" sz="2400" baseline="-2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使得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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aseline="-2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=[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 m]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　    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i,j</a:t>
            </a:r>
            <a:r>
              <a:rPr lang="en-US" altLang="zh-CN" sz="24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，有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　 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i+j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)=[(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i+j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mod m] 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=[(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 m + j mod m) mod m] 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=[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 m]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</a:t>
            </a:r>
            <a:r>
              <a:rPr lang="en-US" altLang="zh-CN" sz="2400" baseline="-2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 j mod m]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=h(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</a:t>
            </a:r>
            <a:r>
              <a:rPr lang="en-US" altLang="zh-CN" sz="2400" baseline="-2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h(j)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故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400" baseline="-2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满足同态公式；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对任意元素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altLang="zh-CN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4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aseline="-2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，当然有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，使得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 [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故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是满射的；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由定义知，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(N, +)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aseline="-2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,+</a:t>
            </a:r>
            <a:r>
              <a:rPr lang="en-US" altLang="zh-CN" sz="2400" baseline="-2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aseline="-2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的满同态函数，即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aseline="-2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,+</a:t>
            </a:r>
            <a:r>
              <a:rPr lang="en-US" altLang="zh-CN" sz="2400" baseline="-2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aseline="-2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(N, +)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的满同态象。</a:t>
            </a:r>
          </a:p>
        </p:txBody>
      </p:sp>
    </p:spTree>
    <p:extLst>
      <p:ext uri="{BB962C8B-B14F-4D97-AF65-F5344CB8AC3E}">
        <p14:creationId xmlns:p14="http://schemas.microsoft.com/office/powerpoint/2010/main" val="276422761"/>
      </p:ext>
    </p:extLst>
  </p:cSld>
  <p:clrMapOvr>
    <a:masterClrMapping/>
  </p:clrMapOvr>
  <p:transition spd="slow" advTm="0">
    <p:wip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AutoShape 3">
            <a:extLst>
              <a:ext uri="{FF2B5EF4-FFF2-40B4-BE49-F238E27FC236}">
                <a16:creationId xmlns:a16="http://schemas.microsoft.com/office/drawing/2014/main" id="{738A26FE-671E-4B81-968F-9995F6FE4EA5}"/>
              </a:ext>
            </a:extLst>
          </p:cNvPr>
          <p:cNvSpPr txBox="1">
            <a:spLocks noChangeAspect="1" noChangeArrowheads="1"/>
          </p:cNvSpPr>
          <p:nvPr/>
        </p:nvSpPr>
        <p:spPr>
          <a:xfrm>
            <a:off x="1975607" y="990600"/>
            <a:ext cx="7543800" cy="5562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代数系统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(N,+)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与代数系统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(X,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是满同态的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这里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是自然数集合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＋是自然数加法， 故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(N, +)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是代数系统；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X={1, -1}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是整数乘法，其运算表如下：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故，显然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 ,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是代数系统；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定义函数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X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使得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　　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h(2m)=1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h(2m+1)=-1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于是有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h(2m+2n)=h(2(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m+n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))=1=11= h(2m)h(2n)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h(2m+2n+1)=h(2(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m+n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)+1)=-1=1(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              = h(2m)h(2n+1)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h(2m+1+2n+1)=h(2( m+n+1))=1= (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1)(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                  = h(2m+1)h(2n+1)</a:t>
            </a:r>
          </a:p>
        </p:txBody>
      </p:sp>
      <p:graphicFrame>
        <p:nvGraphicFramePr>
          <p:cNvPr id="5" name="Group 33">
            <a:extLst>
              <a:ext uri="{FF2B5EF4-FFF2-40B4-BE49-F238E27FC236}">
                <a16:creationId xmlns:a16="http://schemas.microsoft.com/office/drawing/2014/main" id="{6CF8B2D2-574F-404A-B030-D6E88AB1B061}"/>
              </a:ext>
            </a:extLst>
          </p:cNvPr>
          <p:cNvGraphicFramePr>
            <a:graphicFrameLocks noGrp="1"/>
          </p:cNvGraphicFramePr>
          <p:nvPr/>
        </p:nvGraphicFramePr>
        <p:xfrm>
          <a:off x="8643107" y="2620962"/>
          <a:ext cx="1752600" cy="1150938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20650919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4238234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1058935712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</a:t>
                      </a:r>
                    </a:p>
                  </a:txBody>
                  <a:tcPr marL="0" marR="0" marT="0" marB="0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-1</a:t>
                      </a:r>
                    </a:p>
                  </a:txBody>
                  <a:tcPr marL="0" marR="0" marT="0" marB="0" anchorCtr="1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7941882"/>
                  </a:ext>
                </a:extLst>
              </a:tr>
              <a:tr h="3937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-1</a:t>
                      </a:r>
                    </a:p>
                  </a:txBody>
                  <a:tcPr marL="0" marR="0" marT="0" marB="0" anchorCtr="1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4561806"/>
                  </a:ext>
                </a:extLst>
              </a:tr>
              <a:tr h="3762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-1</a:t>
                      </a:r>
                    </a:p>
                  </a:txBody>
                  <a:tcPr marL="0" marR="0" marT="0" marB="0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-1</a:t>
                      </a:r>
                    </a:p>
                  </a:txBody>
                  <a:tcPr marL="0" marR="0" marT="0" marB="0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8673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455638"/>
      </p:ext>
    </p:extLst>
  </p:cSld>
  <p:clrMapOvr>
    <a:masterClrMapping/>
  </p:clrMapOvr>
  <p:transition spd="slow" advTm="0">
    <p:wip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Rectangle 1027">
            <a:extLst>
              <a:ext uri="{FF2B5EF4-FFF2-40B4-BE49-F238E27FC236}">
                <a16:creationId xmlns:a16="http://schemas.microsoft.com/office/drawing/2014/main" id="{8F82B2A8-2159-4906-A59A-8C7B01BC4641}"/>
              </a:ext>
            </a:extLst>
          </p:cNvPr>
          <p:cNvSpPr txBox="1">
            <a:spLocks noChangeArrowheads="1"/>
          </p:cNvSpPr>
          <p:nvPr/>
        </p:nvSpPr>
        <p:spPr>
          <a:xfrm>
            <a:off x="1841384" y="1074490"/>
            <a:ext cx="7620000" cy="54864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(N, +)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(E, +)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同构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这里：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是自然数集合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+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是自然数加法，故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(N, +)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是代数系统；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中偶数集合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+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是自然数加法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故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(E, +)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是代数系统；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这两个代数系统是同类型的，都只有一个二元运算；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取函数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→E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)=2i   (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N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显然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是双射函数；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i,j</a:t>
            </a:r>
            <a:r>
              <a:rPr lang="en-US" altLang="zh-CN" sz="24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N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有：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h(</a:t>
            </a:r>
            <a:r>
              <a:rPr lang="en-US" altLang="zh-CN" sz="24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zh-CN" altLang="en-US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＋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j)=2(</a:t>
            </a:r>
            <a:r>
              <a:rPr lang="en-US" altLang="zh-CN" sz="24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zh-CN" altLang="en-US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＋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j)=2i + 2j = h(</a:t>
            </a:r>
            <a:r>
              <a:rPr lang="en-US" altLang="zh-CN" sz="24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)+h(j) 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故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满足同态公式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于是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,h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(N,+)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到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(E,+)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的同构函数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即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(N,+)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(E,+)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同构。</a:t>
            </a:r>
          </a:p>
        </p:txBody>
      </p:sp>
    </p:spTree>
    <p:extLst>
      <p:ext uri="{BB962C8B-B14F-4D97-AF65-F5344CB8AC3E}">
        <p14:creationId xmlns:p14="http://schemas.microsoft.com/office/powerpoint/2010/main" val="2831296436"/>
      </p:ext>
    </p:extLst>
  </p:cSld>
  <p:clrMapOvr>
    <a:masterClrMapping/>
  </p:clrMapOvr>
  <p:transition spd="slow" advTm="0">
    <p:wip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F8CE27B-7DE9-4446-B3AC-43EC40FBEA23}"/>
              </a:ext>
            </a:extLst>
          </p:cNvPr>
          <p:cNvSpPr txBox="1">
            <a:spLocks noChangeArrowheads="1"/>
          </p:cNvSpPr>
          <p:nvPr/>
        </p:nvSpPr>
        <p:spPr>
          <a:xfrm>
            <a:off x="1751013" y="1057712"/>
            <a:ext cx="7620000" cy="5562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同时有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zh-CN" sz="2400" baseline="3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→N,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zh-CN" sz="2400" baseline="3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)=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/2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E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；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　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显然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zh-CN" sz="2400" baseline="3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是双射函数；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　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i,j</a:t>
            </a:r>
            <a:r>
              <a:rPr lang="en-US" altLang="zh-CN" sz="24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有：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zh-CN" sz="2400" baseline="3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i+j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)=(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i+j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)/2=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/2+j/2=h</a:t>
            </a:r>
            <a:r>
              <a:rPr lang="en-US" altLang="zh-CN" sz="2400" baseline="3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)+h</a:t>
            </a:r>
            <a:r>
              <a:rPr lang="en-US" altLang="zh-CN" sz="2400" baseline="3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(j)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故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zh-CN" sz="2400" baseline="3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-1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满足同态公式；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于是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,h</a:t>
            </a:r>
            <a:r>
              <a:rPr lang="en-US" altLang="zh-CN" sz="2400" baseline="3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(E,+)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到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(N,+)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的同构函数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即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(E,+)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(N,+)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同构。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974988849"/>
      </p:ext>
    </p:extLst>
  </p:cSld>
  <p:clrMapOvr>
    <a:masterClrMapping/>
  </p:clrMapOvr>
  <p:transition spd="slow" advTm="0">
    <p:wip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A592913-F1DB-4455-9DFA-04E1AB5E64E5}"/>
              </a:ext>
            </a:extLst>
          </p:cNvPr>
          <p:cNvSpPr txBox="1">
            <a:spLocks noChangeArrowheads="1"/>
          </p:cNvSpPr>
          <p:nvPr/>
        </p:nvSpPr>
        <p:spPr>
          <a:xfrm>
            <a:off x="1371600" y="990600"/>
            <a:ext cx="7620000" cy="5562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(R, +)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(R</a:t>
            </a:r>
            <a:r>
              <a:rPr lang="en-US" altLang="zh-CN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,)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同构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这里：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是实数集合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+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是实数加法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(R,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＋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是代数系统；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是正实数集合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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是实数乘法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(R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)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是代数系统；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这是两个同类型的代数系统，都只有一个二元运算；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取函数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→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 e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18210158"/>
      </p:ext>
    </p:extLst>
  </p:cSld>
  <p:clrMapOvr>
    <a:masterClrMapping/>
  </p:clrMapOvr>
  <p:transition spd="slow" advTm="0">
    <p:wip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A806064-4085-48F9-B43F-C85B3FDB2FAC}"/>
              </a:ext>
            </a:extLst>
          </p:cNvPr>
          <p:cNvSpPr txBox="1">
            <a:spLocks noChangeArrowheads="1"/>
          </p:cNvSpPr>
          <p:nvPr/>
        </p:nvSpPr>
        <p:spPr>
          <a:xfrm>
            <a:off x="1489046" y="830510"/>
            <a:ext cx="7620000" cy="5715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单射：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h()= h() e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 e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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ln e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lne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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 =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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满射：对任何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，由于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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，故可取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lnc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h()= e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sz="2400" baseline="30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lnc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=c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故所以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是双射函数；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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,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有：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(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 + 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 e </a:t>
            </a:r>
            <a:r>
              <a:rPr lang="en-US" altLang="zh-CN" sz="2400" baseline="26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 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sz="2400" baseline="26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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 e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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 h()  h()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故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满足同态公式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由定义知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,h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(R,+)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到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(R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)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的同构函数，即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(R, +)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(R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)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同构。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3542610"/>
      </p:ext>
    </p:extLst>
  </p:cSld>
  <p:clrMapOvr>
    <a:masterClrMapping/>
  </p:clrMapOvr>
  <p:transition spd="slow" advTm="0">
    <p:wip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F71938C-FD1B-45CA-8763-CEF409F5239D}"/>
              </a:ext>
            </a:extLst>
          </p:cNvPr>
          <p:cNvSpPr txBox="1">
            <a:spLocks noChangeArrowheads="1"/>
          </p:cNvSpPr>
          <p:nvPr/>
        </p:nvSpPr>
        <p:spPr>
          <a:xfrm>
            <a:off x="1489046" y="830510"/>
            <a:ext cx="7620000" cy="5715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同时有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zh-CN" sz="2400" baseline="3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：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R,  h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aseline="3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)=㏑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同理可证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zh-CN" sz="2400" baseline="3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是双射函数；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且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，</a:t>
            </a:r>
            <a:r>
              <a:rPr lang="zh-CN" altLang="en-US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有：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aseline="3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  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)=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㏑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  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)=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㏑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+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㏑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=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aseline="3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)+h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aseline="3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故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aseline="3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满足同态公式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由定义可知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aseline="3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(R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)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到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(R,+)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的同构函数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即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(R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)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(R,+)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同构。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4507524"/>
      </p:ext>
    </p:extLst>
  </p:cSld>
  <p:clrMapOvr>
    <a:masterClrMapping/>
  </p:clrMapOvr>
  <p:transition spd="slow" advTm="0">
    <p:wip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854743-1024-4764-901C-CB26AE53548D}"/>
              </a:ext>
            </a:extLst>
          </p:cNvPr>
          <p:cNvSpPr txBox="1">
            <a:spLocks noChangeArrowheads="1"/>
          </p:cNvSpPr>
          <p:nvPr/>
        </p:nvSpPr>
        <p:spPr>
          <a:xfrm>
            <a:off x="1371600" y="1066800"/>
            <a:ext cx="7620000" cy="54864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</a:t>
            </a:r>
            <a:r>
              <a:rPr lang="zh-CN" altLang="en-US" sz="2000" dirty="0">
                <a:ea typeface="楷体_GB2312" pitchFamily="49" charset="-122"/>
              </a:rPr>
              <a:t>同构概念是双向的、相互的、可逆的</a:t>
            </a:r>
            <a:endParaRPr lang="zh-CN" altLang="en-US" sz="2000" dirty="0"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 </a:t>
            </a:r>
            <a:r>
              <a:rPr lang="zh-CN" altLang="en-US" sz="2000" dirty="0">
                <a:ea typeface="楷体_GB2312" pitchFamily="49" charset="-122"/>
              </a:rPr>
              <a:t>由于两个代数系统间的同构函数</a:t>
            </a:r>
            <a:r>
              <a:rPr lang="zh-CN" altLang="en-US" sz="2000" dirty="0"/>
              <a:t> </a:t>
            </a:r>
            <a:r>
              <a:rPr lang="en-US" altLang="zh-CN" sz="2000" dirty="0"/>
              <a:t>h </a:t>
            </a:r>
            <a:r>
              <a:rPr lang="zh-CN" altLang="en-US" sz="2000" dirty="0">
                <a:ea typeface="楷体_GB2312" pitchFamily="49" charset="-122"/>
              </a:rPr>
              <a:t>是双射函数，因此</a:t>
            </a:r>
            <a:r>
              <a:rPr lang="zh-CN" altLang="en-US" sz="2000" dirty="0"/>
              <a:t> </a:t>
            </a:r>
            <a:r>
              <a:rPr lang="en-US" altLang="zh-CN" sz="2000" dirty="0"/>
              <a:t>h </a:t>
            </a:r>
            <a:r>
              <a:rPr lang="zh-CN" altLang="en-US" sz="2000" dirty="0">
                <a:ea typeface="楷体_GB2312" pitchFamily="49" charset="-122"/>
              </a:rPr>
              <a:t>的逆函数</a:t>
            </a:r>
            <a:r>
              <a:rPr lang="zh-CN" altLang="en-US" sz="2000" dirty="0"/>
              <a:t> </a:t>
            </a:r>
            <a:r>
              <a:rPr lang="en-US" altLang="zh-CN" sz="2000" dirty="0"/>
              <a:t>h </a:t>
            </a:r>
            <a:r>
              <a:rPr lang="en-US" altLang="zh-CN" sz="2000" baseline="30000" dirty="0"/>
              <a:t>–1</a:t>
            </a:r>
            <a:r>
              <a:rPr lang="en-US" altLang="zh-CN" sz="2000" dirty="0">
                <a:ea typeface="仿宋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000" dirty="0">
                <a:ea typeface="楷体_GB2312" pitchFamily="49" charset="-122"/>
                <a:sym typeface="Symbol" panose="05050102010706020507" pitchFamily="18" charset="2"/>
              </a:rPr>
              <a:t>存在，可以证明</a:t>
            </a:r>
            <a:r>
              <a:rPr lang="zh-CN" altLang="en-US" sz="2000" dirty="0">
                <a:sym typeface="Symbol" panose="05050102010706020507" pitchFamily="18" charset="2"/>
              </a:rPr>
              <a:t> </a:t>
            </a:r>
            <a:r>
              <a:rPr lang="en-US" altLang="zh-CN" sz="2000" dirty="0"/>
              <a:t>h </a:t>
            </a:r>
            <a:r>
              <a:rPr lang="en-US" altLang="zh-CN" sz="2000" baseline="30000" dirty="0"/>
              <a:t>–1</a:t>
            </a:r>
            <a:r>
              <a:rPr lang="zh-CN" altLang="en-US" sz="2000" dirty="0">
                <a:ea typeface="楷体_GB2312" pitchFamily="49" charset="-122"/>
                <a:sym typeface="Symbol" panose="05050102010706020507" pitchFamily="18" charset="2"/>
              </a:rPr>
              <a:t>是从</a:t>
            </a:r>
            <a:r>
              <a:rPr lang="en-US" altLang="zh-CN" sz="2000" dirty="0">
                <a:sym typeface="Symbol" panose="05050102010706020507" pitchFamily="18" charset="2"/>
              </a:rPr>
              <a:t>Y </a:t>
            </a:r>
            <a:r>
              <a:rPr lang="zh-CN" altLang="en-US" sz="2000" dirty="0">
                <a:ea typeface="楷体_GB2312" pitchFamily="49" charset="-122"/>
                <a:sym typeface="Symbol" panose="05050102010706020507" pitchFamily="18" charset="2"/>
              </a:rPr>
              <a:t>到</a:t>
            </a:r>
            <a:r>
              <a:rPr lang="zh-CN" altLang="en-US" sz="2000" dirty="0"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X </a:t>
            </a:r>
            <a:r>
              <a:rPr lang="zh-CN" altLang="en-US" sz="2000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的双射函数且对</a:t>
            </a:r>
            <a:r>
              <a:rPr lang="en-US" altLang="zh-CN" sz="2000" dirty="0"/>
              <a:t>A</a:t>
            </a:r>
            <a:r>
              <a:rPr lang="zh-CN" altLang="en-US" sz="2000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和</a:t>
            </a:r>
            <a:r>
              <a:rPr lang="en-US" altLang="zh-CN" sz="2000" dirty="0"/>
              <a:t>B</a:t>
            </a:r>
            <a:r>
              <a:rPr lang="zh-CN" altLang="en-US" sz="2000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的每一对相应的运算都满足同态公式，</a:t>
            </a:r>
            <a:r>
              <a:rPr lang="zh-CN" altLang="en-US" sz="2000" dirty="0">
                <a:ea typeface="楷体_GB2312" pitchFamily="49" charset="-122"/>
                <a:sym typeface="Symbol" panose="05050102010706020507" pitchFamily="18" charset="2"/>
              </a:rPr>
              <a:t>故</a:t>
            </a:r>
            <a:r>
              <a:rPr lang="zh-CN" altLang="en-US" sz="2000" dirty="0">
                <a:sym typeface="Symbol" panose="05050102010706020507" pitchFamily="18" charset="2"/>
              </a:rPr>
              <a:t> </a:t>
            </a:r>
            <a:r>
              <a:rPr lang="en-US" altLang="zh-CN" sz="2000" dirty="0"/>
              <a:t>h </a:t>
            </a:r>
            <a:r>
              <a:rPr lang="en-US" altLang="zh-CN" sz="2000" baseline="30000" dirty="0"/>
              <a:t>–1</a:t>
            </a:r>
            <a:r>
              <a:rPr lang="en-US" altLang="zh-CN" sz="2000" dirty="0">
                <a:ea typeface="仿宋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000" dirty="0">
                <a:ea typeface="楷体_GB2312" pitchFamily="49" charset="-122"/>
                <a:sym typeface="Symbol" panose="05050102010706020507" pitchFamily="18" charset="2"/>
              </a:rPr>
              <a:t>是从</a:t>
            </a:r>
            <a:r>
              <a:rPr lang="en-US" altLang="zh-CN" sz="2000" dirty="0">
                <a:ea typeface="仿宋_GB2312" pitchFamily="49" charset="-122"/>
                <a:sym typeface="Symbol" panose="05050102010706020507" pitchFamily="18" charset="2"/>
              </a:rPr>
              <a:t>B</a:t>
            </a:r>
            <a:r>
              <a:rPr lang="en-US" altLang="zh-CN" sz="2000" dirty="0"/>
              <a:t> </a:t>
            </a:r>
            <a:r>
              <a:rPr lang="zh-CN" altLang="en-US" sz="2000" dirty="0">
                <a:ea typeface="楷体_GB2312" pitchFamily="49" charset="-122"/>
                <a:sym typeface="Symbol" panose="05050102010706020507" pitchFamily="18" charset="2"/>
              </a:rPr>
              <a:t>到</a:t>
            </a:r>
            <a:r>
              <a:rPr lang="en-US" altLang="zh-CN" sz="2000" dirty="0">
                <a:ea typeface="仿宋_GB2312" pitchFamily="49" charset="-122"/>
                <a:sym typeface="Symbol" panose="05050102010706020507" pitchFamily="18" charset="2"/>
              </a:rPr>
              <a:t>A</a:t>
            </a:r>
            <a:r>
              <a:rPr lang="en-US" altLang="zh-CN" sz="2000" dirty="0"/>
              <a:t> </a:t>
            </a:r>
            <a:r>
              <a:rPr lang="zh-CN" altLang="en-US" sz="2000" dirty="0">
                <a:ea typeface="楷体_GB2312" pitchFamily="49" charset="-122"/>
              </a:rPr>
              <a:t>的同构函数。因此对同构而言，两个代数系统若同构，则是互相同构的。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</a:t>
            </a:r>
            <a:r>
              <a:rPr lang="zh-CN" altLang="en-US" sz="2000" dirty="0">
                <a:ea typeface="楷体_GB2312" pitchFamily="49" charset="-122"/>
              </a:rPr>
              <a:t>同态概念是单方向的、不可逆的</a:t>
            </a:r>
            <a:endParaRPr lang="zh-CN" altLang="en-US" sz="2000" dirty="0"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　</a:t>
            </a:r>
            <a:r>
              <a:rPr lang="zh-CN" altLang="en-US" sz="2000" dirty="0">
                <a:ea typeface="楷体_GB2312" pitchFamily="49" charset="-122"/>
              </a:rPr>
              <a:t>因此，同构实际上是一种特殊的同态。同态的概念和同构的概念不同，同构是无方向性的，即对两个同构的代数系统来说是相互同构。但同态是有方向性的，从</a:t>
            </a:r>
            <a:r>
              <a:rPr lang="en-US" altLang="zh-CN" sz="2000" dirty="0"/>
              <a:t>A</a:t>
            </a:r>
            <a:r>
              <a:rPr lang="zh-CN" altLang="en-US" sz="2000" dirty="0">
                <a:ea typeface="楷体_GB2312" pitchFamily="49" charset="-122"/>
              </a:rPr>
              <a:t>到</a:t>
            </a:r>
            <a:r>
              <a:rPr lang="en-US" altLang="zh-CN" sz="2000" dirty="0"/>
              <a:t>B</a:t>
            </a:r>
            <a:r>
              <a:rPr lang="zh-CN" altLang="en-US" sz="2000" dirty="0">
                <a:ea typeface="楷体_GB2312" pitchFamily="49" charset="-122"/>
              </a:rPr>
              <a:t>有同态函数存在，从</a:t>
            </a:r>
            <a:r>
              <a:rPr lang="zh-CN" altLang="en-US" sz="2000" dirty="0"/>
              <a:t> </a:t>
            </a:r>
            <a:r>
              <a:rPr lang="en-US" altLang="zh-CN" sz="2000" dirty="0"/>
              <a:t>B</a:t>
            </a:r>
            <a:r>
              <a:rPr lang="zh-CN" altLang="en-US" sz="2000" dirty="0">
                <a:ea typeface="楷体_GB2312" pitchFamily="49" charset="-122"/>
              </a:rPr>
              <a:t>到</a:t>
            </a:r>
            <a:r>
              <a:rPr lang="en-US" altLang="zh-CN" sz="2000" dirty="0"/>
              <a:t>A</a:t>
            </a:r>
            <a:r>
              <a:rPr lang="zh-CN" altLang="en-US" sz="2000" dirty="0">
                <a:ea typeface="楷体_GB2312" pitchFamily="49" charset="-122"/>
              </a:rPr>
              <a:t>就未必有同态函数存在，即同态的概念不可逆。另外当</a:t>
            </a:r>
            <a:r>
              <a:rPr lang="zh-CN" altLang="en-US" sz="2000" dirty="0"/>
              <a:t> </a:t>
            </a:r>
            <a:r>
              <a:rPr lang="en-US" altLang="zh-CN" sz="2000" dirty="0"/>
              <a:t>h </a:t>
            </a:r>
            <a:r>
              <a:rPr lang="zh-CN" altLang="en-US" sz="2000" dirty="0">
                <a:ea typeface="楷体_GB2312" pitchFamily="49" charset="-122"/>
              </a:rPr>
              <a:t>是满同态函数时，</a:t>
            </a:r>
            <a:r>
              <a:rPr lang="en-US" altLang="zh-CN" sz="2000" dirty="0"/>
              <a:t>A</a:t>
            </a:r>
            <a:r>
              <a:rPr lang="zh-CN" altLang="en-US" sz="2000" dirty="0">
                <a:ea typeface="楷体_GB2312" pitchFamily="49" charset="-122"/>
              </a:rPr>
              <a:t>的同态象就是</a:t>
            </a:r>
            <a:r>
              <a:rPr lang="en-US" altLang="zh-CN" sz="2000" dirty="0"/>
              <a:t>B</a:t>
            </a:r>
            <a:r>
              <a:rPr lang="zh-CN" altLang="en-US" sz="2000" dirty="0"/>
              <a:t>。</a:t>
            </a:r>
            <a:endParaRPr lang="zh-CN" altLang="en-US" sz="2000" b="1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2000" dirty="0">
              <a:ea typeface="楷体_GB2312" pitchFamily="49" charset="-122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zh-CN" sz="2000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936811061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BB3F37B-0501-400E-8E83-A9E340F67309}"/>
              </a:ext>
            </a:extLst>
          </p:cNvPr>
          <p:cNvSpPr txBox="1"/>
          <p:nvPr/>
        </p:nvSpPr>
        <p:spPr>
          <a:xfrm>
            <a:off x="2018213" y="978262"/>
            <a:ext cx="7212874" cy="1412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定理：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</a:t>
            </a:r>
            <a:r>
              <a:rPr lang="el-GR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ψ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&lt;A, </a:t>
            </a:r>
            <a:r>
              <a:rPr lang="en-US" altLang="zh-CN" sz="3600" dirty="0">
                <a:sym typeface="Symbol" panose="05050102010706020507" pitchFamily="18" charset="2"/>
              </a:rPr>
              <a:t>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&lt;B, </a:t>
            </a:r>
            <a:r>
              <a:rPr lang="zh-CN" altLang="en-US" sz="2400" dirty="0">
                <a:sym typeface="Symbol" panose="05050102010706020507" pitchFamily="18" charset="2"/>
              </a:rPr>
              <a:t>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&gt;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的同态映射，那么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l-GR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ψ(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A), </a:t>
            </a:r>
            <a:r>
              <a:rPr lang="zh-CN" altLang="en-US" sz="2400" dirty="0">
                <a:sym typeface="Symbol" panose="05050102010706020507" pitchFamily="18" charset="2"/>
              </a:rPr>
              <a:t>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&gt;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dirty="0">
                <a:sym typeface="Symbol" panose="05050102010706020507" pitchFamily="18" charset="2"/>
              </a:rPr>
              <a:t> 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的子代数。</a:t>
            </a:r>
          </a:p>
        </p:txBody>
      </p:sp>
    </p:spTree>
    <p:extLst>
      <p:ext uri="{BB962C8B-B14F-4D97-AF65-F5344CB8AC3E}">
        <p14:creationId xmlns:p14="http://schemas.microsoft.com/office/powerpoint/2010/main" val="3223512140"/>
      </p:ext>
    </p:extLst>
  </p:cSld>
  <p:clrMapOvr>
    <a:masterClrMapping/>
  </p:clrMapOvr>
  <p:transition spd="slow" advTm="0">
    <p:wip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CCA8413-842D-44C1-9249-E70C2D48395E}"/>
              </a:ext>
            </a:extLst>
          </p:cNvPr>
          <p:cNvSpPr/>
          <p:nvPr/>
        </p:nvSpPr>
        <p:spPr>
          <a:xfrm>
            <a:off x="1751013" y="869234"/>
            <a:ext cx="8307387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/>
              <a:t>设代数系统</a:t>
            </a:r>
            <a:r>
              <a:rPr lang="en-US" altLang="zh-CN" sz="2800" b="1" dirty="0"/>
              <a:t>A=</a:t>
            </a:r>
            <a:r>
              <a:rPr lang="en-US" altLang="zh-CN" sz="2800" b="1" dirty="0">
                <a:latin typeface="宋体" panose="02010600030101010101" pitchFamily="2" charset="-122"/>
              </a:rPr>
              <a:t>(</a:t>
            </a:r>
            <a:r>
              <a:rPr lang="en-US" altLang="zh-CN" sz="2800" b="1" dirty="0"/>
              <a:t>X,O</a:t>
            </a:r>
            <a:r>
              <a:rPr lang="en-US" altLang="zh-CN" sz="2800" b="1" baseline="-25000" dirty="0">
                <a:cs typeface="Times New Roman" panose="02020603050405020304" pitchFamily="18" charset="0"/>
              </a:rPr>
              <a:t>1</a:t>
            </a:r>
            <a:r>
              <a:rPr lang="en-US" altLang="zh-CN" sz="2800" b="1" dirty="0"/>
              <a:t>,O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,</a:t>
            </a:r>
            <a:r>
              <a:rPr lang="en-US" altLang="zh-CN" sz="2800" b="1" dirty="0">
                <a:cs typeface="Times New Roman" panose="02020603050405020304" pitchFamily="18" charset="0"/>
              </a:rPr>
              <a:t>···,O</a:t>
            </a:r>
            <a:r>
              <a:rPr lang="en-US" altLang="zh-CN" sz="2800" b="1" baseline="-25000" dirty="0">
                <a:cs typeface="Times New Roman" panose="02020603050405020304" pitchFamily="18" charset="0"/>
              </a:rPr>
              <a:t>m</a:t>
            </a:r>
            <a:r>
              <a:rPr lang="en-US" altLang="zh-CN" sz="2800" b="1" dirty="0">
                <a:latin typeface="宋体" panose="02010600030101010101" pitchFamily="2" charset="-122"/>
              </a:rPr>
              <a:t>)</a:t>
            </a:r>
            <a:r>
              <a:rPr lang="zh-CN" altLang="en-US" sz="2800" b="1" dirty="0"/>
              <a:t>同态于代数系统</a:t>
            </a:r>
            <a:r>
              <a:rPr lang="en-US" altLang="zh-CN" sz="2800" b="1" dirty="0"/>
              <a:t>B= </a:t>
            </a:r>
            <a:r>
              <a:rPr lang="en-US" altLang="zh-CN" sz="2800" b="1" dirty="0">
                <a:latin typeface="宋体" panose="02010600030101010101" pitchFamily="2" charset="-122"/>
              </a:rPr>
              <a:t>(</a:t>
            </a:r>
            <a:r>
              <a:rPr lang="en-US" altLang="zh-CN" sz="2800" b="1" dirty="0"/>
              <a:t>Y,     ,     ,</a:t>
            </a:r>
            <a:r>
              <a:rPr lang="en-US" altLang="zh-CN" sz="2800" b="1" dirty="0">
                <a:cs typeface="Times New Roman" panose="02020603050405020304" pitchFamily="18" charset="0"/>
              </a:rPr>
              <a:t>···,</a:t>
            </a:r>
            <a:r>
              <a:rPr lang="en-US" altLang="zh-CN" sz="2800" b="1" dirty="0"/>
              <a:t>     </a:t>
            </a:r>
            <a:r>
              <a:rPr lang="en-US" altLang="zh-CN" sz="2800" b="1" dirty="0">
                <a:latin typeface="宋体" panose="02010600030101010101" pitchFamily="2" charset="-122"/>
              </a:rPr>
              <a:t>)</a:t>
            </a:r>
            <a:r>
              <a:rPr lang="zh-CN" altLang="en-US" sz="2800" b="1" dirty="0">
                <a:latin typeface="宋体" panose="02010600030101010101" pitchFamily="2" charset="-122"/>
              </a:rPr>
              <a:t>，其同态</a:t>
            </a:r>
            <a:r>
              <a:rPr lang="zh-CN" altLang="en-US" sz="2800" b="1" dirty="0"/>
              <a:t>函数为 </a:t>
            </a:r>
            <a:r>
              <a:rPr lang="en-US" altLang="zh-CN" sz="2800" b="1" dirty="0"/>
              <a:t>h</a:t>
            </a:r>
            <a:r>
              <a:rPr lang="zh-CN" altLang="en-US" sz="2800" b="1" dirty="0"/>
              <a:t>：</a:t>
            </a:r>
            <a:r>
              <a:rPr lang="en-US" altLang="zh-CN" sz="2800" b="1" dirty="0"/>
              <a:t>X→Y </a:t>
            </a:r>
            <a:r>
              <a:rPr lang="zh-CN" altLang="en-US" sz="2800" b="1" dirty="0">
                <a:latin typeface="宋体" panose="02010600030101010101" pitchFamily="2" charset="-122"/>
              </a:rPr>
              <a:t>。则</a:t>
            </a:r>
            <a:r>
              <a:rPr lang="en-US" altLang="zh-CN" sz="2800" b="1" dirty="0"/>
              <a:t>A</a:t>
            </a:r>
            <a:r>
              <a:rPr lang="zh-CN" altLang="en-US" sz="2800" b="1" dirty="0"/>
              <a:t>的同态象</a:t>
            </a:r>
            <a:r>
              <a:rPr lang="en-US" altLang="zh-CN" sz="2800" b="1" dirty="0"/>
              <a:t>C= </a:t>
            </a:r>
            <a:r>
              <a:rPr lang="en-US" altLang="zh-CN" sz="2800" b="1" dirty="0">
                <a:latin typeface="宋体" panose="02010600030101010101" pitchFamily="2" charset="-122"/>
              </a:rPr>
              <a:t>(</a:t>
            </a:r>
            <a:r>
              <a:rPr lang="en-US" altLang="zh-CN" sz="2800" b="1" dirty="0"/>
              <a:t>h</a:t>
            </a:r>
            <a:r>
              <a:rPr lang="en-US" altLang="zh-CN" sz="2800" b="1" dirty="0">
                <a:latin typeface="宋体" panose="02010600030101010101" pitchFamily="2" charset="-122"/>
              </a:rPr>
              <a:t>(</a:t>
            </a:r>
            <a:r>
              <a:rPr lang="en-US" altLang="zh-CN" sz="2800" b="1" dirty="0"/>
              <a:t>X</a:t>
            </a:r>
            <a:r>
              <a:rPr lang="en-US" altLang="zh-CN" sz="2800" b="1" dirty="0">
                <a:latin typeface="宋体" panose="02010600030101010101" pitchFamily="2" charset="-122"/>
              </a:rPr>
              <a:t>)</a:t>
            </a:r>
            <a:r>
              <a:rPr lang="en-US" altLang="zh-CN" sz="2800" b="1" dirty="0"/>
              <a:t>,     ,     ,</a:t>
            </a:r>
            <a:r>
              <a:rPr lang="en-US" altLang="zh-CN" sz="2800" b="1" dirty="0">
                <a:cs typeface="Times New Roman" panose="02020603050405020304" pitchFamily="18" charset="0"/>
              </a:rPr>
              <a:t>···,</a:t>
            </a:r>
            <a:r>
              <a:rPr lang="en-US" altLang="zh-CN" sz="2800" b="1" dirty="0"/>
              <a:t>     </a:t>
            </a:r>
            <a:r>
              <a:rPr lang="en-US" altLang="zh-CN" sz="2800" b="1" dirty="0">
                <a:latin typeface="宋体" panose="02010600030101010101" pitchFamily="2" charset="-122"/>
              </a:rPr>
              <a:t>)</a:t>
            </a:r>
            <a:r>
              <a:rPr lang="zh-CN" altLang="en-US" sz="2800" b="1" dirty="0">
                <a:latin typeface="宋体" panose="02010600030101010101" pitchFamily="2" charset="-122"/>
              </a:rPr>
              <a:t>是</a:t>
            </a:r>
            <a:r>
              <a:rPr lang="en-US" altLang="zh-CN" sz="2800" b="1" dirty="0"/>
              <a:t>B</a:t>
            </a:r>
            <a:r>
              <a:rPr lang="zh-CN" altLang="en-US" sz="2800" b="1" dirty="0"/>
              <a:t>的子代数系统。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44FA6CA-86B6-48C2-9112-8B7CA68F86D8}"/>
              </a:ext>
            </a:extLst>
          </p:cNvPr>
          <p:cNvGrpSpPr>
            <a:grpSpLocks/>
          </p:cNvGrpSpPr>
          <p:nvPr/>
        </p:nvGrpSpPr>
        <p:grpSpPr bwMode="auto">
          <a:xfrm>
            <a:off x="2493587" y="1301829"/>
            <a:ext cx="1717675" cy="471487"/>
            <a:chOff x="1176" y="2883"/>
            <a:chExt cx="1082" cy="29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D309533-08F8-4D66-9C0A-D2BD3BAD8C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6" y="2883"/>
              <a:ext cx="262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4F8EB88-1128-425A-AC8B-74B3A60130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64" y="2883"/>
              <a:ext cx="280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B845221-D16A-4689-86FC-B61C87AAC4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44" y="2883"/>
              <a:ext cx="314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B129285-9362-414F-8F7F-AD1A346AFEC3}"/>
              </a:ext>
            </a:extLst>
          </p:cNvPr>
          <p:cNvGrpSpPr>
            <a:grpSpLocks/>
          </p:cNvGrpSpPr>
          <p:nvPr/>
        </p:nvGrpSpPr>
        <p:grpSpPr bwMode="auto">
          <a:xfrm>
            <a:off x="4631531" y="1773316"/>
            <a:ext cx="1717675" cy="471488"/>
            <a:chOff x="2328" y="3171"/>
            <a:chExt cx="1082" cy="297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B5B8E7F-8E3D-4461-BD88-00EEEDA947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28" y="3171"/>
              <a:ext cx="262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2AC8FDA-848C-4C49-BA1D-C74F0D437F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6" y="3171"/>
              <a:ext cx="280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8DAD8DC6-5EC4-4164-8360-64CD7A0471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6" y="3171"/>
              <a:ext cx="314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93E76A2B-BA46-4D5B-A96E-609E0C204A8E}"/>
              </a:ext>
            </a:extLst>
          </p:cNvPr>
          <p:cNvSpPr/>
          <p:nvPr/>
        </p:nvSpPr>
        <p:spPr>
          <a:xfrm>
            <a:off x="722315" y="2319642"/>
            <a:ext cx="104685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只须证</a:t>
            </a:r>
            <a:r>
              <a:rPr lang="en-US" altLang="zh-CN" sz="2400" dirty="0"/>
              <a:t>B</a:t>
            </a:r>
            <a:r>
              <a:rPr lang="zh-CN" altLang="en-US" sz="2400" dirty="0"/>
              <a:t>的每个运算　　　　　　 </a:t>
            </a:r>
            <a:r>
              <a:rPr lang="en-US" altLang="zh-CN" sz="2400" dirty="0">
                <a:latin typeface="宋体" panose="02010600030101010101" pitchFamily="2" charset="-122"/>
              </a:rPr>
              <a:t>(</a:t>
            </a:r>
            <a:r>
              <a:rPr lang="zh-CN" altLang="en-US" sz="2400" dirty="0">
                <a:latin typeface="宋体" panose="02010600030101010101" pitchFamily="2" charset="-122"/>
              </a:rPr>
              <a:t>设其元数为</a:t>
            </a:r>
            <a:r>
              <a:rPr lang="en-US" altLang="zh-CN" sz="2400" dirty="0"/>
              <a:t>p</a:t>
            </a:r>
            <a:r>
              <a:rPr lang="en-US" altLang="zh-CN" sz="2400" baseline="-25000" dirty="0"/>
              <a:t>i </a:t>
            </a:r>
            <a:r>
              <a:rPr lang="en-US" altLang="zh-CN" sz="2400" dirty="0">
                <a:latin typeface="宋体" panose="02010600030101010101" pitchFamily="2" charset="-122"/>
              </a:rPr>
              <a:t>)</a:t>
            </a:r>
            <a:r>
              <a:rPr lang="zh-CN" altLang="en-US" sz="2400" dirty="0"/>
              <a:t>在</a:t>
            </a:r>
            <a:r>
              <a:rPr lang="en-US" altLang="zh-CN" sz="2400" dirty="0"/>
              <a:t>h</a:t>
            </a:r>
            <a:r>
              <a:rPr lang="en-US" altLang="zh-CN" sz="2400" dirty="0">
                <a:latin typeface="宋体" panose="02010600030101010101" pitchFamily="2" charset="-122"/>
              </a:rPr>
              <a:t>(</a:t>
            </a:r>
            <a:r>
              <a:rPr lang="en-US" altLang="zh-CN" sz="2400" dirty="0"/>
              <a:t>X</a:t>
            </a:r>
            <a:r>
              <a:rPr lang="en-US" altLang="zh-CN" sz="2400" dirty="0">
                <a:latin typeface="宋体" panose="02010600030101010101" pitchFamily="2" charset="-122"/>
              </a:rPr>
              <a:t>)</a:t>
            </a:r>
            <a:r>
              <a:rPr lang="zh-CN" altLang="en-US" sz="2400" dirty="0">
                <a:latin typeface="宋体" panose="02010600030101010101" pitchFamily="2" charset="-122"/>
              </a:rPr>
              <a:t>上都是封闭的即可。</a:t>
            </a:r>
          </a:p>
        </p:txBody>
      </p:sp>
      <p:pic>
        <p:nvPicPr>
          <p:cNvPr id="14" name="Picture 12">
            <a:extLst>
              <a:ext uri="{FF2B5EF4-FFF2-40B4-BE49-F238E27FC236}">
                <a16:creationId xmlns:a16="http://schemas.microsoft.com/office/drawing/2014/main" id="{85905227-4061-4F7D-A4A0-2094CEFB00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2981" y="2329067"/>
            <a:ext cx="1778000" cy="471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0A1474EE-C7B8-47F7-8E3D-CB2BA95063AE}"/>
              </a:ext>
            </a:extLst>
          </p:cNvPr>
          <p:cNvSpPr/>
          <p:nvPr/>
        </p:nvSpPr>
        <p:spPr>
          <a:xfrm>
            <a:off x="2044514" y="2846720"/>
            <a:ext cx="9113392" cy="415498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对于任何元素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h(X)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，由于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h(X)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的象集，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故存在着其原象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，使得</a:t>
            </a:r>
          </a:p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h(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,h(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 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于是 　  　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=      (h(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,h(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h(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=h(O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     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同态公式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=h(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  (O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运算在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上是封闭的，故可设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h(X)</a:t>
            </a:r>
          </a:p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所以　运算是封闭的；于是由子代数系统的定义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可知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的同态象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的子代数系统。</a:t>
            </a:r>
          </a:p>
          <a:p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6">
            <a:extLst>
              <a:ext uri="{FF2B5EF4-FFF2-40B4-BE49-F238E27FC236}">
                <a16:creationId xmlns:a16="http://schemas.microsoft.com/office/drawing/2014/main" id="{09DFDE1F-6695-458A-9907-349CE6DC8F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5274" y="3965783"/>
            <a:ext cx="417513" cy="47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7" name="Picture 6">
            <a:extLst>
              <a:ext uri="{FF2B5EF4-FFF2-40B4-BE49-F238E27FC236}">
                <a16:creationId xmlns:a16="http://schemas.microsoft.com/office/drawing/2014/main" id="{4535D1AB-982A-43C2-8C39-FE9906B011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7774" y="4331828"/>
            <a:ext cx="417513" cy="47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13200174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0A90367-7CBF-4B8B-8DAA-B0CD24C695F0}"/>
              </a:ext>
            </a:extLst>
          </p:cNvPr>
          <p:cNvSpPr/>
          <p:nvPr/>
        </p:nvSpPr>
        <p:spPr>
          <a:xfrm>
            <a:off x="1856762" y="1035623"/>
            <a:ext cx="8679809" cy="1643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2800" dirty="0">
                <a:solidFill>
                  <a:srgbClr val="0070C0"/>
                </a:solidFill>
              </a:rPr>
              <a:t>同态遗传定理</a:t>
            </a:r>
          </a:p>
          <a:p>
            <a:pPr>
              <a:lnSpc>
                <a:spcPct val="90000"/>
              </a:lnSpc>
            </a:pPr>
            <a:r>
              <a:rPr lang="zh-CN" altLang="en-US" sz="2800" dirty="0"/>
              <a:t>　设</a:t>
            </a:r>
            <a:r>
              <a:rPr lang="en-US" altLang="zh-CN" sz="2800" dirty="0">
                <a:latin typeface="宋体" panose="02010600030101010101" pitchFamily="2" charset="-122"/>
              </a:rPr>
              <a:t>(</a:t>
            </a:r>
            <a:r>
              <a:rPr lang="en-US" altLang="zh-CN" sz="2800" dirty="0"/>
              <a:t>X</a:t>
            </a:r>
            <a:r>
              <a:rPr lang="zh-CN" altLang="en-US" sz="2800" dirty="0"/>
              <a:t>，</a:t>
            </a:r>
            <a:r>
              <a:rPr lang="zh-CN" altLang="en-US" sz="2800" dirty="0">
                <a:latin typeface="宋体" panose="02010600030101010101" pitchFamily="2" charset="-122"/>
                <a:sym typeface="Symbol" panose="05050102010706020507" pitchFamily="18" charset="2"/>
              </a:rPr>
              <a:t></a:t>
            </a:r>
            <a:r>
              <a:rPr lang="en-US" altLang="zh-CN" sz="2800" dirty="0">
                <a:latin typeface="宋体" panose="02010600030101010101" pitchFamily="2" charset="-122"/>
              </a:rPr>
              <a:t>)</a:t>
            </a:r>
            <a:r>
              <a:rPr lang="zh-CN" altLang="en-US" sz="2800" dirty="0"/>
              <a:t>和</a:t>
            </a:r>
            <a:r>
              <a:rPr lang="en-US" altLang="zh-CN" sz="2800" dirty="0">
                <a:latin typeface="宋体" panose="02010600030101010101" pitchFamily="2" charset="-122"/>
              </a:rPr>
              <a:t>(</a:t>
            </a:r>
            <a:r>
              <a:rPr lang="en-US" altLang="zh-CN" sz="2800" dirty="0"/>
              <a:t>Y</a:t>
            </a:r>
            <a:r>
              <a:rPr lang="zh-CN" altLang="en-US" sz="2800" dirty="0"/>
              <a:t>，</a:t>
            </a:r>
            <a:r>
              <a:rPr lang="en-US" altLang="zh-CN" sz="2800" dirty="0"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宋体" panose="02010600030101010101" pitchFamily="2" charset="-122"/>
              </a:rPr>
              <a:t>)</a:t>
            </a:r>
            <a:r>
              <a:rPr lang="en-US" altLang="zh-CN" sz="2800" dirty="0"/>
              <a:t> </a:t>
            </a:r>
            <a:r>
              <a:rPr lang="zh-CN" altLang="en-US" sz="2800" dirty="0"/>
              <a:t>是两个代数系统，</a:t>
            </a:r>
            <a:r>
              <a:rPr lang="zh-CN" altLang="en-US" sz="2800" dirty="0">
                <a:sym typeface="Symbol" panose="05050102010706020507" pitchFamily="18" charset="2"/>
              </a:rPr>
              <a:t></a:t>
            </a:r>
            <a:r>
              <a:rPr lang="zh-CN" altLang="en-US" sz="2800" dirty="0"/>
              <a:t> 和 </a:t>
            </a:r>
            <a:r>
              <a:rPr lang="en-US" altLang="zh-CN" sz="2800" dirty="0"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dirty="0">
                <a:sym typeface="Symbol" panose="05050102010706020507" pitchFamily="18" charset="2"/>
              </a:rPr>
              <a:t>分别是</a:t>
            </a:r>
            <a:r>
              <a:rPr lang="en-US" altLang="zh-CN" sz="2800" dirty="0">
                <a:sym typeface="Symbol" panose="05050102010706020507" pitchFamily="18" charset="2"/>
              </a:rPr>
              <a:t>X</a:t>
            </a:r>
            <a:r>
              <a:rPr lang="zh-CN" altLang="en-US" sz="2800" dirty="0">
                <a:sym typeface="Symbol" panose="05050102010706020507" pitchFamily="18" charset="2"/>
              </a:rPr>
              <a:t>和</a:t>
            </a:r>
            <a:r>
              <a:rPr lang="en-US" altLang="zh-CN" sz="2800" dirty="0">
                <a:sym typeface="Symbol" panose="05050102010706020507" pitchFamily="18" charset="2"/>
              </a:rPr>
              <a:t>Y</a:t>
            </a:r>
            <a:r>
              <a:rPr lang="zh-CN" altLang="en-US" sz="2800" dirty="0">
                <a:sym typeface="Symbol" panose="05050102010706020507" pitchFamily="18" charset="2"/>
              </a:rPr>
              <a:t>上的二元运算，</a:t>
            </a:r>
            <a:r>
              <a:rPr lang="en-US" altLang="zh-CN" sz="2800" dirty="0">
                <a:sym typeface="Symbol" panose="05050102010706020507" pitchFamily="18" charset="2"/>
              </a:rPr>
              <a:t>h </a:t>
            </a:r>
            <a:r>
              <a:rPr lang="zh-CN" altLang="en-US" sz="2800" dirty="0">
                <a:sym typeface="Symbol" panose="05050102010706020507" pitchFamily="18" charset="2"/>
              </a:rPr>
              <a:t>是从</a:t>
            </a:r>
            <a:r>
              <a:rPr lang="en-US" altLang="zh-CN" sz="2800" dirty="0">
                <a:latin typeface="宋体" panose="02010600030101010101" pitchFamily="2" charset="-122"/>
              </a:rPr>
              <a:t>(</a:t>
            </a:r>
            <a:r>
              <a:rPr lang="en-US" altLang="zh-CN" sz="2800" dirty="0"/>
              <a:t>X</a:t>
            </a:r>
            <a:r>
              <a:rPr lang="zh-CN" altLang="en-US" sz="2800" dirty="0"/>
              <a:t>，</a:t>
            </a:r>
            <a:r>
              <a:rPr lang="zh-CN" altLang="en-US" sz="2800" dirty="0">
                <a:latin typeface="宋体" panose="02010600030101010101" pitchFamily="2" charset="-122"/>
                <a:sym typeface="Symbol" panose="05050102010706020507" pitchFamily="18" charset="2"/>
              </a:rPr>
              <a:t></a:t>
            </a:r>
            <a:r>
              <a:rPr lang="zh-CN" altLang="en-US" sz="2800" dirty="0"/>
              <a:t> </a:t>
            </a:r>
            <a:r>
              <a:rPr lang="en-US" altLang="zh-CN" sz="2800" dirty="0">
                <a:latin typeface="宋体" panose="02010600030101010101" pitchFamily="2" charset="-122"/>
              </a:rPr>
              <a:t>)</a:t>
            </a:r>
            <a:r>
              <a:rPr lang="zh-CN" altLang="en-US" sz="2800" dirty="0"/>
              <a:t>到</a:t>
            </a:r>
            <a:r>
              <a:rPr lang="en-US" altLang="zh-CN" sz="2800" dirty="0">
                <a:latin typeface="宋体" panose="02010600030101010101" pitchFamily="2" charset="-122"/>
              </a:rPr>
              <a:t>(</a:t>
            </a:r>
            <a:r>
              <a:rPr lang="en-US" altLang="zh-CN" sz="2800" dirty="0"/>
              <a:t>Y</a:t>
            </a:r>
            <a:r>
              <a:rPr lang="zh-CN" altLang="en-US" sz="2800" dirty="0"/>
              <a:t>，</a:t>
            </a:r>
            <a:r>
              <a:rPr lang="en-US" altLang="zh-CN" sz="2800" dirty="0"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宋体" panose="02010600030101010101" pitchFamily="2" charset="-122"/>
              </a:rPr>
              <a:t>)</a:t>
            </a:r>
            <a:r>
              <a:rPr lang="zh-CN" altLang="en-US" sz="2800" dirty="0"/>
              <a:t>的满同态函数，那么：</a:t>
            </a:r>
            <a:endParaRPr lang="en-US" altLang="zh-CN" sz="28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369A146-2AA3-4E1B-90E3-A769DA8AFF02}"/>
              </a:ext>
            </a:extLst>
          </p:cNvPr>
          <p:cNvSpPr/>
          <p:nvPr/>
        </p:nvSpPr>
        <p:spPr>
          <a:xfrm>
            <a:off x="1596702" y="2803154"/>
            <a:ext cx="9199927" cy="29136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运算满足结合律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运算满足结合律；</a:t>
            </a:r>
          </a:p>
          <a:p>
            <a:pPr>
              <a:lnSpc>
                <a:spcPct val="11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运算满足交换律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运算满足交换律；</a:t>
            </a:r>
          </a:p>
          <a:p>
            <a:pPr>
              <a:lnSpc>
                <a:spcPct val="11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(3)e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是关于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运算的单位元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h(e)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是关于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运算的单位元；</a:t>
            </a:r>
          </a:p>
          <a:p>
            <a:pPr>
              <a:lnSpc>
                <a:spcPct val="11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(4)0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是关于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运算的零元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h(0)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是关于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运算的零元；</a:t>
            </a:r>
          </a:p>
          <a:p>
            <a:pPr>
              <a:lnSpc>
                <a:spcPct val="11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(5)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关于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运算有逆元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关于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运算的逆元是 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－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即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[h(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]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h(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113792255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13" name="Rectangle 1027">
            <a:extLst>
              <a:ext uri="{FF2B5EF4-FFF2-40B4-BE49-F238E27FC236}">
                <a16:creationId xmlns:a16="http://schemas.microsoft.com/office/drawing/2014/main" id="{6BC78BC4-1756-4F45-9701-4887483D8510}"/>
              </a:ext>
            </a:extLst>
          </p:cNvPr>
          <p:cNvSpPr txBox="1">
            <a:spLocks noChangeArrowheads="1"/>
          </p:cNvSpPr>
          <p:nvPr/>
        </p:nvSpPr>
        <p:spPr>
          <a:xfrm>
            <a:off x="2227976" y="1040934"/>
            <a:ext cx="7467600" cy="5562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证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].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(1)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对于任何元素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，由于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是满射，故存在着其原象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，使得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h(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h(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于是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=(h(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= h(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　　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同态公式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= h((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　　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同态公式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= h(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        (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运算的结合律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= h(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4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　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同态公式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= h(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4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   (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同态公式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zh-CN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　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zh-CN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　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所以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zh-CN" altLang="en-US" sz="24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运算满足结合律；</a:t>
            </a:r>
          </a:p>
        </p:txBody>
      </p:sp>
    </p:spTree>
    <p:extLst>
      <p:ext uri="{BB962C8B-B14F-4D97-AF65-F5344CB8AC3E}">
        <p14:creationId xmlns:p14="http://schemas.microsoft.com/office/powerpoint/2010/main" val="2357166240"/>
      </p:ext>
    </p:extLst>
  </p:cSld>
  <p:clrMapOvr>
    <a:masterClrMapping/>
  </p:clrMapOvr>
  <p:transition spd="slow" advTm="0">
    <p:wip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432B77F5-8FC5-4ACA-997F-52348E0AC010}"/>
              </a:ext>
            </a:extLst>
          </p:cNvPr>
          <p:cNvSpPr txBox="1">
            <a:spLocks noChangeArrowheads="1"/>
          </p:cNvSpPr>
          <p:nvPr/>
        </p:nvSpPr>
        <p:spPr>
          <a:xfrm>
            <a:off x="1950441" y="974521"/>
            <a:ext cx="8267350" cy="5562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(3)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令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=h(e)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。对于任何元素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，由于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是满射，故存在着其原象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，使得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，于是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　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= h(e)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4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= h(e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　　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同态公式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= h(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　　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是关于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运算的单位元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=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= h(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    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= h(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　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是关于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运算的单位元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= h(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h(e)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同态公式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zh-CN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　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 </a:t>
            </a:r>
            <a:endParaRPr lang="en-US" altLang="zh-CN" sz="2400" baseline="300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zh-CN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　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即</a:t>
            </a:r>
            <a:r>
              <a:rPr lang="zh-CN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4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所以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=h(e)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是关于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运算的单位元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341651934"/>
      </p:ext>
    </p:extLst>
  </p:cSld>
  <p:clrMapOvr>
    <a:masterClrMapping/>
  </p:clrMapOvr>
  <p:transition spd="slow" advTm="0">
    <p:wip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67C02B-2040-4EDC-AEDE-B016C39DCAC6}"/>
              </a:ext>
            </a:extLst>
          </p:cNvPr>
          <p:cNvSpPr txBox="1">
            <a:spLocks noChangeArrowheads="1"/>
          </p:cNvSpPr>
          <p:nvPr/>
        </p:nvSpPr>
        <p:spPr>
          <a:xfrm>
            <a:off x="2059498" y="1040235"/>
            <a:ext cx="7620000" cy="5638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(5)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令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=h(e)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。对于任何元素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dirty="0" err="1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X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由于存在着其逆元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X</a:t>
            </a:r>
            <a:r>
              <a:rPr lang="zh-CN" altLang="en-US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故此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h(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Y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，于是有</a:t>
            </a:r>
          </a:p>
          <a:p>
            <a:pPr marL="0" indent="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4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= h(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　　             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同态公式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= h(e)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　　   　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关于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运算的逆元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=e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 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= h(e)         </a:t>
            </a:r>
          </a:p>
          <a:p>
            <a:pPr marL="0" indent="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= h(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　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关于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运算的逆元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= h(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           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同态公式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sz="2400" baseline="300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　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即</a:t>
            </a:r>
            <a:r>
              <a:rPr lang="zh-CN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　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4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 h(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所以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关于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运算的逆元是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,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即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[h(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]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h(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705400491"/>
      </p:ext>
    </p:extLst>
  </p:cSld>
  <p:clrMapOvr>
    <a:masterClrMapping/>
  </p:clrMapOvr>
  <p:transition spd="slow" advTm="0">
    <p:wipe/>
  </p:transition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8938</TotalTime>
  <Words>6809</Words>
  <Application>Microsoft Office PowerPoint</Application>
  <PresentationFormat>宽屏</PresentationFormat>
  <Paragraphs>667</Paragraphs>
  <Slides>56</Slides>
  <Notes>56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56</vt:i4>
      </vt:variant>
    </vt:vector>
  </HeadingPairs>
  <TitlesOfParts>
    <vt:vector size="77" baseType="lpstr">
      <vt:lpstr>MS PGothic</vt:lpstr>
      <vt:lpstr>等线</vt:lpstr>
      <vt:lpstr>等线 Light</vt:lpstr>
      <vt:lpstr>仿宋_GB2312</vt:lpstr>
      <vt:lpstr>黑体</vt:lpstr>
      <vt:lpstr>KaiTi</vt:lpstr>
      <vt:lpstr>楷体_GB2312</vt:lpstr>
      <vt:lpstr>宋体</vt:lpstr>
      <vt:lpstr>Microsoft YaHei</vt:lpstr>
      <vt:lpstr>Microsoft YaHei</vt:lpstr>
      <vt:lpstr>Microsoft YaHei Light</vt:lpstr>
      <vt:lpstr>Arial</vt:lpstr>
      <vt:lpstr>Arial Black</vt:lpstr>
      <vt:lpstr>Lucida Handwriting</vt:lpstr>
      <vt:lpstr>Segoe UI Semibold</vt:lpstr>
      <vt:lpstr>Symbol</vt:lpstr>
      <vt:lpstr>Times New Roman</vt:lpstr>
      <vt:lpstr>Wingdings</vt:lpstr>
      <vt:lpstr>Office 主题​​</vt:lpstr>
      <vt:lpstr>PBrush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wyq</dc:creator>
  <cp:lastModifiedBy>y z</cp:lastModifiedBy>
  <cp:revision>99</cp:revision>
  <dcterms:created xsi:type="dcterms:W3CDTF">2021-11-05T13:12:46Z</dcterms:created>
  <dcterms:modified xsi:type="dcterms:W3CDTF">2025-12-22T13:19:55Z</dcterms:modified>
</cp:coreProperties>
</file>