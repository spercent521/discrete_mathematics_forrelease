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445" r:id="rId2"/>
    <p:sldId id="1449" r:id="rId3"/>
    <p:sldId id="1349" r:id="rId4"/>
    <p:sldId id="1363" r:id="rId5"/>
    <p:sldId id="1352" r:id="rId6"/>
    <p:sldId id="1353" r:id="rId7"/>
    <p:sldId id="1450" r:id="rId8"/>
    <p:sldId id="1356" r:id="rId9"/>
    <p:sldId id="1358" r:id="rId10"/>
    <p:sldId id="1364" r:id="rId11"/>
    <p:sldId id="1365" r:id="rId12"/>
    <p:sldId id="1366" r:id="rId13"/>
    <p:sldId id="1368" r:id="rId14"/>
    <p:sldId id="1369" r:id="rId15"/>
    <p:sldId id="1373" r:id="rId16"/>
    <p:sldId id="1375" r:id="rId17"/>
    <p:sldId id="1377" r:id="rId18"/>
    <p:sldId id="1378" r:id="rId19"/>
    <p:sldId id="1379" r:id="rId20"/>
    <p:sldId id="1381" r:id="rId21"/>
    <p:sldId id="1382" r:id="rId22"/>
    <p:sldId id="1383" r:id="rId23"/>
    <p:sldId id="1395" r:id="rId24"/>
    <p:sldId id="2348" r:id="rId25"/>
    <p:sldId id="1385" r:id="rId26"/>
    <p:sldId id="1396" r:id="rId27"/>
    <p:sldId id="1384" r:id="rId28"/>
    <p:sldId id="1386" r:id="rId29"/>
    <p:sldId id="1389" r:id="rId30"/>
    <p:sldId id="1390" r:id="rId31"/>
    <p:sldId id="1391" r:id="rId32"/>
    <p:sldId id="1392" r:id="rId33"/>
    <p:sldId id="1393" r:id="rId34"/>
    <p:sldId id="1394" r:id="rId35"/>
    <p:sldId id="1374" r:id="rId36"/>
    <p:sldId id="1547" r:id="rId37"/>
    <p:sldId id="1401" r:id="rId38"/>
    <p:sldId id="1402" r:id="rId39"/>
    <p:sldId id="1403" r:id="rId40"/>
    <p:sldId id="1548" r:id="rId41"/>
    <p:sldId id="1549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58CD0-EFD1-4D27-A427-70167095FD10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1D47A-F619-4A5B-A8DF-B8BE879F94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76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2214FF63-7E78-4CEA-B78B-294BDB7C41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999858BC-515F-4514-A470-A99FA05D1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DB2CFB14-3F96-47B7-9206-1409F9E89C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22AA93-F3F5-44B4-89DC-39F3993E743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79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778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931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152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642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8645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272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384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1744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4964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2896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096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22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290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7256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4947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5602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312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9699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7508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7492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9638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0061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9638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5771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9030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8612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827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3173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9474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1084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0491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3711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8154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2599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8212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61916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5096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7115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6238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440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76E42D-8E1F-4161-92FC-798002BD6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38D7EA-6BDB-4E64-B964-80168CE37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B6C0B8-A32B-4878-B781-603CA3775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6034E1-D035-43F7-B64D-29398828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5B4D6F-9FE4-4AD6-8337-0FE1B65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33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B075D-15DC-42AC-93A2-6A06B06EC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34E679-C3AD-4C33-B06C-91BDD767E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EB38F1-C445-4800-90A5-8F3ED061B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01018E-22E1-4D4F-A56D-10C1E62E9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0D2562-0CCF-4227-85A9-AFD35B0EC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77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192B2-AC57-485E-9E3F-B7B8C9055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8D281-194B-468B-ADBA-76A4E2385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E9BCE0-002E-42ED-B7C2-261D43E96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BEF642-B6DE-4777-8064-A39FFF8F8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4A94A4-38F0-4C2B-ADFE-D02E2B1A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768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DB952-D4D5-4F3B-830A-67B71D6EA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357EF1-6F7D-43F5-BE79-67D16A90BD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181AE9-5B3A-45EC-8869-29C393E4F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75487C-7666-44DE-80EE-2902D9B43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E3EDC2-3316-4B5C-A95A-0A39BECDF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53D2A1-3261-49CC-BA76-3E398676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045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6F3126-81EA-4C17-9D21-7D9EFAC38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55D8D7-9261-44FB-96B7-5B9D93CC5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81393F-A933-46B1-B8AE-5B752A523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6D282E-4854-4A45-9EBC-6D406339D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4A79BF-2110-4A4A-A27C-3064D7DEA0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997EF3B-A447-4A59-B47E-60D3E1B9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1260F99-31D5-491C-8D88-3FBFBEFAC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708E84E-BD81-4EE1-BFDF-4680C8F0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971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7F80B8-CAFF-4186-813A-E935D303A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707CB1-D86D-4955-AA11-EC4336999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3060BF-8F34-4402-8824-20704BA5A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20C4CC-E83E-4E13-AAC4-6236B53B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76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7E5E81-960E-452B-BEEC-237A76587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A28A7DE-E2FD-4DCD-88D4-9461A95F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D45A2C-4D06-4ADE-A257-8FD503959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530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4F57E0-C81E-4CD1-AD98-8E486CB68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B00199-6F84-4A59-8899-E8B2E6DE5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090C66-7379-460F-9033-E6814CA81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EF1194-1784-48F1-B41C-D7101B2E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ECE248-CB85-4EB4-8EAB-B63C1C9FA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F506F9-F269-4A99-9F79-36580B84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17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4A2D68-F164-431A-B045-FF32FD8F4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88AEBE-7DD1-4AB2-88CB-65DD42C06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5E8435-B02C-45D8-8560-2C62BF681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6AF48E-D282-434B-B1B1-A60EEBEE8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2310E0-45D2-4D33-B87B-87A037DAA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3DB1FD-3803-4744-81A6-2E12760C5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541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31C7E0-3A75-4623-9D79-2EC44EB9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79C279-1369-407F-963C-3FDABB3B3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EAB553-602F-4D34-9454-6212EA2F8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12D560-2717-478A-957B-EFA01113A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F9566A-D4B7-4359-930C-6E605905A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887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80FD482-6518-4B73-B8B4-737A92FE8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189D8D-031B-4157-A964-232795122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51B225-C513-4598-8A7C-52A744ECB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343814-5EB6-47BE-BCA3-2B92BA01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AC6707-C37E-4D0E-B58E-FFC34946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423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73D5CAC-F429-4F2F-9F7B-6223C359040B}"/>
              </a:ext>
            </a:extLst>
          </p:cNvPr>
          <p:cNvSpPr txBox="1"/>
          <p:nvPr userDrawn="1"/>
        </p:nvSpPr>
        <p:spPr>
          <a:xfrm>
            <a:off x="76200" y="117475"/>
            <a:ext cx="1701800" cy="676275"/>
          </a:xfrm>
          <a:prstGeom prst="rect">
            <a:avLst/>
          </a:prstGeom>
          <a:noFill/>
        </p:spPr>
        <p:txBody>
          <a:bodyPr lIns="121900" tIns="60949" rIns="121900" bIns="60949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598" b="1" spc="-15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598" b="1" spc="-15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4DE135-33BF-4676-B43F-8AA62673A58B}"/>
              </a:ext>
            </a:extLst>
          </p:cNvPr>
          <p:cNvCxnSpPr/>
          <p:nvPr userDrawn="1"/>
        </p:nvCxnSpPr>
        <p:spPr>
          <a:xfrm>
            <a:off x="1562100" y="693738"/>
            <a:ext cx="106299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053564"/>
      </p:ext>
    </p:extLst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F79C98-3199-4C9B-9161-434E02C13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1E81D8-ADFF-4204-A1B1-03575868F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05A6F5-C2B7-426F-8FB9-A73AD3EFA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A7D63-D7B8-4F0E-B9CF-2A3E3830BAA8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2A0E02-245B-4209-85B4-765107BCA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B4894D-1E88-4F89-8FD8-4C353DC3E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14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>
            <a:extLst>
              <a:ext uri="{FF2B5EF4-FFF2-40B4-BE49-F238E27FC236}">
                <a16:creationId xmlns:a16="http://schemas.microsoft.com/office/drawing/2014/main" id="{13E189C7-8218-4052-85AE-E01EC112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073">
            <a:extLst>
              <a:ext uri="{FF2B5EF4-FFF2-40B4-BE49-F238E27FC236}">
                <a16:creationId xmlns:a16="http://schemas.microsoft.com/office/drawing/2014/main" id="{F7D2571E-1D87-457C-8CCC-C3C98F94D652}"/>
              </a:ext>
            </a:extLst>
          </p:cNvPr>
          <p:cNvSpPr>
            <a:spLocks noGrp="1"/>
          </p:cNvSpPr>
          <p:nvPr/>
        </p:nvSpPr>
        <p:spPr>
          <a:xfrm>
            <a:off x="2390775" y="3140075"/>
            <a:ext cx="7772400" cy="950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noProof="1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charset="-122"/>
                <a:ea typeface="KaiTi" panose="02010609060101010101" charset="-122"/>
                <a:cs typeface="Times New Roman" panose="02020603050405020304" pitchFamily="2" charset="0"/>
              </a:rPr>
              <a:t>离散数学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noProof="1">
                <a:solidFill>
                  <a:srgbClr val="0066FF"/>
                </a:solidFill>
                <a:latin typeface="Arial Black" panose="020B0A04020102020204" charset="0"/>
                <a:ea typeface="+mn-ea"/>
                <a:cs typeface="Times New Roman" panose="02020603050405020304" pitchFamily="2" charset="0"/>
              </a:rPr>
              <a:t>Discrete Mathematics</a:t>
            </a:r>
          </a:p>
        </p:txBody>
      </p:sp>
      <p:sp>
        <p:nvSpPr>
          <p:cNvPr id="4100" name="矩形 3074">
            <a:extLst>
              <a:ext uri="{FF2B5EF4-FFF2-40B4-BE49-F238E27FC236}">
                <a16:creationId xmlns:a16="http://schemas.microsoft.com/office/drawing/2014/main" id="{AA238628-3C73-45C1-88BF-CA2DFF4F68C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85900" y="4337050"/>
            <a:ext cx="91043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计算机学院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吴亦奇  </a:t>
            </a:r>
            <a:r>
              <a:rPr lang="en-US" altLang="zh-CN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wuyq</a:t>
            </a:r>
            <a:r>
              <a:rPr lang="zh-CN" altLang="en-US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@cug.edu.cn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内容占位符 3076">
            <a:extLst>
              <a:ext uri="{FF2B5EF4-FFF2-40B4-BE49-F238E27FC236}">
                <a16:creationId xmlns:a16="http://schemas.microsoft.com/office/drawing/2014/main" id="{31156996-2154-42A9-9D69-9E3C40E3A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52513"/>
            <a:ext cx="9137650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821093"/>
      </p:ext>
    </p:extLst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0D836C-C6CC-42F7-8855-E7DF8BAA07CD}"/>
              </a:ext>
            </a:extLst>
          </p:cNvPr>
          <p:cNvSpPr/>
          <p:nvPr/>
        </p:nvSpPr>
        <p:spPr>
          <a:xfrm>
            <a:off x="2949811" y="2794770"/>
            <a:ext cx="602485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800" b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Hei" panose="02010609060101010101" pitchFamily="2" charset="-122"/>
              </a:rPr>
              <a:t>集合与关系 </a:t>
            </a:r>
            <a:endParaRPr lang="en-US" altLang="zh-CN" sz="4800" b="1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SimHei" panose="02010609060101010101" pitchFamily="2" charset="-122"/>
            </a:endParaRPr>
          </a:p>
          <a:p>
            <a:pPr algn="ctr"/>
            <a:r>
              <a:rPr lang="en-US" altLang="zh-CN" sz="4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Set &amp; Relation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277186850"/>
      </p:ext>
    </p:extLst>
  </p:cSld>
  <p:clrMapOvr>
    <a:masterClrMapping/>
  </p:clrMapOvr>
  <p:transition spd="slow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C9F20F3-A0D2-48B9-A59D-0F50A088A561}"/>
              </a:ext>
            </a:extLst>
          </p:cNvPr>
          <p:cNvSpPr/>
          <p:nvPr/>
        </p:nvSpPr>
        <p:spPr>
          <a:xfrm>
            <a:off x="1662556" y="1020829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关系矩阵的合成运算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2100C9-8BFC-4298-AFAB-3C8C065657BC}"/>
              </a:ext>
            </a:extLst>
          </p:cNvPr>
          <p:cNvSpPr/>
          <p:nvPr/>
        </p:nvSpPr>
        <p:spPr>
          <a:xfrm>
            <a:off x="1937512" y="1669500"/>
            <a:ext cx="935762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A×B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B×C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是两个二元关系，其合成关系为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。这里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A={ 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B={b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C={c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并设它们的关系矩阵分别为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m×l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l×n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o S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m×n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则有：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o S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r>
              <a:rPr lang="zh-CN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其中：令　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m×n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zh-CN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　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   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kj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(1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m,1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n)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6EC26DB-A9C1-49AE-B5FA-B31ED2D00F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3917" y="4724781"/>
          <a:ext cx="381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406080" progId="Equation.DSMT4">
                  <p:embed/>
                </p:oleObj>
              </mc:Choice>
              <mc:Fallback>
                <p:oleObj name="Equation" r:id="rId4" imgW="190440" imgH="40608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6EC26DB-A9C1-49AE-B5FA-B31ED2D00F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3917" y="4724781"/>
                        <a:ext cx="3810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2">
            <a:extLst>
              <a:ext uri="{FF2B5EF4-FFF2-40B4-BE49-F238E27FC236}">
                <a16:creationId xmlns:a16="http://schemas.microsoft.com/office/drawing/2014/main" id="{EFBC368A-90CC-CDFC-C1C3-CAE500E66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917196589"/>
      </p:ext>
    </p:extLst>
  </p:cSld>
  <p:clrMapOvr>
    <a:masterClrMapping/>
  </p:clrMapOvr>
  <p:transition spd="slow" advTm="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7EC673D-49C9-4F2B-98D5-3CF151B11096}"/>
              </a:ext>
            </a:extLst>
          </p:cNvPr>
          <p:cNvSpPr/>
          <p:nvPr/>
        </p:nvSpPr>
        <p:spPr>
          <a:xfrm>
            <a:off x="2333779" y="738188"/>
            <a:ext cx="29017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32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o S </a:t>
            </a:r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M</a:t>
            </a:r>
            <a:r>
              <a:rPr lang="en-US" altLang="zh-CN" sz="32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3200" baseline="2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32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grpSp>
        <p:nvGrpSpPr>
          <p:cNvPr id="7" name="Group 195">
            <a:extLst>
              <a:ext uri="{FF2B5EF4-FFF2-40B4-BE49-F238E27FC236}">
                <a16:creationId xmlns:a16="http://schemas.microsoft.com/office/drawing/2014/main" id="{14784690-9511-4FC4-8077-F61029265407}"/>
              </a:ext>
            </a:extLst>
          </p:cNvPr>
          <p:cNvGrpSpPr>
            <a:grpSpLocks/>
          </p:cNvGrpSpPr>
          <p:nvPr/>
        </p:nvGrpSpPr>
        <p:grpSpPr bwMode="auto">
          <a:xfrm>
            <a:off x="2714770" y="2053322"/>
            <a:ext cx="5221215" cy="3005240"/>
            <a:chOff x="3060" y="2220"/>
            <a:chExt cx="5685" cy="3046"/>
          </a:xfrm>
        </p:grpSpPr>
        <p:sp>
          <p:nvSpPr>
            <p:cNvPr id="8" name="Text Box 196">
              <a:extLst>
                <a:ext uri="{FF2B5EF4-FFF2-40B4-BE49-F238E27FC236}">
                  <a16:creationId xmlns:a16="http://schemas.microsoft.com/office/drawing/2014/main" id="{EE209582-8EF9-4BCF-B7BA-B902239D59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5" y="2870"/>
              <a:ext cx="613" cy="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/>
            </a:p>
          </p:txBody>
        </p:sp>
        <p:sp>
          <p:nvSpPr>
            <p:cNvPr id="9" name="Freeform 197">
              <a:extLst>
                <a:ext uri="{FF2B5EF4-FFF2-40B4-BE49-F238E27FC236}">
                  <a16:creationId xmlns:a16="http://schemas.microsoft.com/office/drawing/2014/main" id="{ABCCBE3F-04F2-4010-97C3-6E8EDE161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7" y="3829"/>
              <a:ext cx="1055" cy="1064"/>
            </a:xfrm>
            <a:custGeom>
              <a:avLst/>
              <a:gdLst>
                <a:gd name="T0" fmla="*/ 0 w 620"/>
                <a:gd name="T1" fmla="*/ 0 h 690"/>
                <a:gd name="T2" fmla="*/ 620 w 620"/>
                <a:gd name="T3" fmla="*/ 690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690">
                  <a:moveTo>
                    <a:pt x="0" y="0"/>
                  </a:moveTo>
                  <a:lnTo>
                    <a:pt x="620" y="69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198">
              <a:extLst>
                <a:ext uri="{FF2B5EF4-FFF2-40B4-BE49-F238E27FC236}">
                  <a16:creationId xmlns:a16="http://schemas.microsoft.com/office/drawing/2014/main" id="{883F8171-AFCD-4B87-85BD-B52731395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1" y="4122"/>
              <a:ext cx="1055" cy="217"/>
            </a:xfrm>
            <a:custGeom>
              <a:avLst/>
              <a:gdLst>
                <a:gd name="T0" fmla="*/ 0 w 620"/>
                <a:gd name="T1" fmla="*/ 140 h 140"/>
                <a:gd name="T2" fmla="*/ 620 w 620"/>
                <a:gd name="T3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0">
                  <a:moveTo>
                    <a:pt x="0" y="140"/>
                  </a:moveTo>
                  <a:lnTo>
                    <a:pt x="62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199">
              <a:extLst>
                <a:ext uri="{FF2B5EF4-FFF2-40B4-BE49-F238E27FC236}">
                  <a16:creationId xmlns:a16="http://schemas.microsoft.com/office/drawing/2014/main" id="{8B5BBE59-241F-4F90-9B4D-CE4097579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7" y="3244"/>
              <a:ext cx="1072" cy="1634"/>
            </a:xfrm>
            <a:custGeom>
              <a:avLst/>
              <a:gdLst>
                <a:gd name="T0" fmla="*/ 0 w 630"/>
                <a:gd name="T1" fmla="*/ 0 h 1060"/>
                <a:gd name="T2" fmla="*/ 630 w 630"/>
                <a:gd name="T3" fmla="*/ 1060 h 1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30" h="1060">
                  <a:moveTo>
                    <a:pt x="0" y="0"/>
                  </a:moveTo>
                  <a:lnTo>
                    <a:pt x="630" y="106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Box 200">
              <a:extLst>
                <a:ext uri="{FF2B5EF4-FFF2-40B4-BE49-F238E27FC236}">
                  <a16:creationId xmlns:a16="http://schemas.microsoft.com/office/drawing/2014/main" id="{AE0BEF47-ACCF-49A5-97CE-07EEB2AFA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4" y="2220"/>
              <a:ext cx="614" cy="7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lang="en-US" altLang="zh-CN" dirty="0"/>
            </a:p>
          </p:txBody>
        </p:sp>
        <p:sp>
          <p:nvSpPr>
            <p:cNvPr id="13" name="Text Box 201">
              <a:extLst>
                <a:ext uri="{FF2B5EF4-FFF2-40B4-BE49-F238E27FC236}">
                  <a16:creationId xmlns:a16="http://schemas.microsoft.com/office/drawing/2014/main" id="{8D3F7449-88FD-46A7-9E02-DF7BAC3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3" y="2220"/>
              <a:ext cx="1225" cy="7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RoS</a:t>
              </a:r>
              <a:endParaRPr lang="en-US" altLang="zh-CN"/>
            </a:p>
          </p:txBody>
        </p:sp>
        <p:sp>
          <p:nvSpPr>
            <p:cNvPr id="14" name="Text Box 202">
              <a:extLst>
                <a:ext uri="{FF2B5EF4-FFF2-40B4-BE49-F238E27FC236}">
                  <a16:creationId xmlns:a16="http://schemas.microsoft.com/office/drawing/2014/main" id="{28FB82A7-8A82-407E-9204-9579FFB28C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7" y="2226"/>
              <a:ext cx="612" cy="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/>
            </a:p>
          </p:txBody>
        </p:sp>
        <p:sp>
          <p:nvSpPr>
            <p:cNvPr id="15" name="Oval 203">
              <a:extLst>
                <a:ext uri="{FF2B5EF4-FFF2-40B4-BE49-F238E27FC236}">
                  <a16:creationId xmlns:a16="http://schemas.microsoft.com/office/drawing/2014/main" id="{5C024EC0-4319-407B-98A9-E4EDF7449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6" y="4872"/>
              <a:ext cx="97" cy="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Oval 204">
              <a:extLst>
                <a:ext uri="{FF2B5EF4-FFF2-40B4-BE49-F238E27FC236}">
                  <a16:creationId xmlns:a16="http://schemas.microsoft.com/office/drawing/2014/main" id="{33C2C1CF-DE05-4218-A7E2-90EE482D5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6" y="4064"/>
              <a:ext cx="97" cy="8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Oval 205">
              <a:extLst>
                <a:ext uri="{FF2B5EF4-FFF2-40B4-BE49-F238E27FC236}">
                  <a16:creationId xmlns:a16="http://schemas.microsoft.com/office/drawing/2014/main" id="{88EB5904-ADCD-4C94-B751-8A021FBD1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7" y="3187"/>
              <a:ext cx="97" cy="8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206">
              <a:extLst>
                <a:ext uri="{FF2B5EF4-FFF2-40B4-BE49-F238E27FC236}">
                  <a16:creationId xmlns:a16="http://schemas.microsoft.com/office/drawing/2014/main" id="{56CEC0D0-31BC-43AD-A07A-218478069E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0" y="2825"/>
              <a:ext cx="613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grpSp>
          <p:nvGrpSpPr>
            <p:cNvPr id="19" name="Group 207">
              <a:extLst>
                <a:ext uri="{FF2B5EF4-FFF2-40B4-BE49-F238E27FC236}">
                  <a16:creationId xmlns:a16="http://schemas.microsoft.com/office/drawing/2014/main" id="{E7592CBD-B493-48A0-8D59-A45781F6FE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0" y="3410"/>
              <a:ext cx="613" cy="722"/>
              <a:chOff x="3320" y="1906"/>
              <a:chExt cx="360" cy="468"/>
            </a:xfrm>
          </p:grpSpPr>
          <p:sp>
            <p:nvSpPr>
              <p:cNvPr id="63" name="Oval 208">
                <a:extLst>
                  <a:ext uri="{FF2B5EF4-FFF2-40B4-BE49-F238E27FC236}">
                    <a16:creationId xmlns:a16="http://schemas.microsoft.com/office/drawing/2014/main" id="{44447B72-A585-4F09-AB38-838DFDCBD4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Text Box 209">
                <a:extLst>
                  <a:ext uri="{FF2B5EF4-FFF2-40B4-BE49-F238E27FC236}">
                    <a16:creationId xmlns:a16="http://schemas.microsoft.com/office/drawing/2014/main" id="{B1FAB62A-FF1F-4D20-804C-C7E7BFE6D4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0" y="1906"/>
                <a:ext cx="36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/>
              </a:p>
            </p:txBody>
          </p:sp>
        </p:grpSp>
        <p:grpSp>
          <p:nvGrpSpPr>
            <p:cNvPr id="20" name="Group 210">
              <a:extLst>
                <a:ext uri="{FF2B5EF4-FFF2-40B4-BE49-F238E27FC236}">
                  <a16:creationId xmlns:a16="http://schemas.microsoft.com/office/drawing/2014/main" id="{3E4697AF-1F78-40E3-98E7-2745985D6C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0" y="3934"/>
              <a:ext cx="613" cy="722"/>
              <a:chOff x="3320" y="1906"/>
              <a:chExt cx="360" cy="468"/>
            </a:xfrm>
          </p:grpSpPr>
          <p:sp>
            <p:nvSpPr>
              <p:cNvPr id="61" name="Oval 211">
                <a:extLst>
                  <a:ext uri="{FF2B5EF4-FFF2-40B4-BE49-F238E27FC236}">
                    <a16:creationId xmlns:a16="http://schemas.microsoft.com/office/drawing/2014/main" id="{85109E85-EE9A-46E1-9F53-C83AD82C83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Text Box 212">
                <a:extLst>
                  <a:ext uri="{FF2B5EF4-FFF2-40B4-BE49-F238E27FC236}">
                    <a16:creationId xmlns:a16="http://schemas.microsoft.com/office/drawing/2014/main" id="{C18FC5D2-22C0-464A-8648-5C0F0D8F52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0" y="1906"/>
                <a:ext cx="36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/>
              </a:p>
            </p:txBody>
          </p:sp>
        </p:grpSp>
        <p:grpSp>
          <p:nvGrpSpPr>
            <p:cNvPr id="21" name="Group 213">
              <a:extLst>
                <a:ext uri="{FF2B5EF4-FFF2-40B4-BE49-F238E27FC236}">
                  <a16:creationId xmlns:a16="http://schemas.microsoft.com/office/drawing/2014/main" id="{F7659E56-AEC1-45AC-AB66-754E55443C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0" y="4505"/>
              <a:ext cx="613" cy="721"/>
              <a:chOff x="3320" y="1906"/>
              <a:chExt cx="360" cy="468"/>
            </a:xfrm>
          </p:grpSpPr>
          <p:sp>
            <p:nvSpPr>
              <p:cNvPr id="59" name="Oval 214">
                <a:extLst>
                  <a:ext uri="{FF2B5EF4-FFF2-40B4-BE49-F238E27FC236}">
                    <a16:creationId xmlns:a16="http://schemas.microsoft.com/office/drawing/2014/main" id="{ECB29455-8731-4DD4-A80E-7D6CBB0289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Text Box 215">
                <a:extLst>
                  <a:ext uri="{FF2B5EF4-FFF2-40B4-BE49-F238E27FC236}">
                    <a16:creationId xmlns:a16="http://schemas.microsoft.com/office/drawing/2014/main" id="{C09D1FB4-661A-4D94-9AD7-29FBA0C106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0" y="1906"/>
                <a:ext cx="36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/>
              </a:p>
            </p:txBody>
          </p:sp>
        </p:grpSp>
        <p:grpSp>
          <p:nvGrpSpPr>
            <p:cNvPr id="22" name="Group 216">
              <a:extLst>
                <a:ext uri="{FF2B5EF4-FFF2-40B4-BE49-F238E27FC236}">
                  <a16:creationId xmlns:a16="http://schemas.microsoft.com/office/drawing/2014/main" id="{97A082F0-1ACF-441E-A0F0-741AD52F26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32" y="2825"/>
              <a:ext cx="614" cy="721"/>
              <a:chOff x="3320" y="1906"/>
              <a:chExt cx="360" cy="468"/>
            </a:xfrm>
          </p:grpSpPr>
          <p:sp>
            <p:nvSpPr>
              <p:cNvPr id="57" name="Oval 217">
                <a:extLst>
                  <a:ext uri="{FF2B5EF4-FFF2-40B4-BE49-F238E27FC236}">
                    <a16:creationId xmlns:a16="http://schemas.microsoft.com/office/drawing/2014/main" id="{84CAA4D2-B68E-4A63-BF6A-FF7853C5B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Text Box 218">
                <a:extLst>
                  <a:ext uri="{FF2B5EF4-FFF2-40B4-BE49-F238E27FC236}">
                    <a16:creationId xmlns:a16="http://schemas.microsoft.com/office/drawing/2014/main" id="{727643D5-419D-4EA3-A96B-3304756655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0" y="1906"/>
                <a:ext cx="36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lang="en-US" altLang="zh-CN"/>
              </a:p>
            </p:txBody>
          </p:sp>
        </p:grpSp>
        <p:grpSp>
          <p:nvGrpSpPr>
            <p:cNvPr id="23" name="Group 219">
              <a:extLst>
                <a:ext uri="{FF2B5EF4-FFF2-40B4-BE49-F238E27FC236}">
                  <a16:creationId xmlns:a16="http://schemas.microsoft.com/office/drawing/2014/main" id="{53CDD742-2A0B-4585-8EBD-7DEAFA8271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32" y="3410"/>
              <a:ext cx="614" cy="722"/>
              <a:chOff x="3320" y="1906"/>
              <a:chExt cx="360" cy="468"/>
            </a:xfrm>
          </p:grpSpPr>
          <p:sp>
            <p:nvSpPr>
              <p:cNvPr id="55" name="Oval 220">
                <a:extLst>
                  <a:ext uri="{FF2B5EF4-FFF2-40B4-BE49-F238E27FC236}">
                    <a16:creationId xmlns:a16="http://schemas.microsoft.com/office/drawing/2014/main" id="{B382B8CE-84EA-4753-9A9B-96CB864FB3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Text Box 221">
                <a:extLst>
                  <a:ext uri="{FF2B5EF4-FFF2-40B4-BE49-F238E27FC236}">
                    <a16:creationId xmlns:a16="http://schemas.microsoft.com/office/drawing/2014/main" id="{305EF938-34F7-443C-A4F2-918FEC008A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0" y="1906"/>
                <a:ext cx="36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/>
              </a:p>
            </p:txBody>
          </p:sp>
        </p:grpSp>
        <p:grpSp>
          <p:nvGrpSpPr>
            <p:cNvPr id="24" name="Group 222">
              <a:extLst>
                <a:ext uri="{FF2B5EF4-FFF2-40B4-BE49-F238E27FC236}">
                  <a16:creationId xmlns:a16="http://schemas.microsoft.com/office/drawing/2014/main" id="{57F0DC4A-866B-47D0-9480-CF7BF8F900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32" y="3934"/>
              <a:ext cx="614" cy="722"/>
              <a:chOff x="3320" y="1906"/>
              <a:chExt cx="360" cy="468"/>
            </a:xfrm>
          </p:grpSpPr>
          <p:sp>
            <p:nvSpPr>
              <p:cNvPr id="53" name="Oval 223">
                <a:extLst>
                  <a:ext uri="{FF2B5EF4-FFF2-40B4-BE49-F238E27FC236}">
                    <a16:creationId xmlns:a16="http://schemas.microsoft.com/office/drawing/2014/main" id="{1C9D9A06-33D0-4723-AC2B-761500F754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Text Box 224">
                <a:extLst>
                  <a:ext uri="{FF2B5EF4-FFF2-40B4-BE49-F238E27FC236}">
                    <a16:creationId xmlns:a16="http://schemas.microsoft.com/office/drawing/2014/main" id="{DD96C179-E7FD-4D87-B739-73C3AFE9A7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0" y="1906"/>
                <a:ext cx="36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/>
              </a:p>
            </p:txBody>
          </p:sp>
        </p:grpSp>
        <p:grpSp>
          <p:nvGrpSpPr>
            <p:cNvPr id="25" name="Group 225">
              <a:extLst>
                <a:ext uri="{FF2B5EF4-FFF2-40B4-BE49-F238E27FC236}">
                  <a16:creationId xmlns:a16="http://schemas.microsoft.com/office/drawing/2014/main" id="{BC63D67E-35A5-4E23-819A-A95639E86C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32" y="4505"/>
              <a:ext cx="614" cy="721"/>
              <a:chOff x="3320" y="1906"/>
              <a:chExt cx="360" cy="468"/>
            </a:xfrm>
          </p:grpSpPr>
          <p:sp>
            <p:nvSpPr>
              <p:cNvPr id="51" name="Oval 226">
                <a:extLst>
                  <a:ext uri="{FF2B5EF4-FFF2-40B4-BE49-F238E27FC236}">
                    <a16:creationId xmlns:a16="http://schemas.microsoft.com/office/drawing/2014/main" id="{A9E795BD-8070-4F4F-8437-895DC6EA8A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Text Box 227">
                <a:extLst>
                  <a:ext uri="{FF2B5EF4-FFF2-40B4-BE49-F238E27FC236}">
                    <a16:creationId xmlns:a16="http://schemas.microsoft.com/office/drawing/2014/main" id="{9C70077D-F1E3-447F-9FE9-7B1EB259AD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0" y="1906"/>
                <a:ext cx="36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/>
              </a:p>
            </p:txBody>
          </p:sp>
        </p:grpSp>
        <p:sp>
          <p:nvSpPr>
            <p:cNvPr id="26" name="Oval 228">
              <a:extLst>
                <a:ext uri="{FF2B5EF4-FFF2-40B4-BE49-F238E27FC236}">
                  <a16:creationId xmlns:a16="http://schemas.microsoft.com/office/drawing/2014/main" id="{E16EA05B-ECC3-4ABC-B2A8-F3B3DCA7F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6" y="3188"/>
              <a:ext cx="99" cy="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Oval 229">
              <a:extLst>
                <a:ext uri="{FF2B5EF4-FFF2-40B4-BE49-F238E27FC236}">
                  <a16:creationId xmlns:a16="http://schemas.microsoft.com/office/drawing/2014/main" id="{BF36A229-D9BD-4381-8BF2-DBA7723B6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6" y="4872"/>
              <a:ext cx="97" cy="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Oval 230">
              <a:extLst>
                <a:ext uri="{FF2B5EF4-FFF2-40B4-BE49-F238E27FC236}">
                  <a16:creationId xmlns:a16="http://schemas.microsoft.com/office/drawing/2014/main" id="{8203BA5C-D63C-438C-AA1C-082BA2EFA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6" y="4064"/>
              <a:ext cx="97" cy="8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 Box 231">
              <a:extLst>
                <a:ext uri="{FF2B5EF4-FFF2-40B4-BE49-F238E27FC236}">
                  <a16:creationId xmlns:a16="http://schemas.microsoft.com/office/drawing/2014/main" id="{1783A250-136C-4557-AC4E-289216911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5" y="4533"/>
              <a:ext cx="613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/>
            </a:p>
          </p:txBody>
        </p:sp>
        <p:sp>
          <p:nvSpPr>
            <p:cNvPr id="30" name="Text Box 232">
              <a:extLst>
                <a:ext uri="{FF2B5EF4-FFF2-40B4-BE49-F238E27FC236}">
                  <a16:creationId xmlns:a16="http://schemas.microsoft.com/office/drawing/2014/main" id="{EFAE837A-DF81-4B12-81BA-57E8753823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3" y="3716"/>
              <a:ext cx="613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/>
            </a:p>
          </p:txBody>
        </p:sp>
        <p:sp>
          <p:nvSpPr>
            <p:cNvPr id="31" name="Text Box 233">
              <a:extLst>
                <a:ext uri="{FF2B5EF4-FFF2-40B4-BE49-F238E27FC236}">
                  <a16:creationId xmlns:a16="http://schemas.microsoft.com/office/drawing/2014/main" id="{0AE4B393-8D11-4D1A-A42D-50B7D9AA0D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6" y="2840"/>
              <a:ext cx="613" cy="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sp>
          <p:nvSpPr>
            <p:cNvPr id="32" name="Text Box 234">
              <a:extLst>
                <a:ext uri="{FF2B5EF4-FFF2-40B4-BE49-F238E27FC236}">
                  <a16:creationId xmlns:a16="http://schemas.microsoft.com/office/drawing/2014/main" id="{A9D4553C-9E2B-4933-9EAE-DB5A6EAF99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6" y="3746"/>
              <a:ext cx="613" cy="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/>
            </a:p>
          </p:txBody>
        </p:sp>
        <p:sp>
          <p:nvSpPr>
            <p:cNvPr id="33" name="Text Box 235">
              <a:extLst>
                <a:ext uri="{FF2B5EF4-FFF2-40B4-BE49-F238E27FC236}">
                  <a16:creationId xmlns:a16="http://schemas.microsoft.com/office/drawing/2014/main" id="{09983CBE-A657-43A6-BBD9-BD1C7CC8F8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6" y="4545"/>
              <a:ext cx="613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/>
            </a:p>
          </p:txBody>
        </p:sp>
        <p:sp>
          <p:nvSpPr>
            <p:cNvPr id="34" name="Oval 236">
              <a:extLst>
                <a:ext uri="{FF2B5EF4-FFF2-40B4-BE49-F238E27FC236}">
                  <a16:creationId xmlns:a16="http://schemas.microsoft.com/office/drawing/2014/main" id="{1188D94B-EE93-4047-9471-173C329E8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2" y="3188"/>
              <a:ext cx="99" cy="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Oval 237">
              <a:extLst>
                <a:ext uri="{FF2B5EF4-FFF2-40B4-BE49-F238E27FC236}">
                  <a16:creationId xmlns:a16="http://schemas.microsoft.com/office/drawing/2014/main" id="{13FC5218-9766-4BDA-BCEC-AD977CA16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2" y="4872"/>
              <a:ext cx="98" cy="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Oval 238">
              <a:extLst>
                <a:ext uri="{FF2B5EF4-FFF2-40B4-BE49-F238E27FC236}">
                  <a16:creationId xmlns:a16="http://schemas.microsoft.com/office/drawing/2014/main" id="{9F7BB5E7-5BAA-408E-A11B-12D262A4D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2" y="4064"/>
              <a:ext cx="98" cy="8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Box 239">
              <a:extLst>
                <a:ext uri="{FF2B5EF4-FFF2-40B4-BE49-F238E27FC236}">
                  <a16:creationId xmlns:a16="http://schemas.microsoft.com/office/drawing/2014/main" id="{457838A7-566A-4916-AE6A-C8DBF7239C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2" y="2840"/>
              <a:ext cx="613" cy="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sp>
          <p:nvSpPr>
            <p:cNvPr id="38" name="Text Box 240">
              <a:extLst>
                <a:ext uri="{FF2B5EF4-FFF2-40B4-BE49-F238E27FC236}">
                  <a16:creationId xmlns:a16="http://schemas.microsoft.com/office/drawing/2014/main" id="{D5C40803-E5FF-4E9B-9444-F50C43C823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2" y="3746"/>
              <a:ext cx="613" cy="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/>
            </a:p>
          </p:txBody>
        </p:sp>
        <p:sp>
          <p:nvSpPr>
            <p:cNvPr id="39" name="Text Box 241">
              <a:extLst>
                <a:ext uri="{FF2B5EF4-FFF2-40B4-BE49-F238E27FC236}">
                  <a16:creationId xmlns:a16="http://schemas.microsoft.com/office/drawing/2014/main" id="{9D9ECEAC-088F-475B-BE7D-37A35AE843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2" y="4545"/>
              <a:ext cx="613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/>
            </a:p>
          </p:txBody>
        </p:sp>
        <p:sp>
          <p:nvSpPr>
            <p:cNvPr id="40" name="Freeform 242">
              <a:extLst>
                <a:ext uri="{FF2B5EF4-FFF2-40B4-BE49-F238E27FC236}">
                  <a16:creationId xmlns:a16="http://schemas.microsoft.com/office/drawing/2014/main" id="{B8A35883-F7BF-49CE-AA9C-8D60638B0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" y="3222"/>
              <a:ext cx="834" cy="6"/>
            </a:xfrm>
            <a:custGeom>
              <a:avLst/>
              <a:gdLst>
                <a:gd name="T0" fmla="*/ 0 w 490"/>
                <a:gd name="T1" fmla="*/ 4 h 4"/>
                <a:gd name="T2" fmla="*/ 490 w 490"/>
                <a:gd name="T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90" h="4">
                  <a:moveTo>
                    <a:pt x="0" y="4"/>
                  </a:moveTo>
                  <a:lnTo>
                    <a:pt x="49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243">
              <a:extLst>
                <a:ext uri="{FF2B5EF4-FFF2-40B4-BE49-F238E27FC236}">
                  <a16:creationId xmlns:a16="http://schemas.microsoft.com/office/drawing/2014/main" id="{05946E13-0E81-4F30-B56C-9CFF95EC9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3222"/>
              <a:ext cx="885" cy="592"/>
            </a:xfrm>
            <a:custGeom>
              <a:avLst/>
              <a:gdLst>
                <a:gd name="T0" fmla="*/ 0 w 520"/>
                <a:gd name="T1" fmla="*/ 384 h 384"/>
                <a:gd name="T2" fmla="*/ 520 w 520"/>
                <a:gd name="T3" fmla="*/ 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20" h="384">
                  <a:moveTo>
                    <a:pt x="0" y="384"/>
                  </a:moveTo>
                  <a:lnTo>
                    <a:pt x="52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244">
              <a:extLst>
                <a:ext uri="{FF2B5EF4-FFF2-40B4-BE49-F238E27FC236}">
                  <a16:creationId xmlns:a16="http://schemas.microsoft.com/office/drawing/2014/main" id="{FFAD3E92-0F7C-4542-A128-36434EA29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4358"/>
              <a:ext cx="851" cy="556"/>
            </a:xfrm>
            <a:custGeom>
              <a:avLst/>
              <a:gdLst>
                <a:gd name="T0" fmla="*/ 0 w 500"/>
                <a:gd name="T1" fmla="*/ 0 h 360"/>
                <a:gd name="T2" fmla="*/ 500 w 500"/>
                <a:gd name="T3" fmla="*/ 36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0" h="360">
                  <a:moveTo>
                    <a:pt x="0" y="0"/>
                  </a:moveTo>
                  <a:lnTo>
                    <a:pt x="500" y="36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245">
              <a:extLst>
                <a:ext uri="{FF2B5EF4-FFF2-40B4-BE49-F238E27FC236}">
                  <a16:creationId xmlns:a16="http://schemas.microsoft.com/office/drawing/2014/main" id="{8D5E3F64-A27E-4DDB-8435-C077DFC65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7" y="3274"/>
              <a:ext cx="936" cy="1619"/>
            </a:xfrm>
            <a:custGeom>
              <a:avLst/>
              <a:gdLst>
                <a:gd name="T0" fmla="*/ 0 w 550"/>
                <a:gd name="T1" fmla="*/ 0 h 1050"/>
                <a:gd name="T2" fmla="*/ 550 w 550"/>
                <a:gd name="T3" fmla="*/ 105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0" h="1050">
                  <a:moveTo>
                    <a:pt x="0" y="0"/>
                  </a:moveTo>
                  <a:lnTo>
                    <a:pt x="550" y="105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46">
              <a:extLst>
                <a:ext uri="{FF2B5EF4-FFF2-40B4-BE49-F238E27FC236}">
                  <a16:creationId xmlns:a16="http://schemas.microsoft.com/office/drawing/2014/main" id="{4E1D46DA-9104-45F2-93BD-1FCE5FAE1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1" y="3259"/>
              <a:ext cx="919" cy="848"/>
            </a:xfrm>
            <a:custGeom>
              <a:avLst/>
              <a:gdLst>
                <a:gd name="T0" fmla="*/ 0 w 540"/>
                <a:gd name="T1" fmla="*/ 550 h 550"/>
                <a:gd name="T2" fmla="*/ 540 w 540"/>
                <a:gd name="T3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0" h="550">
                  <a:moveTo>
                    <a:pt x="0" y="550"/>
                  </a:moveTo>
                  <a:lnTo>
                    <a:pt x="54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47">
              <a:extLst>
                <a:ext uri="{FF2B5EF4-FFF2-40B4-BE49-F238E27FC236}">
                  <a16:creationId xmlns:a16="http://schemas.microsoft.com/office/drawing/2014/main" id="{81AD268D-62EB-49FD-B7B4-2ABB32B84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1" y="4138"/>
              <a:ext cx="937" cy="755"/>
            </a:xfrm>
            <a:custGeom>
              <a:avLst/>
              <a:gdLst>
                <a:gd name="T0" fmla="*/ 0 w 550"/>
                <a:gd name="T1" fmla="*/ 490 h 490"/>
                <a:gd name="T2" fmla="*/ 550 w 550"/>
                <a:gd name="T3" fmla="*/ 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0" h="490">
                  <a:moveTo>
                    <a:pt x="0" y="490"/>
                  </a:moveTo>
                  <a:lnTo>
                    <a:pt x="55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48">
              <a:extLst>
                <a:ext uri="{FF2B5EF4-FFF2-40B4-BE49-F238E27FC236}">
                  <a16:creationId xmlns:a16="http://schemas.microsoft.com/office/drawing/2014/main" id="{8F2D3B56-CBEE-4AB1-9B36-FB2C63F75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1" y="2750"/>
              <a:ext cx="1050" cy="2"/>
            </a:xfrm>
            <a:custGeom>
              <a:avLst/>
              <a:gdLst>
                <a:gd name="T0" fmla="*/ 0 w 617"/>
                <a:gd name="T1" fmla="*/ 0 h 1"/>
                <a:gd name="T2" fmla="*/ 617 w 617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17" h="1">
                  <a:moveTo>
                    <a:pt x="0" y="0"/>
                  </a:moveTo>
                  <a:lnTo>
                    <a:pt x="617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249">
              <a:extLst>
                <a:ext uri="{FF2B5EF4-FFF2-40B4-BE49-F238E27FC236}">
                  <a16:creationId xmlns:a16="http://schemas.microsoft.com/office/drawing/2014/main" id="{C712A125-B530-4218-841D-1E3879E0D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6" y="2766"/>
              <a:ext cx="818" cy="1"/>
            </a:xfrm>
            <a:custGeom>
              <a:avLst/>
              <a:gdLst>
                <a:gd name="T0" fmla="*/ 0 w 480"/>
                <a:gd name="T1" fmla="*/ 0 h 1"/>
                <a:gd name="T2" fmla="*/ 480 w 48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80" h="1">
                  <a:moveTo>
                    <a:pt x="0" y="0"/>
                  </a:moveTo>
                  <a:lnTo>
                    <a:pt x="48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250">
              <a:extLst>
                <a:ext uri="{FF2B5EF4-FFF2-40B4-BE49-F238E27FC236}">
                  <a16:creationId xmlns:a16="http://schemas.microsoft.com/office/drawing/2014/main" id="{FE009459-C1ED-4D3C-882A-814A1E1A3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5" y="2750"/>
              <a:ext cx="1260" cy="2"/>
            </a:xfrm>
            <a:custGeom>
              <a:avLst/>
              <a:gdLst>
                <a:gd name="T0" fmla="*/ 0 w 740"/>
                <a:gd name="T1" fmla="*/ 0 h 1"/>
                <a:gd name="T2" fmla="*/ 740 w 74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40" h="1">
                  <a:moveTo>
                    <a:pt x="0" y="0"/>
                  </a:moveTo>
                  <a:lnTo>
                    <a:pt x="74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Oval 251">
              <a:extLst>
                <a:ext uri="{FF2B5EF4-FFF2-40B4-BE49-F238E27FC236}">
                  <a16:creationId xmlns:a16="http://schemas.microsoft.com/office/drawing/2014/main" id="{D64D36EB-5704-489F-9E5D-FCAF3A1EA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6" y="3188"/>
              <a:ext cx="98" cy="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EB1E6EF7-C5FC-1FFD-964C-A0C6301DE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357988226"/>
      </p:ext>
    </p:extLst>
  </p:cSld>
  <p:clrMapOvr>
    <a:masterClrMapping/>
  </p:clrMapOvr>
  <p:transition spd="slow" advTm="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193D4ED-5709-48A4-94A1-ED752C3B50C1}"/>
              </a:ext>
            </a:extLst>
          </p:cNvPr>
          <p:cNvSpPr txBox="1">
            <a:spLocks noChangeArrowheads="1"/>
          </p:cNvSpPr>
          <p:nvPr/>
        </p:nvSpPr>
        <p:spPr>
          <a:xfrm>
            <a:off x="2147854" y="1411094"/>
            <a:ext cx="8094742" cy="563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对任何的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(1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m,1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n) 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有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aseline="20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altLang="zh-CN" sz="2400" baseline="-25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(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bSc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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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 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</a:t>
            </a:r>
            <a:r>
              <a:rPr lang="en-US" altLang="zh-CN" sz="2400" i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i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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i1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1j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=1) 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i2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2j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=1)  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i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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i1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1j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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i2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2j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 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i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=1         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     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kj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)=1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即　 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endParaRPr lang="en-US" altLang="zh-CN" sz="2400" baseline="-25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因此　　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m×n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m×n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所以　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o S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M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400" baseline="20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C673D-49C9-4F2B-98D5-3CF151B11096}"/>
              </a:ext>
            </a:extLst>
          </p:cNvPr>
          <p:cNvSpPr/>
          <p:nvPr/>
        </p:nvSpPr>
        <p:spPr>
          <a:xfrm>
            <a:off x="2333779" y="738188"/>
            <a:ext cx="29017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32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o S </a:t>
            </a:r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M</a:t>
            </a:r>
            <a:r>
              <a:rPr lang="en-US" altLang="zh-CN" sz="32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3200" baseline="2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32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81B2072B-6E46-4440-BA5F-6C7F397016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8757" y="4572000"/>
          <a:ext cx="381000" cy="589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406080" progId="Equation.DSMT4">
                  <p:embed/>
                </p:oleObj>
              </mc:Choice>
              <mc:Fallback>
                <p:oleObj name="Equation" r:id="rId4" imgW="190440" imgH="40608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81B2072B-6E46-4440-BA5F-6C7F397016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757" y="4572000"/>
                        <a:ext cx="381000" cy="589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0D4E6B27-2116-590A-2F87-38E716830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739710264"/>
      </p:ext>
    </p:extLst>
  </p:cSld>
  <p:clrMapOvr>
    <a:masterClrMapping/>
  </p:clrMapOvr>
  <p:transition spd="slow" advTm="0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7341613-08E6-4B6F-991B-684F3BBCE284}"/>
              </a:ext>
            </a:extLst>
          </p:cNvPr>
          <p:cNvSpPr/>
          <p:nvPr/>
        </p:nvSpPr>
        <p:spPr>
          <a:xfrm>
            <a:off x="1751013" y="1148215"/>
            <a:ext cx="930626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关系的复合幂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(nth power)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设二元关系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。这里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是一个非空的集合，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是自然数集。规定：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=I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；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n+1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特别地：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869476-071B-43F2-9D87-672E1AED60C3}"/>
              </a:ext>
            </a:extLst>
          </p:cNvPr>
          <p:cNvSpPr/>
          <p:nvPr/>
        </p:nvSpPr>
        <p:spPr>
          <a:xfrm>
            <a:off x="1437070" y="4029718"/>
            <a:ext cx="853659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设二元关系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A×A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,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是一个非空的集合，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是自然数集。则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交换律：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特别地：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R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r>
              <a:rPr lang="zh-CN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交换律：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。</a:t>
            </a:r>
            <a:r>
              <a:rPr lang="zh-CN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39944188-04FC-33E2-490E-030515925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1835411551"/>
      </p:ext>
    </p:extLst>
  </p:cSld>
  <p:clrMapOvr>
    <a:masterClrMapping/>
  </p:clrMapOvr>
  <p:transition spd="slow" advTm="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6EB2684-5226-4F96-BBDF-8BF07A1D1AD6}"/>
              </a:ext>
            </a:extLst>
          </p:cNvPr>
          <p:cNvSpPr/>
          <p:nvPr/>
        </p:nvSpPr>
        <p:spPr>
          <a:xfrm>
            <a:off x="1304719" y="1625337"/>
            <a:ext cx="985446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ea typeface="楷体_GB2312" pitchFamily="49" charset="-122"/>
              </a:rPr>
              <a:t>一般地   </a:t>
            </a:r>
            <a:r>
              <a:rPr lang="en-US" altLang="zh-CN" sz="2800" dirty="0">
                <a:ea typeface="楷体_GB2312" pitchFamily="49" charset="-122"/>
              </a:rPr>
              <a:t>a </a:t>
            </a:r>
            <a:r>
              <a:rPr lang="en-US" altLang="zh-CN" sz="2800" dirty="0" err="1">
                <a:ea typeface="Arial Unicode MS" pitchFamily="34" charset="-122"/>
              </a:rPr>
              <a:t>R</a:t>
            </a:r>
            <a:r>
              <a:rPr lang="en-US" altLang="zh-CN" sz="2800" baseline="30000" dirty="0" err="1">
                <a:ea typeface="Arial Unicode MS" pitchFamily="34" charset="-122"/>
              </a:rPr>
              <a:t>n</a:t>
            </a:r>
            <a:r>
              <a:rPr lang="en-US" altLang="zh-CN" sz="2800" dirty="0" err="1"/>
              <a:t>b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(c</a:t>
            </a:r>
            <a:r>
              <a:rPr lang="en-US" altLang="zh-CN" sz="2800" baseline="-25000" dirty="0"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ym typeface="Symbol" panose="05050102010706020507" pitchFamily="18" charset="2"/>
              </a:rPr>
              <a:t>)(c</a:t>
            </a:r>
            <a:r>
              <a:rPr lang="en-US" altLang="zh-CN" sz="2800" baseline="-25000" dirty="0"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ym typeface="Symbol" panose="05050102010706020507" pitchFamily="18" charset="2"/>
              </a:rPr>
              <a:t>) (c</a:t>
            </a:r>
            <a:r>
              <a:rPr lang="en-US" altLang="zh-CN" sz="2800" baseline="-25000" dirty="0">
                <a:sym typeface="Symbol" panose="05050102010706020507" pitchFamily="18" charset="2"/>
              </a:rPr>
              <a:t>n-1</a:t>
            </a:r>
            <a:r>
              <a:rPr lang="en-US" altLang="zh-CN" sz="2800" dirty="0">
                <a:sym typeface="Symbol" panose="05050102010706020507" pitchFamily="18" charset="2"/>
              </a:rPr>
              <a:t>)(aRc</a:t>
            </a:r>
            <a:r>
              <a:rPr lang="en-US" altLang="zh-CN" sz="2800" baseline="-25000" dirty="0">
                <a:sym typeface="Symbol" panose="05050102010706020507" pitchFamily="18" charset="2"/>
              </a:rPr>
              <a:t>1 </a:t>
            </a:r>
            <a:r>
              <a:rPr lang="en-US" altLang="zh-CN" sz="2800" dirty="0">
                <a:sym typeface="Symbol" panose="05050102010706020507" pitchFamily="18" charset="2"/>
              </a:rPr>
              <a:t> c</a:t>
            </a:r>
            <a:r>
              <a:rPr lang="en-US" altLang="zh-CN" sz="2800" baseline="-25000" dirty="0"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ym typeface="Symbol" panose="05050102010706020507" pitchFamily="18" charset="2"/>
              </a:rPr>
              <a:t>Rc</a:t>
            </a:r>
            <a:r>
              <a:rPr lang="en-US" altLang="zh-CN" sz="2800" baseline="-25000" dirty="0">
                <a:sym typeface="Symbol" panose="05050102010706020507" pitchFamily="18" charset="2"/>
              </a:rPr>
              <a:t>2 </a:t>
            </a:r>
            <a:r>
              <a:rPr lang="en-US" altLang="zh-CN" sz="2800" dirty="0">
                <a:sym typeface="Symbol" panose="05050102010706020507" pitchFamily="18" charset="2"/>
              </a:rPr>
              <a:t>   c</a:t>
            </a:r>
            <a:r>
              <a:rPr lang="en-US" altLang="zh-CN" sz="2800" baseline="-25000" dirty="0">
                <a:sym typeface="Symbol" panose="05050102010706020507" pitchFamily="18" charset="2"/>
              </a:rPr>
              <a:t>n-1</a:t>
            </a:r>
            <a:r>
              <a:rPr lang="en-US" altLang="zh-CN" sz="2800" dirty="0">
                <a:sym typeface="Symbol" panose="05050102010706020507" pitchFamily="18" charset="2"/>
              </a:rPr>
              <a:t>Rb)</a:t>
            </a:r>
            <a:r>
              <a:rPr lang="en-US" altLang="zh-CN" sz="2800" dirty="0">
                <a:ea typeface="Arial Unicode MS" pitchFamily="34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；</a:t>
            </a:r>
          </a:p>
          <a:p>
            <a:r>
              <a:rPr lang="zh-CN" altLang="en-US" sz="2800" dirty="0">
                <a:ea typeface="楷体_GB2312" pitchFamily="49" charset="-122"/>
              </a:rPr>
              <a:t>特别地　</a:t>
            </a:r>
            <a:r>
              <a:rPr lang="en-US" altLang="zh-CN" sz="2800" dirty="0">
                <a:ea typeface="楷体_GB2312" pitchFamily="49" charset="-122"/>
              </a:rPr>
              <a:t>a </a:t>
            </a:r>
            <a:r>
              <a:rPr lang="en-US" altLang="zh-CN" sz="2800" dirty="0">
                <a:ea typeface="Arial Unicode MS" pitchFamily="34" charset="-122"/>
              </a:rPr>
              <a:t>R</a:t>
            </a:r>
            <a:r>
              <a:rPr lang="zh-CN" altLang="en-US" sz="2800" baseline="30000" dirty="0">
                <a:ea typeface="Arial Unicode MS" pitchFamily="34" charset="-122"/>
              </a:rPr>
              <a:t>２</a:t>
            </a:r>
            <a:r>
              <a:rPr lang="en-US" altLang="zh-CN" sz="2800" dirty="0"/>
              <a:t>b </a:t>
            </a:r>
            <a:r>
              <a:rPr lang="en-US" altLang="zh-CN" sz="2800" dirty="0">
                <a:sym typeface="Symbol" panose="05050102010706020507" pitchFamily="18" charset="2"/>
              </a:rPr>
              <a:t>(c) (</a:t>
            </a:r>
            <a:r>
              <a:rPr lang="en-US" altLang="zh-CN" sz="2800" dirty="0" err="1">
                <a:sym typeface="Symbol" panose="05050102010706020507" pitchFamily="18" charset="2"/>
              </a:rPr>
              <a:t>aRc</a:t>
            </a:r>
            <a:r>
              <a:rPr lang="en-US" altLang="zh-CN" sz="2800" dirty="0">
                <a:sym typeface="Symbol" panose="05050102010706020507" pitchFamily="18" charset="2"/>
              </a:rPr>
              <a:t> </a:t>
            </a:r>
            <a:r>
              <a:rPr lang="en-US" altLang="zh-CN" sz="2800" dirty="0" err="1">
                <a:sym typeface="Symbol" panose="05050102010706020507" pitchFamily="18" charset="2"/>
              </a:rPr>
              <a:t>cR</a:t>
            </a:r>
            <a:r>
              <a:rPr lang="en-US" altLang="zh-CN" sz="2800" dirty="0">
                <a:sym typeface="Symbol" panose="05050102010706020507" pitchFamily="18" charset="2"/>
              </a:rPr>
              <a:t> b)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F6B5142-6615-4127-8CD2-0D1F5061AE98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233840"/>
            <a:ext cx="5181600" cy="2728913"/>
            <a:chOff x="1488" y="2496"/>
            <a:chExt cx="3264" cy="171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6CCDF26-E385-4BCC-BF71-1268DD561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21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92C2646-2BA5-42B3-ADB1-5723F2AA1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928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F165D3-E3B8-4B44-9708-B94F0DD5A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73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350D0F8-DD59-499C-983E-595C1C52C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784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72DED00-E5AE-4446-83D3-124D88276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97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3F36230-1320-4AA2-9EE5-28DB5BC54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264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BD20BB39-E72C-4B76-9A26-0EDEDA775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3264"/>
              <a:ext cx="2976" cy="48"/>
            </a:xfrm>
            <a:prstGeom prst="line">
              <a:avLst/>
            </a:prstGeom>
            <a:noFill/>
            <a:ln w="12700" cap="sq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89E0A8E8-29DE-4160-840C-40F64D3234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6" y="2976"/>
              <a:ext cx="336" cy="288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CE8A291B-C3E3-4D52-8494-108072F8C8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0" y="2784"/>
              <a:ext cx="432" cy="144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26D5F948-DB02-4382-B300-B66311534E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832"/>
              <a:ext cx="384" cy="144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9EDEA21E-B25D-42D2-93C2-6269ACA962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976"/>
              <a:ext cx="288" cy="288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7" name="AutoShape 16">
              <a:extLst>
                <a:ext uri="{FF2B5EF4-FFF2-40B4-BE49-F238E27FC236}">
                  <a16:creationId xmlns:a16="http://schemas.microsoft.com/office/drawing/2014/main" id="{F4A62F05-F466-4752-AAD9-E28650362453}"/>
                </a:ext>
              </a:extLst>
            </p:cNvPr>
            <p:cNvCxnSpPr>
              <a:cxnSpLocks noChangeShapeType="1"/>
              <a:stCxn id="8" idx="7"/>
              <a:endCxn id="9" idx="0"/>
            </p:cNvCxnSpPr>
            <p:nvPr/>
          </p:nvCxnSpPr>
          <p:spPr bwMode="auto">
            <a:xfrm rot="5400000" flipV="1">
              <a:off x="3108" y="2028"/>
              <a:ext cx="41" cy="1471"/>
            </a:xfrm>
            <a:prstGeom prst="curvedConnector3">
              <a:avLst>
                <a:gd name="adj1" fmla="val -368292"/>
              </a:avLst>
            </a:prstGeom>
            <a:noFill/>
            <a:ln w="12700">
              <a:solidFill>
                <a:schemeClr val="accent1"/>
              </a:solidFill>
              <a:prstDash val="lgDash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0CCDB442-E0AE-4B7E-AC88-A0EA67E500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216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F0C821D7-4DFC-45DD-B137-196085C02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688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1800" dirty="0">
                  <a:sym typeface="Symbol" panose="05050102010706020507" pitchFamily="18" charset="2"/>
                </a:rPr>
                <a:t>c</a:t>
              </a:r>
              <a:r>
                <a:rPr lang="en-US" altLang="zh-CN" sz="1800" baseline="-25000" dirty="0"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EBCBABC0-9628-422D-ADC4-B9555CFF0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49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1800">
                  <a:sym typeface="Symbol" panose="05050102010706020507" pitchFamily="18" charset="2"/>
                </a:rPr>
                <a:t>c</a:t>
              </a:r>
              <a:r>
                <a:rPr lang="en-US" altLang="zh-CN" sz="1800" baseline="-25000"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AE97D0C7-456D-43F3-BC21-31324CB2A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312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b</a:t>
              </a:r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9CA556F0-2BB7-4C07-9C0C-099BF106C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736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1800">
                  <a:sym typeface="Symbol" panose="05050102010706020507" pitchFamily="18" charset="2"/>
                </a:rPr>
                <a:t>c</a:t>
              </a:r>
              <a:r>
                <a:rPr lang="en-US" altLang="zh-CN" sz="1800" baseline="-25000">
                  <a:sym typeface="Symbol" panose="05050102010706020507" pitchFamily="18" charset="2"/>
                </a:rPr>
                <a:t>n-1</a:t>
              </a:r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C1C6FE04-3258-45A3-8074-F166F2F7F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544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1800">
                  <a:sym typeface="Symbol" panose="05050102010706020507" pitchFamily="18" charset="2"/>
                </a:rPr>
                <a:t>c</a:t>
              </a:r>
              <a:r>
                <a:rPr lang="en-US" altLang="zh-CN" sz="1800" baseline="-25000">
                  <a:sym typeface="Symbol" panose="05050102010706020507" pitchFamily="18" charset="2"/>
                </a:rPr>
                <a:t>n-2</a:t>
              </a:r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5EDB653E-CEAC-4CA6-A050-11F8BFA0C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264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1800">
                  <a:ea typeface="Arial Unicode MS" pitchFamily="34" charset="-122"/>
                </a:rPr>
                <a:t>R</a:t>
              </a:r>
              <a:r>
                <a:rPr lang="en-US" altLang="zh-CN" sz="1800" baseline="30000">
                  <a:ea typeface="Arial Unicode MS" pitchFamily="34" charset="-122"/>
                </a:rPr>
                <a:t>n</a:t>
              </a:r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0251BAE8-8E02-412F-8CA3-D86587957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928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R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9BADE86-3389-456E-81F7-0D587EEA0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640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R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20208A2-5308-44BE-A952-181AC0578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736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R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05C8F16-FF46-4384-B76D-FAC533149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928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R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D768909-F64B-4887-8639-E2A1FD4C2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544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R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0738E83-FC28-44D9-A985-55416633B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93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DA3BB73-0333-4FCC-B6F5-D3A8B8206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600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DBA49E4-B30E-449E-81DB-83A3E6626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984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A77C2B46-CE51-4986-A2E2-3852DB5DEC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3648"/>
              <a:ext cx="576" cy="288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F5F5E545-6B81-4D1D-B886-EB1B34151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648"/>
              <a:ext cx="432" cy="336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8CA1C68F-C986-4C5C-886D-F5A15ED2D1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3984"/>
              <a:ext cx="1056" cy="0"/>
            </a:xfrm>
            <a:prstGeom prst="line">
              <a:avLst/>
            </a:prstGeom>
            <a:noFill/>
            <a:ln w="12700" cap="sq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5E399D6C-74DA-4211-953C-3665F2AD9F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840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37" name="Text Box 36">
              <a:extLst>
                <a:ext uri="{FF2B5EF4-FFF2-40B4-BE49-F238E27FC236}">
                  <a16:creationId xmlns:a16="http://schemas.microsoft.com/office/drawing/2014/main" id="{1393DE58-C52D-488F-9431-3CE890CB52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888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b</a:t>
              </a:r>
            </a:p>
          </p:txBody>
        </p:sp>
        <p:sp>
          <p:nvSpPr>
            <p:cNvPr id="38" name="Text Box 37">
              <a:extLst>
                <a:ext uri="{FF2B5EF4-FFF2-40B4-BE49-F238E27FC236}">
                  <a16:creationId xmlns:a16="http://schemas.microsoft.com/office/drawing/2014/main" id="{72F2B0A5-A665-4960-8FB9-15E3CDE480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456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c</a:t>
              </a:r>
            </a:p>
          </p:txBody>
        </p:sp>
        <p:sp>
          <p:nvSpPr>
            <p:cNvPr id="39" name="Text Box 38">
              <a:extLst>
                <a:ext uri="{FF2B5EF4-FFF2-40B4-BE49-F238E27FC236}">
                  <a16:creationId xmlns:a16="http://schemas.microsoft.com/office/drawing/2014/main" id="{795558C9-F24B-4C67-BEAD-574FA07DA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3984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1800">
                  <a:ea typeface="Arial Unicode MS" pitchFamily="34" charset="-122"/>
                </a:rPr>
                <a:t>R</a:t>
              </a:r>
              <a:r>
                <a:rPr lang="zh-CN" altLang="en-US" sz="1800" baseline="30000">
                  <a:ea typeface="Arial Unicode MS" pitchFamily="34" charset="-122"/>
                </a:rPr>
                <a:t>２</a:t>
              </a:r>
            </a:p>
          </p:txBody>
        </p:sp>
        <p:sp>
          <p:nvSpPr>
            <p:cNvPr id="40" name="Text Box 39">
              <a:extLst>
                <a:ext uri="{FF2B5EF4-FFF2-40B4-BE49-F238E27FC236}">
                  <a16:creationId xmlns:a16="http://schemas.microsoft.com/office/drawing/2014/main" id="{9AB0C001-DCBD-4735-B396-3F0A016994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600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R</a:t>
              </a:r>
            </a:p>
          </p:txBody>
        </p:sp>
        <p:sp>
          <p:nvSpPr>
            <p:cNvPr id="41" name="Text Box 40">
              <a:extLst>
                <a:ext uri="{FF2B5EF4-FFF2-40B4-BE49-F238E27FC236}">
                  <a16:creationId xmlns:a16="http://schemas.microsoft.com/office/drawing/2014/main" id="{FDDB2A24-D368-4CCD-BBCE-C860891887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3600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R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7A4039F6-3E4B-E32D-BC37-22F506EC1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715745622"/>
      </p:ext>
    </p:extLst>
  </p:cSld>
  <p:clrMapOvr>
    <a:masterClrMapping/>
  </p:clrMapOvr>
  <p:transition spd="slow" advTm="0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A272EC6-0F02-43D7-8EE5-3898482EA38E}"/>
              </a:ext>
            </a:extLst>
          </p:cNvPr>
          <p:cNvSpPr txBox="1"/>
          <p:nvPr/>
        </p:nvSpPr>
        <p:spPr>
          <a:xfrm>
            <a:off x="1571625" y="787793"/>
            <a:ext cx="3295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关系的逆运算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8EF270-5A76-4EA4-BD9B-22A8D4E2C0B4}"/>
              </a:ext>
            </a:extLst>
          </p:cNvPr>
          <p:cNvSpPr/>
          <p:nvPr/>
        </p:nvSpPr>
        <p:spPr>
          <a:xfrm>
            <a:off x="2363844" y="1588628"/>
            <a:ext cx="7128811" cy="3258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是两个非空的集合。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将二元关系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BaAa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b}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B×A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的逆关系，记为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这种从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的运算叫做关系的逆运算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78E5E2-7BCC-4408-9B66-39485A43A792}"/>
              </a:ext>
            </a:extLst>
          </p:cNvPr>
          <p:cNvSpPr/>
          <p:nvPr/>
        </p:nvSpPr>
        <p:spPr>
          <a:xfrm>
            <a:off x="2363844" y="5269372"/>
            <a:ext cx="7885330" cy="1255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显然，对任何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B×A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；并且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　　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2B51AC09-3997-E52D-6EF6-0B606209D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095098171"/>
      </p:ext>
    </p:extLst>
  </p:cSld>
  <p:clrMapOvr>
    <a:masterClrMapping/>
  </p:clrMapOvr>
  <p:transition spd="slow" advTm="0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E312BA9-E27E-4AE9-B674-629FF54288E1}"/>
              </a:ext>
            </a:extLst>
          </p:cNvPr>
          <p:cNvSpPr/>
          <p:nvPr/>
        </p:nvSpPr>
        <p:spPr>
          <a:xfrm>
            <a:off x="1751013" y="1004510"/>
            <a:ext cx="936651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逆运算基本定理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设两个关系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×C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，这里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为非空集合。则有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反身律：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=R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保序性：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 S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S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分配律：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S)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　　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分配律：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S)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S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　　 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(5)(X×Y)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=Y×X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(6)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交换律：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)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)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　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（逆与余的）；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分配律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S)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-S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(9)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鞋袜律：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T)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S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71D44B-E698-0A73-86E3-B113460E8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085336460"/>
      </p:ext>
    </p:extLst>
  </p:cSld>
  <p:clrMapOvr>
    <a:masterClrMapping/>
  </p:clrMapOvr>
  <p:transition spd="slow" advTm="0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46AB72A-3D66-4E12-A48F-B6D734DED388}"/>
              </a:ext>
            </a:extLst>
          </p:cNvPr>
          <p:cNvSpPr txBox="1"/>
          <p:nvPr/>
        </p:nvSpPr>
        <p:spPr>
          <a:xfrm>
            <a:off x="1751012" y="738188"/>
            <a:ext cx="6460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关系的性质</a:t>
            </a:r>
          </a:p>
        </p:txBody>
      </p:sp>
      <p:sp>
        <p:nvSpPr>
          <p:cNvPr id="5" name="内容占位符 50178">
            <a:extLst>
              <a:ext uri="{FF2B5EF4-FFF2-40B4-BE49-F238E27FC236}">
                <a16:creationId xmlns:a16="http://schemas.microsoft.com/office/drawing/2014/main" id="{A700869D-3796-4887-ACB4-6DF0C2EF8ED1}"/>
              </a:ext>
            </a:extLst>
          </p:cNvPr>
          <p:cNvSpPr txBox="1">
            <a:spLocks/>
          </p:cNvSpPr>
          <p:nvPr/>
        </p:nvSpPr>
        <p:spPr>
          <a:xfrm>
            <a:off x="1981200" y="1540049"/>
            <a:ext cx="8229600" cy="4525963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</a:pPr>
            <a:r>
              <a:rPr lang="zh-CN" altLang="en-US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自反性(</a:t>
            </a:r>
            <a:r>
              <a:rPr lang="en-US" altLang="x-none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Reflexivity</a:t>
            </a:r>
            <a:r>
              <a:rPr lang="zh-CN" altLang="en-US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60000"/>
              </a:lnSpc>
            </a:pPr>
            <a:r>
              <a:rPr lang="zh-CN" altLang="en-US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反自反性(</a:t>
            </a:r>
            <a:r>
              <a:rPr lang="en-US" altLang="x-none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Anti-reflexivity</a:t>
            </a:r>
            <a:r>
              <a:rPr lang="zh-CN" altLang="en-US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ct val="160000"/>
              </a:lnSpc>
            </a:pPr>
            <a:r>
              <a:rPr lang="zh-CN" altLang="en-US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对称性(</a:t>
            </a:r>
            <a:r>
              <a:rPr lang="en-US" altLang="x-none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Symmetry</a:t>
            </a:r>
            <a:r>
              <a:rPr lang="zh-CN" altLang="en-US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60000"/>
              </a:lnSpc>
            </a:pPr>
            <a:r>
              <a:rPr lang="zh-CN" altLang="en-US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反对称性(</a:t>
            </a:r>
            <a:r>
              <a:rPr lang="en-US" altLang="x-none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Anti-symmetry</a:t>
            </a:r>
            <a:r>
              <a:rPr lang="zh-CN" altLang="en-US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60000"/>
              </a:lnSpc>
            </a:pPr>
            <a:r>
              <a:rPr lang="zh-CN" altLang="en-US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传递性(</a:t>
            </a:r>
            <a:r>
              <a:rPr lang="en-US" altLang="x-none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Transitivity</a:t>
            </a:r>
            <a:r>
              <a:rPr lang="zh-CN" altLang="en-US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32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D3D701C7-285F-D87D-4BC2-0C0D5C862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346514089"/>
      </p:ext>
    </p:extLst>
  </p:cSld>
  <p:clrMapOvr>
    <a:masterClrMapping/>
  </p:clrMapOvr>
  <p:transition spd="slow" advTm="0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51202">
            <a:extLst>
              <a:ext uri="{FF2B5EF4-FFF2-40B4-BE49-F238E27FC236}">
                <a16:creationId xmlns:a16="http://schemas.microsoft.com/office/drawing/2014/main" id="{9A822A2E-AA21-4FF6-863E-B27519CAD81A}"/>
              </a:ext>
            </a:extLst>
          </p:cNvPr>
          <p:cNvSpPr txBox="1">
            <a:spLocks/>
          </p:cNvSpPr>
          <p:nvPr/>
        </p:nvSpPr>
        <p:spPr>
          <a:xfrm>
            <a:off x="1534600" y="542303"/>
            <a:ext cx="9787532" cy="4525963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A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说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自反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的(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Reflexive),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x( </a:t>
            </a:r>
            <a:r>
              <a:rPr lang="en-US" altLang="x-none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xA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 </a:t>
            </a:r>
            <a:r>
              <a:rPr lang="en-US" altLang="x-none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xRx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)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.</a:t>
            </a:r>
          </a:p>
          <a:p>
            <a:pPr>
              <a:lnSpc>
                <a:spcPct val="155000"/>
              </a:lnSpc>
              <a:buNone/>
            </a:pP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非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自反的 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 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x( </a:t>
            </a:r>
            <a:r>
              <a:rPr lang="en-US" altLang="x-none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xA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  </a:t>
            </a:r>
            <a:r>
              <a:rPr lang="en-US" altLang="x-none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xRx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)</a:t>
            </a:r>
          </a:p>
          <a:p>
            <a:pPr>
              <a:lnSpc>
                <a:spcPct val="15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性质：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是自反的</a:t>
            </a:r>
          </a:p>
          <a:p>
            <a:pPr>
              <a:lnSpc>
                <a:spcPct val="15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 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I</a:t>
            </a:r>
            <a:r>
              <a:rPr lang="en-US" altLang="x-none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A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R</a:t>
            </a:r>
          </a:p>
          <a:p>
            <a:pPr>
              <a:lnSpc>
                <a:spcPct val="15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 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M( R 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主对角线上的元素全为1</a:t>
            </a:r>
          </a:p>
          <a:p>
            <a:pPr>
              <a:lnSpc>
                <a:spcPct val="15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 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G( R 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的每个顶点处均有环.   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2654F50-A86A-4851-B5C7-2F35C1720F4D}"/>
              </a:ext>
            </a:extLst>
          </p:cNvPr>
          <p:cNvGrpSpPr/>
          <p:nvPr/>
        </p:nvGrpSpPr>
        <p:grpSpPr>
          <a:xfrm>
            <a:off x="6780224" y="1914318"/>
            <a:ext cx="4797790" cy="1363825"/>
            <a:chOff x="0" y="0"/>
            <a:chExt cx="3900" cy="1200"/>
          </a:xfrm>
        </p:grpSpPr>
        <p:sp>
          <p:nvSpPr>
            <p:cNvPr id="6" name="椭圆 51204">
              <a:extLst>
                <a:ext uri="{FF2B5EF4-FFF2-40B4-BE49-F238E27FC236}">
                  <a16:creationId xmlns:a16="http://schemas.microsoft.com/office/drawing/2014/main" id="{032426B2-DBD2-4BF9-950A-7558815E188D}"/>
                </a:ext>
              </a:extLst>
            </p:cNvPr>
            <p:cNvSpPr/>
            <p:nvPr/>
          </p:nvSpPr>
          <p:spPr>
            <a:xfrm>
              <a:off x="728" y="336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7" name="椭圆 51205">
              <a:extLst>
                <a:ext uri="{FF2B5EF4-FFF2-40B4-BE49-F238E27FC236}">
                  <a16:creationId xmlns:a16="http://schemas.microsoft.com/office/drawing/2014/main" id="{84CD8557-5D21-4E05-AE8F-EF116EB3A4D3}"/>
                </a:ext>
              </a:extLst>
            </p:cNvPr>
            <p:cNvSpPr/>
            <p:nvPr/>
          </p:nvSpPr>
          <p:spPr>
            <a:xfrm>
              <a:off x="312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8" name="椭圆 51206">
              <a:extLst>
                <a:ext uri="{FF2B5EF4-FFF2-40B4-BE49-F238E27FC236}">
                  <a16:creationId xmlns:a16="http://schemas.microsoft.com/office/drawing/2014/main" id="{0B8F7060-623E-4C0B-A38C-F565E4835B6C}"/>
                </a:ext>
              </a:extLst>
            </p:cNvPr>
            <p:cNvSpPr/>
            <p:nvPr/>
          </p:nvSpPr>
          <p:spPr>
            <a:xfrm>
              <a:off x="1196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9" name="椭圆 51207">
              <a:extLst>
                <a:ext uri="{FF2B5EF4-FFF2-40B4-BE49-F238E27FC236}">
                  <a16:creationId xmlns:a16="http://schemas.microsoft.com/office/drawing/2014/main" id="{71BACEAB-C175-4AE8-9C84-1552B8DC715B}"/>
                </a:ext>
              </a:extLst>
            </p:cNvPr>
            <p:cNvSpPr/>
            <p:nvPr/>
          </p:nvSpPr>
          <p:spPr>
            <a:xfrm>
              <a:off x="2912" y="336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0" name="椭圆 51208">
              <a:extLst>
                <a:ext uri="{FF2B5EF4-FFF2-40B4-BE49-F238E27FC236}">
                  <a16:creationId xmlns:a16="http://schemas.microsoft.com/office/drawing/2014/main" id="{1073315D-4813-4431-9348-D33E54C41B05}"/>
                </a:ext>
              </a:extLst>
            </p:cNvPr>
            <p:cNvSpPr/>
            <p:nvPr/>
          </p:nvSpPr>
          <p:spPr>
            <a:xfrm>
              <a:off x="2496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1" name="椭圆 51209">
              <a:extLst>
                <a:ext uri="{FF2B5EF4-FFF2-40B4-BE49-F238E27FC236}">
                  <a16:creationId xmlns:a16="http://schemas.microsoft.com/office/drawing/2014/main" id="{2EFE31F8-005E-4820-B8FD-6E8A4E124E57}"/>
                </a:ext>
              </a:extLst>
            </p:cNvPr>
            <p:cNvSpPr/>
            <p:nvPr/>
          </p:nvSpPr>
          <p:spPr>
            <a:xfrm>
              <a:off x="3380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2" name="椭圆 51210">
              <a:extLst>
                <a:ext uri="{FF2B5EF4-FFF2-40B4-BE49-F238E27FC236}">
                  <a16:creationId xmlns:a16="http://schemas.microsoft.com/office/drawing/2014/main" id="{CDDF23B7-EFFD-4D4F-8954-D5F828B61EFE}"/>
                </a:ext>
              </a:extLst>
            </p:cNvPr>
            <p:cNvSpPr/>
            <p:nvPr/>
          </p:nvSpPr>
          <p:spPr>
            <a:xfrm>
              <a:off x="624" y="0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3" name="直接连接符 51211">
              <a:extLst>
                <a:ext uri="{FF2B5EF4-FFF2-40B4-BE49-F238E27FC236}">
                  <a16:creationId xmlns:a16="http://schemas.microsoft.com/office/drawing/2014/main" id="{C9B8EA28-025C-4BAC-8F51-EFB1E00038AB}"/>
                </a:ext>
              </a:extLst>
            </p:cNvPr>
            <p:cNvSpPr/>
            <p:nvPr/>
          </p:nvSpPr>
          <p:spPr>
            <a:xfrm>
              <a:off x="780" y="0"/>
              <a:ext cx="1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4" name="椭圆 51212">
              <a:extLst>
                <a:ext uri="{FF2B5EF4-FFF2-40B4-BE49-F238E27FC236}">
                  <a16:creationId xmlns:a16="http://schemas.microsoft.com/office/drawing/2014/main" id="{02E64F5F-B25C-454A-95CE-277466AFBB3C}"/>
                </a:ext>
              </a:extLst>
            </p:cNvPr>
            <p:cNvSpPr/>
            <p:nvPr/>
          </p:nvSpPr>
          <p:spPr>
            <a:xfrm>
              <a:off x="0" y="864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5" name="直接连接符 51213">
              <a:extLst>
                <a:ext uri="{FF2B5EF4-FFF2-40B4-BE49-F238E27FC236}">
                  <a16:creationId xmlns:a16="http://schemas.microsoft.com/office/drawing/2014/main" id="{0F91A9F8-0E11-4104-A36A-D4EA742AE729}"/>
                </a:ext>
              </a:extLst>
            </p:cNvPr>
            <p:cNvSpPr/>
            <p:nvPr/>
          </p:nvSpPr>
          <p:spPr>
            <a:xfrm>
              <a:off x="156" y="864"/>
              <a:ext cx="1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6" name="椭圆 51214">
              <a:extLst>
                <a:ext uri="{FF2B5EF4-FFF2-40B4-BE49-F238E27FC236}">
                  <a16:creationId xmlns:a16="http://schemas.microsoft.com/office/drawing/2014/main" id="{45E6B117-2124-460C-9E00-D1F188D9CDC5}"/>
                </a:ext>
              </a:extLst>
            </p:cNvPr>
            <p:cNvSpPr/>
            <p:nvPr/>
          </p:nvSpPr>
          <p:spPr>
            <a:xfrm>
              <a:off x="1352" y="864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7" name="直接连接符 51215">
              <a:extLst>
                <a:ext uri="{FF2B5EF4-FFF2-40B4-BE49-F238E27FC236}">
                  <a16:creationId xmlns:a16="http://schemas.microsoft.com/office/drawing/2014/main" id="{1F65D9D9-E2AB-472A-855D-E11446864A5D}"/>
                </a:ext>
              </a:extLst>
            </p:cNvPr>
            <p:cNvSpPr/>
            <p:nvPr/>
          </p:nvSpPr>
          <p:spPr>
            <a:xfrm>
              <a:off x="1508" y="864"/>
              <a:ext cx="1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8" name="椭圆 51216">
              <a:extLst>
                <a:ext uri="{FF2B5EF4-FFF2-40B4-BE49-F238E27FC236}">
                  <a16:creationId xmlns:a16="http://schemas.microsoft.com/office/drawing/2014/main" id="{DA0709D2-852D-4CA5-A900-94EA22ED1C6C}"/>
                </a:ext>
              </a:extLst>
            </p:cNvPr>
            <p:cNvSpPr/>
            <p:nvPr/>
          </p:nvSpPr>
          <p:spPr>
            <a:xfrm>
              <a:off x="2808" y="0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9" name="直接连接符 51217">
              <a:extLst>
                <a:ext uri="{FF2B5EF4-FFF2-40B4-BE49-F238E27FC236}">
                  <a16:creationId xmlns:a16="http://schemas.microsoft.com/office/drawing/2014/main" id="{C8364033-D8F3-4CAC-8860-9CFC9073F018}"/>
                </a:ext>
              </a:extLst>
            </p:cNvPr>
            <p:cNvSpPr/>
            <p:nvPr/>
          </p:nvSpPr>
          <p:spPr>
            <a:xfrm>
              <a:off x="2964" y="0"/>
              <a:ext cx="1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0" name="椭圆 51218">
              <a:extLst>
                <a:ext uri="{FF2B5EF4-FFF2-40B4-BE49-F238E27FC236}">
                  <a16:creationId xmlns:a16="http://schemas.microsoft.com/office/drawing/2014/main" id="{EBDF9B04-E7E2-471C-8D15-0089E996B7C9}"/>
                </a:ext>
              </a:extLst>
            </p:cNvPr>
            <p:cNvSpPr/>
            <p:nvPr/>
          </p:nvSpPr>
          <p:spPr>
            <a:xfrm>
              <a:off x="3536" y="864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1" name="直接连接符 51219">
              <a:extLst>
                <a:ext uri="{FF2B5EF4-FFF2-40B4-BE49-F238E27FC236}">
                  <a16:creationId xmlns:a16="http://schemas.microsoft.com/office/drawing/2014/main" id="{97A40C8C-2D01-4ED1-A750-3396287957E0}"/>
                </a:ext>
              </a:extLst>
            </p:cNvPr>
            <p:cNvSpPr/>
            <p:nvPr/>
          </p:nvSpPr>
          <p:spPr>
            <a:xfrm>
              <a:off x="3692" y="864"/>
              <a:ext cx="1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2" name="直接连接符 51220">
              <a:extLst>
                <a:ext uri="{FF2B5EF4-FFF2-40B4-BE49-F238E27FC236}">
                  <a16:creationId xmlns:a16="http://schemas.microsoft.com/office/drawing/2014/main" id="{F7F7BCF2-83ED-4DE9-9913-945931FCED2B}"/>
                </a:ext>
              </a:extLst>
            </p:cNvPr>
            <p:cNvSpPr/>
            <p:nvPr/>
          </p:nvSpPr>
          <p:spPr>
            <a:xfrm flipV="1">
              <a:off x="416" y="480"/>
              <a:ext cx="364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3" name="直接连接符 51221">
              <a:extLst>
                <a:ext uri="{FF2B5EF4-FFF2-40B4-BE49-F238E27FC236}">
                  <a16:creationId xmlns:a16="http://schemas.microsoft.com/office/drawing/2014/main" id="{69237C08-981A-4D33-91E5-11B1D6A98BE8}"/>
                </a:ext>
              </a:extLst>
            </p:cNvPr>
            <p:cNvSpPr/>
            <p:nvPr/>
          </p:nvSpPr>
          <p:spPr>
            <a:xfrm>
              <a:off x="416" y="1056"/>
              <a:ext cx="780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4" name="直接连接符 51222">
              <a:extLst>
                <a:ext uri="{FF2B5EF4-FFF2-40B4-BE49-F238E27FC236}">
                  <a16:creationId xmlns:a16="http://schemas.microsoft.com/office/drawing/2014/main" id="{2DAA100A-2A63-4612-86AB-CBF5F273C026}"/>
                </a:ext>
              </a:extLst>
            </p:cNvPr>
            <p:cNvSpPr/>
            <p:nvPr/>
          </p:nvSpPr>
          <p:spPr>
            <a:xfrm>
              <a:off x="3016" y="432"/>
              <a:ext cx="416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5" name="直接连接符 51223">
              <a:extLst>
                <a:ext uri="{FF2B5EF4-FFF2-40B4-BE49-F238E27FC236}">
                  <a16:creationId xmlns:a16="http://schemas.microsoft.com/office/drawing/2014/main" id="{2165DE3C-6C86-45EA-9599-9F196B8EF4C1}"/>
                </a:ext>
              </a:extLst>
            </p:cNvPr>
            <p:cNvSpPr/>
            <p:nvPr/>
          </p:nvSpPr>
          <p:spPr>
            <a:xfrm flipH="1">
              <a:off x="2600" y="432"/>
              <a:ext cx="312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6" name="直接连接符 51224">
              <a:extLst>
                <a:ext uri="{FF2B5EF4-FFF2-40B4-BE49-F238E27FC236}">
                  <a16:creationId xmlns:a16="http://schemas.microsoft.com/office/drawing/2014/main" id="{23F808A3-70FF-456C-8055-8776773E97C5}"/>
                </a:ext>
              </a:extLst>
            </p:cNvPr>
            <p:cNvSpPr/>
            <p:nvPr/>
          </p:nvSpPr>
          <p:spPr>
            <a:xfrm>
              <a:off x="2600" y="1056"/>
              <a:ext cx="780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C2D57046-27B2-4D8B-9A59-3EB564CD02E7}"/>
              </a:ext>
            </a:extLst>
          </p:cNvPr>
          <p:cNvSpPr/>
          <p:nvPr/>
        </p:nvSpPr>
        <p:spPr>
          <a:xfrm>
            <a:off x="1534600" y="5189410"/>
            <a:ext cx="69942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Symbol" panose="05050102010706020507" pitchFamily="18" charset="2"/>
              </a:rPr>
              <a:t> 显然，对于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自反关系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Symbol" panose="05050102010706020507" pitchFamily="18" charset="2"/>
              </a:rPr>
              <a:t>R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Symbol" panose="05050102010706020507" pitchFamily="18" charset="2"/>
              </a:rPr>
              <a:t>， </a:t>
            </a:r>
            <a:r>
              <a:rPr kumimoji="1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Symbol" panose="05050102010706020507" pitchFamily="18" charset="2"/>
              </a:rPr>
              <a:t>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(R) = 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Symbol" panose="05050102010706020507" pitchFamily="18" charset="2"/>
              </a:rPr>
              <a:t>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(R) =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Symbol" panose="05050102010706020507" pitchFamily="18" charset="2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X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D348E8-15EE-4C96-8106-7B016A32B7FE}"/>
              </a:ext>
            </a:extLst>
          </p:cNvPr>
          <p:cNvSpPr/>
          <p:nvPr/>
        </p:nvSpPr>
        <p:spPr>
          <a:xfrm>
            <a:off x="1671240" y="5827458"/>
            <a:ext cx="827552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  <a:sym typeface="Symbol" panose="05050102010706020507" pitchFamily="18" charset="2"/>
              </a:rPr>
              <a:t>常见的</a:t>
            </a:r>
            <a:r>
              <a:rPr lang="zh-CN" altLang="en-US" sz="2800" dirty="0">
                <a:latin typeface="+mn-ea"/>
              </a:rPr>
              <a:t>自反关系有相等关系</a:t>
            </a:r>
            <a:r>
              <a:rPr lang="en-US" altLang="zh-CN" sz="2800" dirty="0">
                <a:latin typeface="+mn-ea"/>
              </a:rPr>
              <a:t>(=)</a:t>
            </a:r>
            <a:r>
              <a:rPr lang="zh-CN" altLang="en-US" sz="2800" dirty="0">
                <a:latin typeface="+mn-ea"/>
              </a:rPr>
              <a:t>，小于等于关系</a:t>
            </a:r>
            <a:r>
              <a:rPr lang="en-US" altLang="zh-CN" sz="2800" dirty="0">
                <a:latin typeface="+mn-ea"/>
              </a:rPr>
              <a:t>(</a:t>
            </a:r>
            <a:r>
              <a:rPr lang="en-US" altLang="zh-CN" sz="2800" dirty="0">
                <a:latin typeface="+mn-ea"/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latin typeface="+mn-ea"/>
              </a:rPr>
              <a:t>)</a:t>
            </a:r>
            <a:r>
              <a:rPr lang="zh-CN" altLang="en-US" sz="2800" dirty="0">
                <a:latin typeface="+mn-ea"/>
              </a:rPr>
              <a:t>，包含关系</a:t>
            </a:r>
            <a:r>
              <a:rPr lang="en-US" altLang="zh-CN" sz="2800" dirty="0">
                <a:latin typeface="+mn-ea"/>
              </a:rPr>
              <a:t>(</a:t>
            </a:r>
            <a:r>
              <a:rPr lang="en-US" altLang="zh-CN" sz="2800" dirty="0">
                <a:latin typeface="+mn-ea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+mn-ea"/>
              </a:rPr>
              <a:t>)</a:t>
            </a:r>
            <a:r>
              <a:rPr lang="zh-CN" altLang="en-US" sz="2800" dirty="0">
                <a:latin typeface="+mn-ea"/>
              </a:rPr>
              <a:t>等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BF21F327-A376-64DE-547B-879BC475C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3452584082"/>
      </p:ext>
    </p:extLst>
  </p:cSld>
  <p:clrMapOvr>
    <a:masterClrMapping/>
  </p:clrMapOvr>
  <p:transition spd="slow" advTm="0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CF4CD7C-95B8-4F75-9F86-25D59828500D}"/>
              </a:ext>
            </a:extLst>
          </p:cNvPr>
          <p:cNvSpPr/>
          <p:nvPr/>
        </p:nvSpPr>
        <p:spPr>
          <a:xfrm>
            <a:off x="1751013" y="759719"/>
            <a:ext cx="7977427" cy="45470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A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A, 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说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2800" u="sng" dirty="0">
                <a:solidFill>
                  <a:srgbClr val="0033C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反自反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的(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irreflexive), 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如果</a:t>
            </a:r>
          </a:p>
          <a:p>
            <a:pPr algn="ctr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sz="2800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x(</a:t>
            </a:r>
            <a:r>
              <a:rPr lang="en-US" altLang="x-none" sz="2800" dirty="0" err="1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xA</a:t>
            </a:r>
            <a:r>
              <a:rPr lang="en-US" altLang="x-none" sz="2800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 </a:t>
            </a:r>
            <a:r>
              <a:rPr lang="en-US" altLang="x-none" sz="2800" dirty="0" err="1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xRx</a:t>
            </a:r>
            <a:r>
              <a:rPr lang="en-US" altLang="x-none" sz="2800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)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反自反的 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 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x( 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xA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 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xRx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性质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  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是反自反的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       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I</a:t>
            </a:r>
            <a:r>
              <a:rPr lang="en-US" altLang="x-none" sz="2800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R=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       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M( R )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主对角线上的元素全为0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       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G( R )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的每个顶点处均无环.  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A3454AF-8AB6-409A-9899-F114774017ED}"/>
              </a:ext>
            </a:extLst>
          </p:cNvPr>
          <p:cNvGrpSpPr/>
          <p:nvPr/>
        </p:nvGrpSpPr>
        <p:grpSpPr>
          <a:xfrm>
            <a:off x="7208006" y="2396536"/>
            <a:ext cx="4542692" cy="1770185"/>
            <a:chOff x="0" y="0"/>
            <a:chExt cx="3100" cy="1208"/>
          </a:xfrm>
        </p:grpSpPr>
        <p:sp>
          <p:nvSpPr>
            <p:cNvPr id="28" name="椭圆 52228">
              <a:extLst>
                <a:ext uri="{FF2B5EF4-FFF2-40B4-BE49-F238E27FC236}">
                  <a16:creationId xmlns:a16="http://schemas.microsoft.com/office/drawing/2014/main" id="{D7612CE8-9E1F-4408-B2C2-9D7124246971}"/>
                </a:ext>
              </a:extLst>
            </p:cNvPr>
            <p:cNvSpPr/>
            <p:nvPr/>
          </p:nvSpPr>
          <p:spPr>
            <a:xfrm>
              <a:off x="416" y="32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9" name="椭圆 52229">
              <a:extLst>
                <a:ext uri="{FF2B5EF4-FFF2-40B4-BE49-F238E27FC236}">
                  <a16:creationId xmlns:a16="http://schemas.microsoft.com/office/drawing/2014/main" id="{7588481D-C65D-4F29-8D71-F255CDDA79EB}"/>
                </a:ext>
              </a:extLst>
            </p:cNvPr>
            <p:cNvSpPr/>
            <p:nvPr/>
          </p:nvSpPr>
          <p:spPr>
            <a:xfrm>
              <a:off x="0" y="944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0" name="椭圆 52230">
              <a:extLst>
                <a:ext uri="{FF2B5EF4-FFF2-40B4-BE49-F238E27FC236}">
                  <a16:creationId xmlns:a16="http://schemas.microsoft.com/office/drawing/2014/main" id="{EBA80E7E-9039-4A03-8240-11D2FEA54D93}"/>
                </a:ext>
              </a:extLst>
            </p:cNvPr>
            <p:cNvSpPr/>
            <p:nvPr/>
          </p:nvSpPr>
          <p:spPr>
            <a:xfrm>
              <a:off x="884" y="944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1" name="椭圆 52231">
              <a:extLst>
                <a:ext uri="{FF2B5EF4-FFF2-40B4-BE49-F238E27FC236}">
                  <a16:creationId xmlns:a16="http://schemas.microsoft.com/office/drawing/2014/main" id="{B49E4B16-6741-4E51-B26F-F94A07D7C3E0}"/>
                </a:ext>
              </a:extLst>
            </p:cNvPr>
            <p:cNvSpPr/>
            <p:nvPr/>
          </p:nvSpPr>
          <p:spPr>
            <a:xfrm>
              <a:off x="2112" y="344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2" name="椭圆 52232">
              <a:extLst>
                <a:ext uri="{FF2B5EF4-FFF2-40B4-BE49-F238E27FC236}">
                  <a16:creationId xmlns:a16="http://schemas.microsoft.com/office/drawing/2014/main" id="{6325D3F6-B37F-407F-BCDE-1054AB96E9FD}"/>
                </a:ext>
              </a:extLst>
            </p:cNvPr>
            <p:cNvSpPr/>
            <p:nvPr/>
          </p:nvSpPr>
          <p:spPr>
            <a:xfrm>
              <a:off x="1696" y="968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3" name="椭圆 52233">
              <a:extLst>
                <a:ext uri="{FF2B5EF4-FFF2-40B4-BE49-F238E27FC236}">
                  <a16:creationId xmlns:a16="http://schemas.microsoft.com/office/drawing/2014/main" id="{C821D867-1FDA-4661-A4C9-3F110B518152}"/>
                </a:ext>
              </a:extLst>
            </p:cNvPr>
            <p:cNvSpPr/>
            <p:nvPr/>
          </p:nvSpPr>
          <p:spPr>
            <a:xfrm>
              <a:off x="2580" y="968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4" name="椭圆 52234">
              <a:extLst>
                <a:ext uri="{FF2B5EF4-FFF2-40B4-BE49-F238E27FC236}">
                  <a16:creationId xmlns:a16="http://schemas.microsoft.com/office/drawing/2014/main" id="{C82149E5-10F9-46BA-9452-799987F69E0B}"/>
                </a:ext>
              </a:extLst>
            </p:cNvPr>
            <p:cNvSpPr/>
            <p:nvPr/>
          </p:nvSpPr>
          <p:spPr>
            <a:xfrm>
              <a:off x="2008" y="0"/>
              <a:ext cx="393" cy="344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5" name="直接连接符 52235">
              <a:extLst>
                <a:ext uri="{FF2B5EF4-FFF2-40B4-BE49-F238E27FC236}">
                  <a16:creationId xmlns:a16="http://schemas.microsoft.com/office/drawing/2014/main" id="{D22C61CD-907D-477C-8B92-7F2C81AE0ACF}"/>
                </a:ext>
              </a:extLst>
            </p:cNvPr>
            <p:cNvSpPr/>
            <p:nvPr/>
          </p:nvSpPr>
          <p:spPr>
            <a:xfrm>
              <a:off x="2164" y="8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6" name="椭圆 52236">
              <a:extLst>
                <a:ext uri="{FF2B5EF4-FFF2-40B4-BE49-F238E27FC236}">
                  <a16:creationId xmlns:a16="http://schemas.microsoft.com/office/drawing/2014/main" id="{D850366F-36CD-458C-B470-839DF35C58F0}"/>
                </a:ext>
              </a:extLst>
            </p:cNvPr>
            <p:cNvSpPr/>
            <p:nvPr/>
          </p:nvSpPr>
          <p:spPr>
            <a:xfrm>
              <a:off x="2736" y="872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7" name="直接连接符 52237">
              <a:extLst>
                <a:ext uri="{FF2B5EF4-FFF2-40B4-BE49-F238E27FC236}">
                  <a16:creationId xmlns:a16="http://schemas.microsoft.com/office/drawing/2014/main" id="{B73EA2A6-613D-4FCB-B122-10A303850F19}"/>
                </a:ext>
              </a:extLst>
            </p:cNvPr>
            <p:cNvSpPr/>
            <p:nvPr/>
          </p:nvSpPr>
          <p:spPr>
            <a:xfrm>
              <a:off x="2892" y="872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8" name="直接连接符 52238">
              <a:extLst>
                <a:ext uri="{FF2B5EF4-FFF2-40B4-BE49-F238E27FC236}">
                  <a16:creationId xmlns:a16="http://schemas.microsoft.com/office/drawing/2014/main" id="{06EF47B4-33EF-4EE3-A441-23FC37C31C43}"/>
                </a:ext>
              </a:extLst>
            </p:cNvPr>
            <p:cNvSpPr/>
            <p:nvPr/>
          </p:nvSpPr>
          <p:spPr>
            <a:xfrm flipV="1">
              <a:off x="104" y="464"/>
              <a:ext cx="364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9" name="直接连接符 52239">
              <a:extLst>
                <a:ext uri="{FF2B5EF4-FFF2-40B4-BE49-F238E27FC236}">
                  <a16:creationId xmlns:a16="http://schemas.microsoft.com/office/drawing/2014/main" id="{68EA0545-97C6-4873-932E-C7720007ED42}"/>
                </a:ext>
              </a:extLst>
            </p:cNvPr>
            <p:cNvSpPr/>
            <p:nvPr/>
          </p:nvSpPr>
          <p:spPr>
            <a:xfrm>
              <a:off x="104" y="1040"/>
              <a:ext cx="7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40" name="直接连接符 52240">
              <a:extLst>
                <a:ext uri="{FF2B5EF4-FFF2-40B4-BE49-F238E27FC236}">
                  <a16:creationId xmlns:a16="http://schemas.microsoft.com/office/drawing/2014/main" id="{38C152C5-AECB-442C-8E30-F4C5F5F39577}"/>
                </a:ext>
              </a:extLst>
            </p:cNvPr>
            <p:cNvSpPr/>
            <p:nvPr/>
          </p:nvSpPr>
          <p:spPr>
            <a:xfrm>
              <a:off x="2216" y="440"/>
              <a:ext cx="416" cy="576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41" name="直接连接符 52241">
              <a:extLst>
                <a:ext uri="{FF2B5EF4-FFF2-40B4-BE49-F238E27FC236}">
                  <a16:creationId xmlns:a16="http://schemas.microsoft.com/office/drawing/2014/main" id="{356DAD9F-70DF-4460-B096-CB416292B7FE}"/>
                </a:ext>
              </a:extLst>
            </p:cNvPr>
            <p:cNvSpPr/>
            <p:nvPr/>
          </p:nvSpPr>
          <p:spPr>
            <a:xfrm flipH="1">
              <a:off x="1800" y="440"/>
              <a:ext cx="312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42" name="直接连接符 52242">
              <a:extLst>
                <a:ext uri="{FF2B5EF4-FFF2-40B4-BE49-F238E27FC236}">
                  <a16:creationId xmlns:a16="http://schemas.microsoft.com/office/drawing/2014/main" id="{48E54973-9938-4CFC-BAFF-D8CABE45D009}"/>
                </a:ext>
              </a:extLst>
            </p:cNvPr>
            <p:cNvSpPr/>
            <p:nvPr/>
          </p:nvSpPr>
          <p:spPr>
            <a:xfrm>
              <a:off x="1800" y="1064"/>
              <a:ext cx="7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2BA911B0-3203-4F15-A908-F3C90C7DD352}"/>
              </a:ext>
            </a:extLst>
          </p:cNvPr>
          <p:cNvSpPr/>
          <p:nvPr/>
        </p:nvSpPr>
        <p:spPr>
          <a:xfrm>
            <a:off x="1707906" y="5340727"/>
            <a:ext cx="87761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而不相等关系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>
                <a:sym typeface="Symbol" panose="05050102010706020507" pitchFamily="18" charset="2"/>
              </a:rPr>
              <a:t>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</a:rPr>
              <a:t>，小于关系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  <a:t>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</a:rPr>
              <a:t>，真包含关系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  <a:t>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</a:rPr>
              <a:t>等都不是自反关系，它们都</a:t>
            </a:r>
            <a:r>
              <a:rPr lang="zh-CN" altLang="en-US" sz="2800" dirty="0">
                <a:latin typeface="楷体_GB2312" pitchFamily="49" charset="-122"/>
              </a:rPr>
              <a:t>是反自反关系</a:t>
            </a:r>
            <a:endParaRPr lang="zh-CN" altLang="en-US" sz="2800" dirty="0"/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E9AF3CDC-0045-0BB4-F210-796D851FD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50475074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54274">
            <a:extLst>
              <a:ext uri="{FF2B5EF4-FFF2-40B4-BE49-F238E27FC236}">
                <a16:creationId xmlns:a16="http://schemas.microsoft.com/office/drawing/2014/main" id="{A8E64D95-F0F5-4500-BA91-68AF51A91583}"/>
              </a:ext>
            </a:extLst>
          </p:cNvPr>
          <p:cNvSpPr txBox="1">
            <a:spLocks/>
          </p:cNvSpPr>
          <p:nvPr/>
        </p:nvSpPr>
        <p:spPr>
          <a:xfrm>
            <a:off x="1571625" y="738188"/>
            <a:ext cx="8342050" cy="422030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设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A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A, 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说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是</a:t>
            </a:r>
            <a:r>
              <a:rPr lang="zh-CN" altLang="en-US" u="sng" dirty="0">
                <a:solidFill>
                  <a:srgbClr val="0033CC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对称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的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(Symmetric),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如果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y(</a:t>
            </a:r>
            <a:r>
              <a:rPr lang="en-US" altLang="x-none" dirty="0" err="1">
                <a:solidFill>
                  <a:srgbClr val="A5002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xAyAxRyyRx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)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非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对称 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 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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y(</a:t>
            </a:r>
            <a:r>
              <a:rPr lang="en-US" altLang="x-none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xAyAxRy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</a:t>
            </a:r>
            <a:r>
              <a:rPr lang="en-US" altLang="x-none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yRx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性质:  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是对称的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       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M( R )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是对称的</a:t>
            </a:r>
            <a:endParaRPr lang="en-US" altLang="zh-CN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 </a:t>
            </a:r>
            <a:r>
              <a:rPr lang="en-US" altLang="zh-CN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R= R</a:t>
            </a:r>
            <a:r>
              <a:rPr lang="en-US" altLang="zh-CN" baseline="30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-1</a:t>
            </a:r>
            <a:endParaRPr lang="zh-CN" altLang="en-US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       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G( R )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的任何两个顶点之间若有边, 则必有两条方向相反的有向边.   </a:t>
            </a:r>
            <a:endParaRPr lang="en-US" altLang="x-none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Symbol" panose="05050102010706020507" pitchFamily="2" charset="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801AD4D-C3AD-4D24-A87B-C2CF1A16B99E}"/>
              </a:ext>
            </a:extLst>
          </p:cNvPr>
          <p:cNvGrpSpPr/>
          <p:nvPr/>
        </p:nvGrpSpPr>
        <p:grpSpPr>
          <a:xfrm>
            <a:off x="6984621" y="2896051"/>
            <a:ext cx="4481561" cy="1379920"/>
            <a:chOff x="0" y="0"/>
            <a:chExt cx="3635" cy="1200"/>
          </a:xfrm>
        </p:grpSpPr>
        <p:sp>
          <p:nvSpPr>
            <p:cNvPr id="6" name="椭圆 54276">
              <a:extLst>
                <a:ext uri="{FF2B5EF4-FFF2-40B4-BE49-F238E27FC236}">
                  <a16:creationId xmlns:a16="http://schemas.microsoft.com/office/drawing/2014/main" id="{68E6822F-17AD-41DC-84EE-B711D1C7A6CB}"/>
                </a:ext>
              </a:extLst>
            </p:cNvPr>
            <p:cNvSpPr/>
            <p:nvPr/>
          </p:nvSpPr>
          <p:spPr>
            <a:xfrm>
              <a:off x="728" y="336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7" name="椭圆 54277">
              <a:extLst>
                <a:ext uri="{FF2B5EF4-FFF2-40B4-BE49-F238E27FC236}">
                  <a16:creationId xmlns:a16="http://schemas.microsoft.com/office/drawing/2014/main" id="{C79CA100-83BE-4B80-A3B1-6E6ABE40A1F3}"/>
                </a:ext>
              </a:extLst>
            </p:cNvPr>
            <p:cNvSpPr/>
            <p:nvPr/>
          </p:nvSpPr>
          <p:spPr>
            <a:xfrm>
              <a:off x="312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8" name="椭圆 54278">
              <a:extLst>
                <a:ext uri="{FF2B5EF4-FFF2-40B4-BE49-F238E27FC236}">
                  <a16:creationId xmlns:a16="http://schemas.microsoft.com/office/drawing/2014/main" id="{9C740AED-80D6-4DD0-AAD7-1A0326FB0621}"/>
                </a:ext>
              </a:extLst>
            </p:cNvPr>
            <p:cNvSpPr/>
            <p:nvPr/>
          </p:nvSpPr>
          <p:spPr>
            <a:xfrm>
              <a:off x="1196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9" name="椭圆 54279">
              <a:extLst>
                <a:ext uri="{FF2B5EF4-FFF2-40B4-BE49-F238E27FC236}">
                  <a16:creationId xmlns:a16="http://schemas.microsoft.com/office/drawing/2014/main" id="{07468B36-DCDF-48BE-9AB6-1C1CBCFA289A}"/>
                </a:ext>
              </a:extLst>
            </p:cNvPr>
            <p:cNvSpPr/>
            <p:nvPr/>
          </p:nvSpPr>
          <p:spPr>
            <a:xfrm>
              <a:off x="2647" y="336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0" name="椭圆 54280">
              <a:extLst>
                <a:ext uri="{FF2B5EF4-FFF2-40B4-BE49-F238E27FC236}">
                  <a16:creationId xmlns:a16="http://schemas.microsoft.com/office/drawing/2014/main" id="{69E39793-B8D5-439C-A646-934BB0FFDB44}"/>
                </a:ext>
              </a:extLst>
            </p:cNvPr>
            <p:cNvSpPr/>
            <p:nvPr/>
          </p:nvSpPr>
          <p:spPr>
            <a:xfrm>
              <a:off x="2231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1" name="椭圆 54281">
              <a:extLst>
                <a:ext uri="{FF2B5EF4-FFF2-40B4-BE49-F238E27FC236}">
                  <a16:creationId xmlns:a16="http://schemas.microsoft.com/office/drawing/2014/main" id="{F33E89C8-18FF-431C-95B5-A08173E918D7}"/>
                </a:ext>
              </a:extLst>
            </p:cNvPr>
            <p:cNvSpPr/>
            <p:nvPr/>
          </p:nvSpPr>
          <p:spPr>
            <a:xfrm>
              <a:off x="3115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2" name="椭圆 54282">
              <a:extLst>
                <a:ext uri="{FF2B5EF4-FFF2-40B4-BE49-F238E27FC236}">
                  <a16:creationId xmlns:a16="http://schemas.microsoft.com/office/drawing/2014/main" id="{A76142B4-9FC9-4060-B21D-67C31BC2B9C4}"/>
                </a:ext>
              </a:extLst>
            </p:cNvPr>
            <p:cNvSpPr/>
            <p:nvPr/>
          </p:nvSpPr>
          <p:spPr>
            <a:xfrm>
              <a:off x="624" y="0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3" name="直接连接符 54283">
              <a:extLst>
                <a:ext uri="{FF2B5EF4-FFF2-40B4-BE49-F238E27FC236}">
                  <a16:creationId xmlns:a16="http://schemas.microsoft.com/office/drawing/2014/main" id="{60FA5602-28ED-4169-984E-E0DBA6B26B56}"/>
                </a:ext>
              </a:extLst>
            </p:cNvPr>
            <p:cNvSpPr/>
            <p:nvPr/>
          </p:nvSpPr>
          <p:spPr>
            <a:xfrm>
              <a:off x="780" y="0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4" name="椭圆 54284">
              <a:extLst>
                <a:ext uri="{FF2B5EF4-FFF2-40B4-BE49-F238E27FC236}">
                  <a16:creationId xmlns:a16="http://schemas.microsoft.com/office/drawing/2014/main" id="{BDD98EA5-8D23-425A-B8EC-D1D617C5F5B5}"/>
                </a:ext>
              </a:extLst>
            </p:cNvPr>
            <p:cNvSpPr/>
            <p:nvPr/>
          </p:nvSpPr>
          <p:spPr>
            <a:xfrm>
              <a:off x="0" y="864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5" name="直接连接符 54285">
              <a:extLst>
                <a:ext uri="{FF2B5EF4-FFF2-40B4-BE49-F238E27FC236}">
                  <a16:creationId xmlns:a16="http://schemas.microsoft.com/office/drawing/2014/main" id="{E769A078-0276-44EC-87D3-D93A53BA5FD3}"/>
                </a:ext>
              </a:extLst>
            </p:cNvPr>
            <p:cNvSpPr/>
            <p:nvPr/>
          </p:nvSpPr>
          <p:spPr>
            <a:xfrm>
              <a:off x="156" y="864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6" name="椭圆 54286">
              <a:extLst>
                <a:ext uri="{FF2B5EF4-FFF2-40B4-BE49-F238E27FC236}">
                  <a16:creationId xmlns:a16="http://schemas.microsoft.com/office/drawing/2014/main" id="{BEBD8044-BC63-4A59-9604-A550E6712EBB}"/>
                </a:ext>
              </a:extLst>
            </p:cNvPr>
            <p:cNvSpPr/>
            <p:nvPr/>
          </p:nvSpPr>
          <p:spPr>
            <a:xfrm>
              <a:off x="1352" y="864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7" name="直接连接符 54287">
              <a:extLst>
                <a:ext uri="{FF2B5EF4-FFF2-40B4-BE49-F238E27FC236}">
                  <a16:creationId xmlns:a16="http://schemas.microsoft.com/office/drawing/2014/main" id="{51D4A91B-6A0B-418F-94DC-D4D27CC89FF9}"/>
                </a:ext>
              </a:extLst>
            </p:cNvPr>
            <p:cNvSpPr/>
            <p:nvPr/>
          </p:nvSpPr>
          <p:spPr>
            <a:xfrm>
              <a:off x="1508" y="864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8" name="椭圆 54288">
              <a:extLst>
                <a:ext uri="{FF2B5EF4-FFF2-40B4-BE49-F238E27FC236}">
                  <a16:creationId xmlns:a16="http://schemas.microsoft.com/office/drawing/2014/main" id="{1C1DEFB9-CCC9-4EA2-A863-7EAF5276E0F8}"/>
                </a:ext>
              </a:extLst>
            </p:cNvPr>
            <p:cNvSpPr/>
            <p:nvPr/>
          </p:nvSpPr>
          <p:spPr>
            <a:xfrm>
              <a:off x="2543" y="0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9" name="直接连接符 54289">
              <a:extLst>
                <a:ext uri="{FF2B5EF4-FFF2-40B4-BE49-F238E27FC236}">
                  <a16:creationId xmlns:a16="http://schemas.microsoft.com/office/drawing/2014/main" id="{87792928-1636-441C-8AFA-F50C726E2D32}"/>
                </a:ext>
              </a:extLst>
            </p:cNvPr>
            <p:cNvSpPr/>
            <p:nvPr/>
          </p:nvSpPr>
          <p:spPr>
            <a:xfrm>
              <a:off x="2699" y="0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0" name="椭圆 54290">
              <a:extLst>
                <a:ext uri="{FF2B5EF4-FFF2-40B4-BE49-F238E27FC236}">
                  <a16:creationId xmlns:a16="http://schemas.microsoft.com/office/drawing/2014/main" id="{E8C410DE-05DD-4351-A7AD-DD843F88C087}"/>
                </a:ext>
              </a:extLst>
            </p:cNvPr>
            <p:cNvSpPr/>
            <p:nvPr/>
          </p:nvSpPr>
          <p:spPr>
            <a:xfrm>
              <a:off x="3271" y="864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1" name="直接连接符 54291">
              <a:extLst>
                <a:ext uri="{FF2B5EF4-FFF2-40B4-BE49-F238E27FC236}">
                  <a16:creationId xmlns:a16="http://schemas.microsoft.com/office/drawing/2014/main" id="{3223E1F6-A808-4F52-AE9E-896369914D7C}"/>
                </a:ext>
              </a:extLst>
            </p:cNvPr>
            <p:cNvSpPr/>
            <p:nvPr/>
          </p:nvSpPr>
          <p:spPr>
            <a:xfrm>
              <a:off x="3427" y="864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2" name="直接连接符 54292">
              <a:extLst>
                <a:ext uri="{FF2B5EF4-FFF2-40B4-BE49-F238E27FC236}">
                  <a16:creationId xmlns:a16="http://schemas.microsoft.com/office/drawing/2014/main" id="{96323CB0-6D41-4BAB-9DF0-8DC710EB3522}"/>
                </a:ext>
              </a:extLst>
            </p:cNvPr>
            <p:cNvSpPr/>
            <p:nvPr/>
          </p:nvSpPr>
          <p:spPr>
            <a:xfrm flipV="1">
              <a:off x="416" y="480"/>
              <a:ext cx="364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3" name="直接连接符 54293">
              <a:extLst>
                <a:ext uri="{FF2B5EF4-FFF2-40B4-BE49-F238E27FC236}">
                  <a16:creationId xmlns:a16="http://schemas.microsoft.com/office/drawing/2014/main" id="{13E4E431-9D4A-44C4-95EC-78442BCFD8AB}"/>
                </a:ext>
              </a:extLst>
            </p:cNvPr>
            <p:cNvSpPr/>
            <p:nvPr/>
          </p:nvSpPr>
          <p:spPr>
            <a:xfrm>
              <a:off x="416" y="1056"/>
              <a:ext cx="7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4" name="直接连接符 54294">
              <a:extLst>
                <a:ext uri="{FF2B5EF4-FFF2-40B4-BE49-F238E27FC236}">
                  <a16:creationId xmlns:a16="http://schemas.microsoft.com/office/drawing/2014/main" id="{2FBDE640-45F8-4C1C-A807-659C145E68DD}"/>
                </a:ext>
              </a:extLst>
            </p:cNvPr>
            <p:cNvSpPr/>
            <p:nvPr/>
          </p:nvSpPr>
          <p:spPr>
            <a:xfrm>
              <a:off x="2751" y="432"/>
              <a:ext cx="416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5" name="直接连接符 54295">
              <a:extLst>
                <a:ext uri="{FF2B5EF4-FFF2-40B4-BE49-F238E27FC236}">
                  <a16:creationId xmlns:a16="http://schemas.microsoft.com/office/drawing/2014/main" id="{CC8D4535-6547-43F6-BE58-1A7CE830D76A}"/>
                </a:ext>
              </a:extLst>
            </p:cNvPr>
            <p:cNvSpPr/>
            <p:nvPr/>
          </p:nvSpPr>
          <p:spPr>
            <a:xfrm flipH="1">
              <a:off x="2335" y="432"/>
              <a:ext cx="312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6" name="直接连接符 54296">
              <a:extLst>
                <a:ext uri="{FF2B5EF4-FFF2-40B4-BE49-F238E27FC236}">
                  <a16:creationId xmlns:a16="http://schemas.microsoft.com/office/drawing/2014/main" id="{79FEC1E9-1BC0-4021-B87F-28670E224CF5}"/>
                </a:ext>
              </a:extLst>
            </p:cNvPr>
            <p:cNvSpPr/>
            <p:nvPr/>
          </p:nvSpPr>
          <p:spPr>
            <a:xfrm>
              <a:off x="2335" y="1056"/>
              <a:ext cx="7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7" name="直接连接符 54297">
              <a:extLst>
                <a:ext uri="{FF2B5EF4-FFF2-40B4-BE49-F238E27FC236}">
                  <a16:creationId xmlns:a16="http://schemas.microsoft.com/office/drawing/2014/main" id="{519FE707-59D6-446D-94EC-D8458649FA4C}"/>
                </a:ext>
              </a:extLst>
            </p:cNvPr>
            <p:cNvSpPr/>
            <p:nvPr/>
          </p:nvSpPr>
          <p:spPr>
            <a:xfrm flipH="1">
              <a:off x="416" y="432"/>
              <a:ext cx="31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8" name="直接连接符 54298">
              <a:extLst>
                <a:ext uri="{FF2B5EF4-FFF2-40B4-BE49-F238E27FC236}">
                  <a16:creationId xmlns:a16="http://schemas.microsoft.com/office/drawing/2014/main" id="{3E45DBC3-8DE8-491A-888C-DBDFD235909A}"/>
                </a:ext>
              </a:extLst>
            </p:cNvPr>
            <p:cNvSpPr/>
            <p:nvPr/>
          </p:nvSpPr>
          <p:spPr>
            <a:xfrm flipH="1">
              <a:off x="468" y="1008"/>
              <a:ext cx="7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</p:grpSp>
      <p:sp>
        <p:nvSpPr>
          <p:cNvPr id="2" name="文本框 2">
            <a:extLst>
              <a:ext uri="{FF2B5EF4-FFF2-40B4-BE49-F238E27FC236}">
                <a16:creationId xmlns:a16="http://schemas.microsoft.com/office/drawing/2014/main" id="{A23FFEB0-9CB5-CFF5-F4DC-4C943F898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34760312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55298">
            <a:extLst>
              <a:ext uri="{FF2B5EF4-FFF2-40B4-BE49-F238E27FC236}">
                <a16:creationId xmlns:a16="http://schemas.microsoft.com/office/drawing/2014/main" id="{B11C54D0-FAAB-498B-BA11-E6F828C4A285}"/>
              </a:ext>
            </a:extLst>
          </p:cNvPr>
          <p:cNvSpPr txBox="1">
            <a:spLocks/>
          </p:cNvSpPr>
          <p:nvPr/>
        </p:nvSpPr>
        <p:spPr>
          <a:xfrm>
            <a:off x="769058" y="1283677"/>
            <a:ext cx="10157693" cy="4290646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A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说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反对称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(Anti-symmetric),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y(</a:t>
            </a:r>
            <a:r>
              <a:rPr lang="en-US" altLang="x-none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xAyAxRyyRxx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=y)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.</a:t>
            </a:r>
          </a:p>
          <a:p>
            <a:pPr>
              <a:lnSpc>
                <a:spcPct val="145000"/>
              </a:lnSpc>
              <a:buFont typeface="Arial" panose="020B0604020202020204" pitchFamily="34" charset="0"/>
              <a:buNone/>
            </a:pP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反对称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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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y(</a:t>
            </a:r>
            <a:r>
              <a:rPr lang="en-US" altLang="x-none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xAyAxRyyRxxy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)</a:t>
            </a:r>
          </a:p>
          <a:p>
            <a:pPr>
              <a:lnSpc>
                <a:spcPct val="14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性质:  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是反对称的</a:t>
            </a:r>
          </a:p>
          <a:p>
            <a:pPr>
              <a:lnSpc>
                <a:spcPct val="145000"/>
              </a:lnSpc>
              <a:buFont typeface="Symbol" panose="05050102010706020507" pitchFamily="18" charset="2"/>
              <a:buChar char="Û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在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M( R 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中, </a:t>
            </a:r>
            <a:r>
              <a:rPr lang="en-US" altLang="x-none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j(</a:t>
            </a:r>
            <a:r>
              <a:rPr lang="en-US" altLang="x-none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ijr</a:t>
            </a:r>
            <a:r>
              <a:rPr lang="en-US" altLang="x-none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ij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=1r</a:t>
            </a:r>
            <a:r>
              <a:rPr lang="en-US" altLang="x-none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ji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=0)</a:t>
            </a:r>
            <a:b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</a:b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 在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G( R 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中, 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(</a:t>
            </a:r>
            <a:r>
              <a:rPr lang="en-US" altLang="x-none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ij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), 若有有向边&lt;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,</a:t>
            </a:r>
            <a:r>
              <a:rPr lang="en-US" altLang="x-none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j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, 则必没有&lt;</a:t>
            </a:r>
            <a:r>
              <a:rPr lang="en-US" altLang="x-none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,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i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.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2" charset="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291A317-53EC-493E-B78A-607D2E823372}"/>
              </a:ext>
            </a:extLst>
          </p:cNvPr>
          <p:cNvGrpSpPr/>
          <p:nvPr/>
        </p:nvGrpSpPr>
        <p:grpSpPr>
          <a:xfrm>
            <a:off x="7348091" y="3006336"/>
            <a:ext cx="4650941" cy="1605191"/>
            <a:chOff x="0" y="0"/>
            <a:chExt cx="3691" cy="1200"/>
          </a:xfrm>
        </p:grpSpPr>
        <p:sp>
          <p:nvSpPr>
            <p:cNvPr id="6" name="椭圆 55300">
              <a:extLst>
                <a:ext uri="{FF2B5EF4-FFF2-40B4-BE49-F238E27FC236}">
                  <a16:creationId xmlns:a16="http://schemas.microsoft.com/office/drawing/2014/main" id="{88C1CC5D-C31D-486A-A0FB-2753CE3B1721}"/>
                </a:ext>
              </a:extLst>
            </p:cNvPr>
            <p:cNvSpPr/>
            <p:nvPr/>
          </p:nvSpPr>
          <p:spPr>
            <a:xfrm>
              <a:off x="728" y="336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7" name="椭圆 55301">
              <a:extLst>
                <a:ext uri="{FF2B5EF4-FFF2-40B4-BE49-F238E27FC236}">
                  <a16:creationId xmlns:a16="http://schemas.microsoft.com/office/drawing/2014/main" id="{5B75B150-ABDE-4DEE-B2FC-A5BA3BF0BAB2}"/>
                </a:ext>
              </a:extLst>
            </p:cNvPr>
            <p:cNvSpPr/>
            <p:nvPr/>
          </p:nvSpPr>
          <p:spPr>
            <a:xfrm>
              <a:off x="312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8" name="椭圆 55302">
              <a:extLst>
                <a:ext uri="{FF2B5EF4-FFF2-40B4-BE49-F238E27FC236}">
                  <a16:creationId xmlns:a16="http://schemas.microsoft.com/office/drawing/2014/main" id="{A8E78BFC-4276-4037-BCF6-D2D30ACBFCFB}"/>
                </a:ext>
              </a:extLst>
            </p:cNvPr>
            <p:cNvSpPr/>
            <p:nvPr/>
          </p:nvSpPr>
          <p:spPr>
            <a:xfrm>
              <a:off x="1196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9" name="椭圆 55303">
              <a:extLst>
                <a:ext uri="{FF2B5EF4-FFF2-40B4-BE49-F238E27FC236}">
                  <a16:creationId xmlns:a16="http://schemas.microsoft.com/office/drawing/2014/main" id="{183BBC13-ED8C-4739-9C4A-92F8D5D849EB}"/>
                </a:ext>
              </a:extLst>
            </p:cNvPr>
            <p:cNvSpPr/>
            <p:nvPr/>
          </p:nvSpPr>
          <p:spPr>
            <a:xfrm>
              <a:off x="2703" y="336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2585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" name="椭圆 55304">
              <a:extLst>
                <a:ext uri="{FF2B5EF4-FFF2-40B4-BE49-F238E27FC236}">
                  <a16:creationId xmlns:a16="http://schemas.microsoft.com/office/drawing/2014/main" id="{7E713876-13AB-45B0-A4C1-B74930690823}"/>
                </a:ext>
              </a:extLst>
            </p:cNvPr>
            <p:cNvSpPr/>
            <p:nvPr/>
          </p:nvSpPr>
          <p:spPr>
            <a:xfrm>
              <a:off x="2287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1" name="椭圆 55305">
              <a:extLst>
                <a:ext uri="{FF2B5EF4-FFF2-40B4-BE49-F238E27FC236}">
                  <a16:creationId xmlns:a16="http://schemas.microsoft.com/office/drawing/2014/main" id="{B9C27AB7-A69F-443B-A0AF-3275F66A1EA2}"/>
                </a:ext>
              </a:extLst>
            </p:cNvPr>
            <p:cNvSpPr/>
            <p:nvPr/>
          </p:nvSpPr>
          <p:spPr>
            <a:xfrm>
              <a:off x="3171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2" name="椭圆 55306">
              <a:extLst>
                <a:ext uri="{FF2B5EF4-FFF2-40B4-BE49-F238E27FC236}">
                  <a16:creationId xmlns:a16="http://schemas.microsoft.com/office/drawing/2014/main" id="{31BAC6A2-05E8-483F-9485-F2730DF2D17E}"/>
                </a:ext>
              </a:extLst>
            </p:cNvPr>
            <p:cNvSpPr/>
            <p:nvPr/>
          </p:nvSpPr>
          <p:spPr>
            <a:xfrm>
              <a:off x="624" y="0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3" name="直接连接符 55307">
              <a:extLst>
                <a:ext uri="{FF2B5EF4-FFF2-40B4-BE49-F238E27FC236}">
                  <a16:creationId xmlns:a16="http://schemas.microsoft.com/office/drawing/2014/main" id="{D12AF45F-9085-4005-A193-1C7E7516EA59}"/>
                </a:ext>
              </a:extLst>
            </p:cNvPr>
            <p:cNvSpPr/>
            <p:nvPr/>
          </p:nvSpPr>
          <p:spPr>
            <a:xfrm>
              <a:off x="780" y="0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4" name="椭圆 55308">
              <a:extLst>
                <a:ext uri="{FF2B5EF4-FFF2-40B4-BE49-F238E27FC236}">
                  <a16:creationId xmlns:a16="http://schemas.microsoft.com/office/drawing/2014/main" id="{29B906BE-2298-49EB-BCFE-D62EEBF5E5DC}"/>
                </a:ext>
              </a:extLst>
            </p:cNvPr>
            <p:cNvSpPr/>
            <p:nvPr/>
          </p:nvSpPr>
          <p:spPr>
            <a:xfrm>
              <a:off x="0" y="864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5" name="直接连接符 55309">
              <a:extLst>
                <a:ext uri="{FF2B5EF4-FFF2-40B4-BE49-F238E27FC236}">
                  <a16:creationId xmlns:a16="http://schemas.microsoft.com/office/drawing/2014/main" id="{73327FF9-8909-41FA-9E85-30D3B31FDA67}"/>
                </a:ext>
              </a:extLst>
            </p:cNvPr>
            <p:cNvSpPr/>
            <p:nvPr/>
          </p:nvSpPr>
          <p:spPr>
            <a:xfrm>
              <a:off x="156" y="864"/>
              <a:ext cx="0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6" name="椭圆 55310">
              <a:extLst>
                <a:ext uri="{FF2B5EF4-FFF2-40B4-BE49-F238E27FC236}">
                  <a16:creationId xmlns:a16="http://schemas.microsoft.com/office/drawing/2014/main" id="{204D904B-564C-4000-A096-AE223E39EBBE}"/>
                </a:ext>
              </a:extLst>
            </p:cNvPr>
            <p:cNvSpPr/>
            <p:nvPr/>
          </p:nvSpPr>
          <p:spPr>
            <a:xfrm>
              <a:off x="1352" y="864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7" name="直接连接符 55311">
              <a:extLst>
                <a:ext uri="{FF2B5EF4-FFF2-40B4-BE49-F238E27FC236}">
                  <a16:creationId xmlns:a16="http://schemas.microsoft.com/office/drawing/2014/main" id="{FC014BF1-15CE-4372-BFD4-CC71745B206C}"/>
                </a:ext>
              </a:extLst>
            </p:cNvPr>
            <p:cNvSpPr/>
            <p:nvPr/>
          </p:nvSpPr>
          <p:spPr>
            <a:xfrm>
              <a:off x="1508" y="864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8" name="椭圆 55312">
              <a:extLst>
                <a:ext uri="{FF2B5EF4-FFF2-40B4-BE49-F238E27FC236}">
                  <a16:creationId xmlns:a16="http://schemas.microsoft.com/office/drawing/2014/main" id="{24D99BCB-77E7-4F39-85C2-3A6554067DA7}"/>
                </a:ext>
              </a:extLst>
            </p:cNvPr>
            <p:cNvSpPr/>
            <p:nvPr/>
          </p:nvSpPr>
          <p:spPr>
            <a:xfrm>
              <a:off x="2599" y="0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9" name="直接连接符 55313">
              <a:extLst>
                <a:ext uri="{FF2B5EF4-FFF2-40B4-BE49-F238E27FC236}">
                  <a16:creationId xmlns:a16="http://schemas.microsoft.com/office/drawing/2014/main" id="{8C4FE79C-C5F7-4D74-8802-653DC8EEC50C}"/>
                </a:ext>
              </a:extLst>
            </p:cNvPr>
            <p:cNvSpPr/>
            <p:nvPr/>
          </p:nvSpPr>
          <p:spPr>
            <a:xfrm>
              <a:off x="2755" y="0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0" name="椭圆 55314">
              <a:extLst>
                <a:ext uri="{FF2B5EF4-FFF2-40B4-BE49-F238E27FC236}">
                  <a16:creationId xmlns:a16="http://schemas.microsoft.com/office/drawing/2014/main" id="{833095A4-D71C-4B0E-B48D-95132B424D3A}"/>
                </a:ext>
              </a:extLst>
            </p:cNvPr>
            <p:cNvSpPr/>
            <p:nvPr/>
          </p:nvSpPr>
          <p:spPr>
            <a:xfrm>
              <a:off x="3327" y="864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1" name="直接连接符 55315">
              <a:extLst>
                <a:ext uri="{FF2B5EF4-FFF2-40B4-BE49-F238E27FC236}">
                  <a16:creationId xmlns:a16="http://schemas.microsoft.com/office/drawing/2014/main" id="{4A845868-AE24-406E-9366-AE53A4648021}"/>
                </a:ext>
              </a:extLst>
            </p:cNvPr>
            <p:cNvSpPr/>
            <p:nvPr/>
          </p:nvSpPr>
          <p:spPr>
            <a:xfrm>
              <a:off x="3483" y="864"/>
              <a:ext cx="0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2" name="直接连接符 55316">
              <a:extLst>
                <a:ext uri="{FF2B5EF4-FFF2-40B4-BE49-F238E27FC236}">
                  <a16:creationId xmlns:a16="http://schemas.microsoft.com/office/drawing/2014/main" id="{4A956135-F2DE-4960-AD0E-4A227FC23141}"/>
                </a:ext>
              </a:extLst>
            </p:cNvPr>
            <p:cNvSpPr/>
            <p:nvPr/>
          </p:nvSpPr>
          <p:spPr>
            <a:xfrm>
              <a:off x="2807" y="432"/>
              <a:ext cx="416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3" name="直接连接符 55317">
              <a:extLst>
                <a:ext uri="{FF2B5EF4-FFF2-40B4-BE49-F238E27FC236}">
                  <a16:creationId xmlns:a16="http://schemas.microsoft.com/office/drawing/2014/main" id="{43870B01-7C94-4375-ABD4-1CB993F6E03C}"/>
                </a:ext>
              </a:extLst>
            </p:cNvPr>
            <p:cNvSpPr/>
            <p:nvPr/>
          </p:nvSpPr>
          <p:spPr>
            <a:xfrm flipH="1">
              <a:off x="2391" y="432"/>
              <a:ext cx="312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4" name="直接连接符 55318">
              <a:extLst>
                <a:ext uri="{FF2B5EF4-FFF2-40B4-BE49-F238E27FC236}">
                  <a16:creationId xmlns:a16="http://schemas.microsoft.com/office/drawing/2014/main" id="{9077D7E2-7E70-446E-88F8-6B429F3D5542}"/>
                </a:ext>
              </a:extLst>
            </p:cNvPr>
            <p:cNvSpPr/>
            <p:nvPr/>
          </p:nvSpPr>
          <p:spPr>
            <a:xfrm flipH="1">
              <a:off x="416" y="432"/>
              <a:ext cx="31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5" name="直接连接符 55319">
              <a:extLst>
                <a:ext uri="{FF2B5EF4-FFF2-40B4-BE49-F238E27FC236}">
                  <a16:creationId xmlns:a16="http://schemas.microsoft.com/office/drawing/2014/main" id="{2A20AD96-44BF-4367-9625-9BD049AB4B52}"/>
                </a:ext>
              </a:extLst>
            </p:cNvPr>
            <p:cNvSpPr/>
            <p:nvPr/>
          </p:nvSpPr>
          <p:spPr>
            <a:xfrm flipH="1">
              <a:off x="468" y="1008"/>
              <a:ext cx="780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6" name="直接连接符 55320">
              <a:extLst>
                <a:ext uri="{FF2B5EF4-FFF2-40B4-BE49-F238E27FC236}">
                  <a16:creationId xmlns:a16="http://schemas.microsoft.com/office/drawing/2014/main" id="{D16EF231-C58F-460A-82FA-F6685DD484E8}"/>
                </a:ext>
              </a:extLst>
            </p:cNvPr>
            <p:cNvSpPr/>
            <p:nvPr/>
          </p:nvSpPr>
          <p:spPr>
            <a:xfrm flipH="1" flipV="1">
              <a:off x="2859" y="432"/>
              <a:ext cx="416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</p:grpSp>
      <p:sp>
        <p:nvSpPr>
          <p:cNvPr id="2" name="文本框 2">
            <a:extLst>
              <a:ext uri="{FF2B5EF4-FFF2-40B4-BE49-F238E27FC236}">
                <a16:creationId xmlns:a16="http://schemas.microsoft.com/office/drawing/2014/main" id="{CA6BD2BE-284D-CD93-1206-B22C4A46C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14909709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57346">
            <a:extLst>
              <a:ext uri="{FF2B5EF4-FFF2-40B4-BE49-F238E27FC236}">
                <a16:creationId xmlns:a16="http://schemas.microsoft.com/office/drawing/2014/main" id="{91CE29C3-3ECA-440C-8777-EEE869CEE8A9}"/>
              </a:ext>
            </a:extLst>
          </p:cNvPr>
          <p:cNvSpPr txBox="1">
            <a:spLocks/>
          </p:cNvSpPr>
          <p:nvPr/>
        </p:nvSpPr>
        <p:spPr>
          <a:xfrm>
            <a:off x="592057" y="1455738"/>
            <a:ext cx="11321457" cy="4360985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A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A, 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说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传递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(Transitive), 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如果</a:t>
            </a:r>
          </a:p>
          <a:p>
            <a:pPr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y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z(</a:t>
            </a:r>
            <a:r>
              <a:rPr lang="en-US" altLang="x-none" dirty="0" err="1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xAyAzAxRyyRzxRz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).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传递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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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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z(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xAyAzAxRyyRz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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xRz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性质:  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是传递的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pPr>
              <a:lnSpc>
                <a:spcPct val="120000"/>
              </a:lnSpc>
              <a:buFont typeface="Symbol" panose="05050102010706020507" pitchFamily="18" charset="2"/>
              <a:buChar char="Û"/>
            </a:pP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在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G( R )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中, 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, 若有有向边&lt;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,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j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,&lt;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,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k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&gt;,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则必有有向边&lt;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,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k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.  </a:t>
            </a:r>
            <a:endParaRPr lang="en-US" altLang="zh-CN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pPr>
              <a:lnSpc>
                <a:spcPct val="120000"/>
              </a:lnSpc>
              <a:buFont typeface="Symbol" panose="05050102010706020507" pitchFamily="18" charset="2"/>
              <a:buChar char="Û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 R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endParaRPr lang="en-US" altLang="x-none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Symbol" panose="05050102010706020507" pitchFamily="2" charset="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3236ACE3-744D-754C-59F7-70CC52524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4207677007"/>
      </p:ext>
    </p:extLst>
  </p:cSld>
  <p:clrMapOvr>
    <a:masterClrMapping/>
  </p:clrMapOvr>
  <p:transition spd="slow" advTm="0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4068A64-422E-4B4D-9D48-273A067FE187}"/>
              </a:ext>
            </a:extLst>
          </p:cNvPr>
          <p:cNvSpPr/>
          <p:nvPr/>
        </p:nvSpPr>
        <p:spPr>
          <a:xfrm>
            <a:off x="1786882" y="2570151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恒等关系</a:t>
            </a:r>
            <a:endParaRPr lang="zh-CN" altLang="en-US" sz="28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38209A-FF82-4160-9BDF-BF294649A2CB}"/>
              </a:ext>
            </a:extLst>
          </p:cNvPr>
          <p:cNvSpPr/>
          <p:nvPr/>
        </p:nvSpPr>
        <p:spPr>
          <a:xfrm>
            <a:off x="4037541" y="2570151"/>
            <a:ext cx="55707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自反的、对称的、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反对称的、</a:t>
            </a:r>
            <a:r>
              <a:rPr lang="zh-CN" altLang="en-US" sz="2800" dirty="0">
                <a:latin typeface="宋体" panose="02010600030101010101" pitchFamily="2" charset="-122"/>
              </a:rPr>
              <a:t>传递</a:t>
            </a:r>
            <a:endParaRPr lang="zh-CN" altLang="en-US" sz="28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5EEAF8-4F94-4882-9001-60BEEEB24090}"/>
              </a:ext>
            </a:extLst>
          </p:cNvPr>
          <p:cNvSpPr/>
          <p:nvPr/>
        </p:nvSpPr>
        <p:spPr>
          <a:xfrm>
            <a:off x="1786881" y="186077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普遍关系</a:t>
            </a:r>
            <a:endParaRPr lang="zh-CN" altLang="en-US" sz="28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A4B67B-29F3-4CCF-98D6-126A781B9439}"/>
              </a:ext>
            </a:extLst>
          </p:cNvPr>
          <p:cNvSpPr/>
          <p:nvPr/>
        </p:nvSpPr>
        <p:spPr>
          <a:xfrm>
            <a:off x="4028767" y="1860779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自反的、对称的、传递的</a:t>
            </a:r>
            <a:endParaRPr lang="zh-CN" altLang="en-US" sz="28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C10D40-5821-4BE0-9123-E21D91D27415}"/>
              </a:ext>
            </a:extLst>
          </p:cNvPr>
          <p:cNvSpPr/>
          <p:nvPr/>
        </p:nvSpPr>
        <p:spPr>
          <a:xfrm>
            <a:off x="1786881" y="3279523"/>
            <a:ext cx="15568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空关系</a:t>
            </a:r>
            <a:r>
              <a:rPr lang="zh-CN" altLang="en-US" sz="2800" dirty="0">
                <a:sym typeface="Symbol" panose="05050102010706020507" pitchFamily="18" charset="2"/>
              </a:rPr>
              <a:t></a:t>
            </a:r>
            <a:endParaRPr lang="zh-CN" altLang="en-US" sz="28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94A7C9-314B-4D07-BA21-48B9EE86C324}"/>
              </a:ext>
            </a:extLst>
          </p:cNvPr>
          <p:cNvSpPr/>
          <p:nvPr/>
        </p:nvSpPr>
        <p:spPr>
          <a:xfrm>
            <a:off x="3947856" y="3279523"/>
            <a:ext cx="75456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自反的</a:t>
            </a:r>
            <a:r>
              <a:rPr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  <a:t>\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反自反的、对称的、反对称的、传递的</a:t>
            </a:r>
            <a:endParaRPr lang="zh-CN" altLang="en-US" sz="2800" dirty="0"/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6905228D-BAD0-534F-39F6-F19C722A2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18243585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6" grpId="0"/>
      <p:bldP spid="7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占位符 62466">
            <a:extLst>
              <a:ext uri="{FF2B5EF4-FFF2-40B4-BE49-F238E27FC236}">
                <a16:creationId xmlns:a16="http://schemas.microsoft.com/office/drawing/2014/main" id="{5F52B100-F0EF-4509-A70C-68046D059587}"/>
              </a:ext>
            </a:extLst>
          </p:cNvPr>
          <p:cNvSpPr txBox="1">
            <a:spLocks/>
          </p:cNvSpPr>
          <p:nvPr/>
        </p:nvSpPr>
        <p:spPr>
          <a:xfrm>
            <a:off x="1571625" y="919336"/>
            <a:ext cx="8510954" cy="4431323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/>
              <a:t>	设</a:t>
            </a:r>
            <a:r>
              <a:rPr lang="en-US" altLang="x-none"/>
              <a:t>R</a:t>
            </a:r>
            <a:r>
              <a:rPr lang="en-US" altLang="x-none" baseline="-25000"/>
              <a:t>1</a:t>
            </a:r>
            <a:r>
              <a:rPr lang="en-US" altLang="x-none"/>
              <a:t>,R</a:t>
            </a:r>
            <a:r>
              <a:rPr lang="en-US" altLang="x-none" baseline="-25000"/>
              <a:t>2</a:t>
            </a:r>
            <a:r>
              <a:rPr lang="en-US" altLang="x-none">
                <a:sym typeface="Symbol" panose="05050102010706020507" pitchFamily="2" charset="2"/>
              </a:rPr>
              <a:t>AA</a:t>
            </a:r>
            <a:r>
              <a:rPr lang="zh-CN" altLang="en-US">
                <a:sym typeface="Symbol" panose="05050102010706020507" pitchFamily="2" charset="2"/>
              </a:rPr>
              <a:t>都具有某种性质</a:t>
            </a:r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7250287-FF2D-4B68-B432-1A9769FDFEB2}"/>
              </a:ext>
            </a:extLst>
          </p:cNvPr>
          <p:cNvGraphicFramePr/>
          <p:nvPr/>
        </p:nvGraphicFramePr>
        <p:xfrm>
          <a:off x="1887374" y="1824175"/>
          <a:ext cx="7577455" cy="3953510"/>
        </p:xfrm>
        <a:graphic>
          <a:graphicData uri="http://schemas.openxmlformats.org/drawingml/2006/table">
            <a:tbl>
              <a:tblPr/>
              <a:tblGrid>
                <a:gridCol w="2376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3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09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673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 dirty="0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15">
                          <a:sym typeface="Symbol" panose="05050102010706020507" pitchFamily="2" charset="2"/>
                        </a:rPr>
                        <a:t>自反</a:t>
                      </a: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15"/>
                        <a:t>反自反</a:t>
                      </a: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15"/>
                        <a:t>对称</a:t>
                      </a: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15"/>
                        <a:t>反对称</a:t>
                      </a: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15"/>
                        <a:t>传递</a:t>
                      </a: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24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r>
                        <a:rPr lang="en-US" altLang="x-none" sz="2215" baseline="30000" dirty="0"/>
                        <a:t>-1</a:t>
                      </a:r>
                      <a:r>
                        <a:rPr lang="en-US" altLang="x-none" sz="2215" dirty="0"/>
                        <a:t>,</a:t>
                      </a:r>
                      <a:r>
                        <a:rPr lang="en-US" altLang="x-none" sz="2215" baseline="30000" dirty="0"/>
                        <a:t> 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2</a:t>
                      </a:r>
                      <a:r>
                        <a:rPr lang="en-US" altLang="x-none" sz="2215" baseline="30000" dirty="0"/>
                        <a:t>-1</a:t>
                      </a:r>
                      <a:endParaRPr lang="zh-CN" altLang="en-US" sz="2215" baseline="30000" dirty="0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 dirty="0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 baseline="-2500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61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r>
                        <a:rPr lang="zh-CN" altLang="en-US" sz="2215" dirty="0">
                          <a:sym typeface="Symbol" panose="05050102010706020507" pitchFamily="2" charset="2"/>
                        </a:rPr>
                        <a:t></a:t>
                      </a:r>
                      <a:r>
                        <a:rPr lang="en-US" altLang="x-none" sz="2215" dirty="0">
                          <a:sym typeface="Symbol" panose="05050102010706020507" pitchFamily="2" charset="2"/>
                        </a:rPr>
                        <a:t>R</a:t>
                      </a:r>
                      <a:r>
                        <a:rPr lang="en-US" altLang="x-none" sz="2215" baseline="-25000" dirty="0">
                          <a:sym typeface="Symbol" panose="05050102010706020507" pitchFamily="2" charset="2"/>
                        </a:rPr>
                        <a:t>2</a:t>
                      </a:r>
                      <a:endParaRPr lang="zh-CN" altLang="en-US" sz="2215" baseline="-25000" dirty="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 dirty="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61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r>
                        <a:rPr lang="en-US" altLang="x-none" sz="2215" dirty="0">
                          <a:sym typeface="Symbol" panose="05050102010706020507" pitchFamily="2" charset="2"/>
                        </a:rPr>
                        <a:t>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2</a:t>
                      </a:r>
                      <a:endParaRPr lang="zh-CN" altLang="en-US" sz="2215" baseline="-25000" dirty="0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 baseline="-2500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 baseline="-2500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61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r>
                        <a:rPr lang="en-US" altLang="x-none" sz="2215" dirty="0">
                          <a:ea typeface="Arial" panose="020B0604020202020204" pitchFamily="34" charset="0"/>
                          <a:sym typeface="Symbol" panose="05050102010706020507" pitchFamily="2" charset="2"/>
                        </a:rPr>
                        <a:t>o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2 </a:t>
                      </a:r>
                      <a:r>
                        <a:rPr lang="en-US" altLang="x-none" sz="2215" dirty="0"/>
                        <a:t>,</a:t>
                      </a:r>
                      <a:r>
                        <a:rPr lang="en-US" altLang="x-none" sz="2215" baseline="-25000" dirty="0"/>
                        <a:t> 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2</a:t>
                      </a:r>
                      <a:r>
                        <a:rPr lang="en-US" altLang="x-none" sz="2215" dirty="0">
                          <a:ea typeface="Arial" panose="020B0604020202020204" pitchFamily="34" charset="0"/>
                          <a:sym typeface="Symbol" panose="05050102010706020507" pitchFamily="2" charset="2"/>
                        </a:rPr>
                        <a:t>o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endParaRPr lang="zh-CN" altLang="en-US" sz="2215" baseline="-25000" dirty="0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 baseline="-25000" dirty="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 dirty="0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61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r>
                        <a:rPr lang="en-US" altLang="x-none" sz="2215" dirty="0">
                          <a:ea typeface="Arial" panose="020B0604020202020204" pitchFamily="34" charset="0"/>
                          <a:sym typeface="Symbol" panose="05050102010706020507" pitchFamily="2" charset="2"/>
                        </a:rPr>
                        <a:t>-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2 </a:t>
                      </a:r>
                      <a:r>
                        <a:rPr lang="en-US" altLang="x-none" sz="2215" dirty="0"/>
                        <a:t>,</a:t>
                      </a:r>
                      <a:r>
                        <a:rPr lang="en-US" altLang="x-none" sz="2215" baseline="-25000" dirty="0"/>
                        <a:t> 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2</a:t>
                      </a:r>
                      <a:r>
                        <a:rPr lang="en-US" altLang="x-none" sz="2215" dirty="0">
                          <a:ea typeface="Arial" panose="020B0604020202020204" pitchFamily="34" charset="0"/>
                          <a:sym typeface="Symbol" panose="05050102010706020507" pitchFamily="2" charset="2"/>
                        </a:rPr>
                        <a:t>-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endParaRPr lang="zh-CN" altLang="en-US" sz="2215" baseline="-25000" dirty="0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 baseline="-2500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09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r>
                        <a:rPr lang="en-US" altLang="x-none" sz="2585" dirty="0"/>
                        <a:t>’</a:t>
                      </a:r>
                      <a:r>
                        <a:rPr lang="en-US" altLang="x-none" sz="2215" dirty="0"/>
                        <a:t>, R</a:t>
                      </a:r>
                      <a:r>
                        <a:rPr lang="en-US" altLang="x-none" sz="2215" baseline="-25000" dirty="0"/>
                        <a:t>2</a:t>
                      </a:r>
                      <a:r>
                        <a:rPr lang="en-US" altLang="x-none" sz="2585" dirty="0"/>
                        <a:t>’</a:t>
                      </a:r>
                      <a:endParaRPr lang="zh-CN" altLang="en-US" sz="2585" dirty="0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 baseline="-2500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 dirty="0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文本框 2">
            <a:extLst>
              <a:ext uri="{FF2B5EF4-FFF2-40B4-BE49-F238E27FC236}">
                <a16:creationId xmlns:a16="http://schemas.microsoft.com/office/drawing/2014/main" id="{31486292-621C-9183-F95D-1250DEB60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1168244477"/>
      </p:ext>
    </p:extLst>
  </p:cSld>
  <p:clrMapOvr>
    <a:masterClrMapping/>
  </p:clrMapOvr>
  <p:transition spd="slow" advTm="0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占位符 63490">
            <a:extLst>
              <a:ext uri="{FF2B5EF4-FFF2-40B4-BE49-F238E27FC236}">
                <a16:creationId xmlns:a16="http://schemas.microsoft.com/office/drawing/2014/main" id="{6892681D-CA1E-4C62-B7CA-0B691A5EB6E2}"/>
              </a:ext>
            </a:extLst>
          </p:cNvPr>
          <p:cNvSpPr txBox="1">
            <a:spLocks/>
          </p:cNvSpPr>
          <p:nvPr/>
        </p:nvSpPr>
        <p:spPr>
          <a:xfrm>
            <a:off x="1571625" y="1154132"/>
            <a:ext cx="8510954" cy="4431323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215" dirty="0">
                <a:latin typeface="Microsoft YaHei" panose="020B0503020204020204" charset="-122"/>
                <a:ea typeface="Microsoft YaHei" panose="020B0503020204020204" charset="-122"/>
              </a:rPr>
              <a:t>	</a:t>
            </a:r>
            <a:r>
              <a:rPr lang="zh-CN" altLang="en-US" dirty="0">
                <a:latin typeface="+mn-ea"/>
              </a:rPr>
              <a:t>设</a:t>
            </a:r>
            <a:r>
              <a:rPr lang="en-US" altLang="x-none" dirty="0">
                <a:latin typeface="+mn-ea"/>
              </a:rPr>
              <a:t>R</a:t>
            </a:r>
            <a:r>
              <a:rPr lang="en-US" altLang="x-none" baseline="-25000" dirty="0">
                <a:latin typeface="+mn-ea"/>
              </a:rPr>
              <a:t>1</a:t>
            </a:r>
            <a:r>
              <a:rPr lang="en-US" altLang="x-none" dirty="0">
                <a:latin typeface="+mn-ea"/>
              </a:rPr>
              <a:t>,R</a:t>
            </a:r>
            <a:r>
              <a:rPr lang="en-US" altLang="x-none" baseline="-25000" dirty="0">
                <a:latin typeface="+mn-ea"/>
              </a:rPr>
              <a:t>2</a:t>
            </a:r>
            <a:r>
              <a:rPr lang="en-US" altLang="x-none" dirty="0">
                <a:latin typeface="+mn-ea"/>
                <a:sym typeface="Symbol" panose="05050102010706020507" pitchFamily="2" charset="2"/>
              </a:rPr>
              <a:t>AA</a:t>
            </a:r>
            <a:r>
              <a:rPr lang="zh-CN" altLang="en-US" dirty="0">
                <a:latin typeface="+mn-ea"/>
                <a:sym typeface="Symbol" panose="05050102010706020507" pitchFamily="2" charset="2"/>
              </a:rPr>
              <a:t>都具有某种性质</a:t>
            </a:r>
            <a:endParaRPr lang="zh-CN" altLang="en-US" dirty="0">
              <a:latin typeface="+mn-ea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D6C0341-D58A-4A87-BB43-4FB76C35A922}"/>
              </a:ext>
            </a:extLst>
          </p:cNvPr>
          <p:cNvGraphicFramePr/>
          <p:nvPr/>
        </p:nvGraphicFramePr>
        <p:xfrm>
          <a:off x="2038155" y="1864409"/>
          <a:ext cx="7577455" cy="3953510"/>
        </p:xfrm>
        <a:graphic>
          <a:graphicData uri="http://schemas.openxmlformats.org/drawingml/2006/table">
            <a:tbl>
              <a:tblPr/>
              <a:tblGrid>
                <a:gridCol w="2376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3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09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673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15">
                          <a:sym typeface="Symbol" panose="05050102010706020507" pitchFamily="2" charset="2"/>
                        </a:rPr>
                        <a:t>自反</a:t>
                      </a: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15"/>
                        <a:t>反自反</a:t>
                      </a: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15"/>
                        <a:t>对称</a:t>
                      </a: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15"/>
                        <a:t>反对称</a:t>
                      </a: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15"/>
                        <a:t>传递</a:t>
                      </a: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24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r>
                        <a:rPr lang="en-US" altLang="x-none" sz="2215" baseline="30000" dirty="0"/>
                        <a:t>-1</a:t>
                      </a:r>
                      <a:r>
                        <a:rPr lang="en-US" altLang="x-none" sz="2215" dirty="0"/>
                        <a:t>,</a:t>
                      </a:r>
                      <a:r>
                        <a:rPr lang="en-US" altLang="x-none" sz="2215" baseline="30000" dirty="0"/>
                        <a:t> 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2</a:t>
                      </a:r>
                      <a:r>
                        <a:rPr lang="en-US" altLang="x-none" sz="2215" baseline="30000" dirty="0"/>
                        <a:t>-1</a:t>
                      </a:r>
                      <a:endParaRPr lang="zh-CN" altLang="en-US" sz="2215" baseline="30000" dirty="0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 baseline="-2500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61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r>
                        <a:rPr lang="zh-CN" altLang="en-US" sz="2215" dirty="0">
                          <a:sym typeface="Symbol" panose="05050102010706020507" pitchFamily="2" charset="2"/>
                        </a:rPr>
                        <a:t></a:t>
                      </a:r>
                      <a:r>
                        <a:rPr lang="en-US" altLang="x-none" sz="2215" dirty="0">
                          <a:sym typeface="Symbol" panose="05050102010706020507" pitchFamily="2" charset="2"/>
                        </a:rPr>
                        <a:t>R</a:t>
                      </a:r>
                      <a:r>
                        <a:rPr lang="en-US" altLang="x-none" sz="2215" baseline="-25000" dirty="0">
                          <a:sym typeface="Symbol" panose="05050102010706020507" pitchFamily="2" charset="2"/>
                        </a:rPr>
                        <a:t>2</a:t>
                      </a:r>
                      <a:endParaRPr lang="zh-CN" altLang="en-US" sz="2215" baseline="-25000" dirty="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61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r>
                        <a:rPr lang="en-US" altLang="x-none" sz="2215" dirty="0">
                          <a:sym typeface="Symbol" panose="05050102010706020507" pitchFamily="2" charset="2"/>
                        </a:rPr>
                        <a:t>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2</a:t>
                      </a:r>
                      <a:endParaRPr lang="zh-CN" altLang="en-US" sz="2215" baseline="-25000" dirty="0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 baseline="-2500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 baseline="-2500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61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r>
                        <a:rPr lang="en-US" altLang="x-none" sz="2215" dirty="0">
                          <a:ea typeface="Arial" panose="020B0604020202020204" pitchFamily="34" charset="0"/>
                          <a:sym typeface="Symbol" panose="05050102010706020507" pitchFamily="2" charset="2"/>
                        </a:rPr>
                        <a:t>o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2 </a:t>
                      </a:r>
                      <a:r>
                        <a:rPr lang="en-US" altLang="x-none" sz="2215" dirty="0"/>
                        <a:t>,</a:t>
                      </a:r>
                      <a:r>
                        <a:rPr lang="en-US" altLang="x-none" sz="2215" baseline="-25000" dirty="0"/>
                        <a:t> 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2</a:t>
                      </a:r>
                      <a:r>
                        <a:rPr lang="en-US" altLang="x-none" sz="2215" dirty="0">
                          <a:ea typeface="Arial" panose="020B0604020202020204" pitchFamily="34" charset="0"/>
                          <a:sym typeface="Symbol" panose="05050102010706020507" pitchFamily="2" charset="2"/>
                        </a:rPr>
                        <a:t>o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endParaRPr lang="zh-CN" altLang="en-US" sz="2215" baseline="-25000" dirty="0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 baseline="-2500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61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r>
                        <a:rPr lang="en-US" altLang="x-none" sz="2215" dirty="0">
                          <a:ea typeface="Arial" panose="020B0604020202020204" pitchFamily="34" charset="0"/>
                          <a:sym typeface="Symbol" panose="05050102010706020507" pitchFamily="2" charset="2"/>
                        </a:rPr>
                        <a:t>-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2 </a:t>
                      </a:r>
                      <a:r>
                        <a:rPr lang="en-US" altLang="x-none" sz="2215" dirty="0"/>
                        <a:t>,</a:t>
                      </a:r>
                      <a:r>
                        <a:rPr lang="en-US" altLang="x-none" sz="2215" baseline="-25000" dirty="0"/>
                        <a:t> 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2</a:t>
                      </a:r>
                      <a:r>
                        <a:rPr lang="en-US" altLang="x-none" sz="2215" dirty="0">
                          <a:ea typeface="Arial" panose="020B0604020202020204" pitchFamily="34" charset="0"/>
                          <a:sym typeface="Symbol" panose="05050102010706020507" pitchFamily="2" charset="2"/>
                        </a:rPr>
                        <a:t>-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endParaRPr lang="zh-CN" altLang="en-US" sz="2215" baseline="-25000" dirty="0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 baseline="-2500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09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r>
                        <a:rPr lang="en-US" altLang="x-none" sz="2585" dirty="0"/>
                        <a:t>’</a:t>
                      </a:r>
                      <a:r>
                        <a:rPr lang="en-US" altLang="x-none" sz="2215" dirty="0"/>
                        <a:t>, R</a:t>
                      </a:r>
                      <a:r>
                        <a:rPr lang="en-US" altLang="x-none" sz="2215" baseline="-25000" dirty="0"/>
                        <a:t>2</a:t>
                      </a:r>
                      <a:r>
                        <a:rPr lang="en-US" altLang="x-none" sz="2585" dirty="0"/>
                        <a:t>’</a:t>
                      </a:r>
                      <a:endParaRPr lang="zh-CN" altLang="en-US" sz="2585" dirty="0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 baseline="-2500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 dirty="0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文本框 2">
            <a:extLst>
              <a:ext uri="{FF2B5EF4-FFF2-40B4-BE49-F238E27FC236}">
                <a16:creationId xmlns:a16="http://schemas.microsoft.com/office/drawing/2014/main" id="{FBAA635B-DBD9-FC3B-126B-E15AC0EBE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3529248098"/>
      </p:ext>
    </p:extLst>
  </p:cSld>
  <p:clrMapOvr>
    <a:masterClrMapping/>
  </p:clrMapOvr>
  <p:transition spd="slow" advTm="0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69634">
            <a:extLst>
              <a:ext uri="{FF2B5EF4-FFF2-40B4-BE49-F238E27FC236}">
                <a16:creationId xmlns:a16="http://schemas.microsoft.com/office/drawing/2014/main" id="{29CE20D9-00A3-48E6-AB55-F50ECAB61C5A}"/>
              </a:ext>
            </a:extLst>
          </p:cNvPr>
          <p:cNvSpPr txBox="1">
            <a:spLocks/>
          </p:cNvSpPr>
          <p:nvPr/>
        </p:nvSpPr>
        <p:spPr>
          <a:xfrm>
            <a:off x="1383638" y="1403472"/>
            <a:ext cx="9713854" cy="1598735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CC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闭包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x-none" dirty="0">
                <a:latin typeface="等线" panose="02010600030101010101" pitchFamily="2" charset="-122"/>
                <a:ea typeface="等线" panose="02010600030101010101" pitchFamily="2" charset="-122"/>
              </a:rPr>
              <a:t>closure):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包含一些给定对象, 具有指定性质的</a:t>
            </a:r>
            <a:r>
              <a:rPr lang="zh-CN" altLang="en-US" dirty="0">
                <a:solidFill>
                  <a:srgbClr val="0033C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最小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集合</a:t>
            </a:r>
          </a:p>
          <a:p>
            <a:pPr>
              <a:lnSpc>
                <a:spcPct val="10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“</a:t>
            </a:r>
            <a:r>
              <a:rPr lang="zh-CN" altLang="en-US" dirty="0">
                <a:solidFill>
                  <a:srgbClr val="0033C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最小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”:  任何包含同样对象, 具有同样性质的集合, 都包含这个闭包集合</a:t>
            </a:r>
          </a:p>
          <a:p>
            <a:pPr>
              <a:lnSpc>
                <a:spcPct val="105000"/>
              </a:lnSpc>
              <a:buFont typeface="Arial" panose="020B0604020202020204" pitchFamily="34" charset="0"/>
              <a:buNone/>
            </a:pP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0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示例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正五边形 69635">
            <a:extLst>
              <a:ext uri="{FF2B5EF4-FFF2-40B4-BE49-F238E27FC236}">
                <a16:creationId xmlns:a16="http://schemas.microsoft.com/office/drawing/2014/main" id="{C4C85D4A-4B97-4CCA-A206-5C3A88F836E7}"/>
              </a:ext>
            </a:extLst>
          </p:cNvPr>
          <p:cNvSpPr/>
          <p:nvPr/>
        </p:nvSpPr>
        <p:spPr>
          <a:xfrm>
            <a:off x="6971226" y="3771485"/>
            <a:ext cx="2321169" cy="1406769"/>
          </a:xfrm>
          <a:prstGeom prst="pentagon">
            <a:avLst/>
          </a:prstGeom>
          <a:solidFill>
            <a:srgbClr val="00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F23A1D1-9D3D-45DA-9B7B-5A02E75A900A}"/>
              </a:ext>
            </a:extLst>
          </p:cNvPr>
          <p:cNvSpPr/>
          <p:nvPr/>
        </p:nvSpPr>
        <p:spPr>
          <a:xfrm>
            <a:off x="8026303" y="3759762"/>
            <a:ext cx="140677" cy="140677"/>
          </a:xfrm>
          <a:prstGeom prst="ellipse">
            <a:avLst/>
          </a:prstGeom>
          <a:solidFill>
            <a:srgbClr val="009900"/>
          </a:solidFill>
          <a:ln w="9525" cap="flat" cmpd="sng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E04D6E1-2667-45F5-B52E-6E0B679A6119}"/>
              </a:ext>
            </a:extLst>
          </p:cNvPr>
          <p:cNvSpPr/>
          <p:nvPr/>
        </p:nvSpPr>
        <p:spPr>
          <a:xfrm>
            <a:off x="9141460" y="4263854"/>
            <a:ext cx="140677" cy="140677"/>
          </a:xfrm>
          <a:prstGeom prst="ellipse">
            <a:avLst/>
          </a:prstGeom>
          <a:solidFill>
            <a:srgbClr val="009900"/>
          </a:solidFill>
          <a:ln w="9525" cap="flat" cmpd="sng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D91B502-F9ED-4038-84B2-BB73F438CDFA}"/>
              </a:ext>
            </a:extLst>
          </p:cNvPr>
          <p:cNvSpPr/>
          <p:nvPr/>
        </p:nvSpPr>
        <p:spPr>
          <a:xfrm>
            <a:off x="6971226" y="4263854"/>
            <a:ext cx="140677" cy="140677"/>
          </a:xfrm>
          <a:prstGeom prst="ellipse">
            <a:avLst/>
          </a:prstGeom>
          <a:solidFill>
            <a:srgbClr val="009900"/>
          </a:solidFill>
          <a:ln w="9525" cap="flat" cmpd="sng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D4367B6-99A4-4452-9C25-BFFB7C688150}"/>
              </a:ext>
            </a:extLst>
          </p:cNvPr>
          <p:cNvSpPr/>
          <p:nvPr/>
        </p:nvSpPr>
        <p:spPr>
          <a:xfrm>
            <a:off x="7393257" y="5031716"/>
            <a:ext cx="140677" cy="140677"/>
          </a:xfrm>
          <a:prstGeom prst="ellipse">
            <a:avLst/>
          </a:prstGeom>
          <a:solidFill>
            <a:srgbClr val="009900"/>
          </a:solidFill>
          <a:ln w="9525" cap="flat" cmpd="sng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9E4EDAE-4A26-4825-92E1-D48283205C21}"/>
              </a:ext>
            </a:extLst>
          </p:cNvPr>
          <p:cNvSpPr/>
          <p:nvPr/>
        </p:nvSpPr>
        <p:spPr>
          <a:xfrm>
            <a:off x="8729687" y="5022923"/>
            <a:ext cx="140677" cy="140677"/>
          </a:xfrm>
          <a:prstGeom prst="ellipse">
            <a:avLst/>
          </a:prstGeom>
          <a:solidFill>
            <a:srgbClr val="009900"/>
          </a:solidFill>
          <a:ln w="9525" cap="flat" cmpd="sng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1" name="未知">
            <a:extLst>
              <a:ext uri="{FF2B5EF4-FFF2-40B4-BE49-F238E27FC236}">
                <a16:creationId xmlns:a16="http://schemas.microsoft.com/office/drawing/2014/main" id="{9E3B6DEB-50F4-441D-8296-904C65D64CD5}"/>
              </a:ext>
            </a:extLst>
          </p:cNvPr>
          <p:cNvSpPr/>
          <p:nvPr/>
        </p:nvSpPr>
        <p:spPr>
          <a:xfrm>
            <a:off x="2759710" y="3838893"/>
            <a:ext cx="2101362" cy="1494692"/>
          </a:xfrm>
          <a:custGeom>
            <a:avLst/>
            <a:gdLst/>
            <a:ahLst/>
            <a:cxnLst/>
            <a:rect l="0" t="0" r="0" b="0"/>
            <a:pathLst>
              <a:path w="1434" h="1020">
                <a:moveTo>
                  <a:pt x="28" y="186"/>
                </a:moveTo>
                <a:cubicBezTo>
                  <a:pt x="65" y="93"/>
                  <a:pt x="131" y="33"/>
                  <a:pt x="223" y="0"/>
                </a:cubicBezTo>
                <a:cubicBezTo>
                  <a:pt x="398" y="7"/>
                  <a:pt x="450" y="4"/>
                  <a:pt x="585" y="47"/>
                </a:cubicBezTo>
                <a:cubicBezTo>
                  <a:pt x="602" y="81"/>
                  <a:pt x="615" y="115"/>
                  <a:pt x="632" y="149"/>
                </a:cubicBezTo>
                <a:cubicBezTo>
                  <a:pt x="661" y="268"/>
                  <a:pt x="651" y="424"/>
                  <a:pt x="799" y="456"/>
                </a:cubicBezTo>
                <a:cubicBezTo>
                  <a:pt x="970" y="448"/>
                  <a:pt x="1073" y="450"/>
                  <a:pt x="1208" y="363"/>
                </a:cubicBezTo>
                <a:cubicBezTo>
                  <a:pt x="1230" y="369"/>
                  <a:pt x="1253" y="371"/>
                  <a:pt x="1273" y="381"/>
                </a:cubicBezTo>
                <a:cubicBezTo>
                  <a:pt x="1356" y="420"/>
                  <a:pt x="1374" y="498"/>
                  <a:pt x="1403" y="576"/>
                </a:cubicBezTo>
                <a:cubicBezTo>
                  <a:pt x="1423" y="700"/>
                  <a:pt x="1434" y="812"/>
                  <a:pt x="1338" y="892"/>
                </a:cubicBezTo>
                <a:cubicBezTo>
                  <a:pt x="1280" y="941"/>
                  <a:pt x="1324" y="920"/>
                  <a:pt x="1273" y="939"/>
                </a:cubicBezTo>
                <a:cubicBezTo>
                  <a:pt x="1264" y="948"/>
                  <a:pt x="1257" y="962"/>
                  <a:pt x="1245" y="967"/>
                </a:cubicBezTo>
                <a:cubicBezTo>
                  <a:pt x="1157" y="1000"/>
                  <a:pt x="1027" y="1007"/>
                  <a:pt x="938" y="1013"/>
                </a:cubicBezTo>
                <a:cubicBezTo>
                  <a:pt x="842" y="1010"/>
                  <a:pt x="559" y="1020"/>
                  <a:pt x="446" y="957"/>
                </a:cubicBezTo>
                <a:cubicBezTo>
                  <a:pt x="384" y="922"/>
                  <a:pt x="326" y="877"/>
                  <a:pt x="269" y="837"/>
                </a:cubicBezTo>
                <a:cubicBezTo>
                  <a:pt x="225" y="806"/>
                  <a:pt x="175" y="783"/>
                  <a:pt x="130" y="753"/>
                </a:cubicBezTo>
                <a:cubicBezTo>
                  <a:pt x="102" y="712"/>
                  <a:pt x="65" y="682"/>
                  <a:pt x="37" y="641"/>
                </a:cubicBezTo>
                <a:cubicBezTo>
                  <a:pt x="21" y="596"/>
                  <a:pt x="9" y="558"/>
                  <a:pt x="0" y="511"/>
                </a:cubicBezTo>
                <a:cubicBezTo>
                  <a:pt x="3" y="468"/>
                  <a:pt x="4" y="424"/>
                  <a:pt x="9" y="381"/>
                </a:cubicBezTo>
                <a:cubicBezTo>
                  <a:pt x="13" y="347"/>
                  <a:pt x="37" y="314"/>
                  <a:pt x="37" y="279"/>
                </a:cubicBezTo>
                <a:cubicBezTo>
                  <a:pt x="37" y="248"/>
                  <a:pt x="31" y="217"/>
                  <a:pt x="28" y="186"/>
                </a:cubicBezTo>
                <a:close/>
              </a:path>
            </a:pathLst>
          </a:custGeom>
          <a:solidFill>
            <a:srgbClr val="0099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2585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AB0EE3C-9122-4AFC-A8E2-AD65E2B4EAFA}"/>
              </a:ext>
            </a:extLst>
          </p:cNvPr>
          <p:cNvSpPr/>
          <p:nvPr/>
        </p:nvSpPr>
        <p:spPr>
          <a:xfrm>
            <a:off x="5142426" y="3912162"/>
            <a:ext cx="1195754" cy="1336431"/>
          </a:xfrm>
          <a:prstGeom prst="ellipse">
            <a:avLst/>
          </a:prstGeom>
          <a:solidFill>
            <a:srgbClr val="0099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9CD535B-8EDB-45A1-9C1F-2C8D8CA15C81}"/>
              </a:ext>
            </a:extLst>
          </p:cNvPr>
          <p:cNvSpPr/>
          <p:nvPr/>
        </p:nvSpPr>
        <p:spPr>
          <a:xfrm>
            <a:off x="8800026" y="4615547"/>
            <a:ext cx="140677" cy="140677"/>
          </a:xfrm>
          <a:prstGeom prst="ellipse">
            <a:avLst/>
          </a:prstGeom>
          <a:solidFill>
            <a:srgbClr val="009900"/>
          </a:solidFill>
          <a:ln w="9525" cap="flat" cmpd="sng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104CAD4-737F-4713-8EF9-2734651C9BA4}"/>
              </a:ext>
            </a:extLst>
          </p:cNvPr>
          <p:cNvSpPr/>
          <p:nvPr/>
        </p:nvSpPr>
        <p:spPr>
          <a:xfrm>
            <a:off x="7674610" y="4615547"/>
            <a:ext cx="140677" cy="140677"/>
          </a:xfrm>
          <a:prstGeom prst="ellipse">
            <a:avLst/>
          </a:prstGeom>
          <a:solidFill>
            <a:srgbClr val="009900"/>
          </a:solidFill>
          <a:ln w="9525" cap="flat" cmpd="sng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FB39568-FC73-4735-9D14-54CD652A80B0}"/>
              </a:ext>
            </a:extLst>
          </p:cNvPr>
          <p:cNvSpPr/>
          <p:nvPr/>
        </p:nvSpPr>
        <p:spPr>
          <a:xfrm>
            <a:off x="8448334" y="4193516"/>
            <a:ext cx="140677" cy="140677"/>
          </a:xfrm>
          <a:prstGeom prst="ellipse">
            <a:avLst/>
          </a:prstGeom>
          <a:solidFill>
            <a:srgbClr val="009900"/>
          </a:solidFill>
          <a:ln w="9525" cap="flat" cmpd="sng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D0FC80E-1CDA-4CF5-824D-EB5C93396B5F}"/>
              </a:ext>
            </a:extLst>
          </p:cNvPr>
          <p:cNvSpPr/>
          <p:nvPr/>
        </p:nvSpPr>
        <p:spPr>
          <a:xfrm>
            <a:off x="8237318" y="4826562"/>
            <a:ext cx="140677" cy="140677"/>
          </a:xfrm>
          <a:prstGeom prst="ellipse">
            <a:avLst/>
          </a:prstGeom>
          <a:solidFill>
            <a:srgbClr val="009900"/>
          </a:solidFill>
          <a:ln w="9525" cap="flat" cmpd="sng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6F72417-0562-4656-AA5E-107142901CAB}"/>
              </a:ext>
            </a:extLst>
          </p:cNvPr>
          <p:cNvSpPr/>
          <p:nvPr/>
        </p:nvSpPr>
        <p:spPr>
          <a:xfrm>
            <a:off x="7533934" y="4123177"/>
            <a:ext cx="140677" cy="140677"/>
          </a:xfrm>
          <a:prstGeom prst="ellipse">
            <a:avLst/>
          </a:prstGeom>
          <a:solidFill>
            <a:srgbClr val="009900"/>
          </a:solidFill>
          <a:ln w="9525" cap="flat" cmpd="sng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0FB88B8D-8343-4F19-9488-3BEEB87A25C7}"/>
              </a:ext>
            </a:extLst>
          </p:cNvPr>
          <p:cNvSpPr/>
          <p:nvPr/>
        </p:nvSpPr>
        <p:spPr>
          <a:xfrm>
            <a:off x="2959003" y="4167139"/>
            <a:ext cx="140677" cy="1406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6ECC85D9-66EC-4B83-8AC3-48E7FF5AFDEF}"/>
              </a:ext>
            </a:extLst>
          </p:cNvPr>
          <p:cNvSpPr/>
          <p:nvPr/>
        </p:nvSpPr>
        <p:spPr>
          <a:xfrm>
            <a:off x="3024945" y="4565723"/>
            <a:ext cx="142143" cy="1406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3A47187C-9D78-4301-AEFB-4DAC203E36E0}"/>
              </a:ext>
            </a:extLst>
          </p:cNvPr>
          <p:cNvSpPr/>
          <p:nvPr/>
        </p:nvSpPr>
        <p:spPr>
          <a:xfrm>
            <a:off x="3423529" y="4433839"/>
            <a:ext cx="140677" cy="1406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33AFEE0F-EF6D-46A0-8433-4767F89A711B}"/>
              </a:ext>
            </a:extLst>
          </p:cNvPr>
          <p:cNvSpPr/>
          <p:nvPr/>
        </p:nvSpPr>
        <p:spPr>
          <a:xfrm>
            <a:off x="3822114" y="4425047"/>
            <a:ext cx="140677" cy="1406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4FBA64F7-413E-4E03-AB56-F453F8325CB1}"/>
              </a:ext>
            </a:extLst>
          </p:cNvPr>
          <p:cNvSpPr/>
          <p:nvPr/>
        </p:nvSpPr>
        <p:spPr>
          <a:xfrm>
            <a:off x="4288106" y="4898366"/>
            <a:ext cx="140677" cy="1406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EC4936B8-AD82-44D2-9920-39035F64C078}"/>
              </a:ext>
            </a:extLst>
          </p:cNvPr>
          <p:cNvSpPr/>
          <p:nvPr/>
        </p:nvSpPr>
        <p:spPr>
          <a:xfrm>
            <a:off x="3690229" y="4964308"/>
            <a:ext cx="140677" cy="1406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048F59AD-E63F-443B-A446-4F5F1965A321}"/>
              </a:ext>
            </a:extLst>
          </p:cNvPr>
          <p:cNvSpPr/>
          <p:nvPr/>
        </p:nvSpPr>
        <p:spPr>
          <a:xfrm>
            <a:off x="3823580" y="4233082"/>
            <a:ext cx="139211" cy="1406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D0ACAAF1-DD06-4F62-8801-8C12ECBA5BD4}"/>
              </a:ext>
            </a:extLst>
          </p:cNvPr>
          <p:cNvSpPr/>
          <p:nvPr/>
        </p:nvSpPr>
        <p:spPr>
          <a:xfrm>
            <a:off x="4213372" y="4092405"/>
            <a:ext cx="140677" cy="1406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4B5C0876-B16E-46DC-865E-DC718DC52DBF}"/>
              </a:ext>
            </a:extLst>
          </p:cNvPr>
          <p:cNvSpPr/>
          <p:nvPr/>
        </p:nvSpPr>
        <p:spPr>
          <a:xfrm>
            <a:off x="4330603" y="4209635"/>
            <a:ext cx="140677" cy="1406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149A338A-6AA5-4807-BD4A-625365A34246}"/>
              </a:ext>
            </a:extLst>
          </p:cNvPr>
          <p:cNvSpPr/>
          <p:nvPr/>
        </p:nvSpPr>
        <p:spPr>
          <a:xfrm>
            <a:off x="5485326" y="4433839"/>
            <a:ext cx="140677" cy="1406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537DE9C2-89AE-4BC7-B3F8-63B4549B6FF5}"/>
              </a:ext>
            </a:extLst>
          </p:cNvPr>
          <p:cNvSpPr/>
          <p:nvPr/>
        </p:nvSpPr>
        <p:spPr>
          <a:xfrm>
            <a:off x="5617210" y="4699074"/>
            <a:ext cx="142142" cy="1406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4FF8B188-C657-4589-944B-BC905DB96317}"/>
              </a:ext>
            </a:extLst>
          </p:cNvPr>
          <p:cNvSpPr/>
          <p:nvPr/>
        </p:nvSpPr>
        <p:spPr>
          <a:xfrm>
            <a:off x="5691945" y="4366431"/>
            <a:ext cx="140677" cy="1406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3E2B689F-7323-46D6-B969-AB3836CC41A9}"/>
              </a:ext>
            </a:extLst>
          </p:cNvPr>
          <p:cNvSpPr/>
          <p:nvPr/>
        </p:nvSpPr>
        <p:spPr>
          <a:xfrm>
            <a:off x="5684618" y="4565723"/>
            <a:ext cx="140677" cy="1406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9109DF2-A4BB-4C9B-9465-62E8FA634F2A}"/>
              </a:ext>
            </a:extLst>
          </p:cNvPr>
          <p:cNvSpPr txBox="1"/>
          <p:nvPr/>
        </p:nvSpPr>
        <p:spPr>
          <a:xfrm>
            <a:off x="1571625" y="787793"/>
            <a:ext cx="3295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关系的闭包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BEBCC995-FE57-200E-5E48-641B3E681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046724361"/>
      </p:ext>
    </p:extLst>
  </p:cSld>
  <p:clrMapOvr>
    <a:masterClrMapping/>
  </p:clrMapOvr>
  <p:transition spd="slow" advTm="0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F4A8E0F-97FF-4FA6-8EA5-45F8B985B8E0}"/>
              </a:ext>
            </a:extLst>
          </p:cNvPr>
          <p:cNvSpPr txBox="1"/>
          <p:nvPr/>
        </p:nvSpPr>
        <p:spPr>
          <a:xfrm>
            <a:off x="1571625" y="787793"/>
            <a:ext cx="3295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关系的闭包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AD4184-6AF5-426A-AD1C-71CFA5F5FBD4}"/>
              </a:ext>
            </a:extLst>
          </p:cNvPr>
          <p:cNvSpPr/>
          <p:nvPr/>
        </p:nvSpPr>
        <p:spPr>
          <a:xfrm>
            <a:off x="1571625" y="1702505"/>
            <a:ext cx="9587346" cy="3037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自反闭包：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上的二元关系，如果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endParaRPr lang="en-US" alt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（1）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是自反的;</a:t>
            </a:r>
          </a:p>
          <a:p>
            <a:pPr>
              <a:lnSpc>
                <a:spcPct val="115000"/>
              </a:lnSpc>
              <a:buNone/>
            </a:pP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（2）R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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'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R’’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也满足（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R’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R’’.</a:t>
            </a:r>
          </a:p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的自反闭包，记为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）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69C719-73CF-4D7C-A981-15D6C404D958}"/>
              </a:ext>
            </a:extLst>
          </p:cNvPr>
          <p:cNvSpPr/>
          <p:nvPr/>
        </p:nvSpPr>
        <p:spPr>
          <a:xfrm>
            <a:off x="1303518" y="5280998"/>
            <a:ext cx="101235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设</a:t>
            </a:r>
            <a:r>
              <a:rPr lang="en-US" altLang="zh-CN" sz="28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A×A</a:t>
            </a:r>
            <a:r>
              <a:rPr lang="zh-CN" altLang="en-US" sz="2800" dirty="0"/>
              <a:t>，最小的包含</a:t>
            </a:r>
            <a:r>
              <a:rPr lang="en-US" altLang="zh-CN" sz="2800" dirty="0"/>
              <a:t>R</a:t>
            </a:r>
            <a:r>
              <a:rPr lang="zh-CN" altLang="en-US" sz="2800" dirty="0"/>
              <a:t>的自反关系称为</a:t>
            </a:r>
            <a:r>
              <a:rPr lang="en-US" altLang="zh-CN" sz="2800" dirty="0"/>
              <a:t>R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FF0000"/>
                </a:solidFill>
              </a:rPr>
              <a:t>自反闭包</a:t>
            </a:r>
            <a:r>
              <a:rPr lang="zh-CN" altLang="en-US" sz="2800" dirty="0"/>
              <a:t>，记为</a:t>
            </a:r>
            <a:r>
              <a:rPr lang="en-US" altLang="zh-CN" sz="2800" dirty="0"/>
              <a:t>r(R)</a:t>
            </a:r>
            <a:r>
              <a:rPr lang="zh-CN" altLang="en-US" sz="2800" dirty="0"/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72A08B-5571-4276-BEEA-01CCBC20C4F9}"/>
              </a:ext>
            </a:extLst>
          </p:cNvPr>
          <p:cNvSpPr/>
          <p:nvPr/>
        </p:nvSpPr>
        <p:spPr>
          <a:xfrm>
            <a:off x="2358159" y="6083225"/>
            <a:ext cx="6096000" cy="557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对称闭包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s(R)     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传递闭包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t(R)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39CFE5-0A3C-95D9-8A23-CB1327746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1708693602"/>
      </p:ext>
    </p:extLst>
  </p:cSld>
  <p:clrMapOvr>
    <a:masterClrMapping/>
  </p:clrMapOvr>
  <p:transition spd="slow" advTm="0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EE0499-F367-4DE3-9C7A-8A87EE074A24}"/>
              </a:ext>
            </a:extLst>
          </p:cNvPr>
          <p:cNvSpPr/>
          <p:nvPr/>
        </p:nvSpPr>
        <p:spPr>
          <a:xfrm>
            <a:off x="2327563" y="2907314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对称闭包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个条件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(1)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(2)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对称性；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(3)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最小性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574DF7-C1E1-47AB-BE24-3C194C96B56B}"/>
              </a:ext>
            </a:extLst>
          </p:cNvPr>
          <p:cNvSpPr/>
          <p:nvPr/>
        </p:nvSpPr>
        <p:spPr>
          <a:xfrm>
            <a:off x="2327563" y="1029459"/>
            <a:ext cx="882534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的自反闭包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r(R)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上的关系，且满足以下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个条件：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(1)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(2)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自反性；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(3)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最小性。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F792C7-4193-44AD-B04C-659A215CCD43}"/>
              </a:ext>
            </a:extLst>
          </p:cNvPr>
          <p:cNvSpPr/>
          <p:nvPr/>
        </p:nvSpPr>
        <p:spPr>
          <a:xfrm>
            <a:off x="2327563" y="4785169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传递闭包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(R)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个条件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(1)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传递性；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最小性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BF62240A-A564-56BB-FF46-AE44EB208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3719425000"/>
      </p:ext>
    </p:extLst>
  </p:cSld>
  <p:clrMapOvr>
    <a:masterClrMapping/>
  </p:clrMapOvr>
  <p:transition spd="slow" advTm="0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4196B42-DD61-4A42-BC06-59A3C4C46E49}"/>
              </a:ext>
            </a:extLst>
          </p:cNvPr>
          <p:cNvSpPr/>
          <p:nvPr/>
        </p:nvSpPr>
        <p:spPr>
          <a:xfrm>
            <a:off x="2119745" y="1068337"/>
            <a:ext cx="6096000" cy="20344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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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则</a:t>
            </a:r>
          </a:p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(1)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自反 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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r( R ) = 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(2)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对称 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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s( R ) = 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(3)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传递 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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t( R ) = R.</a:t>
            </a:r>
            <a:endParaRPr lang="zh-CN" altLang="en-US" sz="28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CB096C-32CE-4AE2-B079-035079A30FFB}"/>
              </a:ext>
            </a:extLst>
          </p:cNvPr>
          <p:cNvSpPr/>
          <p:nvPr/>
        </p:nvSpPr>
        <p:spPr>
          <a:xfrm>
            <a:off x="1969798" y="3429000"/>
            <a:ext cx="7592291" cy="1550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r( R )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是R的自反闭包，</a:t>
            </a:r>
          </a:p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RR 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自反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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r( R )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R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且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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r( R ), </a:t>
            </a:r>
          </a:p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	  所以，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r( R ) = R.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53080098-55C1-B55A-A812-A5CB09DB0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3802479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3B8B0F92-35EF-4EC9-9B9F-582A0ABA11F5}"/>
              </a:ext>
            </a:extLst>
          </p:cNvPr>
          <p:cNvSpPr txBox="1">
            <a:spLocks noChangeArrowheads="1"/>
          </p:cNvSpPr>
          <p:nvPr/>
        </p:nvSpPr>
        <p:spPr>
          <a:xfrm>
            <a:off x="1844603" y="603433"/>
            <a:ext cx="8115300" cy="49799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求下列关系的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(R),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）定义在整数集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上的“＜”关系；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）定义在整数集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=”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关系。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7CF7818-A78A-46D7-9E30-D8EB0889FF48}"/>
              </a:ext>
            </a:extLst>
          </p:cNvPr>
          <p:cNvSpPr txBox="1">
            <a:spLocks noChangeArrowheads="1"/>
          </p:cNvSpPr>
          <p:nvPr/>
        </p:nvSpPr>
        <p:spPr>
          <a:xfrm>
            <a:off x="1135021" y="3429000"/>
            <a:ext cx="4767232" cy="20941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）定义在</a:t>
            </a:r>
            <a:r>
              <a:rPr lang="en-US" altLang="zh-CN" dirty="0"/>
              <a:t>Z</a:t>
            </a:r>
            <a:r>
              <a:rPr lang="zh-CN" altLang="en-US" dirty="0"/>
              <a:t>上的</a:t>
            </a:r>
            <a:r>
              <a:rPr lang="zh-CN" altLang="en-US" dirty="0">
                <a:latin typeface="宋体" panose="02010600030101010101" pitchFamily="2" charset="-122"/>
              </a:rPr>
              <a:t>“</a:t>
            </a:r>
            <a:r>
              <a:rPr lang="zh-CN" altLang="en-US" dirty="0"/>
              <a:t>＜</a:t>
            </a:r>
            <a:r>
              <a:rPr lang="zh-CN" altLang="en-US" dirty="0">
                <a:latin typeface="宋体" panose="02010600030101010101" pitchFamily="2" charset="-122"/>
              </a:rPr>
              <a:t>”</a:t>
            </a:r>
            <a:r>
              <a:rPr lang="zh-CN" altLang="en-US" dirty="0"/>
              <a:t>关系的</a:t>
            </a:r>
          </a:p>
          <a:p>
            <a:pPr marL="0" indent="0">
              <a:buNone/>
            </a:pPr>
            <a:r>
              <a:rPr lang="en-US" altLang="zh-CN" dirty="0"/>
              <a:t>      r(R)</a:t>
            </a:r>
            <a:r>
              <a:rPr lang="zh-CN" altLang="en-US" dirty="0"/>
              <a:t>为</a:t>
            </a:r>
            <a:r>
              <a:rPr lang="zh-CN" altLang="en-US" dirty="0">
                <a:latin typeface="宋体" panose="02010600030101010101" pitchFamily="2" charset="-122"/>
              </a:rPr>
              <a:t>“</a:t>
            </a:r>
            <a:r>
              <a:rPr lang="zh-CN" altLang="en-US" dirty="0"/>
              <a:t>≤</a:t>
            </a:r>
            <a:r>
              <a:rPr lang="zh-CN" altLang="en-US" dirty="0">
                <a:latin typeface="宋体" panose="02010600030101010101" pitchFamily="2" charset="-122"/>
              </a:rPr>
              <a:t>”</a:t>
            </a:r>
            <a:r>
              <a:rPr lang="zh-CN" altLang="en-US" dirty="0"/>
              <a:t>，</a:t>
            </a:r>
          </a:p>
          <a:p>
            <a:pPr marL="0" indent="0">
              <a:buNone/>
            </a:pPr>
            <a:r>
              <a:rPr lang="en-US" altLang="zh-CN" dirty="0"/>
              <a:t>      s(R)</a:t>
            </a:r>
            <a:r>
              <a:rPr lang="zh-CN" altLang="en-US" dirty="0"/>
              <a:t>为</a:t>
            </a:r>
            <a:r>
              <a:rPr lang="zh-CN" altLang="en-US" dirty="0">
                <a:latin typeface="宋体" panose="02010600030101010101" pitchFamily="2" charset="-122"/>
              </a:rPr>
              <a:t>“</a:t>
            </a:r>
            <a:r>
              <a:rPr lang="zh-CN" altLang="en-US" dirty="0"/>
              <a:t>≠</a:t>
            </a:r>
            <a:r>
              <a:rPr lang="zh-CN" altLang="en-US" dirty="0">
                <a:latin typeface="宋体" panose="02010600030101010101" pitchFamily="2" charset="-122"/>
              </a:rPr>
              <a:t>”</a:t>
            </a:r>
            <a:r>
              <a:rPr lang="zh-CN" altLang="en-US" dirty="0"/>
              <a:t>，</a:t>
            </a:r>
          </a:p>
          <a:p>
            <a:pPr marL="0" indent="0">
              <a:buNone/>
            </a:pPr>
            <a:r>
              <a:rPr lang="en-US" altLang="zh-CN" dirty="0"/>
              <a:t>      t(R)</a:t>
            </a:r>
            <a:r>
              <a:rPr lang="zh-CN" altLang="en-US" dirty="0"/>
              <a:t>为</a:t>
            </a:r>
            <a:r>
              <a:rPr lang="zh-CN" altLang="en-US" dirty="0">
                <a:latin typeface="宋体" panose="02010600030101010101" pitchFamily="2" charset="-122"/>
              </a:rPr>
              <a:t>“</a:t>
            </a:r>
            <a:r>
              <a:rPr lang="zh-CN" altLang="en-US" dirty="0"/>
              <a:t>＜</a:t>
            </a:r>
            <a:r>
              <a:rPr lang="zh-CN" altLang="en-US" dirty="0">
                <a:latin typeface="宋体" panose="02010600030101010101" pitchFamily="2" charset="-122"/>
              </a:rPr>
              <a:t>”</a:t>
            </a:r>
            <a:r>
              <a:rPr lang="zh-CN" altLang="en-US" dirty="0"/>
              <a:t>；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B7C828E-2582-46F5-BE2C-E38743C5ADA1}"/>
              </a:ext>
            </a:extLst>
          </p:cNvPr>
          <p:cNvSpPr txBox="1"/>
          <p:nvPr/>
        </p:nvSpPr>
        <p:spPr>
          <a:xfrm>
            <a:off x="6047064" y="3429000"/>
            <a:ext cx="6144936" cy="120032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）定义在</a:t>
            </a:r>
            <a:r>
              <a:rPr lang="en-US" altLang="zh-CN" dirty="0"/>
              <a:t>Z</a:t>
            </a:r>
            <a:r>
              <a:rPr lang="zh-CN" altLang="en-US" dirty="0"/>
              <a:t>上的“</a:t>
            </a:r>
            <a:r>
              <a:rPr lang="en-US" altLang="zh-CN" dirty="0"/>
              <a:t>=”</a:t>
            </a:r>
            <a:r>
              <a:rPr lang="zh-CN" altLang="en-US" dirty="0"/>
              <a:t>关系的</a:t>
            </a:r>
          </a:p>
          <a:p>
            <a:r>
              <a:rPr lang="zh-CN" altLang="en-US" dirty="0"/>
              <a:t>      </a:t>
            </a:r>
            <a:r>
              <a:rPr lang="en-US" altLang="zh-CN" dirty="0"/>
              <a:t>r(R)</a:t>
            </a:r>
            <a:r>
              <a:rPr lang="zh-CN" altLang="en-US" dirty="0"/>
              <a:t>为“</a:t>
            </a:r>
            <a:r>
              <a:rPr lang="en-US" altLang="zh-CN" dirty="0"/>
              <a:t>=”</a:t>
            </a:r>
            <a:r>
              <a:rPr lang="zh-CN" altLang="en-US" dirty="0"/>
              <a:t>，</a:t>
            </a:r>
          </a:p>
          <a:p>
            <a:r>
              <a:rPr lang="zh-CN" altLang="en-US" dirty="0"/>
              <a:t>      </a:t>
            </a:r>
            <a:r>
              <a:rPr lang="en-US" altLang="zh-CN" dirty="0"/>
              <a:t>s(R)</a:t>
            </a:r>
            <a:r>
              <a:rPr lang="zh-CN" altLang="en-US" dirty="0"/>
              <a:t>为“</a:t>
            </a:r>
            <a:r>
              <a:rPr lang="en-US" altLang="zh-CN" dirty="0"/>
              <a:t>=”</a:t>
            </a:r>
            <a:r>
              <a:rPr lang="zh-CN" altLang="en-US" dirty="0"/>
              <a:t>，</a:t>
            </a:r>
          </a:p>
          <a:p>
            <a:r>
              <a:rPr lang="zh-CN" altLang="en-US" dirty="0"/>
              <a:t>      </a:t>
            </a:r>
            <a:r>
              <a:rPr lang="en-US" altLang="zh-CN" dirty="0"/>
              <a:t>t(R)</a:t>
            </a:r>
            <a:r>
              <a:rPr lang="zh-CN" altLang="en-US" dirty="0"/>
              <a:t>为“</a:t>
            </a:r>
            <a:r>
              <a:rPr lang="en-US" altLang="zh-CN" dirty="0"/>
              <a:t>=”</a:t>
            </a:r>
            <a:r>
              <a:rPr lang="zh-CN" altLang="en-US" dirty="0"/>
              <a:t>。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2D9C51AB-A561-0135-5AAE-D9D5C5585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180888527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4196B42-DD61-4A42-BC06-59A3C4C46E49}"/>
              </a:ext>
            </a:extLst>
          </p:cNvPr>
          <p:cNvSpPr/>
          <p:nvPr/>
        </p:nvSpPr>
        <p:spPr>
          <a:xfrm>
            <a:off x="2119745" y="1068337"/>
            <a:ext cx="6096000" cy="20344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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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则</a:t>
            </a:r>
          </a:p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(1)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自反 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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r( R ) = 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(2)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对称 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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s( R ) = 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(3)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传递 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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t( R ) = R.</a:t>
            </a:r>
            <a:endParaRPr lang="zh-CN" altLang="en-US" sz="28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CB096C-32CE-4AE2-B079-035079A30FFB}"/>
              </a:ext>
            </a:extLst>
          </p:cNvPr>
          <p:cNvSpPr/>
          <p:nvPr/>
        </p:nvSpPr>
        <p:spPr>
          <a:xfrm>
            <a:off x="1969798" y="3429000"/>
            <a:ext cx="7592291" cy="1550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r( R )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是R的自反闭包，</a:t>
            </a:r>
          </a:p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RR 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自反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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r( R )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R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且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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r( R ), </a:t>
            </a:r>
          </a:p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	  所以，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r( R ) = R.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6C07FE91-FDE9-667F-9F33-FA6120627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100877810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7346391-0C7B-4A0C-94EF-CE3344E7F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7485" y="989734"/>
            <a:ext cx="2228850" cy="257111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E8C103A-A241-4EB3-9237-D7343FF255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4601" y="826943"/>
            <a:ext cx="2533650" cy="27806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CC5423A-A9D2-4CA8-9EBC-34C77AD5FF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5660" y="3812395"/>
            <a:ext cx="952500" cy="1638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DE253A7-532D-472C-B304-AC8C72A865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0876" y="4034933"/>
            <a:ext cx="1104900" cy="1609725"/>
          </a:xfrm>
          <a:prstGeom prst="rect">
            <a:avLst/>
          </a:prstGeom>
        </p:spPr>
      </p:pic>
      <p:sp>
        <p:nvSpPr>
          <p:cNvPr id="2" name="文本框 2">
            <a:extLst>
              <a:ext uri="{FF2B5EF4-FFF2-40B4-BE49-F238E27FC236}">
                <a16:creationId xmlns:a16="http://schemas.microsoft.com/office/drawing/2014/main" id="{AD9D0984-4FC9-7F0A-C174-94F69F247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106262560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2EF7A8A0-61CC-4311-977D-25E1AE97ACA8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738188"/>
            <a:ext cx="8064500" cy="45862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利用关系图求关系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闭包的方法：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）检查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的关系图，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在没有自环的结点处加上自环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，可得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r(R)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的关系图；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）检查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的关系图，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将每条单向边全部改成双向边，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可得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s(R)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的关系图；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）检查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的关系图，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从每个结点出发，找到其终点，如果该结点到其终点没有边相连，就加上此边，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可得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t(R)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的关系图。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AA8BAC08-95AC-3C90-91F7-905A2F868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3169953194"/>
      </p:ext>
    </p:extLst>
  </p:cSld>
  <p:clrMapOvr>
    <a:masterClrMapping/>
  </p:clrMapOvr>
  <p:transition spd="slow" advTm="0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占位符 72706">
            <a:extLst>
              <a:ext uri="{FF2B5EF4-FFF2-40B4-BE49-F238E27FC236}">
                <a16:creationId xmlns:a16="http://schemas.microsoft.com/office/drawing/2014/main" id="{B1912992-0CAF-4C77-91CD-E0083C0EE16D}"/>
              </a:ext>
            </a:extLst>
          </p:cNvPr>
          <p:cNvSpPr txBox="1">
            <a:spLocks/>
          </p:cNvSpPr>
          <p:nvPr/>
        </p:nvSpPr>
        <p:spPr>
          <a:xfrm>
            <a:off x="1981200" y="1166018"/>
            <a:ext cx="8229600" cy="4525963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如何求闭包？</a:t>
            </a:r>
          </a:p>
          <a:p>
            <a:pPr>
              <a:lnSpc>
                <a:spcPct val="105000"/>
              </a:lnSpc>
              <a:buFont typeface="Arial" panose="020B0604020202020204" pitchFamily="34" charset="0"/>
              <a:buNone/>
            </a:pPr>
            <a:endParaRPr lang="zh-CN" altLang="en-US" sz="2400" dirty="0">
              <a:solidFill>
                <a:srgbClr val="CC0000"/>
              </a:solidFill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(1)  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r( R ) = 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 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 </a:t>
            </a: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？</a:t>
            </a:r>
          </a:p>
          <a:p>
            <a:pPr>
              <a:lnSpc>
                <a:spcPct val="10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(2)  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s( R ) = R 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 </a:t>
            </a: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？</a:t>
            </a:r>
          </a:p>
          <a:p>
            <a:pPr>
              <a:lnSpc>
                <a:spcPct val="105000"/>
              </a:lnSpc>
              <a:buFont typeface="Arial" panose="020B0604020202020204" pitchFamily="34" charset="0"/>
              <a:buNone/>
            </a:pPr>
            <a:endParaRPr lang="zh-CN" altLang="en-US" sz="2000" dirty="0">
              <a:solidFill>
                <a:srgbClr val="CC0000"/>
              </a:solidFill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pPr>
              <a:lnSpc>
                <a:spcPct val="10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(3)  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t( R ) = R 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 </a:t>
            </a:r>
            <a:r>
              <a:rPr lang="en-US" altLang="x-none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?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C6F5A449-44D8-F347-7A53-43DBA35FD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3701785834"/>
      </p:ext>
    </p:extLst>
  </p:cSld>
  <p:clrMapOvr>
    <a:masterClrMapping/>
  </p:clrMapOvr>
  <p:transition spd="slow" advTm="0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E6EBDBB4-F9C8-4A94-A2E5-43BA0B76C76C}"/>
              </a:ext>
            </a:extLst>
          </p:cNvPr>
          <p:cNvSpPr txBox="1">
            <a:spLocks noChangeArrowheads="1"/>
          </p:cNvSpPr>
          <p:nvPr/>
        </p:nvSpPr>
        <p:spPr>
          <a:xfrm>
            <a:off x="2311379" y="1373727"/>
            <a:ext cx="8026400" cy="24669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4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是集合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上的二元关系，则：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r(R)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R∪I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s(R)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R∪R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t(R)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     ，若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|A|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t(R)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     </a:t>
            </a: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F50DCFF5-E2D6-49BE-8985-E5644A72D6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8664916"/>
              </p:ext>
            </p:extLst>
          </p:nvPr>
        </p:nvGraphicFramePr>
        <p:xfrm>
          <a:off x="4085235" y="3529333"/>
          <a:ext cx="6826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20" imgH="380880" progId="Equation.3">
                  <p:embed/>
                </p:oleObj>
              </mc:Choice>
              <mc:Fallback>
                <p:oleObj name="Equation" r:id="rId4" imgW="342720" imgH="380880" progId="Equation.3">
                  <p:embed/>
                  <p:pic>
                    <p:nvPicPr>
                      <p:cNvPr id="1168388" name="Object 4">
                        <a:extLst>
                          <a:ext uri="{FF2B5EF4-FFF2-40B4-BE49-F238E27FC236}">
                            <a16:creationId xmlns:a16="http://schemas.microsoft.com/office/drawing/2014/main" id="{FB4045FC-D893-4E23-BA76-E9D9A2CD6C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5235" y="3529333"/>
                        <a:ext cx="68262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C1A4AC61-87F6-4F85-A4AB-E5DFC8B83A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6338537"/>
              </p:ext>
            </p:extLst>
          </p:nvPr>
        </p:nvGraphicFramePr>
        <p:xfrm>
          <a:off x="7849094" y="3459702"/>
          <a:ext cx="6826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720" imgH="380880" progId="Equation.3">
                  <p:embed/>
                </p:oleObj>
              </mc:Choice>
              <mc:Fallback>
                <p:oleObj name="Equation" r:id="rId6" imgW="342720" imgH="380880" progId="Equation.3">
                  <p:embed/>
                  <p:pic>
                    <p:nvPicPr>
                      <p:cNvPr id="1168389" name="Object 5">
                        <a:extLst>
                          <a:ext uri="{FF2B5EF4-FFF2-40B4-BE49-F238E27FC236}">
                            <a16:creationId xmlns:a16="http://schemas.microsoft.com/office/drawing/2014/main" id="{236ED73D-D186-4C08-9DFA-46D9EFF7A6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9094" y="3459702"/>
                        <a:ext cx="68262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>
            <a:extLst>
              <a:ext uri="{FF2B5EF4-FFF2-40B4-BE49-F238E27FC236}">
                <a16:creationId xmlns:a16="http://schemas.microsoft.com/office/drawing/2014/main" id="{19A15CE1-13C6-2B03-C29F-0E6706ED7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51796966"/>
      </p:ext>
    </p:extLst>
  </p:cSld>
  <p:clrMapOvr>
    <a:masterClrMapping/>
  </p:clrMapOvr>
  <p:transition spd="slow" advTm="0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6EB2684-5226-4F96-BBDF-8BF07A1D1AD6}"/>
              </a:ext>
            </a:extLst>
          </p:cNvPr>
          <p:cNvSpPr/>
          <p:nvPr/>
        </p:nvSpPr>
        <p:spPr>
          <a:xfrm>
            <a:off x="1304719" y="1625337"/>
            <a:ext cx="985446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一般地  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 </a:t>
            </a:r>
            <a:r>
              <a:rPr lang="en-US" altLang="zh-CN" sz="28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(c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)(c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(c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)(aRc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c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Rc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  c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Rb)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；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特别地　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 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800" baseline="300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２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(c) 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b)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F6B5142-6615-4127-8CD2-0D1F5061AE98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233840"/>
            <a:ext cx="5181600" cy="2728913"/>
            <a:chOff x="1488" y="2496"/>
            <a:chExt cx="3264" cy="171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6CCDF26-E385-4BCC-BF71-1268DD561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21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92C2646-2BA5-42B3-ADB1-5723F2AA1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928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F165D3-E3B8-4B44-9708-B94F0DD5A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73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350D0F8-DD59-499C-983E-595C1C52C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784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72DED00-E5AE-4446-83D3-124D88276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97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3F36230-1320-4AA2-9EE5-28DB5BC54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264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BD20BB39-E72C-4B76-9A26-0EDEDA775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3264"/>
              <a:ext cx="2976" cy="48"/>
            </a:xfrm>
            <a:prstGeom prst="line">
              <a:avLst/>
            </a:prstGeom>
            <a:noFill/>
            <a:ln w="12700" cap="sq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89E0A8E8-29DE-4160-840C-40F64D3234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6" y="2976"/>
              <a:ext cx="336" cy="288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CE8A291B-C3E3-4D52-8494-108072F8C8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0" y="2784"/>
              <a:ext cx="432" cy="144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26D5F948-DB02-4382-B300-B66311534E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832"/>
              <a:ext cx="384" cy="144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9EDEA21E-B25D-42D2-93C2-6269ACA962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976"/>
              <a:ext cx="288" cy="288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AutoShape 16">
              <a:extLst>
                <a:ext uri="{FF2B5EF4-FFF2-40B4-BE49-F238E27FC236}">
                  <a16:creationId xmlns:a16="http://schemas.microsoft.com/office/drawing/2014/main" id="{F4A62F05-F466-4752-AAD9-E28650362453}"/>
                </a:ext>
              </a:extLst>
            </p:cNvPr>
            <p:cNvCxnSpPr>
              <a:cxnSpLocks noChangeShapeType="1"/>
              <a:stCxn id="8" idx="7"/>
              <a:endCxn id="9" idx="0"/>
            </p:cNvCxnSpPr>
            <p:nvPr/>
          </p:nvCxnSpPr>
          <p:spPr bwMode="auto">
            <a:xfrm rot="5400000" flipV="1">
              <a:off x="3108" y="2028"/>
              <a:ext cx="41" cy="1471"/>
            </a:xfrm>
            <a:prstGeom prst="curvedConnector3">
              <a:avLst>
                <a:gd name="adj1" fmla="val -368292"/>
              </a:avLst>
            </a:prstGeom>
            <a:noFill/>
            <a:ln w="12700">
              <a:solidFill>
                <a:schemeClr val="accent1"/>
              </a:solidFill>
              <a:prstDash val="lgDash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0CCDB442-E0AE-4B7E-AC88-A0EA67E500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216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F0C821D7-4DFC-45DD-B137-196085C02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688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c</a:t>
              </a:r>
              <a:r>
                <a:rPr lang="en-US" altLang="zh-CN" sz="1800" baseline="-25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EBCBABC0-9628-422D-ADC4-B9555CFF0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49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c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AE97D0C7-456D-43F3-BC21-31324CB2A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312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9CA556F0-2BB7-4C07-9C0C-099BF106C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736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c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n-1</a:t>
              </a:r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C1C6FE04-3258-45A3-8074-F166F2F7F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544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c</a:t>
              </a:r>
              <a:r>
                <a:rPr lang="en-US" altLang="zh-CN" sz="1800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n-2</a:t>
              </a:r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5EDB653E-CEAC-4CA6-A050-11F8BFA0C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264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  <a:ea typeface="Arial Unicode MS" pitchFamily="34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1800" baseline="30000">
                  <a:latin typeface="Times New Roman" panose="02020603050405020304" pitchFamily="18" charset="0"/>
                  <a:ea typeface="Arial Unicode MS" pitchFamily="34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0251BAE8-8E02-412F-8CA3-D86587957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928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9BADE86-3389-456E-81F7-0D587EEA0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640"/>
              <a:ext cx="21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20208A2-5308-44BE-A952-181AC0578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736"/>
              <a:ext cx="21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05C8F16-FF46-4384-B76D-FAC533149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928"/>
              <a:ext cx="21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D768909-F64B-4887-8639-E2A1FD4C2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544"/>
              <a:ext cx="21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0738E83-FC28-44D9-A985-55416633B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93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DA3BB73-0333-4FCC-B6F5-D3A8B8206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600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DBA49E4-B30E-449E-81DB-83A3E6626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984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A77C2B46-CE51-4986-A2E2-3852DB5DEC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3648"/>
              <a:ext cx="576" cy="288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F5F5E545-6B81-4D1D-B886-EB1B34151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648"/>
              <a:ext cx="432" cy="336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8CA1C68F-C986-4C5C-886D-F5A15ED2D1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3984"/>
              <a:ext cx="1056" cy="0"/>
            </a:xfrm>
            <a:prstGeom prst="line">
              <a:avLst/>
            </a:prstGeom>
            <a:noFill/>
            <a:ln w="12700" cap="sq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5E399D6C-74DA-4211-953C-3665F2AD9F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840"/>
              <a:ext cx="19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7" name="Text Box 36">
              <a:extLst>
                <a:ext uri="{FF2B5EF4-FFF2-40B4-BE49-F238E27FC236}">
                  <a16:creationId xmlns:a16="http://schemas.microsoft.com/office/drawing/2014/main" id="{1393DE58-C52D-488F-9431-3CE890CB52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888"/>
              <a:ext cx="14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8" name="Text Box 37">
              <a:extLst>
                <a:ext uri="{FF2B5EF4-FFF2-40B4-BE49-F238E27FC236}">
                  <a16:creationId xmlns:a16="http://schemas.microsoft.com/office/drawing/2014/main" id="{72F2B0A5-A665-4960-8FB9-15E3CDE480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456"/>
              <a:ext cx="19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9" name="Text Box 38">
              <a:extLst>
                <a:ext uri="{FF2B5EF4-FFF2-40B4-BE49-F238E27FC236}">
                  <a16:creationId xmlns:a16="http://schemas.microsoft.com/office/drawing/2014/main" id="{795558C9-F24B-4C67-BEAD-574FA07DA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3984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  <a:ea typeface="Arial Unicode MS" pitchFamily="34" charset="-122"/>
                  <a:cs typeface="Times New Roman" panose="02020603050405020304" pitchFamily="18" charset="0"/>
                </a:rPr>
                <a:t>R</a:t>
              </a:r>
              <a:r>
                <a:rPr lang="zh-CN" altLang="en-US" sz="1800" baseline="30000">
                  <a:latin typeface="Times New Roman" panose="02020603050405020304" pitchFamily="18" charset="0"/>
                  <a:ea typeface="Arial Unicode MS" pitchFamily="34" charset="-122"/>
                  <a:cs typeface="Times New Roman" panose="02020603050405020304" pitchFamily="18" charset="0"/>
                </a:rPr>
                <a:t>２</a:t>
              </a:r>
            </a:p>
          </p:txBody>
        </p:sp>
        <p:sp>
          <p:nvSpPr>
            <p:cNvPr id="40" name="Text Box 39">
              <a:extLst>
                <a:ext uri="{FF2B5EF4-FFF2-40B4-BE49-F238E27FC236}">
                  <a16:creationId xmlns:a16="http://schemas.microsoft.com/office/drawing/2014/main" id="{9AB0C001-DCBD-4735-B396-3F0A016994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600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41" name="Text Box 40">
              <a:extLst>
                <a:ext uri="{FF2B5EF4-FFF2-40B4-BE49-F238E27FC236}">
                  <a16:creationId xmlns:a16="http://schemas.microsoft.com/office/drawing/2014/main" id="{FDDB2A24-D368-4CCD-BBCE-C860891887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3600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6B1477A5-C85D-60A1-CB19-3AC91545A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3687475788"/>
      </p:ext>
    </p:extLst>
  </p:cSld>
  <p:clrMapOvr>
    <a:masterClrMapping/>
  </p:clrMapOvr>
  <p:transition spd="slow" advTm="0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415854E-5BC2-4401-994C-B596632A842B}"/>
              </a:ext>
            </a:extLst>
          </p:cNvPr>
          <p:cNvSpPr>
            <a:spLocks noGrp="1"/>
          </p:cNvSpPr>
          <p:nvPr/>
        </p:nvSpPr>
        <p:spPr>
          <a:xfrm>
            <a:off x="1571625" y="585788"/>
            <a:ext cx="11022157" cy="5027734"/>
          </a:xfrm>
          <a:prstGeom prst="rect">
            <a:avLst/>
          </a:prstGeom>
          <a:noFill/>
          <a:ln w="9525">
            <a:noFill/>
          </a:ln>
        </p:spPr>
        <p:txBody>
          <a:bodyPr wrap="square" anchor="t"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400" b="0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示例</a:t>
            </a:r>
            <a:r>
              <a:rPr lang="zh-CN" altLang="en-US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  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A={a, b, c}, R={&lt;a, b&gt;,&lt;b, c&gt;,&lt;c, a&gt;},</a:t>
            </a:r>
            <a:r>
              <a:rPr lang="zh-CN" altLang="en-US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求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r(R),</a:t>
            </a:r>
            <a:r>
              <a:rPr lang="en-US" altLang="zh-CN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s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(R),t(R).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解：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r(R)=R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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I</a:t>
            </a:r>
            <a:r>
              <a:rPr lang="en-US" altLang="x-none" sz="2400" b="0" baseline="-30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A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={&lt;a, b&gt;, &lt;b, c&gt;, &lt;c, a&gt;, &lt;a, a&gt;, &lt;b, b&gt;, &lt;c, c&gt;}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s(R)= R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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R</a:t>
            </a:r>
            <a:r>
              <a:rPr lang="en-US" altLang="x-none" sz="2400" b="0" baseline="30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-1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 ={&lt;a, b&gt;,&lt;b, a&gt;,&lt;b, c&gt;,&lt;c, b&gt;,&lt;c, a&gt;,&lt;a, c&gt;}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为求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t(R)</a:t>
            </a:r>
            <a:r>
              <a:rPr lang="zh-CN" altLang="en-US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先求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R</a:t>
            </a:r>
            <a:r>
              <a:rPr lang="en-US" altLang="x-none" sz="2400" b="0" baseline="30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，R</a:t>
            </a:r>
            <a:r>
              <a:rPr lang="en-US" altLang="x-none" sz="2400" b="0" baseline="30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，R</a:t>
            </a:r>
            <a:r>
              <a:rPr lang="en-US" altLang="x-none" sz="2400" b="0" baseline="30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4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即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R</a:t>
            </a:r>
            <a:r>
              <a:rPr lang="en-US" altLang="x-none" sz="2400" b="0" baseline="30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＝{&lt;a, c&gt;,&lt;b, a&gt;,&lt;c, b&gt;}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R</a:t>
            </a:r>
            <a:r>
              <a:rPr lang="en-US" altLang="x-none" sz="2400" b="0" baseline="30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={&lt;a, a&gt;,&lt;b, b&gt;,&lt;c, c&gt;}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R</a:t>
            </a:r>
            <a:r>
              <a:rPr lang="en-US" altLang="x-none" sz="2400" b="0" baseline="30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={&lt;a, b&gt;,&lt;b, c&gt;,&lt;c, a&gt;}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可见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R=R</a:t>
            </a:r>
            <a:r>
              <a:rPr lang="en-US" altLang="x-none" sz="2400" b="0" baseline="30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=R</a:t>
            </a:r>
            <a:r>
              <a:rPr lang="en-US" altLang="x-none" sz="2400" b="0" baseline="30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3n+1</a:t>
            </a:r>
            <a:r>
              <a:rPr lang="zh-CN" altLang="en-US" sz="2400" b="0" baseline="30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，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R</a:t>
            </a:r>
            <a:r>
              <a:rPr lang="en-US" altLang="x-none" sz="2400" b="0" baseline="30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= R</a:t>
            </a:r>
            <a:r>
              <a:rPr lang="en-US" altLang="x-none" sz="2400" b="0" baseline="30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5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= R</a:t>
            </a:r>
            <a:r>
              <a:rPr lang="en-US" altLang="x-none" sz="2400" b="0" baseline="30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3n+2</a:t>
            </a:r>
            <a:r>
              <a:rPr lang="zh-CN" altLang="en-US" sz="2400" b="0" baseline="30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，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R</a:t>
            </a:r>
            <a:r>
              <a:rPr lang="en-US" altLang="x-none" sz="2400" b="0" baseline="30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= R</a:t>
            </a:r>
            <a:r>
              <a:rPr lang="en-US" altLang="x-none" sz="2400" b="0" baseline="30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6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= R</a:t>
            </a:r>
            <a:r>
              <a:rPr lang="en-US" altLang="x-none" sz="2400" b="0" baseline="30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3n+3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故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t(R) = R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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R</a:t>
            </a:r>
            <a:r>
              <a:rPr lang="en-US" altLang="x-none" sz="2400" b="0" baseline="30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 2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</a:t>
            </a: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R</a:t>
            </a:r>
            <a:r>
              <a:rPr lang="en-US" altLang="x-none" sz="2400" b="0" baseline="300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 3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x-none" sz="24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= {&lt;a, a&gt;, &lt;b, b&gt;, &lt;c, c&gt;, &lt;a, b&gt;, &lt;b, c&gt;, &lt;c, a&gt;，&lt;a c&gt;, &lt;b, a&gt;, &lt;c, b&gt;}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x-none" sz="2400" b="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DA77BECB-230F-FED8-B86A-69A1A56A4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170143679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58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charRg st="58" end="1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19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charRg st="119" end="1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76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charRg st="176" end="1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93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charRg st="193" end="2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20" end="2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charRg st="220" end="2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46" end="2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charRg st="246" end="2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72" end="3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charRg st="272" end="3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313" end="3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charRg st="313" end="3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331" end="4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charRg st="331" end="4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286BD9E5-1D95-42DD-AAA5-FD90FF038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8131" y="738188"/>
            <a:ext cx="6127750" cy="624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31900" indent="-1231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4224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1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034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93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511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083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655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227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zh-CN" altLang="en-US" sz="2800" dirty="0"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cs typeface="Times New Roman" panose="02020603050405020304" pitchFamily="18" charset="0"/>
              </a:rPr>
              <a:t>={</a:t>
            </a:r>
            <a:r>
              <a:rPr lang="en-US" altLang="zh-CN" sz="2800" i="1" dirty="0" err="1"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cs typeface="Times New Roman" panose="02020603050405020304" pitchFamily="18" charset="0"/>
              </a:rPr>
              <a:t>c</a:t>
            </a:r>
            <a:r>
              <a:rPr lang="en-US" altLang="zh-CN" sz="2800" dirty="0" err="1"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cs typeface="Times New Roman" panose="02020603050405020304" pitchFamily="18" charset="0"/>
              </a:rPr>
              <a:t>}</a:t>
            </a:r>
            <a:r>
              <a:rPr lang="zh-CN" altLang="en-US" sz="2800" dirty="0">
                <a:cs typeface="Times New Roman" panose="02020603050405020304" pitchFamily="18" charset="0"/>
              </a:rPr>
              <a:t>，</a:t>
            </a:r>
            <a:r>
              <a:rPr lang="en-US" altLang="zh-CN" sz="2800" i="1" dirty="0"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cs typeface="Times New Roman" panose="02020603050405020304" pitchFamily="18" charset="0"/>
              </a:rPr>
              <a:t>上的关系</a:t>
            </a:r>
            <a:endParaRPr lang="zh-CN" altLang="en-US" sz="2800" dirty="0">
              <a:cs typeface="Times New Roman" panose="02020603050405020304" pitchFamily="18" charset="0"/>
            </a:endParaRP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2E3502E7-855D-4D98-91AD-C43BA53CC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407" y="1446856"/>
            <a:ext cx="5961888" cy="531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155172C4-22E5-4E5E-912A-A868A9C19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8137" y="2186541"/>
            <a:ext cx="35589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7A3ECFDE-5BCF-1A32-D513-C3A315791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75754846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5" grpId="0" build="p" autoUpdateAnimBg="0" advAuto="0"/>
      <p:bldP spid="6" grpId="0" build="p" autoUpdateAnimBg="0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>
            <a:extLst>
              <a:ext uri="{FF2B5EF4-FFF2-40B4-BE49-F238E27FC236}">
                <a16:creationId xmlns:a16="http://schemas.microsoft.com/office/drawing/2014/main" id="{FCC22AB3-1856-4A6D-A35D-97BAABABD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9668" y="2869103"/>
            <a:ext cx="4309120" cy="559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1330325" indent="-13303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619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809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000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90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479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051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623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19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dirty="0"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cs typeface="Times New Roman" panose="02020603050405020304" pitchFamily="18" charset="0"/>
              </a:rPr>
              <a:t>) = </a:t>
            </a:r>
            <a:r>
              <a:rPr lang="en-US" altLang="zh-CN" sz="2800" i="1" dirty="0">
                <a:cs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rgbClr val="3333FF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sz="2800" i="1" dirty="0">
                <a:cs typeface="Times New Roman" panose="02020603050405020304" pitchFamily="18" charset="0"/>
              </a:rPr>
              <a:t>I</a:t>
            </a:r>
            <a:r>
              <a:rPr lang="en-US" altLang="zh-CN" sz="2800" baseline="-25000" dirty="0">
                <a:cs typeface="Times New Roman" panose="02020603050405020304" pitchFamily="18" charset="0"/>
              </a:rPr>
              <a:t>A</a:t>
            </a:r>
            <a:endParaRPr lang="en-US" altLang="zh-CN" sz="2800" dirty="0">
              <a:cs typeface="Times New Roman" panose="02020603050405020304" pitchFamily="18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A28A3B-4733-4606-B1F3-5739F4106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443" y="4391515"/>
            <a:ext cx="6085176" cy="1156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82575" indent="-2825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66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zh-CN" sz="2800">
                <a:cs typeface="Times New Roman" panose="02020603050405020304" pitchFamily="18" charset="0"/>
              </a:rPr>
              <a:t>={</a:t>
            </a:r>
            <a:r>
              <a:rPr lang="en-US" altLang="zh-CN" sz="2800">
                <a:cs typeface="Times New Roman" panose="02020603050405020304" pitchFamily="18" charset="0"/>
              </a:rPr>
              <a:t>&lt;</a:t>
            </a:r>
            <a:r>
              <a:rPr lang="en-US" altLang="zh-CN" sz="2800" i="1">
                <a:cs typeface="Times New Roman" panose="02020603050405020304" pitchFamily="18" charset="0"/>
              </a:rPr>
              <a:t>a</a:t>
            </a:r>
            <a:r>
              <a:rPr lang="en-US" altLang="zh-CN" sz="2800">
                <a:cs typeface="Times New Roman" panose="02020603050405020304" pitchFamily="18" charset="0"/>
              </a:rPr>
              <a:t>, </a:t>
            </a:r>
            <a:r>
              <a:rPr lang="en-US" altLang="zh-CN" sz="2800" i="1">
                <a:cs typeface="Times New Roman" panose="02020603050405020304" pitchFamily="18" charset="0"/>
              </a:rPr>
              <a:t>b</a:t>
            </a:r>
            <a:r>
              <a:rPr lang="en-US" altLang="zh-CN" sz="2800">
                <a:cs typeface="Times New Roman" panose="02020603050405020304" pitchFamily="18" charset="0"/>
              </a:rPr>
              <a:t>&gt;, &lt;</a:t>
            </a:r>
            <a:r>
              <a:rPr lang="en-US" altLang="zh-CN" sz="2800" i="1">
                <a:cs typeface="Times New Roman" panose="02020603050405020304" pitchFamily="18" charset="0"/>
              </a:rPr>
              <a:t>b</a:t>
            </a:r>
            <a:r>
              <a:rPr lang="en-US" altLang="zh-CN" sz="2800">
                <a:cs typeface="Times New Roman" panose="02020603050405020304" pitchFamily="18" charset="0"/>
              </a:rPr>
              <a:t>, </a:t>
            </a:r>
            <a:r>
              <a:rPr lang="en-US" altLang="zh-CN" sz="2800" i="1">
                <a:cs typeface="Times New Roman" panose="02020603050405020304" pitchFamily="18" charset="0"/>
              </a:rPr>
              <a:t>c</a:t>
            </a:r>
            <a:r>
              <a:rPr lang="en-US" altLang="zh-CN" sz="2800">
                <a:cs typeface="Times New Roman" panose="02020603050405020304" pitchFamily="18" charset="0"/>
              </a:rPr>
              <a:t>&gt;, &lt;</a:t>
            </a:r>
            <a:r>
              <a:rPr lang="en-US" altLang="zh-CN" sz="2800" i="1">
                <a:cs typeface="Times New Roman" panose="02020603050405020304" pitchFamily="18" charset="0"/>
              </a:rPr>
              <a:t>c</a:t>
            </a:r>
            <a:r>
              <a:rPr lang="en-US" altLang="zh-CN" sz="2800">
                <a:cs typeface="Times New Roman" panose="02020603050405020304" pitchFamily="18" charset="0"/>
              </a:rPr>
              <a:t>, </a:t>
            </a:r>
            <a:r>
              <a:rPr lang="en-US" altLang="zh-CN" sz="2800" i="1">
                <a:cs typeface="Times New Roman" panose="02020603050405020304" pitchFamily="18" charset="0"/>
              </a:rPr>
              <a:t>d</a:t>
            </a:r>
            <a:r>
              <a:rPr lang="en-US" altLang="zh-CN" sz="2800">
                <a:cs typeface="Times New Roman" panose="02020603050405020304" pitchFamily="18" charset="0"/>
              </a:rPr>
              <a:t>&gt;,&lt;</a:t>
            </a:r>
            <a:r>
              <a:rPr lang="en-US" altLang="zh-CN" sz="2800" i="1">
                <a:cs typeface="Times New Roman" panose="02020603050405020304" pitchFamily="18" charset="0"/>
              </a:rPr>
              <a:t>d</a:t>
            </a:r>
            <a:r>
              <a:rPr lang="en-US" altLang="zh-CN" sz="2800">
                <a:cs typeface="Times New Roman" panose="02020603050405020304" pitchFamily="18" charset="0"/>
              </a:rPr>
              <a:t>, </a:t>
            </a:r>
            <a:r>
              <a:rPr lang="en-US" altLang="zh-CN" sz="2800" i="1">
                <a:cs typeface="Times New Roman" panose="02020603050405020304" pitchFamily="18" charset="0"/>
              </a:rPr>
              <a:t>c</a:t>
            </a:r>
            <a:r>
              <a:rPr lang="en-US" altLang="zh-CN" sz="2800">
                <a:cs typeface="Times New Roman" panose="02020603050405020304" pitchFamily="18" charset="0"/>
              </a:rPr>
              <a:t>,&gt;, &lt;</a:t>
            </a:r>
            <a:r>
              <a:rPr lang="en-US" altLang="zh-CN" sz="2800" i="1">
                <a:cs typeface="Times New Roman" panose="02020603050405020304" pitchFamily="18" charset="0"/>
              </a:rPr>
              <a:t>a</a:t>
            </a:r>
            <a:r>
              <a:rPr lang="en-US" altLang="zh-CN" sz="2800">
                <a:cs typeface="Times New Roman" panose="02020603050405020304" pitchFamily="18" charset="0"/>
              </a:rPr>
              <a:t>, </a:t>
            </a:r>
            <a:r>
              <a:rPr lang="en-US" altLang="zh-CN" sz="2800" i="1">
                <a:cs typeface="Times New Roman" panose="02020603050405020304" pitchFamily="18" charset="0"/>
              </a:rPr>
              <a:t>a</a:t>
            </a:r>
            <a:r>
              <a:rPr lang="en-US" altLang="zh-CN" sz="2800">
                <a:cs typeface="Times New Roman" panose="02020603050405020304" pitchFamily="18" charset="0"/>
              </a:rPr>
              <a:t>&gt;, &lt;</a:t>
            </a:r>
            <a:r>
              <a:rPr lang="en-US" altLang="zh-CN" sz="2800" i="1">
                <a:cs typeface="Times New Roman" panose="02020603050405020304" pitchFamily="18" charset="0"/>
              </a:rPr>
              <a:t>b</a:t>
            </a:r>
            <a:r>
              <a:rPr lang="en-US" altLang="zh-CN" sz="2800">
                <a:cs typeface="Times New Roman" panose="02020603050405020304" pitchFamily="18" charset="0"/>
              </a:rPr>
              <a:t>, </a:t>
            </a:r>
            <a:r>
              <a:rPr lang="en-US" altLang="zh-CN" sz="2800" i="1">
                <a:cs typeface="Times New Roman" panose="02020603050405020304" pitchFamily="18" charset="0"/>
              </a:rPr>
              <a:t>b</a:t>
            </a:r>
            <a:r>
              <a:rPr lang="en-US" altLang="zh-CN" sz="2800">
                <a:cs typeface="Times New Roman" panose="02020603050405020304" pitchFamily="18" charset="0"/>
              </a:rPr>
              <a:t>&gt;, &lt;</a:t>
            </a:r>
            <a:r>
              <a:rPr lang="en-US" altLang="zh-CN" sz="2800" i="1">
                <a:cs typeface="Times New Roman" panose="02020603050405020304" pitchFamily="18" charset="0"/>
              </a:rPr>
              <a:t>c</a:t>
            </a:r>
            <a:r>
              <a:rPr lang="en-US" altLang="zh-CN" sz="2800">
                <a:cs typeface="Times New Roman" panose="02020603050405020304" pitchFamily="18" charset="0"/>
              </a:rPr>
              <a:t>, </a:t>
            </a:r>
            <a:r>
              <a:rPr lang="en-US" altLang="zh-CN" sz="2800" i="1">
                <a:cs typeface="Times New Roman" panose="02020603050405020304" pitchFamily="18" charset="0"/>
              </a:rPr>
              <a:t>c</a:t>
            </a:r>
            <a:r>
              <a:rPr lang="en-US" altLang="zh-CN" sz="2800">
                <a:cs typeface="Times New Roman" panose="02020603050405020304" pitchFamily="18" charset="0"/>
              </a:rPr>
              <a:t>&gt;, &lt;</a:t>
            </a:r>
            <a:r>
              <a:rPr lang="en-US" altLang="zh-CN" sz="2800" i="1">
                <a:cs typeface="Times New Roman" panose="02020603050405020304" pitchFamily="18" charset="0"/>
              </a:rPr>
              <a:t>d</a:t>
            </a:r>
            <a:r>
              <a:rPr lang="en-US" altLang="zh-CN" sz="2800">
                <a:cs typeface="Times New Roman" panose="02020603050405020304" pitchFamily="18" charset="0"/>
              </a:rPr>
              <a:t>, </a:t>
            </a:r>
            <a:r>
              <a:rPr lang="en-US" altLang="zh-CN" sz="2800" i="1">
                <a:cs typeface="Times New Roman" panose="02020603050405020304" pitchFamily="18" charset="0"/>
              </a:rPr>
              <a:t>d</a:t>
            </a:r>
            <a:r>
              <a:rPr lang="en-US" altLang="zh-CN" sz="2800">
                <a:cs typeface="Times New Roman" panose="02020603050405020304" pitchFamily="18" charset="0"/>
              </a:rPr>
              <a:t>&gt;}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2B869809-3035-4BB4-B97B-C38265DEF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443" y="3708890"/>
            <a:ext cx="50871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,&gt;&lt;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8EE0ECC7-5EAB-4205-9CC4-96FEB63EF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2334" y="1241670"/>
            <a:ext cx="5961888" cy="531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05A24D47-C03E-F358-3FF8-23D765B85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30405070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 autoUpdateAnimBg="0"/>
      <p:bldP spid="6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A161A25-B30A-4D75-B0D5-A34A26BCB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1045" y="1703532"/>
            <a:ext cx="2217274" cy="559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∪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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FA08A8C-BAFE-4A38-83D6-77AF9412C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7320" y="3254520"/>
            <a:ext cx="7157729" cy="564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19B3DA-46E7-4F6D-97A9-334DB590F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7320" y="2511570"/>
            <a:ext cx="59634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A3140D96-944D-4D1D-9323-052808305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557" y="1062903"/>
            <a:ext cx="5961888" cy="531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CE231BB5-55F0-04DC-AC46-A036509CF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328806973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9D7BFC30-7D61-4E0A-A500-B4B72F955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8563" y="1372608"/>
            <a:ext cx="3825086" cy="559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∪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∪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FA3BBE8B-DDA1-43C2-BE23-438BBACE5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520" y="738188"/>
            <a:ext cx="5961888" cy="531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D4687DBF-C6AF-4997-A6C2-FEB41F3E3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7595" y="2035530"/>
            <a:ext cx="21605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T Extra" panose="05050102010205020202" pitchFamily="18" charset="2"/>
              </a:rPr>
              <a:t> 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15E4C95D-25EC-4E3B-991F-3D2FF8704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633" y="2551467"/>
            <a:ext cx="70659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83F6D7D-106B-4CBE-B5AE-289DCF305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945" y="3221175"/>
            <a:ext cx="18367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T Extra" panose="05050102010205020202" pitchFamily="18" charset="2"/>
              </a:rPr>
              <a:t>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93BF94A1-5149-4D69-AC3C-D5CBA51FA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2920" y="3767275"/>
            <a:ext cx="73372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en-US" altLang="zh-CN" sz="2800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DED0940-6E79-4BB1-8102-2CCCCE2DC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945" y="4559744"/>
            <a:ext cx="18367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T Extra" panose="05050102010205020202" pitchFamily="18" charset="2"/>
              </a:rPr>
              <a:t>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8E626241-487C-4E7B-8F7A-FACAF8C91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870" y="5093144"/>
            <a:ext cx="75168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44F4F8DD-633B-4041-8021-4A9DDF177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77" y="5819145"/>
            <a:ext cx="31951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∪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∪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67944A7B-208F-430E-A432-4D0B8B7CF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8333" y="5817755"/>
            <a:ext cx="7950632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77825" indent="-3778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651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9556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800" dirty="0"/>
              <a:t>=</a:t>
            </a:r>
            <a:r>
              <a:rPr lang="zh-CN" altLang="zh-CN" sz="2800" dirty="0"/>
              <a:t>{</a:t>
            </a:r>
            <a:r>
              <a:rPr lang="en-US" altLang="zh-CN" sz="2800" dirty="0"/>
              <a:t>&lt;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b</a:t>
            </a:r>
            <a:r>
              <a:rPr lang="en-US" altLang="zh-CN" sz="2800" dirty="0"/>
              <a:t>&gt;,&lt;</a:t>
            </a:r>
            <a:r>
              <a:rPr lang="en-US" altLang="zh-CN" sz="2800" i="1" dirty="0" err="1"/>
              <a:t>b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c</a:t>
            </a:r>
            <a:r>
              <a:rPr lang="en-US" altLang="zh-CN" sz="2800" dirty="0"/>
              <a:t>&gt;&lt;</a:t>
            </a:r>
            <a:r>
              <a:rPr lang="en-US" altLang="zh-CN" sz="2800" i="1" dirty="0" err="1"/>
              <a:t>c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d</a:t>
            </a:r>
            <a:r>
              <a:rPr lang="en-US" altLang="zh-CN" sz="2800" dirty="0"/>
              <a:t>&gt;,&lt;</a:t>
            </a:r>
            <a:r>
              <a:rPr lang="en-US" altLang="zh-CN" sz="2800" i="1" dirty="0" err="1"/>
              <a:t>d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c</a:t>
            </a:r>
            <a:r>
              <a:rPr lang="en-US" altLang="zh-CN" sz="2800" dirty="0"/>
              <a:t>&gt;,&lt;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a</a:t>
            </a:r>
            <a:r>
              <a:rPr lang="en-US" altLang="zh-CN" sz="2800" dirty="0"/>
              <a:t>&gt;,&lt;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c</a:t>
            </a:r>
            <a:r>
              <a:rPr lang="en-US" altLang="zh-CN" sz="2800" dirty="0"/>
              <a:t>&gt;,&lt;</a:t>
            </a:r>
            <a:r>
              <a:rPr lang="en-US" altLang="zh-CN" sz="2800" i="1" dirty="0" err="1"/>
              <a:t>b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d</a:t>
            </a:r>
            <a:r>
              <a:rPr lang="en-US" altLang="zh-CN" sz="2800" dirty="0"/>
              <a:t>&gt;,&lt;</a:t>
            </a:r>
            <a:r>
              <a:rPr lang="en-US" altLang="zh-CN" sz="2800" i="1" dirty="0" err="1"/>
              <a:t>c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c</a:t>
            </a:r>
            <a:r>
              <a:rPr lang="en-US" altLang="zh-CN" sz="2800" dirty="0"/>
              <a:t>&gt;,&lt;</a:t>
            </a:r>
            <a:r>
              <a:rPr lang="en-US" altLang="zh-CN" sz="2800" i="1" dirty="0" err="1"/>
              <a:t>d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d</a:t>
            </a:r>
            <a:r>
              <a:rPr lang="en-US" altLang="zh-CN" sz="2800" dirty="0"/>
              <a:t>&gt;,</a:t>
            </a:r>
            <a:r>
              <a:rPr lang="en-US" altLang="zh-CN" sz="2800" dirty="0">
                <a:cs typeface="Times New Roman" panose="02020603050405020304" pitchFamily="18" charset="0"/>
              </a:rPr>
              <a:t> &lt;</a:t>
            </a:r>
            <a:r>
              <a:rPr lang="en-US" altLang="zh-CN" sz="2800" i="1" dirty="0" err="1"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cs typeface="Times New Roman" panose="02020603050405020304" pitchFamily="18" charset="0"/>
              </a:rPr>
              <a:t>&gt;</a:t>
            </a:r>
            <a:r>
              <a:rPr lang="en-US" altLang="zh-CN" sz="2800" dirty="0"/>
              <a:t>}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354C9652-F00C-916D-96A3-A3F46EF97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52394457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6" grpId="0"/>
      <p:bldP spid="7" grpId="0"/>
      <p:bldP spid="8" grpId="0" build="p" autoUpdateAnimBg="0"/>
      <p:bldP spid="9" grpId="0" build="p" autoUpdateAnimBg="0"/>
      <p:bldP spid="10" grpId="0" build="p" autoUpdateAnimBg="0"/>
      <p:bldP spid="11" grpId="0" build="p" autoUpdateAnimBg="0"/>
      <p:bldP spid="12" grpId="0" build="p" autoUpdateAnimBg="0"/>
      <p:bldP spid="13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5C4381-AF5E-41B0-9965-3FCFAB2117DB}"/>
              </a:ext>
            </a:extLst>
          </p:cNvPr>
          <p:cNvSpPr/>
          <p:nvPr/>
        </p:nvSpPr>
        <p:spPr>
          <a:xfrm>
            <a:off x="3520505" y="2850957"/>
            <a:ext cx="523412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黑体" panose="02010609060101010101" pitchFamily="49" charset="-122"/>
                <a:cs typeface="+mj-cs"/>
              </a:rPr>
              <a:t>特殊关系</a:t>
            </a:r>
            <a:endParaRPr lang="en-US" altLang="zh-CN" sz="4800" b="1" dirty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黑体" panose="02010609060101010101" pitchFamily="49" charset="-122"/>
              <a:cs typeface="+mj-cs"/>
            </a:endParaRPr>
          </a:p>
          <a:p>
            <a:pPr algn="ctr"/>
            <a:r>
              <a:rPr lang="en-US" altLang="zh-CN" sz="4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黑体" panose="02010609060101010101" pitchFamily="49" charset="-122"/>
                <a:cs typeface="+mj-cs"/>
              </a:rPr>
              <a:t> </a:t>
            </a:r>
            <a:r>
              <a:rPr lang="en-US" altLang="zh-C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Specific Relations</a:t>
            </a:r>
            <a:endParaRPr lang="zh-CN" altLang="en-US" sz="48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黑体" panose="02010609060101010101" pitchFamily="49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1004224"/>
      </p:ext>
    </p:extLst>
  </p:cSld>
  <p:clrMapOvr>
    <a:masterClrMapping/>
  </p:clrMapOvr>
  <p:transition spd="slow" advTm="0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F729DF6-0F9B-46E6-A716-4BD6E69F29D1}"/>
              </a:ext>
            </a:extLst>
          </p:cNvPr>
          <p:cNvSpPr txBox="1"/>
          <p:nvPr/>
        </p:nvSpPr>
        <p:spPr>
          <a:xfrm>
            <a:off x="1751013" y="902569"/>
            <a:ext cx="6460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等价关系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9E296D-34EB-4107-8506-DB6B8A743B49}"/>
              </a:ext>
            </a:extLst>
          </p:cNvPr>
          <p:cNvSpPr/>
          <p:nvPr/>
        </p:nvSpPr>
        <p:spPr>
          <a:xfrm>
            <a:off x="1751013" y="1651725"/>
            <a:ext cx="958734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等价关系</a:t>
            </a:r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(equivalence relation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设二元关系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A×A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。这里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是非空的集合。</a:t>
            </a: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等价关系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自反的、对称的、传递的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40ADDA-E3F6-42B5-BBF3-CE6CBE9D59FB}"/>
              </a:ext>
            </a:extLst>
          </p:cNvPr>
          <p:cNvSpPr/>
          <p:nvPr/>
        </p:nvSpPr>
        <p:spPr>
          <a:xfrm>
            <a:off x="3444157" y="3636616"/>
            <a:ext cx="29412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dom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R = ran R = A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3575" y="0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39973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86D23E5-F3D8-4618-9B43-22EE585826EE}"/>
              </a:ext>
            </a:extLst>
          </p:cNvPr>
          <p:cNvSpPr/>
          <p:nvPr/>
        </p:nvSpPr>
        <p:spPr>
          <a:xfrm>
            <a:off x="1911926" y="955403"/>
            <a:ext cx="890847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例</a:t>
            </a:r>
            <a:r>
              <a:rPr lang="en-US" altLang="zh-CN" sz="2800" b="1" dirty="0">
                <a:ea typeface="仿宋_GB2312" pitchFamily="49" charset="-122"/>
              </a:rPr>
              <a:t>1.</a:t>
            </a:r>
            <a:r>
              <a:rPr lang="zh-CN" altLang="en-US" sz="2800" dirty="0"/>
              <a:t>同乡关系是等价关系。</a:t>
            </a:r>
          </a:p>
          <a:p>
            <a:endParaRPr lang="zh-CN" altLang="en-US" sz="2800" dirty="0"/>
          </a:p>
          <a:p>
            <a:r>
              <a:rPr lang="zh-CN" altLang="en-US" sz="2800" b="1" dirty="0"/>
              <a:t>例</a:t>
            </a:r>
            <a:r>
              <a:rPr lang="en-US" altLang="zh-CN" sz="2800" b="1" dirty="0">
                <a:ea typeface="仿宋_GB2312" pitchFamily="49" charset="-122"/>
              </a:rPr>
              <a:t>2 .</a:t>
            </a:r>
            <a:r>
              <a:rPr lang="zh-CN" altLang="en-US" sz="2800" dirty="0"/>
              <a:t>平面几何中的三角形间的相似关系是等价关系。</a:t>
            </a:r>
          </a:p>
          <a:p>
            <a:endParaRPr lang="zh-CN" altLang="en-US" sz="2800" dirty="0"/>
          </a:p>
          <a:p>
            <a:r>
              <a:rPr lang="zh-CN" altLang="en-US" sz="2800" b="1" dirty="0"/>
              <a:t>例</a:t>
            </a:r>
            <a:r>
              <a:rPr lang="en-US" altLang="zh-CN" sz="2800" b="1" dirty="0">
                <a:ea typeface="仿宋_GB2312" pitchFamily="49" charset="-122"/>
              </a:rPr>
              <a:t>3 .</a:t>
            </a:r>
            <a:r>
              <a:rPr lang="zh-CN" altLang="en-US" sz="2800" dirty="0"/>
              <a:t>平面几何中的三角形间的全等关系是等价关系。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0206DE-A558-4B8D-85D1-997629BA62A4}"/>
              </a:ext>
            </a:extLst>
          </p:cNvPr>
          <p:cNvSpPr/>
          <p:nvPr/>
        </p:nvSpPr>
        <p:spPr>
          <a:xfrm>
            <a:off x="1911926" y="3655829"/>
            <a:ext cx="1144385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4 .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是自然数集，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是一正整数，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R={(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sz="2800" b="1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N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bN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 a  b (mod  m)}</a:t>
            </a:r>
          </a:p>
          <a:p>
            <a:pPr>
              <a:lnSpc>
                <a:spcPct val="90000"/>
              </a:lnSpc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例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5.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非空集合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上的恒等关系、全关系都是等价关系。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7245E7DF-E4EC-0821-EAE0-E0B71B820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3575" y="0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80941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5225349-92C2-4596-B717-9A86F5282857}"/>
              </a:ext>
            </a:extLst>
          </p:cNvPr>
          <p:cNvSpPr/>
          <p:nvPr/>
        </p:nvSpPr>
        <p:spPr>
          <a:xfrm>
            <a:off x="2089714" y="949740"/>
            <a:ext cx="9725890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例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非空集合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上的空关系不是等价关系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因为空关系不自反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>
              <a:lnSpc>
                <a:spcPct val="90000"/>
              </a:lnSpc>
            </a:pP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例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7.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设二元关系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A×A,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这里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A={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, R={(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</a:p>
        </p:txBody>
      </p:sp>
      <p:grpSp>
        <p:nvGrpSpPr>
          <p:cNvPr id="5" name="Group 45">
            <a:extLst>
              <a:ext uri="{FF2B5EF4-FFF2-40B4-BE49-F238E27FC236}">
                <a16:creationId xmlns:a16="http://schemas.microsoft.com/office/drawing/2014/main" id="{1B4DAEB0-FA94-4542-948C-F474271653C0}"/>
              </a:ext>
            </a:extLst>
          </p:cNvPr>
          <p:cNvGrpSpPr>
            <a:grpSpLocks/>
          </p:cNvGrpSpPr>
          <p:nvPr/>
        </p:nvGrpSpPr>
        <p:grpSpPr bwMode="auto">
          <a:xfrm>
            <a:off x="4057059" y="3212981"/>
            <a:ext cx="2895600" cy="2301875"/>
            <a:chOff x="2316" y="576"/>
            <a:chExt cx="1824" cy="1450"/>
          </a:xfrm>
        </p:grpSpPr>
        <p:sp>
          <p:nvSpPr>
            <p:cNvPr id="6" name="Oval 12">
              <a:extLst>
                <a:ext uri="{FF2B5EF4-FFF2-40B4-BE49-F238E27FC236}">
                  <a16:creationId xmlns:a16="http://schemas.microsoft.com/office/drawing/2014/main" id="{9F800159-1771-4B85-A8F4-5BD3CAD9F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" y="960"/>
              <a:ext cx="48" cy="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Oval 13">
              <a:extLst>
                <a:ext uri="{FF2B5EF4-FFF2-40B4-BE49-F238E27FC236}">
                  <a16:creationId xmlns:a16="http://schemas.microsoft.com/office/drawing/2014/main" id="{04E7019D-4672-4C1C-A677-90EA6C8D8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" y="1680"/>
              <a:ext cx="48" cy="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Oval 14">
              <a:extLst>
                <a:ext uri="{FF2B5EF4-FFF2-40B4-BE49-F238E27FC236}">
                  <a16:creationId xmlns:a16="http://schemas.microsoft.com/office/drawing/2014/main" id="{2BFA01B3-8A54-4C41-B2D8-1A226BD06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1680"/>
              <a:ext cx="48" cy="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Oval 15">
              <a:extLst>
                <a:ext uri="{FF2B5EF4-FFF2-40B4-BE49-F238E27FC236}">
                  <a16:creationId xmlns:a16="http://schemas.microsoft.com/office/drawing/2014/main" id="{19251FCD-13FA-425A-8B74-5B3775D12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" y="576"/>
              <a:ext cx="192" cy="288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Oval 16">
              <a:extLst>
                <a:ext uri="{FF2B5EF4-FFF2-40B4-BE49-F238E27FC236}">
                  <a16:creationId xmlns:a16="http://schemas.microsoft.com/office/drawing/2014/main" id="{80B503BD-CFED-4893-91F9-4216A7D5D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6" y="720"/>
              <a:ext cx="240" cy="240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Oval 17">
              <a:extLst>
                <a:ext uri="{FF2B5EF4-FFF2-40B4-BE49-F238E27FC236}">
                  <a16:creationId xmlns:a16="http://schemas.microsoft.com/office/drawing/2014/main" id="{25A8710D-BA82-46FA-BD73-464137598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84"/>
              <a:ext cx="240" cy="240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18">
              <a:extLst>
                <a:ext uri="{FF2B5EF4-FFF2-40B4-BE49-F238E27FC236}">
                  <a16:creationId xmlns:a16="http://schemas.microsoft.com/office/drawing/2014/main" id="{77557D4E-45F5-44F5-8E9C-6FCF5AB14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6" y="1584"/>
              <a:ext cx="240" cy="240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Arc 20">
              <a:extLst>
                <a:ext uri="{FF2B5EF4-FFF2-40B4-BE49-F238E27FC236}">
                  <a16:creationId xmlns:a16="http://schemas.microsoft.com/office/drawing/2014/main" id="{314DF58F-DFEC-496F-89D6-FA5D5ECAA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1344"/>
              <a:ext cx="576" cy="57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Arc 23">
              <a:extLst>
                <a:ext uri="{FF2B5EF4-FFF2-40B4-BE49-F238E27FC236}">
                  <a16:creationId xmlns:a16="http://schemas.microsoft.com/office/drawing/2014/main" id="{2E476472-1BD1-472C-8583-34CC90F199D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604" y="1584"/>
              <a:ext cx="1008" cy="14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Freeform 27">
              <a:extLst>
                <a:ext uri="{FF2B5EF4-FFF2-40B4-BE49-F238E27FC236}">
                  <a16:creationId xmlns:a16="http://schemas.microsoft.com/office/drawing/2014/main" id="{507DDB2C-A79D-490C-A60C-8D9EA5FB5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1739"/>
              <a:ext cx="188" cy="99"/>
            </a:xfrm>
            <a:custGeom>
              <a:avLst/>
              <a:gdLst>
                <a:gd name="T0" fmla="*/ 0 w 188"/>
                <a:gd name="T1" fmla="*/ 0 h 99"/>
                <a:gd name="T2" fmla="*/ 117 w 188"/>
                <a:gd name="T3" fmla="*/ 53 h 99"/>
                <a:gd name="T4" fmla="*/ 171 w 188"/>
                <a:gd name="T5" fmla="*/ 96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99">
                  <a:moveTo>
                    <a:pt x="0" y="0"/>
                  </a:moveTo>
                  <a:cubicBezTo>
                    <a:pt x="38" y="19"/>
                    <a:pt x="81" y="30"/>
                    <a:pt x="117" y="53"/>
                  </a:cubicBezTo>
                  <a:cubicBezTo>
                    <a:pt x="188" y="99"/>
                    <a:pt x="135" y="96"/>
                    <a:pt x="171" y="96"/>
                  </a:cubicBezTo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Oval 33">
              <a:extLst>
                <a:ext uri="{FF2B5EF4-FFF2-40B4-BE49-F238E27FC236}">
                  <a16:creationId xmlns:a16="http://schemas.microsoft.com/office/drawing/2014/main" id="{73017C24-C204-4B85-9241-9874C02E1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4" y="1344"/>
              <a:ext cx="1104" cy="384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34">
              <a:extLst>
                <a:ext uri="{FF2B5EF4-FFF2-40B4-BE49-F238E27FC236}">
                  <a16:creationId xmlns:a16="http://schemas.microsoft.com/office/drawing/2014/main" id="{6051024F-250A-4651-87EE-FC84F7860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4" y="1584"/>
              <a:ext cx="1056" cy="240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Text Box 35">
              <a:extLst>
                <a:ext uri="{FF2B5EF4-FFF2-40B4-BE49-F238E27FC236}">
                  <a16:creationId xmlns:a16="http://schemas.microsoft.com/office/drawing/2014/main" id="{ED361379-4827-41BC-947E-BC982B93E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8" y="1776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b</a:t>
              </a:r>
            </a:p>
          </p:txBody>
        </p:sp>
        <p:sp>
          <p:nvSpPr>
            <p:cNvPr id="19" name="Text Box 36">
              <a:extLst>
                <a:ext uri="{FF2B5EF4-FFF2-40B4-BE49-F238E27FC236}">
                  <a16:creationId xmlns:a16="http://schemas.microsoft.com/office/drawing/2014/main" id="{954B347D-2917-4F8E-90F6-237FF23DCB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2" y="172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c</a:t>
              </a:r>
            </a:p>
          </p:txBody>
        </p:sp>
        <p:sp>
          <p:nvSpPr>
            <p:cNvPr id="20" name="Text Box 37">
              <a:extLst>
                <a:ext uri="{FF2B5EF4-FFF2-40B4-BE49-F238E27FC236}">
                  <a16:creationId xmlns:a16="http://schemas.microsoft.com/office/drawing/2014/main" id="{68B75E32-3F16-462B-9488-2D3ABD44FB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4" y="960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21" name="Line 39">
              <a:extLst>
                <a:ext uri="{FF2B5EF4-FFF2-40B4-BE49-F238E27FC236}">
                  <a16:creationId xmlns:a16="http://schemas.microsoft.com/office/drawing/2014/main" id="{B9B73505-14BE-4500-97A5-C3A388F6E8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912"/>
              <a:ext cx="96" cy="48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 type="triangl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40">
              <a:extLst>
                <a:ext uri="{FF2B5EF4-FFF2-40B4-BE49-F238E27FC236}">
                  <a16:creationId xmlns:a16="http://schemas.microsoft.com/office/drawing/2014/main" id="{6C704664-1039-4CD4-BBEF-1D1DADCBB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2" y="888"/>
              <a:ext cx="96" cy="72"/>
            </a:xfrm>
            <a:custGeom>
              <a:avLst/>
              <a:gdLst>
                <a:gd name="T0" fmla="*/ 96 w 96"/>
                <a:gd name="T1" fmla="*/ 0 h 72"/>
                <a:gd name="T2" fmla="*/ 0 w 96"/>
                <a:gd name="T3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" h="72">
                  <a:moveTo>
                    <a:pt x="96" y="0"/>
                  </a:moveTo>
                  <a:lnTo>
                    <a:pt x="0" y="72"/>
                  </a:lnTo>
                </a:path>
              </a:pathLst>
            </a:cu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41">
              <a:extLst>
                <a:ext uri="{FF2B5EF4-FFF2-40B4-BE49-F238E27FC236}">
                  <a16:creationId xmlns:a16="http://schemas.microsoft.com/office/drawing/2014/main" id="{B2AC3696-7B79-444E-99D1-CD438B29D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6" y="1632"/>
              <a:ext cx="96" cy="56"/>
            </a:xfrm>
            <a:custGeom>
              <a:avLst/>
              <a:gdLst>
                <a:gd name="T0" fmla="*/ 0 w 96"/>
                <a:gd name="T1" fmla="*/ 0 h 56"/>
                <a:gd name="T2" fmla="*/ 96 w 96"/>
                <a:gd name="T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" h="56">
                  <a:moveTo>
                    <a:pt x="0" y="0"/>
                  </a:moveTo>
                  <a:lnTo>
                    <a:pt x="96" y="56"/>
                  </a:lnTo>
                </a:path>
              </a:pathLst>
            </a:cu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42">
              <a:extLst>
                <a:ext uri="{FF2B5EF4-FFF2-40B4-BE49-F238E27FC236}">
                  <a16:creationId xmlns:a16="http://schemas.microsoft.com/office/drawing/2014/main" id="{AAB6D407-82AF-45E2-9AD3-5332E39DC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" y="1724"/>
              <a:ext cx="88" cy="56"/>
            </a:xfrm>
            <a:custGeom>
              <a:avLst/>
              <a:gdLst>
                <a:gd name="T0" fmla="*/ 88 w 88"/>
                <a:gd name="T1" fmla="*/ 56 h 56"/>
                <a:gd name="T2" fmla="*/ 0 w 88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8" h="56">
                  <a:moveTo>
                    <a:pt x="88" y="56"/>
                  </a:moveTo>
                  <a:lnTo>
                    <a:pt x="0" y="0"/>
                  </a:lnTo>
                </a:path>
              </a:pathLst>
            </a:cu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43">
              <a:extLst>
                <a:ext uri="{FF2B5EF4-FFF2-40B4-BE49-F238E27FC236}">
                  <a16:creationId xmlns:a16="http://schemas.microsoft.com/office/drawing/2014/main" id="{7FE6D28A-6CE3-4AE6-A152-94E4BD593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" y="1596"/>
              <a:ext cx="56" cy="84"/>
            </a:xfrm>
            <a:custGeom>
              <a:avLst/>
              <a:gdLst>
                <a:gd name="T0" fmla="*/ 0 w 56"/>
                <a:gd name="T1" fmla="*/ 0 h 84"/>
                <a:gd name="T2" fmla="*/ 56 w 56"/>
                <a:gd name="T3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6" h="84">
                  <a:moveTo>
                    <a:pt x="0" y="0"/>
                  </a:moveTo>
                  <a:lnTo>
                    <a:pt x="56" y="84"/>
                  </a:lnTo>
                </a:path>
              </a:pathLst>
            </a:cu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44">
              <a:extLst>
                <a:ext uri="{FF2B5EF4-FFF2-40B4-BE49-F238E27FC236}">
                  <a16:creationId xmlns:a16="http://schemas.microsoft.com/office/drawing/2014/main" id="{042AA92D-E756-4B6E-B98B-026452D72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2" y="1596"/>
              <a:ext cx="72" cy="76"/>
            </a:xfrm>
            <a:custGeom>
              <a:avLst/>
              <a:gdLst>
                <a:gd name="T0" fmla="*/ 72 w 72"/>
                <a:gd name="T1" fmla="*/ 0 h 76"/>
                <a:gd name="T2" fmla="*/ 0 w 72"/>
                <a:gd name="T3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76">
                  <a:moveTo>
                    <a:pt x="72" y="0"/>
                  </a:moveTo>
                  <a:lnTo>
                    <a:pt x="0" y="76"/>
                  </a:lnTo>
                </a:path>
              </a:pathLst>
            </a:cu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94855268-514F-FC2E-394B-A3B38D938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3575" y="0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72899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87042">
            <a:extLst>
              <a:ext uri="{FF2B5EF4-FFF2-40B4-BE49-F238E27FC236}">
                <a16:creationId xmlns:a16="http://schemas.microsoft.com/office/drawing/2014/main" id="{E1D570F0-2ACC-4C88-B82A-1521DD203E1E}"/>
              </a:ext>
            </a:extLst>
          </p:cNvPr>
          <p:cNvSpPr txBox="1"/>
          <p:nvPr/>
        </p:nvSpPr>
        <p:spPr>
          <a:xfrm>
            <a:off x="1798291" y="1455738"/>
            <a:ext cx="8242789" cy="4077014"/>
          </a:xfrm>
          <a:prstGeom prst="rect">
            <a:avLst/>
          </a:prstGeom>
          <a:noFill/>
          <a:ln w="9525" cap="flat" cmpd="sng">
            <a:solidFill>
              <a:srgbClr val="0033CC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lnSpc>
                <a:spcPct val="19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imSun" panose="02010600030101010101" pitchFamily="2" charset="-122"/>
              </a:rPr>
              <a:t>练习</a:t>
            </a:r>
          </a:p>
          <a:p>
            <a:pPr>
              <a:lnSpc>
                <a:spcPct val="190000"/>
              </a:lnSpc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imSun" panose="02010600030101010101" pitchFamily="2" charset="-122"/>
              </a:rPr>
              <a:t>假设给定了正整数的序偶集合A，在A</a:t>
            </a:r>
            <a:r>
              <a:rPr lang="en-US" altLang="x-none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A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imSun" panose="02010600030101010101" pitchFamily="2" charset="-122"/>
              </a:rPr>
              <a:t>上定义二元关系R如下：</a:t>
            </a:r>
          </a:p>
          <a:p>
            <a:pPr>
              <a:lnSpc>
                <a:spcPct val="190000"/>
              </a:lnSpc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imSun" panose="02010600030101010101" pitchFamily="2" charset="-122"/>
              </a:rPr>
              <a:t>&lt;&lt;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imSun" panose="02010600030101010101" pitchFamily="2" charset="-122"/>
              </a:rPr>
              <a:t>x,y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imSun" panose="02010600030101010101" pitchFamily="2" charset="-122"/>
              </a:rPr>
              <a:t>&gt;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imSun" panose="02010600030101010101" pitchFamily="2" charset="-122"/>
              </a:rPr>
              <a:t>,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imSun" panose="02010600030101010101" pitchFamily="2" charset="-122"/>
              </a:rPr>
              <a:t>&lt;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imSun" panose="02010600030101010101" pitchFamily="2" charset="-122"/>
              </a:rPr>
              <a:t>u,v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imSun" panose="02010600030101010101" pitchFamily="2" charset="-122"/>
              </a:rPr>
              <a:t>&gt;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imSun" panose="02010600030101010101" pitchFamily="2" charset="-122"/>
              </a:rPr>
              <a:t>&gt;</a:t>
            </a:r>
            <a:r>
              <a:rPr lang="en-US" altLang="x-none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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imSun" panose="02010600030101010101" pitchFamily="2" charset="-122"/>
              </a:rPr>
              <a:t>R，当且仅当x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imSun" panose="02010600030101010101" pitchFamily="2" charset="-122"/>
              </a:rPr>
              <a:t>·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imSun" panose="02010600030101010101" pitchFamily="2" charset="-122"/>
              </a:rPr>
              <a:t>v=y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imSun" panose="02010600030101010101" pitchFamily="2" charset="-122"/>
              </a:rPr>
              <a:t>·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imSun" panose="02010600030101010101" pitchFamily="2" charset="-122"/>
              </a:rPr>
              <a:t>u，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imSun" panose="02010600030101010101" pitchFamily="2" charset="-122"/>
              </a:rPr>
              <a:t>·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imSun" panose="02010600030101010101" pitchFamily="2" charset="-122"/>
              </a:rPr>
              <a:t>为一般乘法。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  <a:sym typeface="SimSun" panose="02010600030101010101" pitchFamily="2" charset="-122"/>
            </a:endParaRPr>
          </a:p>
          <a:p>
            <a:pPr>
              <a:lnSpc>
                <a:spcPct val="19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imSun" panose="02010600030101010101" pitchFamily="2" charset="-12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imSun" panose="02010600030101010101" pitchFamily="2" charset="-122"/>
              </a:rPr>
              <a:t>是否为等价关系？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imSun" panose="02010600030101010101" pitchFamily="2" charset="-12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CC45F77F-6515-7C91-DD7A-955A53B75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3575" y="0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973897"/>
      </p:ext>
    </p:extLst>
  </p:cSld>
  <p:clrMapOvr>
    <a:masterClrMapping/>
  </p:clrMapOvr>
  <p:transition spd="slow" advTm="0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991A4C5-197A-4155-88A1-A02D1FC573FA}"/>
              </a:ext>
            </a:extLst>
          </p:cNvPr>
          <p:cNvSpPr txBox="1"/>
          <p:nvPr/>
        </p:nvSpPr>
        <p:spPr>
          <a:xfrm>
            <a:off x="1894584" y="1032812"/>
            <a:ext cx="9249255" cy="4548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非空集合，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是满足下列条件的集合。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中元素是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的非空子集。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中任一元素至少属于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中一个元素，即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中各元素之并等于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覆盖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，如果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还满足条件：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中元素互不相交。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分划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中每一个元素叫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分划块。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DFCEC0-80AA-495E-824E-619FAD8FC62B}"/>
              </a:ext>
            </a:extLst>
          </p:cNvPr>
          <p:cNvSpPr txBox="1"/>
          <p:nvPr/>
        </p:nvSpPr>
        <p:spPr>
          <a:xfrm>
            <a:off x="1500187" y="5825188"/>
            <a:ext cx="9392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A={0,1,2,3,4}</a:t>
            </a:r>
            <a:r>
              <a:rPr lang="zh-CN" altLang="en-US" sz="2800" dirty="0"/>
              <a:t>，</a:t>
            </a:r>
            <a:r>
              <a:rPr lang="en-US" altLang="zh-CN" sz="2800" dirty="0"/>
              <a:t>π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={{0,1}, {1,2}, {2,3,4}}</a:t>
            </a:r>
            <a:r>
              <a:rPr lang="zh-CN" altLang="en-US" sz="2800" dirty="0"/>
              <a:t>，</a:t>
            </a:r>
            <a:r>
              <a:rPr lang="en-US" altLang="zh-CN" sz="2800" dirty="0"/>
              <a:t>π</a:t>
            </a:r>
            <a:r>
              <a:rPr lang="en-US" altLang="zh-CN" sz="2800" baseline="-25000" dirty="0"/>
              <a:t>2=</a:t>
            </a:r>
            <a:r>
              <a:rPr lang="en-US" altLang="zh-CN" sz="2800" dirty="0"/>
              <a:t>{{0,1}, {2,3}, {4}}</a:t>
            </a:r>
            <a:endParaRPr lang="zh-CN" altLang="en-US" sz="2800" dirty="0"/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67DE093A-7C80-9292-E6FE-34E5210EA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3575" y="0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65090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A93AFA6-F97C-4E0F-BA2E-AE2EFB240DE2}"/>
              </a:ext>
            </a:extLst>
          </p:cNvPr>
          <p:cNvSpPr txBox="1"/>
          <p:nvPr/>
        </p:nvSpPr>
        <p:spPr>
          <a:xfrm>
            <a:off x="2313912" y="1248270"/>
            <a:ext cx="7828317" cy="1963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π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都是集合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分划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，如果对每个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均有一个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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，则称分划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π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是分划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π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细分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或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加细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192681-AE7B-1D04-3286-BB3600E92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3575" y="0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006096"/>
      </p:ext>
    </p:extLst>
  </p:cSld>
  <p:clrMapOvr>
    <a:masterClrMapping/>
  </p:clrMapOvr>
  <p:transition spd="slow" advTm="0">
    <p:wip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9268</TotalTime>
  <Words>3755</Words>
  <Application>Microsoft Office PowerPoint</Application>
  <PresentationFormat>宽屏</PresentationFormat>
  <Paragraphs>418</Paragraphs>
  <Slides>41</Slides>
  <Notes>41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60" baseType="lpstr">
      <vt:lpstr>Arial Unicode MS</vt:lpstr>
      <vt:lpstr>等线</vt:lpstr>
      <vt:lpstr>等线 Light</vt:lpstr>
      <vt:lpstr>仿宋_GB2312</vt:lpstr>
      <vt:lpstr>黑体</vt:lpstr>
      <vt:lpstr>KaiTi</vt:lpstr>
      <vt:lpstr>楷体_GB2312</vt:lpstr>
      <vt:lpstr>宋体</vt:lpstr>
      <vt:lpstr>Microsoft YaHei</vt:lpstr>
      <vt:lpstr>Microsoft YaHei Light</vt:lpstr>
      <vt:lpstr>Arial</vt:lpstr>
      <vt:lpstr>Arial Black</vt:lpstr>
      <vt:lpstr>Lucida Handwriting</vt:lpstr>
      <vt:lpstr>Segoe UI Semibold</vt:lpstr>
      <vt:lpstr>Symbol</vt:lpstr>
      <vt:lpstr>Times New Roman</vt:lpstr>
      <vt:lpstr>Wingdings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77</dc:creator>
  <cp:lastModifiedBy>y z</cp:lastModifiedBy>
  <cp:revision>113</cp:revision>
  <dcterms:created xsi:type="dcterms:W3CDTF">2019-03-24T11:36:16Z</dcterms:created>
  <dcterms:modified xsi:type="dcterms:W3CDTF">2025-11-17T02:41:21Z</dcterms:modified>
</cp:coreProperties>
</file>