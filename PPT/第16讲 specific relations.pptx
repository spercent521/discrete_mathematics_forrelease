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445" r:id="rId2"/>
    <p:sldId id="1374" r:id="rId3"/>
    <p:sldId id="1511" r:id="rId4"/>
    <p:sldId id="1515" r:id="rId5"/>
    <p:sldId id="1519" r:id="rId6"/>
    <p:sldId id="1522" r:id="rId7"/>
    <p:sldId id="1526" r:id="rId8"/>
    <p:sldId id="1528" r:id="rId9"/>
    <p:sldId id="2329" r:id="rId10"/>
    <p:sldId id="2331" r:id="rId11"/>
    <p:sldId id="2332" r:id="rId12"/>
    <p:sldId id="1547" r:id="rId13"/>
    <p:sldId id="2333" r:id="rId14"/>
    <p:sldId id="1500" r:id="rId15"/>
    <p:sldId id="1548" r:id="rId16"/>
    <p:sldId id="1549" r:id="rId17"/>
    <p:sldId id="1550" r:id="rId18"/>
    <p:sldId id="2334" r:id="rId19"/>
    <p:sldId id="1481" r:id="rId20"/>
    <p:sldId id="2335" r:id="rId21"/>
    <p:sldId id="2336" r:id="rId22"/>
    <p:sldId id="1484" r:id="rId23"/>
    <p:sldId id="2337" r:id="rId24"/>
    <p:sldId id="1455" r:id="rId25"/>
    <p:sldId id="1468" r:id="rId26"/>
    <p:sldId id="1469" r:id="rId27"/>
    <p:sldId id="1470" r:id="rId28"/>
    <p:sldId id="1471" r:id="rId29"/>
    <p:sldId id="1472" r:id="rId30"/>
    <p:sldId id="1473" r:id="rId31"/>
    <p:sldId id="1474" r:id="rId32"/>
    <p:sldId id="2341" r:id="rId33"/>
    <p:sldId id="2342" r:id="rId34"/>
    <p:sldId id="2328" r:id="rId35"/>
    <p:sldId id="2373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66" autoAdjust="0"/>
  </p:normalViewPr>
  <p:slideViewPr>
    <p:cSldViewPr snapToGrid="0">
      <p:cViewPr varScale="1">
        <p:scale>
          <a:sx n="67" d="100"/>
          <a:sy n="67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5E74C-0388-460B-8A1A-12262F716AB4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12EA6-5A00-4649-A385-8C3D605DC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41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2214FF63-7E78-4CEA-B78B-294BDB7C41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999858BC-515F-4514-A470-A99FA05D1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DB2CFB14-3F96-47B7-9206-1409F9E89C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22AA93-F3F5-44B4-89DC-39F3993E743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79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259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797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656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283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816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3962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248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907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513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9685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4933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2450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2930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7730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1249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7093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7263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2753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131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8867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3669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6548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3262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0087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7150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3882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6624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8965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4865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2982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7CF92-8758-9F08-2BBA-1CB3CC52C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AD8F0475-8191-ED6F-963F-2AAB64D43A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FF5E2886-98CB-CE67-098E-138A807B0E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6A798A62-B573-246A-6EEB-66DAFD8396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8272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8AB18-B4D8-5B13-3660-29BEB88AC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E6677CA2-7502-C834-3C79-0B6C1EB0B7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47745E5F-F34C-7CD9-2FBD-00B088EFA5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920F6976-FA62-5FCD-C2E3-58BC933451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8666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3630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363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38839-3093-4729-8FEC-B8F7E98C0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6451D4-D3E9-4B1A-95FF-7D3B8AF5E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3796E7-D825-4C6E-BB57-A7CD8789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09B286-5F09-4022-9FBE-42A79B112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B49831-1415-4A89-9C0F-0B710298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948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F371C-923A-4556-89D9-6D9283A0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452F5-C1B4-4538-A3E8-6DDD4E3FA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AD3449-79F7-4668-B887-D81CE8C8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3B59D-BF5B-4DBC-9568-C8AAA663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140E4E-BBD4-4D8B-98E4-EA30CF02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86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BCA1D-712E-4F01-BAE5-8839C0DA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AE37AA-2A2A-48D0-8688-D6F59D667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A6700-85CF-420A-ABAE-FF91735E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62237A-DAB1-4E98-8B5B-CC1845DB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5D0C69-48ED-4B44-A7D1-9AE23383C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40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6A286-E7EE-4D49-B4B0-76832A50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139823-13D0-4FEF-A29A-E79B58662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9679F6-6354-42A0-8470-199F28220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8206FB-A032-418A-BB97-4CE861AB4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238BE2-4D63-4513-89E9-8162B99B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67CBF8-AFBC-4D68-AF29-C94A9700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45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09053-D199-4CC7-98FA-E112AB4B4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2E4443-2D08-45C3-A860-96FD1AF4F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96351A-C85B-412D-9175-4D3FD33E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1DAADB-9A7A-4973-AE1B-CED0F8308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AFD96D-F559-4505-952C-8BA09BFA9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5D621F-C4F8-4B34-A7F6-16826D05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B6E70F-70C0-4744-BA5C-79003E6B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C0EED7-721D-410A-8683-671A021E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76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05F9F-E778-4AF2-97CA-47B468DC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461C9F-E0FE-424D-BAD5-9433FCE03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C30F9B-24B1-4F3C-B51F-EF11DC10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1B3E22-D4E5-4B77-801C-2F976DDD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25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BE8AAB-8A93-4DA4-91BB-AA1694AF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338EE8-71EA-462E-A54F-FCC3FC6F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7FFFDF-496B-4AE6-A7F6-4838B6C6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82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B799E-158D-4F13-B1D8-75C44E56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3B7AF-9C05-48B9-B50C-1D3595D5E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F83C59-6E43-49DE-9EA3-A9A734C2F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972035-E581-4546-A646-9CE73C3E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16B245-4FB7-4C26-88C6-480F9328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EA37DF-1C3E-4187-9F19-56F9CF40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31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CBD2-48C7-4DD4-85B9-665DB9CA2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43F06E-1C36-4C66-9E8E-1B38D38BB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2AACA3-D5EA-4976-B46A-426D9DD6B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97B16B-9109-428A-AA9F-6433D823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A6ED09-92F3-4027-B4D7-6B8809BEC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EE1814-E277-48BF-A37C-B8DC2307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023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B03DE-A4A4-4F0A-A9BD-028DD3FCE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4C1679-A24E-4034-B873-263855CD3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D25EB0-BC97-43A3-83EE-556D5C864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A40581-EA82-4D2B-98B5-74D4D112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9EE154-45E0-4D8D-8A71-8D4CF08F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67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EE343A-5B65-4716-95F1-9E48DCD8C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6F6630-FD54-4703-A7DD-DF2E514B5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43D9D7-7F8E-4C14-8CA9-F338013DD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1EEFCF-892B-49DF-A6EE-D431C832B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FF0452-FBD7-4399-AEDE-FC430C2E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282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73D5CAC-F429-4F2F-9F7B-6223C359040B}"/>
              </a:ext>
            </a:extLst>
          </p:cNvPr>
          <p:cNvSpPr txBox="1"/>
          <p:nvPr userDrawn="1"/>
        </p:nvSpPr>
        <p:spPr>
          <a:xfrm>
            <a:off x="76200" y="117475"/>
            <a:ext cx="1701800" cy="676275"/>
          </a:xfrm>
          <a:prstGeom prst="rect">
            <a:avLst/>
          </a:prstGeom>
          <a:noFill/>
        </p:spPr>
        <p:txBody>
          <a:bodyPr lIns="121900" tIns="60949" rIns="121900" bIns="60949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598" b="1" spc="-15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598" b="1" spc="-15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4DE135-33BF-4676-B43F-8AA62673A58B}"/>
              </a:ext>
            </a:extLst>
          </p:cNvPr>
          <p:cNvCxnSpPr/>
          <p:nvPr userDrawn="1"/>
        </p:nvCxnSpPr>
        <p:spPr>
          <a:xfrm>
            <a:off x="1562100" y="693738"/>
            <a:ext cx="106299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65028"/>
      </p:ext>
    </p:extLst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591E61-2795-47C4-BFA6-697F942D9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4E90BB-9C04-4BA4-8EBF-3BD6F7FF9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86B6A8-6B45-45E5-A763-39B87EACB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54364-00D7-41EA-9F35-087FAD37449B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F0F76C-578E-4398-A65C-C96041DE2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81C9BE-7819-4C7C-BFE7-801F21DF3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031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jpeg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eg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>
            <a:extLst>
              <a:ext uri="{FF2B5EF4-FFF2-40B4-BE49-F238E27FC236}">
                <a16:creationId xmlns:a16="http://schemas.microsoft.com/office/drawing/2014/main" id="{13E189C7-8218-4052-85AE-E01EC112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073">
            <a:extLst>
              <a:ext uri="{FF2B5EF4-FFF2-40B4-BE49-F238E27FC236}">
                <a16:creationId xmlns:a16="http://schemas.microsoft.com/office/drawing/2014/main" id="{F7D2571E-1D87-457C-8CCC-C3C98F94D652}"/>
              </a:ext>
            </a:extLst>
          </p:cNvPr>
          <p:cNvSpPr>
            <a:spLocks noGrp="1"/>
          </p:cNvSpPr>
          <p:nvPr/>
        </p:nvSpPr>
        <p:spPr>
          <a:xfrm>
            <a:off x="2390775" y="3140075"/>
            <a:ext cx="7772400" cy="950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noProof="1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charset="-122"/>
                <a:ea typeface="KaiTi" panose="02010609060101010101" charset="-122"/>
                <a:cs typeface="Times New Roman" panose="02020603050405020304" pitchFamily="2" charset="0"/>
              </a:rPr>
              <a:t>离散数学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noProof="1">
                <a:solidFill>
                  <a:srgbClr val="0066FF"/>
                </a:solidFill>
                <a:latin typeface="Arial Black" panose="020B0A04020102020204" charset="0"/>
                <a:ea typeface="+mn-ea"/>
                <a:cs typeface="Times New Roman" panose="02020603050405020304" pitchFamily="2" charset="0"/>
              </a:rPr>
              <a:t>Discrete Mathematics</a:t>
            </a:r>
          </a:p>
        </p:txBody>
      </p:sp>
      <p:sp>
        <p:nvSpPr>
          <p:cNvPr id="4100" name="矩形 3074">
            <a:extLst>
              <a:ext uri="{FF2B5EF4-FFF2-40B4-BE49-F238E27FC236}">
                <a16:creationId xmlns:a16="http://schemas.microsoft.com/office/drawing/2014/main" id="{AA238628-3C73-45C1-88BF-CA2DFF4F68C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85900" y="4337050"/>
            <a:ext cx="91043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计算机学院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吴亦奇  </a:t>
            </a:r>
            <a:r>
              <a:rPr lang="en-US" altLang="zh-CN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wuyq</a:t>
            </a:r>
            <a:r>
              <a:rPr lang="zh-CN" altLang="en-US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@cug.edu.cn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内容占位符 3076">
            <a:extLst>
              <a:ext uri="{FF2B5EF4-FFF2-40B4-BE49-F238E27FC236}">
                <a16:creationId xmlns:a16="http://schemas.microsoft.com/office/drawing/2014/main" id="{31156996-2154-42A9-9D69-9E3C40E3A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52513"/>
            <a:ext cx="9137650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821093"/>
      </p:ext>
    </p:extLst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5C4381-AF5E-41B0-9965-3FCFAB2117DB}"/>
              </a:ext>
            </a:extLst>
          </p:cNvPr>
          <p:cNvSpPr/>
          <p:nvPr/>
        </p:nvSpPr>
        <p:spPr>
          <a:xfrm>
            <a:off x="3520505" y="2850957"/>
            <a:ext cx="523412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黑体" panose="02010609060101010101" pitchFamily="49" charset="-122"/>
                <a:cs typeface="+mj-cs"/>
              </a:rPr>
              <a:t>特殊关系</a:t>
            </a:r>
            <a:endParaRPr lang="en-US" altLang="zh-CN" sz="4800" b="1" dirty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黑体" panose="02010609060101010101" pitchFamily="49" charset="-122"/>
              <a:cs typeface="+mj-cs"/>
            </a:endParaRPr>
          </a:p>
          <a:p>
            <a:pPr algn="ctr"/>
            <a:r>
              <a:rPr lang="en-US" altLang="zh-CN" sz="4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黑体" panose="02010609060101010101" pitchFamily="49" charset="-122"/>
                <a:cs typeface="+mj-cs"/>
              </a:rPr>
              <a:t> </a:t>
            </a:r>
            <a:r>
              <a:rPr lang="en-US" altLang="zh-C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Specific Relations</a:t>
            </a:r>
            <a:endParaRPr lang="zh-CN" altLang="en-US" sz="48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黑体" panose="02010609060101010101" pitchFamily="49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1004224"/>
      </p:ext>
    </p:extLst>
  </p:cSld>
  <p:clrMapOvr>
    <a:masterClrMapping/>
  </p:clrMapOvr>
  <p:transition spd="slow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E98D600-0492-422F-A1C8-CB6082C6F204}"/>
              </a:ext>
            </a:extLst>
          </p:cNvPr>
          <p:cNvSpPr/>
          <p:nvPr/>
        </p:nvSpPr>
        <p:spPr>
          <a:xfrm>
            <a:off x="1577723" y="1455738"/>
            <a:ext cx="10788871" cy="5831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设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的函数，即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。则我们称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单射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(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X)(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X)(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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(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X)(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X)(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=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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满射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)(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 R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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双射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既是单射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又是满射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1FA3C6-9BCE-45B4-BBAC-A1AAF57A5447}"/>
              </a:ext>
            </a:extLst>
          </p:cNvPr>
          <p:cNvSpPr txBox="1"/>
          <p:nvPr/>
        </p:nvSpPr>
        <p:spPr>
          <a:xfrm>
            <a:off x="1686267" y="870963"/>
            <a:ext cx="3774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函数的类型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93757F-CBBF-B43B-BD2C-84F7353DF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378472"/>
      </p:ext>
    </p:extLst>
  </p:cSld>
  <p:clrMapOvr>
    <a:masterClrMapping/>
  </p:clrMapOvr>
  <p:transition spd="slow" advTm="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AF57562-78D8-494D-9797-A6595DC86648}"/>
              </a:ext>
            </a:extLst>
          </p:cNvPr>
          <p:cNvSpPr txBox="1"/>
          <p:nvPr/>
        </p:nvSpPr>
        <p:spPr>
          <a:xfrm>
            <a:off x="1751013" y="748208"/>
            <a:ext cx="3774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函数的运算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31584B-3734-4844-80C4-09F66B3002EB}"/>
              </a:ext>
            </a:extLst>
          </p:cNvPr>
          <p:cNvSpPr txBox="1"/>
          <p:nvPr/>
        </p:nvSpPr>
        <p:spPr>
          <a:xfrm>
            <a:off x="1697230" y="1386485"/>
            <a:ext cx="2157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复合函数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25BC1E-CB5C-48A2-B10C-863E6966E959}"/>
              </a:ext>
            </a:extLst>
          </p:cNvPr>
          <p:cNvSpPr/>
          <p:nvPr/>
        </p:nvSpPr>
        <p:spPr>
          <a:xfrm>
            <a:off x="1751013" y="1801824"/>
            <a:ext cx="9557286" cy="3254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 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是两个函数。则复合关系</a:t>
            </a:r>
          </a:p>
          <a:p>
            <a:pPr>
              <a:lnSpc>
                <a:spcPct val="150000"/>
              </a:lnSpc>
            </a:pP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20000" dirty="0"/>
              <a:t> o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X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Z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(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 z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={(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Z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(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称为函数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的复合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20000" dirty="0">
                <a:solidFill>
                  <a:srgbClr val="C00000"/>
                </a:solidFill>
              </a:rPr>
              <a:t> o 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称为函数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的复合函数。记为　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en-US" altLang="zh-CN" sz="2800" baseline="20000" dirty="0">
                <a:solidFill>
                  <a:srgbClr val="C00000"/>
                </a:solidFill>
              </a:rPr>
              <a:t> o 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/g</a:t>
            </a:r>
            <a:r>
              <a:rPr lang="en-US" altLang="zh-CN" sz="2800" baseline="20000" dirty="0">
                <a:solidFill>
                  <a:srgbClr val="C00000"/>
                </a:solidFill>
              </a:rPr>
              <a:t> o 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8D607F-8DFE-4BE1-B8F1-4F05F0108225}"/>
              </a:ext>
            </a:extLst>
          </p:cNvPr>
          <p:cNvSpPr/>
          <p:nvPr/>
        </p:nvSpPr>
        <p:spPr>
          <a:xfrm>
            <a:off x="3153254" y="5309605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对任何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，有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aseline="20000" dirty="0">
                <a:solidFill>
                  <a:srgbClr val="C00000"/>
                </a:solidFill>
              </a:rPr>
              <a:t> o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) 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0ED97F46-72C6-EEE9-E55F-3D9160E85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251887"/>
      </p:ext>
    </p:extLst>
  </p:cSld>
  <p:clrMapOvr>
    <a:masterClrMapping/>
  </p:clrMapOvr>
  <p:transition spd="slow" advTm="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F4E857D-34A6-4B5E-8927-D743E66019DA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2" y="894665"/>
            <a:ext cx="8741563" cy="571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b="1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Y, 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Z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是两个函数。则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都是单射函数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baseline="20000" dirty="0"/>
              <a:t>o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也是单射函数；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都是满射函数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baseline="20000" dirty="0"/>
              <a:t>o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也是满射函数；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都是双射函数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baseline="20000" dirty="0"/>
              <a:t>o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也是双射函数。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5F3D9C-F8C3-4274-A072-534EA6C33BC3}"/>
              </a:ext>
            </a:extLst>
          </p:cNvPr>
          <p:cNvSpPr/>
          <p:nvPr/>
        </p:nvSpPr>
        <p:spPr>
          <a:xfrm>
            <a:off x="1699425" y="3355313"/>
            <a:ext cx="9194435" cy="26080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Y,  </a:t>
            </a:r>
            <a:r>
              <a:rPr lang="en-US" altLang="zh-CN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Z 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是两个函数。则</a:t>
            </a:r>
          </a:p>
          <a:p>
            <a:pPr lvl="0">
              <a:lnSpc>
                <a:spcPct val="150000"/>
              </a:lnSpc>
            </a:pP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如果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800" baseline="20000" dirty="0">
                <a:solidFill>
                  <a:prstClr val="black"/>
                </a:solidFill>
              </a:rPr>
              <a:t>o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是单射函数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是单射函数；</a:t>
            </a:r>
          </a:p>
          <a:p>
            <a:pPr lvl="0">
              <a:lnSpc>
                <a:spcPct val="150000"/>
              </a:lnSpc>
            </a:pP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如果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800" baseline="20000" dirty="0">
                <a:solidFill>
                  <a:prstClr val="black"/>
                </a:solidFill>
              </a:rPr>
              <a:t>o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是满射函数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是满射函数；</a:t>
            </a:r>
          </a:p>
          <a:p>
            <a:pPr lvl="0">
              <a:lnSpc>
                <a:spcPct val="150000"/>
              </a:lnSpc>
            </a:pP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如果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800" baseline="20000" dirty="0">
                <a:solidFill>
                  <a:prstClr val="black"/>
                </a:solidFill>
              </a:rPr>
              <a:t>o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是双射函数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是单射函数，</a:t>
            </a:r>
            <a:r>
              <a:rPr lang="en-US" altLang="zh-CN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 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是满射函数。                        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D1125F37-BC4F-DECE-625F-46AACE55E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604427"/>
      </p:ext>
    </p:extLst>
  </p:cSld>
  <p:clrMapOvr>
    <a:masterClrMapping/>
  </p:clrMapOvr>
  <p:transition spd="slow" advTm="0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4A8AAC5-262E-4FFE-88F3-086438B5BAD4}"/>
              </a:ext>
            </a:extLst>
          </p:cNvPr>
          <p:cNvSpPr txBox="1"/>
          <p:nvPr/>
        </p:nvSpPr>
        <p:spPr>
          <a:xfrm>
            <a:off x="1449705" y="1455738"/>
            <a:ext cx="2157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逆（反）函数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BB66FD0-27EA-4EED-B053-7AC3BD43419A}"/>
              </a:ext>
            </a:extLst>
          </p:cNvPr>
          <p:cNvSpPr txBox="1"/>
          <p:nvPr/>
        </p:nvSpPr>
        <p:spPr>
          <a:xfrm>
            <a:off x="1087325" y="2100958"/>
            <a:ext cx="825476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双射函数　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的逆关系</a:t>
            </a: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–1 </a:t>
            </a: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是一个从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的双射函数；我们称其为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的逆函数，记为　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。</a:t>
            </a:r>
          </a:p>
          <a:p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9236D0-184A-6687-9A74-D8ADF391A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510852"/>
      </p:ext>
    </p:extLst>
  </p:cSld>
  <p:clrMapOvr>
    <a:masterClrMapping/>
  </p:clrMapOvr>
  <p:transition spd="slow" advTm="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A4C03CB-77BA-4F40-A750-F74172745F2D}"/>
              </a:ext>
            </a:extLst>
          </p:cNvPr>
          <p:cNvSpPr txBox="1"/>
          <p:nvPr/>
        </p:nvSpPr>
        <p:spPr>
          <a:xfrm>
            <a:off x="1339107" y="1266738"/>
            <a:ext cx="1072113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X→Y</a:t>
            </a: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Y→X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）若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800" i="1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I</a:t>
            </a:r>
            <a:r>
              <a:rPr lang="en-US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则称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左可逆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的，并称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左逆函数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，简称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左逆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）若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i="1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= I</a:t>
            </a:r>
            <a:r>
              <a:rPr lang="en-US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则称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右可逆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的，并称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右逆函数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，简称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右逆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71FF85-DBB2-DB7E-8FB6-907E63E89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885882"/>
      </p:ext>
    </p:extLst>
  </p:cSld>
  <p:clrMapOvr>
    <a:masterClrMapping/>
  </p:clrMapOvr>
  <p:transition spd="slow" advTm="0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F3C28B8-98A7-4BFB-A45E-143223F95CF8}"/>
              </a:ext>
            </a:extLst>
          </p:cNvPr>
          <p:cNvSpPr/>
          <p:nvPr/>
        </p:nvSpPr>
        <p:spPr>
          <a:xfrm>
            <a:off x="1751013" y="874039"/>
            <a:ext cx="8450000" cy="3255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≠ 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有左逆元</a:t>
            </a:r>
            <a:r>
              <a:rPr lang="zh-CN" altLang="en-US" sz="2800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是单射的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有右逆元</a:t>
            </a:r>
            <a:r>
              <a:rPr lang="zh-CN" altLang="en-US" sz="2800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是满射的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有左逆元和右逆元，</a:t>
            </a:r>
            <a:r>
              <a:rPr lang="zh-CN" altLang="en-US" sz="2800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是双射的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是双射的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的左逆元和右逆元相等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F69BF3-3412-8064-F7FA-F23D390A7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913183"/>
      </p:ext>
    </p:extLst>
  </p:cSld>
  <p:clrMapOvr>
    <a:masterClrMapping/>
  </p:clrMapOvr>
  <p:transition spd="slow" advTm="0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52D87AD-7CB0-4A6B-B2FF-9E8E5D33EED8}"/>
              </a:ext>
            </a:extLst>
          </p:cNvPr>
          <p:cNvSpPr txBox="1"/>
          <p:nvPr/>
        </p:nvSpPr>
        <p:spPr>
          <a:xfrm>
            <a:off x="1691807" y="1031080"/>
            <a:ext cx="3774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集合的基数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FB65DAB-48D4-4403-A682-5A43C35C7495}"/>
              </a:ext>
            </a:extLst>
          </p:cNvPr>
          <p:cNvSpPr txBox="1">
            <a:spLocks noChangeArrowheads="1"/>
          </p:cNvSpPr>
          <p:nvPr/>
        </p:nvSpPr>
        <p:spPr>
          <a:xfrm>
            <a:off x="1429369" y="1908747"/>
            <a:ext cx="9144000" cy="10431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为两个集合，如果存在从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双射函数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，则称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等势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的，记作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 ~</a:t>
            </a:r>
            <a:r>
              <a:rPr lang="zh-CN" altLang="en-US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≈ </a:t>
            </a:r>
            <a:r>
              <a:rPr lang="zh-CN" altLang="en-US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Y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algn="just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2D032D3-60EB-48DF-B0A0-3300F5EBAB71}"/>
              </a:ext>
            </a:extLst>
          </p:cNvPr>
          <p:cNvSpPr txBox="1">
            <a:spLocks noChangeArrowheads="1"/>
          </p:cNvSpPr>
          <p:nvPr/>
        </p:nvSpPr>
        <p:spPr>
          <a:xfrm>
            <a:off x="1429369" y="4370662"/>
            <a:ext cx="8991600" cy="10431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定理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：设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为任意的集合，则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⑴ 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 ~ 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；⑵  若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 ~ Y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 ~ 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；⑶  若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 ~ Y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 ~ Z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 ~ Z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D7DE1ED-B646-4769-84CC-2C0BFA3AB28A}"/>
              </a:ext>
            </a:extLst>
          </p:cNvPr>
          <p:cNvSpPr txBox="1"/>
          <p:nvPr/>
        </p:nvSpPr>
        <p:spPr>
          <a:xfrm>
            <a:off x="1429369" y="3399658"/>
            <a:ext cx="102270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160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对于任意的集合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，规定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card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card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，当且仅当 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 ~ Y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487183CA-D68B-0FD6-ED70-1A95316AA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23522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52D87AD-7CB0-4A6B-B2FF-9E8E5D33EED8}"/>
              </a:ext>
            </a:extLst>
          </p:cNvPr>
          <p:cNvSpPr txBox="1"/>
          <p:nvPr/>
        </p:nvSpPr>
        <p:spPr>
          <a:xfrm>
            <a:off x="1691807" y="1031080"/>
            <a:ext cx="3774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集合的基数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7D51A076-D4BC-4148-A4A8-A0AC30C8D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807" y="2130052"/>
            <a:ext cx="8839200" cy="1303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sz="2800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={0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-1}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，如果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∅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或与某个</a:t>
            </a:r>
            <a:r>
              <a:rPr lang="en-US" altLang="zh-CN" sz="2800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等势，则称集合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有限集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，否则称集合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无限集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927CD0F-CABE-40F8-A2D9-16209C44FBF3}"/>
              </a:ext>
            </a:extLst>
          </p:cNvPr>
          <p:cNvSpPr txBox="1"/>
          <p:nvPr/>
        </p:nvSpPr>
        <p:spPr>
          <a:xfrm>
            <a:off x="1691807" y="3694847"/>
            <a:ext cx="8428737" cy="113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对于任意有限集合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，规定与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等势的</a:t>
            </a:r>
            <a:r>
              <a:rPr lang="en-US" altLang="zh-CN" sz="2400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所对应的唯一的自然数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的基数，记作  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card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369FE8E1-028F-6D95-3E4D-0B66BE669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347522"/>
      </p:ext>
    </p:extLst>
  </p:cSld>
  <p:clrMapOvr>
    <a:masterClrMapping/>
  </p:clrMapOvr>
  <p:transition spd="slow" advTm="0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52D87AD-7CB0-4A6B-B2FF-9E8E5D33EED8}"/>
              </a:ext>
            </a:extLst>
          </p:cNvPr>
          <p:cNvSpPr txBox="1"/>
          <p:nvPr/>
        </p:nvSpPr>
        <p:spPr>
          <a:xfrm>
            <a:off x="1691807" y="1031080"/>
            <a:ext cx="3774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集合的基数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E971B4-B940-469F-8687-877D96CA200C}"/>
              </a:ext>
            </a:extLst>
          </p:cNvPr>
          <p:cNvSpPr txBox="1"/>
          <p:nvPr/>
        </p:nvSpPr>
        <p:spPr>
          <a:xfrm>
            <a:off x="1487555" y="1908747"/>
            <a:ext cx="7958220" cy="1284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凡是</a:t>
            </a:r>
            <a:r>
              <a:rPr lang="zh-CN" altLang="en-US" sz="2800" u="sng" dirty="0">
                <a:latin typeface="宋体" panose="02010600030101010101" pitchFamily="2" charset="-122"/>
                <a:ea typeface="宋体" panose="02010600030101010101" pitchFamily="2" charset="-122"/>
              </a:rPr>
              <a:t>与自然数集合</a:t>
            </a:r>
            <a:r>
              <a:rPr lang="en-US" altLang="zh-CN" sz="2800" i="1" u="sng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u="sng" dirty="0">
                <a:latin typeface="宋体" panose="02010600030101010101" pitchFamily="2" charset="-122"/>
                <a:ea typeface="宋体" panose="02010600030101010101" pitchFamily="2" charset="-122"/>
              </a:rPr>
              <a:t>等势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的集合，称为</a:t>
            </a:r>
            <a:r>
              <a:rPr lang="zh-CN" altLang="en-US" sz="28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可数集合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除此以外的</a:t>
            </a:r>
            <a:r>
              <a:rPr lang="zh-CN" altLang="en-US" sz="28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无限集合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称为</a:t>
            </a:r>
            <a:r>
              <a:rPr lang="zh-CN" altLang="en-US" sz="28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不可数集合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AB7FF3-0F5A-44DE-9576-47705AACC21E}"/>
              </a:ext>
            </a:extLst>
          </p:cNvPr>
          <p:cNvSpPr txBox="1"/>
          <p:nvPr/>
        </p:nvSpPr>
        <p:spPr>
          <a:xfrm>
            <a:off x="1487555" y="3702889"/>
            <a:ext cx="94100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对于自然数集合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，规定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card 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ℵ</a:t>
            </a:r>
            <a:r>
              <a:rPr lang="en-US" altLang="zh-CN" sz="2800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 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（读作</a:t>
            </a:r>
            <a:r>
              <a:rPr lang="zh-CN" altLang="en-US" sz="2800" u="sng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阿列夫零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）；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FBEB03E-D9DE-4063-889A-18306EAC619A}"/>
              </a:ext>
            </a:extLst>
          </p:cNvPr>
          <p:cNvSpPr txBox="1"/>
          <p:nvPr/>
        </p:nvSpPr>
        <p:spPr>
          <a:xfrm>
            <a:off x="1487555" y="4626173"/>
            <a:ext cx="86376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对于实数集合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，规定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card 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ℵ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 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（读作</a:t>
            </a:r>
            <a:r>
              <a:rPr lang="zh-CN" altLang="en-US" sz="2800" u="sng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阿列夫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0C87C0-0AA0-E9F9-530D-6D20ED606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380760"/>
      </p:ext>
    </p:extLst>
  </p:cSld>
  <p:clrMapOvr>
    <a:masterClrMapping/>
  </p:clrMapOvr>
  <p:transition spd="slow" advTm="0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52D87AD-7CB0-4A6B-B2FF-9E8E5D33EED8}"/>
              </a:ext>
            </a:extLst>
          </p:cNvPr>
          <p:cNvSpPr txBox="1"/>
          <p:nvPr/>
        </p:nvSpPr>
        <p:spPr>
          <a:xfrm>
            <a:off x="1691807" y="1031080"/>
            <a:ext cx="3774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集合的基数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0D8646F-C0A9-43C9-8088-40B7529A762B}"/>
              </a:ext>
            </a:extLst>
          </p:cNvPr>
          <p:cNvSpPr txBox="1"/>
          <p:nvPr/>
        </p:nvSpPr>
        <p:spPr>
          <a:xfrm>
            <a:off x="3022107" y="1712642"/>
            <a:ext cx="6147786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∈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是素数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均为可数集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69BBEE-1A98-4EEA-B605-46BE1D51808D}"/>
              </a:ext>
            </a:extLst>
          </p:cNvPr>
          <p:cNvSpPr txBox="1"/>
          <p:nvPr/>
        </p:nvSpPr>
        <p:spPr>
          <a:xfrm>
            <a:off x="2657012" y="4051389"/>
            <a:ext cx="6877975" cy="113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可数集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的充分必要条件是可以排列成</a:t>
            </a:r>
          </a:p>
          <a:p>
            <a:pPr>
              <a:lnSpc>
                <a:spcPct val="150000"/>
              </a:lnSpc>
            </a:pP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={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i="1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400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…}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的形式。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C336AA-9B83-47AC-BC9C-9D2C0718A13B}"/>
              </a:ext>
            </a:extLst>
          </p:cNvPr>
          <p:cNvSpPr txBox="1"/>
          <p:nvPr/>
        </p:nvSpPr>
        <p:spPr>
          <a:xfrm>
            <a:off x="3819857" y="5461606"/>
            <a:ext cx="3293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“可数” 即“可列”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E4E78323-C65F-627B-5859-D58C8762E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61254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920FD3E5-5BB1-406C-9F8C-68F8BED82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2571" y="1635241"/>
            <a:ext cx="6123811" cy="467433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2B6F7BF-2040-8E7F-7D99-B4BE4F7ED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96260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52D87AD-7CB0-4A6B-B2FF-9E8E5D33EED8}"/>
              </a:ext>
            </a:extLst>
          </p:cNvPr>
          <p:cNvSpPr txBox="1"/>
          <p:nvPr/>
        </p:nvSpPr>
        <p:spPr>
          <a:xfrm>
            <a:off x="1691807" y="1031080"/>
            <a:ext cx="3774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集合的基数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AB7FF3-0F5A-44DE-9576-47705AACC21E}"/>
              </a:ext>
            </a:extLst>
          </p:cNvPr>
          <p:cNvSpPr txBox="1"/>
          <p:nvPr/>
        </p:nvSpPr>
        <p:spPr>
          <a:xfrm>
            <a:off x="1525257" y="2202563"/>
            <a:ext cx="94100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对于自然数集合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，规定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card 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ℵ</a:t>
            </a:r>
            <a:r>
              <a:rPr lang="en-US" altLang="zh-CN" sz="2800" i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 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（读作阿列夫零）；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FBEB03E-D9DE-4063-889A-18306EAC619A}"/>
              </a:ext>
            </a:extLst>
          </p:cNvPr>
          <p:cNvSpPr txBox="1"/>
          <p:nvPr/>
        </p:nvSpPr>
        <p:spPr>
          <a:xfrm>
            <a:off x="1525257" y="3125847"/>
            <a:ext cx="86376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对于实数集合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，规定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card 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ℵ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 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（读作阿列夫）。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6083760-4619-4ACB-B440-DCB6CE405A60}"/>
              </a:ext>
            </a:extLst>
          </p:cNvPr>
          <p:cNvSpPr txBox="1"/>
          <p:nvPr/>
        </p:nvSpPr>
        <p:spPr>
          <a:xfrm>
            <a:off x="3766323" y="4141928"/>
            <a:ext cx="3320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如何证明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不等势？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A55E47-2515-4F9C-81B5-26A00A145F4B}"/>
              </a:ext>
            </a:extLst>
          </p:cNvPr>
          <p:cNvSpPr txBox="1"/>
          <p:nvPr/>
        </p:nvSpPr>
        <p:spPr>
          <a:xfrm>
            <a:off x="7086572" y="4172705"/>
            <a:ext cx="2982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“可数” 即“可列”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B8207F6-C603-10C0-68F5-BA8583503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55613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52D87AD-7CB0-4A6B-B2FF-9E8E5D33EED8}"/>
              </a:ext>
            </a:extLst>
          </p:cNvPr>
          <p:cNvSpPr txBox="1"/>
          <p:nvPr/>
        </p:nvSpPr>
        <p:spPr>
          <a:xfrm>
            <a:off x="1691807" y="1031080"/>
            <a:ext cx="3774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集合的基数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762CBF1-BA74-4189-8060-E77BB59C7179}"/>
              </a:ext>
            </a:extLst>
          </p:cNvPr>
          <p:cNvSpPr txBox="1"/>
          <p:nvPr/>
        </p:nvSpPr>
        <p:spPr>
          <a:xfrm>
            <a:off x="3428316" y="1584658"/>
            <a:ext cx="448726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en-US" altLang="zh-CN" sz="24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1A53D63-FF00-4014-B1C3-DA8937325FA3}"/>
              </a:ext>
            </a:extLst>
          </p:cNvPr>
          <p:cNvGrpSpPr/>
          <p:nvPr/>
        </p:nvGrpSpPr>
        <p:grpSpPr>
          <a:xfrm>
            <a:off x="3073209" y="1598219"/>
            <a:ext cx="584391" cy="3967729"/>
            <a:chOff x="3073209" y="1598219"/>
            <a:chExt cx="584391" cy="3967729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7ED46740-3A31-482B-8373-5C2BAE66254B}"/>
                </a:ext>
              </a:extLst>
            </p:cNvPr>
            <p:cNvSpPr txBox="1"/>
            <p:nvPr/>
          </p:nvSpPr>
          <p:spPr>
            <a:xfrm>
              <a:off x="3073209" y="1598219"/>
              <a:ext cx="584391" cy="3741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  <a:p>
              <a:pPr>
                <a:lnSpc>
                  <a:spcPct val="150000"/>
                </a:lnSpc>
              </a:pPr>
              <a:endPara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8867F2F-34E8-4939-9C03-10651441A190}"/>
                </a:ext>
              </a:extLst>
            </p:cNvPr>
            <p:cNvSpPr txBox="1"/>
            <p:nvPr/>
          </p:nvSpPr>
          <p:spPr>
            <a:xfrm>
              <a:off x="3087384" y="4981173"/>
              <a:ext cx="553998" cy="58477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2400" b="1" dirty="0"/>
                <a:t>…</a:t>
              </a:r>
              <a:endParaRPr lang="zh-CN" altLang="en-US" sz="2400" b="1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66EE65D-DC98-4317-87C8-D83DA7E47932}"/>
              </a:ext>
            </a:extLst>
          </p:cNvPr>
          <p:cNvGrpSpPr/>
          <p:nvPr/>
        </p:nvGrpSpPr>
        <p:grpSpPr>
          <a:xfrm>
            <a:off x="3428316" y="2143494"/>
            <a:ext cx="6147786" cy="3422235"/>
            <a:chOff x="3428316" y="2143494"/>
            <a:chExt cx="6147786" cy="3422235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AFEC2DA-2389-4C7C-BF57-FB9D573FA5A9}"/>
                </a:ext>
              </a:extLst>
            </p:cNvPr>
            <p:cNvSpPr txBox="1"/>
            <p:nvPr/>
          </p:nvSpPr>
          <p:spPr>
            <a:xfrm>
              <a:off x="3428316" y="2143494"/>
              <a:ext cx="6147786" cy="2795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22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23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24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25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26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27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</a:t>
              </a:r>
              <a:endPara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31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32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33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34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35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36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37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</a:t>
              </a:r>
              <a:endPara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41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42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43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44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45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46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47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</a:t>
              </a:r>
              <a:endPara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51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52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53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54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55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56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57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</a:t>
              </a:r>
              <a:endPara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61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62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63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64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65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66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67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</a:t>
              </a:r>
              <a:endPara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FB39198-6A84-46AC-9263-369D1F365CF9}"/>
                </a:ext>
              </a:extLst>
            </p:cNvPr>
            <p:cNvSpPr txBox="1"/>
            <p:nvPr/>
          </p:nvSpPr>
          <p:spPr>
            <a:xfrm>
              <a:off x="5023468" y="4980954"/>
              <a:ext cx="553998" cy="58477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2400" b="1" dirty="0"/>
                <a:t>…</a:t>
              </a:r>
              <a:endParaRPr lang="zh-CN" altLang="en-US" sz="2400" b="1" dirty="0"/>
            </a:p>
          </p:txBody>
        </p:sp>
      </p:grpSp>
      <p:sp>
        <p:nvSpPr>
          <p:cNvPr id="88082" name="文本框 88081">
            <a:extLst>
              <a:ext uri="{FF2B5EF4-FFF2-40B4-BE49-F238E27FC236}">
                <a16:creationId xmlns:a16="http://schemas.microsoft.com/office/drawing/2014/main" id="{DDEDB49B-1F62-4DEE-B567-0F4F55D9F65E}"/>
              </a:ext>
            </a:extLst>
          </p:cNvPr>
          <p:cNvSpPr txBox="1"/>
          <p:nvPr/>
        </p:nvSpPr>
        <p:spPr>
          <a:xfrm>
            <a:off x="3186559" y="5570148"/>
            <a:ext cx="4227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94815609-F9D9-443B-4722-37A0CC1DB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87817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808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52D87AD-7CB0-4A6B-B2FF-9E8E5D33EED8}"/>
              </a:ext>
            </a:extLst>
          </p:cNvPr>
          <p:cNvSpPr txBox="1"/>
          <p:nvPr/>
        </p:nvSpPr>
        <p:spPr>
          <a:xfrm>
            <a:off x="1691807" y="1031080"/>
            <a:ext cx="3774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集合的基数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762CBF1-BA74-4189-8060-E77BB59C7179}"/>
              </a:ext>
            </a:extLst>
          </p:cNvPr>
          <p:cNvSpPr txBox="1"/>
          <p:nvPr/>
        </p:nvSpPr>
        <p:spPr>
          <a:xfrm>
            <a:off x="3428316" y="1584658"/>
            <a:ext cx="448726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en-US" altLang="zh-CN" sz="24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1A53D63-FF00-4014-B1C3-DA8937325FA3}"/>
              </a:ext>
            </a:extLst>
          </p:cNvPr>
          <p:cNvGrpSpPr/>
          <p:nvPr/>
        </p:nvGrpSpPr>
        <p:grpSpPr>
          <a:xfrm>
            <a:off x="3073209" y="1598219"/>
            <a:ext cx="584391" cy="3967729"/>
            <a:chOff x="3073209" y="1598219"/>
            <a:chExt cx="584391" cy="3967729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7ED46740-3A31-482B-8373-5C2BAE66254B}"/>
                </a:ext>
              </a:extLst>
            </p:cNvPr>
            <p:cNvSpPr txBox="1"/>
            <p:nvPr/>
          </p:nvSpPr>
          <p:spPr>
            <a:xfrm>
              <a:off x="3073209" y="1598219"/>
              <a:ext cx="584391" cy="3741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  <a:p>
              <a:pPr>
                <a:lnSpc>
                  <a:spcPct val="150000"/>
                </a:lnSpc>
              </a:pPr>
              <a:endPara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8867F2F-34E8-4939-9C03-10651441A190}"/>
                </a:ext>
              </a:extLst>
            </p:cNvPr>
            <p:cNvSpPr txBox="1"/>
            <p:nvPr/>
          </p:nvSpPr>
          <p:spPr>
            <a:xfrm>
              <a:off x="3087384" y="4981173"/>
              <a:ext cx="553998" cy="58477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2400" b="1" dirty="0"/>
                <a:t>…</a:t>
              </a:r>
              <a:endParaRPr lang="zh-CN" altLang="en-US" sz="2400" b="1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66EE65D-DC98-4317-87C8-D83DA7E47932}"/>
              </a:ext>
            </a:extLst>
          </p:cNvPr>
          <p:cNvGrpSpPr/>
          <p:nvPr/>
        </p:nvGrpSpPr>
        <p:grpSpPr>
          <a:xfrm>
            <a:off x="3428316" y="2143713"/>
            <a:ext cx="6147786" cy="3422235"/>
            <a:chOff x="3428316" y="2143494"/>
            <a:chExt cx="6147786" cy="3422235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AFEC2DA-2389-4C7C-BF57-FB9D573FA5A9}"/>
                </a:ext>
              </a:extLst>
            </p:cNvPr>
            <p:cNvSpPr txBox="1"/>
            <p:nvPr/>
          </p:nvSpPr>
          <p:spPr>
            <a:xfrm>
              <a:off x="3428316" y="2143494"/>
              <a:ext cx="6147786" cy="2795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 </a:t>
              </a:r>
              <a:r>
                <a:rPr lang="en-US" altLang="zh-CN" sz="2400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23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24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25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26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27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</a:t>
              </a:r>
              <a:endPara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31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32 </a:t>
              </a:r>
              <a:r>
                <a:rPr lang="en-US" altLang="zh-CN" sz="2400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33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34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35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36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37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</a:t>
              </a:r>
              <a:endPara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41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42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43 </a:t>
              </a:r>
              <a:r>
                <a:rPr lang="en-US" altLang="zh-CN" sz="2400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44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45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46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47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</a:t>
              </a:r>
              <a:endPara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51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52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53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54 </a:t>
              </a:r>
              <a:r>
                <a:rPr lang="en-US" altLang="zh-CN" sz="2400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55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56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57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</a:t>
              </a:r>
              <a:endPara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61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62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63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64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65 </a:t>
              </a:r>
              <a:r>
                <a:rPr lang="en-US" altLang="zh-CN" sz="2400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66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67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</a:t>
              </a:r>
              <a:endPara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FB39198-6A84-46AC-9263-369D1F365CF9}"/>
                </a:ext>
              </a:extLst>
            </p:cNvPr>
            <p:cNvSpPr txBox="1"/>
            <p:nvPr/>
          </p:nvSpPr>
          <p:spPr>
            <a:xfrm>
              <a:off x="5023468" y="4980954"/>
              <a:ext cx="553998" cy="58477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2400" b="1" dirty="0"/>
                <a:t>…</a:t>
              </a:r>
              <a:endParaRPr lang="zh-CN" altLang="en-US" sz="2400" b="1" dirty="0"/>
            </a:p>
          </p:txBody>
        </p:sp>
      </p:grpSp>
      <p:sp>
        <p:nvSpPr>
          <p:cNvPr id="88082" name="文本框 88081">
            <a:extLst>
              <a:ext uri="{FF2B5EF4-FFF2-40B4-BE49-F238E27FC236}">
                <a16:creationId xmlns:a16="http://schemas.microsoft.com/office/drawing/2014/main" id="{DDEDB49B-1F62-4DEE-B567-0F4F55D9F65E}"/>
              </a:ext>
            </a:extLst>
          </p:cNvPr>
          <p:cNvSpPr txBox="1"/>
          <p:nvPr/>
        </p:nvSpPr>
        <p:spPr>
          <a:xfrm>
            <a:off x="3186559" y="5570148"/>
            <a:ext cx="4227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 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F118787-D351-41E1-8032-C4D8F14DDDE6}"/>
              </a:ext>
            </a:extLst>
          </p:cNvPr>
          <p:cNvCxnSpPr/>
          <p:nvPr/>
        </p:nvCxnSpPr>
        <p:spPr>
          <a:xfrm flipH="1">
            <a:off x="4152900" y="2143494"/>
            <a:ext cx="53340" cy="3525474"/>
          </a:xfrm>
          <a:prstGeom prst="straightConnector1">
            <a:avLst/>
          </a:prstGeom>
          <a:ln w="19050"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D8C6E31-76E5-4299-BA45-DC8CF465408C}"/>
              </a:ext>
            </a:extLst>
          </p:cNvPr>
          <p:cNvCxnSpPr>
            <a:cxnSpLocks/>
          </p:cNvCxnSpPr>
          <p:nvPr/>
        </p:nvCxnSpPr>
        <p:spPr>
          <a:xfrm>
            <a:off x="4576754" y="2720340"/>
            <a:ext cx="0" cy="2948628"/>
          </a:xfrm>
          <a:prstGeom prst="straightConnector1">
            <a:avLst/>
          </a:prstGeom>
          <a:ln w="19050"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1C584B1-1E9F-4EA3-B657-2421E01864E7}"/>
              </a:ext>
            </a:extLst>
          </p:cNvPr>
          <p:cNvCxnSpPr>
            <a:cxnSpLocks/>
          </p:cNvCxnSpPr>
          <p:nvPr/>
        </p:nvCxnSpPr>
        <p:spPr>
          <a:xfrm>
            <a:off x="4968727" y="3276600"/>
            <a:ext cx="0" cy="2392368"/>
          </a:xfrm>
          <a:prstGeom prst="straightConnector1">
            <a:avLst/>
          </a:prstGeom>
          <a:ln w="19050"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09C6773-D06B-4677-8FDF-198AA5BBE780}"/>
              </a:ext>
            </a:extLst>
          </p:cNvPr>
          <p:cNvCxnSpPr>
            <a:cxnSpLocks/>
          </p:cNvCxnSpPr>
          <p:nvPr/>
        </p:nvCxnSpPr>
        <p:spPr>
          <a:xfrm>
            <a:off x="5405705" y="3817620"/>
            <a:ext cx="0" cy="1851348"/>
          </a:xfrm>
          <a:prstGeom prst="straightConnector1">
            <a:avLst/>
          </a:prstGeom>
          <a:ln w="19050"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16283439-5750-471B-AF25-E49D57BD147B}"/>
              </a:ext>
            </a:extLst>
          </p:cNvPr>
          <p:cNvCxnSpPr>
            <a:cxnSpLocks/>
          </p:cNvCxnSpPr>
          <p:nvPr/>
        </p:nvCxnSpPr>
        <p:spPr>
          <a:xfrm>
            <a:off x="5801945" y="4315254"/>
            <a:ext cx="0" cy="1331399"/>
          </a:xfrm>
          <a:prstGeom prst="straightConnector1">
            <a:avLst/>
          </a:prstGeom>
          <a:ln w="19050"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C11CC5A6-850D-4771-9DE9-3638494D19AE}"/>
              </a:ext>
            </a:extLst>
          </p:cNvPr>
          <p:cNvCxnSpPr>
            <a:cxnSpLocks/>
          </p:cNvCxnSpPr>
          <p:nvPr/>
        </p:nvCxnSpPr>
        <p:spPr>
          <a:xfrm>
            <a:off x="6219775" y="4980953"/>
            <a:ext cx="0" cy="642240"/>
          </a:xfrm>
          <a:prstGeom prst="straightConnector1">
            <a:avLst/>
          </a:prstGeom>
          <a:ln w="19050">
            <a:prstDash val="dash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2">
            <a:extLst>
              <a:ext uri="{FF2B5EF4-FFF2-40B4-BE49-F238E27FC236}">
                <a16:creationId xmlns:a16="http://schemas.microsoft.com/office/drawing/2014/main" id="{070D590D-C12A-410D-9874-D5108E2AF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06087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52D87AD-7CB0-4A6B-B2FF-9E8E5D33EED8}"/>
              </a:ext>
            </a:extLst>
          </p:cNvPr>
          <p:cNvSpPr txBox="1"/>
          <p:nvPr/>
        </p:nvSpPr>
        <p:spPr>
          <a:xfrm>
            <a:off x="1691807" y="1031080"/>
            <a:ext cx="3774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集合的基数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762CBF1-BA74-4189-8060-E77BB59C7179}"/>
              </a:ext>
            </a:extLst>
          </p:cNvPr>
          <p:cNvSpPr txBox="1"/>
          <p:nvPr/>
        </p:nvSpPr>
        <p:spPr>
          <a:xfrm>
            <a:off x="3428316" y="1584658"/>
            <a:ext cx="448726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en-US" altLang="zh-CN" sz="24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1A53D63-FF00-4014-B1C3-DA8937325FA3}"/>
              </a:ext>
            </a:extLst>
          </p:cNvPr>
          <p:cNvGrpSpPr/>
          <p:nvPr/>
        </p:nvGrpSpPr>
        <p:grpSpPr>
          <a:xfrm>
            <a:off x="3073209" y="1598219"/>
            <a:ext cx="584391" cy="3967729"/>
            <a:chOff x="3073209" y="1598219"/>
            <a:chExt cx="584391" cy="3967729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7ED46740-3A31-482B-8373-5C2BAE66254B}"/>
                </a:ext>
              </a:extLst>
            </p:cNvPr>
            <p:cNvSpPr txBox="1"/>
            <p:nvPr/>
          </p:nvSpPr>
          <p:spPr>
            <a:xfrm>
              <a:off x="3073209" y="1598219"/>
              <a:ext cx="584391" cy="3741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  <a:p>
              <a:pPr>
                <a:lnSpc>
                  <a:spcPct val="150000"/>
                </a:lnSpc>
              </a:pPr>
              <a:endPara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8867F2F-34E8-4939-9C03-10651441A190}"/>
                </a:ext>
              </a:extLst>
            </p:cNvPr>
            <p:cNvSpPr txBox="1"/>
            <p:nvPr/>
          </p:nvSpPr>
          <p:spPr>
            <a:xfrm>
              <a:off x="3087384" y="4981173"/>
              <a:ext cx="553998" cy="58477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2400" b="1" dirty="0"/>
                <a:t>…</a:t>
              </a:r>
              <a:endParaRPr lang="zh-CN" altLang="en-US" sz="2400" b="1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66EE65D-DC98-4317-87C8-D83DA7E47932}"/>
              </a:ext>
            </a:extLst>
          </p:cNvPr>
          <p:cNvGrpSpPr/>
          <p:nvPr/>
        </p:nvGrpSpPr>
        <p:grpSpPr>
          <a:xfrm>
            <a:off x="3428316" y="2143494"/>
            <a:ext cx="6147786" cy="3422235"/>
            <a:chOff x="3428316" y="2143494"/>
            <a:chExt cx="6147786" cy="3422235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AFEC2DA-2389-4C7C-BF57-FB9D573FA5A9}"/>
                </a:ext>
              </a:extLst>
            </p:cNvPr>
            <p:cNvSpPr txBox="1"/>
            <p:nvPr/>
          </p:nvSpPr>
          <p:spPr>
            <a:xfrm>
              <a:off x="3428316" y="2143494"/>
              <a:ext cx="6147786" cy="2795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 </a:t>
              </a:r>
              <a:r>
                <a:rPr lang="en-US" altLang="zh-CN" sz="2400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23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24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25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26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27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</a:t>
              </a:r>
              <a:endPara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31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32 </a:t>
              </a:r>
              <a:r>
                <a:rPr lang="en-US" altLang="zh-CN" sz="2400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33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34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35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36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37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</a:t>
              </a:r>
              <a:endPara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41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42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43 </a:t>
              </a:r>
              <a:r>
                <a:rPr lang="en-US" altLang="zh-CN" sz="2400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44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45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46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47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</a:t>
              </a:r>
              <a:endPara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51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52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53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54 </a:t>
              </a:r>
              <a:r>
                <a:rPr lang="en-US" altLang="zh-CN" sz="2400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55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56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57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</a:t>
              </a:r>
              <a:endPara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61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62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63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64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65 </a:t>
              </a:r>
              <a:r>
                <a:rPr lang="en-US" altLang="zh-CN" sz="2400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66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67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</a:t>
              </a:r>
              <a:endPara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FB39198-6A84-46AC-9263-369D1F365CF9}"/>
                </a:ext>
              </a:extLst>
            </p:cNvPr>
            <p:cNvSpPr txBox="1"/>
            <p:nvPr/>
          </p:nvSpPr>
          <p:spPr>
            <a:xfrm>
              <a:off x="5023468" y="4980954"/>
              <a:ext cx="553998" cy="58477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2400" b="1" dirty="0"/>
                <a:t>…</a:t>
              </a:r>
              <a:endParaRPr lang="zh-CN" altLang="en-US" sz="2400" b="1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2EB985C-085F-4B46-831D-A7DE4E488B71}"/>
              </a:ext>
            </a:extLst>
          </p:cNvPr>
          <p:cNvGrpSpPr/>
          <p:nvPr/>
        </p:nvGrpSpPr>
        <p:grpSpPr>
          <a:xfrm>
            <a:off x="3870960" y="1752298"/>
            <a:ext cx="2948940" cy="3815456"/>
            <a:chOff x="3604260" y="1752298"/>
            <a:chExt cx="2948940" cy="3815456"/>
          </a:xfrm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1988F097-EE23-4703-8B97-0DF46A86988E}"/>
                </a:ext>
              </a:extLst>
            </p:cNvPr>
            <p:cNvCxnSpPr>
              <a:cxnSpLocks/>
            </p:cNvCxnSpPr>
            <p:nvPr/>
          </p:nvCxnSpPr>
          <p:spPr>
            <a:xfrm>
              <a:off x="3604260" y="1877046"/>
              <a:ext cx="2575560" cy="353273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49922306-5EB8-4A67-9D25-52184E80C24F}"/>
                </a:ext>
              </a:extLst>
            </p:cNvPr>
            <p:cNvCxnSpPr>
              <a:cxnSpLocks/>
            </p:cNvCxnSpPr>
            <p:nvPr/>
          </p:nvCxnSpPr>
          <p:spPr>
            <a:xfrm>
              <a:off x="3939540" y="1752298"/>
              <a:ext cx="2613660" cy="352104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B9964AEB-C5B2-4275-99E5-EAD9DCBFDAD8}"/>
                </a:ext>
              </a:extLst>
            </p:cNvPr>
            <p:cNvSpPr txBox="1"/>
            <p:nvPr/>
          </p:nvSpPr>
          <p:spPr>
            <a:xfrm rot="19509415">
              <a:off x="5998541" y="4931382"/>
              <a:ext cx="553998" cy="63637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2400" b="1" dirty="0"/>
                <a:t>…</a:t>
              </a:r>
              <a:endParaRPr lang="zh-CN" altLang="en-US" sz="2400" b="1" dirty="0"/>
            </a:p>
          </p:txBody>
        </p:sp>
      </p:grpSp>
      <p:sp>
        <p:nvSpPr>
          <p:cNvPr id="88082" name="文本框 88081">
            <a:extLst>
              <a:ext uri="{FF2B5EF4-FFF2-40B4-BE49-F238E27FC236}">
                <a16:creationId xmlns:a16="http://schemas.microsoft.com/office/drawing/2014/main" id="{DDEDB49B-1F62-4DEE-B567-0F4F55D9F65E}"/>
              </a:ext>
            </a:extLst>
          </p:cNvPr>
          <p:cNvSpPr txBox="1"/>
          <p:nvPr/>
        </p:nvSpPr>
        <p:spPr>
          <a:xfrm>
            <a:off x="3186559" y="5570148"/>
            <a:ext cx="4227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 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F7F99AB-B636-4B6C-BD7C-E017B45584B1}"/>
              </a:ext>
            </a:extLst>
          </p:cNvPr>
          <p:cNvSpPr txBox="1"/>
          <p:nvPr/>
        </p:nvSpPr>
        <p:spPr>
          <a:xfrm>
            <a:off x="8168066" y="3338849"/>
            <a:ext cx="2237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对角线法</a:t>
            </a: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2C3B9E0B-2025-D43A-EEB3-FAF30C100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6383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E2DE267-1411-4A75-9FD4-4910FAC9FB11}"/>
              </a:ext>
            </a:extLst>
          </p:cNvPr>
          <p:cNvSpPr txBox="1">
            <a:spLocks noChangeArrowheads="1"/>
          </p:cNvSpPr>
          <p:nvPr/>
        </p:nvSpPr>
        <p:spPr>
          <a:xfrm>
            <a:off x="2098514" y="1325003"/>
            <a:ext cx="8991600" cy="533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任一无限集必含有可数子集。</a:t>
            </a:r>
            <a:endParaRPr lang="en-US" altLang="zh-CN" dirty="0">
              <a:latin typeface="宋体" panose="02010600030101010101" pitchFamily="2" charset="-122"/>
            </a:endParaRPr>
          </a:p>
          <a:p>
            <a:pPr algn="just">
              <a:lnSpc>
                <a:spcPct val="110000"/>
              </a:lnSpc>
            </a:pPr>
            <a:r>
              <a:rPr lang="zh-CN" altLang="en-US" dirty="0"/>
              <a:t>任意无限集，一定与它的某一真子集等势。</a:t>
            </a:r>
            <a:endParaRPr lang="en-US" altLang="zh-CN" dirty="0"/>
          </a:p>
          <a:p>
            <a:pPr algn="just">
              <a:lnSpc>
                <a:spcPct val="11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可数集的任何无限子集是可数的。</a:t>
            </a:r>
            <a:endParaRPr lang="en-US" altLang="zh-CN" dirty="0">
              <a:latin typeface="宋体" panose="02010600030101010101" pitchFamily="2" charset="-122"/>
            </a:endParaRPr>
          </a:p>
          <a:p>
            <a:pPr algn="just">
              <a:lnSpc>
                <a:spcPct val="11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可数个可数集的并集仍然是一可数集。</a:t>
            </a:r>
            <a:endParaRPr lang="zh-CN" altLang="en-US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endParaRPr lang="zh-CN" altLang="en-US" dirty="0"/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2B261127-62DC-8F69-18BD-2EC86809A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717999"/>
      </p:ext>
    </p:extLst>
  </p:cSld>
  <p:clrMapOvr>
    <a:masterClrMapping/>
  </p:clrMapOvr>
  <p:transition spd="slow" advTm="0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5">
            <a:extLst>
              <a:ext uri="{FF2B5EF4-FFF2-40B4-BE49-F238E27FC236}">
                <a16:creationId xmlns:a16="http://schemas.microsoft.com/office/drawing/2014/main" id="{9928A112-D250-44B0-9D8B-42CE562BC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4100" y="1079957"/>
            <a:ext cx="7543800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dirty="0">
                <a:latin typeface="宋体" panose="02010600030101010101" pitchFamily="2" charset="-122"/>
              </a:rPr>
              <a:t>证明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latin typeface="宋体" panose="02010600030101010101" pitchFamily="2" charset="-122"/>
              </a:rPr>
              <a:t>设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/>
              <a:t>……</a:t>
            </a:r>
            <a:r>
              <a:rPr lang="zh-CN" altLang="en-US" dirty="0">
                <a:latin typeface="宋体" panose="02010600030101010101" pitchFamily="2" charset="-122"/>
              </a:rPr>
              <a:t>是可数个可数集，分别表示为：</a:t>
            </a:r>
            <a:endParaRPr lang="zh-CN" altLang="en-US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={a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13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/>
              <a:t>…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/>
              <a:t>…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 algn="ctr"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={a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21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22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23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/>
              <a:t>…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/>
              <a:t>…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 algn="ctr"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={a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31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33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/>
              <a:t>…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/>
              <a:t>…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 algn="ctr">
              <a:spcBef>
                <a:spcPct val="50000"/>
              </a:spcBef>
            </a:pPr>
            <a:r>
              <a:rPr lang="en-US" altLang="zh-CN" dirty="0"/>
              <a:t>…………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A88AB34-E323-40C8-8558-F7A6AB62A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0853" y="3429000"/>
            <a:ext cx="5607383" cy="301307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7DF9143-26E3-690A-02B1-51BF85CB2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97662"/>
      </p:ext>
    </p:extLst>
  </p:cSld>
  <p:clrMapOvr>
    <a:masterClrMapping/>
  </p:clrMapOvr>
  <p:transition spd="slow" advTm="0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0F3E524-867C-4ABB-896D-39FF744395DA}"/>
              </a:ext>
            </a:extLst>
          </p:cNvPr>
          <p:cNvSpPr/>
          <p:nvPr/>
        </p:nvSpPr>
        <p:spPr>
          <a:xfrm>
            <a:off x="1751013" y="1277354"/>
            <a:ext cx="8266878" cy="4547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为任意两个集合，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⑴ 若存在函数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，且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是单射的，则称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优势于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，或称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劣势于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，记作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≼·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，同时，我们也称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的基数小于或等于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的基数，记作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≼card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⑵ 若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≼·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之间不存在双射函数，则称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绝对优势于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，或称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绝对劣势于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，记作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≺·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，同样，我们也称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的基数小于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的基数，记作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≺card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15DFF8-9DDE-4B8D-DDDF-37F905412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76871"/>
      </p:ext>
    </p:extLst>
  </p:cSld>
  <p:clrMapOvr>
    <a:masterClrMapping/>
  </p:clrMapOvr>
  <p:transition spd="slow" advTm="0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1604750-CC45-48D9-BE42-6B903AB7975F}"/>
              </a:ext>
            </a:extLst>
          </p:cNvPr>
          <p:cNvSpPr/>
          <p:nvPr/>
        </p:nvSpPr>
        <p:spPr>
          <a:xfrm>
            <a:off x="2245432" y="1877385"/>
            <a:ext cx="8220829" cy="2074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2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为两个集合，则以下三条中恰有一条成立。</a:t>
            </a:r>
          </a:p>
          <a:p>
            <a:pPr algn="just">
              <a:spcBef>
                <a:spcPct val="2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X≺card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algn="just">
              <a:spcBef>
                <a:spcPct val="2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Y≺card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algn="just">
              <a:spcBef>
                <a:spcPct val="2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X = card 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577F7E-A99B-68CD-52E7-5C4219B2C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245182"/>
      </p:ext>
    </p:extLst>
  </p:cSld>
  <p:clrMapOvr>
    <a:masterClrMapping/>
  </p:clrMapOvr>
  <p:transition spd="slow" advTm="0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4EF3CCE-E0B9-4B00-B23C-3E0AA56DCE12}"/>
              </a:ext>
            </a:extLst>
          </p:cNvPr>
          <p:cNvSpPr txBox="1">
            <a:spLocks noChangeArrowheads="1"/>
          </p:cNvSpPr>
          <p:nvPr/>
        </p:nvSpPr>
        <p:spPr>
          <a:xfrm>
            <a:off x="1912159" y="1110223"/>
            <a:ext cx="7848600" cy="1447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为任意两个集合，</a:t>
            </a:r>
          </a:p>
          <a:p>
            <a:pPr algn="just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≼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≼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 algn="just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9B3C3B-8348-4149-AEFC-9192290B4EB7}"/>
              </a:ext>
            </a:extLst>
          </p:cNvPr>
          <p:cNvSpPr/>
          <p:nvPr/>
        </p:nvSpPr>
        <p:spPr>
          <a:xfrm>
            <a:off x="1912159" y="3528694"/>
            <a:ext cx="54168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1]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）有相同的基数。</a:t>
            </a: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2359FBE5-8977-464C-A2DB-1DEEC6F99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444" y="4352605"/>
            <a:ext cx="70866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 →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1]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1] →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</a:p>
        </p:txBody>
      </p:sp>
      <p:graphicFrame>
        <p:nvGraphicFramePr>
          <p:cNvPr id="7" name="Object 12">
            <a:extLst>
              <a:ext uri="{FF2B5EF4-FFF2-40B4-BE49-F238E27FC236}">
                <a16:creationId xmlns:a16="http://schemas.microsoft.com/office/drawing/2014/main" id="{952A8CB3-AB61-445A-9ADB-D91124E108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13235" y="4752678"/>
          <a:ext cx="7429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80835" imgH="393529" progId="Equation.3">
                  <p:embed/>
                </p:oleObj>
              </mc:Choice>
              <mc:Fallback>
                <p:oleObj r:id="rId4" imgW="380835" imgH="393529" progId="Equation.3">
                  <p:embed/>
                  <p:pic>
                    <p:nvPicPr>
                      <p:cNvPr id="7" name="Object 12">
                        <a:extLst>
                          <a:ext uri="{FF2B5EF4-FFF2-40B4-BE49-F238E27FC236}">
                            <a16:creationId xmlns:a16="http://schemas.microsoft.com/office/drawing/2014/main" id="{952A8CB3-AB61-445A-9ADB-D91124E108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3235" y="4752678"/>
                        <a:ext cx="74295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9C41C752-313E-6F57-A29E-6E8779537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71332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F37DD17-0352-4969-8C34-F8B65F0C9F2E}"/>
              </a:ext>
            </a:extLst>
          </p:cNvPr>
          <p:cNvSpPr/>
          <p:nvPr/>
        </p:nvSpPr>
        <p:spPr>
          <a:xfrm>
            <a:off x="2582874" y="1731298"/>
            <a:ext cx="53944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是有限集合，则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X≺</a:t>
            </a:r>
            <a:r>
              <a:rPr lang="he-IL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א</a:t>
            </a:r>
            <a:r>
              <a:rPr lang="ar-SA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≺</a:t>
            </a:r>
            <a:r>
              <a:rPr lang="ar-SA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he-IL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א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E7833F-D089-4F7F-B7D2-DEA6915A6E7E}"/>
              </a:ext>
            </a:extLst>
          </p:cNvPr>
          <p:cNvSpPr/>
          <p:nvPr/>
        </p:nvSpPr>
        <p:spPr>
          <a:xfrm>
            <a:off x="2582874" y="2724408"/>
            <a:ext cx="48990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设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X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是无限集合，则</a:t>
            </a:r>
            <a:r>
              <a:rPr kumimoji="1" lang="ar-SA" altLang="zh-CN" sz="2800" kern="0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0</a:t>
            </a:r>
            <a:r>
              <a:rPr kumimoji="1" lang="he-IL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א</a:t>
            </a:r>
            <a:r>
              <a:rPr kumimoji="1" lang="ar-SA" altLang="zh-CN" sz="2800" kern="0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≼card X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9C5307-5E10-4E58-B4A4-B8CD67A01649}"/>
              </a:ext>
            </a:extLst>
          </p:cNvPr>
          <p:cNvSpPr/>
          <p:nvPr/>
        </p:nvSpPr>
        <p:spPr>
          <a:xfrm>
            <a:off x="2669839" y="3915332"/>
            <a:ext cx="585609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是集合，其中，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X≺card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2BE75B-185C-BCC0-C227-16561F219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253716"/>
      </p:ext>
    </p:extLst>
  </p:cSld>
  <p:clrMapOvr>
    <a:masterClrMapping/>
  </p:clrMapOvr>
  <p:transition spd="slow" advTm="0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371CA25-872A-430E-B6E3-E18A7ED8B601}"/>
              </a:ext>
            </a:extLst>
          </p:cNvPr>
          <p:cNvSpPr txBox="1"/>
          <p:nvPr/>
        </p:nvSpPr>
        <p:spPr>
          <a:xfrm>
            <a:off x="1751013" y="748208"/>
            <a:ext cx="3774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集合的特征函数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2496C39-6021-4434-B8EF-32C9778AC649}"/>
              </a:ext>
            </a:extLst>
          </p:cNvPr>
          <p:cNvSpPr txBox="1">
            <a:spLocks noChangeArrowheads="1"/>
          </p:cNvSpPr>
          <p:nvPr/>
        </p:nvSpPr>
        <p:spPr>
          <a:xfrm>
            <a:off x="1344395" y="2032565"/>
            <a:ext cx="8753475" cy="32400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+mn-ea"/>
              </a:rPr>
              <a:t>         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是全集，考虑从全集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到集合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{0, 1}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的函数的全体所构成的集合，可表示为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{0, 1}</a:t>
            </a:r>
            <a:r>
              <a:rPr lang="en-US" altLang="zh-CN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，亦即</a:t>
            </a:r>
          </a:p>
          <a:p>
            <a:pPr marL="609600" indent="-60960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{0, 1}</a:t>
            </a:r>
            <a:r>
              <a:rPr lang="en-US" altLang="zh-CN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→{0, 1}}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4998FB-452E-B17D-4301-ACF6C0E14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280008"/>
      </p:ext>
    </p:extLst>
  </p:cSld>
  <p:clrMapOvr>
    <a:masterClrMapping/>
  </p:clrMapOvr>
  <p:transition spd="slow" advTm="0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5FAFA217-6D9B-417C-8A51-6ECF0CBA2E46}"/>
              </a:ext>
            </a:extLst>
          </p:cNvPr>
          <p:cNvSpPr txBox="1">
            <a:spLocks noChangeArrowheads="1"/>
          </p:cNvSpPr>
          <p:nvPr/>
        </p:nvSpPr>
        <p:spPr>
          <a:xfrm>
            <a:off x="1303838" y="930824"/>
            <a:ext cx="10004459" cy="5400675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的任何一个子集，均可以有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{0, 1}</a:t>
            </a:r>
            <a:r>
              <a:rPr lang="en-US" altLang="zh-CN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中的一个函数与之对应，且不同的子集对应不同的函数。此外，任一函数也必存在一个子集与之对应。也就是说，在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的幂集与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{0, 1}</a:t>
            </a:r>
            <a:r>
              <a:rPr lang="en-US" altLang="zh-CN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之间存在一个双射函数。事实上只要取下述对应即可：对于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的子集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，令其对应于函数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定义为： </a:t>
            </a:r>
            <a:endParaRPr lang="zh-CN" altLang="es-EC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</a:t>
            </a:r>
            <a:r>
              <a:rPr lang="es-EC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Ψ</a:t>
            </a:r>
            <a:r>
              <a:rPr lang="es-EC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</a:p>
          <a:p>
            <a:pPr marL="609600" indent="-60960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由此可见，这样的函数能够刻画集合，这种函数通常称为集合的特征函数</a:t>
            </a:r>
            <a:r>
              <a:rPr lang="zh-CN" altLang="en-US" sz="2400" dirty="0">
                <a:latin typeface="+mn-ea"/>
              </a:rPr>
              <a:t>。</a:t>
            </a: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516941F1-4469-4E4A-B8BF-39BE535BC024}"/>
              </a:ext>
            </a:extLst>
          </p:cNvPr>
          <p:cNvSpPr>
            <a:spLocks/>
          </p:cNvSpPr>
          <p:nvPr/>
        </p:nvSpPr>
        <p:spPr bwMode="auto">
          <a:xfrm>
            <a:off x="3813917" y="3553065"/>
            <a:ext cx="215900" cy="1081087"/>
          </a:xfrm>
          <a:prstGeom prst="leftBrace">
            <a:avLst>
              <a:gd name="adj1" fmla="val 5391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D652E9D-CB89-17D0-9CB7-50706CCF4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8742"/>
      </p:ext>
    </p:extLst>
  </p:cSld>
  <p:clrMapOvr>
    <a:masterClrMapping/>
  </p:clrMapOvr>
  <p:transition spd="slow" advTm="0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C1BDCA6-8974-4603-8936-D61057F8A4B2}"/>
              </a:ext>
            </a:extLst>
          </p:cNvPr>
          <p:cNvSpPr/>
          <p:nvPr/>
        </p:nvSpPr>
        <p:spPr>
          <a:xfrm>
            <a:off x="2215830" y="1194685"/>
            <a:ext cx="7760340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P(U)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与全体特征函数（记为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{0, 1}</a:t>
            </a:r>
            <a:r>
              <a:rPr lang="en-US" altLang="zh-CN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）之间存在着双射 </a:t>
            </a:r>
          </a:p>
          <a:p>
            <a:pPr lvl="1">
              <a:lnSpc>
                <a:spcPct val="120000"/>
              </a:lnSpc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P(U) →{0, 1}</a:t>
            </a:r>
            <a:r>
              <a:rPr lang="en-US" altLang="zh-CN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BE1D5A-502A-4C38-BCBF-7D585EBAE57D}"/>
              </a:ext>
            </a:extLst>
          </p:cNvPr>
          <p:cNvSpPr/>
          <p:nvPr/>
        </p:nvSpPr>
        <p:spPr>
          <a:xfrm>
            <a:off x="2666451" y="3506059"/>
            <a:ext cx="776033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是全集，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，于是把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→{0, 1}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定义为：</a:t>
            </a:r>
            <a:endParaRPr lang="zh-CN" altLang="es-EC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zh-CN" altLang="es-EC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es-EC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</a:t>
            </a:r>
            <a:r>
              <a:rPr lang="zh-CN" altLang="es-EC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 </a:t>
            </a:r>
            <a:r>
              <a:rPr lang="es-EC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C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</a:t>
            </a:r>
            <a:r>
              <a:rPr lang="es-EC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Ψ</a:t>
            </a:r>
            <a:r>
              <a:rPr lang="es-EC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s-EC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C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s-EC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zh-CN" altLang="es-EC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并称 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altLang="zh-CN" sz="28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为集合 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的特征函数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19FDE026-ADDF-4355-B4B8-BD15DF2599AD}"/>
              </a:ext>
            </a:extLst>
          </p:cNvPr>
          <p:cNvSpPr>
            <a:spLocks/>
          </p:cNvSpPr>
          <p:nvPr/>
        </p:nvSpPr>
        <p:spPr bwMode="auto">
          <a:xfrm>
            <a:off x="5988050" y="4553009"/>
            <a:ext cx="215900" cy="1008062"/>
          </a:xfrm>
          <a:prstGeom prst="leftBrace">
            <a:avLst>
              <a:gd name="adj1" fmla="val 3890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774998-A7A7-AB18-10AE-DFC4BD878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732538"/>
      </p:ext>
    </p:extLst>
  </p:cSld>
  <p:clrMapOvr>
    <a:masterClrMapping/>
  </p:clrMapOvr>
  <p:transition spd="slow" advTm="0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7B314FC-A90C-4F7D-9642-224028470F32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590197"/>
            <a:ext cx="11137969" cy="63357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设全集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{a, b, c}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对于子集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{a}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s-EC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{a}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Ψ</a:t>
            </a:r>
            <a:r>
              <a:rPr lang="es-EC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{a}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Ψ</a:t>
            </a:r>
            <a:r>
              <a:rPr lang="es-EC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{a}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于是子集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{a}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的特征函数为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s-EC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{a}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＜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1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＞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＜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0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＞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＜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0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＞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对于子集 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{a, b}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s-EC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{a,b}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s-EC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s-EC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{a,b}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s-EC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s-EC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{a,b}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故子集 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{a, b} 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的特征函数为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s-EC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{a,b}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＜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a,1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＞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＜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b,1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＞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＜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c,0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＞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对于空集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s-EC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s-EC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故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的特征函数为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＜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a,0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＞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＜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b,0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＞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＜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c,0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＞</a:t>
            </a:r>
            <a:r>
              <a:rPr lang="es-EC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58C1A0C-397C-7EE2-8674-97C16BFBD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382042"/>
      </p:ext>
    </p:extLst>
  </p:cSld>
  <p:clrMapOvr>
    <a:masterClrMapping/>
  </p:clrMapOvr>
  <p:transition spd="slow" advTm="0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C335FDF-05EC-4221-8A3D-FA8566A06423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861772"/>
            <a:ext cx="9688501" cy="6858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给定全集 </a:t>
            </a:r>
            <a:r>
              <a:rPr lang="en-US" altLang="zh-CN" sz="2400" b="1" i="1" dirty="0"/>
              <a:t>U</a:t>
            </a:r>
            <a:r>
              <a:rPr lang="zh-CN" altLang="en-US" sz="2400" b="1" dirty="0"/>
              <a:t>，</a:t>
            </a:r>
            <a:r>
              <a:rPr lang="en-US" altLang="zh-CN" sz="2400" b="1" i="1" dirty="0"/>
              <a:t>A</a:t>
            </a:r>
            <a:r>
              <a:rPr lang="en-US" altLang="zh-CN" sz="2400" b="1" dirty="0">
                <a:sym typeface="Symbol" panose="05050102010706020507" pitchFamily="18" charset="2"/>
              </a:rPr>
              <a:t></a:t>
            </a:r>
            <a:r>
              <a:rPr lang="en-US" altLang="zh-CN" sz="2400" b="1" i="1" dirty="0"/>
              <a:t>U </a:t>
            </a:r>
            <a:r>
              <a:rPr lang="zh-CN" altLang="en-US" sz="2400" b="1" dirty="0"/>
              <a:t>和 </a:t>
            </a:r>
            <a:r>
              <a:rPr lang="en-US" altLang="zh-CN" sz="2400" b="1" i="1" dirty="0"/>
              <a:t>B</a:t>
            </a:r>
            <a:r>
              <a:rPr lang="en-US" altLang="zh-CN" sz="2400" b="1" dirty="0">
                <a:sym typeface="Symbol" panose="05050102010706020507" pitchFamily="18" charset="2"/>
              </a:rPr>
              <a:t></a:t>
            </a:r>
            <a:r>
              <a:rPr lang="en-US" altLang="zh-CN" sz="2400" b="1" i="1" dirty="0"/>
              <a:t>U</a:t>
            </a:r>
            <a:r>
              <a:rPr lang="zh-CN" altLang="en-US" sz="2400" b="1" dirty="0"/>
              <a:t>，于是对所有的 </a:t>
            </a:r>
            <a:r>
              <a:rPr lang="en-US" altLang="zh-CN" sz="2400" b="1" i="1" dirty="0" err="1"/>
              <a:t>x</a:t>
            </a:r>
            <a:r>
              <a:rPr lang="en-US" altLang="zh-CN" sz="2400" b="1" dirty="0" err="1"/>
              <a:t>∈</a:t>
            </a:r>
            <a:r>
              <a:rPr lang="en-US" altLang="zh-CN" sz="2400" b="1" i="1" dirty="0" err="1"/>
              <a:t>U</a:t>
            </a:r>
            <a:r>
              <a:rPr lang="zh-CN" altLang="en-US" sz="2400" b="1" dirty="0"/>
              <a:t>，下列关系式都成立。</a:t>
            </a:r>
            <a:endParaRPr lang="zh-CN" altLang="en-US" sz="2400" b="1" i="1" dirty="0"/>
          </a:p>
          <a:p>
            <a:pPr marL="609600" indent="-60960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i="1" dirty="0"/>
              <a:t>	</a:t>
            </a:r>
            <a:r>
              <a:rPr lang="en-US" altLang="zh-CN" sz="2400" b="1" dirty="0"/>
              <a:t>(1) Ψ</a:t>
            </a:r>
            <a:r>
              <a:rPr lang="es-EC" altLang="zh-CN" sz="2400" b="1" i="1" baseline="-25000" dirty="0"/>
              <a:t>A</a:t>
            </a:r>
            <a:r>
              <a:rPr lang="es-EC" altLang="zh-CN" sz="2400" b="1" dirty="0"/>
              <a:t>(</a:t>
            </a:r>
            <a:r>
              <a:rPr lang="es-EC" altLang="zh-CN" sz="2400" b="1" i="1" dirty="0"/>
              <a:t>x</a:t>
            </a:r>
            <a:r>
              <a:rPr lang="es-EC" altLang="zh-CN" sz="2400" b="1" dirty="0"/>
              <a:t>)</a:t>
            </a:r>
            <a:r>
              <a:rPr lang="zh-CN" altLang="es-EC" sz="2400" b="1" dirty="0"/>
              <a:t>＝</a:t>
            </a:r>
            <a:r>
              <a:rPr lang="es-EC" altLang="zh-CN" sz="2400" b="1" dirty="0"/>
              <a:t>0</a:t>
            </a:r>
            <a:r>
              <a:rPr lang="en-US" altLang="zh-CN" sz="2400" b="1" dirty="0">
                <a:sym typeface="Symbol" panose="05050102010706020507" pitchFamily="18" charset="2"/>
              </a:rPr>
              <a:t></a:t>
            </a:r>
            <a:r>
              <a:rPr lang="es-EC" altLang="zh-CN" sz="2400" b="1" i="1" dirty="0"/>
              <a:t>A</a:t>
            </a:r>
            <a:r>
              <a:rPr lang="zh-CN" altLang="es-EC" sz="2400" b="1" dirty="0"/>
              <a:t>＝</a:t>
            </a:r>
            <a:r>
              <a:rPr lang="en-US" altLang="zh-CN" sz="2400" b="1" i="1" dirty="0"/>
              <a:t>Φ</a:t>
            </a:r>
          </a:p>
          <a:p>
            <a:pPr marL="609600" indent="-60960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/>
              <a:t>	</a:t>
            </a:r>
            <a:r>
              <a:rPr lang="en-US" altLang="zh-CN" sz="2400" b="1" dirty="0"/>
              <a:t>(2) Ψ</a:t>
            </a:r>
            <a:r>
              <a:rPr lang="es-EC" altLang="zh-CN" sz="2400" b="1" i="1" baseline="-25000" dirty="0"/>
              <a:t>A</a:t>
            </a:r>
            <a:r>
              <a:rPr lang="es-EC" altLang="zh-CN" sz="2400" b="1" dirty="0"/>
              <a:t>(</a:t>
            </a:r>
            <a:r>
              <a:rPr lang="es-EC" altLang="zh-CN" sz="2400" b="1" i="1" dirty="0"/>
              <a:t>x</a:t>
            </a:r>
            <a:r>
              <a:rPr lang="es-EC" altLang="zh-CN" sz="2400" b="1" dirty="0"/>
              <a:t>)</a:t>
            </a:r>
            <a:r>
              <a:rPr lang="zh-CN" altLang="es-EC" sz="2400" b="1" dirty="0"/>
              <a:t>＝</a:t>
            </a:r>
            <a:r>
              <a:rPr lang="es-EC" altLang="zh-CN" sz="2400" b="1" dirty="0"/>
              <a:t>1</a:t>
            </a:r>
            <a:r>
              <a:rPr lang="en-US" altLang="zh-CN" sz="2400" b="1" dirty="0">
                <a:sym typeface="Symbol" panose="05050102010706020507" pitchFamily="18" charset="2"/>
              </a:rPr>
              <a:t></a:t>
            </a:r>
            <a:r>
              <a:rPr lang="es-EC" altLang="zh-CN" sz="2400" b="1" i="1" dirty="0"/>
              <a:t>A</a:t>
            </a:r>
            <a:r>
              <a:rPr lang="zh-CN" altLang="es-EC" sz="2400" b="1" dirty="0"/>
              <a:t>＝</a:t>
            </a:r>
            <a:r>
              <a:rPr lang="en-US" altLang="zh-CN" sz="2400" b="1" i="1"/>
              <a:t>U</a:t>
            </a:r>
            <a:endParaRPr lang="en-US" altLang="zh-CN" sz="2400" b="1" i="1" dirty="0"/>
          </a:p>
          <a:p>
            <a:pPr marL="609600" indent="-60960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/>
              <a:t>	</a:t>
            </a:r>
            <a:r>
              <a:rPr lang="en-US" altLang="zh-CN" sz="2400" b="1" dirty="0"/>
              <a:t>(3) Ψ</a:t>
            </a:r>
            <a:r>
              <a:rPr lang="es-EC" altLang="zh-CN" sz="2400" b="1" i="1" baseline="-25000" dirty="0"/>
              <a:t>A</a:t>
            </a:r>
            <a:r>
              <a:rPr lang="es-EC" altLang="zh-CN" sz="2400" b="1" dirty="0"/>
              <a:t>(</a:t>
            </a:r>
            <a:r>
              <a:rPr lang="es-EC" altLang="zh-CN" sz="2400" b="1" i="1" dirty="0"/>
              <a:t>x</a:t>
            </a:r>
            <a:r>
              <a:rPr lang="es-EC" altLang="zh-CN" sz="2400" b="1" dirty="0"/>
              <a:t>)≤</a:t>
            </a:r>
            <a:r>
              <a:rPr lang="en-US" altLang="zh-CN" sz="2400" b="1" dirty="0"/>
              <a:t>Ψ</a:t>
            </a:r>
            <a:r>
              <a:rPr lang="es-EC" altLang="zh-CN" sz="2400" b="1" i="1" baseline="-25000" dirty="0"/>
              <a:t>B</a:t>
            </a:r>
            <a:r>
              <a:rPr lang="es-EC" altLang="zh-CN" sz="2400" b="1" dirty="0"/>
              <a:t>(</a:t>
            </a:r>
            <a:r>
              <a:rPr lang="es-EC" altLang="zh-CN" sz="2400" b="1" i="1" dirty="0"/>
              <a:t>x</a:t>
            </a:r>
            <a:r>
              <a:rPr lang="es-EC" altLang="zh-CN" sz="2400" b="1" dirty="0"/>
              <a:t>)</a:t>
            </a:r>
            <a:r>
              <a:rPr lang="en-US" altLang="zh-CN" sz="2400" b="1" dirty="0">
                <a:sym typeface="Symbol" panose="05050102010706020507" pitchFamily="18" charset="2"/>
              </a:rPr>
              <a:t></a:t>
            </a:r>
            <a:r>
              <a:rPr lang="es-EC" altLang="zh-CN" sz="2400" b="1" i="1" dirty="0"/>
              <a:t>A</a:t>
            </a:r>
            <a:r>
              <a:rPr lang="en-US" altLang="zh-CN" sz="2400" b="1" dirty="0">
                <a:sym typeface="Symbol" panose="05050102010706020507" pitchFamily="18" charset="2"/>
              </a:rPr>
              <a:t></a:t>
            </a:r>
            <a:r>
              <a:rPr lang="es-EC" altLang="zh-CN" sz="2400" b="1" i="1" dirty="0"/>
              <a:t>B</a:t>
            </a:r>
            <a:endParaRPr lang="en-US" altLang="zh-CN" sz="2400" b="1" i="1" dirty="0"/>
          </a:p>
          <a:p>
            <a:pPr marL="609600" indent="-60960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/>
              <a:t>	</a:t>
            </a:r>
            <a:r>
              <a:rPr lang="en-US" altLang="zh-CN" sz="2400" b="1" dirty="0"/>
              <a:t>(4) Ψ</a:t>
            </a:r>
            <a:r>
              <a:rPr lang="es-EC" altLang="zh-CN" sz="2400" b="1" i="1" baseline="-25000" dirty="0"/>
              <a:t>A</a:t>
            </a:r>
            <a:r>
              <a:rPr lang="es-EC" altLang="zh-CN" sz="2400" b="1" dirty="0"/>
              <a:t>(</a:t>
            </a:r>
            <a:r>
              <a:rPr lang="es-EC" altLang="zh-CN" sz="2400" b="1" i="1" dirty="0"/>
              <a:t>x</a:t>
            </a:r>
            <a:r>
              <a:rPr lang="es-EC" altLang="zh-CN" sz="2400" b="1" dirty="0"/>
              <a:t>)</a:t>
            </a:r>
            <a:r>
              <a:rPr lang="zh-CN" altLang="es-EC" sz="2400" b="1" dirty="0"/>
              <a:t>＝</a:t>
            </a:r>
            <a:r>
              <a:rPr lang="en-US" altLang="zh-CN" sz="2400" b="1" dirty="0"/>
              <a:t>Ψ</a:t>
            </a:r>
            <a:r>
              <a:rPr lang="es-EC" altLang="zh-CN" sz="2400" b="1" i="1" baseline="-25000" dirty="0"/>
              <a:t>B</a:t>
            </a:r>
            <a:r>
              <a:rPr lang="es-EC" altLang="zh-CN" sz="2400" b="1" dirty="0"/>
              <a:t>(</a:t>
            </a:r>
            <a:r>
              <a:rPr lang="es-EC" altLang="zh-CN" sz="2400" b="1" i="1" dirty="0"/>
              <a:t>x</a:t>
            </a:r>
            <a:r>
              <a:rPr lang="es-EC" altLang="zh-CN" sz="2400" b="1" dirty="0"/>
              <a:t>)</a:t>
            </a:r>
            <a:r>
              <a:rPr lang="en-US" altLang="zh-CN" sz="2400" b="1" dirty="0">
                <a:sym typeface="Symbol" panose="05050102010706020507" pitchFamily="18" charset="2"/>
              </a:rPr>
              <a:t></a:t>
            </a:r>
            <a:r>
              <a:rPr lang="es-EC" altLang="zh-CN" sz="2400" b="1" i="1" dirty="0"/>
              <a:t>A</a:t>
            </a:r>
            <a:r>
              <a:rPr lang="zh-CN" altLang="es-EC" sz="2400" b="1" dirty="0"/>
              <a:t>＝</a:t>
            </a:r>
            <a:r>
              <a:rPr lang="es-EC" altLang="zh-CN" sz="2400" b="1" i="1" dirty="0"/>
              <a:t>B</a:t>
            </a:r>
            <a:endParaRPr lang="en-US" altLang="zh-CN" sz="2400" b="1" i="1" dirty="0"/>
          </a:p>
          <a:p>
            <a:pPr marL="609600" indent="-60960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/>
              <a:t>	</a:t>
            </a:r>
            <a:r>
              <a:rPr lang="en-US" altLang="zh-CN" sz="2400" b="1" dirty="0"/>
              <a:t>(5) Ψ</a:t>
            </a:r>
            <a:r>
              <a:rPr lang="es-EC" altLang="zh-CN" sz="2400" b="1" i="1" baseline="-25000" dirty="0"/>
              <a:t>A</a:t>
            </a:r>
            <a:r>
              <a:rPr lang="es-EC" altLang="zh-CN" sz="2400" b="1" baseline="-25000" dirty="0"/>
              <a:t>∩</a:t>
            </a:r>
            <a:r>
              <a:rPr lang="es-EC" altLang="zh-CN" sz="2400" b="1" i="1" baseline="-25000" dirty="0"/>
              <a:t>B</a:t>
            </a:r>
            <a:r>
              <a:rPr lang="es-EC" altLang="zh-CN" sz="2400" b="1" dirty="0"/>
              <a:t>(</a:t>
            </a:r>
            <a:r>
              <a:rPr lang="es-EC" altLang="zh-CN" sz="2400" b="1" i="1" dirty="0"/>
              <a:t>x</a:t>
            </a:r>
            <a:r>
              <a:rPr lang="es-EC" altLang="zh-CN" sz="2400" b="1" dirty="0"/>
              <a:t>)</a:t>
            </a:r>
            <a:r>
              <a:rPr lang="zh-CN" altLang="es-EC" sz="2400" b="1" dirty="0"/>
              <a:t>＝</a:t>
            </a:r>
            <a:r>
              <a:rPr lang="en-US" altLang="zh-CN" sz="2400" b="1" dirty="0"/>
              <a:t>Ψ</a:t>
            </a:r>
            <a:r>
              <a:rPr lang="es-EC" altLang="zh-CN" sz="2400" b="1" i="1" baseline="-25000" dirty="0"/>
              <a:t>A</a:t>
            </a:r>
            <a:r>
              <a:rPr lang="es-EC" altLang="zh-CN" sz="2400" b="1" dirty="0"/>
              <a:t>(</a:t>
            </a:r>
            <a:r>
              <a:rPr lang="es-EC" altLang="zh-CN" sz="2400" b="1" i="1" dirty="0"/>
              <a:t>x</a:t>
            </a:r>
            <a:r>
              <a:rPr lang="es-EC" altLang="zh-CN" sz="2400" b="1" dirty="0"/>
              <a:t>)</a:t>
            </a:r>
            <a:r>
              <a:rPr lang="es-EC" altLang="zh-CN" sz="2400" b="1" dirty="0">
                <a:latin typeface="Arial" panose="020B0604020202020204" pitchFamily="34" charset="0"/>
              </a:rPr>
              <a:t>·</a:t>
            </a:r>
            <a:r>
              <a:rPr lang="en-US" altLang="zh-CN" sz="2400" b="1" dirty="0"/>
              <a:t>Ψ</a:t>
            </a:r>
            <a:r>
              <a:rPr lang="es-EC" altLang="zh-CN" sz="2400" b="1" i="1" baseline="-25000" dirty="0"/>
              <a:t>B</a:t>
            </a:r>
            <a:r>
              <a:rPr lang="es-EC" altLang="zh-CN" sz="2400" b="1" dirty="0"/>
              <a:t>(</a:t>
            </a:r>
            <a:r>
              <a:rPr lang="es-EC" altLang="zh-CN" sz="2400" b="1" i="1" dirty="0"/>
              <a:t>x</a:t>
            </a:r>
            <a:r>
              <a:rPr lang="es-EC" altLang="zh-CN" sz="2400" b="1" dirty="0"/>
              <a:t>)</a:t>
            </a:r>
            <a:endParaRPr lang="en-US" altLang="zh-CN" sz="2400" b="1" i="1" dirty="0"/>
          </a:p>
          <a:p>
            <a:pPr marL="609600" indent="-60960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/>
              <a:t>	</a:t>
            </a:r>
            <a:r>
              <a:rPr lang="en-US" altLang="zh-CN" sz="2400" b="1" dirty="0"/>
              <a:t>(6) Ψ</a:t>
            </a:r>
            <a:r>
              <a:rPr lang="es-EC" altLang="zh-CN" sz="2400" b="1" i="1" baseline="-25000" dirty="0"/>
              <a:t>A</a:t>
            </a:r>
            <a:r>
              <a:rPr lang="es-EC" altLang="zh-CN" sz="2400" b="1" baseline="-25000" dirty="0"/>
              <a:t>∪</a:t>
            </a:r>
            <a:r>
              <a:rPr lang="es-EC" altLang="zh-CN" sz="2400" b="1" i="1" baseline="-25000" dirty="0"/>
              <a:t>B</a:t>
            </a:r>
            <a:r>
              <a:rPr lang="es-EC" altLang="zh-CN" sz="2400" b="1" dirty="0"/>
              <a:t>(</a:t>
            </a:r>
            <a:r>
              <a:rPr lang="es-EC" altLang="zh-CN" sz="2400" b="1" i="1" dirty="0"/>
              <a:t>x</a:t>
            </a:r>
            <a:r>
              <a:rPr lang="es-EC" altLang="zh-CN" sz="2400" b="1" dirty="0"/>
              <a:t>)</a:t>
            </a:r>
            <a:r>
              <a:rPr lang="zh-CN" altLang="es-EC" sz="2400" b="1" dirty="0"/>
              <a:t>＝</a:t>
            </a:r>
            <a:r>
              <a:rPr lang="en-US" altLang="zh-CN" sz="2400" b="1" dirty="0"/>
              <a:t>Ψ</a:t>
            </a:r>
            <a:r>
              <a:rPr lang="es-EC" altLang="zh-CN" sz="2400" b="1" i="1" baseline="-25000" dirty="0"/>
              <a:t>A</a:t>
            </a:r>
            <a:r>
              <a:rPr lang="es-EC" altLang="zh-CN" sz="2400" b="1" dirty="0"/>
              <a:t>(</a:t>
            </a:r>
            <a:r>
              <a:rPr lang="es-EC" altLang="zh-CN" sz="2400" b="1" i="1" dirty="0"/>
              <a:t>x</a:t>
            </a:r>
            <a:r>
              <a:rPr lang="es-EC" altLang="zh-CN" sz="2400" b="1" dirty="0"/>
              <a:t>) </a:t>
            </a:r>
            <a:r>
              <a:rPr lang="en-US" altLang="zh-CN" sz="2400" b="1" dirty="0">
                <a:sym typeface="Symbol" panose="05050102010706020507" pitchFamily="18" charset="2"/>
              </a:rPr>
              <a:t></a:t>
            </a:r>
            <a:r>
              <a:rPr lang="en-US" altLang="zh-CN" sz="2400" b="1" dirty="0"/>
              <a:t>Ψ</a:t>
            </a:r>
            <a:r>
              <a:rPr lang="es-EC" altLang="zh-CN" sz="2400" b="1" i="1" baseline="-25000" dirty="0"/>
              <a:t>B</a:t>
            </a:r>
            <a:r>
              <a:rPr lang="es-EC" altLang="zh-CN" sz="2400" b="1" dirty="0"/>
              <a:t>(</a:t>
            </a:r>
            <a:r>
              <a:rPr lang="es-EC" altLang="zh-CN" sz="2400" b="1" i="1" dirty="0"/>
              <a:t>x</a:t>
            </a:r>
            <a:r>
              <a:rPr lang="es-EC" altLang="zh-CN" sz="2400" b="1" dirty="0"/>
              <a:t>) </a:t>
            </a:r>
            <a:r>
              <a:rPr lang="en-US" altLang="zh-CN" sz="2400" b="1" dirty="0">
                <a:sym typeface="Symbol" panose="05050102010706020507" pitchFamily="18" charset="2"/>
              </a:rPr>
              <a:t></a:t>
            </a:r>
            <a:r>
              <a:rPr lang="en-US" altLang="zh-CN" sz="2400" b="1" dirty="0"/>
              <a:t>Ψ</a:t>
            </a:r>
            <a:r>
              <a:rPr lang="es-EC" altLang="zh-CN" sz="2400" b="1" i="1" baseline="-25000" dirty="0"/>
              <a:t>A</a:t>
            </a:r>
            <a:r>
              <a:rPr lang="es-EC" altLang="zh-CN" sz="2400" b="1" baseline="-25000" dirty="0"/>
              <a:t>∩</a:t>
            </a:r>
            <a:r>
              <a:rPr lang="es-EC" altLang="zh-CN" sz="2400" b="1" i="1" baseline="-25000" dirty="0"/>
              <a:t>B</a:t>
            </a:r>
            <a:r>
              <a:rPr lang="es-EC" altLang="zh-CN" sz="2400" b="1" dirty="0"/>
              <a:t>(</a:t>
            </a:r>
            <a:r>
              <a:rPr lang="es-EC" altLang="zh-CN" sz="2400" b="1" i="1" dirty="0"/>
              <a:t>x</a:t>
            </a:r>
            <a:r>
              <a:rPr lang="es-EC" altLang="zh-CN" sz="2400" b="1" dirty="0"/>
              <a:t>)</a:t>
            </a:r>
            <a:endParaRPr lang="en-US" altLang="zh-CN" sz="2400" b="1" i="1" dirty="0"/>
          </a:p>
          <a:p>
            <a:pPr marL="609600" indent="-60960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/>
              <a:t>	</a:t>
            </a:r>
            <a:r>
              <a:rPr lang="en-US" altLang="zh-CN" sz="2400" b="1" dirty="0"/>
              <a:t>(7) Ψ</a:t>
            </a:r>
            <a:r>
              <a:rPr lang="es-EC" altLang="zh-CN" sz="2400" b="1" baseline="-25000" dirty="0"/>
              <a:t>~</a:t>
            </a:r>
            <a:r>
              <a:rPr lang="es-EC" altLang="zh-CN" sz="2400" b="1" i="1" baseline="-25000" dirty="0"/>
              <a:t>A</a:t>
            </a:r>
            <a:r>
              <a:rPr lang="es-EC" altLang="zh-CN" sz="2400" b="1" dirty="0"/>
              <a:t>(x)</a:t>
            </a:r>
            <a:r>
              <a:rPr lang="zh-CN" altLang="es-EC" sz="2400" b="1" dirty="0"/>
              <a:t>＝</a:t>
            </a:r>
            <a:r>
              <a:rPr lang="es-EC" altLang="zh-CN" sz="2400" b="1" dirty="0"/>
              <a:t>1</a:t>
            </a:r>
            <a:r>
              <a:rPr lang="en-US" altLang="zh-CN" sz="2400" b="1" dirty="0">
                <a:sym typeface="Symbol" panose="05050102010706020507" pitchFamily="18" charset="2"/>
              </a:rPr>
              <a:t></a:t>
            </a:r>
            <a:r>
              <a:rPr lang="en-US" altLang="zh-CN" sz="2400" b="1" dirty="0"/>
              <a:t>Ψ</a:t>
            </a:r>
            <a:r>
              <a:rPr lang="es-EC" altLang="zh-CN" sz="2400" b="1" i="1" baseline="-25000" dirty="0"/>
              <a:t>A</a:t>
            </a:r>
            <a:r>
              <a:rPr lang="es-EC" altLang="zh-CN" sz="2400" b="1" dirty="0"/>
              <a:t>(</a:t>
            </a:r>
            <a:r>
              <a:rPr lang="es-EC" altLang="zh-CN" sz="2400" b="1" i="1" dirty="0"/>
              <a:t>x</a:t>
            </a:r>
            <a:r>
              <a:rPr lang="es-EC" altLang="zh-CN" sz="2400" b="1" dirty="0"/>
              <a:t>)</a:t>
            </a:r>
            <a:endParaRPr lang="en-US" altLang="zh-CN" sz="2400" b="1" i="1" dirty="0"/>
          </a:p>
          <a:p>
            <a:pPr marL="609600" indent="-60960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/>
              <a:t>	</a:t>
            </a:r>
            <a:r>
              <a:rPr lang="en-US" altLang="zh-CN" sz="2400" b="1" dirty="0"/>
              <a:t>(8) Ψ</a:t>
            </a:r>
            <a:r>
              <a:rPr lang="es-EC" altLang="zh-CN" sz="2400" b="1" i="1" baseline="-25000" dirty="0"/>
              <a:t>A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</a:t>
            </a:r>
            <a:r>
              <a:rPr lang="es-EC" altLang="zh-CN" sz="2400" b="1" i="1" baseline="-25000" dirty="0"/>
              <a:t>B</a:t>
            </a:r>
            <a:r>
              <a:rPr lang="es-EC" altLang="zh-CN" sz="2400" b="1" dirty="0"/>
              <a:t>(</a:t>
            </a:r>
            <a:r>
              <a:rPr lang="es-EC" altLang="zh-CN" sz="2400" b="1" i="1" dirty="0"/>
              <a:t>x</a:t>
            </a:r>
            <a:r>
              <a:rPr lang="es-EC" altLang="zh-CN" sz="2400" b="1" dirty="0"/>
              <a:t>)</a:t>
            </a:r>
            <a:r>
              <a:rPr lang="zh-CN" altLang="es-EC" sz="2400" b="1" dirty="0"/>
              <a:t>＝</a:t>
            </a:r>
            <a:r>
              <a:rPr lang="en-US" altLang="zh-CN" sz="2400" b="1" dirty="0"/>
              <a:t>Ψ</a:t>
            </a:r>
            <a:r>
              <a:rPr lang="es-EC" altLang="zh-CN" sz="2400" b="1" i="1" baseline="-25000" dirty="0"/>
              <a:t>A</a:t>
            </a:r>
            <a:r>
              <a:rPr lang="es-EC" altLang="zh-CN" sz="2400" b="1" baseline="-25000" dirty="0"/>
              <a:t>∩~</a:t>
            </a:r>
            <a:r>
              <a:rPr lang="es-EC" altLang="zh-CN" sz="2400" b="1" i="1" baseline="-25000" dirty="0"/>
              <a:t>B</a:t>
            </a:r>
            <a:r>
              <a:rPr lang="es-EC" altLang="zh-CN" sz="2400" b="1" dirty="0"/>
              <a:t>(</a:t>
            </a:r>
            <a:r>
              <a:rPr lang="es-EC" altLang="zh-CN" sz="2400" b="1" i="1" dirty="0"/>
              <a:t>x</a:t>
            </a:r>
            <a:r>
              <a:rPr lang="es-EC" altLang="zh-CN" sz="2400" b="1" dirty="0"/>
              <a:t>)</a:t>
            </a:r>
            <a:r>
              <a:rPr lang="zh-CN" altLang="es-EC" sz="2400" b="1" dirty="0"/>
              <a:t>＝</a:t>
            </a:r>
            <a:r>
              <a:rPr lang="en-US" altLang="zh-CN" sz="2400" b="1" dirty="0"/>
              <a:t>Ψ</a:t>
            </a:r>
            <a:r>
              <a:rPr lang="es-EC" altLang="zh-CN" sz="2400" b="1" i="1" baseline="-25000" dirty="0"/>
              <a:t>A</a:t>
            </a:r>
            <a:r>
              <a:rPr lang="es-EC" altLang="zh-CN" sz="2400" b="1" dirty="0"/>
              <a:t>(</a:t>
            </a:r>
            <a:r>
              <a:rPr lang="es-EC" altLang="zh-CN" sz="2400" b="1" i="1" dirty="0"/>
              <a:t>x</a:t>
            </a:r>
            <a:r>
              <a:rPr lang="es-EC" altLang="zh-CN" sz="2400" b="1" dirty="0"/>
              <a:t>)</a:t>
            </a:r>
            <a:r>
              <a:rPr lang="es-EC" altLang="zh-CN" sz="2400" b="1" dirty="0">
                <a:latin typeface="Arial" panose="020B0604020202020204" pitchFamily="34" charset="0"/>
              </a:rPr>
              <a:t>·</a:t>
            </a:r>
            <a:r>
              <a:rPr lang="en-US" altLang="zh-CN" sz="2400" b="1" dirty="0"/>
              <a:t>Ψ</a:t>
            </a:r>
            <a:r>
              <a:rPr lang="es-EC" altLang="zh-CN" sz="2400" b="1" baseline="-25000" dirty="0"/>
              <a:t>~</a:t>
            </a:r>
            <a:r>
              <a:rPr lang="es-EC" altLang="zh-CN" sz="2400" b="1" i="1" baseline="-25000" dirty="0"/>
              <a:t>B</a:t>
            </a:r>
            <a:r>
              <a:rPr lang="es-EC" altLang="zh-CN" sz="2400" b="1" dirty="0"/>
              <a:t>(</a:t>
            </a:r>
            <a:r>
              <a:rPr lang="es-EC" altLang="zh-CN" sz="2400" b="1" i="1" dirty="0"/>
              <a:t>x</a:t>
            </a:r>
            <a:r>
              <a:rPr lang="es-EC" altLang="zh-CN" sz="2400" b="1" dirty="0"/>
              <a:t>)</a:t>
            </a:r>
          </a:p>
          <a:p>
            <a:pPr marL="609600" indent="-60960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s-EC" sz="2400" b="1" dirty="0"/>
              <a:t>                       ＝</a:t>
            </a:r>
            <a:r>
              <a:rPr lang="en-US" altLang="zh-CN" sz="2400" b="1" dirty="0"/>
              <a:t>Ψ</a:t>
            </a:r>
            <a:r>
              <a:rPr lang="es-EC" altLang="zh-CN" sz="2400" b="1" i="1" baseline="-25000" dirty="0"/>
              <a:t>A</a:t>
            </a:r>
            <a:r>
              <a:rPr lang="es-EC" altLang="zh-CN" sz="2400" b="1" dirty="0"/>
              <a:t>(</a:t>
            </a:r>
            <a:r>
              <a:rPr lang="es-EC" altLang="zh-CN" sz="2400" b="1" i="1" dirty="0"/>
              <a:t>x</a:t>
            </a:r>
            <a:r>
              <a:rPr lang="es-EC" altLang="zh-CN" sz="2400" b="1" dirty="0"/>
              <a:t>) </a:t>
            </a:r>
            <a:r>
              <a:rPr lang="en-US" altLang="zh-CN" sz="2400" b="1" dirty="0">
                <a:sym typeface="Symbol" panose="05050102010706020507" pitchFamily="18" charset="2"/>
              </a:rPr>
              <a:t></a:t>
            </a:r>
            <a:r>
              <a:rPr lang="en-US" altLang="zh-CN" sz="2400" b="1" dirty="0"/>
              <a:t>Ψ</a:t>
            </a:r>
            <a:r>
              <a:rPr lang="es-EC" altLang="zh-CN" sz="2400" b="1" i="1" baseline="-25000" dirty="0"/>
              <a:t>A</a:t>
            </a:r>
            <a:r>
              <a:rPr lang="es-EC" altLang="zh-CN" sz="2400" b="1" baseline="-25000" dirty="0"/>
              <a:t>∩</a:t>
            </a:r>
            <a:r>
              <a:rPr lang="es-EC" altLang="zh-CN" sz="2400" b="1" i="1" baseline="-25000" dirty="0"/>
              <a:t>B</a:t>
            </a:r>
            <a:r>
              <a:rPr lang="es-EC" altLang="zh-CN" sz="2400" b="1" dirty="0"/>
              <a:t>(</a:t>
            </a:r>
            <a:r>
              <a:rPr lang="es-EC" altLang="zh-CN" sz="2400" b="1" i="1" dirty="0"/>
              <a:t>x</a:t>
            </a:r>
            <a:r>
              <a:rPr lang="es-EC" altLang="zh-CN" sz="2400" b="1" dirty="0"/>
              <a:t>)</a:t>
            </a:r>
          </a:p>
          <a:p>
            <a:pPr marL="609600" indent="-60960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s-EC" sz="1800" b="1" dirty="0"/>
              <a:t>             其中特征函数间的运算</a:t>
            </a:r>
            <a:r>
              <a:rPr lang="zh-CN" altLang="en-US" sz="1800" b="1" dirty="0">
                <a:sym typeface="Symbol" panose="05050102010706020507" pitchFamily="18" charset="2"/>
              </a:rPr>
              <a:t></a:t>
            </a:r>
            <a:r>
              <a:rPr lang="zh-CN" altLang="en-US" sz="1800" b="1" dirty="0"/>
              <a:t>，</a:t>
            </a:r>
            <a:r>
              <a:rPr lang="zh-CN" altLang="en-US" sz="1800" b="1" dirty="0">
                <a:sym typeface="Symbol" panose="05050102010706020507" pitchFamily="18" charset="2"/>
              </a:rPr>
              <a:t></a:t>
            </a:r>
            <a:r>
              <a:rPr lang="zh-CN" altLang="en-US" sz="1800" b="1" dirty="0"/>
              <a:t>，</a:t>
            </a:r>
            <a:r>
              <a:rPr lang="en-US" altLang="zh-CN" sz="1800" b="1" dirty="0">
                <a:latin typeface="Arial" panose="020B0604020202020204" pitchFamily="34" charset="0"/>
              </a:rPr>
              <a:t>·</a:t>
            </a:r>
            <a:r>
              <a:rPr lang="zh-CN" altLang="en-US" sz="1800" b="1" dirty="0"/>
              <a:t>就是通常数字之间的算术运算</a:t>
            </a:r>
            <a:r>
              <a:rPr lang="zh-CN" altLang="en-US" sz="1800" b="1" dirty="0">
                <a:sym typeface="Symbol" panose="05050102010706020507" pitchFamily="18" charset="2"/>
              </a:rPr>
              <a:t></a:t>
            </a:r>
            <a:r>
              <a:rPr lang="zh-CN" altLang="en-US" sz="1800" b="1" dirty="0"/>
              <a:t>，</a:t>
            </a:r>
            <a:r>
              <a:rPr lang="zh-CN" altLang="en-US" sz="1800" b="1" dirty="0">
                <a:sym typeface="Symbol" panose="05050102010706020507" pitchFamily="18" charset="2"/>
              </a:rPr>
              <a:t></a:t>
            </a:r>
            <a:r>
              <a:rPr lang="zh-CN" altLang="en-US" sz="1800" b="1" dirty="0"/>
              <a:t>，</a:t>
            </a:r>
            <a:r>
              <a:rPr lang="zh-CN" altLang="en-US" sz="1800" b="1" dirty="0">
                <a:sym typeface="Symbol" panose="05050102010706020507" pitchFamily="18" charset="2"/>
              </a:rPr>
              <a:t></a:t>
            </a:r>
            <a:r>
              <a:rPr lang="zh-CN" altLang="en-US" sz="1800" b="1" dirty="0"/>
              <a:t>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85E140B-08E9-5E30-07F0-6DA5182E2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066169"/>
      </p:ext>
    </p:extLst>
  </p:cSld>
  <p:clrMapOvr>
    <a:masterClrMapping/>
  </p:clrMapOvr>
  <p:transition spd="slow" advTm="0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Group 150">
            <a:extLst>
              <a:ext uri="{FF2B5EF4-FFF2-40B4-BE49-F238E27FC236}">
                <a16:creationId xmlns:a16="http://schemas.microsoft.com/office/drawing/2014/main" id="{36A0B18F-AAC8-4ABC-B69A-8FADE02EDF7A}"/>
              </a:ext>
            </a:extLst>
          </p:cNvPr>
          <p:cNvGraphicFramePr>
            <a:graphicFrameLocks/>
          </p:cNvGraphicFramePr>
          <p:nvPr/>
        </p:nvGraphicFramePr>
        <p:xfrm>
          <a:off x="1520769" y="2585400"/>
          <a:ext cx="8229600" cy="2103120"/>
        </p:xfrm>
        <a:graphic>
          <a:graphicData uri="http://schemas.openxmlformats.org/drawingml/2006/table">
            <a:tbl>
              <a:tblPr/>
              <a:tblGrid>
                <a:gridCol w="1144587">
                  <a:extLst>
                    <a:ext uri="{9D8B030D-6E8A-4147-A177-3AD203B41FA5}">
                      <a16:colId xmlns:a16="http://schemas.microsoft.com/office/drawing/2014/main" val="329485449"/>
                    </a:ext>
                  </a:extLst>
                </a:gridCol>
                <a:gridCol w="671513">
                  <a:extLst>
                    <a:ext uri="{9D8B030D-6E8A-4147-A177-3AD203B41FA5}">
                      <a16:colId xmlns:a16="http://schemas.microsoft.com/office/drawing/2014/main" val="152504607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827065736"/>
                    </a:ext>
                  </a:extLst>
                </a:gridCol>
                <a:gridCol w="773112">
                  <a:extLst>
                    <a:ext uri="{9D8B030D-6E8A-4147-A177-3AD203B41FA5}">
                      <a16:colId xmlns:a16="http://schemas.microsoft.com/office/drawing/2014/main" val="11409113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56685293"/>
                    </a:ext>
                  </a:extLst>
                </a:gridCol>
                <a:gridCol w="979488">
                  <a:extLst>
                    <a:ext uri="{9D8B030D-6E8A-4147-A177-3AD203B41FA5}">
                      <a16:colId xmlns:a16="http://schemas.microsoft.com/office/drawing/2014/main" val="3421634183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736955241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1111088490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3486538211"/>
                    </a:ext>
                  </a:extLst>
                </a:gridCol>
              </a:tblGrid>
              <a:tr h="406400">
                <a:tc rowSpan="2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Ψ</a:t>
                      </a:r>
                      <a:r>
                        <a:rPr kumimoji="0" lang="en-US" altLang="zh-CN" sz="24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8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450342"/>
                  </a:ext>
                </a:extLst>
              </a:tr>
              <a:tr h="4064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Φ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{a}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{b}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{c}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{a, b}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{a, c}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{b, c}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{a, b, c}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97770"/>
                  </a:ext>
                </a:extLst>
              </a:tr>
              <a:tr h="8445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276686"/>
                  </a:ext>
                </a:extLst>
              </a:tr>
            </a:tbl>
          </a:graphicData>
        </a:graphic>
      </p:graphicFrame>
      <p:sp>
        <p:nvSpPr>
          <p:cNvPr id="5" name="Line 152">
            <a:extLst>
              <a:ext uri="{FF2B5EF4-FFF2-40B4-BE49-F238E27FC236}">
                <a16:creationId xmlns:a16="http://schemas.microsoft.com/office/drawing/2014/main" id="{5F1A6FFD-7D37-4EF0-89E3-1504EFC7A9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0769" y="2585400"/>
            <a:ext cx="863600" cy="863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/>
          <a:p>
            <a:endParaRPr lang="zh-CN" altLang="en-US" dirty="0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A3060C62-A401-46BE-AA03-AD592507D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777" y="793202"/>
            <a:ext cx="8424863" cy="183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Ctr="1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dirty="0">
                <a:latin typeface="+mn-ea"/>
                <a:ea typeface="+mn-ea"/>
              </a:rPr>
              <a:t>设 </a:t>
            </a:r>
            <a:r>
              <a:rPr lang="en-US" altLang="zh-CN" sz="2400" dirty="0">
                <a:latin typeface="+mn-ea"/>
                <a:ea typeface="+mn-ea"/>
              </a:rPr>
              <a:t>U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{a, b, c}, U </a:t>
            </a:r>
            <a:r>
              <a:rPr lang="zh-CN" altLang="en-US" sz="2400" dirty="0">
                <a:latin typeface="+mn-ea"/>
                <a:ea typeface="+mn-ea"/>
              </a:rPr>
              <a:t>的子集是：</a:t>
            </a:r>
            <a:r>
              <a:rPr lang="en-US" altLang="zh-CN" sz="2400" dirty="0">
                <a:latin typeface="+mn-ea"/>
                <a:ea typeface="+mn-ea"/>
              </a:rPr>
              <a:t>Φ, {a}, {b}, {c}, {a, b}, {a, c}, {b, c} </a:t>
            </a:r>
            <a:r>
              <a:rPr lang="zh-CN" altLang="en-US" sz="2400" dirty="0">
                <a:latin typeface="+mn-ea"/>
                <a:ea typeface="+mn-ea"/>
              </a:rPr>
              <a:t>和 </a:t>
            </a:r>
            <a:r>
              <a:rPr lang="en-US" altLang="zh-CN" sz="2400" dirty="0">
                <a:latin typeface="+mn-ea"/>
                <a:ea typeface="+mn-ea"/>
              </a:rPr>
              <a:t>{a, b, c}</a:t>
            </a:r>
            <a:r>
              <a:rPr lang="zh-CN" altLang="en-US" sz="2400" dirty="0">
                <a:latin typeface="+mn-ea"/>
                <a:ea typeface="+mn-ea"/>
              </a:rPr>
              <a:t>。试给出 </a:t>
            </a:r>
            <a:r>
              <a:rPr lang="en-US" altLang="zh-CN" sz="2400" dirty="0">
                <a:latin typeface="+mn-ea"/>
                <a:ea typeface="+mn-ea"/>
              </a:rPr>
              <a:t>U </a:t>
            </a:r>
            <a:r>
              <a:rPr lang="zh-CN" altLang="en-US" sz="2400" dirty="0">
                <a:latin typeface="+mn-ea"/>
                <a:ea typeface="+mn-ea"/>
              </a:rPr>
              <a:t>的所有子集的特征函数且建立特征函数与二进制之间的对应关系。</a:t>
            </a: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+mn-ea"/>
                <a:ea typeface="+mn-ea"/>
              </a:rPr>
              <a:t>解：</a:t>
            </a:r>
            <a:r>
              <a:rPr lang="en-US" altLang="zh-CN" sz="2400" dirty="0">
                <a:latin typeface="+mn-ea"/>
                <a:ea typeface="+mn-ea"/>
              </a:rPr>
              <a:t>U </a:t>
            </a:r>
            <a:r>
              <a:rPr lang="zh-CN" altLang="en-US" sz="2400" dirty="0">
                <a:latin typeface="+mn-ea"/>
                <a:ea typeface="+mn-ea"/>
              </a:rPr>
              <a:t>的任何子集 </a:t>
            </a:r>
            <a:r>
              <a:rPr lang="en-US" altLang="zh-CN" sz="2400" dirty="0">
                <a:latin typeface="+mn-ea"/>
                <a:ea typeface="+mn-ea"/>
              </a:rPr>
              <a:t>A </a:t>
            </a:r>
            <a:r>
              <a:rPr lang="zh-CN" altLang="en-US" sz="2400" dirty="0">
                <a:latin typeface="+mn-ea"/>
                <a:ea typeface="+mn-ea"/>
              </a:rPr>
              <a:t>的特征函数的值由下表给出。</a:t>
            </a:r>
          </a:p>
        </p:txBody>
      </p:sp>
      <p:sp>
        <p:nvSpPr>
          <p:cNvPr id="7" name="Text Box 151">
            <a:extLst>
              <a:ext uri="{FF2B5EF4-FFF2-40B4-BE49-F238E27FC236}">
                <a16:creationId xmlns:a16="http://schemas.microsoft.com/office/drawing/2014/main" id="{18D3FC55-670B-4B9C-8CEB-9D8F0E62B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777" y="5000834"/>
            <a:ext cx="8351837" cy="183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Ctr="1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/>
              <a:t>       </a:t>
            </a:r>
            <a:r>
              <a:rPr lang="zh-CN" altLang="en-US" sz="2400" dirty="0"/>
              <a:t>如果规定元素的次序为 </a:t>
            </a:r>
            <a:r>
              <a:rPr lang="en-US" altLang="zh-CN" sz="2400" dirty="0"/>
              <a:t>a, b, c</a:t>
            </a:r>
            <a:r>
              <a:rPr lang="zh-CN" altLang="en-US" sz="2400" dirty="0"/>
              <a:t>，则每个子集 </a:t>
            </a:r>
            <a:r>
              <a:rPr lang="en-US" altLang="zh-CN" sz="2400" i="1" dirty="0"/>
              <a:t>A </a:t>
            </a:r>
            <a:r>
              <a:rPr lang="zh-CN" altLang="en-US" sz="2400" dirty="0"/>
              <a:t>的特征函数与一个三位二进制数相对应。如</a:t>
            </a:r>
            <a:r>
              <a:rPr lang="en-US" altLang="zh-CN" sz="2400" i="1" dirty="0"/>
              <a:t>Ψ</a:t>
            </a:r>
            <a:r>
              <a:rPr lang="es-EC" altLang="zh-CN" sz="2400" baseline="-25000" dirty="0"/>
              <a:t>{a</a:t>
            </a:r>
            <a:r>
              <a:rPr lang="es-EC" altLang="zh-CN" sz="2400" i="1" baseline="-25000" dirty="0"/>
              <a:t>,</a:t>
            </a:r>
            <a:r>
              <a:rPr lang="es-EC" altLang="zh-CN" sz="2400" baseline="-25000" dirty="0"/>
              <a:t>c}</a:t>
            </a:r>
            <a:r>
              <a:rPr lang="es-EC" altLang="zh-CN" sz="2400" dirty="0"/>
              <a:t>(</a:t>
            </a:r>
            <a:r>
              <a:rPr lang="en-US" altLang="zh-CN" sz="2400" i="1" dirty="0"/>
              <a:t>x</a:t>
            </a:r>
            <a:r>
              <a:rPr lang="es-EC" altLang="zh-CN" sz="2400" dirty="0"/>
              <a:t>)</a:t>
            </a:r>
            <a:r>
              <a:rPr lang="es-EC" altLang="zh-CN" sz="2400" dirty="0">
                <a:sym typeface="Symbol" panose="05050102010706020507" pitchFamily="18" charset="2"/>
              </a:rPr>
              <a:t></a:t>
            </a:r>
            <a:r>
              <a:rPr lang="es-EC" altLang="zh-CN" sz="2400" dirty="0"/>
              <a:t>101</a:t>
            </a:r>
            <a:r>
              <a:rPr lang="zh-CN" altLang="es-EC" sz="2400" dirty="0"/>
              <a:t>。</a:t>
            </a:r>
          </a:p>
          <a:p>
            <a:pPr>
              <a:lnSpc>
                <a:spcPct val="120000"/>
              </a:lnSpc>
            </a:pPr>
            <a:r>
              <a:rPr lang="zh-CN" altLang="es-EC" sz="2400" dirty="0"/>
              <a:t>       令 </a:t>
            </a:r>
            <a:r>
              <a:rPr lang="es-EC" altLang="zh-CN" sz="2400" i="1" dirty="0"/>
              <a:t>B</a:t>
            </a:r>
            <a:r>
              <a:rPr lang="zh-CN" altLang="es-EC" sz="2400" dirty="0"/>
              <a:t>＝</a:t>
            </a:r>
            <a:r>
              <a:rPr lang="es-EC" altLang="zh-CN" sz="2400" dirty="0"/>
              <a:t>{000,001,010,011,100,101,110,111}</a:t>
            </a:r>
            <a:r>
              <a:rPr lang="zh-CN" altLang="es-EC" sz="2400" dirty="0"/>
              <a:t>，那么</a:t>
            </a:r>
            <a:r>
              <a:rPr lang="zh-CN" altLang="en-US" sz="2400" dirty="0"/>
              <a:t>表</a:t>
            </a:r>
            <a:r>
              <a:rPr lang="zh-CN" altLang="es-EC" sz="2400" dirty="0"/>
              <a:t>亦可以看作从 </a:t>
            </a:r>
            <a:r>
              <a:rPr lang="es-EC" altLang="zh-CN" sz="2400" i="1" dirty="0"/>
              <a:t>U </a:t>
            </a:r>
            <a:r>
              <a:rPr lang="zh-CN" altLang="es-EC" sz="2400" dirty="0"/>
              <a:t>的幂集到 </a:t>
            </a:r>
            <a:r>
              <a:rPr lang="es-EC" altLang="zh-CN" sz="2400" i="1" dirty="0"/>
              <a:t>B </a:t>
            </a:r>
            <a:r>
              <a:rPr lang="zh-CN" altLang="es-EC" sz="2400" dirty="0"/>
              <a:t>的一个双射。 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01775C-40B4-A328-268C-921572DB2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43450"/>
      </p:ext>
    </p:extLst>
  </p:cSld>
  <p:clrMapOvr>
    <a:masterClrMapping/>
  </p:clrMapOvr>
  <p:transition spd="slow" advTm="0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884D5B-4A06-47E5-B2E5-A42CDBADD38E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455738"/>
            <a:ext cx="8351837" cy="38163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latin typeface="+mn-ea"/>
              </a:rPr>
              <a:t> 		 </a:t>
            </a:r>
            <a:r>
              <a:rPr lang="zh-CN" altLang="en-US" b="1" dirty="0">
                <a:latin typeface="+mn-ea"/>
              </a:rPr>
              <a:t>由集合的特征函数可知，从 </a:t>
            </a:r>
            <a:r>
              <a:rPr lang="en-US" altLang="zh-CN" b="1" i="1" dirty="0">
                <a:latin typeface="+mn-ea"/>
              </a:rPr>
              <a:t>U </a:t>
            </a:r>
            <a:r>
              <a:rPr lang="zh-CN" altLang="en-US" b="1" dirty="0">
                <a:latin typeface="+mn-ea"/>
              </a:rPr>
              <a:t>到 </a:t>
            </a:r>
            <a:r>
              <a:rPr lang="en-US" altLang="zh-CN" b="1" dirty="0">
                <a:latin typeface="+mn-ea"/>
              </a:rPr>
              <a:t>{0, 1} </a:t>
            </a:r>
            <a:r>
              <a:rPr lang="zh-CN" altLang="en-US" b="1" dirty="0">
                <a:latin typeface="+mn-ea"/>
              </a:rPr>
              <a:t>的任一函数，都能唯一地确定一个 </a:t>
            </a:r>
            <a:r>
              <a:rPr lang="en-US" altLang="zh-CN" b="1" i="1" dirty="0">
                <a:latin typeface="+mn-ea"/>
              </a:rPr>
              <a:t>U </a:t>
            </a:r>
            <a:r>
              <a:rPr lang="zh-CN" altLang="en-US" b="1" dirty="0">
                <a:latin typeface="+mn-ea"/>
              </a:rPr>
              <a:t>的子集合，如果元素 </a:t>
            </a:r>
            <a:r>
              <a:rPr lang="en-US" altLang="zh-CN" b="1" i="1" dirty="0">
                <a:latin typeface="+mn-ea"/>
              </a:rPr>
              <a:t>x </a:t>
            </a:r>
            <a:r>
              <a:rPr lang="zh-CN" altLang="en-US" b="1" dirty="0">
                <a:latin typeface="+mn-ea"/>
              </a:rPr>
              <a:t>的函数值为 </a:t>
            </a:r>
            <a:r>
              <a:rPr lang="en-US" altLang="zh-CN" b="1" dirty="0">
                <a:latin typeface="+mn-ea"/>
              </a:rPr>
              <a:t>1</a:t>
            </a:r>
            <a:r>
              <a:rPr lang="zh-CN" altLang="en-US" b="1" dirty="0">
                <a:latin typeface="+mn-ea"/>
              </a:rPr>
              <a:t>，则 </a:t>
            </a:r>
            <a:r>
              <a:rPr lang="en-US" altLang="zh-CN" b="1" i="1" dirty="0">
                <a:latin typeface="+mn-ea"/>
              </a:rPr>
              <a:t>x </a:t>
            </a:r>
            <a:r>
              <a:rPr lang="zh-CN" altLang="en-US" b="1" dirty="0">
                <a:latin typeface="+mn-ea"/>
              </a:rPr>
              <a:t>属于此集合，否则，</a:t>
            </a:r>
            <a:r>
              <a:rPr lang="en-US" altLang="zh-CN" b="1" i="1" dirty="0">
                <a:latin typeface="+mn-ea"/>
              </a:rPr>
              <a:t>x</a:t>
            </a:r>
            <a:r>
              <a:rPr lang="zh-CN" altLang="en-US" b="1" dirty="0">
                <a:latin typeface="+mn-ea"/>
              </a:rPr>
              <a:t>不属于此集合。如果考虑的是从 </a:t>
            </a:r>
            <a:r>
              <a:rPr lang="en-US" altLang="zh-CN" b="1" i="1" dirty="0">
                <a:latin typeface="+mn-ea"/>
              </a:rPr>
              <a:t>U </a:t>
            </a:r>
            <a:r>
              <a:rPr lang="zh-CN" altLang="en-US" b="1" dirty="0">
                <a:latin typeface="+mn-ea"/>
              </a:rPr>
              <a:t>到区间 </a:t>
            </a:r>
            <a:r>
              <a:rPr lang="en-US" altLang="zh-CN" b="1" dirty="0">
                <a:latin typeface="+mn-ea"/>
              </a:rPr>
              <a:t>[0, 1]</a:t>
            </a:r>
            <a:r>
              <a:rPr lang="zh-CN" altLang="en-US" b="1" dirty="0">
                <a:latin typeface="+mn-ea"/>
              </a:rPr>
              <a:t>的函数，此时，按照已知集合的概念可知，这样定义的函数已不能再理解为集合的特征函数。因为，假定此函数也定义了一个集合 </a:t>
            </a:r>
            <a:r>
              <a:rPr lang="en-US" altLang="zh-CN" b="1" i="1" dirty="0">
                <a:latin typeface="+mn-ea"/>
              </a:rPr>
              <a:t>A</a:t>
            </a:r>
            <a:r>
              <a:rPr lang="zh-CN" altLang="en-US" b="1" dirty="0">
                <a:latin typeface="+mn-ea"/>
              </a:rPr>
              <a:t>，当 </a:t>
            </a:r>
            <a:r>
              <a:rPr lang="en-US" altLang="zh-CN" b="1" i="1" dirty="0" err="1">
                <a:latin typeface="+mn-ea"/>
              </a:rPr>
              <a:t>x</a:t>
            </a:r>
            <a:r>
              <a:rPr lang="en-US" altLang="zh-CN" b="1" dirty="0" err="1">
                <a:latin typeface="+mn-ea"/>
              </a:rPr>
              <a:t>∈</a:t>
            </a:r>
            <a:r>
              <a:rPr lang="en-US" altLang="zh-CN" b="1" i="1" dirty="0" err="1">
                <a:latin typeface="+mn-ea"/>
              </a:rPr>
              <a:t>U</a:t>
            </a:r>
            <a:r>
              <a:rPr lang="en-US" altLang="zh-CN" b="1" i="1" dirty="0">
                <a:latin typeface="+mn-ea"/>
              </a:rPr>
              <a:t> </a:t>
            </a:r>
            <a:r>
              <a:rPr lang="zh-CN" altLang="en-US" b="1" dirty="0">
                <a:latin typeface="+mn-ea"/>
              </a:rPr>
              <a:t>的函数值为 </a:t>
            </a:r>
            <a:r>
              <a:rPr lang="en-US" altLang="zh-CN" b="1" dirty="0">
                <a:latin typeface="+mn-ea"/>
              </a:rPr>
              <a:t>0.5 </a:t>
            </a:r>
            <a:r>
              <a:rPr lang="zh-CN" altLang="en-US" b="1" dirty="0">
                <a:latin typeface="+mn-ea"/>
              </a:rPr>
              <a:t>时，无法解释 </a:t>
            </a:r>
            <a:r>
              <a:rPr lang="en-US" altLang="zh-CN" b="1" i="1" dirty="0">
                <a:latin typeface="+mn-ea"/>
              </a:rPr>
              <a:t>x </a:t>
            </a:r>
            <a:r>
              <a:rPr lang="zh-CN" altLang="en-US" b="1" dirty="0">
                <a:latin typeface="+mn-ea"/>
              </a:rPr>
              <a:t>是否属于所考虑的集合 </a:t>
            </a:r>
            <a:r>
              <a:rPr lang="en-US" altLang="zh-CN" b="1" i="1" dirty="0">
                <a:latin typeface="+mn-ea"/>
              </a:rPr>
              <a:t>A</a:t>
            </a:r>
            <a:r>
              <a:rPr lang="zh-CN" altLang="en-US" b="1" dirty="0">
                <a:latin typeface="+mn-ea"/>
              </a:rPr>
              <a:t>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BC8D85-4AE1-36CE-226F-8EAC3BAD7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429818"/>
      </p:ext>
    </p:extLst>
  </p:cSld>
  <p:clrMapOvr>
    <a:masterClrMapping/>
  </p:clrMapOvr>
  <p:transition spd="slow" advTm="0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316DF9D-5416-48C6-B6D1-939591DBE47E}"/>
              </a:ext>
            </a:extLst>
          </p:cNvPr>
          <p:cNvSpPr txBox="1">
            <a:spLocks noChangeArrowheads="1"/>
          </p:cNvSpPr>
          <p:nvPr/>
        </p:nvSpPr>
        <p:spPr>
          <a:xfrm>
            <a:off x="1429287" y="799780"/>
            <a:ext cx="8569325" cy="5472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52600" lvl="3" indent="-381000" algn="just">
              <a:lnSpc>
                <a:spcPct val="120000"/>
              </a:lnSpc>
              <a:buFontTx/>
              <a:buNone/>
            </a:pPr>
            <a:endParaRPr lang="en-US" altLang="zh-CN" sz="2400" b="1" dirty="0"/>
          </a:p>
          <a:p>
            <a:pPr marL="609600" indent="-609600"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 dirty="0"/>
              <a:t>          </a:t>
            </a:r>
            <a:r>
              <a:rPr lang="zh-CN" altLang="en-US" sz="2400" b="1" dirty="0"/>
              <a:t>正是这一点上，美国控制论专家扎德（</a:t>
            </a:r>
            <a:r>
              <a:rPr lang="en-US" altLang="zh-CN" sz="2400" b="1" dirty="0"/>
              <a:t>L. A. Zadeh</a:t>
            </a:r>
            <a:r>
              <a:rPr lang="zh-CN" altLang="en-US" sz="2400" b="1" dirty="0"/>
              <a:t>）教授提出了把 </a:t>
            </a:r>
            <a:r>
              <a:rPr lang="en-US" altLang="zh-CN" sz="2400" b="1" dirty="0"/>
              <a:t>0.5 </a:t>
            </a:r>
            <a:r>
              <a:rPr lang="zh-CN" altLang="en-US" sz="2400" b="1" dirty="0"/>
              <a:t>理解成属于集合 </a:t>
            </a:r>
            <a:r>
              <a:rPr lang="en-US" altLang="zh-CN" sz="2400" b="1" dirty="0"/>
              <a:t>A </a:t>
            </a:r>
            <a:r>
              <a:rPr lang="zh-CN" altLang="en-US" sz="2400" b="1" dirty="0"/>
              <a:t>的程度，也就是说，</a:t>
            </a:r>
            <a:r>
              <a:rPr lang="en-US" altLang="zh-CN" sz="2400" b="1" dirty="0"/>
              <a:t>x </a:t>
            </a:r>
            <a:r>
              <a:rPr lang="zh-CN" altLang="en-US" sz="2400" b="1" dirty="0"/>
              <a:t>既不是完全属于所考虑的集合 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，也不是完全不属于集合 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。按照这样的理解，集合 </a:t>
            </a:r>
            <a:r>
              <a:rPr lang="en-US" altLang="zh-CN" sz="2400" b="1" dirty="0"/>
              <a:t>A </a:t>
            </a:r>
            <a:r>
              <a:rPr lang="zh-CN" altLang="en-US" sz="2400" b="1" dirty="0"/>
              <a:t>与以前所讨论过的集合是不同的。于是，从 </a:t>
            </a:r>
            <a:r>
              <a:rPr lang="en-US" altLang="zh-CN" sz="2400" b="1" i="1" dirty="0"/>
              <a:t>U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到闭区间 </a:t>
            </a:r>
            <a:r>
              <a:rPr lang="en-US" altLang="zh-CN" sz="2400" b="1" dirty="0"/>
              <a:t>[0, 1] </a:t>
            </a:r>
            <a:r>
              <a:rPr lang="zh-CN" altLang="en-US" sz="2400" b="1" dirty="0"/>
              <a:t>的一个函数，定义了一个新的集合，对于这个集合可能有一些元素部分地属于它。这样一来，把集合的特征函数取值的范围从 </a:t>
            </a:r>
            <a:r>
              <a:rPr lang="en-US" altLang="zh-CN" sz="2400" b="1" dirty="0"/>
              <a:t>{0, 1} </a:t>
            </a:r>
            <a:r>
              <a:rPr lang="zh-CN" altLang="en-US" sz="2400" b="1" dirty="0"/>
              <a:t>扩大到闭区间 </a:t>
            </a:r>
            <a:r>
              <a:rPr lang="en-US" altLang="zh-CN" sz="2400" b="1" dirty="0"/>
              <a:t>[0, 1]</a:t>
            </a:r>
            <a:r>
              <a:rPr lang="zh-CN" altLang="en-US" sz="2400" b="1" dirty="0"/>
              <a:t>，定义出了与已讨论过的集合概念不同的集合，称为模糊（</a:t>
            </a:r>
            <a:r>
              <a:rPr lang="en-US" altLang="zh-CN" sz="2400" b="1" dirty="0"/>
              <a:t>Fuzzy</a:t>
            </a:r>
            <a:r>
              <a:rPr lang="zh-CN" altLang="en-US" sz="2400" b="1" dirty="0"/>
              <a:t>）子集。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C37B59-5FDE-C65C-C0A5-92A10C81F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948621"/>
      </p:ext>
    </p:extLst>
  </p:cSld>
  <p:clrMapOvr>
    <a:masterClrMapping/>
  </p:clrMapOvr>
  <p:transition spd="slow" advTm="0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0C271-A31D-879A-E67F-898A15D6C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6A36DBE5-C4C0-26DF-98BF-3CD951913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6">
                <a:extLst>
                  <a:ext uri="{FF2B5EF4-FFF2-40B4-BE49-F238E27FC236}">
                    <a16:creationId xmlns:a16="http://schemas.microsoft.com/office/drawing/2014/main" id="{D4C1624E-97C9-9D45-C6A3-FFA81F9F845F}"/>
                  </a:ext>
                </a:extLst>
              </p:cNvPr>
              <p:cNvSpPr txBox="1"/>
              <p:nvPr/>
            </p:nvSpPr>
            <p:spPr>
              <a:xfrm>
                <a:off x="1675562" y="1328678"/>
                <a:ext cx="8383979" cy="4468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b="1" dirty="0"/>
                  <a:t>令</a:t>
                </a:r>
                <a:r>
                  <a:rPr lang="en-US" altLang="zh-CN" sz="2400" b="1" dirty="0"/>
                  <a:t>Z</a:t>
                </a:r>
                <a:r>
                  <a:rPr lang="zh-CN" altLang="en-US" sz="2400" b="1" dirty="0"/>
                  <a:t>为元素集，</a:t>
                </a:r>
                <a:r>
                  <a:rPr lang="en-US" altLang="zh-CN" sz="2400" b="1" dirty="0"/>
                  <a:t>z</a:t>
                </a:r>
                <a:r>
                  <a:rPr lang="zh-CN" altLang="en-US" sz="2400" b="1" dirty="0"/>
                  <a:t>表示</a:t>
                </a:r>
                <a:r>
                  <a:rPr lang="en-US" altLang="zh-CN" sz="2400" b="1" dirty="0"/>
                  <a:t>Z</a:t>
                </a:r>
                <a:r>
                  <a:rPr lang="zh-CN" altLang="en-US" sz="2400" b="1" dirty="0"/>
                  <a:t>的一类元素，即</a:t>
                </a:r>
                <a:r>
                  <a:rPr lang="en-US" altLang="zh-CN" sz="2400" b="1" dirty="0"/>
                  <a:t>Z=</a:t>
                </a:r>
                <a:r>
                  <a:rPr lang="zh-CN" altLang="en-US" sz="2400" b="1" dirty="0"/>
                  <a:t>｛</a:t>
                </a:r>
                <a:r>
                  <a:rPr lang="en-US" altLang="zh-CN" sz="2400" b="1" dirty="0"/>
                  <a:t>z</a:t>
                </a:r>
                <a:r>
                  <a:rPr lang="zh-CN" altLang="en-US" sz="2400" b="1" dirty="0"/>
                  <a:t>｝。</a:t>
                </a:r>
                <a:r>
                  <a:rPr lang="en-US" altLang="zh-CN" sz="2400" b="1" dirty="0"/>
                  <a:t>Z</a:t>
                </a:r>
                <a:r>
                  <a:rPr lang="zh-CN" altLang="en-US" sz="2400" b="1" dirty="0"/>
                  <a:t>中的模糊集合</a:t>
                </a:r>
                <a:r>
                  <a:rPr lang="en-US" altLang="zh-CN" sz="2400" b="1" dirty="0"/>
                  <a:t>A</a:t>
                </a:r>
                <a:r>
                  <a:rPr lang="zh-CN" altLang="en-US" sz="2400" b="1" dirty="0"/>
                  <a:t>由隶属度函数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 smtClean="0">
                            <a:latin typeface="Cambria Math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/>
                          </a:rPr>
                          <m:t>𝑨</m:t>
                        </m:r>
                      </m:sub>
                    </m:sSub>
                    <m:r>
                      <a:rPr lang="en-US" altLang="zh-CN" sz="2400" b="1" i="1" smtClean="0">
                        <a:latin typeface="Cambria Math"/>
                      </a:rPr>
                      <m:t>(</m:t>
                    </m:r>
                    <m:r>
                      <a:rPr lang="en-US" altLang="zh-CN" sz="2400" b="1" i="1" smtClean="0">
                        <a:latin typeface="Cambria Math"/>
                      </a:rPr>
                      <m:t>𝒛</m:t>
                    </m:r>
                    <m:r>
                      <a:rPr lang="en-US" altLang="zh-CN" sz="24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2400" b="1" dirty="0"/>
                  <a:t>表征，它是与</a:t>
                </a:r>
                <a:r>
                  <a:rPr lang="en-US" altLang="zh-CN" sz="2400" b="1" dirty="0"/>
                  <a:t>Z</a:t>
                </a:r>
                <a:r>
                  <a:rPr lang="zh-CN" altLang="en-US" sz="2400" b="1" dirty="0"/>
                  <a:t>的元素相关的在区间</a:t>
                </a:r>
                <a:r>
                  <a:rPr lang="en-US" altLang="zh-CN" sz="2400" b="1" dirty="0"/>
                  <a:t>[0,1]</a:t>
                </a:r>
                <a:r>
                  <a:rPr lang="zh-CN" altLang="en-US" sz="2400" b="1" dirty="0"/>
                  <a:t>内的一个实数。</a:t>
                </a:r>
                <a:r>
                  <a:rPr lang="en-US" altLang="zh-CN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latin typeface="Cambria Math"/>
                          </a:rPr>
                          <m:t>𝑨</m:t>
                        </m:r>
                      </m:sub>
                    </m:sSub>
                    <m:r>
                      <a:rPr lang="en-US" altLang="zh-CN" sz="2400" b="1" i="1">
                        <a:latin typeface="Cambria Math"/>
                      </a:rPr>
                      <m:t>(</m:t>
                    </m:r>
                    <m:r>
                      <a:rPr lang="en-US" altLang="zh-CN" sz="2400" b="1" i="1">
                        <a:latin typeface="Cambria Math"/>
                      </a:rPr>
                      <m:t>𝒛</m:t>
                    </m:r>
                    <m:r>
                      <a:rPr lang="en-US" altLang="zh-CN" sz="2400" b="1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2400" b="1" dirty="0"/>
                  <a:t> 在</a:t>
                </a:r>
                <a:r>
                  <a:rPr lang="en-US" altLang="zh-CN" sz="2400" b="1" dirty="0"/>
                  <a:t>z</a:t>
                </a:r>
                <a:r>
                  <a:rPr lang="zh-CN" altLang="en-US" sz="2400" b="1" dirty="0"/>
                  <a:t>处表示</a:t>
                </a:r>
                <a:r>
                  <a:rPr lang="en-US" altLang="zh-CN" sz="2400" b="1" dirty="0"/>
                  <a:t>A</a:t>
                </a:r>
                <a:r>
                  <a:rPr lang="zh-CN" altLang="en-US" sz="2400" b="1" dirty="0"/>
                  <a:t>中</a:t>
                </a:r>
                <a:r>
                  <a:rPr lang="en-US" altLang="zh-CN" sz="2400" b="1" dirty="0"/>
                  <a:t>z</a:t>
                </a:r>
                <a:r>
                  <a:rPr lang="zh-CN" altLang="en-US" sz="2400" b="1" dirty="0"/>
                  <a:t>的隶属度等级。模糊集合是一个由</a:t>
                </a:r>
                <a:r>
                  <a:rPr lang="en-US" altLang="zh-CN" sz="2400" b="1" dirty="0"/>
                  <a:t>z</a:t>
                </a:r>
                <a:r>
                  <a:rPr lang="zh-CN" altLang="en-US" sz="2400" b="1" dirty="0"/>
                  <a:t>值和（赋予</a:t>
                </a:r>
                <a:r>
                  <a:rPr lang="en-US" altLang="zh-CN" sz="2400" b="1" dirty="0"/>
                  <a:t>z</a:t>
                </a:r>
                <a:r>
                  <a:rPr lang="zh-CN" altLang="en-US" sz="2400" b="1" dirty="0"/>
                  <a:t>成员等级的）相应隶属度函数组成的序对，即</a:t>
                </a:r>
                <a:endParaRPr lang="en-US" altLang="zh-CN" sz="2400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/>
                  <a:t>                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/>
                      </a:rPr>
                      <m:t>𝑨</m:t>
                    </m:r>
                    <m:r>
                      <a:rPr lang="en-US" altLang="zh-CN" sz="2400" b="1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 smtClean="0">
                            <a:latin typeface="Cambria Math"/>
                          </a:rPr>
                          <m:t>𝒛</m:t>
                        </m:r>
                        <m:r>
                          <a:rPr lang="en-US" altLang="zh-CN" sz="2400" b="1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1" i="1">
                                <a:latin typeface="Cambria Math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400" b="1" i="1">
                                <a:latin typeface="Cambria Math"/>
                              </a:rPr>
                              <m:t>𝑨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latin typeface="Cambria Math"/>
                              </a:rPr>
                              <m:t>𝒛</m:t>
                            </m:r>
                          </m:e>
                        </m:d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e>
                        <m:r>
                          <a:rPr lang="en-US" altLang="zh-CN" sz="2400" b="1" i="1" smtClean="0">
                            <a:latin typeface="Cambria Math"/>
                          </a:rPr>
                          <m:t>𝒛</m:t>
                        </m:r>
                        <m:r>
                          <a:rPr lang="zh-CN" altLang="en-US" sz="2400" b="1" i="1" smtClean="0">
                            <a:latin typeface="Cambria Math"/>
                          </a:rPr>
                          <m:t>𝝐</m:t>
                        </m:r>
                        <m:r>
                          <a:rPr lang="en-US" altLang="zh-CN" sz="2400" b="1" i="1" smtClean="0">
                            <a:latin typeface="Cambria Math"/>
                          </a:rPr>
                          <m:t>𝒁</m:t>
                        </m:r>
                      </m:e>
                    </m:d>
                  </m:oMath>
                </a14:m>
                <a:endParaRPr lang="en-US" altLang="zh-CN" sz="2400" b="1" i="1" dirty="0">
                  <a:latin typeface="Cambria Math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400" b="1" i="1" dirty="0">
                  <a:latin typeface="Cambria Math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2400" b="1" dirty="0"/>
              </a:p>
            </p:txBody>
          </p:sp>
        </mc:Choice>
        <mc:Fallback xmlns="">
          <p:sp>
            <p:nvSpPr>
              <p:cNvPr id="2" name="TextBox 6">
                <a:extLst>
                  <a:ext uri="{FF2B5EF4-FFF2-40B4-BE49-F238E27FC236}">
                    <a16:creationId xmlns:a16="http://schemas.microsoft.com/office/drawing/2014/main" id="{D4C1624E-97C9-9D45-C6A3-FFA81F9F8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562" y="1328678"/>
                <a:ext cx="8383979" cy="4468018"/>
              </a:xfrm>
              <a:prstGeom prst="rect">
                <a:avLst/>
              </a:prstGeom>
              <a:blipFill>
                <a:blip r:embed="rId4"/>
                <a:stretch>
                  <a:fillRect l="-1164" r="-6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E:\XK\教学\DIP4\DIP4\image\p0220_001.jpg">
            <a:extLst>
              <a:ext uri="{FF2B5EF4-FFF2-40B4-BE49-F238E27FC236}">
                <a16:creationId xmlns:a16="http://schemas.microsoft.com/office/drawing/2014/main" id="{1D040D2C-7940-2A0F-6E0A-C04302CC39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82"/>
          <a:stretch/>
        </p:blipFill>
        <p:spPr bwMode="auto">
          <a:xfrm>
            <a:off x="2132459" y="4853047"/>
            <a:ext cx="7393551" cy="1887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26F1E94-0CF5-D7C0-EEFB-310CAE61D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068919"/>
      </p:ext>
    </p:extLst>
  </p:cSld>
  <p:clrMapOvr>
    <a:masterClrMapping/>
  </p:clrMapOvr>
  <p:transition spd="slow" advTm="0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BEF09-9289-E712-64C0-8FBD74B7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331475FA-C753-2D60-2C42-8BFAC79C5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E587EC7-3061-E63E-0F40-B58C7854AAAF}"/>
                  </a:ext>
                </a:extLst>
              </p:cNvPr>
              <p:cNvSpPr/>
              <p:nvPr/>
            </p:nvSpPr>
            <p:spPr>
              <a:xfrm>
                <a:off x="1910214" y="1562582"/>
                <a:ext cx="8211787" cy="41549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1,1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2,1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3,1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…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20,1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21,0.9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22,0.8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…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29,0.1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CN" sz="2400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marL="34290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70C0"/>
                  </a:buClr>
                  <a:buFont typeface="Wingdings" pitchFamily="2" charset="2"/>
                  <a:buChar char="p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Times New Roman" pitchFamily="18" charset="0"/>
                  </a:rPr>
                  <a:t>完全定义了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Times New Roman" pitchFamily="18" charset="0"/>
                  </a:rPr>
                  <a:t>A</a:t>
                </a:r>
              </a:p>
              <a:p>
                <a:pPr marL="34290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70C0"/>
                  </a:buClr>
                  <a:buFont typeface="Wingdings" pitchFamily="2" charset="2"/>
                  <a:buChar char="p"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Times New Roman" pitchFamily="18" charset="0"/>
                  </a:rPr>
                  <a:t>（离散）一个模糊集合是一个函数的点的集合，该函数将问题域的每个元素映射到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Times New Roman" pitchFamily="18" charset="0"/>
                  </a:rPr>
                  <a:t>[0,1]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itchFamily="18" charset="0"/>
                  </a:rPr>
                  <a:t>区间</a:t>
                </a:r>
                <a:endParaRPr lang="en-US" altLang="zh-CN" sz="2400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marL="34290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70C0"/>
                  </a:buClr>
                  <a:buFont typeface="Wingdings" pitchFamily="2" charset="2"/>
                  <a:buChar char="p"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Times New Roman" pitchFamily="18" charset="0"/>
                  </a:rPr>
                  <a:t>空集：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Times New Roman" pitchFamily="18" charset="0"/>
                  </a:rPr>
                  <a:t>=0</a:t>
                </a:r>
              </a:p>
              <a:p>
                <a:pPr marL="34290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70C0"/>
                  </a:buClr>
                  <a:buFont typeface="Wingdings" pitchFamily="2" charset="2"/>
                  <a:buChar char="p"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Times New Roman" pitchFamily="18" charset="0"/>
                  </a:rPr>
                  <a:t>相等：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Times New Roman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𝑧</m:t>
                        </m:r>
                      </m:e>
                    </m:d>
                  </m:oMath>
                </a14:m>
                <a:endParaRPr lang="en-US" altLang="zh-CN" sz="2400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marL="34290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70C0"/>
                  </a:buClr>
                  <a:buFont typeface="Wingdings" pitchFamily="2" charset="2"/>
                  <a:buChar char="p"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Times New Roman" pitchFamily="18" charset="0"/>
                  </a:rPr>
                  <a:t>补集：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𝜇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zh-CN" alt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𝐴</m:t>
                            </m:r>
                          </m:e>
                        </m:acc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Times New Roman" pitchFamily="18" charset="0"/>
                  </a:rPr>
                  <a:t>= 1-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𝑧</m:t>
                        </m:r>
                      </m:e>
                    </m:d>
                  </m:oMath>
                </a14:m>
                <a:endParaRPr lang="en-US" altLang="zh-CN" sz="2400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marL="34290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70C0"/>
                  </a:buClr>
                  <a:buFont typeface="Wingdings" pitchFamily="2" charset="2"/>
                  <a:buChar char="p"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Times New Roman" pitchFamily="18" charset="0"/>
                  </a:rPr>
                  <a:t>子集：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𝑧</m:t>
                        </m:r>
                      </m:e>
                    </m:d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&lt;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𝑧</m:t>
                        </m:r>
                      </m:e>
                    </m:d>
                  </m:oMath>
                </a14:m>
                <a:endParaRPr lang="en-US" altLang="zh-CN" sz="2400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marL="34290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70C0"/>
                  </a:buClr>
                  <a:buFont typeface="Wingdings" pitchFamily="2" charset="2"/>
                  <a:buChar char="p"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Times New Roman" pitchFamily="18" charset="0"/>
                  </a:rPr>
                  <a:t>并集：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𝑈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Times New Roman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/>
                      </a:rPr>
                      <m:t>𝑚𝑎𝑥</m:t>
                    </m:r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𝑧</m:t>
                        </m:r>
                      </m:e>
                    </m:d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altLang="zh-CN" sz="2400" dirty="0">
                        <a:solidFill>
                          <a:srgbClr val="000000"/>
                        </a:solidFill>
                        <a:latin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𝑧</m:t>
                        </m:r>
                      </m:e>
                    </m:d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/>
                      </a:rPr>
                      <m:t>]</m:t>
                    </m:r>
                  </m:oMath>
                </a14:m>
                <a:endParaRPr lang="en-US" altLang="zh-CN" sz="2400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marL="34290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70C0"/>
                  </a:buClr>
                  <a:buFont typeface="Wingdings" pitchFamily="2" charset="2"/>
                  <a:buChar char="p"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Times New Roman" pitchFamily="18" charset="0"/>
                  </a:rPr>
                  <a:t>交集：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𝐼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Times New Roman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/>
                      </a:rPr>
                      <m:t>𝑚</m:t>
                    </m:r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/>
                      </a:rPr>
                      <m:t>𝑖𝑛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𝑧</m:t>
                        </m:r>
                      </m:e>
                    </m:d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altLang="zh-CN" sz="2400" dirty="0">
                        <a:solidFill>
                          <a:srgbClr val="000000"/>
                        </a:solidFill>
                        <a:latin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𝑧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/>
                      </a:rPr>
                      <m:t>]</m:t>
                    </m:r>
                  </m:oMath>
                </a14:m>
                <a:endParaRPr lang="en-US" altLang="zh-CN" sz="2400" dirty="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E587EC7-3061-E63E-0F40-B58C7854AA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214" y="1562582"/>
                <a:ext cx="8211787" cy="4154984"/>
              </a:xfrm>
              <a:prstGeom prst="rect">
                <a:avLst/>
              </a:prstGeom>
              <a:blipFill>
                <a:blip r:embed="rId4"/>
                <a:stretch>
                  <a:fillRect l="-965" r="-371" b="-2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E:\XK\教学\DIP4\DIP4\image\p0223_001.jpg">
            <a:extLst>
              <a:ext uri="{FF2B5EF4-FFF2-40B4-BE49-F238E27FC236}">
                <a16:creationId xmlns:a16="http://schemas.microsoft.com/office/drawing/2014/main" id="{3BBE7D28-F3C9-062A-4979-0EC4138E23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63"/>
          <a:stretch/>
        </p:blipFill>
        <p:spPr bwMode="auto">
          <a:xfrm>
            <a:off x="7004668" y="3429000"/>
            <a:ext cx="5064038" cy="284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A30F378-C55B-C16F-34AA-90C09425A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259" y="20638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238087"/>
      </p:ext>
    </p:extLst>
  </p:cSld>
  <p:clrMapOvr>
    <a:masterClrMapping/>
  </p:clrMapOvr>
  <p:transition spd="slow" advTm="0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quiz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7A5A99-1B61-46C8-AB05-84A22A8EA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1277848"/>
            <a:ext cx="10197737" cy="498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397196"/>
      </p:ext>
    </p:extLst>
  </p:cSld>
  <p:clrMapOvr>
    <a:masterClrMapping/>
  </p:clrMapOvr>
  <p:transition spd="slow" advTm="0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quiz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FBAC0FE-EB30-4E4D-B7B2-417456055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079" y="1282889"/>
            <a:ext cx="9919063" cy="466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58566"/>
      </p:ext>
    </p:extLst>
  </p:cSld>
  <p:clrMapOvr>
    <a:masterClrMapping/>
  </p:clrMapOvr>
  <p:transition spd="slow" advTm="0">
    <p:wip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1797</TotalTime>
  <Words>3289</Words>
  <Application>Microsoft Office PowerPoint</Application>
  <PresentationFormat>宽屏</PresentationFormat>
  <Paragraphs>309</Paragraphs>
  <Slides>35</Slides>
  <Notes>35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0" baseType="lpstr">
      <vt:lpstr>等线</vt:lpstr>
      <vt:lpstr>等线 Light</vt:lpstr>
      <vt:lpstr>KaiTi</vt:lpstr>
      <vt:lpstr>宋体</vt:lpstr>
      <vt:lpstr>Microsoft YaHei Light</vt:lpstr>
      <vt:lpstr>Arial</vt:lpstr>
      <vt:lpstr>Arial Black</vt:lpstr>
      <vt:lpstr>Cambria Math</vt:lpstr>
      <vt:lpstr>Lucida Handwriting</vt:lpstr>
      <vt:lpstr>Segoe UI Semibold</vt:lpstr>
      <vt:lpstr>Symbol</vt:lpstr>
      <vt:lpstr>Times New Roman</vt:lpstr>
      <vt:lpstr>Wingdings</vt:lpstr>
      <vt:lpstr>Office 主题​​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wyq</dc:creator>
  <cp:lastModifiedBy>y z</cp:lastModifiedBy>
  <cp:revision>41</cp:revision>
  <dcterms:created xsi:type="dcterms:W3CDTF">2021-11-05T13:12:46Z</dcterms:created>
  <dcterms:modified xsi:type="dcterms:W3CDTF">2025-12-01T03:41:55Z</dcterms:modified>
</cp:coreProperties>
</file>