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445" r:id="rId2"/>
    <p:sldId id="485" r:id="rId3"/>
    <p:sldId id="1220" r:id="rId4"/>
    <p:sldId id="1217" r:id="rId5"/>
    <p:sldId id="1234" r:id="rId6"/>
    <p:sldId id="1313" r:id="rId7"/>
    <p:sldId id="1241" r:id="rId8"/>
    <p:sldId id="1242" r:id="rId9"/>
    <p:sldId id="1244" r:id="rId10"/>
    <p:sldId id="1245" r:id="rId11"/>
    <p:sldId id="1246" r:id="rId12"/>
    <p:sldId id="1247" r:id="rId13"/>
    <p:sldId id="1314" r:id="rId14"/>
    <p:sldId id="1318" r:id="rId15"/>
    <p:sldId id="1319" r:id="rId16"/>
    <p:sldId id="1256" r:id="rId17"/>
    <p:sldId id="1258" r:id="rId18"/>
    <p:sldId id="1320" r:id="rId19"/>
    <p:sldId id="1321" r:id="rId20"/>
    <p:sldId id="1322" r:id="rId21"/>
    <p:sldId id="1323" r:id="rId22"/>
    <p:sldId id="1324" r:id="rId23"/>
    <p:sldId id="1326" r:id="rId24"/>
    <p:sldId id="1327" r:id="rId25"/>
    <p:sldId id="1328" r:id="rId26"/>
    <p:sldId id="1329" r:id="rId27"/>
    <p:sldId id="1269" r:id="rId28"/>
    <p:sldId id="1298" r:id="rId29"/>
    <p:sldId id="1299" r:id="rId30"/>
    <p:sldId id="1300" r:id="rId31"/>
    <p:sldId id="1301" r:id="rId32"/>
    <p:sldId id="1302" r:id="rId33"/>
    <p:sldId id="1303" r:id="rId34"/>
    <p:sldId id="1304" r:id="rId35"/>
    <p:sldId id="1305" r:id="rId36"/>
    <p:sldId id="1306" r:id="rId37"/>
    <p:sldId id="1307" r:id="rId38"/>
    <p:sldId id="1308" r:id="rId39"/>
    <p:sldId id="1309" r:id="rId40"/>
    <p:sldId id="1310" r:id="rId41"/>
    <p:sldId id="1311" r:id="rId42"/>
    <p:sldId id="1312" r:id="rId43"/>
    <p:sldId id="1289" r:id="rId44"/>
    <p:sldId id="1290" r:id="rId45"/>
    <p:sldId id="1291" r:id="rId46"/>
    <p:sldId id="1293" r:id="rId47"/>
    <p:sldId id="1294" r:id="rId48"/>
    <p:sldId id="1295" r:id="rId49"/>
    <p:sldId id="1296" r:id="rId50"/>
    <p:sldId id="1331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58CD0-EFD1-4D27-A427-70167095FD10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1D47A-F619-4A5B-A8DF-B8BE879F94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76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214FF63-7E78-4CEA-B78B-294BDB7C41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99858BC-515F-4514-A470-A99FA05D1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DB2CFB14-3F96-47B7-9206-1409F9E89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22AA93-F3F5-44B4-89DC-39F3993E743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7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861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29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73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134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259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839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937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2649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972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529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984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551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6029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3921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7168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2778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6677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2714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008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3743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0747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244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5440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9966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6770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5131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6078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5900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1590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9137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8106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8039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7994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2063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4099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2875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6336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3621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21130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3107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4391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8811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0717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93159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04358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170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9318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38151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95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6E42D-8E1F-4161-92FC-798002BD6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38D7EA-6BDB-4E64-B964-80168CE37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B6C0B8-A32B-4878-B781-603CA3775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6034E1-D035-43F7-B64D-29398828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5B4D6F-9FE4-4AD6-8337-0FE1B65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33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B075D-15DC-42AC-93A2-6A06B06EC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34E679-C3AD-4C33-B06C-91BDD767E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EB38F1-C445-4800-90A5-8F3ED061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01018E-22E1-4D4F-A56D-10C1E62E9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0D2562-0CCF-4227-85A9-AFD35B0EC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77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192B2-AC57-485E-9E3F-B7B8C9055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8D281-194B-468B-ADBA-76A4E2385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E9BCE0-002E-42ED-B7C2-261D43E96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BEF642-B6DE-4777-8064-A39FFF8F8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4A94A4-38F0-4C2B-ADFE-D02E2B1A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768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DB952-D4D5-4F3B-830A-67B71D6EA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357EF1-6F7D-43F5-BE79-67D16A90BD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181AE9-5B3A-45EC-8869-29C393E4F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75487C-7666-44DE-80EE-2902D9B43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E3EDC2-3316-4B5C-A95A-0A39BECDF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53D2A1-3261-49CC-BA76-3E398676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045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6F3126-81EA-4C17-9D21-7D9EFAC38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55D8D7-9261-44FB-96B7-5B9D93CC5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81393F-A933-46B1-B8AE-5B752A523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6D282E-4854-4A45-9EBC-6D406339D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4A79BF-2110-4A4A-A27C-3064D7DEA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997EF3B-A447-4A59-B47E-60D3E1B9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260F99-31D5-491C-8D88-3FBFBEFAC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08E84E-BD81-4EE1-BFDF-4680C8F0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971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7F80B8-CAFF-4186-813A-E935D303A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707CB1-D86D-4955-AA11-EC4336999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3060BF-8F34-4402-8824-20704BA5A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20C4CC-E83E-4E13-AAC4-6236B53B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76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7E5E81-960E-452B-BEEC-237A7658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28A7DE-E2FD-4DCD-88D4-9461A95F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D45A2C-4D06-4ADE-A257-8FD503959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530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F57E0-C81E-4CD1-AD98-8E486CB68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B00199-6F84-4A59-8899-E8B2E6DE5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090C66-7379-460F-9033-E6814CA81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EF1194-1784-48F1-B41C-D7101B2E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ECE248-CB85-4EB4-8EAB-B63C1C9F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F506F9-F269-4A99-9F79-36580B84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17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4A2D68-F164-431A-B045-FF32FD8F4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88AEBE-7DD1-4AB2-88CB-65DD42C06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5E8435-B02C-45D8-8560-2C62BF681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6AF48E-D282-434B-B1B1-A60EEBEE8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2310E0-45D2-4D33-B87B-87A037DA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3DB1FD-3803-4744-81A6-2E12760C5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54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31C7E0-3A75-4623-9D79-2EC44EB9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79C279-1369-407F-963C-3FDABB3B3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EAB553-602F-4D34-9454-6212EA2F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12D560-2717-478A-957B-EFA01113A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F9566A-D4B7-4359-930C-6E605905A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887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80FD482-6518-4B73-B8B4-737A92FE8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189D8D-031B-4157-A964-232795122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51B225-C513-4598-8A7C-52A744ECB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343814-5EB6-47BE-BCA3-2B92BA01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AC6707-C37E-4D0E-B58E-FFC34946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423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053564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F79C98-3199-4C9B-9161-434E02C13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1E81D8-ADFF-4204-A1B1-03575868F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05A6F5-C2B7-426F-8FB9-A73AD3EFA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2A0E02-245B-4209-85B4-765107BCA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B4894D-1E88-4F89-8FD8-4C353DC3E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14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.png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13E189C7-8218-4052-85AE-E01EC112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AA238628-3C73-45C1-88BF-CA2DFF4F68C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31156996-2154-42A9-9D69-9E3C40E3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21093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标题 5121">
            <a:extLst>
              <a:ext uri="{FF2B5EF4-FFF2-40B4-BE49-F238E27FC236}">
                <a16:creationId xmlns:a16="http://schemas.microsoft.com/office/drawing/2014/main" id="{BD3B8202-9B15-491A-A771-6A87576C0324}"/>
              </a:ext>
            </a:extLst>
          </p:cNvPr>
          <p:cNvSpPr txBox="1">
            <a:spLocks/>
          </p:cNvSpPr>
          <p:nvPr/>
        </p:nvSpPr>
        <p:spPr>
          <a:xfrm>
            <a:off x="1562100" y="2954338"/>
            <a:ext cx="8691563" cy="1136650"/>
          </a:xfrm>
          <a:prstGeom prst="rect">
            <a:avLst/>
          </a:prstGeom>
          <a:ln>
            <a:miter/>
          </a:ln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35000"/>
              </a:lnSpc>
              <a:spcAft>
                <a:spcPts val="0"/>
              </a:spcAft>
              <a:defRPr/>
            </a:pPr>
            <a:r>
              <a:rPr lang="zh-CN" altLang="en-US" sz="48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</a:t>
            </a:r>
            <a:endParaRPr lang="en-US" altLang="zh-CN" sz="4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fontAlgn="auto">
              <a:lnSpc>
                <a:spcPct val="135000"/>
              </a:lnSpc>
              <a:spcAft>
                <a:spcPts val="0"/>
              </a:spcAft>
              <a:defRPr/>
            </a:pPr>
            <a:r>
              <a:rPr lang="zh-CN" altLang="en-US" sz="5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谓词逻辑  </a:t>
            </a:r>
            <a:r>
              <a:rPr lang="en-US" altLang="zh-CN" sz="4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Predicate Logic</a:t>
            </a:r>
            <a:br>
              <a:rPr lang="en-US" altLang="zh-CN" sz="4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altLang="zh-CN" sz="4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29187025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内容占位符 96258">
            <a:extLst>
              <a:ext uri="{FF2B5EF4-FFF2-40B4-BE49-F238E27FC236}">
                <a16:creationId xmlns:a16="http://schemas.microsoft.com/office/drawing/2014/main" id="{F32A3A2C-70AE-4EA9-A4DC-9E898DD92ACA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675197"/>
            <a:ext cx="8229600" cy="47513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buClr>
                <a:schemeClr val="tx1"/>
              </a:buClr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推理规则</a:t>
            </a:r>
          </a:p>
          <a:p>
            <a:pPr>
              <a:lnSpc>
                <a:spcPct val="100000"/>
              </a:lnSpc>
              <a:buClr>
                <a:srgbClr val="0033CC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+mn-ea"/>
              </a:rPr>
              <a:t>命题逻辑中的推理规则 </a:t>
            </a:r>
          </a:p>
          <a:p>
            <a:pPr>
              <a:lnSpc>
                <a:spcPct val="100000"/>
              </a:lnSpc>
              <a:buClr>
                <a:srgbClr val="0033CC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+mn-ea"/>
              </a:rPr>
              <a:t>谓词逻辑中特有的规则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Tx/>
              <a:buNone/>
            </a:pPr>
            <a:r>
              <a:rPr lang="en-US" altLang="zh-CN" sz="2800" dirty="0">
                <a:solidFill>
                  <a:srgbClr val="0033CC"/>
                </a:solidFill>
                <a:latin typeface="+mn-ea"/>
              </a:rPr>
              <a:t>1. </a:t>
            </a:r>
            <a:r>
              <a:rPr lang="zh-CN" altLang="en-US" sz="2800" dirty="0">
                <a:solidFill>
                  <a:srgbClr val="0033CC"/>
                </a:solidFill>
                <a:latin typeface="+mn-ea"/>
              </a:rPr>
              <a:t>全称量词消去规则</a:t>
            </a:r>
            <a:r>
              <a:rPr lang="zh-CN" altLang="en-US" sz="2800" dirty="0">
                <a:latin typeface="+mn-ea"/>
              </a:rPr>
              <a:t>（</a:t>
            </a:r>
            <a:r>
              <a:rPr lang="en-US" altLang="zh-CN" sz="2800" dirty="0">
                <a:latin typeface="+mn-ea"/>
              </a:rPr>
              <a:t>US</a:t>
            </a:r>
            <a:r>
              <a:rPr lang="zh-CN" altLang="en-US" sz="2800" dirty="0">
                <a:latin typeface="+mn-ea"/>
              </a:rPr>
              <a:t>）</a:t>
            </a:r>
          </a:p>
          <a:p>
            <a:pPr lvl="1" algn="just">
              <a:lnSpc>
                <a:spcPct val="100000"/>
              </a:lnSpc>
              <a:buClr>
                <a:srgbClr val="FF0000"/>
              </a:buClr>
              <a:buFontTx/>
              <a:buNone/>
            </a:pPr>
            <a:r>
              <a:rPr lang="zh-CN" altLang="en-US" sz="2800" dirty="0">
                <a:latin typeface="+mn-ea"/>
              </a:rPr>
              <a:t>（</a:t>
            </a:r>
            <a:r>
              <a:rPr lang="en-US" altLang="zh-CN" sz="2800" dirty="0" err="1">
                <a:latin typeface="+mn-ea"/>
              </a:rPr>
              <a:t>i</a:t>
            </a:r>
            <a:r>
              <a:rPr lang="zh-CN" altLang="en-US" sz="2800" dirty="0">
                <a:latin typeface="+mn-ea"/>
              </a:rPr>
              <a:t>）</a:t>
            </a:r>
            <a:r>
              <a:rPr lang="zh-CN" altLang="en-US" sz="2800" dirty="0">
                <a:latin typeface="+mn-ea"/>
                <a:sym typeface="Symbol" panose="05050102010706020507" pitchFamily="18" charset="2"/>
              </a:rPr>
              <a:t></a:t>
            </a:r>
            <a:r>
              <a:rPr lang="en-US" altLang="zh-CN" sz="2800" dirty="0" err="1">
                <a:latin typeface="+mn-ea"/>
              </a:rPr>
              <a:t>xA</a:t>
            </a:r>
            <a:r>
              <a:rPr lang="en-US" altLang="zh-CN" sz="2800" dirty="0">
                <a:latin typeface="+mn-ea"/>
              </a:rPr>
              <a:t>(x)</a:t>
            </a:r>
            <a:r>
              <a:rPr lang="en-US" altLang="zh-CN" sz="2800" dirty="0">
                <a:latin typeface="+mn-ea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latin typeface="+mn-ea"/>
              </a:rPr>
              <a:t>A(y) </a:t>
            </a:r>
            <a:r>
              <a:rPr lang="zh-CN" altLang="en-US" sz="2800" dirty="0">
                <a:latin typeface="+mn-ea"/>
              </a:rPr>
              <a:t>或</a:t>
            </a:r>
          </a:p>
          <a:p>
            <a:pPr lvl="1" algn="just">
              <a:lnSpc>
                <a:spcPct val="100000"/>
              </a:lnSpc>
              <a:buClr>
                <a:srgbClr val="FF0000"/>
              </a:buClr>
              <a:buFontTx/>
              <a:buNone/>
            </a:pPr>
            <a:r>
              <a:rPr lang="zh-CN" altLang="en-US" sz="2800" dirty="0">
                <a:latin typeface="+mn-ea"/>
              </a:rPr>
              <a:t>（</a:t>
            </a:r>
            <a:r>
              <a:rPr lang="en-US" altLang="zh-CN" sz="2800" dirty="0">
                <a:latin typeface="+mn-ea"/>
              </a:rPr>
              <a:t>ii</a:t>
            </a:r>
            <a:r>
              <a:rPr lang="zh-CN" altLang="en-US" sz="2800" dirty="0">
                <a:latin typeface="+mn-ea"/>
              </a:rPr>
              <a:t>）</a:t>
            </a:r>
            <a:r>
              <a:rPr lang="zh-CN" altLang="en-US" sz="2800" dirty="0">
                <a:latin typeface="+mn-ea"/>
                <a:sym typeface="Symbol" panose="05050102010706020507" pitchFamily="18" charset="2"/>
              </a:rPr>
              <a:t></a:t>
            </a:r>
            <a:r>
              <a:rPr lang="en-US" altLang="zh-CN" sz="2800" dirty="0" err="1">
                <a:latin typeface="+mn-ea"/>
              </a:rPr>
              <a:t>xA</a:t>
            </a:r>
            <a:r>
              <a:rPr lang="en-US" altLang="zh-CN" sz="2800" dirty="0">
                <a:latin typeface="+mn-ea"/>
              </a:rPr>
              <a:t>(x)</a:t>
            </a:r>
            <a:r>
              <a:rPr lang="en-US" altLang="zh-CN" sz="2800" dirty="0">
                <a:latin typeface="+mn-ea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latin typeface="+mn-ea"/>
              </a:rPr>
              <a:t>A(c)</a:t>
            </a:r>
          </a:p>
          <a:p>
            <a:pPr lvl="1" algn="just">
              <a:lnSpc>
                <a:spcPct val="100000"/>
              </a:lnSpc>
              <a:buClr>
                <a:srgbClr val="FF0000"/>
              </a:buClr>
              <a:buFontTx/>
              <a:buNone/>
            </a:pPr>
            <a:r>
              <a:rPr lang="en-US" altLang="zh-CN" sz="2800" dirty="0">
                <a:solidFill>
                  <a:srgbClr val="0033CC"/>
                </a:solidFill>
                <a:latin typeface="+mn-ea"/>
              </a:rPr>
              <a:t>2. </a:t>
            </a:r>
            <a:r>
              <a:rPr lang="zh-CN" altLang="en-US" sz="2800" dirty="0">
                <a:solidFill>
                  <a:srgbClr val="0033CC"/>
                </a:solidFill>
                <a:latin typeface="+mn-ea"/>
              </a:rPr>
              <a:t>全称量词引入规则</a:t>
            </a:r>
            <a:r>
              <a:rPr lang="zh-CN" altLang="en-US" sz="2800" dirty="0">
                <a:latin typeface="+mn-ea"/>
              </a:rPr>
              <a:t>（</a:t>
            </a:r>
            <a:r>
              <a:rPr lang="en-US" altLang="zh-CN" sz="2800" dirty="0">
                <a:latin typeface="+mn-ea"/>
              </a:rPr>
              <a:t>UG</a:t>
            </a:r>
            <a:r>
              <a:rPr lang="zh-CN" altLang="en-US" sz="2800" dirty="0">
                <a:latin typeface="+mn-ea"/>
              </a:rPr>
              <a:t>）</a:t>
            </a:r>
          </a:p>
          <a:p>
            <a:pPr lvl="1" algn="just">
              <a:lnSpc>
                <a:spcPct val="100000"/>
              </a:lnSpc>
              <a:buClr>
                <a:srgbClr val="FF0000"/>
              </a:buClr>
              <a:buFontTx/>
              <a:buNone/>
            </a:pPr>
            <a:r>
              <a:rPr lang="zh-CN" altLang="en-US" sz="2800" dirty="0">
                <a:latin typeface="+mn-ea"/>
              </a:rPr>
              <a:t>     </a:t>
            </a:r>
            <a:r>
              <a:rPr lang="en-US" altLang="zh-CN" sz="2800" dirty="0">
                <a:latin typeface="+mn-ea"/>
              </a:rPr>
              <a:t>A(y)</a:t>
            </a:r>
            <a:r>
              <a:rPr lang="en-US" altLang="zh-CN" sz="2800" dirty="0">
                <a:latin typeface="+mn-ea"/>
                <a:sym typeface="Symbol" panose="05050102010706020507" pitchFamily="18" charset="2"/>
              </a:rPr>
              <a:t></a:t>
            </a:r>
            <a:r>
              <a:rPr lang="en-US" altLang="zh-CN" sz="2800" dirty="0" err="1">
                <a:latin typeface="+mn-ea"/>
              </a:rPr>
              <a:t>xA</a:t>
            </a:r>
            <a:r>
              <a:rPr lang="en-US" altLang="zh-CN" sz="2800" dirty="0">
                <a:latin typeface="+mn-ea"/>
              </a:rPr>
              <a:t>(x)</a:t>
            </a:r>
          </a:p>
          <a:p>
            <a:pPr lvl="1" algn="just">
              <a:lnSpc>
                <a:spcPct val="100000"/>
              </a:lnSpc>
              <a:buClr>
                <a:srgbClr val="FF0000"/>
              </a:buClr>
              <a:buFontTx/>
              <a:buNone/>
            </a:pPr>
            <a:r>
              <a:rPr lang="en-US" altLang="zh-CN" sz="2800" dirty="0">
                <a:solidFill>
                  <a:srgbClr val="0033CC"/>
                </a:solidFill>
                <a:latin typeface="+mn-ea"/>
              </a:rPr>
              <a:t>3. </a:t>
            </a:r>
            <a:r>
              <a:rPr lang="zh-CN" altLang="en-US" sz="2800" dirty="0">
                <a:solidFill>
                  <a:srgbClr val="0033CC"/>
                </a:solidFill>
                <a:latin typeface="+mn-ea"/>
              </a:rPr>
              <a:t>存在量词消去规则</a:t>
            </a:r>
            <a:r>
              <a:rPr lang="zh-CN" altLang="en-US" sz="2800" dirty="0">
                <a:latin typeface="+mn-ea"/>
              </a:rPr>
              <a:t>（</a:t>
            </a:r>
            <a:r>
              <a:rPr lang="en-US" altLang="zh-CN" sz="2800" dirty="0">
                <a:latin typeface="+mn-ea"/>
              </a:rPr>
              <a:t>ES</a:t>
            </a:r>
            <a:r>
              <a:rPr lang="zh-CN" altLang="en-US" sz="2800" dirty="0">
                <a:latin typeface="+mn-ea"/>
              </a:rPr>
              <a:t>）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Tx/>
              <a:buNone/>
            </a:pPr>
            <a:r>
              <a:rPr lang="zh-CN" altLang="en-US" sz="2800" dirty="0">
                <a:latin typeface="+mn-ea"/>
                <a:sym typeface="Symbol" panose="05050102010706020507" pitchFamily="18" charset="2"/>
              </a:rPr>
              <a:t>     </a:t>
            </a:r>
            <a:r>
              <a:rPr lang="en-US" altLang="zh-CN" sz="2800" dirty="0" err="1">
                <a:latin typeface="+mn-ea"/>
              </a:rPr>
              <a:t>xA</a:t>
            </a:r>
            <a:r>
              <a:rPr lang="en-US" altLang="zh-CN" sz="2800" dirty="0">
                <a:latin typeface="+mn-ea"/>
              </a:rPr>
              <a:t>(x)</a:t>
            </a:r>
            <a:r>
              <a:rPr lang="en-US" altLang="zh-CN" sz="2800" dirty="0">
                <a:latin typeface="+mn-ea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latin typeface="+mn-ea"/>
              </a:rPr>
              <a:t>A(c) </a:t>
            </a:r>
          </a:p>
          <a:p>
            <a:pPr lvl="1" algn="just">
              <a:lnSpc>
                <a:spcPct val="100000"/>
              </a:lnSpc>
              <a:buClr>
                <a:srgbClr val="FF0000"/>
              </a:buClr>
              <a:buFontTx/>
              <a:buNone/>
            </a:pPr>
            <a:r>
              <a:rPr lang="en-US" altLang="zh-CN" sz="2800" dirty="0">
                <a:solidFill>
                  <a:srgbClr val="0033CC"/>
                </a:solidFill>
                <a:latin typeface="+mn-ea"/>
              </a:rPr>
              <a:t>4. </a:t>
            </a:r>
            <a:r>
              <a:rPr lang="zh-CN" altLang="en-US" sz="2800" dirty="0">
                <a:solidFill>
                  <a:srgbClr val="0033CC"/>
                </a:solidFill>
                <a:latin typeface="+mn-ea"/>
              </a:rPr>
              <a:t>存在量词引入规则</a:t>
            </a:r>
            <a:r>
              <a:rPr lang="zh-CN" altLang="en-US" sz="2800" dirty="0">
                <a:latin typeface="+mn-ea"/>
              </a:rPr>
              <a:t>（</a:t>
            </a:r>
            <a:r>
              <a:rPr lang="en-US" altLang="zh-CN" sz="2800" dirty="0">
                <a:latin typeface="+mn-ea"/>
              </a:rPr>
              <a:t>EG</a:t>
            </a:r>
            <a:r>
              <a:rPr lang="zh-CN" altLang="en-US" sz="2800" dirty="0">
                <a:latin typeface="+mn-ea"/>
              </a:rPr>
              <a:t>）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Tx/>
              <a:buNone/>
            </a:pPr>
            <a:r>
              <a:rPr lang="zh-CN" altLang="en-US" sz="2800" dirty="0">
                <a:latin typeface="+mn-ea"/>
              </a:rPr>
              <a:t>     </a:t>
            </a:r>
            <a:r>
              <a:rPr lang="en-US" altLang="zh-CN" sz="2800" dirty="0">
                <a:latin typeface="+mn-ea"/>
              </a:rPr>
              <a:t>A(c)</a:t>
            </a:r>
            <a:r>
              <a:rPr lang="en-US" altLang="zh-CN" sz="2800" dirty="0">
                <a:latin typeface="+mn-ea"/>
                <a:sym typeface="Symbol" panose="05050102010706020507" pitchFamily="18" charset="2"/>
              </a:rPr>
              <a:t></a:t>
            </a:r>
            <a:r>
              <a:rPr lang="en-US" altLang="zh-CN" sz="2800" dirty="0" err="1">
                <a:latin typeface="+mn-ea"/>
              </a:rPr>
              <a:t>xA</a:t>
            </a:r>
            <a:r>
              <a:rPr lang="en-US" altLang="zh-CN" sz="2800" dirty="0">
                <a:latin typeface="+mn-ea"/>
              </a:rPr>
              <a:t>(x)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91B7FF-DC13-4708-B7E7-4DB72A3D6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6523" y="1937907"/>
            <a:ext cx="4964113" cy="138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universal instantiation, also called </a:t>
            </a:r>
            <a:r>
              <a:rPr lang="zh-CN" altLang="en-US" b="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u</a:t>
            </a:r>
            <a:r>
              <a:rPr lang="zh-CN" altLang="en-US" b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niversal </a:t>
            </a:r>
            <a:r>
              <a:rPr lang="zh-CN" altLang="en-US" b="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</a:t>
            </a:r>
            <a:r>
              <a:rPr lang="zh-CN" altLang="en-US" b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pecification or universal elimination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763A7A-87D8-4F35-9E26-3143D8C8B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6523" y="4354913"/>
            <a:ext cx="46831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u</a:t>
            </a:r>
            <a:r>
              <a:rPr lang="zh-CN" altLang="en-US" b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niversal </a:t>
            </a:r>
            <a:r>
              <a:rPr lang="zh-CN" altLang="en-US" b="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</a:t>
            </a:r>
            <a:r>
              <a:rPr lang="zh-CN" altLang="en-US" b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eneralization or universal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85699728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BC1B4AF-6A8D-4145-ACCF-E0D34A531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162" y="2844225"/>
            <a:ext cx="8269777" cy="584775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marL="342900" indent="-342900">
              <a:defRPr kumimoji="1" b="1">
                <a:solidFill>
                  <a:srgbClr val="FFFFFF"/>
                </a:solidFill>
                <a:latin typeface="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rgbClr val="FFFFFF"/>
                </a:solidFill>
                <a:latin typeface="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rgbClr val="FFFFFF"/>
                </a:solidFill>
                <a:latin typeface="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rgbClr val="FFFFFF"/>
                </a:solidFill>
                <a:latin typeface="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rgbClr val="FFFFFF"/>
                </a:solidFill>
                <a:latin typeface="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Font typeface="Wingdings" panose="05000000000000000000" pitchFamily="2" charset="2"/>
              <a:buChar char="q"/>
              <a:defRPr kumimoji="1" b="1">
                <a:solidFill>
                  <a:srgbClr val="FFFFFF"/>
                </a:solidFill>
                <a:latin typeface="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Font typeface="Wingdings" panose="05000000000000000000" pitchFamily="2" charset="2"/>
              <a:buChar char="q"/>
              <a:defRPr kumimoji="1" b="1">
                <a:solidFill>
                  <a:srgbClr val="FFFFFF"/>
                </a:solidFill>
                <a:latin typeface="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Font typeface="Wingdings" panose="05000000000000000000" pitchFamily="2" charset="2"/>
              <a:buChar char="q"/>
              <a:defRPr kumimoji="1" b="1">
                <a:solidFill>
                  <a:srgbClr val="FFFFFF"/>
                </a:solidFill>
                <a:latin typeface="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Font typeface="Wingdings" panose="05000000000000000000" pitchFamily="2" charset="2"/>
              <a:buChar char="q"/>
              <a:defRPr kumimoji="1" b="1">
                <a:solidFill>
                  <a:srgbClr val="FFFFFF"/>
                </a:solidFill>
                <a:latin typeface="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US, UG, ES, EG </a:t>
            </a:r>
            <a:r>
              <a:rPr lang="zh-CN" altLang="en-US" sz="3200" dirty="0">
                <a:solidFill>
                  <a:srgbClr val="FF0000"/>
                </a:solidFill>
              </a:rPr>
              <a:t>规则只能对前束范式使用！</a:t>
            </a:r>
          </a:p>
        </p:txBody>
      </p:sp>
    </p:spTree>
    <p:extLst>
      <p:ext uri="{BB962C8B-B14F-4D97-AF65-F5344CB8AC3E}">
        <p14:creationId xmlns:p14="http://schemas.microsoft.com/office/powerpoint/2010/main" val="437891884"/>
      </p:ext>
    </p:extLst>
  </p:cSld>
  <p:clrMapOvr>
    <a:masterClrMapping/>
  </p:clrMapOvr>
  <p:transition spd="slow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占位符 105474">
            <a:extLst>
              <a:ext uri="{FF2B5EF4-FFF2-40B4-BE49-F238E27FC236}">
                <a16:creationId xmlns:a16="http://schemas.microsoft.com/office/drawing/2014/main" id="{E327FD8F-9D68-4A1A-9CFF-48EA52B2F6CD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163884"/>
            <a:ext cx="8229600" cy="41338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Clr>
                <a:schemeClr val="tx1"/>
              </a:buClr>
              <a:buFontTx/>
              <a:buNone/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推理方法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Tx/>
              <a:buNone/>
            </a:pP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Tx/>
              <a:buNone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直接法 、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规则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Tx/>
              <a:buNone/>
            </a:pP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Tx/>
              <a:buNone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间接法（反证法）</a:t>
            </a:r>
          </a:p>
        </p:txBody>
      </p:sp>
    </p:spTree>
    <p:extLst>
      <p:ext uri="{BB962C8B-B14F-4D97-AF65-F5344CB8AC3E}">
        <p14:creationId xmlns:p14="http://schemas.microsoft.com/office/powerpoint/2010/main" val="134525132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4" y="92076"/>
            <a:ext cx="568272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Set &amp; Relation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5C4381-AF5E-41B0-9965-3FCFAB2117DB}"/>
              </a:ext>
            </a:extLst>
          </p:cNvPr>
          <p:cNvSpPr/>
          <p:nvPr/>
        </p:nvSpPr>
        <p:spPr>
          <a:xfrm>
            <a:off x="3999804" y="2850957"/>
            <a:ext cx="4275529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黑体" panose="02010609060101010101" pitchFamily="49" charset="-122"/>
                <a:cs typeface="+mj-cs"/>
              </a:rPr>
              <a:t>集合和关系</a:t>
            </a:r>
            <a:endParaRPr lang="en-US" altLang="zh-CN" sz="5400" b="1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黑体" panose="02010609060101010101" pitchFamily="49" charset="-122"/>
              <a:cs typeface="+mj-cs"/>
            </a:endParaRPr>
          </a:p>
          <a:p>
            <a:pPr algn="ctr"/>
            <a:r>
              <a:rPr lang="en-US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黑体" panose="02010609060101010101" pitchFamily="49" charset="-122"/>
                <a:cs typeface="+mj-cs"/>
              </a:rPr>
              <a:t>Set &amp; Relation</a:t>
            </a:r>
            <a:endParaRPr lang="zh-CN" altLang="en-US" sz="54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黑体" panose="02010609060101010101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24525854"/>
      </p:ext>
    </p:extLst>
  </p:cSld>
  <p:clrMapOvr>
    <a:masterClrMapping/>
  </p:clrMapOvr>
  <p:transition spd="slow" advTm="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4758BF4-8C89-464E-8D33-AED8018A9FE1}"/>
              </a:ext>
            </a:extLst>
          </p:cNvPr>
          <p:cNvSpPr txBox="1">
            <a:spLocks noChangeArrowheads="1"/>
          </p:cNvSpPr>
          <p:nvPr/>
        </p:nvSpPr>
        <p:spPr>
          <a:xfrm>
            <a:off x="1367693" y="1949802"/>
            <a:ext cx="8966999" cy="5410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1800" dirty="0">
                <a:latin typeface="+mn-ea"/>
              </a:rPr>
              <a:t>　　</a:t>
            </a:r>
            <a:r>
              <a:rPr lang="zh-CN" altLang="en-US" sz="2400" dirty="0">
                <a:latin typeface="+mn-ea"/>
              </a:rPr>
              <a:t>集合概念将作为一个不言自明的元概念（基本概念）。它不能用别的术语来精确的定义，只能用别的术语来加以说明。它本身就是用来定义其它概念的概念。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400" dirty="0">
              <a:latin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</a:rPr>
              <a:t>          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96358A-9CF6-4028-AD10-B641C74E007A}"/>
              </a:ext>
            </a:extLst>
          </p:cNvPr>
          <p:cNvSpPr txBox="1"/>
          <p:nvPr/>
        </p:nvSpPr>
        <p:spPr>
          <a:xfrm>
            <a:off x="1751013" y="1026233"/>
            <a:ext cx="28078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0070C0"/>
                </a:solidFill>
              </a:rPr>
              <a:t>集合？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131230-1E11-4B32-AB43-44E425F130A0}"/>
              </a:ext>
            </a:extLst>
          </p:cNvPr>
          <p:cNvSpPr txBox="1"/>
          <p:nvPr/>
        </p:nvSpPr>
        <p:spPr>
          <a:xfrm>
            <a:off x="1136906" y="3577684"/>
            <a:ext cx="92630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集合</a:t>
            </a:r>
            <a:r>
              <a:rPr lang="zh-CN" altLang="en-US" sz="3200" dirty="0"/>
              <a:t>是由指定范围内满足给定条件的所有对象聚集在一起构成的。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DB036943-EAED-3759-64AD-7C0252BF8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97957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883564C-C84E-403F-9145-7CA40C344807}"/>
              </a:ext>
            </a:extLst>
          </p:cNvPr>
          <p:cNvSpPr/>
          <p:nvPr/>
        </p:nvSpPr>
        <p:spPr>
          <a:xfrm>
            <a:off x="1364288" y="2400085"/>
            <a:ext cx="8582642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C00000"/>
                </a:solidFill>
              </a:rPr>
              <a:t>任意性：</a:t>
            </a:r>
            <a:r>
              <a:rPr lang="zh-CN" altLang="en-US" sz="3200" dirty="0">
                <a:solidFill>
                  <a:srgbClr val="C00000"/>
                </a:solidFill>
              </a:rPr>
              <a:t>任意性是说组成集合的元素任意；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C00000"/>
                </a:solidFill>
              </a:rPr>
              <a:t>               构成的法则任意；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C00000"/>
                </a:solidFill>
              </a:rPr>
              <a:t>               什么都可以构成集合，不加任何限制。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6FDACA41-0E9E-91B1-1789-8DDAEF243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77193"/>
      </p:ext>
    </p:extLst>
  </p:cSld>
  <p:clrMapOvr>
    <a:masterClrMapping/>
  </p:clrMapOvr>
  <p:transition spd="slow" advTm="0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65E6179-D14F-4619-BBBB-C3E18C152F20}"/>
              </a:ext>
            </a:extLst>
          </p:cNvPr>
          <p:cNvSpPr/>
          <p:nvPr/>
        </p:nvSpPr>
        <p:spPr>
          <a:xfrm>
            <a:off x="1386950" y="942621"/>
            <a:ext cx="961545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承认集合的存在性。即，接受集合概念；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承认集合是由</a:t>
            </a:r>
            <a:r>
              <a:rPr lang="zh-CN" alt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一些个体（对象）组成的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。这些个体称为该集合的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成员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元素（</a:t>
            </a:r>
            <a:r>
              <a:rPr lang="en-US" altLang="zh-CN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member,element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承认个体是可辩认的。即，一个个体要么是一个集合的成员，要么不是；二者必居其一，也只居其一。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0C3E7A-05AA-4A11-B603-E118B2ED6F3C}"/>
              </a:ext>
            </a:extLst>
          </p:cNvPr>
          <p:cNvSpPr/>
          <p:nvPr/>
        </p:nvSpPr>
        <p:spPr>
          <a:xfrm>
            <a:off x="2248722" y="4072157"/>
            <a:ext cx="769455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dirty="0"/>
              <a:t>这种存在性，可辩认性被归纳为集合的一条性质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　 </a:t>
            </a:r>
            <a:r>
              <a:rPr lang="zh-CN" altLang="en-US" sz="3200" b="1" dirty="0">
                <a:solidFill>
                  <a:srgbClr val="C00000"/>
                </a:solidFill>
              </a:rPr>
              <a:t>确定性：</a:t>
            </a:r>
            <a:r>
              <a:rPr lang="zh-CN" altLang="en-US" sz="3200" dirty="0">
                <a:solidFill>
                  <a:srgbClr val="C00000"/>
                </a:solidFill>
              </a:rPr>
              <a:t>确定性是说集合确定；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C00000"/>
                </a:solidFill>
              </a:rPr>
              <a:t>                 个体确定；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C00000"/>
                </a:solidFill>
              </a:rPr>
              <a:t>                 集合与个体之间的关系确定。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44D40527-699F-CD10-311C-6CE09E0C1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001022"/>
      </p:ext>
    </p:extLst>
  </p:cSld>
  <p:clrMapOvr>
    <a:masterClrMapping/>
  </p:clrMapOvr>
  <p:transition spd="slow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44D76AF-E98E-4FAD-B7B9-00A244AECA43}"/>
              </a:ext>
            </a:extLst>
          </p:cNvPr>
          <p:cNvSpPr/>
          <p:nvPr/>
        </p:nvSpPr>
        <p:spPr>
          <a:xfrm>
            <a:off x="1857307" y="668671"/>
            <a:ext cx="9141806" cy="5926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dirty="0"/>
              <a:t>综上所述集合的概念有三要素：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dirty="0"/>
              <a:t>    </a:t>
            </a:r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</a:rPr>
              <a:t>1.  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个体（元素）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</a:rPr>
              <a:t>2.  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个体的可辨认性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</a:rPr>
              <a:t>3.  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集合（动词，汇到一块）</a:t>
            </a:r>
          </a:p>
          <a:p>
            <a:pPr>
              <a:lnSpc>
                <a:spcPct val="150000"/>
              </a:lnSpc>
            </a:pPr>
            <a:r>
              <a:rPr lang="zh-CN" altLang="en-US" sz="3200" dirty="0"/>
              <a:t>通常用</a:t>
            </a:r>
            <a:r>
              <a:rPr lang="zh-CN" altLang="en-US" sz="3200" u="sng" dirty="0"/>
              <a:t>小</a:t>
            </a:r>
            <a:r>
              <a:rPr lang="zh-CN" altLang="en-US" sz="3200" dirty="0"/>
              <a:t>写拉丁字母表示</a:t>
            </a:r>
            <a:r>
              <a:rPr lang="zh-CN" altLang="en-US" sz="3200" dirty="0">
                <a:solidFill>
                  <a:srgbClr val="FF0000"/>
                </a:solidFill>
              </a:rPr>
              <a:t>元素</a:t>
            </a:r>
            <a:r>
              <a:rPr lang="zh-CN" altLang="en-US" sz="3200" dirty="0"/>
              <a:t>：</a:t>
            </a:r>
            <a:r>
              <a:rPr lang="en-US" altLang="zh-CN" sz="3200" dirty="0"/>
              <a:t>a</a:t>
            </a:r>
            <a:r>
              <a:rPr lang="zh-CN" altLang="en-US" sz="3200" dirty="0"/>
              <a:t>、</a:t>
            </a:r>
            <a:r>
              <a:rPr lang="en-US" altLang="zh-CN" sz="3200" dirty="0"/>
              <a:t>b</a:t>
            </a:r>
            <a:r>
              <a:rPr lang="zh-CN" altLang="en-US" sz="3200" dirty="0"/>
              <a:t>、</a:t>
            </a:r>
            <a:r>
              <a:rPr lang="en-US" altLang="zh-CN" sz="3200" dirty="0"/>
              <a:t>c</a:t>
            </a:r>
            <a:r>
              <a:rPr lang="zh-CN" altLang="en-US" sz="3200" dirty="0"/>
              <a:t>、</a:t>
            </a:r>
            <a:r>
              <a:rPr lang="en-US" altLang="zh-CN" sz="3200" dirty="0"/>
              <a:t>d</a:t>
            </a:r>
            <a:r>
              <a:rPr lang="zh-CN" altLang="en-US" sz="3200" dirty="0"/>
              <a:t>、</a:t>
            </a:r>
            <a:r>
              <a:rPr lang="en-US" altLang="zh-CN" sz="3200" dirty="0"/>
              <a:t>…</a:t>
            </a:r>
          </a:p>
          <a:p>
            <a:pPr>
              <a:lnSpc>
                <a:spcPct val="150000"/>
              </a:lnSpc>
            </a:pPr>
            <a:r>
              <a:rPr lang="zh-CN" altLang="en-US" sz="3200" dirty="0"/>
              <a:t>通常用</a:t>
            </a:r>
            <a:r>
              <a:rPr lang="zh-CN" altLang="en-US" sz="3200" u="sng" dirty="0"/>
              <a:t>大</a:t>
            </a:r>
            <a:r>
              <a:rPr lang="zh-CN" altLang="en-US" sz="3200" dirty="0"/>
              <a:t>写拉丁字母表示</a:t>
            </a:r>
            <a:r>
              <a:rPr lang="zh-CN" altLang="en-US" sz="3200" dirty="0">
                <a:solidFill>
                  <a:srgbClr val="FF0000"/>
                </a:solidFill>
              </a:rPr>
              <a:t>集合</a:t>
            </a:r>
            <a:r>
              <a:rPr lang="zh-CN" altLang="en-US" sz="3200" dirty="0"/>
              <a:t>：</a:t>
            </a:r>
            <a:r>
              <a:rPr lang="en-US" altLang="zh-CN" sz="3200" dirty="0"/>
              <a:t>A</a:t>
            </a:r>
            <a:r>
              <a:rPr lang="zh-CN" altLang="en-US" sz="3200" dirty="0"/>
              <a:t>、</a:t>
            </a:r>
            <a:r>
              <a:rPr lang="en-US" altLang="zh-CN" sz="3200" dirty="0"/>
              <a:t>B</a:t>
            </a:r>
            <a:r>
              <a:rPr lang="zh-CN" altLang="en-US" sz="3200" dirty="0"/>
              <a:t>、</a:t>
            </a:r>
            <a:r>
              <a:rPr lang="en-US" altLang="zh-CN" sz="3200" dirty="0"/>
              <a:t>C</a:t>
            </a:r>
            <a:r>
              <a:rPr lang="zh-CN" altLang="en-US" sz="3200" dirty="0"/>
              <a:t>、</a:t>
            </a:r>
            <a:r>
              <a:rPr lang="en-US" altLang="zh-CN" sz="3200" dirty="0"/>
              <a:t>D</a:t>
            </a:r>
            <a:r>
              <a:rPr lang="zh-CN" altLang="en-US" sz="3200" dirty="0"/>
              <a:t>、</a:t>
            </a:r>
            <a:r>
              <a:rPr lang="en-US" altLang="zh-CN" sz="3200" dirty="0"/>
              <a:t>…</a:t>
            </a:r>
          </a:p>
          <a:p>
            <a:pPr>
              <a:lnSpc>
                <a:spcPct val="150000"/>
              </a:lnSpc>
            </a:pPr>
            <a:r>
              <a:rPr lang="zh-CN" altLang="en-US" sz="3200" dirty="0"/>
              <a:t>有时还用德文花写字母表示集合：</a:t>
            </a:r>
            <a:r>
              <a:rPr lang="en-US" altLang="zh-CN" sz="3200" dirty="0"/>
              <a:t>ℬ,℘,ℛ,ℰ,ℱ,ℳ, …</a:t>
            </a:r>
          </a:p>
          <a:p>
            <a:pPr>
              <a:lnSpc>
                <a:spcPct val="150000"/>
              </a:lnSpc>
            </a:pPr>
            <a:r>
              <a:rPr lang="zh-CN" altLang="en-US" sz="3200" u="sng" dirty="0"/>
              <a:t>关于个体的辨认有赖于各方面公认的知识。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55AA61-734D-AD5A-8E62-6BFD14AE5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966128"/>
      </p:ext>
    </p:extLst>
  </p:cSld>
  <p:clrMapOvr>
    <a:masterClrMapping/>
  </p:clrMapOvr>
  <p:transition spd="slow" advTm="0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114EB42-F20E-4145-8537-C8B8EAA46681}"/>
              </a:ext>
            </a:extLst>
          </p:cNvPr>
          <p:cNvSpPr/>
          <p:nvPr/>
        </p:nvSpPr>
        <p:spPr>
          <a:xfrm>
            <a:off x="2258589" y="804906"/>
            <a:ext cx="8260299" cy="5846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N：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自然数(</a:t>
            </a: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natural numbers)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集合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N={</a:t>
            </a: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Symbol" panose="05050102010706020507" pitchFamily="18" charset="2"/>
              </a:rPr>
              <a:t>0,</a:t>
            </a: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1,2,3,…}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Z：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整数(</a:t>
            </a: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integers)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集合</a:t>
            </a: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或者</a:t>
            </a:r>
            <a:r>
              <a:rPr lang="en-US" altLang="zh-CN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</a:t>
            </a: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		Z={0,</a:t>
            </a: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Symbol" panose="05050102010706020507" pitchFamily="18" charset="2"/>
              </a:rPr>
              <a:t></a:t>
            </a: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1,</a:t>
            </a: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Symbol" panose="05050102010706020507" pitchFamily="18" charset="2"/>
              </a:rPr>
              <a:t></a:t>
            </a: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2,…}={…,-2,-1,0,1,2,…}</a:t>
            </a:r>
            <a:endParaRPr lang="zh-CN" altLang="en-US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Q</a:t>
            </a: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有理数(</a:t>
            </a: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rational numbers)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集合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R：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实数(</a:t>
            </a: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real numbers)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集合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C：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复数(</a:t>
            </a: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complex numbers)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集合</a:t>
            </a:r>
            <a:endParaRPr lang="en-US" altLang="zh-CN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</a:t>
            </a:r>
            <a:endParaRPr lang="zh-CN" altLang="en-US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D48B77-F0BA-FF24-E5CA-EC812BFEF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224893"/>
      </p:ext>
    </p:extLst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481C0B1-A5E8-4F63-92F3-C6FA06687694}"/>
              </a:ext>
            </a:extLst>
          </p:cNvPr>
          <p:cNvSpPr/>
          <p:nvPr/>
        </p:nvSpPr>
        <p:spPr>
          <a:xfrm>
            <a:off x="1988874" y="1135058"/>
            <a:ext cx="8766837" cy="3582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/>
              <a:t>个体与集合之间的关系：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　个体与集合之间的关系称为</a:t>
            </a:r>
            <a:r>
              <a:rPr lang="zh-CN" altLang="en-US" sz="2800" b="1" dirty="0"/>
              <a:t>属于关系</a:t>
            </a:r>
            <a:r>
              <a:rPr lang="zh-CN" altLang="en-US" sz="2800" dirty="0"/>
              <a:t>。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　对于某个个体 </a:t>
            </a:r>
            <a:r>
              <a:rPr lang="en-US" altLang="zh-CN" sz="2800" dirty="0"/>
              <a:t>a </a:t>
            </a:r>
            <a:r>
              <a:rPr lang="zh-CN" altLang="en-US" sz="2800" dirty="0"/>
              <a:t>和某个集合 </a:t>
            </a:r>
            <a:r>
              <a:rPr lang="en-US" altLang="zh-CN" sz="2800" dirty="0"/>
              <a:t>A </a:t>
            </a:r>
            <a:r>
              <a:rPr lang="zh-CN" altLang="en-US" sz="2800" dirty="0"/>
              <a:t>而言， 只有两种可能：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　</a:t>
            </a:r>
            <a:r>
              <a:rPr lang="en-US" altLang="zh-CN" sz="2800" dirty="0"/>
              <a:t>(1)a </a:t>
            </a:r>
            <a:r>
              <a:rPr lang="zh-CN" altLang="en-US" sz="2800" dirty="0"/>
              <a:t>属于（</a:t>
            </a:r>
            <a:r>
              <a:rPr lang="en-US" altLang="zh-CN" sz="2800" dirty="0"/>
              <a:t>belong to</a:t>
            </a:r>
            <a:r>
              <a:rPr lang="zh-CN" altLang="en-US" sz="2800" dirty="0"/>
              <a:t>） </a:t>
            </a:r>
            <a:r>
              <a:rPr lang="en-US" altLang="zh-CN" sz="2800" dirty="0"/>
              <a:t>A</a:t>
            </a:r>
            <a:r>
              <a:rPr lang="zh-CN" altLang="en-US" sz="2800" dirty="0"/>
              <a:t>，记为 </a:t>
            </a:r>
            <a:r>
              <a:rPr lang="en-US" altLang="zh-CN" sz="2800" dirty="0" err="1"/>
              <a:t>a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dirty="0" err="1"/>
              <a:t>A</a:t>
            </a:r>
            <a:r>
              <a:rPr lang="zh-CN" altLang="en-US" sz="2800" dirty="0"/>
              <a:t>（记号</a:t>
            </a:r>
            <a:r>
              <a:rPr lang="zh-CN" altLang="en-US" sz="2800" dirty="0">
                <a:sym typeface="Symbol" panose="05050102010706020507" pitchFamily="18" charset="2"/>
              </a:rPr>
              <a:t></a:t>
            </a:r>
            <a:r>
              <a:rPr lang="zh-CN" altLang="en-US" sz="2800" dirty="0"/>
              <a:t> 是希腊字</a:t>
            </a:r>
            <a:r>
              <a:rPr lang="zh-CN" altLang="en-US" sz="2800" dirty="0">
                <a:sym typeface="Symbol" panose="05050102010706020507" pitchFamily="18" charset="2"/>
              </a:rPr>
              <a:t></a:t>
            </a:r>
            <a:r>
              <a:rPr lang="en-US" altLang="zh-CN" sz="2800" dirty="0" err="1">
                <a:sym typeface="Symbol" panose="05050102010706020507" pitchFamily="18" charset="2"/>
              </a:rPr>
              <a:t>i</a:t>
            </a:r>
            <a:r>
              <a:rPr lang="zh-CN" altLang="en-US" sz="2800" dirty="0">
                <a:sym typeface="Symbol" panose="05050102010706020507" pitchFamily="18" charset="2"/>
              </a:rPr>
              <a:t>的第一个字母，意思是“是”。由意大利数学家</a:t>
            </a:r>
            <a:r>
              <a:rPr lang="en-US" altLang="zh-CN" sz="2800" dirty="0" err="1">
                <a:sym typeface="Symbol" panose="05050102010706020507" pitchFamily="18" charset="2"/>
              </a:rPr>
              <a:t>G.Peano</a:t>
            </a:r>
            <a:r>
              <a:rPr lang="zh-CN" altLang="en-US" sz="2800" dirty="0">
                <a:sym typeface="Symbol" panose="05050102010706020507" pitchFamily="18" charset="2"/>
              </a:rPr>
              <a:t>首先采用</a:t>
            </a:r>
            <a:r>
              <a:rPr lang="zh-CN" altLang="en-US" sz="2800" dirty="0"/>
              <a:t>），同时称 </a:t>
            </a:r>
            <a:r>
              <a:rPr lang="en-US" altLang="zh-CN" sz="2800" dirty="0"/>
              <a:t>a </a:t>
            </a:r>
            <a:r>
              <a:rPr lang="zh-CN" altLang="en-US" sz="2800" dirty="0"/>
              <a:t>是 </a:t>
            </a:r>
            <a:r>
              <a:rPr lang="en-US" altLang="zh-CN" sz="2800" dirty="0"/>
              <a:t>A </a:t>
            </a:r>
            <a:r>
              <a:rPr lang="zh-CN" altLang="en-US" sz="2800" dirty="0"/>
              <a:t>的元素或</a:t>
            </a:r>
            <a:r>
              <a:rPr lang="en-US" altLang="zh-CN" sz="2800" dirty="0"/>
              <a:t>A</a:t>
            </a:r>
            <a:r>
              <a:rPr lang="zh-CN" altLang="en-US" sz="2800" dirty="0"/>
              <a:t>的成员。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　　</a:t>
            </a:r>
            <a:r>
              <a:rPr lang="en-US" altLang="zh-CN" sz="2800" dirty="0"/>
              <a:t>(2)a </a:t>
            </a:r>
            <a:r>
              <a:rPr lang="zh-CN" altLang="en-US" sz="2800" dirty="0"/>
              <a:t>不属于 </a:t>
            </a:r>
            <a:r>
              <a:rPr lang="en-US" altLang="zh-CN" sz="2800" dirty="0"/>
              <a:t>A</a:t>
            </a:r>
            <a:r>
              <a:rPr lang="zh-CN" altLang="en-US" sz="2800" dirty="0"/>
              <a:t>，记为 </a:t>
            </a:r>
            <a:r>
              <a:rPr lang="en-US" altLang="zh-CN" sz="2800" dirty="0" err="1"/>
              <a:t>a</a:t>
            </a:r>
            <a:r>
              <a:rPr lang="en-US" altLang="zh-CN" sz="2800" dirty="0" err="1">
                <a:sym typeface="Symbol" panose="05050102010706020507" pitchFamily="18" charset="2"/>
              </a:rPr>
              <a:t></a:t>
            </a:r>
            <a:r>
              <a:rPr lang="en-US" altLang="zh-CN" sz="2800" dirty="0" err="1"/>
              <a:t>A</a:t>
            </a:r>
            <a:r>
              <a:rPr lang="en-US" altLang="zh-CN" sz="2800" dirty="0"/>
              <a:t> </a:t>
            </a:r>
            <a:r>
              <a:rPr lang="zh-CN" altLang="en-US" sz="2800" dirty="0"/>
              <a:t>，称 </a:t>
            </a:r>
            <a:r>
              <a:rPr lang="en-US" altLang="zh-CN" sz="2800" dirty="0"/>
              <a:t>a </a:t>
            </a:r>
            <a:r>
              <a:rPr lang="zh-CN" altLang="en-US" sz="2800" dirty="0"/>
              <a:t>不是 </a:t>
            </a:r>
            <a:r>
              <a:rPr lang="en-US" altLang="zh-CN" sz="2800" dirty="0"/>
              <a:t>A </a:t>
            </a:r>
            <a:r>
              <a:rPr lang="zh-CN" altLang="en-US" sz="2800" dirty="0"/>
              <a:t>的元素或</a:t>
            </a:r>
            <a:r>
              <a:rPr lang="en-US" altLang="zh-CN" sz="2800" dirty="0"/>
              <a:t>a </a:t>
            </a:r>
            <a:r>
              <a:rPr lang="zh-CN" altLang="en-US" sz="2800" dirty="0"/>
              <a:t>不是 </a:t>
            </a:r>
            <a:r>
              <a:rPr lang="en-US" altLang="zh-CN" sz="2800" dirty="0"/>
              <a:t>A </a:t>
            </a:r>
            <a:r>
              <a:rPr lang="zh-CN" altLang="en-US" sz="2800" dirty="0"/>
              <a:t>的成员。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dirty="0"/>
          </a:p>
        </p:txBody>
      </p:sp>
      <p:grpSp>
        <p:nvGrpSpPr>
          <p:cNvPr id="5" name="Group 39">
            <a:extLst>
              <a:ext uri="{FF2B5EF4-FFF2-40B4-BE49-F238E27FC236}">
                <a16:creationId xmlns:a16="http://schemas.microsoft.com/office/drawing/2014/main" id="{507181EC-2A2F-4DD9-B0EA-9122026F1250}"/>
              </a:ext>
            </a:extLst>
          </p:cNvPr>
          <p:cNvGrpSpPr>
            <a:grpSpLocks/>
          </p:cNvGrpSpPr>
          <p:nvPr/>
        </p:nvGrpSpPr>
        <p:grpSpPr bwMode="auto">
          <a:xfrm>
            <a:off x="2587511" y="4495804"/>
            <a:ext cx="6553200" cy="2454275"/>
            <a:chOff x="1344" y="1584"/>
            <a:chExt cx="4128" cy="154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BCD2E97C-A535-49D8-8A26-E95371C0E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24"/>
              <a:ext cx="1344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58C3F378-82E1-400E-82A5-F69405D35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112"/>
              <a:ext cx="816" cy="240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B6A1CECD-43B2-4E43-AFA7-B6971B02F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016"/>
              <a:ext cx="1056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DFBA97E7-0039-4F4C-9769-C1AC63DEF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256"/>
              <a:ext cx="672" cy="288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4BF79CBE-9F1C-4841-B1AD-D8ACEE250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112"/>
              <a:ext cx="1344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Rectangle 14">
              <a:extLst>
                <a:ext uri="{FF2B5EF4-FFF2-40B4-BE49-F238E27FC236}">
                  <a16:creationId xmlns:a16="http://schemas.microsoft.com/office/drawing/2014/main" id="{6E7BFAE7-8AD0-4237-9A2C-880113298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2256"/>
              <a:ext cx="28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16">
              <a:extLst>
                <a:ext uri="{FF2B5EF4-FFF2-40B4-BE49-F238E27FC236}">
                  <a16:creationId xmlns:a16="http://schemas.microsoft.com/office/drawing/2014/main" id="{0C078C8B-79B6-4848-9E7F-65E233E81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632"/>
              <a:ext cx="1344" cy="1104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2000" b="0">
                <a:latin typeface="Times New Roman" panose="02020603050405020304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2000" b="0">
                <a:latin typeface="Times New Roman" panose="02020603050405020304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" name="Oval 17">
              <a:extLst>
                <a:ext uri="{FF2B5EF4-FFF2-40B4-BE49-F238E27FC236}">
                  <a16:creationId xmlns:a16="http://schemas.microsoft.com/office/drawing/2014/main" id="{05B1A79E-1C82-4992-8402-F558AA098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584"/>
              <a:ext cx="1296" cy="115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37B401BC-B315-4360-B333-892977DEA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920"/>
              <a:ext cx="48" cy="96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28F28094-FD74-47A7-A7B8-38CD4F628C0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304" y="2352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zh-CN" sz="2000" b="0">
                <a:latin typeface="Times New Roman" panose="02020603050405020304" pitchFamily="18" charset="0"/>
              </a:endParaRPr>
            </a:p>
          </p:txBody>
        </p:sp>
        <p:sp>
          <p:nvSpPr>
            <p:cNvPr id="16" name="Oval 22">
              <a:extLst>
                <a:ext uri="{FF2B5EF4-FFF2-40B4-BE49-F238E27FC236}">
                  <a16:creationId xmlns:a16="http://schemas.microsoft.com/office/drawing/2014/main" id="{422B63D0-A22E-4DFB-9BA4-400ADF2BCC5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088" y="201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accent2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zh-CN" sz="2000" b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" name="Text Box 28">
              <a:extLst>
                <a:ext uri="{FF2B5EF4-FFF2-40B4-BE49-F238E27FC236}">
                  <a16:creationId xmlns:a16="http://schemas.microsoft.com/office/drawing/2014/main" id="{DC0B443A-0D11-4F78-AAB2-E61721696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880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endParaRPr lang="zh-CN" altLang="zh-CN" sz="2000" b="0">
                <a:latin typeface="Times New Roman" panose="02020603050405020304" pitchFamily="18" charset="0"/>
              </a:endParaRPr>
            </a:p>
          </p:txBody>
        </p:sp>
        <p:sp>
          <p:nvSpPr>
            <p:cNvPr id="18" name="Text Box 30">
              <a:extLst>
                <a:ext uri="{FF2B5EF4-FFF2-40B4-BE49-F238E27FC236}">
                  <a16:creationId xmlns:a16="http://schemas.microsoft.com/office/drawing/2014/main" id="{6B8CAFF8-2B04-4401-8A85-5F2E97F02A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736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 b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0">
                  <a:latin typeface="Times New Roman" panose="02020603050405020304" pitchFamily="18" charset="0"/>
                  <a:sym typeface="Symbol" panose="05050102010706020507" pitchFamily="18" charset="2"/>
                </a:rPr>
                <a:t></a:t>
              </a:r>
              <a:r>
                <a:rPr lang="en-US" altLang="zh-CN" sz="2000" b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 Box 33">
              <a:extLst>
                <a:ext uri="{FF2B5EF4-FFF2-40B4-BE49-F238E27FC236}">
                  <a16:creationId xmlns:a16="http://schemas.microsoft.com/office/drawing/2014/main" id="{E59F68D0-F074-4A4E-B2FE-AFF6827CF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688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 b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0">
                  <a:latin typeface="Times New Roman" panose="02020603050405020304" pitchFamily="18" charset="0"/>
                  <a:sym typeface="Symbol" panose="05050102010706020507" pitchFamily="18" charset="2"/>
                </a:rPr>
                <a:t></a:t>
              </a:r>
              <a:r>
                <a:rPr lang="en-US" altLang="zh-CN" sz="2000" b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0" name="Text Box 38">
              <a:extLst>
                <a:ext uri="{FF2B5EF4-FFF2-40B4-BE49-F238E27FC236}">
                  <a16:creationId xmlns:a16="http://schemas.microsoft.com/office/drawing/2014/main" id="{108DD448-D251-4433-9D2A-24540A1F90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201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 b="0">
                  <a:latin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B1627EF-EFF2-E8B1-7EDA-BB58DCFCE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03317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A177464-C366-4651-9B43-E02C89102072}"/>
              </a:ext>
            </a:extLst>
          </p:cNvPr>
          <p:cNvSpPr/>
          <p:nvPr/>
        </p:nvSpPr>
        <p:spPr>
          <a:xfrm>
            <a:off x="2034924" y="1071317"/>
            <a:ext cx="6984086" cy="4412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70C0"/>
                </a:solidFill>
              </a:rPr>
              <a:t>集合的表示法：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我们规定用花括号</a:t>
            </a:r>
            <a:r>
              <a:rPr lang="en-US" altLang="zh-CN" sz="2400" dirty="0"/>
              <a:t>——{  } </a:t>
            </a:r>
            <a:r>
              <a:rPr lang="zh-CN" altLang="en-US" sz="2400" dirty="0"/>
              <a:t>表示集合。</a:t>
            </a: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3200" dirty="0"/>
              <a:t>  (1) </a:t>
            </a:r>
            <a:r>
              <a:rPr lang="zh-CN" altLang="en-US" sz="3200" dirty="0"/>
              <a:t>叙述法（隐式法）</a:t>
            </a:r>
            <a:endParaRPr lang="en-US" altLang="zh-CN" sz="3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  (2) </a:t>
            </a:r>
            <a:r>
              <a:rPr lang="zh-CN" altLang="en-US" sz="3200" dirty="0"/>
              <a:t>枚举法 （显示法）</a:t>
            </a:r>
            <a:endParaRPr lang="en-US" altLang="zh-CN" sz="3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  (3) </a:t>
            </a:r>
            <a:r>
              <a:rPr lang="zh-CN" altLang="en-US" sz="3200" dirty="0"/>
              <a:t>归纳法 </a:t>
            </a:r>
            <a:endParaRPr lang="en-US" altLang="zh-CN" sz="3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  (4) </a:t>
            </a:r>
            <a:r>
              <a:rPr lang="zh-CN" altLang="en-US" sz="3200" dirty="0"/>
              <a:t>递归指定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4B9727-0F85-9800-6B36-29CBEC841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07314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8DA7DBA-FB2D-4F7F-8E0D-DBEAC5526152}"/>
              </a:ext>
            </a:extLst>
          </p:cNvPr>
          <p:cNvSpPr txBox="1"/>
          <p:nvPr/>
        </p:nvSpPr>
        <p:spPr>
          <a:xfrm>
            <a:off x="2144563" y="1118332"/>
            <a:ext cx="728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设</a:t>
            </a:r>
            <a:r>
              <a:rPr lang="en-US" altLang="zh-CN" sz="2800" dirty="0"/>
              <a:t>A</a:t>
            </a:r>
            <a:r>
              <a:rPr lang="zh-CN" altLang="en-US" sz="2800" dirty="0"/>
              <a:t>为任一集合，用 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|</a:t>
            </a:r>
            <a:r>
              <a:rPr lang="en-US" altLang="zh-CN" sz="2800" dirty="0">
                <a:solidFill>
                  <a:srgbClr val="FF0000"/>
                </a:solidFill>
              </a:rPr>
              <a:t>A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|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或 </a:t>
            </a:r>
            <a:r>
              <a:rPr lang="en-US" altLang="zh-CN" sz="2800" dirty="0">
                <a:solidFill>
                  <a:schemeClr val="accent1"/>
                </a:solidFill>
                <a:sym typeface="Symbol" panose="05050102010706020507" pitchFamily="18" charset="2"/>
              </a:rPr>
              <a:t>#A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表示</a:t>
            </a:r>
            <a:r>
              <a:rPr lang="en-US" altLang="zh-CN" sz="2800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含有</a:t>
            </a:r>
            <a:r>
              <a:rPr lang="zh-CN" altLang="en-US" sz="2800" u="sng" dirty="0">
                <a:sym typeface="Symbol" panose="05050102010706020507" pitchFamily="18" charset="2"/>
              </a:rPr>
              <a:t>不同</a:t>
            </a:r>
            <a:r>
              <a:rPr lang="zh-CN" altLang="en-US" sz="2800" dirty="0">
                <a:solidFill>
                  <a:schemeClr val="accent1"/>
                </a:solidFill>
                <a:sym typeface="Symbol" panose="05050102010706020507" pitchFamily="18" charset="2"/>
              </a:rPr>
              <a:t>元素的个数</a:t>
            </a:r>
            <a:r>
              <a:rPr lang="zh-CN" altLang="en-US" sz="2800" dirty="0">
                <a:sym typeface="Symbol" panose="05050102010706020507" pitchFamily="18" charset="2"/>
              </a:rPr>
              <a:t>，也称为集合</a:t>
            </a:r>
            <a:r>
              <a:rPr lang="en-US" altLang="zh-CN" sz="2800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基数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7AA267-9659-4E01-893D-17F7CDFD1D9A}"/>
              </a:ext>
            </a:extLst>
          </p:cNvPr>
          <p:cNvSpPr/>
          <p:nvPr/>
        </p:nvSpPr>
        <p:spPr>
          <a:xfrm>
            <a:off x="2144563" y="3310588"/>
            <a:ext cx="8056369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C00000"/>
                </a:solidFill>
              </a:rPr>
              <a:t>无重复性：</a:t>
            </a:r>
            <a:r>
              <a:rPr lang="zh-CN" altLang="en-US" sz="2800" dirty="0">
                <a:solidFill>
                  <a:srgbClr val="C00000"/>
                </a:solidFill>
              </a:rPr>
              <a:t>集合中元素的重复是无意义的。</a:t>
            </a:r>
            <a:endParaRPr lang="en-US" altLang="zh-CN" sz="2800" dirty="0">
              <a:solidFill>
                <a:srgbClr val="C00000"/>
              </a:solidFill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C00000"/>
                </a:solidFill>
              </a:rPr>
              <a:t>例如  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{a, a, a, a, b, b, b, c , c}= {a, b, c}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C00000"/>
                </a:solidFill>
                <a:sym typeface="Symbol" panose="05050102010706020507" pitchFamily="18" charset="2"/>
              </a:rPr>
              <a:t>　　</a:t>
            </a:r>
            <a:endParaRPr lang="en-US" altLang="zh-CN" sz="2800" dirty="0">
              <a:solidFill>
                <a:srgbClr val="C00000"/>
              </a:solidFill>
              <a:sym typeface="Symbol" panose="05050102010706020507" pitchFamily="18" charset="2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CA024755-10C8-B00B-7FD0-2112B8573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79264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7F60241-B20A-436E-A57E-6D51F9BB1899}"/>
              </a:ext>
            </a:extLst>
          </p:cNvPr>
          <p:cNvSpPr/>
          <p:nvPr/>
        </p:nvSpPr>
        <p:spPr>
          <a:xfrm>
            <a:off x="1751013" y="993456"/>
            <a:ext cx="845765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空集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empty,null,void</a:t>
            </a: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记为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空集是没有成员的集合。即 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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）（所谓的空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集公理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）；　所以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|</a:t>
            </a:r>
            <a:r>
              <a:rPr lang="en-US" altLang="zh-CN" sz="2800" dirty="0">
                <a:solidFill>
                  <a:srgbClr val="FF0000"/>
                </a:solidFill>
              </a:rPr>
              <a:t>A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|=0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2D4A14-0EBB-4050-BB49-F52159F3356D}"/>
              </a:ext>
            </a:extLst>
          </p:cNvPr>
          <p:cNvSpPr/>
          <p:nvPr/>
        </p:nvSpPr>
        <p:spPr>
          <a:xfrm>
            <a:off x="1825278" y="5217859"/>
            <a:ext cx="427072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非空集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empty set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）：</a:t>
            </a:r>
            <a:endParaRPr lang="en-US" altLang="zh-CN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|</a:t>
            </a:r>
            <a:r>
              <a:rPr lang="en-US" altLang="zh-CN" sz="2800" dirty="0">
                <a:solidFill>
                  <a:srgbClr val="FF0000"/>
                </a:solidFill>
              </a:rPr>
              <a:t>A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|≠0</a:t>
            </a:r>
            <a:endParaRPr lang="zh-CN" altLang="en-US" sz="28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A566F3-023B-454B-8B7F-341B15F370C8}"/>
              </a:ext>
            </a:extLst>
          </p:cNvPr>
          <p:cNvSpPr/>
          <p:nvPr/>
        </p:nvSpPr>
        <p:spPr>
          <a:xfrm>
            <a:off x="1825278" y="2759167"/>
            <a:ext cx="795682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/>
              <a:t>空集是集合</a:t>
            </a:r>
            <a:r>
              <a:rPr lang="en-US" altLang="zh-CN" sz="2800" dirty="0"/>
              <a:t>(</a:t>
            </a:r>
            <a:r>
              <a:rPr lang="zh-CN" altLang="en-US" sz="2800" dirty="0"/>
              <a:t>作这点规定是运算封闭性的要求</a:t>
            </a:r>
            <a:r>
              <a:rPr lang="en-US" altLang="zh-CN" sz="2800" dirty="0"/>
              <a:t>)</a:t>
            </a:r>
            <a:r>
              <a:rPr lang="zh-CN" altLang="en-US" sz="2800" dirty="0"/>
              <a:t>。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/>
              <a:t>空集是唯一的。因为若有两个空集，则它们有完全相同的元素</a:t>
            </a:r>
            <a:r>
              <a:rPr lang="en-US" altLang="zh-CN" sz="2800" dirty="0"/>
              <a:t>(</a:t>
            </a:r>
            <a:r>
              <a:rPr lang="zh-CN" altLang="en-US" sz="2800" dirty="0"/>
              <a:t>都没有任何元素</a:t>
            </a:r>
            <a:r>
              <a:rPr lang="en-US" altLang="zh-CN" sz="2800" dirty="0"/>
              <a:t>)</a:t>
            </a:r>
            <a:r>
              <a:rPr lang="zh-CN" altLang="en-US" sz="2800" dirty="0"/>
              <a:t>，所以它们相等，是同一集合。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4209F4-7B41-53B5-780F-A053719FA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89464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5F776CC-6E9F-4B5B-8487-D3F7D24DB76F}"/>
              </a:ext>
            </a:extLst>
          </p:cNvPr>
          <p:cNvSpPr/>
          <p:nvPr/>
        </p:nvSpPr>
        <p:spPr>
          <a:xfrm>
            <a:off x="1844148" y="1098712"/>
            <a:ext cx="836555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全集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（</a:t>
            </a: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</a:rPr>
              <a:t>universe of discourse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）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：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记为</a:t>
            </a: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  <a:sym typeface="Symbol" panose="05050102010706020507" pitchFamily="18" charset="2"/>
              </a:rPr>
              <a:t>U</a:t>
            </a:r>
            <a:endParaRPr lang="en-US" altLang="zh-CN" sz="2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/>
              <a:t>　全集是所要研究的</a:t>
            </a:r>
            <a:r>
              <a:rPr lang="zh-CN" altLang="en-US" sz="2800" dirty="0">
                <a:sym typeface="Symbol" panose="05050102010706020507" pitchFamily="18" charset="2"/>
              </a:rPr>
              <a:t>问题所需的全部</a:t>
            </a:r>
            <a:r>
              <a:rPr lang="zh-CN" altLang="en-US" sz="2800" dirty="0"/>
              <a:t>对象（</a:t>
            </a:r>
            <a:r>
              <a:rPr lang="zh-CN" altLang="en-US" sz="2800" dirty="0">
                <a:sym typeface="Symbol" panose="05050102010706020507" pitchFamily="18" charset="2"/>
              </a:rPr>
              <a:t>元素</a:t>
            </a:r>
            <a:r>
              <a:rPr lang="zh-CN" altLang="en-US" sz="2800" dirty="0"/>
              <a:t>）所构成的集合。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/>
              <a:t>　全集给个体（研究的对象）划定适当的范围。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9DDFFA-7E1E-4D8A-8938-9926ED59EC0A}"/>
              </a:ext>
            </a:extLst>
          </p:cNvPr>
          <p:cNvSpPr/>
          <p:nvPr/>
        </p:nvSpPr>
        <p:spPr>
          <a:xfrm>
            <a:off x="1844148" y="3275118"/>
            <a:ext cx="36423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472C4">
                    <a:lumMod val="75000"/>
                  </a:srgbClr>
                </a:solidFill>
              </a:rPr>
              <a:t>有限集合</a:t>
            </a:r>
            <a:r>
              <a:rPr lang="zh-CN" altLang="en-US" sz="2800" dirty="0">
                <a:solidFill>
                  <a:srgbClr val="4472C4">
                    <a:lumMod val="75000"/>
                  </a:srgbClr>
                </a:solidFill>
              </a:rPr>
              <a:t>（</a:t>
            </a:r>
            <a:r>
              <a:rPr lang="en-US" altLang="zh-CN" sz="2800" dirty="0">
                <a:solidFill>
                  <a:srgbClr val="4472C4">
                    <a:lumMod val="75000"/>
                  </a:srgbClr>
                </a:solidFill>
              </a:rPr>
              <a:t>finite set</a:t>
            </a:r>
            <a:r>
              <a:rPr lang="zh-CN" altLang="en-US" sz="2800" dirty="0">
                <a:solidFill>
                  <a:srgbClr val="4472C4">
                    <a:lumMod val="75000"/>
                  </a:srgbClr>
                </a:solidFill>
              </a:rPr>
              <a:t>）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26B685-1D78-4C39-B59E-46C93010A296}"/>
              </a:ext>
            </a:extLst>
          </p:cNvPr>
          <p:cNvSpPr/>
          <p:nvPr/>
        </p:nvSpPr>
        <p:spPr>
          <a:xfrm>
            <a:off x="1844148" y="4173663"/>
            <a:ext cx="39196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472C4">
                    <a:lumMod val="75000"/>
                  </a:srgbClr>
                </a:solidFill>
              </a:rPr>
              <a:t>无限集合</a:t>
            </a:r>
            <a:r>
              <a:rPr lang="zh-CN" altLang="en-US" sz="2800" dirty="0">
                <a:solidFill>
                  <a:srgbClr val="4472C4">
                    <a:lumMod val="75000"/>
                  </a:srgbClr>
                </a:solidFill>
              </a:rPr>
              <a:t>（</a:t>
            </a:r>
            <a:r>
              <a:rPr lang="en-US" altLang="zh-CN" sz="2800" dirty="0">
                <a:solidFill>
                  <a:srgbClr val="4472C4">
                    <a:lumMod val="75000"/>
                  </a:srgbClr>
                </a:solidFill>
              </a:rPr>
              <a:t>infinite set</a:t>
            </a:r>
            <a:r>
              <a:rPr lang="zh-CN" altLang="en-US" sz="2800" dirty="0">
                <a:solidFill>
                  <a:srgbClr val="4472C4">
                    <a:lumMod val="75000"/>
                  </a:srgbClr>
                </a:solidFill>
              </a:rPr>
              <a:t>）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B1B202-91AE-461F-A19B-97199E470F90}"/>
              </a:ext>
            </a:extLst>
          </p:cNvPr>
          <p:cNvSpPr/>
          <p:nvPr/>
        </p:nvSpPr>
        <p:spPr>
          <a:xfrm>
            <a:off x="1751013" y="5057407"/>
            <a:ext cx="904417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单元素集合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（</a:t>
            </a: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</a:rPr>
              <a:t>singleton set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）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/>
              <a:t>　   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7CF2F0-2FED-CE62-6136-FB2999585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155994"/>
      </p:ext>
    </p:extLst>
  </p:cSld>
  <p:clrMapOvr>
    <a:masterClrMapping/>
  </p:clrMapOvr>
  <p:transition spd="slow" advTm="0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32ED8A0-1F6A-40EF-84A2-91387377F53B}"/>
              </a:ext>
            </a:extLst>
          </p:cNvPr>
          <p:cNvSpPr/>
          <p:nvPr/>
        </p:nvSpPr>
        <p:spPr>
          <a:xfrm>
            <a:off x="1682213" y="862739"/>
            <a:ext cx="26148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子集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（</a:t>
            </a: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</a:rPr>
              <a:t>subset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CF463-DF6A-43B9-A80B-DEC1FB55F8E3}"/>
              </a:ext>
            </a:extLst>
          </p:cNvPr>
          <p:cNvSpPr/>
          <p:nvPr/>
        </p:nvSpPr>
        <p:spPr>
          <a:xfrm>
            <a:off x="1682213" y="1648810"/>
            <a:ext cx="9372052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对于两个集合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中的每个元素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的一个元素，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则称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包含在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中（或者说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包含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），记为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AB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。同时称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子集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的母集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超集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(superset)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）。即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D4DAEB-9FA6-4D9F-90D7-433CDAEB1F8E}"/>
              </a:ext>
            </a:extLst>
          </p:cNvPr>
          <p:cNvSpPr/>
          <p:nvPr/>
        </p:nvSpPr>
        <p:spPr>
          <a:xfrm>
            <a:off x="4038334" y="3157402"/>
            <a:ext cx="45997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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321265-60E8-46F7-A674-6D3FEBC17010}"/>
              </a:ext>
            </a:extLst>
          </p:cNvPr>
          <p:cNvSpPr/>
          <p:nvPr/>
        </p:nvSpPr>
        <p:spPr>
          <a:xfrm>
            <a:off x="1571624" y="4133794"/>
            <a:ext cx="8460461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真子集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（</a:t>
            </a: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</a:rPr>
              <a:t>proper subset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）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：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      称</a:t>
            </a:r>
            <a:r>
              <a:rPr lang="en-US" altLang="zh-CN" sz="2800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是</a:t>
            </a:r>
            <a:r>
              <a:rPr lang="en-US" altLang="zh-CN" sz="2800" dirty="0"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的</a:t>
            </a:r>
            <a:r>
              <a:rPr lang="zh-CN" altLang="en-US" sz="2800" dirty="0"/>
              <a:t>真</a:t>
            </a:r>
            <a:r>
              <a:rPr lang="zh-CN" altLang="en-US" sz="2800" dirty="0">
                <a:sym typeface="Symbol" panose="05050102010706020507" pitchFamily="18" charset="2"/>
              </a:rPr>
              <a:t>子集或者说</a:t>
            </a:r>
            <a:r>
              <a:rPr lang="en-US" altLang="zh-CN" sz="2800" dirty="0">
                <a:sym typeface="Symbol" panose="05050102010706020507" pitchFamily="18" charset="2"/>
              </a:rPr>
              <a:t>A</a:t>
            </a:r>
            <a:r>
              <a:rPr lang="zh-CN" altLang="en-US" sz="2800" dirty="0"/>
              <a:t>真</a:t>
            </a:r>
            <a:r>
              <a:rPr lang="zh-CN" altLang="en-US" sz="2800" dirty="0">
                <a:sym typeface="Symbol" panose="05050102010706020507" pitchFamily="18" charset="2"/>
              </a:rPr>
              <a:t>包含在</a:t>
            </a:r>
            <a:r>
              <a:rPr lang="en-US" altLang="zh-CN" sz="2800" dirty="0"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中（或者说</a:t>
            </a:r>
            <a:r>
              <a:rPr lang="en-US" altLang="zh-CN" sz="2800" dirty="0">
                <a:sym typeface="Symbol" panose="05050102010706020507" pitchFamily="18" charset="2"/>
              </a:rPr>
              <a:t>B</a:t>
            </a:r>
            <a:r>
              <a:rPr lang="zh-CN" altLang="en-US" sz="2800" dirty="0"/>
              <a:t>真</a:t>
            </a:r>
            <a:r>
              <a:rPr lang="zh-CN" altLang="en-US" sz="2800" dirty="0">
                <a:sym typeface="Symbol" panose="05050102010706020507" pitchFamily="18" charset="2"/>
              </a:rPr>
              <a:t>包含</a:t>
            </a:r>
            <a:r>
              <a:rPr lang="en-US" altLang="zh-CN" sz="2800" dirty="0">
                <a:sym typeface="Symbol" panose="05050102010706020507" pitchFamily="18" charset="2"/>
              </a:rPr>
              <a:t>A </a:t>
            </a:r>
            <a:r>
              <a:rPr lang="zh-CN" altLang="en-US" sz="2800" dirty="0">
                <a:sym typeface="Symbol" panose="05050102010706020507" pitchFamily="18" charset="2"/>
              </a:rPr>
              <a:t>），记为</a:t>
            </a:r>
            <a:r>
              <a:rPr lang="en-US" altLang="zh-CN" sz="2800" dirty="0">
                <a:sym typeface="Symbol" panose="05050102010706020507" pitchFamily="18" charset="2"/>
              </a:rPr>
              <a:t>AB</a:t>
            </a:r>
            <a:r>
              <a:rPr lang="zh-CN" altLang="en-US" sz="2800" dirty="0">
                <a:sym typeface="Symbol" panose="05050102010706020507" pitchFamily="18" charset="2"/>
              </a:rPr>
              <a:t>。即</a:t>
            </a:r>
            <a:endParaRPr lang="zh-CN" altLang="en-US" sz="28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A6F7CA-0CCE-443C-94AE-8F4657E3BE45}"/>
              </a:ext>
            </a:extLst>
          </p:cNvPr>
          <p:cNvSpPr/>
          <p:nvPr/>
        </p:nvSpPr>
        <p:spPr>
          <a:xfrm>
            <a:off x="4383031" y="5581084"/>
            <a:ext cx="34259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AB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 A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B</a:t>
            </a:r>
            <a:r>
              <a:rPr lang="en-US" altLang="zh-CN" sz="2800" dirty="0">
                <a:sym typeface="Symbol" panose="05050102010706020507" pitchFamily="18" charset="2"/>
              </a:rPr>
              <a:t></a:t>
            </a:r>
            <a:r>
              <a:rPr lang="en-US" altLang="zh-CN" sz="2800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</a:t>
            </a:r>
            <a:r>
              <a:rPr lang="en-US" altLang="zh-CN" sz="2800" dirty="0"/>
              <a:t>B </a:t>
            </a:r>
            <a:r>
              <a:rPr lang="zh-CN" altLang="en-US" sz="2800" dirty="0"/>
              <a:t>　</a:t>
            </a:r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C4C1459F-9A8A-9D8A-61A7-8B4AB56F1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29197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A2CED02-B321-4C45-90F4-A2064065A205}"/>
              </a:ext>
            </a:extLst>
          </p:cNvPr>
          <p:cNvSpPr/>
          <p:nvPr/>
        </p:nvSpPr>
        <p:spPr>
          <a:xfrm>
            <a:off x="1730661" y="989651"/>
            <a:ext cx="8135309" cy="2419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2060"/>
                </a:solidFill>
              </a:rPr>
              <a:t>集合的相等</a:t>
            </a:r>
            <a:r>
              <a:rPr lang="zh-CN" altLang="en-US" sz="2800" dirty="0">
                <a:solidFill>
                  <a:srgbClr val="002060"/>
                </a:solidFill>
              </a:rPr>
              <a:t>（</a:t>
            </a:r>
            <a:r>
              <a:rPr lang="en-US" altLang="zh-CN" sz="2800" dirty="0">
                <a:solidFill>
                  <a:srgbClr val="002060"/>
                </a:solidFill>
              </a:rPr>
              <a:t>equality</a:t>
            </a:r>
            <a:r>
              <a:rPr lang="zh-CN" altLang="en-US" sz="2800" dirty="0">
                <a:solidFill>
                  <a:srgbClr val="002060"/>
                </a:solidFill>
              </a:rPr>
              <a:t>） </a:t>
            </a:r>
            <a:r>
              <a:rPr lang="zh-CN" altLang="en-US" sz="2800" b="1" dirty="0"/>
              <a:t>：</a:t>
            </a:r>
            <a:endParaRPr lang="en-US" altLang="zh-CN" sz="2800" b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  </a:t>
            </a:r>
            <a:r>
              <a:rPr lang="zh-CN" altLang="en-US" sz="2800" b="1" dirty="0"/>
              <a:t>外延性原理：</a:t>
            </a:r>
            <a:r>
              <a:rPr lang="zh-CN" altLang="en-US" sz="2800" dirty="0"/>
              <a:t>两个集合相等，当且仅当，它们的成员完全相同。</a:t>
            </a:r>
            <a:endParaRPr lang="en-US" altLang="zh-CN" sz="2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即               </a:t>
            </a:r>
            <a:r>
              <a:rPr lang="en-US" altLang="zh-CN" sz="2800" dirty="0"/>
              <a:t>A=B </a:t>
            </a:r>
            <a:r>
              <a:rPr lang="en-US" altLang="zh-CN" sz="2800" dirty="0">
                <a:sym typeface="Symbol" panose="05050102010706020507" pitchFamily="18" charset="2"/>
              </a:rPr>
              <a:t> </a:t>
            </a:r>
            <a:r>
              <a:rPr lang="en-US" altLang="zh-CN" sz="2800" i="1" dirty="0"/>
              <a:t>x</a:t>
            </a:r>
            <a:r>
              <a:rPr lang="en-US" altLang="zh-CN" sz="2800" dirty="0"/>
              <a:t>(</a:t>
            </a:r>
            <a:r>
              <a:rPr lang="en-US" altLang="zh-CN" sz="2800" i="1" dirty="0" err="1"/>
              <a:t>x</a:t>
            </a:r>
            <a:r>
              <a:rPr lang="en-US" altLang="zh-CN" sz="2800" dirty="0" err="1">
                <a:sym typeface="Symbol" panose="05050102010706020507" pitchFamily="18" charset="2"/>
              </a:rPr>
              <a:t>A</a:t>
            </a:r>
            <a:r>
              <a:rPr lang="en-US" altLang="zh-CN" sz="2800" dirty="0">
                <a:sym typeface="Symbol" panose="05050102010706020507" pitchFamily="18" charset="2"/>
              </a:rPr>
              <a:t> </a:t>
            </a:r>
            <a:r>
              <a:rPr lang="en-US" altLang="zh-CN" sz="2800" i="1" dirty="0"/>
              <a:t> </a:t>
            </a:r>
            <a:r>
              <a:rPr lang="en-US" altLang="zh-CN" sz="2800" i="1" dirty="0" err="1"/>
              <a:t>x</a:t>
            </a:r>
            <a:r>
              <a:rPr lang="en-US" altLang="zh-CN" sz="2800" dirty="0" err="1">
                <a:sym typeface="Symbol" panose="05050102010706020507" pitchFamily="18" charset="2"/>
              </a:rPr>
              <a:t>B</a:t>
            </a:r>
            <a:r>
              <a:rPr lang="en-US" altLang="zh-CN" sz="2800" dirty="0"/>
              <a:t>)</a:t>
            </a:r>
            <a:r>
              <a:rPr lang="zh-CN" altLang="en-US" sz="2800" dirty="0"/>
              <a:t>　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33815F-2565-4068-9A05-45E6A8FB6A59}"/>
              </a:ext>
            </a:extLst>
          </p:cNvPr>
          <p:cNvSpPr/>
          <p:nvPr/>
        </p:nvSpPr>
        <p:spPr>
          <a:xfrm>
            <a:off x="1824413" y="3873484"/>
            <a:ext cx="8253722" cy="280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C00000"/>
                </a:solidFill>
              </a:rPr>
              <a:t>无序性：</a:t>
            </a:r>
            <a:r>
              <a:rPr lang="zh-CN" altLang="en-US" sz="2800" dirty="0">
                <a:solidFill>
                  <a:srgbClr val="C00000"/>
                </a:solidFill>
              </a:rPr>
              <a:t>集合中的元素是无序的。例如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C00000"/>
                </a:solidFill>
              </a:rPr>
              <a:t>              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{</a:t>
            </a:r>
            <a:r>
              <a:rPr lang="en-US" altLang="zh-CN" sz="2800" dirty="0" err="1">
                <a:solidFill>
                  <a:srgbClr val="C00000"/>
                </a:solidFill>
                <a:sym typeface="Symbol" panose="05050102010706020507" pitchFamily="18" charset="2"/>
              </a:rPr>
              <a:t>a,b,c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}= {b, a, c} = {b , c, a}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dirty="0">
              <a:solidFill>
                <a:srgbClr val="C00000"/>
              </a:solidFill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 </a:t>
            </a:r>
            <a:r>
              <a:rPr lang="zh-CN" altLang="en-US" sz="2800" dirty="0"/>
              <a:t>因此，为了使用方便，我们可任意书写集合中元素的顺序。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　　但一般情况下，通常采用字母序、字典序；有时，还需要强行命名一种序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6948867B-8F91-5D81-51FC-75B3110BA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74432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3516ADD-334E-4FFE-B70F-5BE6DFAAD5E3}"/>
              </a:ext>
            </a:extLst>
          </p:cNvPr>
          <p:cNvSpPr/>
          <p:nvPr/>
        </p:nvSpPr>
        <p:spPr>
          <a:xfrm>
            <a:off x="2054658" y="1455738"/>
            <a:ext cx="7247223" cy="405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集合与集合之间的关系有四种。列举如下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       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(1)B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包含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A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，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AB  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A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 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B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；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       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(2)A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包含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B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，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BA  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B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 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A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；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      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3)A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等于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B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，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A=B  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B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  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A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                                      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 ABBA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；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       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(4)A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与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B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互不包含， 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(AB)(BA)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                                     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A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B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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y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y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B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y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A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DF6DEC-09A2-1F37-F9F6-06EF3E65C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832708"/>
      </p:ext>
    </p:extLst>
  </p:cSld>
  <p:clrMapOvr>
    <a:masterClrMapping/>
  </p:clrMapOvr>
  <p:transition spd="slow" advTm="0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D689AAB-4243-430C-8ABA-2DA1B21C0A25}"/>
              </a:ext>
            </a:extLst>
          </p:cNvPr>
          <p:cNvSpPr/>
          <p:nvPr/>
        </p:nvSpPr>
        <p:spPr>
          <a:xfrm>
            <a:off x="1949404" y="1302174"/>
            <a:ext cx="8714210" cy="3884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kumimoji="1"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自反性：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 A</a:t>
            </a:r>
            <a:endParaRPr kumimoji="1" lang="zh-CN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342900" lvl="0" indent="-34290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kumimoji="1"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反对称性：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BA 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A=B </a:t>
            </a:r>
            <a:r>
              <a:rPr kumimoji="1"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kumimoji="1" lang="en-US" altLang="zh-C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kumimoji="1"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传递性：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BC 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AC </a:t>
            </a:r>
            <a:r>
              <a:rPr kumimoji="1"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；</a:t>
            </a:r>
            <a:endParaRPr kumimoji="1" lang="en-US" altLang="zh-C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342900" indent="-34290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(4)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空集是任一集合的子集。即     </a:t>
            </a:r>
            <a:r>
              <a:rPr lang="zh-CN" altLang="en-US" sz="3200" baseline="2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endParaRPr kumimoji="1" lang="zh-CN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8963CA-DE01-9A05-DA75-444A08C40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158951"/>
      </p:ext>
    </p:extLst>
  </p:cSld>
  <p:clrMapOvr>
    <a:masterClrMapping/>
  </p:clrMapOvr>
  <p:transition spd="slow" advTm="0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16A8ADC-3A82-410B-8A21-3F32C0B5A22C}"/>
              </a:ext>
            </a:extLst>
          </p:cNvPr>
          <p:cNvSpPr/>
          <p:nvPr/>
        </p:nvSpPr>
        <p:spPr>
          <a:xfrm>
            <a:off x="1659953" y="1244406"/>
            <a:ext cx="94509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对于任何元素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A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。因此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，可知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1FB4C9-50D8-461F-B027-DD339FABA07D}"/>
              </a:ext>
            </a:extLst>
          </p:cNvPr>
          <p:cNvSpPr/>
          <p:nvPr/>
        </p:nvSpPr>
        <p:spPr>
          <a:xfrm>
            <a:off x="1659953" y="2032117"/>
            <a:ext cx="1001015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BA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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 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A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A=B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C0F427-1D0E-432F-8D12-4EA164DB4CD1}"/>
              </a:ext>
            </a:extLst>
          </p:cNvPr>
          <p:cNvSpPr/>
          <p:nvPr/>
        </p:nvSpPr>
        <p:spPr>
          <a:xfrm>
            <a:off x="1571624" y="4451241"/>
            <a:ext cx="9723517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BC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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(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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982E2E31-37EE-0D30-211B-F9126AE3A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24546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564F5AC-D7DB-4507-8D8B-C00E95952B9F}"/>
              </a:ext>
            </a:extLst>
          </p:cNvPr>
          <p:cNvSpPr/>
          <p:nvPr/>
        </p:nvSpPr>
        <p:spPr>
          <a:xfrm>
            <a:off x="2429630" y="1159709"/>
            <a:ext cx="6806468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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 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</a:t>
            </a:r>
            <a:r>
              <a:rPr lang="en-US" altLang="zh-CN" sz="3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x 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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</a:t>
            </a:r>
            <a:r>
              <a:rPr lang="en-US" altLang="zh-CN" sz="3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→</a:t>
            </a:r>
            <a:r>
              <a:rPr lang="en-US" altLang="zh-CN" sz="32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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6E2870-D45D-47E2-9A2A-7A0304B67255}"/>
              </a:ext>
            </a:extLst>
          </p:cNvPr>
          <p:cNvSpPr/>
          <p:nvPr/>
        </p:nvSpPr>
        <p:spPr>
          <a:xfrm>
            <a:off x="2521726" y="3782069"/>
            <a:ext cx="6096000" cy="122110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Ax(x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xA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x(0xA)1.</a:t>
            </a:r>
            <a:endParaRPr lang="zh-CN" altLang="en-US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96A13E95-5A29-1705-A164-C2FF629ED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5867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CD02E53-46B9-4F9D-96F3-864A3D605A09}"/>
              </a:ext>
            </a:extLst>
          </p:cNvPr>
          <p:cNvSpPr/>
          <p:nvPr/>
        </p:nvSpPr>
        <p:spPr>
          <a:xfrm>
            <a:off x="1857306" y="878499"/>
            <a:ext cx="8477387" cy="4547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幂集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一个集合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的所有子集构成的集合称为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的幂集。记为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latin typeface="Lucida Calligraphy" panose="03010101010101010101" pitchFamily="66" charset="0"/>
                <a:cs typeface="Times New Roman" panose="02020603050405020304" pitchFamily="18" charset="0"/>
              </a:rPr>
              <a:t>P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(A))</a:t>
            </a:r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　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 B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}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显然，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的两个平凡子集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  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都属于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的幂集。即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 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8E2D4B-C644-6E10-A0C2-237DEE082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511961"/>
      </p:ext>
    </p:extLst>
  </p:cSld>
  <p:clrMapOvr>
    <a:masterClrMapping/>
  </p:clrMapOvr>
  <p:transition spd="slow" advTm="0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23554">
            <a:extLst>
              <a:ext uri="{FF2B5EF4-FFF2-40B4-BE49-F238E27FC236}">
                <a16:creationId xmlns:a16="http://schemas.microsoft.com/office/drawing/2014/main" id="{334D4589-0C2E-4BB3-9A8B-242D712A9CBA}"/>
              </a:ext>
            </a:extLst>
          </p:cNvPr>
          <p:cNvSpPr txBox="1">
            <a:spLocks noChangeArrowheads="1"/>
          </p:cNvSpPr>
          <p:nvPr/>
        </p:nvSpPr>
        <p:spPr>
          <a:xfrm>
            <a:off x="2404412" y="1059970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5000"/>
              </a:lnSpc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求下列集合的幂集。</a:t>
            </a:r>
          </a:p>
          <a:p>
            <a:pPr algn="just">
              <a:lnSpc>
                <a:spcPct val="135000"/>
              </a:lnSpc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（1）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algn="just">
              <a:lnSpc>
                <a:spcPct val="135000"/>
              </a:lnSpc>
              <a:buFontTx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（2）B={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}；</a:t>
            </a:r>
          </a:p>
          <a:p>
            <a:pPr algn="just">
              <a:lnSpc>
                <a:spcPct val="135000"/>
              </a:lnSpc>
              <a:buFontTx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（3）C={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,{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}}；</a:t>
            </a:r>
          </a:p>
          <a:p>
            <a:pPr algn="just">
              <a:lnSpc>
                <a:spcPct val="135000"/>
              </a:lnSpc>
              <a:buFontTx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（4）D={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a,b,c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}。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解（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P(A)={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P(B)={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,{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}}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P(C)={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,{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},{{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}},{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,{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}}}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P(D)={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,{a},{b},{c},{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},{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},{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b,c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},{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a,b,c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}}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D61325A1-B6B5-0C37-3F9D-BA73E8628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7840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5540D83-ADFC-4E5C-AEB0-DB8958968F5F}"/>
              </a:ext>
            </a:extLst>
          </p:cNvPr>
          <p:cNvSpPr/>
          <p:nvPr/>
        </p:nvSpPr>
        <p:spPr>
          <a:xfrm>
            <a:off x="2153335" y="835760"/>
            <a:ext cx="6096000" cy="123995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40000"/>
              </a:lnSpc>
              <a:buFontTx/>
              <a:buNone/>
            </a:pPr>
            <a:r>
              <a:rPr lang="zh-CN" altLang="en-US" sz="2800" dirty="0">
                <a:latin typeface="+mn-ea"/>
              </a:rPr>
              <a:t>证明：对任意的集合</a:t>
            </a:r>
            <a:r>
              <a:rPr lang="en-US" altLang="zh-CN" sz="2800" dirty="0">
                <a:latin typeface="+mn-ea"/>
              </a:rPr>
              <a:t>S，</a:t>
            </a:r>
            <a:r>
              <a:rPr lang="zh-CN" altLang="en-US" sz="2800" dirty="0">
                <a:latin typeface="+mn-ea"/>
              </a:rPr>
              <a:t>有</a:t>
            </a:r>
          </a:p>
          <a:p>
            <a:pPr>
              <a:lnSpc>
                <a:spcPct val="140000"/>
              </a:lnSpc>
              <a:buFontTx/>
              <a:buNone/>
            </a:pPr>
            <a:r>
              <a:rPr lang="zh-CN" altLang="en-US" sz="2800" dirty="0">
                <a:latin typeface="+mn-ea"/>
              </a:rPr>
              <a:t>     {</a:t>
            </a:r>
            <a:r>
              <a:rPr lang="zh-CN" altLang="en-US" sz="2800" dirty="0">
                <a:latin typeface="+mn-ea"/>
                <a:sym typeface="Symbol" panose="05050102010706020507" pitchFamily="18" charset="2"/>
              </a:rPr>
              <a:t></a:t>
            </a:r>
            <a:r>
              <a:rPr lang="zh-CN" altLang="en-US" sz="2800" dirty="0">
                <a:latin typeface="+mn-ea"/>
              </a:rPr>
              <a:t>,{</a:t>
            </a:r>
            <a:r>
              <a:rPr lang="zh-CN" altLang="en-US" sz="2800" dirty="0">
                <a:latin typeface="+mn-ea"/>
                <a:sym typeface="Symbol" panose="05050102010706020507" pitchFamily="18" charset="2"/>
              </a:rPr>
              <a:t></a:t>
            </a:r>
            <a:r>
              <a:rPr lang="zh-CN" altLang="en-US" sz="2800" dirty="0">
                <a:latin typeface="+mn-ea"/>
              </a:rPr>
              <a:t>}}</a:t>
            </a:r>
            <a:r>
              <a:rPr lang="zh-CN" altLang="en-US" sz="2800" dirty="0">
                <a:latin typeface="+mn-ea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latin typeface="+mn-ea"/>
              </a:rPr>
              <a:t>PPP(S)</a:t>
            </a:r>
            <a:endParaRPr lang="zh-CN" altLang="en-US" sz="2800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9A81DE-562B-41C7-B9D6-A0BEEC37A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8492" y="934329"/>
            <a:ext cx="3094065" cy="5831596"/>
          </a:xfrm>
          <a:prstGeom prst="rect">
            <a:avLst/>
          </a:prstGeom>
          <a:noFill/>
          <a:ln w="9525">
            <a:solidFill>
              <a:schemeClr val="tx2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证明： </a:t>
            </a:r>
          </a:p>
          <a:p>
            <a:pPr>
              <a:lnSpc>
                <a:spcPct val="150000"/>
              </a:lnSpc>
            </a:pP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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S         	</a:t>
            </a:r>
          </a:p>
          <a:p>
            <a:pPr>
              <a:lnSpc>
                <a:spcPct val="150000"/>
              </a:lnSpc>
            </a:pP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 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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P(S)</a:t>
            </a:r>
          </a:p>
          <a:p>
            <a:pPr>
              <a:lnSpc>
                <a:spcPct val="150000"/>
              </a:lnSpc>
            </a:pP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 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又{}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P(S)    </a:t>
            </a:r>
          </a:p>
          <a:p>
            <a:pPr>
              <a:lnSpc>
                <a:spcPct val="150000"/>
              </a:lnSpc>
            </a:pP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{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}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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PP(S)</a:t>
            </a:r>
          </a:p>
          <a:p>
            <a:pPr>
              <a:lnSpc>
                <a:spcPct val="150000"/>
              </a:lnSpc>
            </a:pP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 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又 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P(S)  	</a:t>
            </a:r>
          </a:p>
          <a:p>
            <a:pPr>
              <a:lnSpc>
                <a:spcPct val="150000"/>
              </a:lnSpc>
            </a:pP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 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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PP(S)</a:t>
            </a:r>
          </a:p>
          <a:p>
            <a:pPr>
              <a:lnSpc>
                <a:spcPct val="150000"/>
              </a:lnSpc>
            </a:pP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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,{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}}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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PP(S)  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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,{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}}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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PPP(S)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4BA04C-32F5-BE97-9174-E2322D8BD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4768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4589DEB-5D48-4813-A277-248646E775A5}"/>
              </a:ext>
            </a:extLst>
          </p:cNvPr>
          <p:cNvSpPr/>
          <p:nvPr/>
        </p:nvSpPr>
        <p:spPr>
          <a:xfrm>
            <a:off x="2587511" y="2197660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是有限集合，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则有　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|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|= 2 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|A|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这个定理也说明，我们为什么把一切子集构成的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集合称为幂集。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3679FC-032B-B562-DCAA-7C60A90A4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62343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4752FDE-8C9F-44CA-A70A-A4D9244DBA62}"/>
              </a:ext>
            </a:extLst>
          </p:cNvPr>
          <p:cNvSpPr/>
          <p:nvPr/>
        </p:nvSpPr>
        <p:spPr>
          <a:xfrm>
            <a:off x="1751013" y="968391"/>
            <a:ext cx="6096000" cy="244643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40000"/>
              </a:lnSpc>
              <a:buFontTx/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设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A，B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为任意两个集合，则有</a:t>
            </a:r>
          </a:p>
          <a:p>
            <a:pPr>
              <a:lnSpc>
                <a:spcPct val="140000"/>
              </a:lnSpc>
              <a:buFontTx/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	（1）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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P(A)；</a:t>
            </a:r>
          </a:p>
          <a:p>
            <a:pPr algn="just">
              <a:lnSpc>
                <a:spcPct val="140000"/>
              </a:lnSpc>
              <a:buFontTx/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	（2）A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P(A)；</a:t>
            </a:r>
          </a:p>
          <a:p>
            <a:pPr algn="just">
              <a:lnSpc>
                <a:spcPct val="140000"/>
              </a:lnSpc>
              <a:buFontTx/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	（3）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若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B，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则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P(A)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P(B)</a:t>
            </a:r>
            <a:endParaRPr lang="zh-CN" altLang="en-US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5F039D-2CAE-615D-976D-0588D5E40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635830"/>
      </p:ext>
    </p:extLst>
  </p:cSld>
  <p:clrMapOvr>
    <a:masterClrMapping/>
  </p:clrMapOvr>
  <p:transition spd="slow" advTm="0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37890">
            <a:extLst>
              <a:ext uri="{FF2B5EF4-FFF2-40B4-BE49-F238E27FC236}">
                <a16:creationId xmlns:a16="http://schemas.microsoft.com/office/drawing/2014/main" id="{1FA69DB0-196F-4F21-A27D-DE319C3715CB}"/>
              </a:ext>
            </a:extLst>
          </p:cNvPr>
          <p:cNvSpPr txBox="1">
            <a:spLocks noChangeArrowheads="1"/>
          </p:cNvSpPr>
          <p:nvPr/>
        </p:nvSpPr>
        <p:spPr>
          <a:xfrm>
            <a:off x="1357793" y="1455738"/>
            <a:ext cx="3721100" cy="47974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5000"/>
              </a:lnSpc>
              <a:buFontTx/>
              <a:buNone/>
            </a:pPr>
            <a:r>
              <a:rPr lang="zh-CN" altLang="en-US" sz="2000" dirty="0"/>
              <a:t>设</a:t>
            </a:r>
            <a:r>
              <a:rPr lang="en-US" altLang="zh-CN" sz="2000" dirty="0"/>
              <a:t>A，B</a:t>
            </a:r>
            <a:r>
              <a:rPr lang="zh-CN" altLang="en-US" sz="2000" dirty="0"/>
              <a:t>为任意两个集合。令</a:t>
            </a:r>
          </a:p>
          <a:p>
            <a:pPr algn="just">
              <a:lnSpc>
                <a:spcPct val="155000"/>
              </a:lnSpc>
              <a:buFontTx/>
              <a:buNone/>
            </a:pPr>
            <a:r>
              <a:rPr lang="en-US" altLang="zh-CN" sz="2000" dirty="0"/>
              <a:t>A∪B={</a:t>
            </a:r>
            <a:r>
              <a:rPr lang="en-US" altLang="zh-CN" sz="2000" dirty="0" err="1"/>
              <a:t>x|x</a:t>
            </a:r>
            <a:r>
              <a:rPr lang="en-US" altLang="zh-CN" sz="2000" dirty="0" err="1">
                <a:sym typeface="Symbol" panose="05050102010706020507" pitchFamily="18" charset="2"/>
              </a:rPr>
              <a:t></a:t>
            </a:r>
            <a:r>
              <a:rPr lang="en-US" altLang="zh-CN" sz="2000" dirty="0" err="1"/>
              <a:t>A</a:t>
            </a:r>
            <a:r>
              <a:rPr lang="zh-CN" altLang="en-US" sz="2000" dirty="0">
                <a:sym typeface="Symbol" panose="05050102010706020507" pitchFamily="18" charset="2"/>
              </a:rPr>
              <a:t></a:t>
            </a:r>
            <a:r>
              <a:rPr lang="en-US" altLang="zh-CN" sz="2000" dirty="0" err="1"/>
              <a:t>x</a:t>
            </a:r>
            <a:r>
              <a:rPr lang="en-US" altLang="zh-CN" sz="2000" dirty="0" err="1">
                <a:sym typeface="Symbol" panose="05050102010706020507" pitchFamily="18" charset="2"/>
              </a:rPr>
              <a:t></a:t>
            </a:r>
            <a:r>
              <a:rPr lang="en-US" altLang="zh-CN" sz="2000" dirty="0" err="1"/>
              <a:t>B</a:t>
            </a:r>
            <a:r>
              <a:rPr lang="en-US" altLang="zh-CN" sz="2000" dirty="0"/>
              <a:t>}</a:t>
            </a:r>
          </a:p>
          <a:p>
            <a:pPr algn="just">
              <a:lnSpc>
                <a:spcPct val="155000"/>
              </a:lnSpc>
              <a:buFontTx/>
              <a:buNone/>
            </a:pPr>
            <a:r>
              <a:rPr lang="en-US" altLang="zh-CN" sz="2000" dirty="0"/>
              <a:t>A∩B={</a:t>
            </a:r>
            <a:r>
              <a:rPr lang="en-US" altLang="zh-CN" sz="2000" dirty="0" err="1"/>
              <a:t>x|x</a:t>
            </a:r>
            <a:r>
              <a:rPr lang="en-US" altLang="zh-CN" sz="2000" dirty="0" err="1">
                <a:sym typeface="Symbol" panose="05050102010706020507" pitchFamily="18" charset="2"/>
              </a:rPr>
              <a:t></a:t>
            </a:r>
            <a:r>
              <a:rPr lang="en-US" altLang="zh-CN" sz="2000" dirty="0" err="1"/>
              <a:t>A</a:t>
            </a:r>
            <a:r>
              <a:rPr lang="zh-CN" altLang="en-US" sz="2000" dirty="0">
                <a:sym typeface="cajcd fnta1" pitchFamily="2" charset="2"/>
              </a:rPr>
              <a:t>∧</a:t>
            </a:r>
            <a:r>
              <a:rPr lang="en-US" altLang="zh-CN" sz="2000" dirty="0" err="1"/>
              <a:t>x</a:t>
            </a:r>
            <a:r>
              <a:rPr lang="en-US" altLang="zh-CN" sz="2000" dirty="0" err="1">
                <a:sym typeface="Symbol" panose="05050102010706020507" pitchFamily="18" charset="2"/>
              </a:rPr>
              <a:t></a:t>
            </a:r>
            <a:r>
              <a:rPr lang="en-US" altLang="zh-CN" sz="2000" dirty="0" err="1"/>
              <a:t>B</a:t>
            </a:r>
            <a:r>
              <a:rPr lang="en-US" altLang="zh-CN" sz="2000" dirty="0"/>
              <a:t>}</a:t>
            </a:r>
          </a:p>
          <a:p>
            <a:pPr algn="just">
              <a:lnSpc>
                <a:spcPct val="155000"/>
              </a:lnSpc>
              <a:buFontTx/>
              <a:buNone/>
            </a:pPr>
            <a:r>
              <a:rPr lang="en-US" altLang="zh-CN" sz="2000" dirty="0"/>
              <a:t>A－B={</a:t>
            </a:r>
            <a:r>
              <a:rPr lang="en-US" altLang="zh-CN" sz="2000" dirty="0" err="1"/>
              <a:t>x|x</a:t>
            </a:r>
            <a:r>
              <a:rPr lang="en-US" altLang="zh-CN" sz="2000" dirty="0" err="1">
                <a:sym typeface="Symbol" panose="05050102010706020507" pitchFamily="18" charset="2"/>
              </a:rPr>
              <a:t></a:t>
            </a:r>
            <a:r>
              <a:rPr lang="en-US" altLang="zh-CN" sz="2000" dirty="0" err="1"/>
              <a:t>A</a:t>
            </a:r>
            <a:r>
              <a:rPr lang="zh-CN" altLang="en-US" sz="2000" dirty="0">
                <a:solidFill>
                  <a:srgbClr val="4D4D4D"/>
                </a:solidFill>
                <a:sym typeface="cajcd fnta1" pitchFamily="2" charset="2"/>
              </a:rPr>
              <a:t>∧</a:t>
            </a:r>
            <a:r>
              <a:rPr lang="en-US" altLang="zh-CN" sz="2000" dirty="0" err="1"/>
              <a:t>x</a:t>
            </a:r>
            <a:r>
              <a:rPr lang="en-US" altLang="zh-CN" sz="2000" dirty="0" err="1">
                <a:sym typeface="Symbol" panose="05050102010706020507" pitchFamily="18" charset="2"/>
              </a:rPr>
              <a:t></a:t>
            </a:r>
            <a:r>
              <a:rPr lang="en-US" altLang="zh-CN" sz="2000" dirty="0" err="1"/>
              <a:t>B</a:t>
            </a:r>
            <a:r>
              <a:rPr lang="en-US" altLang="zh-CN" sz="2000" dirty="0"/>
              <a:t>}</a:t>
            </a:r>
          </a:p>
          <a:p>
            <a:pPr algn="just">
              <a:lnSpc>
                <a:spcPct val="155000"/>
              </a:lnSpc>
              <a:buFontTx/>
              <a:buNone/>
            </a:pPr>
            <a:endParaRPr lang="en-US" altLang="zh-CN" sz="2000" dirty="0"/>
          </a:p>
          <a:p>
            <a:pPr algn="just">
              <a:lnSpc>
                <a:spcPct val="155000"/>
              </a:lnSpc>
              <a:buFontTx/>
              <a:buNone/>
            </a:pPr>
            <a:endParaRPr lang="en-US" altLang="zh-CN" sz="2000" dirty="0"/>
          </a:p>
          <a:p>
            <a:pPr algn="just">
              <a:lnSpc>
                <a:spcPct val="155000"/>
              </a:lnSpc>
              <a:buFontTx/>
              <a:buNone/>
            </a:pPr>
            <a:endParaRPr lang="en-US" altLang="zh-CN" sz="2000" dirty="0"/>
          </a:p>
          <a:p>
            <a:pPr algn="just">
              <a:lnSpc>
                <a:spcPct val="155000"/>
              </a:lnSpc>
              <a:buFontTx/>
              <a:buNone/>
            </a:pPr>
            <a:r>
              <a:rPr lang="en-US" altLang="zh-CN" sz="2000" dirty="0"/>
              <a:t>A</a:t>
            </a:r>
            <a:r>
              <a:rPr lang="en-US" altLang="zh-CN" sz="2000" dirty="0">
                <a:sym typeface="Symbol" panose="05050102010706020507" pitchFamily="18" charset="2"/>
              </a:rPr>
              <a:t></a:t>
            </a:r>
            <a:r>
              <a:rPr lang="en-US" altLang="zh-CN" sz="2000" dirty="0"/>
              <a:t>B={x|(</a:t>
            </a:r>
            <a:r>
              <a:rPr lang="en-US" altLang="zh-CN" sz="2000" dirty="0" err="1"/>
              <a:t>x</a:t>
            </a:r>
            <a:r>
              <a:rPr lang="en-US" altLang="zh-CN" sz="2000" dirty="0" err="1">
                <a:sym typeface="Symbol" panose="05050102010706020507" pitchFamily="18" charset="2"/>
              </a:rPr>
              <a:t></a:t>
            </a:r>
            <a:r>
              <a:rPr lang="en-US" altLang="zh-CN" sz="2000" dirty="0" err="1"/>
              <a:t>A</a:t>
            </a:r>
            <a:r>
              <a:rPr lang="zh-CN" altLang="en-US" sz="2000" dirty="0">
                <a:sym typeface="Symbol" panose="05050102010706020507" pitchFamily="18" charset="2"/>
              </a:rPr>
              <a:t></a:t>
            </a:r>
            <a:r>
              <a:rPr lang="en-US" altLang="zh-CN" sz="2000" dirty="0" err="1"/>
              <a:t>x</a:t>
            </a:r>
            <a:r>
              <a:rPr lang="en-US" altLang="zh-CN" sz="2000" dirty="0" err="1">
                <a:sym typeface="Symbol" panose="05050102010706020507" pitchFamily="18" charset="2"/>
              </a:rPr>
              <a:t></a:t>
            </a:r>
            <a:r>
              <a:rPr lang="en-US" altLang="zh-CN" sz="2000" dirty="0" err="1"/>
              <a:t>B</a:t>
            </a:r>
            <a:r>
              <a:rPr lang="en-US" altLang="zh-CN" sz="2000" dirty="0"/>
              <a:t>)</a:t>
            </a:r>
            <a:r>
              <a:rPr lang="zh-CN" altLang="en-US" sz="2000" dirty="0">
                <a:solidFill>
                  <a:srgbClr val="4D4D4D"/>
                </a:solidFill>
                <a:sym typeface="cajcd fnta1" pitchFamily="2" charset="2"/>
              </a:rPr>
              <a:t>∧</a:t>
            </a:r>
            <a:r>
              <a:rPr lang="en-US" altLang="zh-CN" sz="2000" dirty="0" err="1"/>
              <a:t>x</a:t>
            </a:r>
            <a:r>
              <a:rPr lang="en-US" altLang="zh-CN" sz="2000" dirty="0" err="1">
                <a:sym typeface="Symbol" panose="05050102010706020507" pitchFamily="18" charset="2"/>
              </a:rPr>
              <a:t></a:t>
            </a:r>
            <a:r>
              <a:rPr lang="en-US" altLang="zh-CN" sz="2000" dirty="0" err="1"/>
              <a:t>A∩B</a:t>
            </a:r>
            <a:r>
              <a:rPr lang="en-US" altLang="zh-CN" sz="2000" dirty="0"/>
              <a:t>}</a:t>
            </a:r>
          </a:p>
          <a:p>
            <a:pPr algn="just">
              <a:lnSpc>
                <a:spcPct val="155000"/>
              </a:lnSpc>
              <a:buFontTx/>
              <a:buNone/>
            </a:pPr>
            <a:r>
              <a:rPr lang="en-US" altLang="zh-CN" sz="2000" dirty="0"/>
              <a:t>   =(A∪B)-(A∩B)</a:t>
            </a:r>
            <a:endParaRPr lang="zh-CN" altLang="en-US" sz="2400" dirty="0">
              <a:latin typeface="SimSun" panose="02010600030101010101" pitchFamily="2" charset="-122"/>
            </a:endParaRPr>
          </a:p>
          <a:p>
            <a:pPr>
              <a:lnSpc>
                <a:spcPct val="105000"/>
              </a:lnSpc>
              <a:buFontTx/>
              <a:buNone/>
            </a:pPr>
            <a:endParaRPr lang="zh-CN" altLang="en-US" sz="2400" dirty="0">
              <a:solidFill>
                <a:srgbClr val="3333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92CF49-ED00-482D-A936-5A899C9D8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0153" y="1920922"/>
            <a:ext cx="6738388" cy="4203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195000"/>
              </a:lnSpc>
            </a:pPr>
            <a:r>
              <a:rPr lang="zh-CN" altLang="en-US" sz="2000" dirty="0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并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(Union)</a:t>
            </a:r>
          </a:p>
          <a:p>
            <a:pPr>
              <a:lnSpc>
                <a:spcPct val="195000"/>
              </a:lnSpc>
            </a:pPr>
            <a:r>
              <a:rPr lang="zh-CN" altLang="en-US" sz="2000" dirty="0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交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(Intersection),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如果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A∩B=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  <a:sym typeface="Symbol" panose="05050102010706020507" pitchFamily="18" charset="2"/>
              </a:rPr>
              <a:t>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，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称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不相交。</a:t>
            </a:r>
            <a:endParaRPr lang="en-US" altLang="zh-CN" sz="2000" dirty="0">
              <a:solidFill>
                <a:srgbClr val="00000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>
              <a:lnSpc>
                <a:spcPct val="195000"/>
              </a:lnSpc>
            </a:pPr>
            <a:r>
              <a:rPr lang="zh-CN" altLang="en-US" sz="2000" dirty="0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差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(Subtraction)</a:t>
            </a:r>
          </a:p>
          <a:p>
            <a:pPr>
              <a:lnSpc>
                <a:spcPct val="195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称差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U－A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为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对于某</a:t>
            </a:r>
            <a:r>
              <a:rPr lang="zh-CN" altLang="en-US" sz="2000" dirty="0">
                <a:solidFill>
                  <a:schemeClr val="bg1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全集</a:t>
            </a:r>
          </a:p>
          <a:p>
            <a:pPr>
              <a:lnSpc>
                <a:spcPct val="195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U (Universal)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的补集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(Complement Set)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，用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  <a:sym typeface="Symbol" panose="05050102010706020507" pitchFamily="18" charset="2"/>
              </a:rPr>
              <a:t>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来表示。</a:t>
            </a:r>
            <a:r>
              <a:rPr lang="zh-CN" altLang="en-US" sz="2000" dirty="0">
                <a:solidFill>
                  <a:srgbClr val="3333FF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绝对补</a:t>
            </a:r>
            <a:r>
              <a:rPr lang="en-US" altLang="zh-CN" sz="2000" dirty="0">
                <a:solidFill>
                  <a:srgbClr val="CC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solidFill>
                  <a:srgbClr val="3333FF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相对补</a:t>
            </a:r>
          </a:p>
          <a:p>
            <a:pPr>
              <a:lnSpc>
                <a:spcPct val="195000"/>
              </a:lnSpc>
            </a:pPr>
            <a:r>
              <a:rPr lang="zh-CN" altLang="en-US" sz="2000" dirty="0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对称差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(Symmetric Difference)</a:t>
            </a:r>
            <a:endParaRPr lang="zh-CN" altLang="en-US" sz="2000" dirty="0">
              <a:solidFill>
                <a:srgbClr val="3333FF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9868B1A-1B0B-4F17-A4B1-D0D76970ADC4}"/>
              </a:ext>
            </a:extLst>
          </p:cNvPr>
          <p:cNvGrpSpPr>
            <a:grpSpLocks/>
          </p:cNvGrpSpPr>
          <p:nvPr/>
        </p:nvGrpSpPr>
        <p:grpSpPr bwMode="auto">
          <a:xfrm>
            <a:off x="7585555" y="852488"/>
            <a:ext cx="1477963" cy="1527175"/>
            <a:chOff x="0" y="0"/>
            <a:chExt cx="1008" cy="963"/>
          </a:xfrm>
        </p:grpSpPr>
        <p:sp>
          <p:nvSpPr>
            <p:cNvPr id="7" name="椭圆 37893">
              <a:extLst>
                <a:ext uri="{FF2B5EF4-FFF2-40B4-BE49-F238E27FC236}">
                  <a16:creationId xmlns:a16="http://schemas.microsoft.com/office/drawing/2014/main" id="{427BA45F-C785-4524-B0BB-CEDE2D18F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44"/>
              <a:ext cx="480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8" name="椭圆 37894">
              <a:extLst>
                <a:ext uri="{FF2B5EF4-FFF2-40B4-BE49-F238E27FC236}">
                  <a16:creationId xmlns:a16="http://schemas.microsoft.com/office/drawing/2014/main" id="{045D7DEE-8A60-4519-B0E8-9B00B3011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44"/>
              <a:ext cx="480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9" name="矩形 37895">
              <a:extLst>
                <a:ext uri="{FF2B5EF4-FFF2-40B4-BE49-F238E27FC236}">
                  <a16:creationId xmlns:a16="http://schemas.microsoft.com/office/drawing/2014/main" id="{CA76BA74-B6E4-4E6D-ABCC-6F1F4F21B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008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0" name="矩形 37896">
              <a:extLst>
                <a:ext uri="{FF2B5EF4-FFF2-40B4-BE49-F238E27FC236}">
                  <a16:creationId xmlns:a16="http://schemas.microsoft.com/office/drawing/2014/main" id="{37726212-B0E3-4FB1-8B4C-8F5DF95D3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675"/>
              <a:ext cx="4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</a:rPr>
                <a:t>A-</a:t>
              </a:r>
              <a:r>
                <a:rPr lang="en-US" altLang="zh-CN">
                  <a:latin typeface="Arial" panose="020B0604020202020204" pitchFamily="34" charset="0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11" name="直接连接符 37897">
              <a:extLst>
                <a:ext uri="{FF2B5EF4-FFF2-40B4-BE49-F238E27FC236}">
                  <a16:creationId xmlns:a16="http://schemas.microsoft.com/office/drawing/2014/main" id="{CFE05F33-DC3C-4C72-AC99-AE73428F1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33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" name="直接连接符 37898">
              <a:extLst>
                <a:ext uri="{FF2B5EF4-FFF2-40B4-BE49-F238E27FC236}">
                  <a16:creationId xmlns:a16="http://schemas.microsoft.com/office/drawing/2014/main" id="{A56B5A6B-F9E8-4CDA-88CF-B2DFF551B8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3" name="直接连接符 37899">
              <a:extLst>
                <a:ext uri="{FF2B5EF4-FFF2-40B4-BE49-F238E27FC236}">
                  <a16:creationId xmlns:a16="http://schemas.microsoft.com/office/drawing/2014/main" id="{ECF9FF87-22C9-4C9E-BD21-4E413B0567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43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4" name="直接连接符 37900">
              <a:extLst>
                <a:ext uri="{FF2B5EF4-FFF2-40B4-BE49-F238E27FC236}">
                  <a16:creationId xmlns:a16="http://schemas.microsoft.com/office/drawing/2014/main" id="{3E52E4AC-5309-4955-B5D1-E6D773052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5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5" name="直接连接符 37901">
              <a:extLst>
                <a:ext uri="{FF2B5EF4-FFF2-40B4-BE49-F238E27FC236}">
                  <a16:creationId xmlns:a16="http://schemas.microsoft.com/office/drawing/2014/main" id="{6070D14D-E90A-4E39-981A-B336347D2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8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6" name="直接连接符 37902">
              <a:extLst>
                <a:ext uri="{FF2B5EF4-FFF2-40B4-BE49-F238E27FC236}">
                  <a16:creationId xmlns:a16="http://schemas.microsoft.com/office/drawing/2014/main" id="{24EE8A29-5DFA-4347-824F-40E0B316C0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9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7" name="矩形 37903">
              <a:extLst>
                <a:ext uri="{FF2B5EF4-FFF2-40B4-BE49-F238E27FC236}">
                  <a16:creationId xmlns:a16="http://schemas.microsoft.com/office/drawing/2014/main" id="{335903CE-5A83-4527-A887-CF7A0D075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9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</a:rPr>
                <a:t>A</a:t>
              </a:r>
              <a:endParaRPr lang="en-US" altLang="zh-CN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8" name="矩形 37904">
              <a:extLst>
                <a:ext uri="{FF2B5EF4-FFF2-40B4-BE49-F238E27FC236}">
                  <a16:creationId xmlns:a16="http://schemas.microsoft.com/office/drawing/2014/main" id="{7F927A5D-73A3-457E-AF23-39BB04159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4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</a:rPr>
                <a:t>B</a:t>
              </a:r>
              <a:endParaRPr lang="en-US" altLang="zh-CN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5E5FDEE-0B62-47F7-81E9-C4C6484A1DC4}"/>
              </a:ext>
            </a:extLst>
          </p:cNvPr>
          <p:cNvGrpSpPr>
            <a:grpSpLocks/>
          </p:cNvGrpSpPr>
          <p:nvPr/>
        </p:nvGrpSpPr>
        <p:grpSpPr bwMode="auto">
          <a:xfrm>
            <a:off x="7550365" y="845079"/>
            <a:ext cx="1477963" cy="1524000"/>
            <a:chOff x="0" y="0"/>
            <a:chExt cx="1008" cy="960"/>
          </a:xfrm>
        </p:grpSpPr>
        <p:sp>
          <p:nvSpPr>
            <p:cNvPr id="20" name="椭圆 37906">
              <a:extLst>
                <a:ext uri="{FF2B5EF4-FFF2-40B4-BE49-F238E27FC236}">
                  <a16:creationId xmlns:a16="http://schemas.microsoft.com/office/drawing/2014/main" id="{CFC59CC1-AF41-4C7B-8DEF-F6E2EF845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44"/>
              <a:ext cx="480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21" name="椭圆 37907">
              <a:extLst>
                <a:ext uri="{FF2B5EF4-FFF2-40B4-BE49-F238E27FC236}">
                  <a16:creationId xmlns:a16="http://schemas.microsoft.com/office/drawing/2014/main" id="{EB0DB83D-6BF5-4F8B-A832-9BFDB4182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44"/>
              <a:ext cx="480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22" name="矩形 37908">
              <a:extLst>
                <a:ext uri="{FF2B5EF4-FFF2-40B4-BE49-F238E27FC236}">
                  <a16:creationId xmlns:a16="http://schemas.microsoft.com/office/drawing/2014/main" id="{762CF1CD-7E83-4F36-9CDC-1521188B2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008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23" name="矩形 37909">
              <a:extLst>
                <a:ext uri="{FF2B5EF4-FFF2-40B4-BE49-F238E27FC236}">
                  <a16:creationId xmlns:a16="http://schemas.microsoft.com/office/drawing/2014/main" id="{651FB42A-8493-4867-B937-D8F3710E1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" y="672"/>
              <a:ext cx="5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</a:rPr>
                <a:t>A</a:t>
              </a:r>
              <a:r>
                <a:rPr lang="en-US" altLang="zh-CN">
                  <a:latin typeface="Arial" panose="020B0604020202020204" pitchFamily="34" charset="0"/>
                  <a:sym typeface="Symbol" panose="05050102010706020507" pitchFamily="18" charset="2"/>
                </a:rPr>
                <a:t>B</a:t>
              </a:r>
            </a:p>
          </p:txBody>
        </p:sp>
        <p:sp>
          <p:nvSpPr>
            <p:cNvPr id="24" name="直接连接符 37910">
              <a:extLst>
                <a:ext uri="{FF2B5EF4-FFF2-40B4-BE49-F238E27FC236}">
                  <a16:creationId xmlns:a16="http://schemas.microsoft.com/office/drawing/2014/main" id="{74BCE90D-4E11-4ACA-B66B-35403F9E94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33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25" name="直接连接符 37911">
              <a:extLst>
                <a:ext uri="{FF2B5EF4-FFF2-40B4-BE49-F238E27FC236}">
                  <a16:creationId xmlns:a16="http://schemas.microsoft.com/office/drawing/2014/main" id="{8F59556D-79EB-4A81-BDA9-BA6EF6148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43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26" name="直接连接符 37912">
              <a:extLst>
                <a:ext uri="{FF2B5EF4-FFF2-40B4-BE49-F238E27FC236}">
                  <a16:creationId xmlns:a16="http://schemas.microsoft.com/office/drawing/2014/main" id="{8D67321D-7CA4-47E0-B964-6C9E517BF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27" name="直接连接符 37913">
              <a:extLst>
                <a:ext uri="{FF2B5EF4-FFF2-40B4-BE49-F238E27FC236}">
                  <a16:creationId xmlns:a16="http://schemas.microsoft.com/office/drawing/2014/main" id="{8BDD200F-8F39-4322-AD6C-6465C1131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5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28" name="直接连接符 37914">
              <a:extLst>
                <a:ext uri="{FF2B5EF4-FFF2-40B4-BE49-F238E27FC236}">
                  <a16:creationId xmlns:a16="http://schemas.microsoft.com/office/drawing/2014/main" id="{F5D02778-3B8B-4203-82CD-115A271345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5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29" name="直接连接符 37915">
              <a:extLst>
                <a:ext uri="{FF2B5EF4-FFF2-40B4-BE49-F238E27FC236}">
                  <a16:creationId xmlns:a16="http://schemas.microsoft.com/office/drawing/2014/main" id="{25D6829D-187E-4721-AC08-A5003E4D58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43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30" name="直接连接符 37916">
              <a:extLst>
                <a:ext uri="{FF2B5EF4-FFF2-40B4-BE49-F238E27FC236}">
                  <a16:creationId xmlns:a16="http://schemas.microsoft.com/office/drawing/2014/main" id="{C8F22B2F-D33B-4E9F-83F4-70E5A8702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3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31" name="直接连接符 37917">
              <a:extLst>
                <a:ext uri="{FF2B5EF4-FFF2-40B4-BE49-F238E27FC236}">
                  <a16:creationId xmlns:a16="http://schemas.microsoft.com/office/drawing/2014/main" id="{CF944DAE-9D82-4EEA-8B32-9F70B8E441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4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32" name="矩形 37918">
              <a:extLst>
                <a:ext uri="{FF2B5EF4-FFF2-40B4-BE49-F238E27FC236}">
                  <a16:creationId xmlns:a16="http://schemas.microsoft.com/office/drawing/2014/main" id="{BE32CC5B-1647-49DF-A371-9B798DE3D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9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</a:rPr>
                <a:t>A</a:t>
              </a:r>
              <a:endParaRPr lang="en-US" altLang="zh-CN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33" name="矩形 37919">
              <a:extLst>
                <a:ext uri="{FF2B5EF4-FFF2-40B4-BE49-F238E27FC236}">
                  <a16:creationId xmlns:a16="http://schemas.microsoft.com/office/drawing/2014/main" id="{37220CDA-F98F-4789-9EAC-D4A524067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9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</a:rPr>
                <a:t>B</a:t>
              </a:r>
              <a:endParaRPr lang="en-US" altLang="zh-CN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2" name="文本框 2">
            <a:extLst>
              <a:ext uri="{FF2B5EF4-FFF2-40B4-BE49-F238E27FC236}">
                <a16:creationId xmlns:a16="http://schemas.microsoft.com/office/drawing/2014/main" id="{66741F0F-ACFB-D7B1-4203-3ACAC9F35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8332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04A5442B-6FD1-49DF-84FC-9987EC005F0A}"/>
              </a:ext>
            </a:extLst>
          </p:cNvPr>
          <p:cNvSpPr txBox="1">
            <a:spLocks noChangeArrowheads="1"/>
          </p:cNvSpPr>
          <p:nvPr/>
        </p:nvSpPr>
        <p:spPr>
          <a:xfrm>
            <a:off x="3763526" y="1275958"/>
            <a:ext cx="4965700" cy="7318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A</a:t>
            </a:r>
            <a:r>
              <a:rPr lang="en-US" altLang="zh-CN" baseline="-30000" dirty="0"/>
              <a:t>1</a:t>
            </a:r>
            <a:r>
              <a:rPr lang="en-US" altLang="zh-CN" dirty="0"/>
              <a:t>∪A</a:t>
            </a:r>
            <a:r>
              <a:rPr lang="en-US" altLang="zh-CN" baseline="-30000" dirty="0"/>
              <a:t>2</a:t>
            </a:r>
            <a:r>
              <a:rPr lang="en-US" altLang="zh-CN" dirty="0"/>
              <a:t>∪A</a:t>
            </a:r>
            <a:r>
              <a:rPr lang="en-US" altLang="zh-CN" baseline="-30000" dirty="0"/>
              <a:t>3</a:t>
            </a:r>
            <a:r>
              <a:rPr lang="en-US" altLang="zh-CN" dirty="0"/>
              <a:t>∪</a:t>
            </a:r>
            <a:r>
              <a:rPr lang="en-US" altLang="zh-CN" dirty="0">
                <a:latin typeface="宋体" panose="02010600030101010101" pitchFamily="2" charset="-122"/>
              </a:rPr>
              <a:t>……</a:t>
            </a:r>
            <a:r>
              <a:rPr lang="en-US" altLang="zh-CN" dirty="0"/>
              <a:t>∪A</a:t>
            </a:r>
            <a:r>
              <a:rPr lang="en-US" altLang="zh-CN" baseline="-30000" dirty="0"/>
              <a:t>n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73D58113-443C-4788-9D9D-5D30BCA813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6663" y="1058461"/>
          <a:ext cx="1404938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40" imgH="380880" progId="Equation.DSMT4">
                  <p:embed/>
                </p:oleObj>
              </mc:Choice>
              <mc:Fallback>
                <p:oleObj name="Equation" r:id="rId4" imgW="431640" imgH="380880" progId="Equation.DSMT4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73D58113-443C-4788-9D9D-5D30BCA813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6663" y="1058461"/>
                        <a:ext cx="1404938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9A7DE5B8-1599-4959-B856-EBFC48BE9E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9201" y="2322120"/>
          <a:ext cx="2828925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393480" progId="Equation.3">
                  <p:embed/>
                </p:oleObj>
              </mc:Choice>
              <mc:Fallback>
                <p:oleObj name="Equation" r:id="rId6" imgW="1130040" imgH="393480" progId="Equation.3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9A7DE5B8-1599-4959-B856-EBFC48BE9E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201" y="2322120"/>
                        <a:ext cx="2828925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5E87F5E8-414C-418B-88A0-8A36E5408B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363" y="4368408"/>
          <a:ext cx="22225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8840" imgH="393480" progId="Equation.3">
                  <p:embed/>
                </p:oleObj>
              </mc:Choice>
              <mc:Fallback>
                <p:oleObj name="Equation" r:id="rId8" imgW="888840" imgH="393480" progId="Equation.3">
                  <p:embed/>
                  <p:pic>
                    <p:nvPicPr>
                      <p:cNvPr id="8" name="Object 6">
                        <a:extLst>
                          <a:ext uri="{FF2B5EF4-FFF2-40B4-BE49-F238E27FC236}">
                            <a16:creationId xmlns:a16="http://schemas.microsoft.com/office/drawing/2014/main" id="{5E87F5E8-414C-418B-88A0-8A36E5408B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363" y="4368408"/>
                        <a:ext cx="22225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839173AC-3E7F-4589-AB95-D082B45377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363" y="5332020"/>
          <a:ext cx="22225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88840" imgH="393480" progId="Equation.3">
                  <p:embed/>
                </p:oleObj>
              </mc:Choice>
              <mc:Fallback>
                <p:oleObj name="Equation" r:id="rId10" imgW="888840" imgH="393480" progId="Equation.3">
                  <p:embed/>
                  <p:pic>
                    <p:nvPicPr>
                      <p:cNvPr id="9" name="Object 7">
                        <a:extLst>
                          <a:ext uri="{FF2B5EF4-FFF2-40B4-BE49-F238E27FC236}">
                            <a16:creationId xmlns:a16="http://schemas.microsoft.com/office/drawing/2014/main" id="{839173AC-3E7F-4589-AB95-D082B45377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363" y="5332020"/>
                        <a:ext cx="22225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>
            <a:extLst>
              <a:ext uri="{FF2B5EF4-FFF2-40B4-BE49-F238E27FC236}">
                <a16:creationId xmlns:a16="http://schemas.microsoft.com/office/drawing/2014/main" id="{5FE9E2D1-0608-4D75-A306-CD23C1D08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676" y="1860158"/>
            <a:ext cx="6265862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</a:rPr>
              <a:t>={x|(x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000" baseline="-300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300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</a:rPr>
              <a:t>(x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000" baseline="-300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300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3000">
                <a:ea typeface="黑体" panose="02010609060101010101" pitchFamily="49" charset="-122"/>
              </a:rPr>
              <a:t>……</a:t>
            </a:r>
            <a:r>
              <a:rPr lang="zh-CN" altLang="en-US" sz="300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</a:rPr>
              <a:t>(x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000" baseline="-3000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</a:rPr>
              <a:t>)}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EFAA30EF-AFD8-43FE-8D1F-AB5B4D66E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088" y="2499920"/>
            <a:ext cx="42672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∩A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∩A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∩</a:t>
            </a:r>
            <a:r>
              <a:rPr lang="en-US" altLang="zh-CN" sz="2800">
                <a:ea typeface="黑体" panose="02010609060101010101" pitchFamily="49" charset="-122"/>
              </a:rPr>
              <a:t>……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∩A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3B6AB703-D8C1-4CB0-9493-D2E3B3657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488" y="3312720"/>
            <a:ext cx="68580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{x|(x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(x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sz="2800">
                <a:ea typeface="黑体" panose="02010609060101010101" pitchFamily="49" charset="-122"/>
              </a:rPr>
              <a:t>……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(x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)}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1ACF83A0-5450-4169-BEAD-21F3483CF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388" y="3877870"/>
            <a:ext cx="78486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无限增大时，可以记为：</a:t>
            </a: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EEC3294A-730A-41BB-ACE8-F434D2C09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8688" y="4557320"/>
            <a:ext cx="32004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∪A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∪A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∪</a:t>
            </a:r>
            <a:r>
              <a:rPr lang="en-US" altLang="zh-CN" sz="2800">
                <a:ea typeface="黑体" panose="02010609060101010101" pitchFamily="49" charset="-122"/>
              </a:rPr>
              <a:t>…</a:t>
            </a: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5E2DFEA1-266B-46F4-8FCC-94A9BF8E4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488" y="5547920"/>
            <a:ext cx="35814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∩A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∩A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∩</a:t>
            </a:r>
            <a:r>
              <a:rPr lang="en-US" altLang="zh-CN" sz="2800">
                <a:ea typeface="黑体" panose="02010609060101010101" pitchFamily="49" charset="-122"/>
              </a:rPr>
              <a:t>…</a:t>
            </a: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1F4C49C1-F660-5E5E-6742-A167E1308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021786"/>
      </p:ext>
    </p:extLst>
  </p:cSld>
  <p:clrMapOvr>
    <a:masterClrMapping/>
  </p:clrMapOvr>
  <p:transition spd="slow" advTm="0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7BF7E43-AF43-4E98-A703-5203C06CCDEC}"/>
              </a:ext>
            </a:extLst>
          </p:cNvPr>
          <p:cNvSpPr/>
          <p:nvPr/>
        </p:nvSpPr>
        <p:spPr>
          <a:xfrm>
            <a:off x="2640138" y="1201909"/>
            <a:ext cx="6096000" cy="46924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5000"/>
              </a:lnSpc>
              <a:buFontTx/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设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A，B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和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C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为任意三个集合，则有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 (1)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A∪B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且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A∪B；		 (2)A∩B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且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A∩B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B；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 (3)A－B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A；		             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 (4)A－B＝A∩B’；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 (5)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若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B，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则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B’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A’；		 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(6)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若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C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且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C，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则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A∪B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C；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 (7)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若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且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C，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则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B∩C。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28ACF2-CEA9-529C-6D27-893AC180D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822937"/>
      </p:ext>
    </p:extLst>
  </p:cSld>
  <p:clrMapOvr>
    <a:masterClrMapping/>
  </p:clrMapOvr>
  <p:transition spd="slow" advTm="0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913C4AE-EA53-45A2-8F12-325DB28C45AC}"/>
              </a:ext>
            </a:extLst>
          </p:cNvPr>
          <p:cNvSpPr/>
          <p:nvPr/>
        </p:nvSpPr>
        <p:spPr>
          <a:xfrm>
            <a:off x="2534883" y="975514"/>
            <a:ext cx="7819546" cy="12022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FontTx/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设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A，B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为任意两个集合，则以下条件互相等价：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  (1)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B；  (2)A∪B＝B； (3)A∩B＝A</a:t>
            </a:r>
            <a:endParaRPr lang="zh-CN" altLang="en-US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B6A9D2-1304-4E39-98C6-995C07ACC53F}"/>
              </a:ext>
            </a:extLst>
          </p:cNvPr>
          <p:cNvSpPr/>
          <p:nvPr/>
        </p:nvSpPr>
        <p:spPr>
          <a:xfrm>
            <a:off x="2449365" y="2415092"/>
            <a:ext cx="7030134" cy="319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altLang="zh-CN" sz="2800" dirty="0">
                <a:solidFill>
                  <a:srgbClr val="000000"/>
                </a:solidFill>
              </a:rPr>
              <a:t>(1)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solidFill>
                  <a:srgbClr val="000000"/>
                </a:solidFill>
              </a:rPr>
              <a:t>(2)</a:t>
            </a:r>
            <a:r>
              <a:rPr lang="zh-CN" altLang="en-US" sz="2800" dirty="0">
                <a:solidFill>
                  <a:srgbClr val="000000"/>
                </a:solidFill>
              </a:rPr>
              <a:t>：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 algn="just">
              <a:lnSpc>
                <a:spcPct val="90000"/>
              </a:lnSpc>
            </a:pPr>
            <a:r>
              <a:rPr lang="en-US" altLang="zh-CN" sz="2800" dirty="0">
                <a:solidFill>
                  <a:srgbClr val="000000"/>
                </a:solidFill>
              </a:rPr>
              <a:t> B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A∪B</a:t>
            </a:r>
            <a:r>
              <a:rPr lang="zh-CN" altLang="en-US" sz="2800" dirty="0">
                <a:solidFill>
                  <a:srgbClr val="000000"/>
                </a:solidFill>
              </a:rPr>
              <a:t>；</a:t>
            </a:r>
            <a:endParaRPr lang="zh-CN" altLang="en-US" sz="2800" dirty="0"/>
          </a:p>
          <a:p>
            <a:pPr algn="just">
              <a:lnSpc>
                <a:spcPct val="90000"/>
              </a:lnSpc>
            </a:pPr>
            <a:r>
              <a:rPr lang="zh-CN" altLang="en-US" sz="2800" dirty="0">
                <a:solidFill>
                  <a:srgbClr val="000000"/>
                </a:solidFill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zh-CN" altLang="en-US" sz="2800" dirty="0">
                <a:solidFill>
                  <a:srgbClr val="000000"/>
                </a:solidFill>
              </a:rPr>
              <a:t>，又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zh-CN" altLang="en-US" sz="2800" dirty="0">
                <a:solidFill>
                  <a:srgbClr val="000000"/>
                </a:solidFill>
              </a:rPr>
              <a:t>，</a:t>
            </a:r>
            <a:r>
              <a:rPr lang="zh-CN" altLang="en-US" sz="2800" dirty="0"/>
              <a:t>得到    </a:t>
            </a:r>
            <a:r>
              <a:rPr lang="en-US" altLang="zh-CN" sz="2800" dirty="0">
                <a:solidFill>
                  <a:srgbClr val="000000"/>
                </a:solidFill>
              </a:rPr>
              <a:t>A∪B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B </a:t>
            </a:r>
            <a:r>
              <a:rPr lang="zh-CN" altLang="en-US" sz="2800" dirty="0">
                <a:solidFill>
                  <a:srgbClr val="000000"/>
                </a:solidFill>
              </a:rPr>
              <a:t>；</a:t>
            </a:r>
            <a:endParaRPr lang="zh-CN" altLang="en-US" sz="2800" dirty="0"/>
          </a:p>
          <a:p>
            <a:pPr algn="just">
              <a:lnSpc>
                <a:spcPct val="90000"/>
              </a:lnSpc>
            </a:pPr>
            <a:r>
              <a:rPr lang="zh-CN" altLang="en-US" sz="2800" dirty="0">
                <a:solidFill>
                  <a:srgbClr val="000000"/>
                </a:solidFill>
              </a:rPr>
              <a:t>              </a:t>
            </a:r>
            <a:r>
              <a:rPr lang="en-US" altLang="zh-CN" sz="2800" dirty="0">
                <a:solidFill>
                  <a:srgbClr val="000000"/>
                </a:solidFill>
              </a:rPr>
              <a:t>A∪B=B  </a:t>
            </a:r>
            <a:r>
              <a:rPr lang="zh-CN" altLang="en-US" sz="2800" dirty="0">
                <a:solidFill>
                  <a:srgbClr val="000000"/>
                </a:solidFill>
              </a:rPr>
              <a:t>。</a:t>
            </a:r>
            <a:endParaRPr lang="zh-CN" altLang="en-US" sz="2800" dirty="0"/>
          </a:p>
          <a:p>
            <a:pPr algn="just">
              <a:lnSpc>
                <a:spcPct val="90000"/>
              </a:lnSpc>
            </a:pPr>
            <a:r>
              <a:rPr lang="zh-CN" altLang="en-US" sz="2800" dirty="0">
                <a:solidFill>
                  <a:srgbClr val="000000"/>
                </a:solidFill>
              </a:rPr>
              <a:t>     </a:t>
            </a:r>
            <a:r>
              <a:rPr lang="en-US" altLang="zh-CN" sz="2800" dirty="0">
                <a:solidFill>
                  <a:srgbClr val="000000"/>
                </a:solidFill>
              </a:rPr>
              <a:t>(2)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solidFill>
                  <a:srgbClr val="000000"/>
                </a:solidFill>
              </a:rPr>
              <a:t>(3)</a:t>
            </a:r>
            <a:r>
              <a:rPr lang="zh-CN" altLang="en-US" sz="2800" dirty="0">
                <a:solidFill>
                  <a:srgbClr val="000000"/>
                </a:solidFill>
              </a:rPr>
              <a:t>：</a:t>
            </a:r>
            <a:endParaRPr lang="en-US" altLang="zh-CN" sz="2800" dirty="0"/>
          </a:p>
          <a:p>
            <a:pPr algn="just">
              <a:lnSpc>
                <a:spcPct val="90000"/>
              </a:lnSpc>
            </a:pPr>
            <a:r>
              <a:rPr lang="en-US" altLang="zh-CN" sz="2800" dirty="0">
                <a:solidFill>
                  <a:srgbClr val="000000"/>
                </a:solidFill>
              </a:rPr>
              <a:t>         A∩B=A∩(A∪B) =A</a:t>
            </a:r>
            <a:endParaRPr lang="en-US" altLang="zh-CN" sz="2800" dirty="0"/>
          </a:p>
          <a:p>
            <a:pPr algn="just">
              <a:lnSpc>
                <a:spcPct val="90000"/>
              </a:lnSpc>
            </a:pPr>
            <a:r>
              <a:rPr lang="zh-CN" altLang="en-US" sz="2800" dirty="0">
                <a:solidFill>
                  <a:srgbClr val="000000"/>
                </a:solidFill>
              </a:rPr>
              <a:t>     </a:t>
            </a:r>
            <a:r>
              <a:rPr lang="en-US" altLang="zh-CN" sz="2800" dirty="0">
                <a:solidFill>
                  <a:srgbClr val="000000"/>
                </a:solidFill>
              </a:rPr>
              <a:t>(3)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solidFill>
                  <a:srgbClr val="000000"/>
                </a:solidFill>
              </a:rPr>
              <a:t>(1)</a:t>
            </a:r>
            <a:r>
              <a:rPr lang="zh-CN" altLang="en-US" sz="2800" dirty="0">
                <a:solidFill>
                  <a:srgbClr val="000000"/>
                </a:solidFill>
              </a:rPr>
              <a:t>：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 algn="just">
              <a:lnSpc>
                <a:spcPct val="90000"/>
              </a:lnSpc>
            </a:pPr>
            <a:r>
              <a:rPr lang="en-US" altLang="zh-CN" sz="2800" dirty="0">
                <a:solidFill>
                  <a:srgbClr val="000000"/>
                </a:solidFill>
              </a:rPr>
              <a:t>        A= A∩B  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F8CCB053-EAEF-A0E7-B319-50409BCB3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40141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48130">
            <a:extLst>
              <a:ext uri="{FF2B5EF4-FFF2-40B4-BE49-F238E27FC236}">
                <a16:creationId xmlns:a16="http://schemas.microsoft.com/office/drawing/2014/main" id="{49F4778A-7ABC-4B8E-91C1-218E97711BB7}"/>
              </a:ext>
            </a:extLst>
          </p:cNvPr>
          <p:cNvSpPr txBox="1">
            <a:spLocks noChangeArrowheads="1"/>
          </p:cNvSpPr>
          <p:nvPr/>
        </p:nvSpPr>
        <p:spPr>
          <a:xfrm>
            <a:off x="1898581" y="931623"/>
            <a:ext cx="4589463" cy="43957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A、B、C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是全集合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的任意子集，有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170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等幂律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      A∪A＝A， A∩A＝A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170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结合律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</a:rPr>
              <a:t>     (</a:t>
            </a: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A∪B)∪C＝A∪(B∪C)， 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     (A∩B)∩C＝A∩(B∩C) 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en-US" sz="170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交换律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    A∪B＝B∪A， A∩B＝B∩A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lang="zh-CN" altLang="en-US" sz="170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分配律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    A∪(B∩C)＝(A∪B)∩(A∪C)， 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    A∩(B∪C)＝(A∩B)∪(A∩C)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</a:rPr>
              <a:t>(5)</a:t>
            </a:r>
            <a:r>
              <a:rPr lang="zh-CN" altLang="en-US" sz="170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同一律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    A∪</a:t>
            </a: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</a:t>
            </a: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＝A， A∩U＝A 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F4E2A6-3FF8-439D-977D-1B09AF18E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3568" y="1178531"/>
            <a:ext cx="4505325" cy="439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20000"/>
              </a:spcBef>
            </a:pPr>
            <a:endParaRPr lang="zh-CN" altLang="en-US" sz="1700" b="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zh-CN" altLang="en-US" sz="17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(6)</a:t>
            </a:r>
            <a:r>
              <a:rPr lang="zh-CN" altLang="en-US" sz="1700" b="0" dirty="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零一律</a:t>
            </a: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    A∪U＝U， A∩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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＝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</a:t>
            </a: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 (7)</a:t>
            </a:r>
            <a:r>
              <a:rPr lang="zh-CN" altLang="en-US" sz="1700" b="0" dirty="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互补律</a:t>
            </a: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    A∪A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＝U， A∩A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＝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</a:t>
            </a:r>
            <a:endParaRPr lang="en-US" altLang="zh-CN" sz="1700" b="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 (8)</a:t>
            </a:r>
            <a:r>
              <a:rPr lang="zh-CN" altLang="en-US" sz="1700" b="0" dirty="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吸收律</a:t>
            </a: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    A∪(A∩B)＝A， A∩(A∪B)＝A</a:t>
            </a: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 (9)</a:t>
            </a:r>
            <a:r>
              <a:rPr lang="zh-CN" altLang="en-US" sz="1700" b="0" dirty="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德摩根律</a:t>
            </a: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zh-CN" altLang="en-US" sz="17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(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A∪B)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＝A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∩B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， (A∩B)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＝A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∪B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endParaRPr lang="en-US" altLang="zh-CN" sz="1700" b="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    U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＝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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， 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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＝U</a:t>
            </a: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 (10)</a:t>
            </a:r>
            <a:r>
              <a:rPr lang="zh-CN" altLang="en-US" sz="1700" b="0" dirty="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对合律</a:t>
            </a: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zh-CN" altLang="en-US" sz="17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(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A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)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＝A</a:t>
            </a:r>
          </a:p>
          <a:p>
            <a:pPr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zh-CN" altLang="en-US" sz="1700" b="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FCDA3782-AADE-77E5-901F-785A8FDCE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898174"/>
      </p:ext>
    </p:extLst>
  </p:cSld>
  <p:clrMapOvr>
    <a:masterClrMapping/>
  </p:clrMapOvr>
  <p:transition spd="slow" advTm="0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50178">
            <a:extLst>
              <a:ext uri="{FF2B5EF4-FFF2-40B4-BE49-F238E27FC236}">
                <a16:creationId xmlns:a16="http://schemas.microsoft.com/office/drawing/2014/main" id="{CB8B0FA8-C5D2-4728-A7A4-6304C7591AC0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1363377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>
                <a:solidFill>
                  <a:srgbClr val="CC0000"/>
                </a:solidFill>
                <a:latin typeface="+mn-ea"/>
              </a:rPr>
              <a:t>集合等式的证明</a:t>
            </a:r>
          </a:p>
          <a:p>
            <a:pPr>
              <a:buFontTx/>
              <a:buNone/>
            </a:pPr>
            <a:endParaRPr lang="zh-CN" altLang="en-US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逻辑演算法</a:t>
            </a:r>
            <a:r>
              <a:rPr lang="en-US" altLang="zh-CN" dirty="0">
                <a:latin typeface="+mn-ea"/>
              </a:rPr>
              <a:t>: </a:t>
            </a:r>
            <a:r>
              <a:rPr lang="zh-CN" altLang="en-US" dirty="0">
                <a:latin typeface="+mn-ea"/>
              </a:rPr>
              <a:t>利用逻辑等值式和推理规则</a:t>
            </a:r>
          </a:p>
          <a:p>
            <a:endParaRPr lang="zh-CN" altLang="en-US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集合演算法</a:t>
            </a:r>
            <a:r>
              <a:rPr lang="en-US" altLang="zh-CN" dirty="0">
                <a:latin typeface="+mn-ea"/>
              </a:rPr>
              <a:t>: </a:t>
            </a:r>
            <a:r>
              <a:rPr lang="zh-CN" altLang="en-US" dirty="0">
                <a:latin typeface="+mn-ea"/>
              </a:rPr>
              <a:t>利用集合恒等式和已知结论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8406D02D-8AC8-27D1-000D-53B767ADD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409310"/>
      </p:ext>
    </p:extLst>
  </p:cSld>
  <p:clrMapOvr>
    <a:masterClrMapping/>
  </p:clrMapOvr>
  <p:transition spd="slow" advTm="0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51202">
            <a:extLst>
              <a:ext uri="{FF2B5EF4-FFF2-40B4-BE49-F238E27FC236}">
                <a16:creationId xmlns:a16="http://schemas.microsoft.com/office/drawing/2014/main" id="{D93147EB-35A5-4121-92B8-7E486665A46C}"/>
              </a:ext>
            </a:extLst>
          </p:cNvPr>
          <p:cNvSpPr txBox="1">
            <a:spLocks noChangeArrowheads="1"/>
          </p:cNvSpPr>
          <p:nvPr/>
        </p:nvSpPr>
        <p:spPr>
          <a:xfrm>
            <a:off x="1879052" y="1455738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逻辑演算法</a:t>
            </a:r>
          </a:p>
        </p:txBody>
      </p:sp>
      <p:sp>
        <p:nvSpPr>
          <p:cNvPr id="5" name="矩形 51203">
            <a:extLst>
              <a:ext uri="{FF2B5EF4-FFF2-40B4-BE49-F238E27FC236}">
                <a16:creationId xmlns:a16="http://schemas.microsoft.com/office/drawing/2014/main" id="{394F2BA6-2D8A-4DBE-A656-0772151E9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218" y="2271714"/>
            <a:ext cx="3516313" cy="370998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5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题目: 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A=B.     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5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证明: 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x,  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  </a:t>
            </a:r>
            <a:r>
              <a:rPr lang="en-US" altLang="zh-CN" sz="25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x</a:t>
            </a:r>
            <a:r>
              <a:rPr lang="en-US" altLang="zh-CN" sz="25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A</a:t>
            </a:r>
            <a:endParaRPr lang="en-US" altLang="zh-CN" sz="25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   …     (????</a:t>
            </a:r>
            <a:r>
              <a:rPr lang="zh-CN" altLang="en-US" sz="25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   </a:t>
            </a:r>
            <a:r>
              <a:rPr lang="en-US" altLang="zh-CN" sz="25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x</a:t>
            </a:r>
            <a:r>
              <a:rPr lang="en-US" altLang="zh-CN" sz="25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</a:rPr>
              <a:t>  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</a:rPr>
              <a:t>      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 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</a:rPr>
              <a:t>A=B. </a:t>
            </a:r>
            <a:endParaRPr lang="zh-CN" altLang="en-US" sz="250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" name="矩形 51204">
            <a:extLst>
              <a:ext uri="{FF2B5EF4-FFF2-40B4-BE49-F238E27FC236}">
                <a16:creationId xmlns:a16="http://schemas.microsoft.com/office/drawing/2014/main" id="{689C98E8-0102-4936-A8FC-30393B6C5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166" y="2271714"/>
            <a:ext cx="3516312" cy="370998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5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题目: 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zh-CN" altLang="en-US" sz="25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B.     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5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证明: 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x,  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  </a:t>
            </a:r>
            <a:r>
              <a:rPr lang="en-US" altLang="zh-CN" sz="25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x</a:t>
            </a:r>
            <a:r>
              <a:rPr lang="en-US" altLang="zh-CN" sz="25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A</a:t>
            </a:r>
            <a:endParaRPr lang="en-US" altLang="zh-CN" sz="25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  </a:t>
            </a:r>
            <a:r>
              <a:rPr lang="zh-CN" altLang="en-US" sz="25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…     (????</a:t>
            </a:r>
            <a:r>
              <a:rPr lang="zh-CN" altLang="en-US" sz="25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  </a:t>
            </a:r>
            <a:r>
              <a:rPr lang="zh-CN" altLang="en-US" sz="25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altLang="zh-CN" sz="25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x</a:t>
            </a:r>
            <a:r>
              <a:rPr lang="en-US" altLang="zh-CN" sz="25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</a:rPr>
              <a:t>  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</a:rPr>
              <a:t>      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 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</a:rPr>
              <a:t>A</a:t>
            </a:r>
            <a:r>
              <a:rPr lang="zh-CN" altLang="en-US" sz="25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</a:rPr>
              <a:t>B.</a:t>
            </a:r>
            <a:r>
              <a:rPr lang="en-US" altLang="zh-CN" dirty="0">
                <a:solidFill>
                  <a:srgbClr val="000000"/>
                </a:solidFill>
                <a:latin typeface="Comic Sans MS" panose="030F0702030302020204" pitchFamily="66" charset="0"/>
              </a:rPr>
              <a:t>   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E68D5D29-AEB2-C218-4E4A-606D2B394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426332"/>
      </p:ext>
    </p:extLst>
  </p:cSld>
  <p:clrMapOvr>
    <a:masterClrMapping/>
  </p:clrMapOvr>
  <p:transition spd="slow" advTm="0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52226">
            <a:extLst>
              <a:ext uri="{FF2B5EF4-FFF2-40B4-BE49-F238E27FC236}">
                <a16:creationId xmlns:a16="http://schemas.microsoft.com/office/drawing/2014/main" id="{9D47ACBE-B9A1-4726-A71A-AD4FE050D911}"/>
              </a:ext>
            </a:extLst>
          </p:cNvPr>
          <p:cNvSpPr txBox="1">
            <a:spLocks noChangeArrowheads="1"/>
          </p:cNvSpPr>
          <p:nvPr/>
        </p:nvSpPr>
        <p:spPr>
          <a:xfrm>
            <a:off x="1951414" y="956508"/>
            <a:ext cx="8382000" cy="45402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buFontTx/>
              <a:buNone/>
            </a:pPr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示例 </a:t>
            </a:r>
          </a:p>
          <a:p>
            <a:pPr>
              <a:lnSpc>
                <a:spcPct val="105000"/>
              </a:lnSpc>
              <a:buFontTx/>
              <a:buNone/>
            </a:pP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试证明分配律：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C)=(A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</a:p>
          <a:p>
            <a:pPr>
              <a:lnSpc>
                <a:spcPct val="105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证明: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x,  </a:t>
            </a:r>
          </a:p>
          <a:p>
            <a:pPr>
              <a:lnSpc>
                <a:spcPct val="105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x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</a:p>
          <a:p>
            <a:pPr>
              <a:lnSpc>
                <a:spcPct val="105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xA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x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              	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05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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xA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x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x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	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05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 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xAx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xAx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	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命题逻辑分配律)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05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 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xA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xA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	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05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 x(A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 (A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            	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05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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C)=(A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</a:p>
          <a:p>
            <a:pPr>
              <a:lnSpc>
                <a:spcPct val="105000"/>
              </a:lnSpc>
              <a:buFontTx/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0199A4AA-2819-BCD7-7EEB-9CC17031F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68647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53250">
            <a:extLst>
              <a:ext uri="{FF2B5EF4-FFF2-40B4-BE49-F238E27FC236}">
                <a16:creationId xmlns:a16="http://schemas.microsoft.com/office/drawing/2014/main" id="{1EA93BD3-935F-4A66-9916-D865798F5C05}"/>
              </a:ext>
            </a:extLst>
          </p:cNvPr>
          <p:cNvSpPr txBox="1">
            <a:spLocks noChangeArrowheads="1"/>
          </p:cNvSpPr>
          <p:nvPr/>
        </p:nvSpPr>
        <p:spPr>
          <a:xfrm>
            <a:off x="1189928" y="1483959"/>
            <a:ext cx="4125912" cy="4038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buFontTx/>
              <a:buNone/>
            </a:pPr>
            <a:r>
              <a:rPr lang="en-US" altLang="zh-CN" sz="25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零一律：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 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endParaRPr lang="en-US" altLang="zh-CN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buFontTx/>
              <a:buNone/>
            </a:pP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证明:    </a:t>
            </a:r>
          </a:p>
          <a:p>
            <a:pPr>
              <a:lnSpc>
                <a:spcPct val="105000"/>
              </a:lnSpc>
              <a:buFontTx/>
              <a:buNone/>
            </a:pP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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x,   </a:t>
            </a:r>
          </a:p>
          <a:p>
            <a:pPr>
              <a:lnSpc>
                <a:spcPct val="105000"/>
              </a:lnSpc>
              <a:buFontTx/>
              <a:buNone/>
            </a:pPr>
            <a:r>
              <a:rPr lang="en-US" altLang="zh-CN" sz="2500" dirty="0" err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x</a:t>
            </a:r>
            <a:r>
              <a:rPr lang="en-US" altLang="zh-CN" sz="2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</a:t>
            </a:r>
            <a:endParaRPr lang="en-US" altLang="zh-CN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buFontTx/>
              <a:buNone/>
            </a:pP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 </a:t>
            </a:r>
            <a:r>
              <a:rPr lang="en-US" altLang="zh-CN" sz="2500" dirty="0" err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xA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 x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(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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定义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5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05000"/>
              </a:lnSpc>
              <a:buFont typeface="Symbol" panose="05050102010706020507" pitchFamily="18" charset="2"/>
              <a:buChar char="Û"/>
            </a:pPr>
            <a:r>
              <a:rPr lang="en-US" altLang="zh-CN" sz="2500" dirty="0" err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xA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 0        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定义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05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 0  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(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命题逻辑零一律)</a:t>
            </a:r>
            <a:endParaRPr lang="zh-CN" altLang="en-US" sz="25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05000"/>
              </a:lnSpc>
              <a:buFontTx/>
              <a:buNone/>
            </a:pP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 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 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endParaRPr lang="en-US" altLang="zh-CN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endParaRPr lang="en-US" altLang="zh-CN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buFontTx/>
              <a:buNone/>
            </a:pPr>
            <a:endParaRPr lang="zh-CN" altLang="en-US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4DF7CD-1BA4-48F7-8EA5-709352105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8078" y="1673192"/>
            <a:ext cx="4125913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zh-CN" sz="2500" b="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排中律：</a:t>
            </a: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A</a:t>
            </a:r>
            <a:r>
              <a:rPr lang="en-US" altLang="zh-CN" sz="17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U</a:t>
            </a: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zh-CN" altLang="en-US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证明:  </a:t>
            </a:r>
            <a:r>
              <a:rPr lang="zh-CN" altLang="en-US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</a:t>
            </a: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x,   </a:t>
            </a: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zh-CN" sz="25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x</a:t>
            </a:r>
            <a:r>
              <a:rPr lang="en-US" altLang="zh-CN" sz="25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5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A</a:t>
            </a:r>
            <a:r>
              <a:rPr lang="en-US" altLang="zh-CN" sz="17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 </a:t>
            </a:r>
            <a:r>
              <a:rPr lang="en-US" altLang="zh-CN" sz="25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xA</a:t>
            </a: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 </a:t>
            </a:r>
            <a:r>
              <a:rPr lang="en-US" altLang="zh-CN" sz="25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xA</a:t>
            </a:r>
            <a:r>
              <a:rPr lang="en-US" altLang="zh-CN" sz="17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(</a:t>
            </a: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</a:t>
            </a:r>
            <a:r>
              <a:rPr lang="zh-CN" altLang="en-US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定义</a:t>
            </a:r>
            <a:r>
              <a:rPr lang="zh-CN" altLang="en-US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5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 </a:t>
            </a:r>
            <a:r>
              <a:rPr lang="en-US" altLang="zh-CN" sz="25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xA</a:t>
            </a: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 </a:t>
            </a:r>
            <a:r>
              <a:rPr lang="en-US" altLang="zh-CN" sz="25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xA</a:t>
            </a: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(~</a:t>
            </a:r>
            <a:r>
              <a:rPr lang="zh-CN" altLang="en-US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定义</a:t>
            </a:r>
            <a:r>
              <a:rPr lang="zh-CN" altLang="en-US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5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 </a:t>
            </a:r>
            <a:r>
              <a:rPr lang="en-US" altLang="zh-CN" sz="25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xA</a:t>
            </a: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 </a:t>
            </a:r>
            <a:r>
              <a:rPr lang="en-US" altLang="zh-CN" sz="25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xA</a:t>
            </a: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(</a:t>
            </a:r>
            <a:r>
              <a:rPr lang="zh-CN" altLang="en-US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定义)</a:t>
            </a: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 1     </a:t>
            </a: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命题逻辑排中律)</a:t>
            </a:r>
            <a:endParaRPr lang="zh-CN" altLang="en-US" sz="25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 </a:t>
            </a: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A</a:t>
            </a:r>
            <a:r>
              <a:rPr lang="en-US" altLang="zh-CN" sz="17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lang="en-US" altLang="zh-CN" sz="25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U</a:t>
            </a:r>
          </a:p>
          <a:p>
            <a:pPr>
              <a:lnSpc>
                <a:spcPct val="105000"/>
              </a:lnSpc>
              <a:spcBef>
                <a:spcPct val="20000"/>
              </a:spcBef>
            </a:pPr>
            <a:endParaRPr lang="zh-CN" altLang="en-US" sz="25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AE160F4F-894B-0AEF-5E8F-DB42AB85F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47173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54274">
            <a:extLst>
              <a:ext uri="{FF2B5EF4-FFF2-40B4-BE49-F238E27FC236}">
                <a16:creationId xmlns:a16="http://schemas.microsoft.com/office/drawing/2014/main" id="{50716030-DA42-471D-BC6B-89C677314448}"/>
              </a:ext>
            </a:extLst>
          </p:cNvPr>
          <p:cNvSpPr txBox="1">
            <a:spLocks noChangeArrowheads="1"/>
          </p:cNvSpPr>
          <p:nvPr/>
        </p:nvSpPr>
        <p:spPr>
          <a:xfrm>
            <a:off x="1339621" y="1362578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集合演算法</a:t>
            </a:r>
            <a:endParaRPr lang="zh-CN" altLang="en-US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54275">
            <a:extLst>
              <a:ext uri="{FF2B5EF4-FFF2-40B4-BE49-F238E27FC236}">
                <a16:creationId xmlns:a16="http://schemas.microsoft.com/office/drawing/2014/main" id="{D0D2F861-FCD7-4509-9F91-A8FA20A3E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9334" y="2635753"/>
            <a:ext cx="3516312" cy="30353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5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题目: 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A=B. 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5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证明:  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</a:rPr>
              <a:t>A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</a:rPr>
              <a:t>       =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…(????</a:t>
            </a:r>
            <a:r>
              <a:rPr lang="zh-CN" altLang="en-US" sz="25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5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       =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  <a:endParaRPr lang="zh-CN" altLang="en-US" sz="250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   </a:t>
            </a:r>
            <a:r>
              <a:rPr lang="en-US" altLang="zh-CN" sz="2500" dirty="0">
                <a:solidFill>
                  <a:srgbClr val="000000"/>
                </a:solidFill>
                <a:latin typeface="Comic Sans MS" panose="030F0702030302020204" pitchFamily="66" charset="0"/>
              </a:rPr>
              <a:t>A=B.    </a:t>
            </a:r>
            <a:endParaRPr lang="zh-CN" altLang="en-US" sz="250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矩形 54276">
            <a:extLst>
              <a:ext uri="{FF2B5EF4-FFF2-40B4-BE49-F238E27FC236}">
                <a16:creationId xmlns:a16="http://schemas.microsoft.com/office/drawing/2014/main" id="{223E7187-D3A2-4A82-9128-C22F5B2DD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396" y="2635753"/>
            <a:ext cx="3516313" cy="30353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5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题目: </a:t>
            </a: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zh-CN" altLang="en-US" sz="25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B.     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5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证明:   </a:t>
            </a: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</a:rPr>
              <a:t>A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</a:rPr>
              <a:t>       </a:t>
            </a:r>
            <a:r>
              <a:rPr lang="zh-CN" altLang="en-US" sz="25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…(????</a:t>
            </a:r>
            <a:r>
              <a:rPr lang="zh-CN" altLang="en-US" sz="25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5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        </a:t>
            </a: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  <a:endParaRPr lang="zh-CN" altLang="en-US" sz="250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   </a:t>
            </a: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</a:rPr>
              <a:t>A</a:t>
            </a:r>
            <a:r>
              <a:rPr lang="zh-CN" altLang="en-US" sz="25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</a:rPr>
              <a:t>B.      </a:t>
            </a:r>
            <a:endParaRPr lang="zh-CN" altLang="en-US" sz="25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0BEAF587-BE7A-D2E2-F6FD-3723447AF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829840"/>
      </p:ext>
    </p:extLst>
  </p:cSld>
  <p:clrMapOvr>
    <a:masterClrMapping/>
  </p:clrMapOvr>
  <p:transition spd="slow" advTm="0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55298">
            <a:extLst>
              <a:ext uri="{FF2B5EF4-FFF2-40B4-BE49-F238E27FC236}">
                <a16:creationId xmlns:a16="http://schemas.microsoft.com/office/drawing/2014/main" id="{B23D915E-7B1F-48BA-B234-85515AF302AB}"/>
              </a:ext>
            </a:extLst>
          </p:cNvPr>
          <p:cNvSpPr txBox="1">
            <a:spLocks noChangeArrowheads="1"/>
          </p:cNvSpPr>
          <p:nvPr/>
        </p:nvSpPr>
        <p:spPr>
          <a:xfrm>
            <a:off x="1683526" y="1214883"/>
            <a:ext cx="8382000" cy="4038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集合演算法</a:t>
            </a:r>
          </a:p>
        </p:txBody>
      </p:sp>
      <p:sp>
        <p:nvSpPr>
          <p:cNvPr id="5" name="矩形 55299">
            <a:extLst>
              <a:ext uri="{FF2B5EF4-FFF2-40B4-BE49-F238E27FC236}">
                <a16:creationId xmlns:a16="http://schemas.microsoft.com/office/drawing/2014/main" id="{2323B120-CB80-4AD4-B39C-3FD1F1FF1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0376" y="2081658"/>
            <a:ext cx="3516313" cy="38877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5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题目: </a:t>
            </a: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A=B. 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5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证明:  () </a:t>
            </a:r>
            <a:r>
              <a:rPr lang="zh-CN" altLang="en-US" sz="250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  <a:sym typeface="Symbol" panose="05050102010706020507" pitchFamily="18" charset="2"/>
              </a:rPr>
              <a:t>…</a:t>
            </a:r>
            <a:endParaRPr lang="zh-CN" altLang="en-US" sz="250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     </a:t>
            </a: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</a:rPr>
              <a:t>A</a:t>
            </a:r>
            <a:r>
              <a:rPr lang="zh-CN" altLang="en-US" sz="25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  <a:endParaRPr lang="en-US" altLang="zh-CN" sz="2500">
              <a:solidFill>
                <a:srgbClr val="000000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</a:rPr>
              <a:t>        (</a:t>
            </a:r>
            <a:r>
              <a:rPr lang="zh-CN" altLang="en-US" sz="25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</a:t>
            </a: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</a:rPr>
              <a:t>) </a:t>
            </a: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…</a:t>
            </a:r>
            <a:endParaRPr lang="en-US" altLang="zh-CN" sz="250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     </a:t>
            </a: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</a:rPr>
              <a:t>A </a:t>
            </a:r>
            <a:r>
              <a:rPr lang="zh-CN" altLang="en-US" sz="25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</a:t>
            </a: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</a:rPr>
              <a:t> B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     </a:t>
            </a:r>
            <a:r>
              <a:rPr lang="en-US" altLang="zh-CN" sz="2500">
                <a:solidFill>
                  <a:srgbClr val="000000"/>
                </a:solidFill>
                <a:latin typeface="Comic Sans MS" panose="030F0702030302020204" pitchFamily="66" charset="0"/>
              </a:rPr>
              <a:t>A = B.    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5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说明: 分=成与</a:t>
            </a:r>
          </a:p>
        </p:txBody>
      </p:sp>
      <p:sp>
        <p:nvSpPr>
          <p:cNvPr id="6" name="矩形 55300">
            <a:extLst>
              <a:ext uri="{FF2B5EF4-FFF2-40B4-BE49-F238E27FC236}">
                <a16:creationId xmlns:a16="http://schemas.microsoft.com/office/drawing/2014/main" id="{50D0F61A-80A4-41AC-845B-650AEBDE8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7739" y="2081658"/>
            <a:ext cx="3517900" cy="38877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1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题目: 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zh-CN" altLang="en-US" sz="21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B.     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1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证明:   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</a:rPr>
              <a:t>A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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</a:rPr>
              <a:t>B (</a:t>
            </a:r>
            <a:r>
              <a:rPr lang="zh-CN" altLang="en-US" sz="21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或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</a:rPr>
              <a:t>A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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  <a:r>
              <a:rPr lang="zh-CN" altLang="en-US" sz="21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zh-CN" altLang="en-US" sz="21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</a:rPr>
              <a:t>       =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…(????</a:t>
            </a:r>
            <a:r>
              <a:rPr lang="zh-CN" altLang="en-US" sz="21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1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       = 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 (</a:t>
            </a:r>
            <a:r>
              <a:rPr lang="zh-CN" altLang="en-US" sz="21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或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B)</a:t>
            </a:r>
            <a:endParaRPr lang="en-US" altLang="zh-CN" sz="210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   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</a:rPr>
              <a:t>A</a:t>
            </a:r>
            <a:r>
              <a:rPr lang="zh-CN" altLang="en-US" sz="21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</a:rPr>
              <a:t>B.   </a:t>
            </a:r>
            <a:endParaRPr lang="zh-CN" altLang="en-US" sz="21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1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说明: 化成=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,</a:t>
            </a:r>
            <a:r>
              <a:rPr lang="zh-CN" altLang="en-US" sz="21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利用：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</a:rPr>
              <a:t>A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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</a:rPr>
              <a:t>B=A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A</a:t>
            </a:r>
            <a:r>
              <a:rPr lang="zh-CN" altLang="en-US" sz="21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</a:rPr>
              <a:t>A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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</a:rPr>
              <a:t>B=B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A</a:t>
            </a:r>
            <a:r>
              <a:rPr lang="zh-CN" altLang="en-US" sz="21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1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 </a:t>
            </a:r>
            <a:endParaRPr lang="zh-CN" altLang="en-US" sz="210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9FFB2878-F0B2-5D03-4349-E0D9BFB1C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514196"/>
      </p:ext>
    </p:extLst>
  </p:cSld>
  <p:clrMapOvr>
    <a:masterClrMapping/>
  </p:clrMapOvr>
  <p:transition spd="slow" advTm="0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56322">
            <a:extLst>
              <a:ext uri="{FF2B5EF4-FFF2-40B4-BE49-F238E27FC236}">
                <a16:creationId xmlns:a16="http://schemas.microsoft.com/office/drawing/2014/main" id="{60141CEA-3619-4F35-9328-701CC7545ED2}"/>
              </a:ext>
            </a:extLst>
          </p:cNvPr>
          <p:cNvSpPr txBox="1">
            <a:spLocks noChangeArrowheads="1"/>
          </p:cNvSpPr>
          <p:nvPr/>
        </p:nvSpPr>
        <p:spPr>
          <a:xfrm>
            <a:off x="1316007" y="1342645"/>
            <a:ext cx="4057650" cy="4038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buFontTx/>
              <a:buNone/>
            </a:pPr>
            <a:r>
              <a:rPr lang="zh-CN" altLang="en-US" sz="29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 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试证明吸收律</a:t>
            </a:r>
            <a:endParaRPr lang="en-US" altLang="zh-CN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buFontTx/>
              <a:buNone/>
            </a:pP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buFontTx/>
              <a:buNone/>
            </a:pPr>
            <a:r>
              <a:rPr lang="en-US" altLang="zh-CN" sz="21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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B)=A</a:t>
            </a:r>
          </a:p>
          <a:p>
            <a:pPr>
              <a:lnSpc>
                <a:spcPct val="105000"/>
              </a:lnSpc>
              <a:buFontTx/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证明:  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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B)</a:t>
            </a:r>
          </a:p>
          <a:p>
            <a:pPr>
              <a:lnSpc>
                <a:spcPct val="105000"/>
              </a:lnSpc>
              <a:buFontTx/>
              <a:buNone/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= (A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U)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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B)   (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同一律)</a:t>
            </a:r>
          </a:p>
          <a:p>
            <a:pPr>
              <a:lnSpc>
                <a:spcPct val="105000"/>
              </a:lnSpc>
              <a:buFontTx/>
              <a:buNone/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= A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(U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B)         (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分配律)</a:t>
            </a:r>
          </a:p>
          <a:p>
            <a:pPr>
              <a:lnSpc>
                <a:spcPct val="105000"/>
              </a:lnSpc>
              <a:buFontTx/>
              <a:buNone/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= A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U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(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零一律)</a:t>
            </a:r>
          </a:p>
          <a:p>
            <a:pPr>
              <a:lnSpc>
                <a:spcPct val="105000"/>
              </a:lnSpc>
              <a:buFontTx/>
              <a:buNone/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= A 		      (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同一律)</a:t>
            </a:r>
          </a:p>
          <a:p>
            <a:pPr>
              <a:lnSpc>
                <a:spcPct val="105000"/>
              </a:lnSpc>
              <a:buFontTx/>
              <a:buNone/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  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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B)=A</a:t>
            </a:r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buFontTx/>
              <a:buNone/>
            </a:pPr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6B0FD3-4B6B-4FFA-8631-8333DA98D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9413" y="1838005"/>
            <a:ext cx="405765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20000"/>
              </a:spcBef>
            </a:pPr>
            <a:endParaRPr lang="en-US" altLang="zh-CN" sz="15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Bef>
                <a:spcPct val="20000"/>
              </a:spcBef>
            </a:pPr>
            <a:endParaRPr lang="en-US" altLang="zh-CN" sz="21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zh-CN" sz="2100" b="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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B) = A</a:t>
            </a: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zh-CN" altLang="en-US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证明:  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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B)</a:t>
            </a: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(A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A)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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B)    (</a:t>
            </a:r>
            <a:r>
              <a:rPr lang="zh-CN" altLang="en-US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分配律)</a:t>
            </a: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A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(A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B)         (</a:t>
            </a:r>
            <a:r>
              <a:rPr lang="zh-CN" altLang="en-US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等幂律)</a:t>
            </a: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A</a:t>
            </a:r>
            <a:r>
              <a:rPr lang="en-US" altLang="zh-CN" sz="19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(</a:t>
            </a:r>
            <a:r>
              <a:rPr lang="zh-CN" altLang="en-US" sz="19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吸收律（</a:t>
            </a:r>
            <a:r>
              <a:rPr lang="en-US" altLang="zh-CN" sz="19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9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 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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</a:t>
            </a:r>
            <a:r>
              <a:rPr lang="en-US" altLang="zh-CN" sz="21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B) = A</a:t>
            </a:r>
            <a:endParaRPr lang="zh-CN" altLang="en-US" sz="21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Bef>
                <a:spcPct val="20000"/>
              </a:spcBef>
            </a:pPr>
            <a:endParaRPr lang="zh-CN" altLang="en-US" sz="25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3EDE48C1-AEF6-5AAF-944E-B938D3019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03496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57346">
            <a:extLst>
              <a:ext uri="{FF2B5EF4-FFF2-40B4-BE49-F238E27FC236}">
                <a16:creationId xmlns:a16="http://schemas.microsoft.com/office/drawing/2014/main" id="{638B5D19-4012-4A6D-8B78-43DCFA61FB90}"/>
              </a:ext>
            </a:extLst>
          </p:cNvPr>
          <p:cNvSpPr txBox="1">
            <a:spLocks noChangeArrowheads="1"/>
          </p:cNvSpPr>
          <p:nvPr/>
        </p:nvSpPr>
        <p:spPr>
          <a:xfrm>
            <a:off x="1905000" y="956543"/>
            <a:ext cx="8382000" cy="44672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buFontTx/>
              <a:buNone/>
            </a:pPr>
            <a:r>
              <a:rPr lang="zh-CN" altLang="en-US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P(A)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P(B)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P(A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B)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证明: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x,  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     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P(A)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P(B)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     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P(A)x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P(B)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     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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Ax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B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     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B    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P(A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B)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     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P(A)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P(B)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P(A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B)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8C4AA452-07A7-C4BC-9A54-7F3C38678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88363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内容占位符 58370">
            <a:extLst>
              <a:ext uri="{FF2B5EF4-FFF2-40B4-BE49-F238E27FC236}">
                <a16:creationId xmlns:a16="http://schemas.microsoft.com/office/drawing/2014/main" id="{75510820-1E53-4563-BEE9-53EC06F6E273}"/>
              </a:ext>
            </a:extLst>
          </p:cNvPr>
          <p:cNvSpPr txBox="1">
            <a:spLocks noChangeArrowheads="1"/>
          </p:cNvSpPr>
          <p:nvPr/>
        </p:nvSpPr>
        <p:spPr>
          <a:xfrm>
            <a:off x="1995487" y="0"/>
            <a:ext cx="8445500" cy="480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buFontTx/>
              <a:buNone/>
            </a:pPr>
            <a:endParaRPr lang="en-US" altLang="zh-CN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A∩(B-C)=(A∩B)-(A∩C)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A∩(B-C)=A∩(B∩C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=A∩B∩C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(A∩B)-(A∩C)=(A∩B)∩(A∩C)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=(A∩B)∩(A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∪C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=(A∩B∩A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)∪(A∩B∩C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∪(A∩B∩C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         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互补律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=A∩B∩C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同一律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）知，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A∩(B-C)=(A∩B)-(A∩C)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buFontTx/>
              <a:buNone/>
            </a:pPr>
            <a:endParaRPr lang="en-US" altLang="zh-CN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1052F2D8-52FE-78DF-9C66-5BC0AD0F4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08726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59394">
            <a:extLst>
              <a:ext uri="{FF2B5EF4-FFF2-40B4-BE49-F238E27FC236}">
                <a16:creationId xmlns:a16="http://schemas.microsoft.com/office/drawing/2014/main" id="{3828842C-7AAE-40F9-B724-27938CEC597E}"/>
              </a:ext>
            </a:extLst>
          </p:cNvPr>
          <p:cNvSpPr txBox="1">
            <a:spLocks noChangeArrowheads="1"/>
          </p:cNvSpPr>
          <p:nvPr/>
        </p:nvSpPr>
        <p:spPr>
          <a:xfrm>
            <a:off x="1895475" y="853846"/>
            <a:ext cx="8401050" cy="57197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5000"/>
              </a:lnSpc>
              <a:buFontTx/>
              <a:buNone/>
            </a:pP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试证明 对任意集合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A，B，C，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等式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(A-B)∪(A-C)=A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成立的充要条件是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A∩B∩C=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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证明  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证必要性。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设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(A-B)∪(A-C)=A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因为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(A-B)∪(A-C)= (A∩B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)∪(A∩C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)=A∩(B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∪C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)=A∩(B∩C)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=A-(B∩C)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所以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A-(B∩C)=A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，即对任意的</a:t>
            </a:r>
            <a:r>
              <a:rPr lang="en-US" altLang="zh-CN" sz="19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900" dirty="0" err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</a:t>
            </a:r>
            <a:r>
              <a:rPr lang="en-US" altLang="zh-CN" sz="19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，必有</a:t>
            </a:r>
            <a:r>
              <a:rPr lang="en-US" altLang="zh-CN" sz="19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900" dirty="0" err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</a:t>
            </a:r>
            <a:r>
              <a:rPr lang="en-US" altLang="zh-CN" sz="19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-(B∩C)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，因而必有</a:t>
            </a:r>
            <a:r>
              <a:rPr lang="en-US" altLang="zh-CN" sz="19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900" dirty="0" err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</a:t>
            </a:r>
            <a:r>
              <a:rPr lang="en-US" altLang="zh-CN" sz="19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B∩C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因此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A∩(B∩C)=A∩B∩C=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(2)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证充分性。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设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A∩B∩C=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，则对任意</a:t>
            </a:r>
            <a:r>
              <a:rPr lang="en-US" altLang="zh-CN" sz="19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900" dirty="0" err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</a:t>
            </a:r>
            <a:r>
              <a:rPr lang="en-US" altLang="zh-CN" sz="19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，必有</a:t>
            </a:r>
            <a:r>
              <a:rPr lang="en-US" altLang="zh-CN" sz="19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900" dirty="0" err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</a:t>
            </a:r>
            <a:r>
              <a:rPr lang="en-US" altLang="zh-CN" sz="19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B∩C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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(B∩C)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所以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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(B∩C)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，因此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(A-B)∪(A-C)=A∩(B∩C)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=A 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由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(1)(2)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知等式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(A-B)∪(A-C)=A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成立的充要条件是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A∩B∩C=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0544A055-95C9-5EED-39CA-B4BF4FB09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36771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62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81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9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84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05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15" end="2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55" end="2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94" end="3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367A5FB-2CEC-44E7-AE19-2EF2FEC877F9}"/>
              </a:ext>
            </a:extLst>
          </p:cNvPr>
          <p:cNvSpPr txBox="1"/>
          <p:nvPr/>
        </p:nvSpPr>
        <p:spPr>
          <a:xfrm>
            <a:off x="1960367" y="1013076"/>
            <a:ext cx="895322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个具有给定次序的个体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组成的序列，叫做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重有序组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有序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元组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,ordered tuple)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，记作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a</a:t>
            </a:r>
            <a:r>
              <a:rPr lang="en-US" altLang="zh-CN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。其中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叫做该有序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元组的第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个坐标。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870BE-559D-4BE1-9256-9AB5F3FE1553}"/>
              </a:ext>
            </a:extLst>
          </p:cNvPr>
          <p:cNvSpPr/>
          <p:nvPr/>
        </p:nvSpPr>
        <p:spPr>
          <a:xfrm>
            <a:off x="2191726" y="3128761"/>
            <a:ext cx="7808548" cy="660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重有序组</a:t>
            </a:r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相等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&lt;a</a:t>
            </a:r>
            <a:r>
              <a:rPr lang="en-US" altLang="x-none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x-none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,…,a</a:t>
            </a:r>
            <a:r>
              <a:rPr lang="en-US" altLang="x-none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&gt;=&lt;b</a:t>
            </a:r>
            <a:r>
              <a:rPr lang="en-US" altLang="x-none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,b</a:t>
            </a:r>
            <a:r>
              <a:rPr lang="en-US" altLang="x-none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,…,b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33800E-7098-4905-BF86-FA010495D4BB}"/>
              </a:ext>
            </a:extLst>
          </p:cNvPr>
          <p:cNvSpPr/>
          <p:nvPr/>
        </p:nvSpPr>
        <p:spPr>
          <a:xfrm>
            <a:off x="677574" y="4007499"/>
            <a:ext cx="11216201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 &lt;b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n=m(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iN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b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1EA8AB-93BD-295D-B6CF-0B0C16D60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76123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DDDBCB4-E414-40C6-9664-42F8A8C992BA}"/>
              </a:ext>
            </a:extLst>
          </p:cNvPr>
          <p:cNvSpPr/>
          <p:nvPr/>
        </p:nvSpPr>
        <p:spPr>
          <a:xfrm>
            <a:off x="1571625" y="1031539"/>
            <a:ext cx="94399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叉积，笛卡尔积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(cross product ,Cartesian product)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个集合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维笛卡尔积定义为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={&lt;a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n)}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40DF5-8B56-4CE0-8267-615624316F2A}"/>
              </a:ext>
            </a:extLst>
          </p:cNvPr>
          <p:cNvSpPr/>
          <p:nvPr/>
        </p:nvSpPr>
        <p:spPr>
          <a:xfrm>
            <a:off x="1751013" y="3510530"/>
            <a:ext cx="881288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维叉积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的每个元素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都称为一个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元组（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n-tuple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）；即，叉积是元组的集合；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的第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个位置上的元素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元组的第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个分量（坐标或投影）；元组各分量的顺序不能改变；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称为该叉积及其元组的维数；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两个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元组相等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它们的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维数相同且对应的分量相等。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B3482F9C-B17E-A944-29FE-50F068E08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96898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DAD3783-FEDB-44A1-9B49-89D391A8B1D8}"/>
              </a:ext>
            </a:extLst>
          </p:cNvPr>
          <p:cNvSpPr/>
          <p:nvPr/>
        </p:nvSpPr>
        <p:spPr>
          <a:xfrm>
            <a:off x="659035" y="1513739"/>
            <a:ext cx="1104360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二个集合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二维或二重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笛卡尔积定义为</a:t>
            </a: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={&lt;a, b&gt;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B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其元素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二元组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&lt;a, b&gt;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通常称为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序偶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或偶对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(ordered pair)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二元组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&lt;a, b&gt;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第一分量上的元素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称为前者；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第二分量上的元素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称为后者；</a:t>
            </a: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二维叉积的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第一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称为前集；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第二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称为后集。</a:t>
            </a:r>
          </a:p>
        </p:txBody>
      </p:sp>
      <p:sp>
        <p:nvSpPr>
          <p:cNvPr id="5" name="内容占位符 22530">
            <a:extLst>
              <a:ext uri="{FF2B5EF4-FFF2-40B4-BE49-F238E27FC236}">
                <a16:creationId xmlns:a16="http://schemas.microsoft.com/office/drawing/2014/main" id="{0B780738-E2AA-4840-BCAE-78265812D275}"/>
              </a:ext>
            </a:extLst>
          </p:cNvPr>
          <p:cNvSpPr txBox="1">
            <a:spLocks/>
          </p:cNvSpPr>
          <p:nvPr/>
        </p:nvSpPr>
        <p:spPr>
          <a:xfrm>
            <a:off x="1820238" y="738188"/>
            <a:ext cx="8229600" cy="77555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CC0000"/>
                </a:solidFill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笛卡尔积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(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Cartesian product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，卡氏积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)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: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 </a:t>
            </a:r>
            <a:r>
              <a:rPr lang="zh-CN" altLang="en-US" sz="2215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	</a:t>
            </a:r>
            <a:endParaRPr lang="zh-CN" altLang="en-US" sz="2215" dirty="0">
              <a:solidFill>
                <a:srgbClr val="CC0000"/>
              </a:solidFill>
              <a:latin typeface="Microsoft YaHei" panose="020B0503020204020204" charset="-122"/>
              <a:ea typeface="Microsoft YaHei" panose="020B0503020204020204" charset="-122"/>
              <a:cs typeface="Times New Roman" panose="02020603050405020304" pitchFamily="2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3185E9-AAB5-4183-8144-70BEB3B1B581}"/>
              </a:ext>
            </a:extLst>
          </p:cNvPr>
          <p:cNvSpPr/>
          <p:nvPr/>
        </p:nvSpPr>
        <p:spPr>
          <a:xfrm>
            <a:off x="935584" y="4845887"/>
            <a:ext cx="9720708" cy="1965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/>
              <a:t>.</a:t>
            </a:r>
            <a:r>
              <a:rPr lang="en-US" altLang="zh-CN" sz="2800" dirty="0"/>
              <a:t> A={</a:t>
            </a:r>
            <a:r>
              <a:rPr lang="zh-CN" altLang="en-US" sz="2800" dirty="0"/>
              <a:t>张三</a:t>
            </a:r>
            <a:r>
              <a:rPr lang="en-US" altLang="zh-CN" sz="2800" dirty="0"/>
              <a:t>,</a:t>
            </a:r>
            <a:r>
              <a:rPr lang="zh-CN" altLang="en-US" sz="2800" dirty="0"/>
              <a:t>李四</a:t>
            </a:r>
            <a:r>
              <a:rPr lang="en-US" altLang="zh-CN" sz="2800" dirty="0"/>
              <a:t>}</a:t>
            </a:r>
            <a:r>
              <a:rPr lang="zh-CN" altLang="en-US" sz="2800" dirty="0"/>
              <a:t>，</a:t>
            </a:r>
            <a:r>
              <a:rPr lang="en-US" altLang="zh-CN" sz="2800" dirty="0"/>
              <a:t>B={</a:t>
            </a:r>
            <a:r>
              <a:rPr lang="zh-CN" altLang="en-US" sz="2800" dirty="0"/>
              <a:t>白狗</a:t>
            </a:r>
            <a:r>
              <a:rPr lang="en-US" altLang="zh-CN" sz="2800" dirty="0"/>
              <a:t>,</a:t>
            </a:r>
            <a:r>
              <a:rPr lang="zh-CN" altLang="en-US" sz="2800" dirty="0"/>
              <a:t>黄狗</a:t>
            </a:r>
            <a:r>
              <a:rPr lang="en-US" altLang="zh-CN" sz="2800" dirty="0"/>
              <a:t>}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         A×B={(</a:t>
            </a:r>
            <a:r>
              <a:rPr lang="zh-CN" altLang="en-US" sz="2800" dirty="0"/>
              <a:t>张三</a:t>
            </a:r>
            <a:r>
              <a:rPr lang="en-US" altLang="zh-CN" sz="2800" dirty="0"/>
              <a:t>,</a:t>
            </a:r>
            <a:r>
              <a:rPr lang="zh-CN" altLang="en-US" sz="2800" dirty="0"/>
              <a:t>白狗</a:t>
            </a:r>
            <a:r>
              <a:rPr lang="en-US" altLang="zh-CN" sz="2800" dirty="0"/>
              <a:t>),(</a:t>
            </a:r>
            <a:r>
              <a:rPr lang="zh-CN" altLang="en-US" sz="2800" dirty="0"/>
              <a:t>张三</a:t>
            </a:r>
            <a:r>
              <a:rPr lang="en-US" altLang="zh-CN" sz="2800" dirty="0"/>
              <a:t>,</a:t>
            </a:r>
            <a:r>
              <a:rPr lang="zh-CN" altLang="en-US" sz="2800" dirty="0"/>
              <a:t>黄狗</a:t>
            </a:r>
            <a:r>
              <a:rPr lang="en-US" altLang="zh-CN" sz="2800" dirty="0"/>
              <a:t>),(</a:t>
            </a:r>
            <a:r>
              <a:rPr lang="zh-CN" altLang="en-US" sz="2800" dirty="0"/>
              <a:t>李四</a:t>
            </a:r>
            <a:r>
              <a:rPr lang="en-US" altLang="zh-CN" sz="2800" dirty="0"/>
              <a:t>,</a:t>
            </a:r>
            <a:r>
              <a:rPr lang="zh-CN" altLang="en-US" sz="2800" dirty="0"/>
              <a:t>白狗</a:t>
            </a:r>
            <a:r>
              <a:rPr lang="en-US" altLang="zh-CN" sz="2800" dirty="0"/>
              <a:t>),(</a:t>
            </a:r>
            <a:r>
              <a:rPr lang="zh-CN" altLang="en-US" sz="2800" dirty="0"/>
              <a:t>李四</a:t>
            </a:r>
            <a:r>
              <a:rPr lang="en-US" altLang="zh-CN" sz="2800" dirty="0"/>
              <a:t>,</a:t>
            </a:r>
            <a:r>
              <a:rPr lang="zh-CN" altLang="en-US" sz="2800" dirty="0"/>
              <a:t>黄狗</a:t>
            </a:r>
            <a:r>
              <a:rPr lang="en-US" altLang="zh-CN" sz="2800" dirty="0"/>
              <a:t>)}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         B×A={(</a:t>
            </a:r>
            <a:r>
              <a:rPr lang="zh-CN" altLang="en-US" sz="2800" dirty="0"/>
              <a:t>白狗</a:t>
            </a:r>
            <a:r>
              <a:rPr lang="en-US" altLang="zh-CN" sz="2800" dirty="0"/>
              <a:t>,</a:t>
            </a:r>
            <a:r>
              <a:rPr lang="zh-CN" altLang="en-US" sz="2800" dirty="0"/>
              <a:t>张三</a:t>
            </a:r>
            <a:r>
              <a:rPr lang="en-US" altLang="zh-CN" sz="2800" dirty="0"/>
              <a:t>),(</a:t>
            </a:r>
            <a:r>
              <a:rPr lang="zh-CN" altLang="en-US" sz="2800" dirty="0"/>
              <a:t>白狗</a:t>
            </a:r>
            <a:r>
              <a:rPr lang="en-US" altLang="zh-CN" sz="2800" dirty="0"/>
              <a:t>,</a:t>
            </a:r>
            <a:r>
              <a:rPr lang="zh-CN" altLang="en-US" sz="2800" dirty="0"/>
              <a:t>李四</a:t>
            </a:r>
            <a:r>
              <a:rPr lang="en-US" altLang="zh-CN" sz="2800" dirty="0"/>
              <a:t>),(</a:t>
            </a:r>
            <a:r>
              <a:rPr lang="zh-CN" altLang="en-US" sz="2800" dirty="0"/>
              <a:t>黄狗</a:t>
            </a:r>
            <a:r>
              <a:rPr lang="en-US" altLang="zh-CN" sz="2800" dirty="0"/>
              <a:t>,</a:t>
            </a:r>
            <a:r>
              <a:rPr lang="zh-CN" altLang="en-US" sz="2800" dirty="0"/>
              <a:t>张三</a:t>
            </a:r>
            <a:r>
              <a:rPr lang="en-US" altLang="zh-CN" sz="2800" dirty="0"/>
              <a:t>),(</a:t>
            </a:r>
            <a:r>
              <a:rPr lang="zh-CN" altLang="en-US" sz="2800" dirty="0"/>
              <a:t>黄狗</a:t>
            </a:r>
            <a:r>
              <a:rPr lang="en-US" altLang="zh-CN" sz="2800" dirty="0"/>
              <a:t>,</a:t>
            </a:r>
            <a:r>
              <a:rPr lang="zh-CN" altLang="en-US" sz="2800" dirty="0"/>
              <a:t>李四</a:t>
            </a:r>
            <a:r>
              <a:rPr lang="en-US" altLang="zh-CN" sz="2800" dirty="0"/>
              <a:t>)}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2D15E6E3-316B-28B4-1C13-566A188F1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979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82401E0-A6FD-47DA-9A8C-4646EDBADE4B}"/>
              </a:ext>
            </a:extLst>
          </p:cNvPr>
          <p:cNvSpPr/>
          <p:nvPr/>
        </p:nvSpPr>
        <p:spPr>
          <a:xfrm>
            <a:off x="1163787" y="3964235"/>
            <a:ext cx="4899098" cy="6486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Wingdings" panose="05000000000000000000" pitchFamily="2" charset="2"/>
              </a:rPr>
              <a:t>&lt;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Wingdings" panose="05000000000000000000" pitchFamily="2" charset="2"/>
              </a:rPr>
              <a:t>a,b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Wingdings" panose="05000000000000000000" pitchFamily="2" charset="2"/>
              </a:rPr>
              <a:t>&gt;=&lt;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Wingdings" panose="05000000000000000000" pitchFamily="2" charset="2"/>
              </a:rPr>
              <a:t>c,d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Wingdings" panose="05000000000000000000" pitchFamily="2" charset="2"/>
              </a:rPr>
              <a:t>&gt; 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 a=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cb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=d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C60ED7-83EE-45D1-BD53-D5F4B6BC04F7}"/>
              </a:ext>
            </a:extLst>
          </p:cNvPr>
          <p:cNvSpPr/>
          <p:nvPr/>
        </p:nvSpPr>
        <p:spPr>
          <a:xfrm>
            <a:off x="6194677" y="3964235"/>
            <a:ext cx="4001416" cy="6486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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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&lt;</a:t>
            </a:r>
            <a:r>
              <a:rPr lang="en-US" altLang="x-none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a,b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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&lt;</a:t>
            </a:r>
            <a:r>
              <a:rPr lang="en-US" altLang="x-none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b,a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57175B-54B3-4702-8E7D-21AF43A009D1}"/>
              </a:ext>
            </a:extLst>
          </p:cNvPr>
          <p:cNvSpPr/>
          <p:nvPr/>
        </p:nvSpPr>
        <p:spPr>
          <a:xfrm>
            <a:off x="1652336" y="4929155"/>
            <a:ext cx="2500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A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81CFBC-B4BE-4898-A2ED-CBAFC154F792}"/>
              </a:ext>
            </a:extLst>
          </p:cNvPr>
          <p:cNvSpPr/>
          <p:nvPr/>
        </p:nvSpPr>
        <p:spPr>
          <a:xfrm>
            <a:off x="1652336" y="900504"/>
            <a:ext cx="10776064" cy="2795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A={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,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a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},  B={1,2,3}.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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B={&lt;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,1&gt;,&lt;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,2&gt;,&lt;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,3&gt;,&lt;a,1&gt;,&lt;a,2&gt;,&lt;a,3&gt;}.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BA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={&lt;1,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&gt;,&lt;1,a&gt;,&lt;2,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&gt;,&lt;2,a&gt;,&lt;3,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&gt;,&lt;3,a&gt;}.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A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={ &lt;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,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&gt;, &lt;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,a&gt;, &lt;a,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&gt;, &lt;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a,a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&gt;}.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BB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={ &lt;1,1&gt;,&lt;1,2&gt;,&lt;1,3&gt;,&lt;2,1&gt;,&lt;2,2&gt;,&lt;2,3&gt;,&lt;3,1&gt;,&lt;3,2&gt;,&lt;3,3&gt; }.</a:t>
            </a:r>
            <a:endParaRPr lang="en-US" altLang="x-none" sz="240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103E0B-01D4-488F-B8AD-44A29C276C3F}"/>
              </a:ext>
            </a:extLst>
          </p:cNvPr>
          <p:cNvSpPr/>
          <p:nvPr/>
        </p:nvSpPr>
        <p:spPr>
          <a:xfrm>
            <a:off x="2218782" y="5845663"/>
            <a:ext cx="77251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有序组不是集合，因为有序组中的分量计较顺序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04CF2F69-DCF3-3B47-DCA6-664ACF2E0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4293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3" grpId="0"/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C2F578C-7B34-428A-AE4E-4B656CDA2579}"/>
              </a:ext>
            </a:extLst>
          </p:cNvPr>
          <p:cNvSpPr/>
          <p:nvPr/>
        </p:nvSpPr>
        <p:spPr>
          <a:xfrm>
            <a:off x="2223549" y="1007673"/>
            <a:ext cx="605867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为任意两个有限集，则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|A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B| = |A | 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·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|B|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00481A-6962-462A-A03A-73D576AB2658}"/>
              </a:ext>
            </a:extLst>
          </p:cNvPr>
          <p:cNvSpPr/>
          <p:nvPr/>
        </p:nvSpPr>
        <p:spPr>
          <a:xfrm>
            <a:off x="2223548" y="2563827"/>
            <a:ext cx="8940025" cy="2995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…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 </a:t>
            </a:r>
          </a:p>
          <a:p>
            <a:pPr>
              <a:lnSpc>
                <a:spcPct val="120000"/>
              </a:lnSpc>
              <a:buNone/>
            </a:pP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= {&lt;x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,x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,…,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sz="3200" baseline="-250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&gt; | x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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x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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…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sz="3200" baseline="-250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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baseline="-250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 }</a:t>
            </a:r>
          </a:p>
          <a:p>
            <a:pPr>
              <a:lnSpc>
                <a:spcPct val="120000"/>
              </a:lnSpc>
              <a:buNone/>
            </a:pPr>
            <a:r>
              <a:rPr lang="en-US" altLang="x-none" sz="3200" dirty="0">
                <a:solidFill>
                  <a:schemeClr val="tx2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baseline="30000" dirty="0">
                <a:solidFill>
                  <a:schemeClr val="tx2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 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 A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…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令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|A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i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|=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3200" baseline="-250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i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,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i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=1,2,…,n</a:t>
            </a:r>
            <a:r>
              <a:rPr lang="zh-CN" altLang="en-US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显然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|A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…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| = n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…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3200" baseline="-250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5F4088CB-B8C4-BD84-07C7-8CB8AD4E7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64531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0CB3BB1-213C-4EDC-9AB7-63CDC32828D9}"/>
              </a:ext>
            </a:extLst>
          </p:cNvPr>
          <p:cNvSpPr/>
          <p:nvPr/>
        </p:nvSpPr>
        <p:spPr>
          <a:xfrm>
            <a:off x="2666451" y="1291578"/>
            <a:ext cx="6549911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A,B,C,D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是四个非空的集合。那么</a:t>
            </a:r>
          </a:p>
          <a:p>
            <a:pPr>
              <a:lnSpc>
                <a:spcPct val="90000"/>
              </a:lnSpc>
            </a:pP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 = C×D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= C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= D </a:t>
            </a:r>
          </a:p>
          <a:p>
            <a:pPr>
              <a:lnSpc>
                <a:spcPct val="90000"/>
              </a:lnSpc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 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C×D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F63DC6-AFE0-4B4A-B7DE-934A7A701EB7}"/>
              </a:ext>
            </a:extLst>
          </p:cNvPr>
          <p:cNvSpPr/>
          <p:nvPr/>
        </p:nvSpPr>
        <p:spPr>
          <a:xfrm>
            <a:off x="2666451" y="3429000"/>
            <a:ext cx="842475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显然。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：对任何的元素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a,b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AbB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(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C×D   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条件：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 = C×D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Cb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　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C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= D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CBE7E48D-2226-0E98-B23F-113324142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58491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64FC246-EC29-4DDF-BF87-1BDBE929997F}"/>
              </a:ext>
            </a:extLst>
          </p:cNvPr>
          <p:cNvSpPr/>
          <p:nvPr/>
        </p:nvSpPr>
        <p:spPr>
          <a:xfrm>
            <a:off x="1830993" y="1299519"/>
            <a:ext cx="9687816" cy="5185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是三个集合。则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A×(B∪C) = (A×B)∪(A×C)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A×(B∩C) = (A×B)∩(A×C)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  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A×(B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= (A×B)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(A×C) 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(4)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(A∪B)×C = (A×C)∪(B×C) 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(A∩B)×C = (A×C)∩(B×C)</a:t>
            </a:r>
          </a:p>
          <a:p>
            <a:pPr>
              <a:lnSpc>
                <a:spcPct val="150000"/>
              </a:lnSpc>
            </a:pP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 (A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－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B)×C = (A×C)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－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(B×C)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7BACE9-2F35-2FF9-736D-D321130B8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166082"/>
      </p:ext>
    </p:extLst>
  </p:cSld>
  <p:clrMapOvr>
    <a:masterClrMapping/>
  </p:clrMapOvr>
  <p:transition spd="slow" advTm="0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73CFBED-B685-4CE3-89FA-94E44E6B7DE8}"/>
              </a:ext>
            </a:extLst>
          </p:cNvPr>
          <p:cNvSpPr/>
          <p:nvPr/>
        </p:nvSpPr>
        <p:spPr>
          <a:xfrm>
            <a:off x="2278326" y="1855953"/>
            <a:ext cx="8036632" cy="2845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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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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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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非交换</a:t>
            </a:r>
          </a:p>
          <a:p>
            <a:pPr>
              <a:lnSpc>
                <a:spcPct val="130000"/>
              </a:lnSpc>
              <a:buNone/>
            </a:pP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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BA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除非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A=B  A=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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 B=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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)</a:t>
            </a:r>
            <a:endParaRPr lang="en-US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非结合</a:t>
            </a:r>
          </a:p>
          <a:p>
            <a:pPr>
              <a:lnSpc>
                <a:spcPct val="13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C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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(BC)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除非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A=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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 B=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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 C=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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27A99B-12A6-23C2-67C1-B7A64F130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645032"/>
      </p:ext>
    </p:extLst>
  </p:cSld>
  <p:clrMapOvr>
    <a:masterClrMapping/>
  </p:clrMapOvr>
  <p:transition spd="slow" advTm="0">
    <p:wip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6725</TotalTime>
  <Words>5143</Words>
  <Application>Microsoft Office PowerPoint</Application>
  <PresentationFormat>宽屏</PresentationFormat>
  <Paragraphs>525</Paragraphs>
  <Slides>50</Slides>
  <Notes>50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72" baseType="lpstr">
      <vt:lpstr>cajcd fnta1</vt:lpstr>
      <vt:lpstr>Microsoft JhengHei</vt:lpstr>
      <vt:lpstr>等线</vt:lpstr>
      <vt:lpstr>等线 Light</vt:lpstr>
      <vt:lpstr>黑体</vt:lpstr>
      <vt:lpstr>KaiTi</vt:lpstr>
      <vt:lpstr>SimSun</vt:lpstr>
      <vt:lpstr>SimSun</vt:lpstr>
      <vt:lpstr>Microsoft YaHei</vt:lpstr>
      <vt:lpstr>Microsoft YaHei</vt:lpstr>
      <vt:lpstr>Microsoft YaHei Light</vt:lpstr>
      <vt:lpstr>Arial</vt:lpstr>
      <vt:lpstr>Arial Black</vt:lpstr>
      <vt:lpstr>Comic Sans MS</vt:lpstr>
      <vt:lpstr>Lucida Calligraphy</vt:lpstr>
      <vt:lpstr>Lucida Handwriting</vt:lpstr>
      <vt:lpstr>Segoe UI Semibold</vt:lpstr>
      <vt:lpstr>Symbol</vt:lpstr>
      <vt:lpstr>Times New Roman</vt:lpstr>
      <vt:lpstr>Wingdings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77</dc:creator>
  <cp:lastModifiedBy>y z</cp:lastModifiedBy>
  <cp:revision>95</cp:revision>
  <dcterms:created xsi:type="dcterms:W3CDTF">2019-03-24T11:36:16Z</dcterms:created>
  <dcterms:modified xsi:type="dcterms:W3CDTF">2025-11-07T15:36:18Z</dcterms:modified>
</cp:coreProperties>
</file>