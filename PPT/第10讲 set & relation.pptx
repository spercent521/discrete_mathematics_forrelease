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45" r:id="rId2"/>
    <p:sldId id="1313" r:id="rId3"/>
    <p:sldId id="1241" r:id="rId4"/>
    <p:sldId id="1242" r:id="rId5"/>
    <p:sldId id="1314" r:id="rId6"/>
    <p:sldId id="1247" r:id="rId7"/>
    <p:sldId id="1258" r:id="rId8"/>
    <p:sldId id="1322" r:id="rId9"/>
    <p:sldId id="1326" r:id="rId10"/>
    <p:sldId id="1329" r:id="rId11"/>
    <p:sldId id="1298" r:id="rId12"/>
    <p:sldId id="1299" r:id="rId13"/>
    <p:sldId id="1300" r:id="rId14"/>
    <p:sldId id="1302" r:id="rId15"/>
    <p:sldId id="1303" r:id="rId16"/>
    <p:sldId id="1289" r:id="rId17"/>
    <p:sldId id="1290" r:id="rId18"/>
    <p:sldId id="1291" r:id="rId19"/>
    <p:sldId id="1293" r:id="rId20"/>
    <p:sldId id="1294" r:id="rId21"/>
    <p:sldId id="1295" r:id="rId22"/>
    <p:sldId id="1296" r:id="rId23"/>
    <p:sldId id="1331" r:id="rId24"/>
    <p:sldId id="1359" r:id="rId25"/>
    <p:sldId id="1332" r:id="rId26"/>
    <p:sldId id="1333" r:id="rId27"/>
    <p:sldId id="1315" r:id="rId28"/>
    <p:sldId id="1316" r:id="rId29"/>
    <p:sldId id="1317" r:id="rId30"/>
    <p:sldId id="1318" r:id="rId31"/>
    <p:sldId id="1334" r:id="rId32"/>
    <p:sldId id="1321" r:id="rId33"/>
    <p:sldId id="1335" r:id="rId34"/>
    <p:sldId id="1323" r:id="rId35"/>
    <p:sldId id="1336" r:id="rId36"/>
    <p:sldId id="1339" r:id="rId37"/>
    <p:sldId id="1340" r:id="rId38"/>
    <p:sldId id="1341" r:id="rId39"/>
    <p:sldId id="1325" r:id="rId40"/>
    <p:sldId id="1360" r:id="rId41"/>
    <p:sldId id="1361" r:id="rId42"/>
    <p:sldId id="1337" r:id="rId43"/>
    <p:sldId id="1338" r:id="rId44"/>
    <p:sldId id="1362" r:id="rId45"/>
    <p:sldId id="1342" r:id="rId46"/>
    <p:sldId id="1343" r:id="rId47"/>
    <p:sldId id="1344" r:id="rId48"/>
    <p:sldId id="1345" r:id="rId49"/>
    <p:sldId id="1346" r:id="rId50"/>
    <p:sldId id="1347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8CD0-EFD1-4D27-A427-70167095FD10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D47A-F619-4A5B-A8DF-B8BE879F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6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59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839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937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551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84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77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00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24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77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07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590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159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810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803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81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071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931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43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17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3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381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95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651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3947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493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2324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6420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866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422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652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487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0486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794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2673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245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582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032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3000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239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818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010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342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7310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693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268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219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061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725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3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E42D-8E1F-4161-92FC-798002BD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8D7EA-6BDB-4E64-B964-80168CE3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6C0B8-A32B-4878-B781-603CA377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034E1-D035-43F7-B64D-2939882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B4D6F-9FE4-4AD6-8337-0FE1B65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B075D-15DC-42AC-93A2-6A06B06E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E679-C3AD-4C33-B06C-91BDD767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B38F1-C445-4800-90A5-8F3ED061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1018E-22E1-4D4F-A56D-10C1E62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D2562-0CCF-4227-85A9-AFD35B0E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92B2-AC57-485E-9E3F-B7B8C905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8D281-194B-468B-ADBA-76A4E238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BCE0-002E-42ED-B7C2-261D43E9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F642-B6DE-4777-8064-A39FFF8F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A94A4-38F0-4C2B-ADFE-D02E2B1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6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DB952-D4D5-4F3B-830A-67B71D6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57EF1-6F7D-43F5-BE79-67D16A90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1AE9-5B3A-45EC-8869-29C393E4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5487C-7666-44DE-80EE-2902D9B4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E3EDC2-3316-4B5C-A95A-0A39BECD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D2A1-3261-49CC-BA76-3E398676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3126-81EA-4C17-9D21-7D9EFAC3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55D8D7-9261-44FB-96B7-5B9D93CC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1393F-A933-46B1-B8AE-5B752A52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282E-4854-4A45-9EBC-6D406339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A79BF-2110-4A4A-A27C-3064D7DEA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97EF3B-A447-4A59-B47E-60D3E1B9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60F99-31D5-491C-8D88-3FBFBEFA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8E84E-BD81-4EE1-BFDF-4680C8F0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F80B8-CAFF-4186-813A-E935D303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07CB1-D86D-4955-AA11-EC43369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060BF-8F34-4402-8824-20704BA5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C4CC-E83E-4E13-AAC4-6236B53B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5E81-960E-452B-BEEC-237A765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8A7DE-E2FD-4DCD-88D4-9461A95F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45A2C-4D06-4ADE-A257-8FD50395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3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57E0-C81E-4CD1-AD98-8E486CB6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00199-6F84-4A59-8899-E8B2E6DE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90C66-7379-460F-9033-E6814CA8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F1194-1784-48F1-B41C-D7101B2E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CE248-CB85-4EB4-8EAB-B63C1C9F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F506F9-F269-4A99-9F79-36580B8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2D68-F164-431A-B045-FF32FD8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88AEBE-7DD1-4AB2-88CB-65DD42C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E8435-B02C-45D8-8560-2C62BF68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F48E-D282-434B-B1B1-A60EEBEE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310E0-45D2-4D33-B87B-87A037DA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B1FD-3803-4744-81A6-2E12760C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1C7E0-3A75-4623-9D79-2EC44EB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9C279-1369-407F-963C-3FDABB3B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AB553-602F-4D34-9454-6212EA2F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D560-2717-478A-957B-EFA0111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9566A-D4B7-4359-930C-6E60590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8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0FD482-6518-4B73-B8B4-737A92FE8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89D8D-031B-4157-A964-23279512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B225-C513-4598-8A7C-52A744EC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43814-5EB6-47BE-BCA3-2B92BA01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C6707-C37E-4D0E-B58E-FFC3494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2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5356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79C98-3199-4C9B-9161-434E02C1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E81D8-ADFF-4204-A1B1-03575868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5A6F5-C2B7-426F-8FB9-A73AD3EFA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7D63-D7B8-4F0E-B9CF-2A3E3830BAA8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0E02-245B-4209-85B4-765107BC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894D-1E88-4F89-8FD8-4C353DC3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wmf"/><Relationship Id="rId3" Type="http://schemas.openxmlformats.org/officeDocument/2006/relationships/image" Target="../media/image1.png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2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4" y="92076"/>
            <a:ext cx="56827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 Set &amp; Relation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5C4381-AF5E-41B0-9965-3FCFAB2117DB}"/>
              </a:ext>
            </a:extLst>
          </p:cNvPr>
          <p:cNvSpPr/>
          <p:nvPr/>
        </p:nvSpPr>
        <p:spPr>
          <a:xfrm>
            <a:off x="3999804" y="2850957"/>
            <a:ext cx="427552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集合和关系</a:t>
            </a:r>
            <a:endParaRPr lang="en-US" altLang="zh-CN" sz="54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  <a:p>
            <a:pPr algn="ctr"/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黑体" panose="02010609060101010101" pitchFamily="49" charset="-122"/>
                <a:cs typeface="+mj-cs"/>
              </a:rPr>
              <a:t>Set &amp; Relation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4525854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758BF4-8C89-464E-8D33-AED8018A9FE1}"/>
              </a:ext>
            </a:extLst>
          </p:cNvPr>
          <p:cNvSpPr txBox="1">
            <a:spLocks noChangeArrowheads="1"/>
          </p:cNvSpPr>
          <p:nvPr/>
        </p:nvSpPr>
        <p:spPr>
          <a:xfrm>
            <a:off x="1367693" y="1949802"/>
            <a:ext cx="8966999" cy="541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800" dirty="0">
                <a:latin typeface="+mn-ea"/>
              </a:rPr>
              <a:t>　　</a:t>
            </a:r>
            <a:r>
              <a:rPr lang="zh-CN" altLang="en-US" sz="2400" dirty="0">
                <a:latin typeface="+mn-ea"/>
              </a:rPr>
              <a:t>集合概念将作为一个不言自明的元概念（基本概念）。它不能用别的术语来精确的定义，只能用别的术语来加以说明。它本身就是用来定义其它概念的概念。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</a:rPr>
              <a:t>         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96358A-9CF6-4028-AD10-B641C74E007A}"/>
              </a:ext>
            </a:extLst>
          </p:cNvPr>
          <p:cNvSpPr txBox="1"/>
          <p:nvPr/>
        </p:nvSpPr>
        <p:spPr>
          <a:xfrm>
            <a:off x="1751013" y="1026233"/>
            <a:ext cx="2807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070C0"/>
                </a:solidFill>
              </a:rPr>
              <a:t>集合？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131230-1E11-4B32-AB43-44E425F130A0}"/>
              </a:ext>
            </a:extLst>
          </p:cNvPr>
          <p:cNvSpPr txBox="1"/>
          <p:nvPr/>
        </p:nvSpPr>
        <p:spPr>
          <a:xfrm>
            <a:off x="1136906" y="3577684"/>
            <a:ext cx="9263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集合</a:t>
            </a:r>
            <a:r>
              <a:rPr lang="zh-CN" altLang="en-US" sz="3200" dirty="0"/>
              <a:t>是由指定范围内满足给定条件的所有对象聚集在一起构成的。</a:t>
            </a:r>
          </a:p>
        </p:txBody>
      </p:sp>
    </p:spTree>
    <p:extLst>
      <p:ext uri="{BB962C8B-B14F-4D97-AF65-F5344CB8AC3E}">
        <p14:creationId xmlns:p14="http://schemas.microsoft.com/office/powerpoint/2010/main" val="10229795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883564C-C84E-403F-9145-7CA40C344807}"/>
              </a:ext>
            </a:extLst>
          </p:cNvPr>
          <p:cNvSpPr/>
          <p:nvPr/>
        </p:nvSpPr>
        <p:spPr>
          <a:xfrm>
            <a:off x="1571625" y="809786"/>
            <a:ext cx="10036350" cy="1494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</a:rPr>
              <a:t>任意性：</a:t>
            </a:r>
            <a:r>
              <a:rPr lang="zh-CN" altLang="en-US" sz="3200" dirty="0">
                <a:solidFill>
                  <a:srgbClr val="C00000"/>
                </a:solidFill>
              </a:rPr>
              <a:t>任意性是说组成集合的元素任意；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C00000"/>
                </a:solidFill>
              </a:rPr>
              <a:t>构成的法则任意；什么都可以构成集合，不加任何限制。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269F5D-E66B-4CDC-8381-EC5C9DD56CAF}"/>
              </a:ext>
            </a:extLst>
          </p:cNvPr>
          <p:cNvSpPr/>
          <p:nvPr/>
        </p:nvSpPr>
        <p:spPr>
          <a:xfrm>
            <a:off x="1460156" y="2672723"/>
            <a:ext cx="1014781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zh-CN" altLang="en-US" sz="3200" b="1" dirty="0">
                <a:solidFill>
                  <a:srgbClr val="C00000"/>
                </a:solidFill>
              </a:rPr>
              <a:t>确定性：</a:t>
            </a:r>
            <a:r>
              <a:rPr lang="zh-CN" altLang="en-US" sz="3200" dirty="0">
                <a:solidFill>
                  <a:srgbClr val="C00000"/>
                </a:solidFill>
              </a:rPr>
              <a:t>确定性是说集合确定；个体确定；集合与个体之间的关系确定。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10D352-2371-40EC-AB5A-68E0F5914E59}"/>
              </a:ext>
            </a:extLst>
          </p:cNvPr>
          <p:cNvSpPr/>
          <p:nvPr/>
        </p:nvSpPr>
        <p:spPr>
          <a:xfrm>
            <a:off x="1460156" y="4107543"/>
            <a:ext cx="80563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</a:rPr>
              <a:t>无重复性：</a:t>
            </a:r>
            <a:r>
              <a:rPr lang="zh-CN" altLang="en-US" sz="3200" dirty="0">
                <a:solidFill>
                  <a:srgbClr val="C00000"/>
                </a:solidFill>
              </a:rPr>
              <a:t>集合中元素的重复是无意义的。</a:t>
            </a:r>
            <a:endParaRPr lang="en-US" altLang="zh-CN" sz="32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90FABA-A76E-4682-932F-DF80090EEA42}"/>
              </a:ext>
            </a:extLst>
          </p:cNvPr>
          <p:cNvSpPr/>
          <p:nvPr/>
        </p:nvSpPr>
        <p:spPr>
          <a:xfrm>
            <a:off x="1460156" y="5195521"/>
            <a:ext cx="82537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</a:rPr>
              <a:t>无序性：</a:t>
            </a:r>
            <a:r>
              <a:rPr lang="zh-CN" altLang="en-US" sz="3200" dirty="0">
                <a:solidFill>
                  <a:srgbClr val="C00000"/>
                </a:solidFill>
              </a:rPr>
              <a:t>集合中的元素是无序的。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C00000"/>
              </a:solidFill>
              <a:sym typeface="Symbol" panose="05050102010706020507" pitchFamily="18" charset="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7E7E38CA-B0A0-1488-4190-B719BF8CF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77193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A177464-C366-4651-9B43-E02C89102072}"/>
              </a:ext>
            </a:extLst>
          </p:cNvPr>
          <p:cNvSpPr/>
          <p:nvPr/>
        </p:nvSpPr>
        <p:spPr>
          <a:xfrm>
            <a:off x="2034924" y="1071317"/>
            <a:ext cx="6984086" cy="3747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70C0"/>
                </a:solidFill>
              </a:rPr>
              <a:t>集合的表示法：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我们规定用花括号</a:t>
            </a:r>
            <a:r>
              <a:rPr lang="en-US" altLang="zh-CN" sz="2400" dirty="0"/>
              <a:t>——{  } </a:t>
            </a:r>
            <a:r>
              <a:rPr lang="zh-CN" altLang="en-US" sz="2400" dirty="0"/>
              <a:t>表示集合。</a:t>
            </a:r>
          </a:p>
          <a:p>
            <a:pPr>
              <a:lnSpc>
                <a:spcPct val="150000"/>
              </a:lnSpc>
            </a:pPr>
            <a:r>
              <a:rPr lang="en-US" altLang="zh-CN" sz="3200" dirty="0"/>
              <a:t>  (1) </a:t>
            </a:r>
            <a:r>
              <a:rPr lang="zh-CN" altLang="en-US" sz="3200" dirty="0"/>
              <a:t>叙述法（隐式法）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(2) </a:t>
            </a:r>
            <a:r>
              <a:rPr lang="zh-CN" altLang="en-US" sz="3200" dirty="0"/>
              <a:t>枚举法 （显示法）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(3) </a:t>
            </a:r>
            <a:r>
              <a:rPr lang="zh-CN" altLang="en-US" sz="3200" dirty="0"/>
              <a:t>归纳法 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/>
              <a:t>  (4) </a:t>
            </a:r>
            <a:r>
              <a:rPr lang="zh-CN" altLang="en-US" sz="3200" dirty="0"/>
              <a:t>递归指定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31511C-3AC2-42A6-9A89-9BBA11CC7F36}"/>
              </a:ext>
            </a:extLst>
          </p:cNvPr>
          <p:cNvSpPr txBox="1"/>
          <p:nvPr/>
        </p:nvSpPr>
        <p:spPr>
          <a:xfrm>
            <a:off x="1882523" y="5309629"/>
            <a:ext cx="7288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为任一集合，用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或 </a:t>
            </a:r>
            <a:r>
              <a:rPr lang="en-US" altLang="zh-CN" sz="2800" dirty="0">
                <a:solidFill>
                  <a:schemeClr val="accent1"/>
                </a:solidFill>
                <a:sym typeface="Symbol" panose="05050102010706020507" pitchFamily="18" charset="2"/>
              </a:rPr>
              <a:t>#A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表示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含有</a:t>
            </a:r>
            <a:r>
              <a:rPr lang="zh-CN" altLang="en-US" sz="2800" u="sng" dirty="0">
                <a:sym typeface="Symbol" panose="05050102010706020507" pitchFamily="18" charset="2"/>
              </a:rPr>
              <a:t>不同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元素的个数</a:t>
            </a:r>
            <a:r>
              <a:rPr lang="zh-CN" altLang="en-US" sz="2800" dirty="0">
                <a:sym typeface="Symbol" panose="05050102010706020507" pitchFamily="18" charset="2"/>
              </a:rPr>
              <a:t>，也称为集合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基数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2983A2-9EE7-12CF-8177-2AC2B0200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073142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81C0B1-A5E8-4F63-92F3-C6FA06687694}"/>
              </a:ext>
            </a:extLst>
          </p:cNvPr>
          <p:cNvSpPr/>
          <p:nvPr/>
        </p:nvSpPr>
        <p:spPr>
          <a:xfrm>
            <a:off x="1988874" y="1135058"/>
            <a:ext cx="8766837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个体与集合之间的关系：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个体与集合之间的关系称为</a:t>
            </a:r>
            <a:r>
              <a:rPr lang="zh-CN" altLang="en-US" sz="2800" b="1" dirty="0"/>
              <a:t>属于关系</a:t>
            </a:r>
            <a:r>
              <a:rPr lang="zh-CN" altLang="en-US" sz="2800" dirty="0"/>
              <a:t>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对于某个个体 </a:t>
            </a:r>
            <a:r>
              <a:rPr lang="en-US" altLang="zh-CN" sz="2800" dirty="0"/>
              <a:t>a </a:t>
            </a:r>
            <a:r>
              <a:rPr lang="zh-CN" altLang="en-US" sz="2800" dirty="0"/>
              <a:t>和某个集合 </a:t>
            </a:r>
            <a:r>
              <a:rPr lang="en-US" altLang="zh-CN" sz="2800" dirty="0"/>
              <a:t>A </a:t>
            </a:r>
            <a:r>
              <a:rPr lang="zh-CN" altLang="en-US" sz="2800" dirty="0"/>
              <a:t>而言， 只有两种可能：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　</a:t>
            </a:r>
            <a:r>
              <a:rPr lang="en-US" altLang="zh-CN" sz="2800" dirty="0"/>
              <a:t>(1)a </a:t>
            </a:r>
            <a:r>
              <a:rPr lang="zh-CN" altLang="en-US" sz="2800" dirty="0"/>
              <a:t>属于（</a:t>
            </a:r>
            <a:r>
              <a:rPr lang="en-US" altLang="zh-CN" sz="2800" dirty="0"/>
              <a:t>belong to</a:t>
            </a:r>
            <a:r>
              <a:rPr lang="zh-CN" altLang="en-US" sz="2800" dirty="0"/>
              <a:t>） </a:t>
            </a:r>
            <a:r>
              <a:rPr lang="en-US" altLang="zh-CN" sz="2800" dirty="0"/>
              <a:t>A</a:t>
            </a:r>
            <a:r>
              <a:rPr lang="zh-CN" altLang="en-US" sz="2800" dirty="0"/>
              <a:t>，记为 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dirty="0" err="1"/>
              <a:t>A</a:t>
            </a:r>
            <a:r>
              <a:rPr lang="zh-CN" altLang="en-US" sz="2800" dirty="0"/>
              <a:t>（记号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zh-CN" altLang="en-US" sz="2800" dirty="0"/>
              <a:t> 是希腊字</a:t>
            </a:r>
            <a:r>
              <a:rPr lang="zh-CN" altLang="en-US" sz="2800" dirty="0">
                <a:sym typeface="Symbol" panose="05050102010706020507" pitchFamily="18" charset="2"/>
              </a:rPr>
              <a:t>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的第一个字母，意思是“是”。由意大利数学家</a:t>
            </a:r>
            <a:r>
              <a:rPr lang="en-US" altLang="zh-CN" sz="2800" dirty="0" err="1">
                <a:sym typeface="Symbol" panose="05050102010706020507" pitchFamily="18" charset="2"/>
              </a:rPr>
              <a:t>G.Peano</a:t>
            </a:r>
            <a:r>
              <a:rPr lang="zh-CN" altLang="en-US" sz="2800" dirty="0">
                <a:sym typeface="Symbol" panose="05050102010706020507" pitchFamily="18" charset="2"/>
              </a:rPr>
              <a:t>首先采用</a:t>
            </a:r>
            <a:r>
              <a:rPr lang="zh-CN" altLang="en-US" sz="2800" dirty="0"/>
              <a:t>），同时称 </a:t>
            </a:r>
            <a:r>
              <a:rPr lang="en-US" altLang="zh-CN" sz="2800" dirty="0"/>
              <a:t>a </a:t>
            </a:r>
            <a:r>
              <a:rPr lang="zh-CN" altLang="en-US" sz="2800" dirty="0"/>
              <a:t>是 </a:t>
            </a:r>
            <a:r>
              <a:rPr lang="en-US" altLang="zh-CN" sz="2800" dirty="0"/>
              <a:t>A </a:t>
            </a:r>
            <a:r>
              <a:rPr lang="zh-CN" altLang="en-US" sz="2800" dirty="0"/>
              <a:t>的元素或</a:t>
            </a:r>
            <a:r>
              <a:rPr lang="en-US" altLang="zh-CN" sz="2800" dirty="0"/>
              <a:t>A</a:t>
            </a:r>
            <a:r>
              <a:rPr lang="zh-CN" altLang="en-US" sz="2800" dirty="0"/>
              <a:t>的成员。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　　</a:t>
            </a:r>
            <a:r>
              <a:rPr lang="en-US" altLang="zh-CN" sz="2800" dirty="0"/>
              <a:t>(2)a </a:t>
            </a:r>
            <a:r>
              <a:rPr lang="zh-CN" altLang="en-US" sz="2800" dirty="0"/>
              <a:t>不属于 </a:t>
            </a:r>
            <a:r>
              <a:rPr lang="en-US" altLang="zh-CN" sz="2800" dirty="0"/>
              <a:t>A</a:t>
            </a:r>
            <a:r>
              <a:rPr lang="zh-CN" altLang="en-US" sz="2800" dirty="0"/>
              <a:t>，记为 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</a:t>
            </a:r>
            <a:r>
              <a:rPr lang="en-US" altLang="zh-CN" sz="2800" dirty="0" err="1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，称 </a:t>
            </a:r>
            <a:r>
              <a:rPr lang="en-US" altLang="zh-CN" sz="2800" dirty="0"/>
              <a:t>a </a:t>
            </a:r>
            <a:r>
              <a:rPr lang="zh-CN" altLang="en-US" sz="2800" dirty="0"/>
              <a:t>不是 </a:t>
            </a:r>
            <a:r>
              <a:rPr lang="en-US" altLang="zh-CN" sz="2800" dirty="0"/>
              <a:t>A </a:t>
            </a:r>
            <a:r>
              <a:rPr lang="zh-CN" altLang="en-US" sz="2800" dirty="0"/>
              <a:t>的元素或</a:t>
            </a:r>
            <a:r>
              <a:rPr lang="en-US" altLang="zh-CN" sz="2800" dirty="0"/>
              <a:t>a </a:t>
            </a:r>
            <a:r>
              <a:rPr lang="zh-CN" altLang="en-US" sz="2800" dirty="0"/>
              <a:t>不是 </a:t>
            </a:r>
            <a:r>
              <a:rPr lang="en-US" altLang="zh-CN" sz="2800" dirty="0"/>
              <a:t>A </a:t>
            </a:r>
            <a:r>
              <a:rPr lang="zh-CN" altLang="en-US" sz="2800" dirty="0"/>
              <a:t>的成员。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507181EC-2A2F-4DD9-B0EA-9122026F1250}"/>
              </a:ext>
            </a:extLst>
          </p:cNvPr>
          <p:cNvGrpSpPr>
            <a:grpSpLocks/>
          </p:cNvGrpSpPr>
          <p:nvPr/>
        </p:nvGrpSpPr>
        <p:grpSpPr bwMode="auto">
          <a:xfrm>
            <a:off x="2587511" y="4495804"/>
            <a:ext cx="6553200" cy="2454275"/>
            <a:chOff x="1344" y="1584"/>
            <a:chExt cx="4128" cy="1546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CD2E97C-A535-49D8-8A26-E95371C0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24"/>
              <a:ext cx="1344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58C3F378-82E1-400E-82A5-F69405D35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112"/>
              <a:ext cx="816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B6A1CECD-43B2-4E43-AFA7-B6971B02F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016"/>
              <a:ext cx="105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DFBA97E7-0039-4F4C-9769-C1AC63DEF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672" cy="28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4BF79CBE-9F1C-4841-B1AD-D8ACEE250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112"/>
              <a:ext cx="1344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6E7BFAE7-8AD0-4237-9A2C-880113298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2256"/>
              <a:ext cx="28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6">
              <a:extLst>
                <a:ext uri="{FF2B5EF4-FFF2-40B4-BE49-F238E27FC236}">
                  <a16:creationId xmlns:a16="http://schemas.microsoft.com/office/drawing/2014/main" id="{0C078C8B-79B6-4848-9E7F-65E233E81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32"/>
              <a:ext cx="1344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000" b="0">
                <a:latin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zh-CN" sz="2000" b="0">
                <a:latin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Oval 17">
              <a:extLst>
                <a:ext uri="{FF2B5EF4-FFF2-40B4-BE49-F238E27FC236}">
                  <a16:creationId xmlns:a16="http://schemas.microsoft.com/office/drawing/2014/main" id="{05B1A79E-1C82-4992-8402-F558AA09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584"/>
              <a:ext cx="1296" cy="115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37B401BC-B315-4360-B333-892977DEA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20"/>
              <a:ext cx="48" cy="9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28F28094-FD74-47A7-A7B8-38CD4F628C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304" y="2352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zh-CN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22">
              <a:extLst>
                <a:ext uri="{FF2B5EF4-FFF2-40B4-BE49-F238E27FC236}">
                  <a16:creationId xmlns:a16="http://schemas.microsoft.com/office/drawing/2014/main" id="{422B63D0-A22E-4DFB-9BA4-400ADF2BCC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088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zh-CN" sz="2000" b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DC0B443A-0D11-4F78-AAB2-E61721696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88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zh-CN" altLang="zh-CN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30">
              <a:extLst>
                <a:ext uri="{FF2B5EF4-FFF2-40B4-BE49-F238E27FC236}">
                  <a16:creationId xmlns:a16="http://schemas.microsoft.com/office/drawing/2014/main" id="{6B8CAFF8-2B04-4401-8A85-5F2E97F02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36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0"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" name="Text Box 33">
              <a:extLst>
                <a:ext uri="{FF2B5EF4-FFF2-40B4-BE49-F238E27FC236}">
                  <a16:creationId xmlns:a16="http://schemas.microsoft.com/office/drawing/2014/main" id="{E59F68D0-F074-4A4E-B2FE-AFF6827CF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8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0">
                  <a:latin typeface="Times New Roman" panose="02020603050405020304" pitchFamily="18" charset="0"/>
                  <a:sym typeface="Symbol" panose="05050102010706020507" pitchFamily="18" charset="2"/>
                </a:rPr>
                <a:t></a:t>
              </a:r>
              <a:r>
                <a:rPr lang="en-US" altLang="zh-CN" sz="2000" b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" name="Text Box 38">
              <a:extLst>
                <a:ext uri="{FF2B5EF4-FFF2-40B4-BE49-F238E27FC236}">
                  <a16:creationId xmlns:a16="http://schemas.microsoft.com/office/drawing/2014/main" id="{108DD448-D251-4433-9D2A-24540A1F9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01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 b="0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31A52D4-9267-7771-57B1-83F5DC933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331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2ED8A0-1F6A-40EF-84A2-91387377F53B}"/>
              </a:ext>
            </a:extLst>
          </p:cNvPr>
          <p:cNvSpPr/>
          <p:nvPr/>
        </p:nvSpPr>
        <p:spPr>
          <a:xfrm>
            <a:off x="1682213" y="862739"/>
            <a:ext cx="2614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子集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subset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CF463-DF6A-43B9-A80B-DEC1FB55F8E3}"/>
              </a:ext>
            </a:extLst>
          </p:cNvPr>
          <p:cNvSpPr/>
          <p:nvPr/>
        </p:nvSpPr>
        <p:spPr>
          <a:xfrm>
            <a:off x="1682213" y="1648810"/>
            <a:ext cx="9372052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对于两个集合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中的每个元素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的一个元素，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包含在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中（或者说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AB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。同时称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子集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（称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的母集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超集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(superset)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）。即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D4DAEB-9FA6-4D9F-90D7-433CDAEB1F8E}"/>
              </a:ext>
            </a:extLst>
          </p:cNvPr>
          <p:cNvSpPr/>
          <p:nvPr/>
        </p:nvSpPr>
        <p:spPr>
          <a:xfrm>
            <a:off x="4038334" y="3157402"/>
            <a:ext cx="4599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321265-60E8-46F7-A674-6D3FEBC17010}"/>
              </a:ext>
            </a:extLst>
          </p:cNvPr>
          <p:cNvSpPr/>
          <p:nvPr/>
        </p:nvSpPr>
        <p:spPr>
          <a:xfrm>
            <a:off x="1571624" y="4133794"/>
            <a:ext cx="8460461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真子集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proper subset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   称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的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子集或者说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包含在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中（或者说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/>
              <a:t>真</a:t>
            </a:r>
            <a:r>
              <a:rPr lang="zh-CN" altLang="en-US" sz="2800" dirty="0">
                <a:sym typeface="Symbol" panose="05050102010706020507" pitchFamily="18" charset="2"/>
              </a:rPr>
              <a:t>包含</a:t>
            </a:r>
            <a:r>
              <a:rPr lang="en-US" altLang="zh-CN" sz="2800" dirty="0">
                <a:sym typeface="Symbol" panose="05050102010706020507" pitchFamily="18" charset="2"/>
              </a:rPr>
              <a:t>A </a:t>
            </a:r>
            <a:r>
              <a:rPr lang="zh-CN" altLang="en-US" sz="2800" dirty="0">
                <a:sym typeface="Symbol" panose="05050102010706020507" pitchFamily="18" charset="2"/>
              </a:rPr>
              <a:t>），记为</a:t>
            </a:r>
            <a:r>
              <a:rPr lang="en-US" altLang="zh-CN" sz="2800" dirty="0">
                <a:sym typeface="Symbol" panose="05050102010706020507" pitchFamily="18" charset="2"/>
              </a:rPr>
              <a:t>AB</a:t>
            </a:r>
            <a:r>
              <a:rPr lang="zh-CN" altLang="en-US" sz="2800" dirty="0">
                <a:sym typeface="Symbol" panose="05050102010706020507" pitchFamily="18" charset="2"/>
              </a:rPr>
              <a:t>。即</a:t>
            </a:r>
            <a:endParaRPr lang="zh-CN" alt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A6F7CA-0CCE-443C-94AE-8F4657E3BE45}"/>
              </a:ext>
            </a:extLst>
          </p:cNvPr>
          <p:cNvSpPr/>
          <p:nvPr/>
        </p:nvSpPr>
        <p:spPr>
          <a:xfrm>
            <a:off x="4383031" y="5581084"/>
            <a:ext cx="3425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AB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 A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/>
              <a:t>B </a:t>
            </a:r>
            <a:r>
              <a:rPr lang="zh-CN" altLang="en-US" sz="2800" dirty="0"/>
              <a:t>　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2497962E-C7B9-D1A8-477E-1729FFD11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9197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D689AAB-4243-430C-8ABA-2DA1B21C0A25}"/>
              </a:ext>
            </a:extLst>
          </p:cNvPr>
          <p:cNvSpPr/>
          <p:nvPr/>
        </p:nvSpPr>
        <p:spPr>
          <a:xfrm>
            <a:off x="1949404" y="1302174"/>
            <a:ext cx="8714210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自反性：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 A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反对称性：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BA 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A=B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kumimoji="1" lang="en-US" altLang="zh-C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传递性：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BC 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AC </a:t>
            </a:r>
            <a:r>
              <a:rPr kumimoji="1"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kumimoji="1" lang="en-US" altLang="zh-C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空集是任一集合的子集。即     </a:t>
            </a:r>
            <a:r>
              <a:rPr lang="zh-CN" altLang="en-US" sz="32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58A9332C-69AB-3D99-31F2-62607EE6A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158951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D02E53-46B9-4F9D-96F3-864A3D605A09}"/>
              </a:ext>
            </a:extLst>
          </p:cNvPr>
          <p:cNvSpPr/>
          <p:nvPr/>
        </p:nvSpPr>
        <p:spPr>
          <a:xfrm>
            <a:off x="1857306" y="878499"/>
            <a:ext cx="8477387" cy="454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幂集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一个集合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的所有子集构成的集合称为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的幂集。记为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latin typeface="Lucida Calligraphy" panose="03010101010101010101" pitchFamily="66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(A))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　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 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}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显然，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的两个平凡子集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 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都属于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的幂集。即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7ECDC4-1273-1A70-4A88-7CCC1C121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11961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4589DEB-5D48-4813-A277-248646E775A5}"/>
              </a:ext>
            </a:extLst>
          </p:cNvPr>
          <p:cNvSpPr/>
          <p:nvPr/>
        </p:nvSpPr>
        <p:spPr>
          <a:xfrm>
            <a:off x="2587511" y="2197660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是有限集合，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则有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|= 2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|A|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这个定理也说明，我们为什么把一切子集构成的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集合称为幂集。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31D573-939D-348C-5CCB-32AE7398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62343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37890">
            <a:extLst>
              <a:ext uri="{FF2B5EF4-FFF2-40B4-BE49-F238E27FC236}">
                <a16:creationId xmlns:a16="http://schemas.microsoft.com/office/drawing/2014/main" id="{1FA69DB0-196F-4F21-A27D-DE319C3715CB}"/>
              </a:ext>
            </a:extLst>
          </p:cNvPr>
          <p:cNvSpPr txBox="1">
            <a:spLocks noChangeArrowheads="1"/>
          </p:cNvSpPr>
          <p:nvPr/>
        </p:nvSpPr>
        <p:spPr>
          <a:xfrm>
            <a:off x="1357793" y="1455738"/>
            <a:ext cx="3721100" cy="4797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5000"/>
              </a:lnSpc>
              <a:buFontTx/>
              <a:buNone/>
            </a:pPr>
            <a:r>
              <a:rPr lang="zh-CN" altLang="en-US" sz="2000" dirty="0"/>
              <a:t>设</a:t>
            </a:r>
            <a:r>
              <a:rPr lang="en-US" altLang="zh-CN" sz="2000" dirty="0"/>
              <a:t>A，B</a:t>
            </a:r>
            <a:r>
              <a:rPr lang="zh-CN" altLang="en-US" sz="2000" dirty="0"/>
              <a:t>为任意两个集合。令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A∪B={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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A∩B={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A－B={</a:t>
            </a:r>
            <a:r>
              <a:rPr lang="en-US" altLang="zh-CN" sz="2000" dirty="0" err="1"/>
              <a:t>x|x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olidFill>
                  <a:srgbClr val="4D4D4D"/>
                </a:solidFill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</a:t>
            </a:r>
            <a:r>
              <a:rPr lang="en-US" altLang="zh-CN" sz="2000" dirty="0" err="1"/>
              <a:t>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endParaRPr lang="en-US" altLang="zh-CN" sz="2000" dirty="0"/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</a:t>
            </a:r>
            <a:r>
              <a:rPr lang="en-US" altLang="zh-CN" sz="2000" dirty="0"/>
              <a:t>B={x|(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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dirty="0" err="1"/>
              <a:t>B</a:t>
            </a:r>
            <a:r>
              <a:rPr lang="en-US" altLang="zh-CN" sz="2000" dirty="0"/>
              <a:t>)</a:t>
            </a:r>
            <a:r>
              <a:rPr lang="zh-CN" altLang="en-US" sz="2000" dirty="0">
                <a:solidFill>
                  <a:srgbClr val="4D4D4D"/>
                </a:solidFill>
                <a:sym typeface="cajcd fnta1" pitchFamily="2" charset="2"/>
              </a:rPr>
              <a:t>∧</a:t>
            </a:r>
            <a:r>
              <a:rPr lang="en-US" altLang="zh-CN" sz="2000" dirty="0" err="1"/>
              <a:t>x</a:t>
            </a:r>
            <a:r>
              <a:rPr lang="en-US" altLang="zh-CN" sz="2000" dirty="0" err="1">
                <a:sym typeface="Symbol" panose="05050102010706020507" pitchFamily="18" charset="2"/>
              </a:rPr>
              <a:t></a:t>
            </a:r>
            <a:r>
              <a:rPr lang="en-US" altLang="zh-CN" sz="2000" dirty="0" err="1"/>
              <a:t>A∩B</a:t>
            </a:r>
            <a:r>
              <a:rPr lang="en-US" altLang="zh-CN" sz="2000" dirty="0"/>
              <a:t>}</a:t>
            </a:r>
          </a:p>
          <a:p>
            <a:pPr algn="just">
              <a:lnSpc>
                <a:spcPct val="155000"/>
              </a:lnSpc>
              <a:buFontTx/>
              <a:buNone/>
            </a:pPr>
            <a:r>
              <a:rPr lang="en-US" altLang="zh-CN" sz="2000" dirty="0"/>
              <a:t>   =(A∪B)-(A∩B)</a:t>
            </a:r>
            <a:endParaRPr lang="zh-CN" altLang="en-US" sz="2400" dirty="0">
              <a:latin typeface="SimSun" panose="02010600030101010101" pitchFamily="2" charset="-122"/>
            </a:endParaRPr>
          </a:p>
          <a:p>
            <a:pPr>
              <a:lnSpc>
                <a:spcPct val="105000"/>
              </a:lnSpc>
              <a:buFontTx/>
              <a:buNone/>
            </a:pP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92CF49-ED00-482D-A936-5A899C9D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153" y="1920922"/>
            <a:ext cx="6738388" cy="420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并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(Union)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交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(Intersection),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A∩B=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称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不相交。</a:t>
            </a:r>
            <a:endParaRPr lang="en-US" altLang="zh-CN" sz="2000" dirty="0">
              <a:solidFill>
                <a:srgbClr val="0000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差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(Subtraction)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称差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U－A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对于某</a:t>
            </a:r>
            <a:r>
              <a:rPr lang="zh-CN" altLang="en-US" sz="2000" dirty="0">
                <a:solidFill>
                  <a:schemeClr val="bg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全集</a:t>
            </a:r>
          </a:p>
          <a:p>
            <a:pPr>
              <a:lnSpc>
                <a:spcPct val="19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U (Universal)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的补集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(Complement Set)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，用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来表示。</a:t>
            </a:r>
            <a:r>
              <a:rPr lang="zh-CN" altLang="en-US" sz="2000" dirty="0">
                <a:solidFill>
                  <a:srgbClr val="3333FF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绝对补</a:t>
            </a:r>
            <a:r>
              <a:rPr lang="en-US" altLang="zh-CN" sz="2000" dirty="0">
                <a:solidFill>
                  <a:srgbClr val="CC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3333FF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相对补</a:t>
            </a:r>
          </a:p>
          <a:p>
            <a:pPr>
              <a:lnSpc>
                <a:spcPct val="195000"/>
              </a:lnSpc>
            </a:pPr>
            <a:r>
              <a:rPr lang="zh-CN" altLang="en-US" sz="2000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对称差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(Symmetric Difference)</a:t>
            </a:r>
            <a:endParaRPr lang="zh-CN" altLang="en-US" sz="2000" dirty="0">
              <a:solidFill>
                <a:srgbClr val="3333FF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9868B1A-1B0B-4F17-A4B1-D0D76970ADC4}"/>
              </a:ext>
            </a:extLst>
          </p:cNvPr>
          <p:cNvGrpSpPr>
            <a:grpSpLocks/>
          </p:cNvGrpSpPr>
          <p:nvPr/>
        </p:nvGrpSpPr>
        <p:grpSpPr bwMode="auto">
          <a:xfrm>
            <a:off x="7585555" y="852488"/>
            <a:ext cx="1477963" cy="1527175"/>
            <a:chOff x="0" y="0"/>
            <a:chExt cx="1008" cy="963"/>
          </a:xfrm>
        </p:grpSpPr>
        <p:sp>
          <p:nvSpPr>
            <p:cNvPr id="7" name="椭圆 37893">
              <a:extLst>
                <a:ext uri="{FF2B5EF4-FFF2-40B4-BE49-F238E27FC236}">
                  <a16:creationId xmlns:a16="http://schemas.microsoft.com/office/drawing/2014/main" id="{427BA45F-C785-4524-B0BB-CEDE2D18F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8" name="椭圆 37894">
              <a:extLst>
                <a:ext uri="{FF2B5EF4-FFF2-40B4-BE49-F238E27FC236}">
                  <a16:creationId xmlns:a16="http://schemas.microsoft.com/office/drawing/2014/main" id="{045D7DEE-8A60-4519-B0E8-9B00B3011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9" name="矩形 37895">
              <a:extLst>
                <a:ext uri="{FF2B5EF4-FFF2-40B4-BE49-F238E27FC236}">
                  <a16:creationId xmlns:a16="http://schemas.microsoft.com/office/drawing/2014/main" id="{CA76BA74-B6E4-4E6D-ABCC-6F1F4F21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" name="矩形 37896">
              <a:extLst>
                <a:ext uri="{FF2B5EF4-FFF2-40B4-BE49-F238E27FC236}">
                  <a16:creationId xmlns:a16="http://schemas.microsoft.com/office/drawing/2014/main" id="{37726212-B0E3-4FB1-8B4C-8F5DF95D3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675"/>
              <a:ext cx="4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A-</a:t>
              </a:r>
              <a:r>
                <a:rPr lang="en-US" altLang="zh-CN">
                  <a:latin typeface="Arial" panose="020B0604020202020204" pitchFamily="34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11" name="直接连接符 37897">
              <a:extLst>
                <a:ext uri="{FF2B5EF4-FFF2-40B4-BE49-F238E27FC236}">
                  <a16:creationId xmlns:a16="http://schemas.microsoft.com/office/drawing/2014/main" id="{CFE05F33-DC3C-4C72-AC99-AE73428F1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37898">
              <a:extLst>
                <a:ext uri="{FF2B5EF4-FFF2-40B4-BE49-F238E27FC236}">
                  <a16:creationId xmlns:a16="http://schemas.microsoft.com/office/drawing/2014/main" id="{A56B5A6B-F9E8-4CDA-88CF-B2DFF551B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37899">
              <a:extLst>
                <a:ext uri="{FF2B5EF4-FFF2-40B4-BE49-F238E27FC236}">
                  <a16:creationId xmlns:a16="http://schemas.microsoft.com/office/drawing/2014/main" id="{ECF9FF87-22C9-4C9E-BD21-4E413B056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37900">
              <a:extLst>
                <a:ext uri="{FF2B5EF4-FFF2-40B4-BE49-F238E27FC236}">
                  <a16:creationId xmlns:a16="http://schemas.microsoft.com/office/drawing/2014/main" id="{3E52E4AC-5309-4955-B5D1-E6D773052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5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37901">
              <a:extLst>
                <a:ext uri="{FF2B5EF4-FFF2-40B4-BE49-F238E27FC236}">
                  <a16:creationId xmlns:a16="http://schemas.microsoft.com/office/drawing/2014/main" id="{6070D14D-E90A-4E39-981A-B336347D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6" name="直接连接符 37902">
              <a:extLst>
                <a:ext uri="{FF2B5EF4-FFF2-40B4-BE49-F238E27FC236}">
                  <a16:creationId xmlns:a16="http://schemas.microsoft.com/office/drawing/2014/main" id="{24EE8A29-5DFA-4347-824F-40E0B316C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7" name="矩形 37903">
              <a:extLst>
                <a:ext uri="{FF2B5EF4-FFF2-40B4-BE49-F238E27FC236}">
                  <a16:creationId xmlns:a16="http://schemas.microsoft.com/office/drawing/2014/main" id="{335903CE-5A83-4527-A887-CF7A0D07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8" name="矩形 37904">
              <a:extLst>
                <a:ext uri="{FF2B5EF4-FFF2-40B4-BE49-F238E27FC236}">
                  <a16:creationId xmlns:a16="http://schemas.microsoft.com/office/drawing/2014/main" id="{7F927A5D-73A3-457E-AF23-39BB04159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B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5E5FDEE-0B62-47F7-81E9-C4C6484A1DC4}"/>
              </a:ext>
            </a:extLst>
          </p:cNvPr>
          <p:cNvGrpSpPr>
            <a:grpSpLocks/>
          </p:cNvGrpSpPr>
          <p:nvPr/>
        </p:nvGrpSpPr>
        <p:grpSpPr bwMode="auto">
          <a:xfrm>
            <a:off x="7550365" y="845079"/>
            <a:ext cx="1477963" cy="1524000"/>
            <a:chOff x="0" y="0"/>
            <a:chExt cx="1008" cy="960"/>
          </a:xfrm>
        </p:grpSpPr>
        <p:sp>
          <p:nvSpPr>
            <p:cNvPr id="20" name="椭圆 37906">
              <a:extLst>
                <a:ext uri="{FF2B5EF4-FFF2-40B4-BE49-F238E27FC236}">
                  <a16:creationId xmlns:a16="http://schemas.microsoft.com/office/drawing/2014/main" id="{CFC59CC1-AF41-4C7B-8DEF-F6E2EF845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1" name="椭圆 37907">
              <a:extLst>
                <a:ext uri="{FF2B5EF4-FFF2-40B4-BE49-F238E27FC236}">
                  <a16:creationId xmlns:a16="http://schemas.microsoft.com/office/drawing/2014/main" id="{EB0DB83D-6BF5-4F8B-A832-9BFDB4182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44"/>
              <a:ext cx="480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2" name="矩形 37908">
              <a:extLst>
                <a:ext uri="{FF2B5EF4-FFF2-40B4-BE49-F238E27FC236}">
                  <a16:creationId xmlns:a16="http://schemas.microsoft.com/office/drawing/2014/main" id="{762CF1CD-7E83-4F36-9CDC-1521188B2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3" name="矩形 37909">
              <a:extLst>
                <a:ext uri="{FF2B5EF4-FFF2-40B4-BE49-F238E27FC236}">
                  <a16:creationId xmlns:a16="http://schemas.microsoft.com/office/drawing/2014/main" id="{651FB42A-8493-4867-B937-D8F3710E1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672"/>
              <a:ext cx="5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r>
                <a:rPr lang="en-US" altLang="zh-CN">
                  <a:latin typeface="Arial" panose="020B0604020202020204" pitchFamily="34" charset="0"/>
                  <a:sym typeface="Symbol" panose="05050102010706020507" pitchFamily="18" charset="2"/>
                </a:rPr>
                <a:t>B</a:t>
              </a:r>
            </a:p>
          </p:txBody>
        </p:sp>
        <p:sp>
          <p:nvSpPr>
            <p:cNvPr id="24" name="直接连接符 37910">
              <a:extLst>
                <a:ext uri="{FF2B5EF4-FFF2-40B4-BE49-F238E27FC236}">
                  <a16:creationId xmlns:a16="http://schemas.microsoft.com/office/drawing/2014/main" id="{74BCE90D-4E11-4ACA-B66B-35403F9E9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37911">
              <a:extLst>
                <a:ext uri="{FF2B5EF4-FFF2-40B4-BE49-F238E27FC236}">
                  <a16:creationId xmlns:a16="http://schemas.microsoft.com/office/drawing/2014/main" id="{8F59556D-79EB-4A81-BDA9-BA6EF6148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37912">
              <a:extLst>
                <a:ext uri="{FF2B5EF4-FFF2-40B4-BE49-F238E27FC236}">
                  <a16:creationId xmlns:a16="http://schemas.microsoft.com/office/drawing/2014/main" id="{8D67321D-7CA4-47E0-B964-6C9E517BF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37913">
              <a:extLst>
                <a:ext uri="{FF2B5EF4-FFF2-40B4-BE49-F238E27FC236}">
                  <a16:creationId xmlns:a16="http://schemas.microsoft.com/office/drawing/2014/main" id="{8BDD200F-8F39-4322-AD6C-6465C1131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5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37914">
              <a:extLst>
                <a:ext uri="{FF2B5EF4-FFF2-40B4-BE49-F238E27FC236}">
                  <a16:creationId xmlns:a16="http://schemas.microsoft.com/office/drawing/2014/main" id="{F5D02778-3B8B-4203-82CD-115A27134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5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9" name="直接连接符 37915">
              <a:extLst>
                <a:ext uri="{FF2B5EF4-FFF2-40B4-BE49-F238E27FC236}">
                  <a16:creationId xmlns:a16="http://schemas.microsoft.com/office/drawing/2014/main" id="{25D6829D-187E-4721-AC08-A5003E4D5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4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0" name="直接连接符 37916">
              <a:extLst>
                <a:ext uri="{FF2B5EF4-FFF2-40B4-BE49-F238E27FC236}">
                  <a16:creationId xmlns:a16="http://schemas.microsoft.com/office/drawing/2014/main" id="{C8F22B2F-D33B-4E9F-83F4-70E5A8702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1" name="直接连接符 37917">
              <a:extLst>
                <a:ext uri="{FF2B5EF4-FFF2-40B4-BE49-F238E27FC236}">
                  <a16:creationId xmlns:a16="http://schemas.microsoft.com/office/drawing/2014/main" id="{CF944DAE-9D82-4EEA-8B32-9F70B8E44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32" name="矩形 37918">
              <a:extLst>
                <a:ext uri="{FF2B5EF4-FFF2-40B4-BE49-F238E27FC236}">
                  <a16:creationId xmlns:a16="http://schemas.microsoft.com/office/drawing/2014/main" id="{BE32CC5B-1647-49DF-A371-9B798DE3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A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3" name="矩形 37919">
              <a:extLst>
                <a:ext uri="{FF2B5EF4-FFF2-40B4-BE49-F238E27FC236}">
                  <a16:creationId xmlns:a16="http://schemas.microsoft.com/office/drawing/2014/main" id="{37220CDA-F98F-4789-9EAC-D4A524067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</a:rPr>
                <a:t>B</a:t>
              </a:r>
              <a:endParaRPr lang="en-US" altLang="zh-CN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A44C3D37-3A38-AEE3-146E-A7868CCE6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8332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4A5442B-6FD1-49DF-84FC-9987EC005F0A}"/>
              </a:ext>
            </a:extLst>
          </p:cNvPr>
          <p:cNvSpPr txBox="1">
            <a:spLocks noChangeArrowheads="1"/>
          </p:cNvSpPr>
          <p:nvPr/>
        </p:nvSpPr>
        <p:spPr>
          <a:xfrm>
            <a:off x="3763526" y="1275958"/>
            <a:ext cx="4965700" cy="731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A</a:t>
            </a:r>
            <a:r>
              <a:rPr lang="en-US" altLang="zh-CN" baseline="-30000" dirty="0"/>
              <a:t>1</a:t>
            </a:r>
            <a:r>
              <a:rPr lang="en-US" altLang="zh-CN" dirty="0"/>
              <a:t>∪A</a:t>
            </a:r>
            <a:r>
              <a:rPr lang="en-US" altLang="zh-CN" baseline="-30000" dirty="0"/>
              <a:t>2</a:t>
            </a:r>
            <a:r>
              <a:rPr lang="en-US" altLang="zh-CN" dirty="0"/>
              <a:t>∪A</a:t>
            </a:r>
            <a:r>
              <a:rPr lang="en-US" altLang="zh-CN" baseline="-30000" dirty="0"/>
              <a:t>3</a:t>
            </a:r>
            <a:r>
              <a:rPr lang="en-US" altLang="zh-CN" dirty="0"/>
              <a:t>∪</a:t>
            </a:r>
            <a:r>
              <a:rPr lang="en-US" altLang="zh-CN" dirty="0">
                <a:latin typeface="宋体" panose="02010600030101010101" pitchFamily="2" charset="-122"/>
              </a:rPr>
              <a:t>……</a:t>
            </a:r>
            <a:r>
              <a:rPr lang="en-US" altLang="zh-CN" dirty="0"/>
              <a:t>∪A</a:t>
            </a:r>
            <a:r>
              <a:rPr lang="en-US" altLang="zh-CN" baseline="-30000" dirty="0"/>
              <a:t>n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73D58113-443C-4788-9D9D-5D30BCA81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153652"/>
              </p:ext>
            </p:extLst>
          </p:nvPr>
        </p:nvGraphicFramePr>
        <p:xfrm>
          <a:off x="2196663" y="1058461"/>
          <a:ext cx="14049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380880" progId="Equation.DSMT4">
                  <p:embed/>
                </p:oleObj>
              </mc:Choice>
              <mc:Fallback>
                <p:oleObj name="Equation" r:id="rId4" imgW="431640" imgH="380880" progId="Equation.DSMT4">
                  <p:embed/>
                  <p:pic>
                    <p:nvPicPr>
                      <p:cNvPr id="1017860" name="Object 4">
                        <a:extLst>
                          <a:ext uri="{FF2B5EF4-FFF2-40B4-BE49-F238E27FC236}">
                            <a16:creationId xmlns:a16="http://schemas.microsoft.com/office/drawing/2014/main" id="{BD6612A2-93E7-4385-A965-330AB4E27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663" y="1058461"/>
                        <a:ext cx="14049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9A7DE5B8-1599-4959-B856-EBFC48BE9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482666"/>
              </p:ext>
            </p:extLst>
          </p:nvPr>
        </p:nvGraphicFramePr>
        <p:xfrm>
          <a:off x="2179201" y="2322120"/>
          <a:ext cx="282892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393480" progId="Equation.3">
                  <p:embed/>
                </p:oleObj>
              </mc:Choice>
              <mc:Fallback>
                <p:oleObj name="Equation" r:id="rId6" imgW="1130040" imgH="393480" progId="Equation.3">
                  <p:embed/>
                  <p:pic>
                    <p:nvPicPr>
                      <p:cNvPr id="1017861" name="Object 5">
                        <a:extLst>
                          <a:ext uri="{FF2B5EF4-FFF2-40B4-BE49-F238E27FC236}">
                            <a16:creationId xmlns:a16="http://schemas.microsoft.com/office/drawing/2014/main" id="{18B0ABAF-173B-4AE8-A13F-08CE8FC6D4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201" y="2322120"/>
                        <a:ext cx="282892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5E87F5E8-414C-418B-88A0-8A36E5408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751125"/>
              </p:ext>
            </p:extLst>
          </p:nvPr>
        </p:nvGraphicFramePr>
        <p:xfrm>
          <a:off x="2209363" y="4368408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393480" progId="Equation.3">
                  <p:embed/>
                </p:oleObj>
              </mc:Choice>
              <mc:Fallback>
                <p:oleObj name="Equation" r:id="rId8" imgW="888840" imgH="393480" progId="Equation.3">
                  <p:embed/>
                  <p:pic>
                    <p:nvPicPr>
                      <p:cNvPr id="1017862" name="Object 6">
                        <a:extLst>
                          <a:ext uri="{FF2B5EF4-FFF2-40B4-BE49-F238E27FC236}">
                            <a16:creationId xmlns:a16="http://schemas.microsoft.com/office/drawing/2014/main" id="{2AAAEBAD-66BE-4310-893E-DECE7651CE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363" y="4368408"/>
                        <a:ext cx="22225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839173AC-3E7F-4589-AB95-D082B4537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128834"/>
              </p:ext>
            </p:extLst>
          </p:nvPr>
        </p:nvGraphicFramePr>
        <p:xfrm>
          <a:off x="2209363" y="5332020"/>
          <a:ext cx="2222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393480" progId="Equation.3">
                  <p:embed/>
                </p:oleObj>
              </mc:Choice>
              <mc:Fallback>
                <p:oleObj name="Equation" r:id="rId10" imgW="888840" imgH="393480" progId="Equation.3">
                  <p:embed/>
                  <p:pic>
                    <p:nvPicPr>
                      <p:cNvPr id="1017863" name="Object 7">
                        <a:extLst>
                          <a:ext uri="{FF2B5EF4-FFF2-40B4-BE49-F238E27FC236}">
                            <a16:creationId xmlns:a16="http://schemas.microsoft.com/office/drawing/2014/main" id="{EEED53F8-E837-4125-9568-782217157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363" y="5332020"/>
                        <a:ext cx="22225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5FE9E2D1-0608-4D75-A306-CD23C1D08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676" y="1860158"/>
            <a:ext cx="626586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={x|(x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ea typeface="黑体" panose="02010609060101010101" pitchFamily="49" charset="-122"/>
              </a:rPr>
              <a:t>……</a:t>
            </a:r>
            <a:r>
              <a:rPr lang="zh-CN" altLang="en-US" sz="300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30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000">
                <a:latin typeface="黑体" panose="02010609060101010101" pitchFamily="49" charset="-122"/>
                <a:ea typeface="黑体" panose="02010609060101010101" pitchFamily="49" charset="-122"/>
              </a:rPr>
              <a:t>)}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FAA30EF-AFD8-43FE-8D1F-AB5B4D66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088" y="2499920"/>
            <a:ext cx="42672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>
                <a:ea typeface="黑体" panose="02010609060101010101" pitchFamily="49" charset="-122"/>
              </a:rPr>
              <a:t>……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3B6AB703-D8C1-4CB0-9493-D2E3B3657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488" y="3312720"/>
            <a:ext cx="6858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{x|(x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ea typeface="黑体" panose="02010609060101010101" pitchFamily="49" charset="-122"/>
              </a:rPr>
              <a:t>……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(x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)}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ACF83A0-5450-4169-BEAD-21F3483CF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388" y="3877870"/>
            <a:ext cx="78486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无限增大时，可以记为：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EC3294A-730A-41BB-ACE8-F434D2C0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88" y="4557320"/>
            <a:ext cx="3200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∪</a:t>
            </a:r>
            <a:r>
              <a:rPr lang="en-US" altLang="zh-CN" sz="2800">
                <a:ea typeface="黑体" panose="02010609060101010101" pitchFamily="49" charset="-122"/>
              </a:rPr>
              <a:t>…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E2DFEA1-266B-46F4-8FCC-94A9BF8E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488" y="5547920"/>
            <a:ext cx="3581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∩A</a:t>
            </a:r>
            <a:r>
              <a:rPr lang="en-US" altLang="zh-CN" sz="2800" baseline="-30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∩</a:t>
            </a:r>
            <a:r>
              <a:rPr lang="en-US" altLang="zh-CN" sz="2800">
                <a:ea typeface="黑体" panose="02010609060101010101" pitchFamily="49" charset="-122"/>
              </a:rPr>
              <a:t>…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4E5DA9D2-226B-5DB5-51EE-739F38352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21786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7BF7E43-AF43-4E98-A703-5203C06CCDEC}"/>
              </a:ext>
            </a:extLst>
          </p:cNvPr>
          <p:cNvSpPr/>
          <p:nvPr/>
        </p:nvSpPr>
        <p:spPr>
          <a:xfrm>
            <a:off x="2640138" y="1201909"/>
            <a:ext cx="6096000" cy="46924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设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A，B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为任意三个集合，则有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 (1)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A∪B；		 (2)A∩B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A∩B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(3)A－B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A；		             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(4)A－B＝A∩B’；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(5)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B’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A’；		 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(6)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A∪B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C；</a:t>
            </a:r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 (7)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若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且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C，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则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B∩C。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3C5B23-2058-04CB-EF7C-40CE1161F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22937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48130">
            <a:extLst>
              <a:ext uri="{FF2B5EF4-FFF2-40B4-BE49-F238E27FC236}">
                <a16:creationId xmlns:a16="http://schemas.microsoft.com/office/drawing/2014/main" id="{49F4778A-7ABC-4B8E-91C1-218E97711BB7}"/>
              </a:ext>
            </a:extLst>
          </p:cNvPr>
          <p:cNvSpPr txBox="1">
            <a:spLocks noChangeArrowheads="1"/>
          </p:cNvSpPr>
          <p:nvPr/>
        </p:nvSpPr>
        <p:spPr>
          <a:xfrm>
            <a:off x="1898581" y="931623"/>
            <a:ext cx="4589463" cy="43957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A、B、C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是全集合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的任意子集，有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等幂律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 A∪A＝A， A∩A＝A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(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A∪B)∪C＝A∪(B∪C)，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 (A∩B)∩C＝A∩(B∩C)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A∪B＝B∪A， A∩B＝B∩A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A∪(B∩C)＝(A∪B)∩(A∪C)，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A∩(B∪C)＝(A∩B)∪(A∩C)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</a:rPr>
              <a:t>(5)</a:t>
            </a:r>
            <a:r>
              <a:rPr lang="zh-CN" altLang="en-US" sz="170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同一律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    A∪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</a:t>
            </a:r>
            <a:r>
              <a:rPr lang="en-US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＝A， A∩U＝A 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F4E2A6-3FF8-439D-977D-1B09AF18E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568" y="1178531"/>
            <a:ext cx="4505325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20000"/>
              </a:spcBef>
            </a:pPr>
            <a:endParaRPr lang="zh-CN" altLang="en-US" sz="17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(6)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零一律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A∪U＝U， A∩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(7)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互补律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＝U， A∩A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endParaRPr lang="en-US" altLang="zh-CN" sz="1700" b="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(8)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吸收律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A∪(A∩B)＝A， A∩(A∪B)＝A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(9)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德摩根律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(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A∪B)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∩B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， (A∩B)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∪B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endParaRPr lang="en-US" altLang="zh-CN" sz="1700" b="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   U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， 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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＝U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 (10)</a:t>
            </a:r>
            <a:r>
              <a:rPr lang="zh-CN" altLang="en-US" sz="1700" b="0" dirty="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对合律</a:t>
            </a: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sz="17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(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)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</a:t>
            </a:r>
            <a:r>
              <a:rPr lang="en-US" altLang="zh-CN" sz="1700" b="0" dirty="0">
                <a:solidFill>
                  <a:srgbClr val="000000"/>
                </a:solidFill>
                <a:latin typeface="Comic Sans MS" panose="030F0702030302020204" pitchFamily="66" charset="0"/>
              </a:rPr>
              <a:t>＝A</a:t>
            </a:r>
          </a:p>
          <a:p>
            <a:pPr>
              <a:lnSpc>
                <a:spcPct val="105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sz="17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E3A8132-7AD2-A666-5480-F7121D69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98174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50178">
            <a:extLst>
              <a:ext uri="{FF2B5EF4-FFF2-40B4-BE49-F238E27FC236}">
                <a16:creationId xmlns:a16="http://schemas.microsoft.com/office/drawing/2014/main" id="{CB8B0FA8-C5D2-4728-A7A4-6304C7591AC0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36337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+mn-ea"/>
              </a:rPr>
              <a:t>集合等式的证明</a:t>
            </a:r>
          </a:p>
          <a:p>
            <a:pPr>
              <a:buFontTx/>
              <a:buNone/>
            </a:pPr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逻辑演算法</a:t>
            </a:r>
            <a:r>
              <a:rPr lang="en-US" altLang="zh-CN" dirty="0">
                <a:latin typeface="+mn-ea"/>
              </a:rPr>
              <a:t>: </a:t>
            </a:r>
            <a:r>
              <a:rPr lang="zh-CN" altLang="en-US" dirty="0">
                <a:latin typeface="+mn-ea"/>
              </a:rPr>
              <a:t>利用逻辑等值式和推理规则</a:t>
            </a:r>
          </a:p>
          <a:p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集合演算法</a:t>
            </a:r>
            <a:r>
              <a:rPr lang="en-US" altLang="zh-CN" dirty="0">
                <a:latin typeface="+mn-ea"/>
              </a:rPr>
              <a:t>: </a:t>
            </a:r>
            <a:r>
              <a:rPr lang="zh-CN" altLang="en-US" dirty="0">
                <a:latin typeface="+mn-ea"/>
              </a:rPr>
              <a:t>利用集合恒等式和已知结论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75E06371-CE95-F43A-27BA-283DF5C3A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409310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67A5FB-2CEC-44E7-AE19-2EF2FEC877F9}"/>
              </a:ext>
            </a:extLst>
          </p:cNvPr>
          <p:cNvSpPr txBox="1"/>
          <p:nvPr/>
        </p:nvSpPr>
        <p:spPr>
          <a:xfrm>
            <a:off x="1960367" y="1013076"/>
            <a:ext cx="89532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个具有给定次序的个体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组成的序列，叫做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重有序组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有序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,ordered tuple)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。其中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叫做该有序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元组的第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个坐标。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870BE-559D-4BE1-9256-9AB5F3FE1553}"/>
              </a:ext>
            </a:extLst>
          </p:cNvPr>
          <p:cNvSpPr/>
          <p:nvPr/>
        </p:nvSpPr>
        <p:spPr>
          <a:xfrm>
            <a:off x="2191726" y="3128761"/>
            <a:ext cx="7808548" cy="660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重有序组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相等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&lt;a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,…,a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&gt;=&lt;b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33800E-7098-4905-BF86-FA010495D4BB}"/>
              </a:ext>
            </a:extLst>
          </p:cNvPr>
          <p:cNvSpPr/>
          <p:nvPr/>
        </p:nvSpPr>
        <p:spPr>
          <a:xfrm>
            <a:off x="677574" y="4007499"/>
            <a:ext cx="1121620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 &lt;b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n=m(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iN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1EA8AB-93BD-295D-B6CF-0B0C16D60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76123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DDBCB4-E414-40C6-9664-42F8A8C992BA}"/>
              </a:ext>
            </a:extLst>
          </p:cNvPr>
          <p:cNvSpPr/>
          <p:nvPr/>
        </p:nvSpPr>
        <p:spPr>
          <a:xfrm>
            <a:off x="1571625" y="1031539"/>
            <a:ext cx="94399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叉积，笛卡尔积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(cross product ,Cartesian product)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维笛卡尔积定义为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n)}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40DF5-8B56-4CE0-8267-615624316F2A}"/>
              </a:ext>
            </a:extLst>
          </p:cNvPr>
          <p:cNvSpPr/>
          <p:nvPr/>
        </p:nvSpPr>
        <p:spPr>
          <a:xfrm>
            <a:off x="1751013" y="3510530"/>
            <a:ext cx="881288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维叉积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的每个元素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都称为一个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n-tuple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）；即，叉积是元组的集合；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的第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个位置上的元素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元组的第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个分量（坐标或投影）；元组各分量的顺序不能改变；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称为该叉积及其元组的维数；</a:t>
            </a:r>
          </a:p>
          <a:p>
            <a:pPr>
              <a:buFont typeface="Symbol" panose="05050102010706020507" pitchFamily="18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两个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元组相等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它们的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维数相同且对应的分量相等。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B3482F9C-B17E-A944-29FE-50F068E08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9689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AD3783-FEDB-44A1-9B49-89D391A8B1D8}"/>
              </a:ext>
            </a:extLst>
          </p:cNvPr>
          <p:cNvSpPr/>
          <p:nvPr/>
        </p:nvSpPr>
        <p:spPr>
          <a:xfrm>
            <a:off x="659035" y="1513739"/>
            <a:ext cx="1104360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二个集合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二维或二重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笛卡尔积定义为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={&lt;a, b&gt;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其元素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二元组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通常称为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序偶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或偶对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(ordered pair)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二元组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第一分量上的元素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称为前者；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第二分量上的元素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称为后者；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二维叉积的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第一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称为前集；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第二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称为后集。</a:t>
            </a:r>
          </a:p>
        </p:txBody>
      </p:sp>
      <p:sp>
        <p:nvSpPr>
          <p:cNvPr id="5" name="内容占位符 22530">
            <a:extLst>
              <a:ext uri="{FF2B5EF4-FFF2-40B4-BE49-F238E27FC236}">
                <a16:creationId xmlns:a16="http://schemas.microsoft.com/office/drawing/2014/main" id="{0B780738-E2AA-4840-BCAE-78265812D275}"/>
              </a:ext>
            </a:extLst>
          </p:cNvPr>
          <p:cNvSpPr txBox="1">
            <a:spLocks/>
          </p:cNvSpPr>
          <p:nvPr/>
        </p:nvSpPr>
        <p:spPr>
          <a:xfrm>
            <a:off x="1820238" y="738188"/>
            <a:ext cx="8229600" cy="77555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笛卡尔积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(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Cartesian product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，卡氏积</a:t>
            </a:r>
            <a:r>
              <a:rPr lang="en-US" altLang="x-none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)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: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 </a:t>
            </a:r>
            <a:r>
              <a:rPr lang="zh-CN" altLang="en-US" sz="2215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	</a:t>
            </a:r>
            <a:endParaRPr lang="zh-CN" altLang="en-US" sz="2215" dirty="0">
              <a:solidFill>
                <a:srgbClr val="CC0000"/>
              </a:solidFill>
              <a:latin typeface="Microsoft YaHei" panose="020B0503020204020204" charset="-122"/>
              <a:ea typeface="Microsoft YaHei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3185E9-AAB5-4183-8144-70BEB3B1B581}"/>
              </a:ext>
            </a:extLst>
          </p:cNvPr>
          <p:cNvSpPr/>
          <p:nvPr/>
        </p:nvSpPr>
        <p:spPr>
          <a:xfrm>
            <a:off x="935584" y="4845887"/>
            <a:ext cx="9720708" cy="1965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.</a:t>
            </a:r>
            <a:r>
              <a:rPr lang="en-US" altLang="zh-CN" sz="2800" dirty="0"/>
              <a:t> A={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r>
              <a:rPr lang="en-US" altLang="zh-CN" sz="2800" dirty="0"/>
              <a:t>B={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 A×B={(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白狗</a:t>
            </a:r>
            <a:r>
              <a:rPr lang="en-US" altLang="zh-CN" sz="2800" dirty="0"/>
              <a:t>),(</a:t>
            </a:r>
            <a:r>
              <a:rPr lang="zh-CN" altLang="en-US" sz="2800" dirty="0"/>
              <a:t>张三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),(</a:t>
            </a:r>
            <a:r>
              <a:rPr lang="zh-CN" altLang="en-US" sz="2800" dirty="0"/>
              <a:t>李四</a:t>
            </a:r>
            <a:r>
              <a:rPr lang="en-US" altLang="zh-CN" sz="2800" dirty="0"/>
              <a:t>,</a:t>
            </a:r>
            <a:r>
              <a:rPr lang="zh-CN" altLang="en-US" sz="2800" dirty="0"/>
              <a:t>白狗</a:t>
            </a:r>
            <a:r>
              <a:rPr lang="en-US" altLang="zh-CN" sz="2800" dirty="0"/>
              <a:t>),(</a:t>
            </a:r>
            <a:r>
              <a:rPr lang="zh-CN" altLang="en-US" sz="2800" dirty="0"/>
              <a:t>李四</a:t>
            </a:r>
            <a:r>
              <a:rPr lang="en-US" altLang="zh-CN" sz="2800" dirty="0"/>
              <a:t>,</a:t>
            </a:r>
            <a:r>
              <a:rPr lang="zh-CN" altLang="en-US" sz="2800" dirty="0"/>
              <a:t>黄狗</a:t>
            </a:r>
            <a:r>
              <a:rPr lang="en-US" altLang="zh-CN" sz="2800" dirty="0"/>
              <a:t>)}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 B×A={(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张三</a:t>
            </a:r>
            <a:r>
              <a:rPr lang="en-US" altLang="zh-CN" sz="2800" dirty="0"/>
              <a:t>),(</a:t>
            </a:r>
            <a:r>
              <a:rPr lang="zh-CN" altLang="en-US" sz="2800" dirty="0"/>
              <a:t>白狗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),(</a:t>
            </a:r>
            <a:r>
              <a:rPr lang="zh-CN" altLang="en-US" sz="2800" dirty="0"/>
              <a:t>黄狗</a:t>
            </a:r>
            <a:r>
              <a:rPr lang="en-US" altLang="zh-CN" sz="2800" dirty="0"/>
              <a:t>,</a:t>
            </a:r>
            <a:r>
              <a:rPr lang="zh-CN" altLang="en-US" sz="2800" dirty="0"/>
              <a:t>张三</a:t>
            </a:r>
            <a:r>
              <a:rPr lang="en-US" altLang="zh-CN" sz="2800" dirty="0"/>
              <a:t>),(</a:t>
            </a:r>
            <a:r>
              <a:rPr lang="zh-CN" altLang="en-US" sz="2800" dirty="0"/>
              <a:t>黄狗</a:t>
            </a:r>
            <a:r>
              <a:rPr lang="en-US" altLang="zh-CN" sz="2800" dirty="0"/>
              <a:t>,</a:t>
            </a:r>
            <a:r>
              <a:rPr lang="zh-CN" altLang="en-US" sz="2800" dirty="0"/>
              <a:t>李四</a:t>
            </a:r>
            <a:r>
              <a:rPr lang="en-US" altLang="zh-CN" sz="2800" dirty="0"/>
              <a:t>)}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D15E6E3-316B-28B4-1C13-566A188F1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79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2401E0-A6FD-47DA-9A8C-4646EDBADE4B}"/>
              </a:ext>
            </a:extLst>
          </p:cNvPr>
          <p:cNvSpPr/>
          <p:nvPr/>
        </p:nvSpPr>
        <p:spPr>
          <a:xfrm>
            <a:off x="1163787" y="3964235"/>
            <a:ext cx="4899098" cy="648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&lt;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a,b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&gt;=&lt;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c,d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Wingdings" panose="05000000000000000000" pitchFamily="2" charset="2"/>
              </a:rPr>
              <a:t>&gt;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a=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cb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C60ED7-83EE-45D1-BD53-D5F4B6BC04F7}"/>
              </a:ext>
            </a:extLst>
          </p:cNvPr>
          <p:cNvSpPr/>
          <p:nvPr/>
        </p:nvSpPr>
        <p:spPr>
          <a:xfrm>
            <a:off x="6194677" y="3964235"/>
            <a:ext cx="4001416" cy="648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5000"/>
              </a:lnSpc>
            </a:pP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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&lt;</a:t>
            </a:r>
            <a:r>
              <a:rPr lang="en-US" altLang="x-none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a,b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&lt;</a:t>
            </a:r>
            <a:r>
              <a:rPr lang="en-US" altLang="x-none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b,a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57175B-54B3-4702-8E7D-21AF43A009D1}"/>
              </a:ext>
            </a:extLst>
          </p:cNvPr>
          <p:cNvSpPr/>
          <p:nvPr/>
        </p:nvSpPr>
        <p:spPr>
          <a:xfrm>
            <a:off x="1652336" y="4929155"/>
            <a:ext cx="2500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A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1CFBC-B4BE-4898-A2ED-CBAFC154F792}"/>
              </a:ext>
            </a:extLst>
          </p:cNvPr>
          <p:cNvSpPr/>
          <p:nvPr/>
        </p:nvSpPr>
        <p:spPr>
          <a:xfrm>
            <a:off x="1652336" y="900504"/>
            <a:ext cx="10776064" cy="2795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,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},  B={1,2,3}.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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B={&lt;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,1&gt;,&lt;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,2&gt;,&lt;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,3&gt;,&lt;a,1&gt;,&lt;a,2&gt;,&lt;a,3&gt;}.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BA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={&lt;1,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&gt;,&lt;1,a&gt;,&lt;2,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&gt;,&lt;2,a&gt;,&lt;3,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&gt;,&lt;3,a&gt;}.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A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 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 &lt;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,a&gt;, &lt;a,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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 &lt;</a:t>
            </a:r>
            <a:r>
              <a:rPr lang="en-US" altLang="x-none" sz="24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a,a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&gt;}.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BB</a:t>
            </a:r>
            <a:r>
              <a:rPr lang="en-US" altLang="x-none" sz="24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={ &lt;1,1&gt;,&lt;1,2&gt;,&lt;1,3&gt;,&lt;2,1&gt;,&lt;2,2&gt;,&lt;2,3&gt;,&lt;3,1&gt;,&lt;3,2&gt;,&lt;3,3&gt; }.</a:t>
            </a:r>
            <a:endParaRPr lang="en-US" altLang="x-none" sz="2400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103E0B-01D4-488F-B8AD-44A29C276C3F}"/>
              </a:ext>
            </a:extLst>
          </p:cNvPr>
          <p:cNvSpPr/>
          <p:nvPr/>
        </p:nvSpPr>
        <p:spPr>
          <a:xfrm>
            <a:off x="2218782" y="5845663"/>
            <a:ext cx="7725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有序组不是集合，因为有序组中的分量计较顺序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4CF2F69-DCF3-3B47-DCA6-664ACF2E0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293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C2F578C-7B34-428A-AE4E-4B656CDA2579}"/>
              </a:ext>
            </a:extLst>
          </p:cNvPr>
          <p:cNvSpPr/>
          <p:nvPr/>
        </p:nvSpPr>
        <p:spPr>
          <a:xfrm>
            <a:off x="2223549" y="1007673"/>
            <a:ext cx="6058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为任意两个有限集，则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B| = |A | 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·</a:t>
            </a:r>
            <a:r>
              <a:rPr lang="en-US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|B|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00481A-6962-462A-A03A-73D576AB2658}"/>
              </a:ext>
            </a:extLst>
          </p:cNvPr>
          <p:cNvSpPr/>
          <p:nvPr/>
        </p:nvSpPr>
        <p:spPr>
          <a:xfrm>
            <a:off x="2223548" y="2563827"/>
            <a:ext cx="8940025" cy="2995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 </a:t>
            </a:r>
          </a:p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 {&lt;x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,…,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 | 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x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…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}</a:t>
            </a:r>
          </a:p>
          <a:p>
            <a:pPr>
              <a:lnSpc>
                <a:spcPct val="120000"/>
              </a:lnSpc>
              <a:buNone/>
            </a:pPr>
            <a:r>
              <a:rPr lang="en-US" altLang="x-none" sz="32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300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 A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令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|=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=1,2,…,n</a:t>
            </a: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显然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| = n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32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…</a:t>
            </a:r>
            <a:r>
              <a:rPr lang="en-US" altLang="x-none" sz="32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3200" baseline="-250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F4088CB-B8C4-BD84-07C7-8CB8AD4E7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453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0CB3BB1-213C-4EDC-9AB7-63CDC32828D9}"/>
              </a:ext>
            </a:extLst>
          </p:cNvPr>
          <p:cNvSpPr/>
          <p:nvPr/>
        </p:nvSpPr>
        <p:spPr>
          <a:xfrm>
            <a:off x="2666451" y="1291578"/>
            <a:ext cx="6549911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是四个非空的集合。那么</a:t>
            </a:r>
          </a:p>
          <a:p>
            <a:pPr>
              <a:lnSpc>
                <a:spcPct val="90000"/>
              </a:lnSpc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= C×D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C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D </a:t>
            </a:r>
          </a:p>
          <a:p>
            <a:pPr>
              <a:lnSpc>
                <a:spcPct val="9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C×D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F63DC6-AFE0-4B4A-B7DE-934A7A701EB7}"/>
              </a:ext>
            </a:extLst>
          </p:cNvPr>
          <p:cNvSpPr/>
          <p:nvPr/>
        </p:nvSpPr>
        <p:spPr>
          <a:xfrm>
            <a:off x="2666451" y="3429000"/>
            <a:ext cx="84247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显然。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：对任何的元素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AbB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(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C×D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= C×D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Cb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= D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BE7E48D-2226-0E98-B23F-113324142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58491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4FC246-EC29-4DDF-BF87-1BDBE929997F}"/>
              </a:ext>
            </a:extLst>
          </p:cNvPr>
          <p:cNvSpPr/>
          <p:nvPr/>
        </p:nvSpPr>
        <p:spPr>
          <a:xfrm>
            <a:off x="1830993" y="1299519"/>
            <a:ext cx="9687816" cy="5185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是三个集合。则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A×(B∪C) = (A×B)∪(A×C)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A×(B∩C) = (A×B)∩(A×C)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A×(B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= (A×B)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(A×C)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(A∪B)×C = (A×C)∪(B×C) 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(A∩B)×C = (A×C)∩(B×C)</a:t>
            </a:r>
          </a:p>
          <a:p>
            <a:pPr>
              <a:lnSpc>
                <a:spcPct val="150000"/>
              </a:lnSpc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(A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－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B)×C = (A×C)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－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(B×C)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7BACE9-2F35-2FF9-736D-D321130B8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166082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3CFBED-B685-4CE3-89FA-94E44E6B7DE8}"/>
              </a:ext>
            </a:extLst>
          </p:cNvPr>
          <p:cNvSpPr/>
          <p:nvPr/>
        </p:nvSpPr>
        <p:spPr>
          <a:xfrm>
            <a:off x="2278326" y="1855953"/>
            <a:ext cx="8036632" cy="2845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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非交换</a:t>
            </a:r>
          </a:p>
          <a:p>
            <a:pPr>
              <a:lnSpc>
                <a:spcPct val="13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BA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除非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A=B  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endParaRPr lang="en-US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非结合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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(BC)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除非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B=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 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 C=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</a:t>
            </a:r>
            <a:r>
              <a:rPr lang="en-US" altLang="x-none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27A99B-12A6-23C2-67C1-B7A64F13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45032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FDFACF39-0DA9-4A03-AC33-2E195085E134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135857"/>
            <a:ext cx="9308896" cy="1590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0000CC"/>
                </a:solidFill>
              </a:rPr>
              <a:t>问题：</a:t>
            </a:r>
            <a:r>
              <a:rPr lang="zh-CN" altLang="en-US"/>
              <a:t>某学校组织学生看电影，电影院里共有</a:t>
            </a:r>
            <a:r>
              <a:rPr lang="en-US" altLang="zh-CN"/>
              <a:t>n</a:t>
            </a:r>
            <a:r>
              <a:rPr lang="zh-CN" altLang="en-US"/>
              <a:t>个座位，看电影的学生共有</a:t>
            </a:r>
            <a:r>
              <a:rPr lang="en-US" altLang="zh-CN"/>
              <a:t>m</a:t>
            </a:r>
            <a:r>
              <a:rPr lang="zh-CN" altLang="en-US"/>
              <a:t>个（</a:t>
            </a:r>
            <a:r>
              <a:rPr lang="en-US" altLang="zh-CN"/>
              <a:t>m≤n</a:t>
            </a:r>
            <a:r>
              <a:rPr lang="zh-CN" altLang="en-US"/>
              <a:t>），每个学生坐一个座位。请问，</a:t>
            </a:r>
            <a:r>
              <a:rPr lang="zh-CN" altLang="en-US">
                <a:solidFill>
                  <a:srgbClr val="0000CC"/>
                </a:solidFill>
              </a:rPr>
              <a:t>怎样表示学生和座位之间的从属关系？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7D1F9D6F-3686-4B27-992E-0FD4B5B9E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134" y="3021959"/>
            <a:ext cx="4264025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假设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A,B</a:t>
            </a:r>
            <a:r>
              <a:rPr kumimoji="1"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分别表示某学校所有</a:t>
            </a:r>
            <a:r>
              <a:rPr kumimoji="1" lang="zh-CN" altLang="en-US" dirty="0">
                <a:solidFill>
                  <a:schemeClr val="accent1"/>
                </a:solidFill>
                <a:cs typeface="Times New Roman" panose="02020603050405020304" pitchFamily="18" charset="0"/>
              </a:rPr>
              <a:t>学生的集合</a:t>
            </a:r>
            <a:r>
              <a:rPr kumimoji="1"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和电影院里所有</a:t>
            </a:r>
            <a:r>
              <a:rPr kumimoji="1" lang="zh-CN" altLang="en-US" dirty="0">
                <a:solidFill>
                  <a:schemeClr val="accent1"/>
                </a:solidFill>
                <a:cs typeface="Times New Roman" panose="02020603050405020304" pitchFamily="18" charset="0"/>
              </a:rPr>
              <a:t>座位的集合</a:t>
            </a:r>
            <a:r>
              <a:rPr kumimoji="1"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，即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A={a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,a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,a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m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},B={b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,b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,b</a:t>
            </a:r>
            <a:r>
              <a:rPr kumimoji="1" lang="en-US" altLang="zh-CN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A69B2CAD-E265-4A53-8909-6AE6850888B3}"/>
              </a:ext>
            </a:extLst>
          </p:cNvPr>
          <p:cNvGrpSpPr>
            <a:grpSpLocks/>
          </p:cNvGrpSpPr>
          <p:nvPr/>
        </p:nvGrpSpPr>
        <p:grpSpPr bwMode="auto">
          <a:xfrm>
            <a:off x="6760843" y="3021959"/>
            <a:ext cx="3683000" cy="2724317"/>
            <a:chOff x="3880" y="1752"/>
            <a:chExt cx="2780" cy="2698"/>
          </a:xfrm>
        </p:grpSpPr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EE3A1D65-7E01-48AE-9C34-D8ADA4884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4092"/>
              <a:ext cx="23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AC75A539-A79D-4AAB-A616-11DA8B0FBA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039" y="3102"/>
              <a:ext cx="23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DB9E7DCE-6191-4C39-8E8D-9BD0E8E67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3780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E56CB7A7-20E7-44C8-8C6A-7EE1A0DCB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3480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A04102E1-3D49-491E-99A4-9914DA62C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237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F1FC9DAB-9847-4040-BAF7-1258F8307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318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09FDE1A0-6DFE-4136-92F1-3561E803C1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570" y="309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2B107255-55CC-4D23-B709-994DCFED5C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900" y="309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23B668AE-C932-455D-8552-3BE6857AA1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28" y="309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9E74D0FD-88FF-44C2-A4C2-942590C57E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948" y="3096"/>
              <a:ext cx="1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3D006423-CB25-4F1C-B732-928409322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315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D01A0F30-4F50-45AF-A830-F57AB19D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345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293B82C3-4D7F-4C1D-AC01-0C3A4798B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3754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Oval 22">
              <a:extLst>
                <a:ext uri="{FF2B5EF4-FFF2-40B4-BE49-F238E27FC236}">
                  <a16:creationId xmlns:a16="http://schemas.microsoft.com/office/drawing/2014/main" id="{6293A856-45AD-4CE7-82FE-CD47CF7D9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3760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Oval 23">
              <a:extLst>
                <a:ext uri="{FF2B5EF4-FFF2-40B4-BE49-F238E27FC236}">
                  <a16:creationId xmlns:a16="http://schemas.microsoft.com/office/drawing/2014/main" id="{4F15473A-5F8E-476C-9838-5D9D9F2CB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3156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0527166C-0DCA-4D78-A51E-0F0C49CA1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0" y="3162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3ED6572F-2E18-4E9D-AD02-DFFA0929D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345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055B8457-8C7C-47E4-AE3F-9B72E5C8E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0" y="345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B365132C-3CDD-49F5-B830-F7B9D8775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0" y="3760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DE7999F3-B9C6-4B4B-927B-46DB68D4F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0" y="3162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Oval 29">
              <a:extLst>
                <a:ext uri="{FF2B5EF4-FFF2-40B4-BE49-F238E27FC236}">
                  <a16:creationId xmlns:a16="http://schemas.microsoft.com/office/drawing/2014/main" id="{0B44394F-A5A9-445A-AD91-E4DB35E6C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0" y="3458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Oval 30">
              <a:extLst>
                <a:ext uri="{FF2B5EF4-FFF2-40B4-BE49-F238E27FC236}">
                  <a16:creationId xmlns:a16="http://schemas.microsoft.com/office/drawing/2014/main" id="{1DD04F9D-B8E7-4980-982A-4D5D4D218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0" y="3760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31">
              <a:extLst>
                <a:ext uri="{FF2B5EF4-FFF2-40B4-BE49-F238E27FC236}">
                  <a16:creationId xmlns:a16="http://schemas.microsoft.com/office/drawing/2014/main" id="{B5C72A06-2FB6-4D83-9F46-F3F0B0D609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190" y="2356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Oval 32">
              <a:extLst>
                <a:ext uri="{FF2B5EF4-FFF2-40B4-BE49-F238E27FC236}">
                  <a16:creationId xmlns:a16="http://schemas.microsoft.com/office/drawing/2014/main" id="{616E9C9B-2966-4C47-B25E-078FA30C3A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60" y="2346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Oval 33">
              <a:extLst>
                <a:ext uri="{FF2B5EF4-FFF2-40B4-BE49-F238E27FC236}">
                  <a16:creationId xmlns:a16="http://schemas.microsoft.com/office/drawing/2014/main" id="{04D9E912-6FA2-4054-94EF-0BD9B783C4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30" y="2356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34">
              <a:extLst>
                <a:ext uri="{FF2B5EF4-FFF2-40B4-BE49-F238E27FC236}">
                  <a16:creationId xmlns:a16="http://schemas.microsoft.com/office/drawing/2014/main" id="{CB110A31-F18D-4831-8563-0A2BF539A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0" y="2346"/>
              <a:ext cx="57" cy="5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37F05B83-6AC3-4617-B2A6-BAE2F6D4B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/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C62308B7-A7A1-4FE5-A044-48C629592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/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5B4EB655-6572-4CC8-BE21-886C18415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/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07436E68-2FD3-4458-AD6D-4A5BA05E3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000"/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5A62CCCC-3FF6-46C5-BADD-B6CF45551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/>
            </a:p>
          </p:txBody>
        </p:sp>
        <p:sp>
          <p:nvSpPr>
            <p:cNvPr id="39" name="Text Box 40">
              <a:extLst>
                <a:ext uri="{FF2B5EF4-FFF2-40B4-BE49-F238E27FC236}">
                  <a16:creationId xmlns:a16="http://schemas.microsoft.com/office/drawing/2014/main" id="{14526B63-F25C-476F-8B65-B44F80223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175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/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FDF89206-B66C-4983-AF80-D233670E1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2114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000"/>
            </a:p>
          </p:txBody>
        </p: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8B4E125D-702F-43F2-8B36-38A070657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2940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/>
            </a:p>
          </p:txBody>
        </p: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6E26D90E-3C99-4878-A348-5DB26AA79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323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/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7121559A-0671-44BC-8239-6FDDEB843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3514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/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F4FB6EA6-6B51-4B35-A3C7-8604C2DDD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0" y="3982"/>
              <a:ext cx="54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72745271-FEB5-0BFB-DD22-051C3E9BC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0803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B2EDEA6-3817-4BF0-A994-A98638D75444}"/>
              </a:ext>
            </a:extLst>
          </p:cNvPr>
          <p:cNvSpPr/>
          <p:nvPr/>
        </p:nvSpPr>
        <p:spPr>
          <a:xfrm>
            <a:off x="2265167" y="814985"/>
            <a:ext cx="8497123" cy="468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+，A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,…,A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为任意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个集合，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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…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(1)称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,…,A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间的</a:t>
            </a:r>
            <a:r>
              <a:rPr lang="en-US" altLang="x-none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(2)若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n=2，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为从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到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二元关系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(3)若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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空关系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(4)若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…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普遍关系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）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(5)若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=…=A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=A，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上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en-US" altLang="x-none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(6)若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x,x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&gt;|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}，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恒等关系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。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DC3D92-C94B-44EE-898A-331DACE41577}"/>
              </a:ext>
            </a:extLst>
          </p:cNvPr>
          <p:cNvSpPr/>
          <p:nvPr/>
        </p:nvSpPr>
        <p:spPr>
          <a:xfrm>
            <a:off x="1847437" y="5811818"/>
            <a:ext cx="93325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是由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的一个关系，且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x-none" sz="28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R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有关系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E05BEF98-D699-9CB7-7997-D20F921D2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57603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31746">
            <a:extLst>
              <a:ext uri="{FF2B5EF4-FFF2-40B4-BE49-F238E27FC236}">
                <a16:creationId xmlns:a16="http://schemas.microsoft.com/office/drawing/2014/main" id="{D2459C9E-B83E-4E66-BD19-40B0FBA0701F}"/>
              </a:ext>
            </a:extLst>
          </p:cNvPr>
          <p:cNvSpPr txBox="1">
            <a:spLocks/>
          </p:cNvSpPr>
          <p:nvPr/>
        </p:nvSpPr>
        <p:spPr>
          <a:xfrm>
            <a:off x="1644943" y="939871"/>
            <a:ext cx="8578362" cy="412359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示例</a:t>
            </a:r>
          </a:p>
          <a:p>
            <a:pPr marL="533400" indent="-533400">
              <a:lnSpc>
                <a:spcPct val="145000"/>
              </a:lnSpc>
              <a:buClr>
                <a:srgbClr val="CC0000"/>
              </a:buClr>
              <a:buFont typeface="Arial" panose="020B0604020202020204" pitchFamily="34" charset="0"/>
              <a:buAutoNum type="arabicPeriod"/>
            </a:pP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{&lt;1,2&gt;,&lt;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,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a,b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&gt;}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是2元关系，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{&lt;1,2&gt;,&lt;3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,4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白菜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,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小猫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&gt;}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是2元关系，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A={&lt;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a,b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&gt;,&lt;1,2,3&gt;,a,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,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1}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不是关系</a:t>
            </a:r>
          </a:p>
          <a:p>
            <a:pPr marL="533400" indent="-533400">
              <a:lnSpc>
                <a:spcPct val="145000"/>
              </a:lnSpc>
              <a:buClr>
                <a:srgbClr val="CC0000"/>
              </a:buClr>
              <a:buFont typeface="Arial" panose="020B0604020202020204" pitchFamily="34" charset="0"/>
              <a:buAutoNum type="arabicPeriod"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设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A={1,2,4,7,8}，B={2,3,5,7}，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定义由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到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的关系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R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={(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</a:rPr>
              <a:t>a,b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</a:rPr>
              <a:t>)| 5</a:t>
            </a:r>
            <a:r>
              <a:rPr lang="en-US" altLang="x-none" sz="2000" dirty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|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</a:rPr>
              <a:t>a+b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}，</a:t>
            </a:r>
            <a:r>
              <a:rPr lang="en-US" altLang="x-none" sz="2000" dirty="0">
                <a:solidFill>
                  <a:schemeClr val="tx2"/>
                </a:solidFill>
                <a:latin typeface="Microsoft YaHei" panose="020B0503020204020204" charset="-122"/>
                <a:ea typeface="Microsoft YaHei" panose="020B0503020204020204" charset="-122"/>
              </a:rPr>
              <a:t>|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表示整除，求关系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sym typeface="Symbol" panose="05050102010706020507" pitchFamily="2" charset="2"/>
              </a:rPr>
              <a:t>R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 marL="533400" indent="-533400">
              <a:lnSpc>
                <a:spcPct val="145000"/>
              </a:lnSpc>
              <a:buClr>
                <a:srgbClr val="CC0000"/>
              </a:buClr>
              <a:buFont typeface="Arial" panose="020B0604020202020204" pitchFamily="34" charset="0"/>
              <a:buAutoNum type="arabicPeriod"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设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A={2,3,4,5,9,25}，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定义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上的关系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R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，对于任意的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a,b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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，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当且仅当(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a-b)² 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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时，有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R</a:t>
            </a:r>
            <a:r>
              <a:rPr lang="en-US" altLang="x-none" sz="2000" dirty="0" err="1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，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试问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R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由哪些序偶组成？</a:t>
            </a:r>
          </a:p>
          <a:p>
            <a:pPr marL="533400" indent="-533400">
              <a:lnSpc>
                <a:spcPct val="145000"/>
              </a:lnSpc>
              <a:buClr>
                <a:srgbClr val="CC0000"/>
              </a:buClr>
              <a:buFont typeface="Arial" panose="020B0604020202020204" pitchFamily="34" charset="0"/>
              <a:buAutoNum type="arabicPeriod"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设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A={0,1,2}，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求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上的普遍关系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U</a:t>
            </a:r>
            <a:r>
              <a:rPr lang="en-US" altLang="x-none" sz="2000" baseline="-25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和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上的恒等关系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I</a:t>
            </a:r>
            <a:r>
              <a:rPr lang="en-US" altLang="x-none" sz="2000" baseline="-25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。</a:t>
            </a:r>
          </a:p>
          <a:p>
            <a:pPr marL="533400" indent="-533400">
              <a:lnSpc>
                <a:spcPct val="145000"/>
              </a:lnSpc>
              <a:buClr>
                <a:srgbClr val="CC0000"/>
              </a:buClr>
              <a:buFont typeface="Arial" panose="020B0604020202020204" pitchFamily="34" charset="0"/>
              <a:buAutoNum type="arabicPeriod"/>
            </a:pP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到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B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不同的二元关系共有多少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  <a:sym typeface="Symbol" panose="05050102010706020507" pitchFamily="2" charset="2"/>
              </a:rPr>
              <a:t>个？</a:t>
            </a:r>
            <a:r>
              <a:rPr lang="en-US" altLang="x-none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A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  <a:cs typeface="Times New Roman" panose="02020603050405020304" pitchFamily="2" charset="0"/>
              </a:rPr>
              <a:t>上不同的二元关系共有多少个？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A0664DE-E6B4-1EE8-2419-B739949F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7398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32770">
            <a:extLst>
              <a:ext uri="{FF2B5EF4-FFF2-40B4-BE49-F238E27FC236}">
                <a16:creationId xmlns:a16="http://schemas.microsoft.com/office/drawing/2014/main" id="{26637D86-2B5F-435B-A75C-D3B4672B8D2B}"/>
              </a:ext>
            </a:extLst>
          </p:cNvPr>
          <p:cNvSpPr txBox="1">
            <a:spLocks/>
          </p:cNvSpPr>
          <p:nvPr/>
        </p:nvSpPr>
        <p:spPr>
          <a:xfrm>
            <a:off x="1691337" y="738188"/>
            <a:ext cx="8379069" cy="443132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6.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设</a:t>
            </a:r>
            <a:r>
              <a:rPr lang="en-US" altLang="x-none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AR,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则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可以定义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上的: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小于等于(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less </a:t>
            </a:r>
            <a:r>
              <a:rPr lang="en-US" altLang="x-none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than or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equal to)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关系: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		LEA = { 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x,y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 |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yA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xy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}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小于(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less than)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关系,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LA = { 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x,y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 |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yA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x&lt;y }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大于等于</a:t>
            </a:r>
            <a:r>
              <a:rPr lang="zh-CN" altLang="en-US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x-none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greater than or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equal to)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关系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zh-CN" altLang="en-US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x-none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great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than)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关系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7.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为任意集合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则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可以定义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P(A)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上的:</a:t>
            </a:r>
            <a:endParaRPr lang="zh-CN" altLang="en-US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包含关系: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A = { 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x,y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 |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xA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yA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xy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}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真包含关系: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A = { 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x,y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 |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xA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yA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xy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}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05926E2-DDCD-DE84-42FA-F5903DD1C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23142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3794">
            <a:extLst>
              <a:ext uri="{FF2B5EF4-FFF2-40B4-BE49-F238E27FC236}">
                <a16:creationId xmlns:a16="http://schemas.microsoft.com/office/drawing/2014/main" id="{889E20FC-BEAA-4102-8855-B208A2F0131D}"/>
              </a:ext>
            </a:extLst>
          </p:cNvPr>
          <p:cNvSpPr txBox="1">
            <a:spLocks/>
          </p:cNvSpPr>
          <p:nvPr/>
        </p:nvSpPr>
        <p:spPr>
          <a:xfrm>
            <a:off x="1842094" y="885633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自然数上的整除关系</a:t>
            </a:r>
          </a:p>
          <a:p>
            <a:pPr>
              <a:lnSpc>
                <a:spcPct val="140000"/>
              </a:lnSpc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 &lt;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N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Na|b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}</a:t>
            </a:r>
            <a:r>
              <a:rPr kumimoji="1" lang="en-US" altLang="zh-CN" baseline="2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N×N</a:t>
            </a:r>
          </a:p>
          <a:p>
            <a:pPr>
              <a:lnSpc>
                <a:spcPct val="14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自然数上的同余关系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&lt;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,|m-n|&gt;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D}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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 k)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8A37040B-E0A1-982D-8560-26FCC3D90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196121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3794">
            <a:extLst>
              <a:ext uri="{FF2B5EF4-FFF2-40B4-BE49-F238E27FC236}">
                <a16:creationId xmlns:a16="http://schemas.microsoft.com/office/drawing/2014/main" id="{3D561AFC-D72B-4B03-9117-B69236DB40DF}"/>
              </a:ext>
            </a:extLst>
          </p:cNvPr>
          <p:cNvSpPr txBox="1">
            <a:spLocks/>
          </p:cNvSpPr>
          <p:nvPr/>
        </p:nvSpPr>
        <p:spPr>
          <a:xfrm>
            <a:off x="1815781" y="806692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dirty="0"/>
              <a:t>设</a:t>
            </a:r>
            <a:r>
              <a:rPr lang="en-US" altLang="zh-CN" dirty="0"/>
              <a:t>N</a:t>
            </a:r>
            <a:r>
              <a:rPr lang="zh-CN" altLang="en-US" dirty="0"/>
              <a:t>是自然数集合。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R=</a:t>
            </a:r>
            <a:r>
              <a:rPr lang="en-US" altLang="zh-CN" dirty="0">
                <a:sym typeface="Symbol" panose="05050102010706020507" pitchFamily="18" charset="2"/>
              </a:rPr>
              <a:t>{&lt;</a:t>
            </a:r>
            <a:r>
              <a:rPr lang="en-US" altLang="zh-CN" dirty="0" err="1">
                <a:sym typeface="Symbol" panose="05050102010706020507" pitchFamily="18" charset="2"/>
              </a:rPr>
              <a:t>m,n</a:t>
            </a:r>
            <a:r>
              <a:rPr lang="en-US" altLang="zh-CN" dirty="0">
                <a:sym typeface="Symbol" panose="05050102010706020507" pitchFamily="18" charset="2"/>
              </a:rPr>
              <a:t>&gt; </a:t>
            </a:r>
            <a:r>
              <a:rPr lang="en-US" altLang="zh-CN" b="1" dirty="0"/>
              <a:t>: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ym typeface="Symbol" panose="05050102010706020507" pitchFamily="18" charset="2"/>
              </a:rPr>
              <a:t>mNnNmn</a:t>
            </a:r>
            <a:r>
              <a:rPr lang="en-US" altLang="zh-CN" dirty="0">
                <a:sym typeface="Symbol" panose="05050102010706020507" pitchFamily="18" charset="2"/>
              </a:rPr>
              <a:t>}</a:t>
            </a:r>
            <a:r>
              <a:rPr lang="en-US" altLang="zh-CN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N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         S=</a:t>
            </a:r>
            <a:r>
              <a:rPr lang="en-US" altLang="zh-CN" dirty="0">
                <a:sym typeface="Symbol" panose="05050102010706020507" pitchFamily="18" charset="2"/>
              </a:rPr>
              <a:t>{&lt;</a:t>
            </a:r>
            <a:r>
              <a:rPr lang="en-US" altLang="zh-CN" dirty="0" err="1">
                <a:sym typeface="Symbol" panose="05050102010706020507" pitchFamily="18" charset="2"/>
              </a:rPr>
              <a:t>m,n</a:t>
            </a:r>
            <a:r>
              <a:rPr lang="en-US" altLang="zh-CN" dirty="0">
                <a:sym typeface="Symbol" panose="05050102010706020507" pitchFamily="18" charset="2"/>
              </a:rPr>
              <a:t>&gt; </a:t>
            </a:r>
            <a:r>
              <a:rPr lang="en-US" altLang="zh-CN" b="1" dirty="0"/>
              <a:t>: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ym typeface="Symbol" panose="05050102010706020507" pitchFamily="18" charset="2"/>
              </a:rPr>
              <a:t>mNnNm|n</a:t>
            </a:r>
            <a:r>
              <a:rPr lang="en-US" altLang="zh-CN" dirty="0">
                <a:sym typeface="Symbol" panose="05050102010706020507" pitchFamily="18" charset="2"/>
              </a:rPr>
              <a:t>}</a:t>
            </a:r>
            <a:r>
              <a:rPr lang="en-US" altLang="zh-CN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N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则  </a:t>
            </a:r>
            <a:r>
              <a:rPr lang="en-US" altLang="zh-CN" dirty="0"/>
              <a:t>R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=</a:t>
            </a:r>
            <a:r>
              <a:rPr lang="zh-CN" altLang="en-US" dirty="0"/>
              <a:t>大于等于关系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)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S=</a:t>
            </a:r>
            <a:r>
              <a:rPr lang="zh-CN" altLang="en-US" dirty="0"/>
              <a:t>小于等于关系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　      </a:t>
            </a:r>
            <a:r>
              <a:rPr lang="en-US" altLang="zh-CN" dirty="0">
                <a:sym typeface="Symbol" panose="05050102010706020507" pitchFamily="18" charset="2"/>
              </a:rPr>
              <a:t>RS=</a:t>
            </a:r>
            <a:r>
              <a:rPr lang="zh-CN" altLang="en-US" dirty="0">
                <a:sym typeface="Symbol" panose="05050102010706020507" pitchFamily="18" charset="2"/>
              </a:rPr>
              <a:t>不相等的</a:t>
            </a:r>
            <a:r>
              <a:rPr lang="zh-CN" altLang="en-US" dirty="0"/>
              <a:t>整除关系</a:t>
            </a:r>
            <a:r>
              <a:rPr lang="en-US" altLang="zh-CN" dirty="0">
                <a:sym typeface="Symbol" panose="05050102010706020507" pitchFamily="18" charset="2"/>
              </a:rPr>
              <a:t>()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　　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en-US" altLang="zh-CN" dirty="0">
                <a:sym typeface="Symbol" panose="05050102010706020507" pitchFamily="18" charset="2"/>
              </a:rPr>
              <a:t>S=</a:t>
            </a:r>
            <a:r>
              <a:rPr lang="zh-CN" altLang="en-US" dirty="0"/>
              <a:t>小于又</a:t>
            </a:r>
            <a:r>
              <a:rPr lang="zh-CN" altLang="en-US" dirty="0">
                <a:sym typeface="Symbol" panose="05050102010706020507" pitchFamily="18" charset="2"/>
              </a:rPr>
              <a:t>不</a:t>
            </a:r>
            <a:r>
              <a:rPr lang="zh-CN" altLang="en-US" dirty="0"/>
              <a:t>整除关系</a:t>
            </a:r>
            <a:r>
              <a:rPr lang="en-US" altLang="zh-CN" dirty="0">
                <a:sym typeface="Symbol" panose="05050102010706020507" pitchFamily="18" charset="2"/>
              </a:rPr>
              <a:t>( </a:t>
            </a:r>
            <a:r>
              <a:rPr lang="en-US" altLang="zh-CN" dirty="0">
                <a:ea typeface="Arial Unicode MS" pitchFamily="34" charset="-122"/>
                <a:sym typeface="Symbol" panose="05050102010706020507" pitchFamily="18" charset="2"/>
              </a:rPr>
              <a:t>∤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　    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－</a:t>
            </a:r>
            <a:r>
              <a:rPr lang="en-US" altLang="zh-CN" dirty="0">
                <a:sym typeface="Symbol" panose="05050102010706020507" pitchFamily="18" charset="2"/>
              </a:rPr>
              <a:t>R=</a:t>
            </a:r>
            <a:r>
              <a:rPr lang="zh-CN" altLang="en-US" dirty="0">
                <a:sym typeface="Symbol" panose="05050102010706020507" pitchFamily="18" charset="2"/>
              </a:rPr>
              <a:t>相等</a:t>
            </a:r>
            <a:r>
              <a:rPr lang="zh-CN" altLang="en-US" dirty="0"/>
              <a:t>关系</a:t>
            </a:r>
            <a:r>
              <a:rPr lang="en-US" altLang="zh-CN" dirty="0">
                <a:sym typeface="Symbol" panose="05050102010706020507" pitchFamily="18" charset="2"/>
              </a:rPr>
              <a:t>(=) </a:t>
            </a:r>
            <a:endParaRPr lang="en-US" alt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占位符 33794">
            <a:extLst>
              <a:ext uri="{FF2B5EF4-FFF2-40B4-BE49-F238E27FC236}">
                <a16:creationId xmlns:a16="http://schemas.microsoft.com/office/drawing/2014/main" id="{AA9A4EEA-EBA0-4431-8018-97F659FE54AC}"/>
              </a:ext>
            </a:extLst>
          </p:cNvPr>
          <p:cNvSpPr txBox="1">
            <a:spLocks/>
          </p:cNvSpPr>
          <p:nvPr/>
        </p:nvSpPr>
        <p:spPr>
          <a:xfrm>
            <a:off x="1571625" y="5128712"/>
            <a:ext cx="9026206" cy="163721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x-none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  </a:t>
            </a:r>
            <a:r>
              <a:rPr lang="zh-CN" altLang="en-US" dirty="0"/>
              <a:t>关系的扩充</a:t>
            </a:r>
            <a:r>
              <a:rPr lang="en-US" altLang="zh-CN" dirty="0"/>
              <a:t>(expansion/</a:t>
            </a:r>
            <a:r>
              <a:rPr lang="en-US" altLang="x-none" dirty="0"/>
              <a:t>extension</a:t>
            </a:r>
            <a:r>
              <a:rPr lang="en-US" altLang="zh-CN" dirty="0"/>
              <a:t>)</a:t>
            </a:r>
            <a:r>
              <a:rPr lang="zh-CN" altLang="en-US" dirty="0"/>
              <a:t>和限制</a:t>
            </a:r>
            <a:r>
              <a:rPr lang="en-US" altLang="x-none" dirty="0"/>
              <a:t>(restriction) </a:t>
            </a:r>
            <a:r>
              <a:rPr lang="zh-CN" altLang="en-US" dirty="0"/>
              <a:t>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　　若</a:t>
            </a:r>
            <a:r>
              <a:rPr lang="en-US" altLang="zh-CN" dirty="0"/>
              <a:t>R</a:t>
            </a:r>
            <a:r>
              <a:rPr lang="en-US" altLang="zh-CN" baseline="-25000" dirty="0"/>
              <a:t>1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-25000" dirty="0"/>
              <a:t> </a:t>
            </a:r>
            <a:r>
              <a:rPr lang="en-US" altLang="zh-CN" dirty="0"/>
              <a:t>R</a:t>
            </a:r>
            <a:r>
              <a:rPr lang="en-US" altLang="zh-CN" baseline="-25000" dirty="0"/>
              <a:t>2 </a:t>
            </a:r>
            <a:r>
              <a:rPr lang="zh-CN" altLang="en-US" dirty="0"/>
              <a:t>，则称关系</a:t>
            </a:r>
            <a:r>
              <a:rPr lang="en-US" altLang="zh-CN" dirty="0"/>
              <a:t>R</a:t>
            </a:r>
            <a:r>
              <a:rPr lang="en-US" altLang="zh-CN" baseline="-25000" dirty="0"/>
              <a:t>2 </a:t>
            </a:r>
            <a:r>
              <a:rPr lang="zh-CN" altLang="en-US" dirty="0"/>
              <a:t>是关系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的扩充</a:t>
            </a:r>
            <a:r>
              <a:rPr lang="en-US" altLang="zh-CN" dirty="0"/>
              <a:t>/</a:t>
            </a:r>
            <a:r>
              <a:rPr lang="zh-CN" altLang="en-US" dirty="0"/>
              <a:t>延拓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                              称关系</a:t>
            </a:r>
            <a:r>
              <a:rPr lang="en-US" altLang="zh-CN" dirty="0"/>
              <a:t>R</a:t>
            </a:r>
            <a:r>
              <a:rPr lang="en-US" altLang="zh-CN" baseline="-25000" dirty="0"/>
              <a:t>1 </a:t>
            </a:r>
            <a:r>
              <a:rPr lang="zh-CN" altLang="en-US" dirty="0"/>
              <a:t>是关系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的限制</a:t>
            </a:r>
            <a:endParaRPr lang="en-US" alt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C554B0ED-C05D-43E5-23FA-6FDB8A43A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8208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7931607-B2E2-4360-B9CB-2A42321598BF}"/>
              </a:ext>
            </a:extLst>
          </p:cNvPr>
          <p:cNvSpPr/>
          <p:nvPr/>
        </p:nvSpPr>
        <p:spPr>
          <a:xfrm>
            <a:off x="1833015" y="1198775"/>
            <a:ext cx="10029018" cy="324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定义域(</a:t>
            </a:r>
            <a:r>
              <a:rPr lang="en-US" alt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值域(</a:t>
            </a:r>
            <a:r>
              <a:rPr lang="en-US" alt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(field)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是两个非空集合，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是一关系。则关系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定义域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值域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后域、陪域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域：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fld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=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∪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5A271F59-E9D7-42C5-9C26-AC255FED9603}"/>
              </a:ext>
            </a:extLst>
          </p:cNvPr>
          <p:cNvGrpSpPr>
            <a:grpSpLocks/>
          </p:cNvGrpSpPr>
          <p:nvPr/>
        </p:nvGrpSpPr>
        <p:grpSpPr bwMode="auto">
          <a:xfrm>
            <a:off x="2193289" y="4930115"/>
            <a:ext cx="6019800" cy="1600200"/>
            <a:chOff x="1152" y="1392"/>
            <a:chExt cx="3792" cy="1008"/>
          </a:xfrm>
        </p:grpSpPr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3AF1313A-018E-4DE4-94FF-41D73999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864" cy="4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525AFA4C-8A38-49D3-9790-8C473CD21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28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17E5398D-CA3A-4786-8DE6-00536CAB3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488"/>
              <a:ext cx="576" cy="43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/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417A707C-F00E-4ECA-B387-D11926DF2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872"/>
              <a:ext cx="1392" cy="33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738258E5-8426-4BF4-8675-BAC9FBC4F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632"/>
              <a:ext cx="768" cy="72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C4D14308-E833-40C6-9697-03A71BC3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392"/>
              <a:ext cx="1440" cy="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39102EB9-CC01-412C-ABE1-72703C1E7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40"/>
              <a:ext cx="1536" cy="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B657A46F-FD16-4F2E-AC78-89057221D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816" cy="62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7389D6F1-6532-4CEF-A71C-1F2C87D0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584"/>
              <a:ext cx="768" cy="62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3DD6C864-3F5A-4E2F-9434-B5660F206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B066731E-2AF2-48AD-A84D-6D4F80C5E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24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sym typeface="Symbol" panose="05050102010706020507" pitchFamily="18" charset="2"/>
                </a:rPr>
                <a:t></a:t>
              </a:r>
              <a:r>
                <a:rPr lang="en-US" altLang="zh-CN" i="1" dirty="0"/>
                <a:t> </a:t>
              </a:r>
              <a:r>
                <a:rPr lang="en-US" altLang="zh-CN" dirty="0"/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484CD53D-5207-4781-96D1-36741F79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82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A36B219C-29D9-4442-88E8-92A5AADCF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872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sym typeface="Symbol" panose="05050102010706020507" pitchFamily="18" charset="2"/>
                </a:rPr>
                <a:t></a:t>
              </a:r>
              <a:r>
                <a:rPr lang="en-US" altLang="zh-CN" i="1" dirty="0"/>
                <a:t> </a:t>
              </a:r>
              <a:r>
                <a:rPr lang="en-US" altLang="zh-CN" dirty="0"/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5E03139A-089F-467B-A690-2E505F8DE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632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1F80213D-1FDA-486F-A4A6-D00C66236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68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2" name="AutoShape 26">
              <a:extLst>
                <a:ext uri="{FF2B5EF4-FFF2-40B4-BE49-F238E27FC236}">
                  <a16:creationId xmlns:a16="http://schemas.microsoft.com/office/drawing/2014/main" id="{6A72688E-1080-4F7E-8595-D4D56B996D22}"/>
                </a:ext>
              </a:extLst>
            </p:cNvPr>
            <p:cNvCxnSpPr>
              <a:cxnSpLocks noChangeShapeType="1"/>
              <a:stCxn id="20" idx="7"/>
              <a:endCxn id="21" idx="1"/>
            </p:cNvCxnSpPr>
            <p:nvPr/>
          </p:nvCxnSpPr>
          <p:spPr bwMode="auto">
            <a:xfrm rot="5400000" flipV="1">
              <a:off x="2976" y="528"/>
              <a:ext cx="48" cy="2270"/>
            </a:xfrm>
            <a:prstGeom prst="curvedConnector3">
              <a:avLst>
                <a:gd name="adj1" fmla="val -314583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27">
              <a:extLst>
                <a:ext uri="{FF2B5EF4-FFF2-40B4-BE49-F238E27FC236}">
                  <a16:creationId xmlns:a16="http://schemas.microsoft.com/office/drawing/2014/main" id="{2ED5AD1D-B32D-44C6-BC2F-6F7B911B6758}"/>
                </a:ext>
              </a:extLst>
            </p:cNvPr>
            <p:cNvCxnSpPr>
              <a:cxnSpLocks noChangeShapeType="1"/>
              <a:stCxn id="20" idx="7"/>
              <a:endCxn id="21" idx="0"/>
            </p:cNvCxnSpPr>
            <p:nvPr/>
          </p:nvCxnSpPr>
          <p:spPr bwMode="auto">
            <a:xfrm rot="5400000" flipV="1">
              <a:off x="2988" y="516"/>
              <a:ext cx="41" cy="2287"/>
            </a:xfrm>
            <a:prstGeom prst="bentConnector3">
              <a:avLst>
                <a:gd name="adj1" fmla="val -368292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B3FC56C1-6209-4466-89DD-7AB835D74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32"/>
              <a:ext cx="2704" cy="56"/>
            </a:xfrm>
            <a:custGeom>
              <a:avLst/>
              <a:gdLst>
                <a:gd name="T0" fmla="*/ 0 w 2704"/>
                <a:gd name="T1" fmla="*/ 0 h 56"/>
                <a:gd name="T2" fmla="*/ 2304 w 2704"/>
                <a:gd name="T3" fmla="*/ 48 h 56"/>
                <a:gd name="T4" fmla="*/ 2400 w 2704"/>
                <a:gd name="T5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4" h="56">
                  <a:moveTo>
                    <a:pt x="0" y="0"/>
                  </a:moveTo>
                  <a:cubicBezTo>
                    <a:pt x="952" y="20"/>
                    <a:pt x="1904" y="40"/>
                    <a:pt x="2304" y="48"/>
                  </a:cubicBezTo>
                  <a:cubicBezTo>
                    <a:pt x="2704" y="56"/>
                    <a:pt x="2392" y="48"/>
                    <a:pt x="2400" y="48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A2CCF51B-909D-463C-ABA1-588900E4D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32"/>
              <a:ext cx="2304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83B4A916-A0D8-4AC0-AF9C-BFBA13B7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63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id="{4B63F309-F6A8-4E4C-B8C9-7A6475572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1898D3B0-0E69-4E50-808B-20DF644BD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440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en-US" altLang="zh-CN" dirty="0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2244E15A-99B5-44DB-AA64-18128BEE8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776"/>
              <a:ext cx="1920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F4F315C0-4A90-4943-8401-B42EDE85E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920"/>
              <a:ext cx="1776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59FDB38F-1AE4-400A-8C45-C4E7F2730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016"/>
              <a:ext cx="1824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Oval 36">
              <a:extLst>
                <a:ext uri="{FF2B5EF4-FFF2-40B4-BE49-F238E27FC236}">
                  <a16:creationId xmlns:a16="http://schemas.microsoft.com/office/drawing/2014/main" id="{3CFD1FEE-B393-4C60-87F9-365216837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7">
              <a:extLst>
                <a:ext uri="{FF2B5EF4-FFF2-40B4-BE49-F238E27FC236}">
                  <a16:creationId xmlns:a16="http://schemas.microsoft.com/office/drawing/2014/main" id="{F7E91DA2-E3D1-4D7A-B30C-FC104BDAC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824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8">
              <a:extLst>
                <a:ext uri="{FF2B5EF4-FFF2-40B4-BE49-F238E27FC236}">
                  <a16:creationId xmlns:a16="http://schemas.microsoft.com/office/drawing/2014/main" id="{129FB5C4-4EC6-4F1C-B624-1AF0F47CF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92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391B5138-A290-4C6D-9D31-AE5DF9F2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016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40">
              <a:extLst>
                <a:ext uri="{FF2B5EF4-FFF2-40B4-BE49-F238E27FC236}">
                  <a16:creationId xmlns:a16="http://schemas.microsoft.com/office/drawing/2014/main" id="{3F48218C-D14D-4502-9546-7D05E86D8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92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41">
              <a:extLst>
                <a:ext uri="{FF2B5EF4-FFF2-40B4-BE49-F238E27FC236}">
                  <a16:creationId xmlns:a16="http://schemas.microsoft.com/office/drawing/2014/main" id="{361A6944-26B0-4221-BDAA-211DDD881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064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026C0068-4D6E-286A-AA33-738BBCE6C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49591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29909F-55EB-4545-9D6F-48D982EC6376}"/>
              </a:ext>
            </a:extLst>
          </p:cNvPr>
          <p:cNvSpPr txBox="1">
            <a:spLocks noChangeArrowheads="1"/>
          </p:cNvSpPr>
          <p:nvPr/>
        </p:nvSpPr>
        <p:spPr>
          <a:xfrm>
            <a:off x="2029442" y="990600"/>
            <a:ext cx="7620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,R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A×B</a:t>
            </a:r>
            <a:r>
              <a:rPr lang="zh-CN" altLang="en-US" dirty="0">
                <a:solidFill>
                  <a:srgbClr val="C00000"/>
                </a:solidFill>
              </a:rPr>
              <a:t>是两个关系，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  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则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 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(1)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zh-CN" altLang="en-US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zh-CN" altLang="en-US" dirty="0">
                <a:solidFill>
                  <a:srgbClr val="C00000"/>
                </a:solidFill>
              </a:rPr>
              <a:t>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(2)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zh-CN" altLang="en-US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/>
              <a:t>证</a:t>
            </a:r>
            <a:r>
              <a:rPr lang="en-US" altLang="zh-CN" dirty="0"/>
              <a:t>]</a:t>
            </a:r>
            <a:r>
              <a:rPr lang="en-US" altLang="zh-CN" b="1" dirty="0"/>
              <a:t>.</a:t>
            </a:r>
            <a:r>
              <a:rPr lang="zh-CN" altLang="en-US" dirty="0"/>
              <a:t> 对任何元素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　　　 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　 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ym typeface="Symbol" panose="05050102010706020507" pitchFamily="18" charset="2"/>
              </a:rPr>
              <a:t>bB</a:t>
            </a:r>
            <a:r>
              <a:rPr lang="en-US" altLang="zh-CN" dirty="0">
                <a:sym typeface="Symbol" panose="05050102010706020507" pitchFamily="18" charset="2"/>
              </a:rPr>
              <a:t>)(a 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b)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　 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ym typeface="Symbol" panose="05050102010706020507" pitchFamily="18" charset="2"/>
              </a:rPr>
              <a:t>bB</a:t>
            </a:r>
            <a:r>
              <a:rPr lang="en-US" altLang="zh-CN" dirty="0">
                <a:sym typeface="Symbol" panose="05050102010706020507" pitchFamily="18" charset="2"/>
              </a:rPr>
              <a:t>)((</a:t>
            </a:r>
            <a:r>
              <a:rPr lang="en-US" altLang="zh-CN" dirty="0" err="1">
                <a:sym typeface="Symbol" panose="05050102010706020507" pitchFamily="18" charset="2"/>
              </a:rPr>
              <a:t>a,b</a:t>
            </a:r>
            <a:r>
              <a:rPr lang="en-US" altLang="zh-CN" dirty="0">
                <a:sym typeface="Symbol" panose="05050102010706020507" pitchFamily="18" charset="2"/>
              </a:rPr>
              <a:t>)R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　　</a:t>
            </a:r>
            <a:r>
              <a:rPr lang="zh-CN" altLang="en-US" dirty="0">
                <a:sym typeface="Symbol" panose="05050102010706020507" pitchFamily="18" charset="2"/>
              </a:rPr>
              <a:t> 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ym typeface="Symbol" panose="05050102010706020507" pitchFamily="18" charset="2"/>
              </a:rPr>
              <a:t>bB</a:t>
            </a:r>
            <a:r>
              <a:rPr lang="en-US" altLang="zh-CN" dirty="0">
                <a:sym typeface="Symbol" panose="05050102010706020507" pitchFamily="18" charset="2"/>
              </a:rPr>
              <a:t>)((</a:t>
            </a:r>
            <a:r>
              <a:rPr lang="en-US" altLang="zh-CN" dirty="0" err="1">
                <a:sym typeface="Symbol" panose="05050102010706020507" pitchFamily="18" charset="2"/>
              </a:rPr>
              <a:t>a,b</a:t>
            </a:r>
            <a:r>
              <a:rPr lang="en-US" altLang="zh-CN" dirty="0">
                <a:sym typeface="Symbol" panose="05050102010706020507" pitchFamily="18" charset="2"/>
              </a:rPr>
              <a:t>)R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)    (</a:t>
            </a:r>
            <a:r>
              <a:rPr lang="zh-CN" altLang="en-US" dirty="0">
                <a:sym typeface="Symbol" panose="05050102010706020507" pitchFamily="18" charset="2"/>
              </a:rPr>
              <a:t>条件：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 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ym typeface="Symbol" panose="05050102010706020507" pitchFamily="18" charset="2"/>
              </a:rPr>
              <a:t>bB</a:t>
            </a:r>
            <a:r>
              <a:rPr lang="en-US" altLang="zh-CN" dirty="0">
                <a:sym typeface="Symbol" panose="05050102010706020507" pitchFamily="18" charset="2"/>
              </a:rPr>
              <a:t>)(a 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 b)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     </a:t>
            </a: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所以   </a:t>
            </a:r>
            <a:r>
              <a:rPr lang="zh-CN" altLang="en-US" i="1" dirty="0">
                <a:sym typeface="Symbol" panose="05050102010706020507" pitchFamily="18" charset="2"/>
              </a:rPr>
              <a:t></a:t>
            </a:r>
            <a:r>
              <a:rPr lang="zh-CN" altLang="en-US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  <a:r>
              <a:rPr lang="zh-CN" altLang="en-US" dirty="0"/>
              <a:t>。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0EDCE57-43D8-4713-0670-9AF9512B2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8935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3">
            <a:extLst>
              <a:ext uri="{FF2B5EF4-FFF2-40B4-BE49-F238E27FC236}">
                <a16:creationId xmlns:a16="http://schemas.microsoft.com/office/drawing/2014/main" id="{12FCEF13-54CD-4C1A-B6FA-5182749FC0E9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2141274" y="843133"/>
            <a:ext cx="8489448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, 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dirty="0">
                <a:solidFill>
                  <a:srgbClr val="C00000"/>
                </a:solidFill>
              </a:rPr>
              <a:t>A×B</a:t>
            </a:r>
            <a:r>
              <a:rPr lang="zh-CN" altLang="en-US" dirty="0">
                <a:solidFill>
                  <a:srgbClr val="C00000"/>
                </a:solidFill>
              </a:rPr>
              <a:t>上的两个二元关系。则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(1)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 ∪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=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)∪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    (2)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 ∪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=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)∪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/>
              <a:t>证</a:t>
            </a:r>
            <a:r>
              <a:rPr lang="en-US" altLang="zh-CN" dirty="0"/>
              <a:t>]</a:t>
            </a:r>
            <a:r>
              <a:rPr lang="en-US" altLang="zh-CN" b="1" dirty="0"/>
              <a:t>.</a:t>
            </a:r>
            <a:r>
              <a:rPr lang="en-US" altLang="zh-CN" dirty="0">
                <a:sym typeface="Symbol" panose="05050102010706020507" pitchFamily="18" charset="2"/>
              </a:rPr>
              <a:t> (1)</a:t>
            </a:r>
            <a:r>
              <a:rPr lang="zh-CN" altLang="en-US" dirty="0">
                <a:sym typeface="Symbol" panose="05050102010706020507" pitchFamily="18" charset="2"/>
              </a:rPr>
              <a:t>先证： </a:t>
            </a:r>
            <a:r>
              <a:rPr lang="zh-CN" altLang="en-US" i="1" dirty="0">
                <a:sym typeface="Symbol" panose="05050102010706020507" pitchFamily="18" charset="2"/>
              </a:rPr>
              <a:t></a:t>
            </a:r>
            <a:r>
              <a:rPr lang="zh-CN" altLang="en-US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)∪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∪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　由于　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∪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，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∪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　                    有 </a:t>
            </a:r>
            <a:r>
              <a:rPr lang="zh-CN" altLang="en-US" i="1" dirty="0">
                <a:sym typeface="Symbol" panose="05050102010706020507" pitchFamily="18" charset="2"/>
              </a:rPr>
              <a:t></a:t>
            </a:r>
            <a:r>
              <a:rPr lang="zh-CN" altLang="en-US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∪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i="1" dirty="0">
                <a:sym typeface="Symbol" panose="05050102010706020507" pitchFamily="18" charset="2"/>
              </a:rPr>
              <a:t>                           </a:t>
            </a:r>
            <a:r>
              <a:rPr lang="zh-CN" altLang="en-US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∪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/>
              <a:t>　可得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/>
              <a:t>　     </a:t>
            </a:r>
            <a:r>
              <a:rPr lang="zh-CN" altLang="en-US" i="1" dirty="0">
                <a:sym typeface="Symbol" panose="05050102010706020507" pitchFamily="18" charset="2"/>
              </a:rPr>
              <a:t></a:t>
            </a:r>
            <a:r>
              <a:rPr lang="zh-CN" altLang="en-US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)∪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baseline="20000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</a:t>
            </a:r>
            <a:r>
              <a:rPr lang="en-US" altLang="zh-CN" i="1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∪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) </a:t>
            </a:r>
            <a:r>
              <a:rPr lang="zh-CN" altLang="en-US" dirty="0"/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     </a:t>
            </a:r>
            <a:endParaRPr lang="zh-CN" altLang="en-US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345024D-83A1-210D-AC30-EE7E3A40E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02499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8F1AA88-6BBB-4B44-A0FB-CAA4196F928B}"/>
              </a:ext>
            </a:extLst>
          </p:cNvPr>
          <p:cNvSpPr/>
          <p:nvPr/>
        </p:nvSpPr>
        <p:spPr>
          <a:xfrm>
            <a:off x="2469099" y="813653"/>
            <a:ext cx="6096000" cy="604434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对任何元素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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， 若</a:t>
            </a:r>
          </a:p>
          <a:p>
            <a:pPr lvl="0" algn="just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　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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∪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</a:p>
          <a:p>
            <a:pPr lvl="0" algn="just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则存在 </a:t>
            </a:r>
            <a:r>
              <a:rPr kumimoji="1" lang="en-US" altLang="zh-CN" sz="280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bB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，使得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　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 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∪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　因此　　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　　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(</a:t>
            </a:r>
            <a:r>
              <a:rPr kumimoji="1" lang="en-US" altLang="zh-CN" sz="280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a,b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)R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∪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从而有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　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(</a:t>
            </a:r>
            <a:r>
              <a:rPr kumimoji="1" lang="en-US" altLang="zh-CN" sz="280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a,b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)R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zh-CN" altLang="en-US" sz="2800" baseline="-250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　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或者　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(</a:t>
            </a:r>
            <a:r>
              <a:rPr kumimoji="1" lang="en-US" altLang="zh-CN" sz="280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a,b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)R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endParaRPr kumimoji="1" lang="en-US" altLang="zh-CN" sz="2800" baseline="-25000" dirty="0">
              <a:solidFill>
                <a:srgbClr val="000000"/>
              </a:solidFill>
              <a:latin typeface="Times New Roman"/>
              <a:ea typeface="宋体"/>
              <a:sym typeface="Symbol" panose="05050102010706020507" pitchFamily="18" charset="2"/>
            </a:endParaRP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    </a:t>
            </a:r>
            <a:r>
              <a:rPr kumimoji="1" lang="zh-CN" altLang="en-US" sz="2800">
                <a:solidFill>
                  <a:srgbClr val="FF0000"/>
                </a:solidFill>
                <a:latin typeface="Times New Roman"/>
                <a:ea typeface="宋体"/>
              </a:rPr>
              <a:t>即  </a:t>
            </a:r>
            <a:r>
              <a:rPr kumimoji="1" lang="en-US" altLang="zh-CN" sz="28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aR</a:t>
            </a:r>
            <a:r>
              <a:rPr kumimoji="1" lang="en-US" altLang="zh-CN" sz="2800" baseline="-250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kumimoji="1" lang="zh-CN" altLang="en-US" sz="2800" baseline="-25000" dirty="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　</a:t>
            </a:r>
            <a:r>
              <a:rPr kumimoji="1" lang="zh-CN" altLang="en-US" sz="2800">
                <a:solidFill>
                  <a:srgbClr val="FF0000"/>
                </a:solidFill>
                <a:latin typeface="Times New Roman"/>
                <a:ea typeface="宋体"/>
              </a:rPr>
              <a:t>或者  </a:t>
            </a:r>
            <a:r>
              <a:rPr kumimoji="1" lang="en-US" altLang="zh-CN" sz="28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aR</a:t>
            </a:r>
            <a:r>
              <a:rPr kumimoji="1" lang="en-US" altLang="zh-CN" sz="2800" baseline="-250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solidFill>
                  <a:srgbClr val="FF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endParaRPr kumimoji="1" lang="en-US" altLang="zh-CN" sz="28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于是</a:t>
            </a:r>
            <a:endParaRPr kumimoji="1" lang="zh-CN" altLang="en-US" sz="2800" dirty="0">
              <a:solidFill>
                <a:srgbClr val="000000"/>
              </a:solidFill>
              <a:latin typeface="Times New Roman"/>
              <a:ea typeface="宋体"/>
              <a:sym typeface="Symbol" panose="05050102010706020507" pitchFamily="18" charset="2"/>
            </a:endParaRP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　   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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zh-CN" altLang="en-US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１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或者　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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　故此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/>
                <a:ea typeface="宋体"/>
              </a:rPr>
              <a:t> 　  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 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∪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i="1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en-US" altLang="zh-CN" sz="28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aseline="-2500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</a:p>
          <a:p>
            <a:pPr lvl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lang="zh-CN" altLang="en-US" sz="2800" dirty="0">
                <a:sym typeface="Symbol" panose="05050102010706020507" pitchFamily="18" charset="2"/>
              </a:rPr>
              <a:t>所以　 </a:t>
            </a:r>
            <a:r>
              <a:rPr lang="zh-CN" altLang="en-US" sz="2800" i="1">
                <a:sym typeface="Symbol" panose="05050102010706020507" pitchFamily="18" charset="2"/>
              </a:rPr>
              <a:t></a:t>
            </a:r>
            <a:r>
              <a:rPr lang="zh-CN" altLang="en-US" sz="2800" i="1"/>
              <a:t> </a:t>
            </a:r>
            <a:r>
              <a:rPr lang="en-US" altLang="zh-CN" sz="2800"/>
              <a:t>(</a:t>
            </a:r>
            <a:r>
              <a:rPr lang="en-US" altLang="zh-CN" sz="2800">
                <a:sym typeface="Symbol" panose="05050102010706020507" pitchFamily="18" charset="2"/>
              </a:rPr>
              <a:t>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/>
              <a:t> ∪ </a:t>
            </a:r>
            <a:r>
              <a:rPr lang="en-US" altLang="zh-CN" sz="2800">
                <a:sym typeface="Symbol" panose="05050102010706020507" pitchFamily="18" charset="2"/>
              </a:rPr>
              <a:t>R</a:t>
            </a:r>
            <a:r>
              <a:rPr lang="en-US" altLang="zh-CN" sz="2800" baseline="-25000">
                <a:sym typeface="Symbol" panose="05050102010706020507" pitchFamily="18" charset="2"/>
              </a:rPr>
              <a:t>2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sym typeface="Symbol" panose="05050102010706020507" pitchFamily="18" charset="2"/>
              </a:rPr>
              <a:t> </a:t>
            </a:r>
            <a:r>
              <a:rPr lang="en-US" altLang="zh-CN" sz="2800" i="1">
                <a:sym typeface="Symbol" panose="05050102010706020507" pitchFamily="18" charset="2"/>
              </a:rPr>
              <a:t></a:t>
            </a:r>
            <a:r>
              <a:rPr lang="en-US" altLang="zh-CN" sz="2800" i="1"/>
              <a:t> </a:t>
            </a:r>
            <a:r>
              <a:rPr lang="en-US" altLang="zh-CN" sz="2800"/>
              <a:t>(</a:t>
            </a:r>
            <a:r>
              <a:rPr lang="en-US" altLang="zh-CN" sz="2800">
                <a:sym typeface="Symbol" panose="05050102010706020507" pitchFamily="18" charset="2"/>
              </a:rPr>
              <a:t>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 dirty="0"/>
              <a:t>)</a:t>
            </a:r>
            <a:r>
              <a:rPr lang="en-US" altLang="zh-CN" sz="2800"/>
              <a:t>∪</a:t>
            </a:r>
            <a:r>
              <a:rPr lang="en-US" altLang="zh-CN" sz="2800" i="1">
                <a:sym typeface="Symbol" panose="05050102010706020507" pitchFamily="18" charset="2"/>
              </a:rPr>
              <a:t></a:t>
            </a:r>
            <a:r>
              <a:rPr lang="en-US" altLang="zh-CN" sz="2800" i="1"/>
              <a:t> </a:t>
            </a:r>
            <a:r>
              <a:rPr lang="en-US" altLang="zh-CN" sz="2800"/>
              <a:t>(</a:t>
            </a:r>
            <a:r>
              <a:rPr lang="en-US" altLang="zh-CN" sz="2800">
                <a:sym typeface="Symbol" panose="05050102010706020507" pitchFamily="18" charset="2"/>
              </a:rPr>
              <a:t>R</a:t>
            </a:r>
            <a:r>
              <a:rPr lang="en-US" altLang="zh-CN" sz="2800" baseline="-25000">
                <a:sym typeface="Symbol" panose="05050102010706020507" pitchFamily="18" charset="2"/>
              </a:rPr>
              <a:t>2</a:t>
            </a:r>
            <a:r>
              <a:rPr lang="en-US" altLang="zh-CN" sz="2800" dirty="0"/>
              <a:t>)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F0214554-B317-2447-C947-BD8634F2A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2551"/>
      </p:ext>
    </p:extLst>
  </p:cSld>
  <p:clrMapOvr>
    <a:masterClrMapping/>
  </p:clrMapOvr>
  <p:transition spd="slow" advTm="0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2776D68-068F-4244-8AB3-50789EDB97E3}"/>
              </a:ext>
            </a:extLst>
          </p:cNvPr>
          <p:cNvSpPr/>
          <p:nvPr/>
        </p:nvSpPr>
        <p:spPr>
          <a:xfrm>
            <a:off x="1955981" y="547414"/>
            <a:ext cx="6911725" cy="1961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,R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A×B</a:t>
            </a:r>
            <a:r>
              <a:rPr lang="zh-CN" altLang="en-US" sz="2800" dirty="0">
                <a:solidFill>
                  <a:srgbClr val="C00000"/>
                </a:solidFill>
              </a:rPr>
              <a:t>是两个关系</a:t>
            </a:r>
            <a:r>
              <a:rPr lang="en-US" altLang="zh-CN" sz="2800" dirty="0">
                <a:solidFill>
                  <a:srgbClr val="C00000"/>
                </a:solidFill>
              </a:rPr>
              <a:t>,</a:t>
            </a:r>
            <a:r>
              <a:rPr lang="zh-CN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则</a:t>
            </a:r>
          </a:p>
          <a:p>
            <a:pPr lvl="0">
              <a:lnSpc>
                <a:spcPct val="150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(3)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 ∩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)∩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</a:p>
          <a:p>
            <a:pPr lvl="0">
              <a:lnSpc>
                <a:spcPct val="150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(4)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 ∩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)∩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  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2FFF71-6020-4796-916C-A3DAF7183AE9}"/>
              </a:ext>
            </a:extLst>
          </p:cNvPr>
          <p:cNvSpPr/>
          <p:nvPr/>
        </p:nvSpPr>
        <p:spPr>
          <a:xfrm>
            <a:off x="1571625" y="2633407"/>
            <a:ext cx="8438955" cy="237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)∩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　由于　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 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，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，</a:t>
            </a:r>
          </a:p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　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　　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，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　</a:t>
            </a:r>
          </a:p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可得</a:t>
            </a:r>
          </a:p>
          <a:p>
            <a:pPr marL="0" marR="0" lvl="0" indent="0" algn="just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　　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∩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kumimoji="1" lang="en-US" altLang="zh-CN" sz="2800" b="0" i="0" u="none" strike="noStrike" kern="0" cap="none" spc="0" normalizeH="0" baseline="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)∩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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R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F59A26-4CBC-42CF-8337-53172DEE492A}"/>
              </a:ext>
            </a:extLst>
          </p:cNvPr>
          <p:cNvSpPr/>
          <p:nvPr/>
        </p:nvSpPr>
        <p:spPr>
          <a:xfrm>
            <a:off x="1909932" y="5199839"/>
            <a:ext cx="79905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={(1,1),(2,2)}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={(1,2),(2,1)}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则，由于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　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但是，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{1,2 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{1,2}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故　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)∩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{1,2 }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9A3E103-9CC1-FEAF-E781-5A28C157D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20213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B7AB56-3D52-4640-B7C8-58C6A0143178}"/>
              </a:ext>
            </a:extLst>
          </p:cNvPr>
          <p:cNvSpPr txBox="1"/>
          <p:nvPr/>
        </p:nvSpPr>
        <p:spPr>
          <a:xfrm>
            <a:off x="1751013" y="887146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3076D3-8488-4DE0-80E3-76A9ADF2B4C6}"/>
              </a:ext>
            </a:extLst>
          </p:cNvPr>
          <p:cNvSpPr txBox="1"/>
          <p:nvPr/>
        </p:nvSpPr>
        <p:spPr>
          <a:xfrm>
            <a:off x="1751012" y="1684075"/>
            <a:ext cx="4344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 </a:t>
            </a:r>
            <a:r>
              <a:rPr lang="zh-CN" altLang="en-US" sz="2800" dirty="0"/>
              <a:t>集合表示法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列举法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描述法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09996307-6964-EE12-10B4-1397881E3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382570"/>
      </p:ext>
    </p:extLst>
  </p:cSld>
  <p:clrMapOvr>
    <a:masterClrMapping/>
  </p:clrMapOvr>
  <p:transition spd="slow" advTm="0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F2E89C0-2C47-4A18-9447-388F956C8BAD}"/>
              </a:ext>
            </a:extLst>
          </p:cNvPr>
          <p:cNvSpPr txBox="1"/>
          <p:nvPr/>
        </p:nvSpPr>
        <p:spPr>
          <a:xfrm>
            <a:off x="1751012" y="1354242"/>
            <a:ext cx="434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2 </a:t>
            </a:r>
            <a:r>
              <a:rPr lang="zh-CN" altLang="en-US" sz="2800" dirty="0">
                <a:latin typeface="+mn-ea"/>
              </a:rPr>
              <a:t>关系图  </a:t>
            </a:r>
            <a:r>
              <a:rPr lang="en-US" altLang="x-none" sz="2800" dirty="0">
                <a:latin typeface="+mn-ea"/>
                <a:sym typeface="Wingdings" panose="05000000000000000000" pitchFamily="2" charset="2"/>
              </a:rPr>
              <a:t>G(R)</a:t>
            </a: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或</a:t>
            </a:r>
            <a:r>
              <a:rPr lang="en-US" altLang="x-none" sz="2800" dirty="0">
                <a:latin typeface="+mn-ea"/>
                <a:sym typeface="Wingdings" panose="05000000000000000000" pitchFamily="2" charset="2"/>
              </a:rPr>
              <a:t>G</a:t>
            </a:r>
            <a:r>
              <a:rPr lang="en-US" altLang="x-none" sz="2800" baseline="-25000" dirty="0">
                <a:latin typeface="+mn-ea"/>
                <a:sym typeface="Wingdings" panose="05000000000000000000" pitchFamily="2" charset="2"/>
              </a:rPr>
              <a:t>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AB65E4-B088-48E1-97F5-CEAEEC42E829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6AD6B8-D0CC-4E01-852A-3FB55CF48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011258"/>
            <a:ext cx="7835900" cy="284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≠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B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设</a:t>
            </a:r>
            <a:r>
              <a:rPr lang="en-US" altLang="zh-CN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A＝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,...,a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},B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{b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,...,b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是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从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的一个二元关系，则规定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的关系图如下：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,...,a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,...,b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分别为图中的结点，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用“。</a:t>
            </a:r>
            <a:r>
              <a:rPr lang="zh-CN" altLang="en-US" sz="2800" noProof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”表示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800" noProof="1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endParaRPr lang="zh-CN" altLang="zh-CN" sz="2800" noProof="1">
              <a:solidFill>
                <a:srgbClr val="0000CC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0B4DEB-FD55-4586-BDCA-4AAA6350C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834" y="5032076"/>
            <a:ext cx="7924800" cy="105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kumimoji="1" lang="zh-CN" altLang="en-US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②.如&lt;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kumimoji="1" lang="zh-CN" altLang="en-US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可用有向边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  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相连。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为对应图中的有向边。</a:t>
            </a:r>
            <a:endParaRPr kumimoji="1" lang="zh-CN" altLang="zh-CN" sz="2800" noProof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DE3A3CF-B412-415B-9E81-0178636B3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7821" y="5348739"/>
            <a:ext cx="304800" cy="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6539BB8-53B3-1738-1070-CA869EAE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48650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F6B22C4-40E5-4A40-81EC-AEBA53D4A184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878281"/>
            <a:ext cx="8001000" cy="36623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2)A=B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B=&lt;a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,...,a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上的关系，则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的关系图规定如下：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,...,a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为图中节点，用“。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”表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noProof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②.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如&lt;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可用有向边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     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相连。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为对应图中的有向边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用一带箭头的小圆环表示，即：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8F18736-B475-4760-8957-EB7B7DBC9AD1}"/>
              </a:ext>
            </a:extLst>
          </p:cNvPr>
          <p:cNvSpPr>
            <a:spLocks/>
          </p:cNvSpPr>
          <p:nvPr/>
        </p:nvSpPr>
        <p:spPr bwMode="auto">
          <a:xfrm>
            <a:off x="7683732" y="4237955"/>
            <a:ext cx="365125" cy="14288"/>
          </a:xfrm>
          <a:custGeom>
            <a:avLst/>
            <a:gdLst>
              <a:gd name="T0" fmla="*/ 0 w 288"/>
              <a:gd name="T1" fmla="*/ 9 h 9"/>
              <a:gd name="T2" fmla="*/ 288 w 288"/>
              <a:gd name="T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8" h="9">
                <a:moveTo>
                  <a:pt x="0" y="9"/>
                </a:moveTo>
                <a:lnTo>
                  <a:pt x="288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endParaRPr lang="zh-CN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C53B9-189D-4B0E-9655-BAC2F7E68764}"/>
              </a:ext>
            </a:extLst>
          </p:cNvPr>
          <p:cNvGrpSpPr>
            <a:grpSpLocks/>
          </p:cNvGrpSpPr>
          <p:nvPr/>
        </p:nvGrpSpPr>
        <p:grpSpPr bwMode="auto">
          <a:xfrm>
            <a:off x="2818701" y="6107184"/>
            <a:ext cx="444150" cy="379485"/>
            <a:chOff x="1952" y="3648"/>
            <a:chExt cx="352" cy="33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FAA8FD-2077-4BCB-B9DD-DD0639084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3793"/>
              <a:ext cx="76" cy="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38B2D160-F60A-4856-9D5F-45850AF49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3704"/>
              <a:ext cx="76" cy="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84015E-4073-46F3-B5D9-1910360E5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" y="3648"/>
              <a:ext cx="306" cy="33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8707D490-878D-2A47-8FF9-005D26096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382323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8DD1C5-672E-46EC-9485-E913CF7B93DA}"/>
              </a:ext>
            </a:extLst>
          </p:cNvPr>
          <p:cNvSpPr/>
          <p:nvPr/>
        </p:nvSpPr>
        <p:spPr>
          <a:xfrm>
            <a:off x="1384102" y="836090"/>
            <a:ext cx="8819404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设关系  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</a:t>
            </a:r>
            <a:r>
              <a:rPr lang="zh-CN" altLang="en-US" sz="2800" dirty="0"/>
              <a:t>，</a:t>
            </a:r>
            <a:r>
              <a:rPr lang="en-US" altLang="zh-CN" sz="2800" dirty="0"/>
              <a:t>A={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}</a:t>
            </a:r>
            <a:r>
              <a:rPr lang="zh-CN" altLang="en-US" sz="2800" dirty="0"/>
              <a:t>，</a:t>
            </a:r>
            <a:r>
              <a:rPr lang="en-US" altLang="zh-CN" sz="2800" dirty="0"/>
              <a:t>B={b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        R ={ 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&gt;}</a:t>
            </a:r>
          </a:p>
        </p:txBody>
      </p:sp>
      <p:grpSp>
        <p:nvGrpSpPr>
          <p:cNvPr id="6" name="Group 74">
            <a:extLst>
              <a:ext uri="{FF2B5EF4-FFF2-40B4-BE49-F238E27FC236}">
                <a16:creationId xmlns:a16="http://schemas.microsoft.com/office/drawing/2014/main" id="{103FA744-8943-4A3F-AC4E-F593402198B9}"/>
              </a:ext>
            </a:extLst>
          </p:cNvPr>
          <p:cNvGrpSpPr>
            <a:grpSpLocks/>
          </p:cNvGrpSpPr>
          <p:nvPr/>
        </p:nvGrpSpPr>
        <p:grpSpPr bwMode="auto">
          <a:xfrm>
            <a:off x="2021904" y="3899357"/>
            <a:ext cx="7424738" cy="2686050"/>
            <a:chOff x="996" y="720"/>
            <a:chExt cx="4677" cy="1692"/>
          </a:xfrm>
        </p:grpSpPr>
        <p:grpSp>
          <p:nvGrpSpPr>
            <p:cNvPr id="7" name="Group 72">
              <a:extLst>
                <a:ext uri="{FF2B5EF4-FFF2-40B4-BE49-F238E27FC236}">
                  <a16:creationId xmlns:a16="http://schemas.microsoft.com/office/drawing/2014/main" id="{FB66109B-5529-4B88-A725-8E4A86BB4F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720"/>
              <a:ext cx="2508" cy="1642"/>
              <a:chOff x="996" y="720"/>
              <a:chExt cx="2508" cy="1642"/>
            </a:xfrm>
          </p:grpSpPr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C53B6651-E8D9-4930-8FDD-E3F426B2F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" y="1008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7">
                <a:extLst>
                  <a:ext uri="{FF2B5EF4-FFF2-40B4-BE49-F238E27FC236}">
                    <a16:creationId xmlns:a16="http://schemas.microsoft.com/office/drawing/2014/main" id="{8A273A49-EC15-4012-9106-CE8CB53B5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" y="1296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8">
                <a:extLst>
                  <a:ext uri="{FF2B5EF4-FFF2-40B4-BE49-F238E27FC236}">
                    <a16:creationId xmlns:a16="http://schemas.microsoft.com/office/drawing/2014/main" id="{EA7B3594-BCA5-439E-A649-87932F0B2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" y="1536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9">
                <a:extLst>
                  <a:ext uri="{FF2B5EF4-FFF2-40B4-BE49-F238E27FC236}">
                    <a16:creationId xmlns:a16="http://schemas.microsoft.com/office/drawing/2014/main" id="{ACE69229-534E-44D8-AC22-9ABF6D058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" y="1824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Oval 10">
                <a:extLst>
                  <a:ext uri="{FF2B5EF4-FFF2-40B4-BE49-F238E27FC236}">
                    <a16:creationId xmlns:a16="http://schemas.microsoft.com/office/drawing/2014/main" id="{46158A02-0FC7-491E-91A6-030E103E5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008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11">
                <a:extLst>
                  <a:ext uri="{FF2B5EF4-FFF2-40B4-BE49-F238E27FC236}">
                    <a16:creationId xmlns:a16="http://schemas.microsoft.com/office/drawing/2014/main" id="{384133AE-D216-48C7-BBE6-87DAE0B16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344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Oval 12">
                <a:extLst>
                  <a:ext uri="{FF2B5EF4-FFF2-40B4-BE49-F238E27FC236}">
                    <a16:creationId xmlns:a16="http://schemas.microsoft.com/office/drawing/2014/main" id="{4C13307A-C0CD-4A1C-B601-319C24628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964" y="1680"/>
                <a:ext cx="96" cy="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13">
                <a:extLst>
                  <a:ext uri="{FF2B5EF4-FFF2-40B4-BE49-F238E27FC236}">
                    <a16:creationId xmlns:a16="http://schemas.microsoft.com/office/drawing/2014/main" id="{9CD67973-5EE7-44F6-A8B5-D171AF08D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0" y="1056"/>
                <a:ext cx="1344" cy="336"/>
              </a:xfrm>
              <a:prstGeom prst="line">
                <a:avLst/>
              </a:prstGeom>
              <a:noFill/>
              <a:ln w="12700" cap="sq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14">
                <a:extLst>
                  <a:ext uri="{FF2B5EF4-FFF2-40B4-BE49-F238E27FC236}">
                    <a16:creationId xmlns:a16="http://schemas.microsoft.com/office/drawing/2014/main" id="{EA7B77EE-508C-4599-9075-B04703C65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2" y="1056"/>
                <a:ext cx="1392" cy="672"/>
              </a:xfrm>
              <a:prstGeom prst="line">
                <a:avLst/>
              </a:prstGeom>
              <a:noFill/>
              <a:ln w="12700" cap="sq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17">
                <a:extLst>
                  <a:ext uri="{FF2B5EF4-FFF2-40B4-BE49-F238E27FC236}">
                    <a16:creationId xmlns:a16="http://schemas.microsoft.com/office/drawing/2014/main" id="{DEB5B61C-004F-455C-955B-FB379B6FB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2" y="1392"/>
                <a:ext cx="1392" cy="336"/>
              </a:xfrm>
              <a:prstGeom prst="line">
                <a:avLst/>
              </a:prstGeom>
              <a:noFill/>
              <a:ln w="12700" cap="sq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18">
                <a:extLst>
                  <a:ext uri="{FF2B5EF4-FFF2-40B4-BE49-F238E27FC236}">
                    <a16:creationId xmlns:a16="http://schemas.microsoft.com/office/drawing/2014/main" id="{D817BA3C-02B0-4629-ABBF-3BB82D3558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2" y="1104"/>
                <a:ext cx="1392" cy="480"/>
              </a:xfrm>
              <a:prstGeom prst="line">
                <a:avLst/>
              </a:prstGeom>
              <a:noFill/>
              <a:ln w="12700" cap="sq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19">
                <a:extLst>
                  <a:ext uri="{FF2B5EF4-FFF2-40B4-BE49-F238E27FC236}">
                    <a16:creationId xmlns:a16="http://schemas.microsoft.com/office/drawing/2014/main" id="{76635895-3F9C-4204-B637-137619BE0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0" y="1440"/>
                <a:ext cx="1344" cy="432"/>
              </a:xfrm>
              <a:prstGeom prst="line">
                <a:avLst/>
              </a:prstGeom>
              <a:noFill/>
              <a:ln w="12700" cap="sq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Text Box 21">
                <a:extLst>
                  <a:ext uri="{FF2B5EF4-FFF2-40B4-BE49-F238E27FC236}">
                    <a16:creationId xmlns:a16="http://schemas.microsoft.com/office/drawing/2014/main" id="{D7ABFE6A-E825-4F23-BB45-052DF6ED88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912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  <a:r>
                  <a:rPr lang="en-US" altLang="zh-CN" baseline="-25000" dirty="0"/>
                  <a:t>1</a:t>
                </a:r>
              </a:p>
            </p:txBody>
          </p:sp>
          <p:sp>
            <p:nvSpPr>
              <p:cNvPr id="45" name="Text Box 22">
                <a:extLst>
                  <a:ext uri="{FF2B5EF4-FFF2-40B4-BE49-F238E27FC236}">
                    <a16:creationId xmlns:a16="http://schemas.microsoft.com/office/drawing/2014/main" id="{8EB4E051-C755-4F62-8806-AEA9D4A34C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11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46" name="Text Box 23">
                <a:extLst>
                  <a:ext uri="{FF2B5EF4-FFF2-40B4-BE49-F238E27FC236}">
                    <a16:creationId xmlns:a16="http://schemas.microsoft.com/office/drawing/2014/main" id="{D4AA2DE4-CD4E-4C99-AE1B-3AC19AD793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14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3</a:t>
                </a:r>
              </a:p>
            </p:txBody>
          </p:sp>
          <p:sp>
            <p:nvSpPr>
              <p:cNvPr id="47" name="Text Box 24">
                <a:extLst>
                  <a:ext uri="{FF2B5EF4-FFF2-40B4-BE49-F238E27FC236}">
                    <a16:creationId xmlns:a16="http://schemas.microsoft.com/office/drawing/2014/main" id="{5FF301FA-8DD8-446B-9288-A1DB9AD831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17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4</a:t>
                </a:r>
              </a:p>
            </p:txBody>
          </p:sp>
          <p:sp>
            <p:nvSpPr>
              <p:cNvPr id="48" name="Text Box 25">
                <a:extLst>
                  <a:ext uri="{FF2B5EF4-FFF2-40B4-BE49-F238E27FC236}">
                    <a16:creationId xmlns:a16="http://schemas.microsoft.com/office/drawing/2014/main" id="{07F217D2-75CA-470E-A6B7-74DC1FCE40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6" y="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49" name="Text Box 26">
                <a:extLst>
                  <a:ext uri="{FF2B5EF4-FFF2-40B4-BE49-F238E27FC236}">
                    <a16:creationId xmlns:a16="http://schemas.microsoft.com/office/drawing/2014/main" id="{9C10561C-6345-4F44-8D62-85B7A28724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6" y="127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50" name="Text Box 27">
                <a:extLst>
                  <a:ext uri="{FF2B5EF4-FFF2-40B4-BE49-F238E27FC236}">
                    <a16:creationId xmlns:a16="http://schemas.microsoft.com/office/drawing/2014/main" id="{A6724F4B-C34D-493B-94BF-AE3263AF1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" y="1608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3</a:t>
                </a:r>
              </a:p>
            </p:txBody>
          </p:sp>
          <p:sp>
            <p:nvSpPr>
              <p:cNvPr id="51" name="Oval 28">
                <a:extLst>
                  <a:ext uri="{FF2B5EF4-FFF2-40B4-BE49-F238E27FC236}">
                    <a16:creationId xmlns:a16="http://schemas.microsoft.com/office/drawing/2014/main" id="{890AD545-7BFD-462C-8640-B4BC93755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" y="768"/>
                <a:ext cx="912" cy="1584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Oval 29">
                <a:extLst>
                  <a:ext uri="{FF2B5EF4-FFF2-40B4-BE49-F238E27FC236}">
                    <a16:creationId xmlns:a16="http://schemas.microsoft.com/office/drawing/2014/main" id="{FCF2ED3B-C935-4A0D-88D4-FDADBAF45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2" y="1008"/>
                <a:ext cx="672" cy="1248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Oval 30">
                <a:extLst>
                  <a:ext uri="{FF2B5EF4-FFF2-40B4-BE49-F238E27FC236}">
                    <a16:creationId xmlns:a16="http://schemas.microsoft.com/office/drawing/2014/main" id="{418D43AA-9471-4FBA-85BD-A04228198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6" y="720"/>
                <a:ext cx="816" cy="1536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Text Box 31">
                <a:extLst>
                  <a:ext uri="{FF2B5EF4-FFF2-40B4-BE49-F238E27FC236}">
                    <a16:creationId xmlns:a16="http://schemas.microsoft.com/office/drawing/2014/main" id="{F27C6346-6C2F-4AEF-8540-1CC8F86CDC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6" y="99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dirty="0"/>
                  <a:t>R</a:t>
                </a:r>
              </a:p>
            </p:txBody>
          </p:sp>
          <p:sp>
            <p:nvSpPr>
              <p:cNvPr id="55" name="Text Box 32">
                <a:extLst>
                  <a:ext uri="{FF2B5EF4-FFF2-40B4-BE49-F238E27FC236}">
                    <a16:creationId xmlns:a16="http://schemas.microsoft.com/office/drawing/2014/main" id="{3AF7A872-53D1-4407-A879-08F2614BF1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2" y="138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</a:p>
            </p:txBody>
          </p:sp>
          <p:sp>
            <p:nvSpPr>
              <p:cNvPr id="56" name="Text Box 33">
                <a:extLst>
                  <a:ext uri="{FF2B5EF4-FFF2-40B4-BE49-F238E27FC236}">
                    <a16:creationId xmlns:a16="http://schemas.microsoft.com/office/drawing/2014/main" id="{4823F4A1-A8E9-40E2-837E-47E414B9E4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1274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B</a:t>
                </a:r>
              </a:p>
            </p:txBody>
          </p:sp>
          <p:sp>
            <p:nvSpPr>
              <p:cNvPr id="57" name="Text Box 35">
                <a:extLst>
                  <a:ext uri="{FF2B5EF4-FFF2-40B4-BE49-F238E27FC236}">
                    <a16:creationId xmlns:a16="http://schemas.microsoft.com/office/drawing/2014/main" id="{7B76ED19-7AF9-423E-848C-F8CA317E8F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6" y="211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G</a:t>
                </a:r>
                <a:r>
                  <a:rPr lang="en-US" altLang="zh-CN" baseline="-25000"/>
                  <a:t>R</a:t>
                </a:r>
              </a:p>
            </p:txBody>
          </p:sp>
        </p:grpSp>
        <p:grpSp>
          <p:nvGrpSpPr>
            <p:cNvPr id="8" name="Group 73">
              <a:extLst>
                <a:ext uri="{FF2B5EF4-FFF2-40B4-BE49-F238E27FC236}">
                  <a16:creationId xmlns:a16="http://schemas.microsoft.com/office/drawing/2014/main" id="{F091F98C-2013-47DC-B1B0-13F9C39C7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8" y="804"/>
              <a:ext cx="1905" cy="1608"/>
              <a:chOff x="3768" y="804"/>
              <a:chExt cx="1905" cy="1608"/>
            </a:xfrm>
          </p:grpSpPr>
          <p:sp>
            <p:nvSpPr>
              <p:cNvPr id="9" name="Oval 38">
                <a:extLst>
                  <a:ext uri="{FF2B5EF4-FFF2-40B4-BE49-F238E27FC236}">
                    <a16:creationId xmlns:a16="http://schemas.microsoft.com/office/drawing/2014/main" id="{23874D79-4F58-4103-ADEA-473B8015D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5" y="804"/>
                <a:ext cx="288" cy="288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Oval 39">
                <a:extLst>
                  <a:ext uri="{FF2B5EF4-FFF2-40B4-BE49-F238E27FC236}">
                    <a16:creationId xmlns:a16="http://schemas.microsoft.com/office/drawing/2014/main" id="{5574D09B-D32B-498C-A454-9BFEA1C87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8" y="1947"/>
                <a:ext cx="288" cy="288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Oval 41">
                <a:extLst>
                  <a:ext uri="{FF2B5EF4-FFF2-40B4-BE49-F238E27FC236}">
                    <a16:creationId xmlns:a16="http://schemas.microsoft.com/office/drawing/2014/main" id="{CCB2DE74-13D8-482F-B7C3-AEFC59711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2" y="1956"/>
                <a:ext cx="288" cy="288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Oval 42">
                <a:extLst>
                  <a:ext uri="{FF2B5EF4-FFF2-40B4-BE49-F238E27FC236}">
                    <a16:creationId xmlns:a16="http://schemas.microsoft.com/office/drawing/2014/main" id="{A5BD0D7D-2370-403A-963F-23F2E4058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1" y="1092"/>
                <a:ext cx="96" cy="96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Oval 43">
                <a:extLst>
                  <a:ext uri="{FF2B5EF4-FFF2-40B4-BE49-F238E27FC236}">
                    <a16:creationId xmlns:a16="http://schemas.microsoft.com/office/drawing/2014/main" id="{E75174B5-7DF1-46A1-927F-24F12E2E8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1938"/>
                <a:ext cx="96" cy="96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44">
                <a:extLst>
                  <a:ext uri="{FF2B5EF4-FFF2-40B4-BE49-F238E27FC236}">
                    <a16:creationId xmlns:a16="http://schemas.microsoft.com/office/drawing/2014/main" id="{113D0700-D88D-4635-9CFA-4D8BD869E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6" y="1944"/>
                <a:ext cx="96" cy="96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5" name="AutoShape 45">
                <a:extLst>
                  <a:ext uri="{FF2B5EF4-FFF2-40B4-BE49-F238E27FC236}">
                    <a16:creationId xmlns:a16="http://schemas.microsoft.com/office/drawing/2014/main" id="{1029BADF-A1D5-4B9E-9234-47E14971734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4583" y="1174"/>
                <a:ext cx="480" cy="604"/>
              </a:xfrm>
              <a:prstGeom prst="curvedConnector3">
                <a:avLst>
                  <a:gd name="adj1" fmla="val 132917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" name="Oval 46">
                <a:extLst>
                  <a:ext uri="{FF2B5EF4-FFF2-40B4-BE49-F238E27FC236}">
                    <a16:creationId xmlns:a16="http://schemas.microsoft.com/office/drawing/2014/main" id="{BB5D32F6-2B96-4472-AC1E-939DBA47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1" y="1668"/>
                <a:ext cx="672" cy="528"/>
              </a:xfrm>
              <a:prstGeom prst="ellips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47">
                <a:extLst>
                  <a:ext uri="{FF2B5EF4-FFF2-40B4-BE49-F238E27FC236}">
                    <a16:creationId xmlns:a16="http://schemas.microsoft.com/office/drawing/2014/main" id="{21B9B651-FC31-40B0-96CE-EACD099E3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1204"/>
                <a:ext cx="32" cy="11"/>
              </a:xfrm>
              <a:custGeom>
                <a:avLst/>
                <a:gdLst>
                  <a:gd name="T0" fmla="*/ 0 w 32"/>
                  <a:gd name="T1" fmla="*/ 11 h 11"/>
                  <a:gd name="T2" fmla="*/ 32 w 32"/>
                  <a:gd name="T3" fmla="*/ 0 h 11"/>
                  <a:gd name="T4" fmla="*/ 0 w 32"/>
                  <a:gd name="T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11">
                    <a:moveTo>
                      <a:pt x="0" y="11"/>
                    </a:moveTo>
                    <a:cubicBezTo>
                      <a:pt x="11" y="7"/>
                      <a:pt x="32" y="0"/>
                      <a:pt x="32" y="0"/>
                    </a:cubicBezTo>
                    <a:cubicBezTo>
                      <a:pt x="32" y="0"/>
                      <a:pt x="11" y="7"/>
                      <a:pt x="0" y="11"/>
                    </a:cubicBez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8" name="AutoShape 49">
                <a:extLst>
                  <a:ext uri="{FF2B5EF4-FFF2-40B4-BE49-F238E27FC236}">
                    <a16:creationId xmlns:a16="http://schemas.microsoft.com/office/drawing/2014/main" id="{CBA57689-EDDB-48B4-A4B7-4C17AF19B2F4}"/>
                  </a:ext>
                </a:extLst>
              </p:cNvPr>
              <p:cNvCxnSpPr>
                <a:cxnSpLocks noChangeShapeType="1"/>
                <a:stCxn id="13" idx="6"/>
                <a:endCxn id="16" idx="1"/>
              </p:cNvCxnSpPr>
              <p:nvPr/>
            </p:nvCxnSpPr>
            <p:spPr bwMode="auto">
              <a:xfrm flipV="1">
                <a:off x="4128" y="1745"/>
                <a:ext cx="971" cy="241"/>
              </a:xfrm>
              <a:prstGeom prst="curvedConnector4">
                <a:avLst>
                  <a:gd name="adj1" fmla="val 44903"/>
                  <a:gd name="adj2" fmla="val 191699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round/>
                    <a:headEnd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" name="Text Box 53">
                <a:extLst>
                  <a:ext uri="{FF2B5EF4-FFF2-40B4-BE49-F238E27FC236}">
                    <a16:creationId xmlns:a16="http://schemas.microsoft.com/office/drawing/2014/main" id="{308AF220-95FB-4F61-8782-65ED4368AB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0" y="1011"/>
                <a:ext cx="13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Ctr="1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20" name="Text Box 54">
                <a:extLst>
                  <a:ext uri="{FF2B5EF4-FFF2-40B4-BE49-F238E27FC236}">
                    <a16:creationId xmlns:a16="http://schemas.microsoft.com/office/drawing/2014/main" id="{9ABF6B72-A5CC-4880-A786-176232641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2" y="1677"/>
                <a:ext cx="14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Ctr="1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21" name="Text Box 55">
                <a:extLst>
                  <a:ext uri="{FF2B5EF4-FFF2-40B4-BE49-F238E27FC236}">
                    <a16:creationId xmlns:a16="http://schemas.microsoft.com/office/drawing/2014/main" id="{502031FD-0C54-4BBF-8D74-4E10BA8795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0" y="1683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Ctr="1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r>
                  <a:rPr lang="en-US" altLang="zh-CN" baseline="-25000"/>
                  <a:t>3</a:t>
                </a:r>
              </a:p>
            </p:txBody>
          </p:sp>
          <p:sp>
            <p:nvSpPr>
              <p:cNvPr id="22" name="Text Box 56">
                <a:extLst>
                  <a:ext uri="{FF2B5EF4-FFF2-40B4-BE49-F238E27FC236}">
                    <a16:creationId xmlns:a16="http://schemas.microsoft.com/office/drawing/2014/main" id="{94571448-5BDD-4362-8427-C87640BFE1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5" y="222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Ctr="1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/>
                  <a:t>G</a:t>
                </a:r>
                <a:r>
                  <a:rPr lang="en-US" altLang="zh-CN" baseline="-25000"/>
                  <a:t>S</a:t>
                </a:r>
              </a:p>
            </p:txBody>
          </p:sp>
          <p:sp>
            <p:nvSpPr>
              <p:cNvPr id="23" name="Oval 61">
                <a:extLst>
                  <a:ext uri="{FF2B5EF4-FFF2-40B4-BE49-F238E27FC236}">
                    <a16:creationId xmlns:a16="http://schemas.microsoft.com/office/drawing/2014/main" id="{AB9CD2FF-88E1-4261-B5FF-A9E801778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4480" y="1544"/>
                <a:ext cx="181" cy="884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62">
                <a:extLst>
                  <a:ext uri="{FF2B5EF4-FFF2-40B4-BE49-F238E27FC236}">
                    <a16:creationId xmlns:a16="http://schemas.microsoft.com/office/drawing/2014/main" id="{F0E73255-9C1A-422D-B0A6-CFE8F186E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800000">
                <a:off x="4734" y="1116"/>
                <a:ext cx="181" cy="884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63">
                <a:extLst>
                  <a:ext uri="{FF2B5EF4-FFF2-40B4-BE49-F238E27FC236}">
                    <a16:creationId xmlns:a16="http://schemas.microsoft.com/office/drawing/2014/main" id="{82A2123D-ACF1-41AE-8D6B-393EBA2ED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" y="1206"/>
                <a:ext cx="18" cy="99"/>
              </a:xfrm>
              <a:custGeom>
                <a:avLst/>
                <a:gdLst>
                  <a:gd name="T0" fmla="*/ 18 w 18"/>
                  <a:gd name="T1" fmla="*/ 99 h 99"/>
                  <a:gd name="T2" fmla="*/ 0 w 18"/>
                  <a:gd name="T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8" h="99">
                    <a:moveTo>
                      <a:pt x="18" y="99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64">
                <a:extLst>
                  <a:ext uri="{FF2B5EF4-FFF2-40B4-BE49-F238E27FC236}">
                    <a16:creationId xmlns:a16="http://schemas.microsoft.com/office/drawing/2014/main" id="{C2A62302-94E9-4619-B3AE-8DA51D279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7" y="1017"/>
                <a:ext cx="78" cy="69"/>
              </a:xfrm>
              <a:custGeom>
                <a:avLst/>
                <a:gdLst>
                  <a:gd name="T0" fmla="*/ 78 w 78"/>
                  <a:gd name="T1" fmla="*/ 0 h 69"/>
                  <a:gd name="T2" fmla="*/ 0 w 78"/>
                  <a:gd name="T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8" h="69">
                    <a:moveTo>
                      <a:pt x="78" y="0"/>
                    </a:moveTo>
                    <a:lnTo>
                      <a:pt x="0" y="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65">
                <a:extLst>
                  <a:ext uri="{FF2B5EF4-FFF2-40B4-BE49-F238E27FC236}">
                    <a16:creationId xmlns:a16="http://schemas.microsoft.com/office/drawing/2014/main" id="{54592895-FAFD-4746-B64C-D14DBF943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1947"/>
                <a:ext cx="87" cy="42"/>
              </a:xfrm>
              <a:custGeom>
                <a:avLst/>
                <a:gdLst>
                  <a:gd name="T0" fmla="*/ 0 w 87"/>
                  <a:gd name="T1" fmla="*/ 0 h 42"/>
                  <a:gd name="T2" fmla="*/ 87 w 87"/>
                  <a:gd name="T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7" h="42">
                    <a:moveTo>
                      <a:pt x="0" y="0"/>
                    </a:moveTo>
                    <a:lnTo>
                      <a:pt x="87" y="4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66">
                <a:extLst>
                  <a:ext uri="{FF2B5EF4-FFF2-40B4-BE49-F238E27FC236}">
                    <a16:creationId xmlns:a16="http://schemas.microsoft.com/office/drawing/2014/main" id="{6CDE6C60-E06D-4C47-996D-F396DA640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1926"/>
                <a:ext cx="105" cy="33"/>
              </a:xfrm>
              <a:custGeom>
                <a:avLst/>
                <a:gdLst>
                  <a:gd name="T0" fmla="*/ 105 w 105"/>
                  <a:gd name="T1" fmla="*/ 0 h 33"/>
                  <a:gd name="T2" fmla="*/ 0 w 105"/>
                  <a:gd name="T3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5" h="33">
                    <a:moveTo>
                      <a:pt x="105" y="0"/>
                    </a:moveTo>
                    <a:lnTo>
                      <a:pt x="0" y="33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67">
                <a:extLst>
                  <a:ext uri="{FF2B5EF4-FFF2-40B4-BE49-F238E27FC236}">
                    <a16:creationId xmlns:a16="http://schemas.microsoft.com/office/drawing/2014/main" id="{B870D50A-0397-4C2D-A796-5D5A41DD82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" y="2007"/>
                <a:ext cx="102" cy="48"/>
              </a:xfrm>
              <a:custGeom>
                <a:avLst/>
                <a:gdLst>
                  <a:gd name="T0" fmla="*/ 0 w 102"/>
                  <a:gd name="T1" fmla="*/ 48 h 48"/>
                  <a:gd name="T2" fmla="*/ 102 w 102"/>
                  <a:gd name="T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2" h="48">
                    <a:moveTo>
                      <a:pt x="0" y="48"/>
                    </a:moveTo>
                    <a:lnTo>
                      <a:pt x="102" y="0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68">
                <a:extLst>
                  <a:ext uri="{FF2B5EF4-FFF2-40B4-BE49-F238E27FC236}">
                    <a16:creationId xmlns:a16="http://schemas.microsoft.com/office/drawing/2014/main" id="{43C07710-5413-4234-B149-79C021532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809"/>
                <a:ext cx="15" cy="108"/>
              </a:xfrm>
              <a:custGeom>
                <a:avLst/>
                <a:gdLst>
                  <a:gd name="T0" fmla="*/ 0 w 15"/>
                  <a:gd name="T1" fmla="*/ 0 h 108"/>
                  <a:gd name="T2" fmla="*/ 15 w 15"/>
                  <a:gd name="T3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" h="108">
                    <a:moveTo>
                      <a:pt x="0" y="0"/>
                    </a:moveTo>
                    <a:lnTo>
                      <a:pt x="15" y="108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69">
                <a:extLst>
                  <a:ext uri="{FF2B5EF4-FFF2-40B4-BE49-F238E27FC236}">
                    <a16:creationId xmlns:a16="http://schemas.microsoft.com/office/drawing/2014/main" id="{D70A4487-679A-45B6-8E7C-784132B0E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6" y="1950"/>
                <a:ext cx="87" cy="42"/>
              </a:xfrm>
              <a:custGeom>
                <a:avLst/>
                <a:gdLst>
                  <a:gd name="T0" fmla="*/ 87 w 87"/>
                  <a:gd name="T1" fmla="*/ 0 h 42"/>
                  <a:gd name="T2" fmla="*/ 0 w 87"/>
                  <a:gd name="T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7" h="42">
                    <a:moveTo>
                      <a:pt x="87" y="0"/>
                    </a:moveTo>
                    <a:lnTo>
                      <a:pt x="0" y="4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0DFB973-3C40-49F5-8FA5-C3C0C7052F46}"/>
              </a:ext>
            </a:extLst>
          </p:cNvPr>
          <p:cNvSpPr/>
          <p:nvPr/>
        </p:nvSpPr>
        <p:spPr>
          <a:xfrm>
            <a:off x="1283081" y="2278993"/>
            <a:ext cx="10774046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设关系　</a:t>
            </a:r>
            <a:r>
              <a:rPr lang="en-US" altLang="zh-CN" sz="2800" dirty="0"/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A×A  </a:t>
            </a:r>
            <a:r>
              <a:rPr lang="zh-CN" altLang="en-US" sz="2800" dirty="0"/>
              <a:t>，</a:t>
            </a:r>
            <a:r>
              <a:rPr lang="en-US" altLang="zh-CN" sz="2800" dirty="0"/>
              <a:t>A={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} </a:t>
            </a:r>
            <a:r>
              <a:rPr lang="zh-CN" altLang="en-US" sz="2800" dirty="0"/>
              <a:t>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    </a:t>
            </a:r>
            <a:r>
              <a:rPr lang="en-US" altLang="zh-CN" sz="2800" dirty="0"/>
              <a:t>S={ 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&gt; 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&gt;}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6D8EF4ED-9A3D-7E9C-01C0-26B76E88A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221403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7DB72D-F3AB-4CD1-AB84-7E3EE1AEB391}"/>
              </a:ext>
            </a:extLst>
          </p:cNvPr>
          <p:cNvSpPr txBox="1"/>
          <p:nvPr/>
        </p:nvSpPr>
        <p:spPr>
          <a:xfrm>
            <a:off x="1751012" y="1354242"/>
            <a:ext cx="434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 </a:t>
            </a:r>
            <a:r>
              <a:rPr lang="zh-CN" altLang="en-US" sz="2800" dirty="0"/>
              <a:t>关系矩阵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B77206-DA6D-4345-B162-C258DC304541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8F57D7-4570-4E3B-B9A3-B0092BB94277}"/>
              </a:ext>
            </a:extLst>
          </p:cNvPr>
          <p:cNvSpPr/>
          <p:nvPr/>
        </p:nvSpPr>
        <p:spPr>
          <a:xfrm>
            <a:off x="705842" y="1810464"/>
            <a:ext cx="11058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是两个非空的有限集合，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则可用一个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0—1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，称此矩阵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(relation matrix)/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邻接矩阵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(adjacency matrix)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                                        (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=1,…,m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j=1,…,n)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0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3971215-9D08-42BB-A156-A3C16028E84A}"/>
              </a:ext>
            </a:extLst>
          </p:cNvPr>
          <p:cNvSpPr>
            <a:spLocks/>
          </p:cNvSpPr>
          <p:nvPr/>
        </p:nvSpPr>
        <p:spPr bwMode="auto">
          <a:xfrm>
            <a:off x="2627267" y="4970358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6FCE79-C4F2-1730-FFEB-1CC5EE859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69474"/>
      </p:ext>
    </p:extLst>
  </p:cSld>
  <p:clrMapOvr>
    <a:masterClrMapping/>
  </p:clrMapOvr>
  <p:transition spd="slow" advTm="0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473B949-5610-4A46-89BE-AFB1D18EADAB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157842"/>
            <a:ext cx="8123237" cy="2587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是两个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m×n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(join)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A∨B=C=(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</p:txBody>
      </p:sp>
      <p:graphicFrame>
        <p:nvGraphicFramePr>
          <p:cNvPr id="8" name="Object 15">
            <a:extLst>
              <a:ext uri="{FF2B5EF4-FFF2-40B4-BE49-F238E27FC236}">
                <a16:creationId xmlns:a16="http://schemas.microsoft.com/office/drawing/2014/main" id="{20A88A18-888A-41DC-91D4-36A003D4C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7138" y="2696129"/>
          <a:ext cx="606742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5920" imgH="533160" progId="Equation.3">
                  <p:embed/>
                </p:oleObj>
              </mc:Choice>
              <mc:Fallback>
                <p:oleObj name="公式" r:id="rId4" imgW="3085920" imgH="533160" progId="Equation.3">
                  <p:embed/>
                  <p:pic>
                    <p:nvPicPr>
                      <p:cNvPr id="8" name="Object 15">
                        <a:extLst>
                          <a:ext uri="{FF2B5EF4-FFF2-40B4-BE49-F238E27FC236}">
                            <a16:creationId xmlns:a16="http://schemas.microsoft.com/office/drawing/2014/main" id="{20A88A18-888A-41DC-91D4-36A003D4C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2696129"/>
                        <a:ext cx="606742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7">
            <a:extLst>
              <a:ext uri="{FF2B5EF4-FFF2-40B4-BE49-F238E27FC236}">
                <a16:creationId xmlns:a16="http://schemas.microsoft.com/office/drawing/2014/main" id="{D6273D4E-A42A-493C-B7E6-F3076313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4" y="3989941"/>
            <a:ext cx="8123237" cy="129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sz="2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spcBef>
                <a:spcPct val="20000"/>
              </a:spcBef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spcBef>
                <a:spcPct val="20000"/>
              </a:spcBef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是两个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的交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(meet)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是矩阵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A∧B=C=(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</a:p>
          <a:p>
            <a:pPr marL="0" marR="0" lvl="0" indent="0" algn="r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16845E63-301D-48EF-9E03-F2DA083FE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7137" y="5230332"/>
          <a:ext cx="606742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533160" progId="Equation.DSMT4">
                  <p:embed/>
                </p:oleObj>
              </mc:Choice>
              <mc:Fallback>
                <p:oleObj name="Equation" r:id="rId6" imgW="3085920" imgH="53316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16845E63-301D-48EF-9E03-F2DA083FE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7" y="5230332"/>
                        <a:ext cx="606742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B734EF6F-5A4C-D24D-F8FC-B8720E616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70177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0A922E6-E64E-4756-82AA-B90346FBB201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312862"/>
            <a:ext cx="9909684" cy="4232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m×p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p×n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矩阵，则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的布尔积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(Boolean product)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⊙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B=C=(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r">
              <a:lnSpc>
                <a:spcPct val="150000"/>
              </a:lnSpc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9E39F6B-8B3F-483C-AAD5-7B119AF263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2212" y="3328755"/>
          <a:ext cx="8380412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78160" imgH="507960" progId="Equation.3">
                  <p:embed/>
                </p:oleObj>
              </mc:Choice>
              <mc:Fallback>
                <p:oleObj name="公式" r:id="rId4" imgW="4178160" imgH="507960" progId="Equation.3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D9E39F6B-8B3F-483C-AAD5-7B119AF263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212" y="3328755"/>
                        <a:ext cx="8380412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7BA03BBE-0FFD-3ED1-81EC-915773AAC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3279"/>
      </p:ext>
    </p:extLst>
  </p:cSld>
  <p:clrMapOvr>
    <a:masterClrMapping/>
  </p:clrMapOvr>
  <p:transition spd="slow" advTm="0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66AFE29-E794-4C81-BAB0-B7E6964298B4}"/>
              </a:ext>
            </a:extLst>
          </p:cNvPr>
          <p:cNvSpPr/>
          <p:nvPr/>
        </p:nvSpPr>
        <p:spPr>
          <a:xfrm>
            <a:off x="1751013" y="796070"/>
            <a:ext cx="8411603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设关系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={ 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50">
            <a:extLst>
              <a:ext uri="{FF2B5EF4-FFF2-40B4-BE49-F238E27FC236}">
                <a16:creationId xmlns:a16="http://schemas.microsoft.com/office/drawing/2014/main" id="{2AB8BC88-C7FA-421E-9022-58A7AABAAA2E}"/>
              </a:ext>
            </a:extLst>
          </p:cNvPr>
          <p:cNvGrpSpPr>
            <a:grpSpLocks/>
          </p:cNvGrpSpPr>
          <p:nvPr/>
        </p:nvGrpSpPr>
        <p:grpSpPr bwMode="auto">
          <a:xfrm>
            <a:off x="2157721" y="3554492"/>
            <a:ext cx="6775770" cy="3069153"/>
            <a:chOff x="1668" y="1526"/>
            <a:chExt cx="3907" cy="1702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25E81783-6541-46DA-917F-8185B19F3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8" y="1526"/>
              <a:ext cx="1783" cy="1546"/>
              <a:chOff x="1776" y="768"/>
              <a:chExt cx="1783" cy="1546"/>
            </a:xfrm>
          </p:grpSpPr>
          <p:sp>
            <p:nvSpPr>
              <p:cNvPr id="31" name="AutoShape 6">
                <a:extLst>
                  <a:ext uri="{FF2B5EF4-FFF2-40B4-BE49-F238E27FC236}">
                    <a16:creationId xmlns:a16="http://schemas.microsoft.com/office/drawing/2014/main" id="{ED6CC8AA-494A-4E65-9C99-A25C2B3D4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1104"/>
                <a:ext cx="48" cy="1152"/>
              </a:xfrm>
              <a:prstGeom prst="leftBracket">
                <a:avLst>
                  <a:gd name="adj" fmla="val 2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AutoShape 7">
                <a:extLst>
                  <a:ext uri="{FF2B5EF4-FFF2-40B4-BE49-F238E27FC236}">
                    <a16:creationId xmlns:a16="http://schemas.microsoft.com/office/drawing/2014/main" id="{20243880-AF68-4507-B535-A3A7F9F59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1104"/>
                <a:ext cx="48" cy="1152"/>
              </a:xfrm>
              <a:prstGeom prst="rightBracket">
                <a:avLst>
                  <a:gd name="adj" fmla="val 20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8">
                <a:extLst>
                  <a:ext uri="{FF2B5EF4-FFF2-40B4-BE49-F238E27FC236}">
                    <a16:creationId xmlns:a16="http://schemas.microsoft.com/office/drawing/2014/main" id="{B36A455D-9FDD-4BCE-90D4-A09ECFA95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76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b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34" name="Text Box 9">
                <a:extLst>
                  <a:ext uri="{FF2B5EF4-FFF2-40B4-BE49-F238E27FC236}">
                    <a16:creationId xmlns:a16="http://schemas.microsoft.com/office/drawing/2014/main" id="{33C7F80D-1B96-4951-B8B9-444A76E140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768"/>
                <a:ext cx="312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b</a:t>
                </a:r>
                <a:r>
                  <a:rPr lang="en-US" altLang="zh-CN" baseline="-25000"/>
                  <a:t>2</a:t>
                </a:r>
                <a:endParaRPr lang="en-US" altLang="zh-CN"/>
              </a:p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/>
              </a:p>
            </p:txBody>
          </p:sp>
          <p:sp>
            <p:nvSpPr>
              <p:cNvPr id="35" name="Text Box 10">
                <a:extLst>
                  <a:ext uri="{FF2B5EF4-FFF2-40B4-BE49-F238E27FC236}">
                    <a16:creationId xmlns:a16="http://schemas.microsoft.com/office/drawing/2014/main" id="{10A9C031-E88B-40E6-BC95-6FB52A831D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791"/>
                <a:ext cx="312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dirty="0"/>
                  <a:t>b</a:t>
                </a:r>
                <a:r>
                  <a:rPr lang="en-US" altLang="zh-CN" baseline="-25000" dirty="0"/>
                  <a:t>3</a:t>
                </a:r>
                <a:endParaRPr lang="en-US" altLang="zh-CN" dirty="0"/>
              </a:p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36" name="Text Box 11">
                <a:extLst>
                  <a:ext uri="{FF2B5EF4-FFF2-40B4-BE49-F238E27FC236}">
                    <a16:creationId xmlns:a16="http://schemas.microsoft.com/office/drawing/2014/main" id="{72B7D34C-4AB7-4654-91EA-D6D20C6ADC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056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37" name="Text Box 12">
                <a:extLst>
                  <a:ext uri="{FF2B5EF4-FFF2-40B4-BE49-F238E27FC236}">
                    <a16:creationId xmlns:a16="http://schemas.microsoft.com/office/drawing/2014/main" id="{ECCE55AD-F40E-41BE-A79B-909DC3362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39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2</a:t>
                </a:r>
                <a:endParaRPr lang="en-US" altLang="zh-CN"/>
              </a:p>
            </p:txBody>
          </p:sp>
          <p:sp>
            <p:nvSpPr>
              <p:cNvPr id="38" name="Text Box 13">
                <a:extLst>
                  <a:ext uri="{FF2B5EF4-FFF2-40B4-BE49-F238E27FC236}">
                    <a16:creationId xmlns:a16="http://schemas.microsoft.com/office/drawing/2014/main" id="{6C6E3ED2-D10E-4D28-9E09-07736191B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72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39" name="Text Box 14">
                <a:extLst>
                  <a:ext uri="{FF2B5EF4-FFF2-40B4-BE49-F238E27FC236}">
                    <a16:creationId xmlns:a16="http://schemas.microsoft.com/office/drawing/2014/main" id="{01D6E849-62C5-46A1-9CB6-3B69D5CA8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4</a:t>
                </a:r>
              </a:p>
            </p:txBody>
          </p:sp>
          <p:sp>
            <p:nvSpPr>
              <p:cNvPr id="40" name="Text Box 15">
                <a:extLst>
                  <a:ext uri="{FF2B5EF4-FFF2-40B4-BE49-F238E27FC236}">
                    <a16:creationId xmlns:a16="http://schemas.microsoft.com/office/drawing/2014/main" id="{3C6AEF55-4233-406C-A676-FF99A91CE9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056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41" name="Text Box 16">
                <a:extLst>
                  <a:ext uri="{FF2B5EF4-FFF2-40B4-BE49-F238E27FC236}">
                    <a16:creationId xmlns:a16="http://schemas.microsoft.com/office/drawing/2014/main" id="{01660A01-066C-4134-9C7B-8E025894DD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139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42" name="Text Box 17">
                <a:extLst>
                  <a:ext uri="{FF2B5EF4-FFF2-40B4-BE49-F238E27FC236}">
                    <a16:creationId xmlns:a16="http://schemas.microsoft.com/office/drawing/2014/main" id="{6331BA57-8122-43CA-BDC8-1547376B2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172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43" name="Text Box 18">
                <a:extLst>
                  <a:ext uri="{FF2B5EF4-FFF2-40B4-BE49-F238E27FC236}">
                    <a16:creationId xmlns:a16="http://schemas.microsoft.com/office/drawing/2014/main" id="{CBD79CA7-6988-495B-B980-D7DFC33434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" y="206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44" name="Text Box 19">
                <a:extLst>
                  <a:ext uri="{FF2B5EF4-FFF2-40B4-BE49-F238E27FC236}">
                    <a16:creationId xmlns:a16="http://schemas.microsoft.com/office/drawing/2014/main" id="{4C15A14A-4C0C-4845-816F-77AA367408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1056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46" name="Text Box 21">
                <a:extLst>
                  <a:ext uri="{FF2B5EF4-FFF2-40B4-BE49-F238E27FC236}">
                    <a16:creationId xmlns:a16="http://schemas.microsoft.com/office/drawing/2014/main" id="{C22D39CE-0783-46F5-B994-29D0F70C59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139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47" name="Text Box 22">
                <a:extLst>
                  <a:ext uri="{FF2B5EF4-FFF2-40B4-BE49-F238E27FC236}">
                    <a16:creationId xmlns:a16="http://schemas.microsoft.com/office/drawing/2014/main" id="{3D13A677-1AF9-40C2-8785-A1223ECA05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5" y="139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48" name="Text Box 23">
                <a:extLst>
                  <a:ext uri="{FF2B5EF4-FFF2-40B4-BE49-F238E27FC236}">
                    <a16:creationId xmlns:a16="http://schemas.microsoft.com/office/drawing/2014/main" id="{B82FD37A-4C9E-4E19-BCB1-1CB89BF40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7" y="139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/>
              </a:p>
            </p:txBody>
          </p:sp>
          <p:sp>
            <p:nvSpPr>
              <p:cNvPr id="49" name="Text Box 24">
                <a:extLst>
                  <a:ext uri="{FF2B5EF4-FFF2-40B4-BE49-F238E27FC236}">
                    <a16:creationId xmlns:a16="http://schemas.microsoft.com/office/drawing/2014/main" id="{8E009949-2C5F-496D-BE46-CD8246052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172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50" name="Text Box 25">
                <a:extLst>
                  <a:ext uri="{FF2B5EF4-FFF2-40B4-BE49-F238E27FC236}">
                    <a16:creationId xmlns:a16="http://schemas.microsoft.com/office/drawing/2014/main" id="{414D5DC1-4A99-4B94-9075-3387F5E04D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5" y="172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51" name="Text Box 26">
                <a:extLst>
                  <a:ext uri="{FF2B5EF4-FFF2-40B4-BE49-F238E27FC236}">
                    <a16:creationId xmlns:a16="http://schemas.microsoft.com/office/drawing/2014/main" id="{766E4DC8-9129-40F6-82BA-20700563FF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206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52" name="Text Box 27">
                <a:extLst>
                  <a:ext uri="{FF2B5EF4-FFF2-40B4-BE49-F238E27FC236}">
                    <a16:creationId xmlns:a16="http://schemas.microsoft.com/office/drawing/2014/main" id="{2FD1DF0E-A379-452D-89F4-ACEC429B2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5" y="206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0</a:t>
                </a:r>
              </a:p>
            </p:txBody>
          </p:sp>
        </p:grpSp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56B68F76-0EA0-42FD-BBD5-AA9839E33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682"/>
              <a:ext cx="1783" cy="1546"/>
              <a:chOff x="3713" y="864"/>
              <a:chExt cx="1783" cy="1546"/>
            </a:xfrm>
          </p:grpSpPr>
          <p:sp>
            <p:nvSpPr>
              <p:cNvPr id="10" name="AutoShape 29">
                <a:extLst>
                  <a:ext uri="{FF2B5EF4-FFF2-40B4-BE49-F238E27FC236}">
                    <a16:creationId xmlns:a16="http://schemas.microsoft.com/office/drawing/2014/main" id="{22754836-A805-442E-B87D-1EAFFEA9F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" y="1152"/>
                <a:ext cx="96" cy="864"/>
              </a:xfrm>
              <a:prstGeom prst="leftBracket">
                <a:avLst>
                  <a:gd name="adj" fmla="val 75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AutoShape 30">
                <a:extLst>
                  <a:ext uri="{FF2B5EF4-FFF2-40B4-BE49-F238E27FC236}">
                    <a16:creationId xmlns:a16="http://schemas.microsoft.com/office/drawing/2014/main" id="{F7E4BEB8-6941-4F56-9368-F97D1F41A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4" y="1152"/>
                <a:ext cx="48" cy="864"/>
              </a:xfrm>
              <a:prstGeom prst="rightBracket">
                <a:avLst>
                  <a:gd name="adj" fmla="val 1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Text Box 31">
                <a:extLst>
                  <a:ext uri="{FF2B5EF4-FFF2-40B4-BE49-F238E27FC236}">
                    <a16:creationId xmlns:a16="http://schemas.microsoft.com/office/drawing/2014/main" id="{C111DA39-49C0-4256-B459-395AE7DC72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86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dirty="0"/>
                  <a:t>a</a:t>
                </a:r>
                <a:r>
                  <a:rPr lang="en-US" altLang="zh-CN" baseline="-25000" dirty="0"/>
                  <a:t>1</a:t>
                </a:r>
                <a:endParaRPr lang="en-US" altLang="zh-CN" dirty="0"/>
              </a:p>
            </p:txBody>
          </p:sp>
          <p:sp>
            <p:nvSpPr>
              <p:cNvPr id="13" name="Text Box 32">
                <a:extLst>
                  <a:ext uri="{FF2B5EF4-FFF2-40B4-BE49-F238E27FC236}">
                    <a16:creationId xmlns:a16="http://schemas.microsoft.com/office/drawing/2014/main" id="{F5003E95-9EAF-43A6-9570-70830748B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" y="864"/>
                <a:ext cx="312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2</a:t>
                </a:r>
                <a:endParaRPr lang="en-US" altLang="zh-CN"/>
              </a:p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en-US" altLang="zh-CN"/>
              </a:p>
            </p:txBody>
          </p:sp>
          <p:sp>
            <p:nvSpPr>
              <p:cNvPr id="14" name="Text Box 33">
                <a:extLst>
                  <a:ext uri="{FF2B5EF4-FFF2-40B4-BE49-F238E27FC236}">
                    <a16:creationId xmlns:a16="http://schemas.microsoft.com/office/drawing/2014/main" id="{DFB0A3C1-8C49-4A01-B132-EF54E62958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2" y="864"/>
                <a:ext cx="312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3</a:t>
                </a:r>
                <a:endParaRPr lang="en-US" altLang="zh-CN"/>
              </a:p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15" name="Text Box 34">
                <a:extLst>
                  <a:ext uri="{FF2B5EF4-FFF2-40B4-BE49-F238E27FC236}">
                    <a16:creationId xmlns:a16="http://schemas.microsoft.com/office/drawing/2014/main" id="{FBD63A25-37EB-432E-9F52-FDB41356CD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3" y="115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16" name="Text Box 35">
                <a:extLst>
                  <a:ext uri="{FF2B5EF4-FFF2-40B4-BE49-F238E27FC236}">
                    <a16:creationId xmlns:a16="http://schemas.microsoft.com/office/drawing/2014/main" id="{E8A5429E-9004-4846-921F-0A0E71492C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3" y="148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dirty="0"/>
                  <a:t>a</a:t>
                </a:r>
                <a:r>
                  <a:rPr lang="en-US" altLang="zh-CN" baseline="-25000" dirty="0"/>
                  <a:t>2</a:t>
                </a:r>
                <a:endParaRPr lang="en-US" altLang="zh-CN" dirty="0"/>
              </a:p>
            </p:txBody>
          </p:sp>
          <p:sp>
            <p:nvSpPr>
              <p:cNvPr id="17" name="Text Box 36">
                <a:extLst>
                  <a:ext uri="{FF2B5EF4-FFF2-40B4-BE49-F238E27FC236}">
                    <a16:creationId xmlns:a16="http://schemas.microsoft.com/office/drawing/2014/main" id="{27294604-7E85-44D5-A39B-9E4F85E2FD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824"/>
                <a:ext cx="28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a</a:t>
                </a:r>
                <a:r>
                  <a:rPr lang="en-US" altLang="zh-CN" baseline="-25000"/>
                  <a:t>3</a:t>
                </a:r>
                <a:endParaRPr lang="en-US" altLang="zh-CN"/>
              </a:p>
            </p:txBody>
          </p:sp>
          <p:sp>
            <p:nvSpPr>
              <p:cNvPr id="18" name="Text Box 37">
                <a:extLst>
                  <a:ext uri="{FF2B5EF4-FFF2-40B4-BE49-F238E27FC236}">
                    <a16:creationId xmlns:a16="http://schemas.microsoft.com/office/drawing/2014/main" id="{86B5347E-2187-4BA4-A384-4714CE2105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3" y="216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/>
              </a:p>
            </p:txBody>
          </p:sp>
          <p:sp>
            <p:nvSpPr>
              <p:cNvPr id="19" name="Text Box 38">
                <a:extLst>
                  <a:ext uri="{FF2B5EF4-FFF2-40B4-BE49-F238E27FC236}">
                    <a16:creationId xmlns:a16="http://schemas.microsoft.com/office/drawing/2014/main" id="{49BD8EB1-9869-4754-B17C-77064CE4ED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115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/>
                  <a:t>１</a:t>
                </a:r>
              </a:p>
            </p:txBody>
          </p:sp>
          <p:sp>
            <p:nvSpPr>
              <p:cNvPr id="20" name="Text Box 39">
                <a:extLst>
                  <a:ext uri="{FF2B5EF4-FFF2-40B4-BE49-F238E27FC236}">
                    <a16:creationId xmlns:a16="http://schemas.microsoft.com/office/drawing/2014/main" id="{92B3152A-C752-4653-8C68-3FA9270B8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148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dirty="0"/>
                  <a:t>0</a:t>
                </a:r>
              </a:p>
            </p:txBody>
          </p:sp>
          <p:sp>
            <p:nvSpPr>
              <p:cNvPr id="21" name="Text Box 40">
                <a:extLst>
                  <a:ext uri="{FF2B5EF4-FFF2-40B4-BE49-F238E27FC236}">
                    <a16:creationId xmlns:a16="http://schemas.microsoft.com/office/drawing/2014/main" id="{9AD38567-735C-44C6-9CE3-41470AA986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182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22" name="Text Box 41">
                <a:extLst>
                  <a:ext uri="{FF2B5EF4-FFF2-40B4-BE49-F238E27FC236}">
                    <a16:creationId xmlns:a16="http://schemas.microsoft.com/office/drawing/2014/main" id="{8C30F1EF-9FD4-41FA-BE5C-DBC0D013B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9" y="216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/>
              </a:p>
            </p:txBody>
          </p:sp>
          <p:sp>
            <p:nvSpPr>
              <p:cNvPr id="23" name="Text Box 42">
                <a:extLst>
                  <a:ext uri="{FF2B5EF4-FFF2-40B4-BE49-F238E27FC236}">
                    <a16:creationId xmlns:a16="http://schemas.microsoft.com/office/drawing/2014/main" id="{EBD0B92B-C6E4-4314-BACD-5B11A9461B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" y="1152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/>
                  <a:t>０</a:t>
                </a:r>
              </a:p>
            </p:txBody>
          </p:sp>
          <p:sp>
            <p:nvSpPr>
              <p:cNvPr id="25" name="Text Box 44">
                <a:extLst>
                  <a:ext uri="{FF2B5EF4-FFF2-40B4-BE49-F238E27FC236}">
                    <a16:creationId xmlns:a16="http://schemas.microsoft.com/office/drawing/2014/main" id="{0F39A6EA-0BC5-4618-96BD-0020B4F63C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" y="148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/>
                  <a:t>１</a:t>
                </a:r>
              </a:p>
            </p:txBody>
          </p:sp>
          <p:sp>
            <p:nvSpPr>
              <p:cNvPr id="26" name="Text Box 45">
                <a:extLst>
                  <a:ext uri="{FF2B5EF4-FFF2-40B4-BE49-F238E27FC236}">
                    <a16:creationId xmlns:a16="http://schemas.microsoft.com/office/drawing/2014/main" id="{186332B4-9CB2-4AF0-BBF1-E0AEC6DF3B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488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/>
                  <a:t>1</a:t>
                </a:r>
              </a:p>
            </p:txBody>
          </p:sp>
          <p:sp>
            <p:nvSpPr>
              <p:cNvPr id="27" name="Text Box 46">
                <a:extLst>
                  <a:ext uri="{FF2B5EF4-FFF2-40B4-BE49-F238E27FC236}">
                    <a16:creationId xmlns:a16="http://schemas.microsoft.com/office/drawing/2014/main" id="{4DC42C65-45E5-4D88-A686-B95396F1EE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" y="182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/>
                  <a:t>１</a:t>
                </a:r>
              </a:p>
            </p:txBody>
          </p:sp>
          <p:sp>
            <p:nvSpPr>
              <p:cNvPr id="28" name="Text Box 47">
                <a:extLst>
                  <a:ext uri="{FF2B5EF4-FFF2-40B4-BE49-F238E27FC236}">
                    <a16:creationId xmlns:a16="http://schemas.microsoft.com/office/drawing/2014/main" id="{40066E11-D488-4DAE-8A18-333ABE3401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2" y="1824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/>
                  <a:t>１</a:t>
                </a:r>
              </a:p>
            </p:txBody>
          </p:sp>
          <p:sp>
            <p:nvSpPr>
              <p:cNvPr id="29" name="Text Box 48">
                <a:extLst>
                  <a:ext uri="{FF2B5EF4-FFF2-40B4-BE49-F238E27FC236}">
                    <a16:creationId xmlns:a16="http://schemas.microsoft.com/office/drawing/2014/main" id="{5BC917C6-3340-45A3-919A-394CA3B50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5" y="216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/>
              </a:p>
            </p:txBody>
          </p:sp>
          <p:sp>
            <p:nvSpPr>
              <p:cNvPr id="30" name="Text Box 49">
                <a:extLst>
                  <a:ext uri="{FF2B5EF4-FFF2-40B4-BE49-F238E27FC236}">
                    <a16:creationId xmlns:a16="http://schemas.microsoft.com/office/drawing/2014/main" id="{A3C5F4BB-2F9A-4061-9134-4857B2981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216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/>
              </a:p>
            </p:txBody>
          </p:sp>
        </p:grp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1614FF2-DDD6-428C-B472-69B6B8FC87DD}"/>
              </a:ext>
            </a:extLst>
          </p:cNvPr>
          <p:cNvSpPr/>
          <p:nvPr/>
        </p:nvSpPr>
        <p:spPr>
          <a:xfrm>
            <a:off x="1604391" y="2349402"/>
            <a:ext cx="97433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设关系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A×A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 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535818-DE56-47B3-8B05-F983436EE18B}"/>
              </a:ext>
            </a:extLst>
          </p:cNvPr>
          <p:cNvSpPr/>
          <p:nvPr/>
        </p:nvSpPr>
        <p:spPr>
          <a:xfrm>
            <a:off x="1128619" y="4762404"/>
            <a:ext cx="1064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81AC4D4-D0A0-4C71-BC5D-314E4914F33D}"/>
              </a:ext>
            </a:extLst>
          </p:cNvPr>
          <p:cNvSpPr/>
          <p:nvPr/>
        </p:nvSpPr>
        <p:spPr>
          <a:xfrm>
            <a:off x="4845830" y="4813445"/>
            <a:ext cx="1064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D24907E-457D-77C1-0395-D4E124DBE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807148"/>
      </p:ext>
    </p:extLst>
  </p:cSld>
  <p:clrMapOvr>
    <a:masterClrMapping/>
  </p:clrMapOvr>
  <p:transition spd="slow" advTm="0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6C49DFF-70C4-40E3-8E94-F178B777041D}"/>
              </a:ext>
            </a:extLst>
          </p:cNvPr>
          <p:cNvSpPr txBox="1">
            <a:spLocks noChangeArrowheads="1"/>
          </p:cNvSpPr>
          <p:nvPr/>
        </p:nvSpPr>
        <p:spPr>
          <a:xfrm>
            <a:off x="2013743" y="942975"/>
            <a:ext cx="8164513" cy="4972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令</a:t>
            </a:r>
          </a:p>
          <a:p>
            <a:endParaRPr lang="zh-CN" altLang="en-US" dirty="0"/>
          </a:p>
          <a:p>
            <a:pPr marL="0" indent="0">
              <a:buNone/>
            </a:pPr>
            <a:endParaRPr lang="en-US" altLang="zh-CN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00CC"/>
                </a:solidFill>
              </a:rPr>
              <a:t>计算（</a:t>
            </a:r>
            <a:r>
              <a:rPr lang="en-US" altLang="zh-CN" dirty="0">
                <a:solidFill>
                  <a:srgbClr val="0000CC"/>
                </a:solidFill>
              </a:rPr>
              <a:t>1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  <a:r>
              <a:rPr lang="en-US" altLang="zh-CN" dirty="0">
                <a:solidFill>
                  <a:srgbClr val="0000CC"/>
                </a:solidFill>
              </a:rPr>
              <a:t>A∨B</a:t>
            </a:r>
            <a:r>
              <a:rPr lang="zh-CN" altLang="en-US" dirty="0">
                <a:solidFill>
                  <a:srgbClr val="0000CC"/>
                </a:solidFill>
              </a:rPr>
              <a:t>；     （</a:t>
            </a:r>
            <a:r>
              <a:rPr lang="en-US" altLang="zh-CN" dirty="0">
                <a:solidFill>
                  <a:srgbClr val="0000CC"/>
                </a:solidFill>
              </a:rPr>
              <a:t>2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  <a:r>
              <a:rPr lang="en-US" altLang="zh-CN" dirty="0">
                <a:solidFill>
                  <a:srgbClr val="0000CC"/>
                </a:solidFill>
              </a:rPr>
              <a:t>A∧B</a:t>
            </a:r>
            <a:r>
              <a:rPr lang="zh-CN" altLang="en-US" dirty="0">
                <a:solidFill>
                  <a:srgbClr val="0000CC"/>
                </a:solidFill>
              </a:rPr>
              <a:t>；    （</a:t>
            </a:r>
            <a:r>
              <a:rPr lang="en-US" altLang="zh-CN" dirty="0">
                <a:solidFill>
                  <a:srgbClr val="0000CC"/>
                </a:solidFill>
              </a:rPr>
              <a:t>3</a:t>
            </a:r>
            <a:r>
              <a:rPr lang="zh-CN" altLang="en-US" dirty="0">
                <a:solidFill>
                  <a:srgbClr val="0000CC"/>
                </a:solidFill>
              </a:rPr>
              <a:t>）</a:t>
            </a:r>
            <a:r>
              <a:rPr lang="en-US" altLang="zh-CN" dirty="0">
                <a:solidFill>
                  <a:srgbClr val="0000CC"/>
                </a:solidFill>
              </a:rPr>
              <a:t>A⊙C</a:t>
            </a:r>
            <a:r>
              <a:rPr lang="zh-CN" altLang="en-US" dirty="0">
                <a:solidFill>
                  <a:srgbClr val="0000CC"/>
                </a:solidFill>
              </a:rPr>
              <a:t>。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0A6AD086-3EE1-426C-9927-3D25BF0CB3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304" y="738188"/>
          <a:ext cx="18002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200" imgH="698500" progId="Equation.DSMT4">
                  <p:embed/>
                </p:oleObj>
              </mc:Choice>
              <mc:Fallback>
                <p:oleObj name="Equation" r:id="rId4" imgW="711200" imgH="6985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0A6AD086-3EE1-426C-9927-3D25BF0CB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304" y="738188"/>
                        <a:ext cx="1800225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7B91CE9A-DEE9-4A38-BA54-4CAEDF08F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2729" y="657225"/>
          <a:ext cx="1933575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698500" progId="Equation.DSMT4">
                  <p:embed/>
                </p:oleObj>
              </mc:Choice>
              <mc:Fallback>
                <p:oleObj name="Equation" r:id="rId6" imgW="736600" imgH="69850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7B91CE9A-DEE9-4A38-BA54-4CAEDF08F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729" y="657225"/>
                        <a:ext cx="1933575" cy="183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41CF69C6-2A42-4E51-BF36-E078619F1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7029" y="942975"/>
          <a:ext cx="2214562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75920" imgH="545863" progId="Equation.DSMT4">
                  <p:embed/>
                </p:oleObj>
              </mc:Choice>
              <mc:Fallback>
                <p:oleObj name="Equation" r:id="rId8" imgW="875920" imgH="545863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41CF69C6-2A42-4E51-BF36-E078619F1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7029" y="942975"/>
                        <a:ext cx="2214562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4">
            <a:extLst>
              <a:ext uri="{FF2B5EF4-FFF2-40B4-BE49-F238E27FC236}">
                <a16:creationId xmlns:a16="http://schemas.microsoft.com/office/drawing/2014/main" id="{8EB55E0B-6363-4750-B17E-DC8EE2EFBDB5}"/>
              </a:ext>
            </a:extLst>
          </p:cNvPr>
          <p:cNvGrpSpPr>
            <a:grpSpLocks/>
          </p:cNvGrpSpPr>
          <p:nvPr/>
        </p:nvGrpSpPr>
        <p:grpSpPr bwMode="auto">
          <a:xfrm>
            <a:off x="729318" y="4367213"/>
            <a:ext cx="3384550" cy="1857375"/>
            <a:chOff x="396" y="1143"/>
            <a:chExt cx="2132" cy="1170"/>
          </a:xfrm>
        </p:grpSpPr>
        <p:graphicFrame>
          <p:nvGraphicFramePr>
            <p:cNvPr id="12" name="Object 4">
              <a:extLst>
                <a:ext uri="{FF2B5EF4-FFF2-40B4-BE49-F238E27FC236}">
                  <a16:creationId xmlns:a16="http://schemas.microsoft.com/office/drawing/2014/main" id="{0ACA70FE-AAD9-4AD1-A0B2-CE9312A620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" y="1143"/>
            <a:ext cx="1538" cy="1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14400" imgH="698500" progId="Equation.DSMT4">
                    <p:embed/>
                  </p:oleObj>
                </mc:Choice>
                <mc:Fallback>
                  <p:oleObj name="Equation" r:id="rId10" imgW="914400" imgH="698500" progId="Equation.DSMT4">
                    <p:embed/>
                    <p:pic>
                      <p:nvPicPr>
                        <p:cNvPr id="12" name="Object 4">
                          <a:extLst>
                            <a:ext uri="{FF2B5EF4-FFF2-40B4-BE49-F238E27FC236}">
                              <a16:creationId xmlns:a16="http://schemas.microsoft.com/office/drawing/2014/main" id="{0ACA70FE-AAD9-4AD1-A0B2-CE9312A620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" y="1143"/>
                          <a:ext cx="1538" cy="11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FEC8FCB5-E699-47AE-9D31-263AF37B5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1530"/>
              <a:ext cx="7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>
                      <a:alpha val="8999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</a:t>
              </a: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5A9A7F23-68FA-477C-8D98-8F1ED7D8E820}"/>
              </a:ext>
            </a:extLst>
          </p:cNvPr>
          <p:cNvGrpSpPr>
            <a:grpSpLocks/>
          </p:cNvGrpSpPr>
          <p:nvPr/>
        </p:nvGrpSpPr>
        <p:grpSpPr bwMode="auto">
          <a:xfrm>
            <a:off x="4212430" y="4318000"/>
            <a:ext cx="3467100" cy="1955800"/>
            <a:chOff x="411" y="2536"/>
            <a:chExt cx="2184" cy="1232"/>
          </a:xfrm>
        </p:grpSpPr>
        <p:graphicFrame>
          <p:nvGraphicFramePr>
            <p:cNvPr id="15" name="Object 6">
              <a:extLst>
                <a:ext uri="{FF2B5EF4-FFF2-40B4-BE49-F238E27FC236}">
                  <a16:creationId xmlns:a16="http://schemas.microsoft.com/office/drawing/2014/main" id="{31B7DFCF-06D0-4BD0-88C7-F45A60ED1F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91" y="2536"/>
            <a:ext cx="1704" cy="1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65200" imgH="698500" progId="Equation.DSMT4">
                    <p:embed/>
                  </p:oleObj>
                </mc:Choice>
                <mc:Fallback>
                  <p:oleObj name="Equation" r:id="rId12" imgW="965200" imgH="698500" progId="Equation.DSMT4">
                    <p:embed/>
                    <p:pic>
                      <p:nvPicPr>
                        <p:cNvPr id="15" name="Object 6">
                          <a:extLst>
                            <a:ext uri="{FF2B5EF4-FFF2-40B4-BE49-F238E27FC236}">
                              <a16:creationId xmlns:a16="http://schemas.microsoft.com/office/drawing/2014/main" id="{31B7DFCF-06D0-4BD0-88C7-F45A60ED1F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" y="2536"/>
                          <a:ext cx="1704" cy="1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B4EBF83C-A334-42A3-8C52-536E44A87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" y="2967"/>
              <a:ext cx="6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>
                      <a:alpha val="8999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（</a:t>
              </a:r>
              <a:r>
                <a:rPr lang="en-US" altLang="zh-CN"/>
                <a:t>2</a:t>
              </a:r>
              <a:r>
                <a:rPr lang="zh-CN" altLang="en-US"/>
                <a:t>）</a:t>
              </a:r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D1BD6EAD-E64D-4384-8DC5-BC4B7597DFD6}"/>
              </a:ext>
            </a:extLst>
          </p:cNvPr>
          <p:cNvGrpSpPr>
            <a:grpSpLocks/>
          </p:cNvGrpSpPr>
          <p:nvPr/>
        </p:nvGrpSpPr>
        <p:grpSpPr bwMode="auto">
          <a:xfrm>
            <a:off x="7924463" y="4318000"/>
            <a:ext cx="3759201" cy="1966912"/>
            <a:chOff x="2832" y="1107"/>
            <a:chExt cx="2368" cy="1239"/>
          </a:xfrm>
        </p:grpSpPr>
        <p:graphicFrame>
          <p:nvGraphicFramePr>
            <p:cNvPr id="18" name="Object 8">
              <a:extLst>
                <a:ext uri="{FF2B5EF4-FFF2-40B4-BE49-F238E27FC236}">
                  <a16:creationId xmlns:a16="http://schemas.microsoft.com/office/drawing/2014/main" id="{8FC92588-0011-4B06-9BD2-235FB3E542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0" y="1107"/>
            <a:ext cx="1900" cy="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66800" imgH="698500" progId="Equation.DSMT4">
                    <p:embed/>
                  </p:oleObj>
                </mc:Choice>
                <mc:Fallback>
                  <p:oleObj name="Equation" r:id="rId14" imgW="1066800" imgH="698500" progId="Equation.DSMT4">
                    <p:embed/>
                    <p:pic>
                      <p:nvPicPr>
                        <p:cNvPr id="18" name="Object 8">
                          <a:extLst>
                            <a:ext uri="{FF2B5EF4-FFF2-40B4-BE49-F238E27FC236}">
                              <a16:creationId xmlns:a16="http://schemas.microsoft.com/office/drawing/2014/main" id="{8FC92588-0011-4B06-9BD2-235FB3E542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" y="1107"/>
                          <a:ext cx="1900" cy="1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05AB5ADB-9831-43B3-9DB9-B0D36F1B4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563"/>
              <a:ext cx="5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>
                      <a:alpha val="8999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（</a:t>
              </a:r>
              <a:r>
                <a:rPr lang="en-US" altLang="zh-CN" dirty="0"/>
                <a:t>3</a:t>
              </a:r>
              <a:r>
                <a:rPr lang="zh-CN" altLang="en-US" dirty="0"/>
                <a:t>）</a:t>
              </a: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5513A19B-AB95-E7B0-DB96-A0E58B728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0333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BDACAF-96C7-4F20-B40D-7DCBD9C3384F}"/>
              </a:ext>
            </a:extLst>
          </p:cNvPr>
          <p:cNvSpPr txBox="1"/>
          <p:nvPr/>
        </p:nvSpPr>
        <p:spPr>
          <a:xfrm>
            <a:off x="1639180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DEDD8F-EBB9-4DBD-9C64-DA1D79358C5B}"/>
              </a:ext>
            </a:extLst>
          </p:cNvPr>
          <p:cNvSpPr txBox="1"/>
          <p:nvPr/>
        </p:nvSpPr>
        <p:spPr>
          <a:xfrm>
            <a:off x="1394624" y="1403900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集合运算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1A82C8-1B41-45BE-8026-19B8ED7CFC20}"/>
              </a:ext>
            </a:extLst>
          </p:cNvPr>
          <p:cNvSpPr txBox="1">
            <a:spLocks noChangeArrowheads="1"/>
          </p:cNvSpPr>
          <p:nvPr/>
        </p:nvSpPr>
        <p:spPr>
          <a:xfrm>
            <a:off x="1972111" y="2008057"/>
            <a:ext cx="6961188" cy="1743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都是从集合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的两个关系，则：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&gt;|(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∩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&gt;|(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7A360EF7-CDE0-401F-91C3-BFD46BD10590}"/>
              </a:ext>
            </a:extLst>
          </p:cNvPr>
          <p:cNvGrpSpPr>
            <a:grpSpLocks/>
          </p:cNvGrpSpPr>
          <p:nvPr/>
        </p:nvGrpSpPr>
        <p:grpSpPr bwMode="auto">
          <a:xfrm>
            <a:off x="1972111" y="4011844"/>
            <a:ext cx="4965701" cy="1155700"/>
            <a:chOff x="524" y="1934"/>
            <a:chExt cx="3128" cy="728"/>
          </a:xfrm>
        </p:grpSpPr>
        <p:graphicFrame>
          <p:nvGraphicFramePr>
            <p:cNvPr id="17" name="Object 13">
              <a:extLst>
                <a:ext uri="{FF2B5EF4-FFF2-40B4-BE49-F238E27FC236}">
                  <a16:creationId xmlns:a16="http://schemas.microsoft.com/office/drawing/2014/main" id="{253D3BEB-EDD8-4C47-86CA-D8B0429D8D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4" y="2307"/>
            <a:ext cx="16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03040" progId="Equation.DSMT4">
                    <p:embed/>
                  </p:oleObj>
                </mc:Choice>
                <mc:Fallback>
                  <p:oleObj name="Equation" r:id="rId4" imgW="152280" imgH="203040" progId="Equation.DSMT4">
                    <p:embed/>
                    <p:pic>
                      <p:nvPicPr>
                        <p:cNvPr id="17" name="Object 13">
                          <a:extLst>
                            <a:ext uri="{FF2B5EF4-FFF2-40B4-BE49-F238E27FC236}">
                              <a16:creationId xmlns:a16="http://schemas.microsoft.com/office/drawing/2014/main" id="{253D3BEB-EDD8-4C47-86CA-D8B0429D8D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2307"/>
                          <a:ext cx="16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15">
              <a:extLst>
                <a:ext uri="{FF2B5EF4-FFF2-40B4-BE49-F238E27FC236}">
                  <a16:creationId xmlns:a16="http://schemas.microsoft.com/office/drawing/2014/main" id="{35FE97C5-F01C-4656-9F0F-44A548A6E4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1934"/>
              <a:ext cx="3102" cy="714"/>
              <a:chOff x="758" y="2286"/>
              <a:chExt cx="3102" cy="714"/>
            </a:xfrm>
          </p:grpSpPr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F5121165-5B1D-4156-A485-BB8FD7494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" y="2286"/>
                <a:ext cx="3102" cy="7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>
                <a:spAutoFit/>
              </a:bodyPr>
              <a:lstStyle>
                <a:lvl1pPr marL="457200" indent="-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  <a:buClr>
                    <a:srgbClr val="996633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R-S</a:t>
                </a:r>
                <a:r>
                  <a:rPr lang="zh-CN" altLang="en-US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＝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{&lt;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x,y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&gt;|(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xRy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)∧(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xS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y)}</a:t>
                </a:r>
                <a:endParaRPr lang="en-US" altLang="zh-CN" sz="2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buClr>
                    <a:srgbClr val="996633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＝{&lt;x,y&gt;|(x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y)}</a:t>
                </a:r>
                <a:endParaRPr lang="en-US" altLang="zh-CN" sz="2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98497612-B6D3-4993-AFE9-7FC6E0AAC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07" y="2701"/>
                <a:ext cx="85" cy="27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>
                <a:spAutoFit/>
              </a:bodyPr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Line 14">
            <a:extLst>
              <a:ext uri="{FF2B5EF4-FFF2-40B4-BE49-F238E27FC236}">
                <a16:creationId xmlns:a16="http://schemas.microsoft.com/office/drawing/2014/main" id="{813F26AF-C2E7-49B2-B974-C6B70BAF2E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1981" y="4108110"/>
            <a:ext cx="134938" cy="431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791C9A9B-9C14-75AB-E736-5EBB67C20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643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BDACAF-96C7-4F20-B40D-7DCBD9C3384F}"/>
              </a:ext>
            </a:extLst>
          </p:cNvPr>
          <p:cNvSpPr txBox="1"/>
          <p:nvPr/>
        </p:nvSpPr>
        <p:spPr>
          <a:xfrm>
            <a:off x="1639180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关系的运算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6DE0B6-AFAF-4716-BE89-5B2AA55A79A9}"/>
              </a:ext>
            </a:extLst>
          </p:cNvPr>
          <p:cNvSpPr txBox="1"/>
          <p:nvPr/>
        </p:nvSpPr>
        <p:spPr>
          <a:xfrm>
            <a:off x="927021" y="6041608"/>
            <a:ext cx="9149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对任何</a:t>
            </a:r>
            <a:r>
              <a:rPr lang="en-US" altLang="zh-CN" sz="2800" dirty="0"/>
              <a:t>{&lt;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&gt; </a:t>
            </a:r>
            <a:r>
              <a:rPr lang="en-US" altLang="zh-CN" sz="2800" dirty="0">
                <a:sym typeface="Symbol" panose="05050102010706020507" pitchFamily="18" charset="2"/>
              </a:rPr>
              <a:t>A</a:t>
            </a:r>
            <a:r>
              <a:rPr lang="en-US" altLang="zh-CN" sz="2800" dirty="0"/>
              <a:t>×C</a:t>
            </a:r>
            <a:r>
              <a:rPr lang="zh-CN" altLang="en-US" sz="2800" dirty="0"/>
              <a:t>，</a:t>
            </a:r>
            <a:r>
              <a:rPr lang="en-US" altLang="zh-CN" sz="2800" dirty="0"/>
              <a:t>a 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c</a:t>
            </a:r>
            <a:r>
              <a:rPr lang="en-US" altLang="zh-CN" sz="2800" dirty="0"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sym typeface="Symbol" panose="05050102010706020507" pitchFamily="18" charset="2"/>
              </a:rPr>
              <a:t>)(a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 </a:t>
            </a:r>
            <a:r>
              <a:rPr lang="en-US" altLang="zh-CN" sz="2800" dirty="0" err="1">
                <a:sym typeface="Symbol" panose="05050102010706020507" pitchFamily="18" charset="2"/>
              </a:rPr>
              <a:t>bb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c)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7776E-E055-46F4-A317-E259817EEE5D}"/>
              </a:ext>
            </a:extLst>
          </p:cNvPr>
          <p:cNvSpPr/>
          <p:nvPr/>
        </p:nvSpPr>
        <p:spPr>
          <a:xfrm>
            <a:off x="995014" y="1978958"/>
            <a:ext cx="102019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 对任何两个二元关系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 </a:t>
            </a:r>
            <a:r>
              <a:rPr lang="zh-CN" altLang="en-US" sz="2800" dirty="0"/>
              <a:t>，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en-US" altLang="zh-CN" sz="2800" dirty="0"/>
              <a:t>×C 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称</a:t>
            </a:r>
            <a:r>
              <a:rPr lang="en-US" altLang="zh-CN" sz="2800" dirty="0"/>
              <a:t>A</a:t>
            </a:r>
            <a:r>
              <a:rPr lang="zh-CN" altLang="en-US" sz="2800" dirty="0"/>
              <a:t>到</a:t>
            </a:r>
            <a:r>
              <a:rPr lang="en-US" altLang="zh-CN" sz="2800" dirty="0"/>
              <a:t>C</a:t>
            </a:r>
            <a:r>
              <a:rPr lang="zh-CN" altLang="en-US" sz="2800" dirty="0"/>
              <a:t>的关系</a:t>
            </a:r>
            <a:endParaRPr lang="en-US" altLang="zh-CN" sz="2800" dirty="0"/>
          </a:p>
          <a:p>
            <a:r>
              <a:rPr lang="en-US" altLang="zh-CN" sz="2800" dirty="0"/>
              <a:t>{&lt;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&gt; </a:t>
            </a:r>
            <a:r>
              <a:rPr lang="en-US" altLang="zh-CN" sz="2800" b="1" dirty="0"/>
              <a:t>:</a:t>
            </a:r>
            <a:r>
              <a:rPr lang="en-US" altLang="zh-CN" sz="2800" dirty="0"/>
              <a:t> </a:t>
            </a:r>
            <a:r>
              <a:rPr lang="en-US" altLang="zh-CN" sz="2800" dirty="0" err="1">
                <a:sym typeface="Symbol" panose="05050102010706020507" pitchFamily="18" charset="2"/>
              </a:rPr>
              <a:t>aAcC</a:t>
            </a:r>
            <a:r>
              <a:rPr lang="en-US" altLang="zh-CN" sz="2800" dirty="0">
                <a:sym typeface="Symbol" panose="05050102010706020507" pitchFamily="18" charset="2"/>
              </a:rPr>
              <a:t>(</a:t>
            </a:r>
            <a:r>
              <a:rPr lang="en-US" altLang="zh-CN" sz="2800" dirty="0" err="1"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sym typeface="Symbol" panose="05050102010706020507" pitchFamily="18" charset="2"/>
              </a:rPr>
              <a:t>)(a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 </a:t>
            </a:r>
            <a:r>
              <a:rPr lang="en-US" altLang="zh-CN" sz="2800" dirty="0" err="1">
                <a:sym typeface="Symbol" panose="05050102010706020507" pitchFamily="18" charset="2"/>
              </a:rPr>
              <a:t>bb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c)}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en-US" altLang="zh-CN" sz="2800" dirty="0"/>
              <a:t>×C</a:t>
            </a:r>
          </a:p>
          <a:p>
            <a:endParaRPr lang="en-US" altLang="zh-CN" sz="2800" dirty="0"/>
          </a:p>
          <a:p>
            <a:r>
              <a:rPr lang="zh-CN" altLang="en-US" sz="2800" dirty="0"/>
              <a:t>为关系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zh-CN" altLang="en-US" sz="2800" dirty="0"/>
              <a:t>与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的复合关系；</a:t>
            </a:r>
            <a:r>
              <a:rPr lang="zh-CN" altLang="en-US" sz="2800" dirty="0">
                <a:latin typeface="宋体" panose="02010600030101010101" pitchFamily="2" charset="-122"/>
              </a:rPr>
              <a:t>记作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endParaRPr lang="en-US" altLang="zh-CN" sz="28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由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zh-CN" altLang="en-US" sz="2800" baseline="-25000" dirty="0"/>
              <a:t>、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得到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的运算叫做关系的复合运算</a:t>
            </a: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DEDD8F-EBB9-4DBD-9C64-DA1D79358C5B}"/>
              </a:ext>
            </a:extLst>
          </p:cNvPr>
          <p:cNvSpPr txBox="1"/>
          <p:nvPr/>
        </p:nvSpPr>
        <p:spPr>
          <a:xfrm>
            <a:off x="1394623" y="1341223"/>
            <a:ext cx="582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复合关系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(Composite Operation)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66E2CBFB-2C50-3871-84B9-3EB83F0B7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217632"/>
      </p:ext>
    </p:extLst>
  </p:cSld>
  <p:clrMapOvr>
    <a:masterClrMapping/>
  </p:clrMapOvr>
  <p:transition spd="slow" advTm="0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50CD295-2097-4862-B1DC-997CF84C335E}"/>
              </a:ext>
            </a:extLst>
          </p:cNvPr>
          <p:cNvSpPr/>
          <p:nvPr/>
        </p:nvSpPr>
        <p:spPr>
          <a:xfrm>
            <a:off x="2133115" y="830361"/>
            <a:ext cx="70535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A={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} </a:t>
            </a:r>
            <a:r>
              <a:rPr lang="zh-CN" altLang="en-US" sz="2800" dirty="0"/>
              <a:t>，</a:t>
            </a:r>
            <a:r>
              <a:rPr lang="en-US" altLang="zh-CN" sz="2800" dirty="0"/>
              <a:t>B={b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} </a:t>
            </a:r>
            <a:r>
              <a:rPr lang="zh-CN" altLang="en-US" sz="2800" dirty="0"/>
              <a:t>，</a:t>
            </a:r>
            <a:r>
              <a:rPr lang="en-US" altLang="zh-CN" sz="2800" dirty="0"/>
              <a:t>C={c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C6E058-72D7-4D85-88CA-67E3D36133A6}"/>
              </a:ext>
            </a:extLst>
          </p:cNvPr>
          <p:cNvSpPr/>
          <p:nvPr/>
        </p:nvSpPr>
        <p:spPr>
          <a:xfrm>
            <a:off x="3363157" y="1486418"/>
            <a:ext cx="41488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关系　</a:t>
            </a:r>
            <a:r>
              <a:rPr lang="en-US" altLang="zh-CN" sz="2800" dirty="0"/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  </a:t>
            </a:r>
            <a:r>
              <a:rPr lang="zh-CN" altLang="en-US" sz="2800" dirty="0"/>
              <a:t>， </a:t>
            </a:r>
            <a:r>
              <a:rPr lang="en-US" altLang="zh-CN" sz="2800" dirty="0"/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B×C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D87CB4-7D82-4777-AB17-A12E93CC9F0E}"/>
              </a:ext>
            </a:extLst>
          </p:cNvPr>
          <p:cNvSpPr/>
          <p:nvPr/>
        </p:nvSpPr>
        <p:spPr>
          <a:xfrm>
            <a:off x="1320884" y="2102115"/>
            <a:ext cx="101888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 ={&lt;a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&gt;}</a:t>
            </a:r>
            <a:r>
              <a:rPr lang="zh-CN" altLang="en-US" sz="2800" dirty="0"/>
              <a:t>；</a:t>
            </a:r>
            <a:r>
              <a:rPr lang="en-US" altLang="zh-CN" sz="2800" dirty="0"/>
              <a:t> S ={&lt;b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&gt;,&lt;b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&gt;,&lt;b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1638B6-2734-4AE2-BB9F-8A93AEFC7F0C}"/>
              </a:ext>
            </a:extLst>
          </p:cNvPr>
          <p:cNvSpPr/>
          <p:nvPr/>
        </p:nvSpPr>
        <p:spPr>
          <a:xfrm>
            <a:off x="2723350" y="2758172"/>
            <a:ext cx="68483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 </a:t>
            </a:r>
            <a:r>
              <a:rPr lang="en-US" altLang="zh-CN" sz="2800" dirty="0"/>
              <a:t>R </a:t>
            </a:r>
            <a:r>
              <a:rPr lang="en-US" altLang="zh-CN" sz="2800" baseline="20000" dirty="0"/>
              <a:t>o </a:t>
            </a:r>
            <a:r>
              <a:rPr lang="en-US" altLang="zh-CN" sz="2800" dirty="0">
                <a:ea typeface="Arial Unicode MS" pitchFamily="34" charset="-122"/>
              </a:rPr>
              <a:t>S</a:t>
            </a:r>
            <a:r>
              <a:rPr lang="en-US" altLang="zh-CN" sz="2800" dirty="0"/>
              <a:t> ={&lt;a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&gt; ,&lt;a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&gt;,&lt;a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, c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&gt;}</a:t>
            </a:r>
            <a:endParaRPr lang="zh-CN" altLang="en-US" sz="2800" dirty="0"/>
          </a:p>
        </p:txBody>
      </p:sp>
      <p:grpSp>
        <p:nvGrpSpPr>
          <p:cNvPr id="8" name="Group 48">
            <a:extLst>
              <a:ext uri="{FF2B5EF4-FFF2-40B4-BE49-F238E27FC236}">
                <a16:creationId xmlns:a16="http://schemas.microsoft.com/office/drawing/2014/main" id="{B6FB75F6-4441-4938-B4DF-6A6B11C37696}"/>
              </a:ext>
            </a:extLst>
          </p:cNvPr>
          <p:cNvGrpSpPr>
            <a:grpSpLocks/>
          </p:cNvGrpSpPr>
          <p:nvPr/>
        </p:nvGrpSpPr>
        <p:grpSpPr bwMode="auto">
          <a:xfrm>
            <a:off x="2684878" y="3655407"/>
            <a:ext cx="5505450" cy="2486025"/>
            <a:chOff x="1392" y="1536"/>
            <a:chExt cx="3468" cy="1566"/>
          </a:xfrm>
        </p:grpSpPr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7307A297-C47C-4E57-9B6E-F41E7ABFB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536"/>
              <a:ext cx="624" cy="624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E42552BF-2D79-452A-A89C-B04F3C152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304"/>
              <a:ext cx="1104" cy="57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22E21DCE-9D58-446B-BB3A-20620C6EE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60"/>
              <a:ext cx="864" cy="912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2D7FB450-1C4F-466E-9DD3-AF12F2AE6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160"/>
              <a:ext cx="864" cy="91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172C2E10-71CD-4EBF-B87F-A5B908C90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112"/>
              <a:ext cx="960" cy="96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CE02C6F5-2E41-440E-824F-DB77E320E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52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4138518E-DC18-4D54-BD8E-D1C609AE6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592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E1622C86-5123-40E3-B075-8250ED4C8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F15A800A-6D7F-45C5-A2B8-EA1253BE7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680"/>
              <a:ext cx="96" cy="9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A113D38F-04CA-4CEB-B1C0-CF6E17F1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968"/>
              <a:ext cx="96" cy="9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53A97C7-D2C8-4DE6-88E7-8F773AFA2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56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FCEB4C11-D064-4D0E-B22E-038A95A77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96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8B515C23-C60A-464D-88F7-DA42EB8D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688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17">
              <a:extLst>
                <a:ext uri="{FF2B5EF4-FFF2-40B4-BE49-F238E27FC236}">
                  <a16:creationId xmlns:a16="http://schemas.microsoft.com/office/drawing/2014/main" id="{1490FD7B-D411-4D53-8D0D-5701E9847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96" cy="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277B74B8-FF09-4978-B9D1-5F14F00F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752"/>
              <a:ext cx="1032" cy="624"/>
            </a:xfrm>
            <a:custGeom>
              <a:avLst/>
              <a:gdLst>
                <a:gd name="T0" fmla="*/ 0 w 1032"/>
                <a:gd name="T1" fmla="*/ 624 h 624"/>
                <a:gd name="T2" fmla="*/ 1032 w 1032"/>
                <a:gd name="T3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32" h="624">
                  <a:moveTo>
                    <a:pt x="0" y="624"/>
                  </a:moveTo>
                  <a:lnTo>
                    <a:pt x="1032" y="0"/>
                  </a:lnTo>
                </a:path>
              </a:pathLst>
            </a:custGeom>
            <a:noFill/>
            <a:ln w="12700" cap="sq">
              <a:solidFill>
                <a:schemeClr val="accent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4FCDA9AD-1E4E-4D25-B26D-ABAD83DB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2046"/>
              <a:ext cx="1014" cy="570"/>
            </a:xfrm>
            <a:custGeom>
              <a:avLst/>
              <a:gdLst>
                <a:gd name="T0" fmla="*/ 0 w 1014"/>
                <a:gd name="T1" fmla="*/ 570 h 570"/>
                <a:gd name="T2" fmla="*/ 1014 w 1014"/>
                <a:gd name="T3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14" h="570">
                  <a:moveTo>
                    <a:pt x="0" y="570"/>
                  </a:moveTo>
                  <a:lnTo>
                    <a:pt x="1014" y="0"/>
                  </a:lnTo>
                </a:path>
              </a:pathLst>
            </a:custGeom>
            <a:noFill/>
            <a:ln w="12700" cap="sq">
              <a:solidFill>
                <a:schemeClr val="accent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720EBD1D-31BA-43C3-891F-9E5A16FD1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1782"/>
              <a:ext cx="1050" cy="1056"/>
            </a:xfrm>
            <a:custGeom>
              <a:avLst/>
              <a:gdLst>
                <a:gd name="T0" fmla="*/ 0 w 1050"/>
                <a:gd name="T1" fmla="*/ 1056 h 1056"/>
                <a:gd name="T2" fmla="*/ 1050 w 1050"/>
                <a:gd name="T3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0" h="1056">
                  <a:moveTo>
                    <a:pt x="0" y="1056"/>
                  </a:moveTo>
                  <a:lnTo>
                    <a:pt x="1050" y="0"/>
                  </a:lnTo>
                </a:path>
              </a:pathLst>
            </a:custGeom>
            <a:noFill/>
            <a:ln w="12700" cap="sq">
              <a:solidFill>
                <a:schemeClr val="accent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97FEE09-8B14-4631-A315-795E4F597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1764"/>
              <a:ext cx="1170" cy="1128"/>
            </a:xfrm>
            <a:custGeom>
              <a:avLst/>
              <a:gdLst>
                <a:gd name="T0" fmla="*/ 0 w 1170"/>
                <a:gd name="T1" fmla="*/ 0 h 1128"/>
                <a:gd name="T2" fmla="*/ 1170 w 1170"/>
                <a:gd name="T3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70" h="1128">
                  <a:moveTo>
                    <a:pt x="0" y="0"/>
                  </a:moveTo>
                  <a:lnTo>
                    <a:pt x="1170" y="1128"/>
                  </a:lnTo>
                </a:path>
              </a:pathLst>
            </a:custGeom>
            <a:noFill/>
            <a:ln w="12700" cap="sq">
              <a:solidFill>
                <a:schemeClr val="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0189C7BE-D133-47F9-A68A-DDB0D456C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2016"/>
              <a:ext cx="1170" cy="498"/>
            </a:xfrm>
            <a:custGeom>
              <a:avLst/>
              <a:gdLst>
                <a:gd name="T0" fmla="*/ 0 w 1170"/>
                <a:gd name="T1" fmla="*/ 0 h 498"/>
                <a:gd name="T2" fmla="*/ 1170 w 1170"/>
                <a:gd name="T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70" h="498">
                  <a:moveTo>
                    <a:pt x="0" y="0"/>
                  </a:moveTo>
                  <a:lnTo>
                    <a:pt x="1170" y="498"/>
                  </a:lnTo>
                </a:path>
              </a:pathLst>
            </a:custGeom>
            <a:noFill/>
            <a:ln w="12700" cap="sq">
              <a:solidFill>
                <a:schemeClr val="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84F46EE4-4E5E-4717-90BE-AAB1CA0BD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046"/>
              <a:ext cx="1170" cy="666"/>
            </a:xfrm>
            <a:custGeom>
              <a:avLst/>
              <a:gdLst>
                <a:gd name="T0" fmla="*/ 0 w 1170"/>
                <a:gd name="T1" fmla="*/ 0 h 666"/>
                <a:gd name="T2" fmla="*/ 1170 w 117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70" h="666">
                  <a:moveTo>
                    <a:pt x="0" y="0"/>
                  </a:moveTo>
                  <a:lnTo>
                    <a:pt x="1170" y="666"/>
                  </a:lnTo>
                </a:path>
              </a:pathLst>
            </a:custGeom>
            <a:noFill/>
            <a:ln w="12700" cap="sq">
              <a:solidFill>
                <a:schemeClr val="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B7A129F1-6456-4CD5-8F39-D9B3517DB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430"/>
              <a:ext cx="2250" cy="480"/>
            </a:xfrm>
            <a:custGeom>
              <a:avLst/>
              <a:gdLst>
                <a:gd name="T0" fmla="*/ 0 w 2250"/>
                <a:gd name="T1" fmla="*/ 0 h 480"/>
                <a:gd name="T2" fmla="*/ 2250 w 2250"/>
                <a:gd name="T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0" h="480">
                  <a:moveTo>
                    <a:pt x="0" y="0"/>
                  </a:moveTo>
                  <a:lnTo>
                    <a:pt x="2250" y="480"/>
                  </a:lnTo>
                </a:path>
              </a:pathLst>
            </a:custGeom>
            <a:noFill/>
            <a:ln w="12700" cap="sq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39308484-1D40-4207-8C18-E3933A9D5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2556"/>
              <a:ext cx="2244" cy="84"/>
            </a:xfrm>
            <a:custGeom>
              <a:avLst/>
              <a:gdLst>
                <a:gd name="T0" fmla="*/ 0 w 2244"/>
                <a:gd name="T1" fmla="*/ 84 h 84"/>
                <a:gd name="T2" fmla="*/ 2244 w 2244"/>
                <a:gd name="T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44" h="84">
                  <a:moveTo>
                    <a:pt x="0" y="84"/>
                  </a:moveTo>
                  <a:lnTo>
                    <a:pt x="2244" y="0"/>
                  </a:lnTo>
                </a:path>
              </a:pathLst>
            </a:custGeom>
            <a:noFill/>
            <a:ln w="12700" cap="sq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C2CB6FD7-A184-4BC4-B748-9D056BD34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2664"/>
              <a:ext cx="2268" cy="96"/>
            </a:xfrm>
            <a:custGeom>
              <a:avLst/>
              <a:gdLst>
                <a:gd name="T0" fmla="*/ 0 w 2268"/>
                <a:gd name="T1" fmla="*/ 0 h 96"/>
                <a:gd name="T2" fmla="*/ 2268 w 2268"/>
                <a:gd name="T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8" h="96">
                  <a:moveTo>
                    <a:pt x="0" y="0"/>
                  </a:moveTo>
                  <a:lnTo>
                    <a:pt x="2268" y="96"/>
                  </a:lnTo>
                </a:path>
              </a:pathLst>
            </a:custGeom>
            <a:noFill/>
            <a:ln w="12700" cap="sq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76E26E9-1EE3-4C1E-A6FC-6BF82E290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2904"/>
              <a:ext cx="2250" cy="48"/>
            </a:xfrm>
            <a:custGeom>
              <a:avLst/>
              <a:gdLst>
                <a:gd name="T0" fmla="*/ 0 w 2250"/>
                <a:gd name="T1" fmla="*/ 0 h 48"/>
                <a:gd name="T2" fmla="*/ 2250 w 2250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0" h="48">
                  <a:moveTo>
                    <a:pt x="0" y="0"/>
                  </a:moveTo>
                  <a:lnTo>
                    <a:pt x="2250" y="48"/>
                  </a:lnTo>
                </a:path>
              </a:pathLst>
            </a:custGeom>
            <a:noFill/>
            <a:ln w="12700" cap="sq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0943A86B-79FC-42E7-8B04-3FC557F68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0" y="1578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A9040297-56CE-43EE-868A-DF0EA7317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1884"/>
              <a:ext cx="2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2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E2664435-6175-48B8-918C-FC958D8BD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74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2C36508E-FFF9-4EF2-BFE8-F296FCA84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4" y="224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8A42AF5E-C84D-4817-8A55-66D64A64E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" y="249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2</a:t>
              </a:r>
            </a:p>
          </p:txBody>
        </p:sp>
        <p:sp>
          <p:nvSpPr>
            <p:cNvPr id="38" name="Text Box 33">
              <a:extLst>
                <a:ext uri="{FF2B5EF4-FFF2-40B4-BE49-F238E27FC236}">
                  <a16:creationId xmlns:a16="http://schemas.microsoft.com/office/drawing/2014/main" id="{E9DF2706-AC77-4342-B8FD-CA77CB40A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273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3</a:t>
              </a:r>
            </a:p>
          </p:txBody>
        </p:sp>
        <p:sp>
          <p:nvSpPr>
            <p:cNvPr id="39" name="Text Box 34">
              <a:extLst>
                <a:ext uri="{FF2B5EF4-FFF2-40B4-BE49-F238E27FC236}">
                  <a16:creationId xmlns:a16="http://schemas.microsoft.com/office/drawing/2014/main" id="{64D974BD-D376-4945-9A70-605466C3B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" y="250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40" name="Text Box 35">
              <a:extLst>
                <a:ext uri="{FF2B5EF4-FFF2-40B4-BE49-F238E27FC236}">
                  <a16:creationId xmlns:a16="http://schemas.microsoft.com/office/drawing/2014/main" id="{E46D8FC8-3F94-4CEB-8992-EB9E6FC37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16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843EE67B-FAAA-482B-A987-F022D9BD7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400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  <a:r>
                <a:rPr lang="en-US" altLang="zh-CN" baseline="-25000"/>
                <a:t>2</a:t>
              </a:r>
            </a:p>
          </p:txBody>
        </p:sp>
        <p:sp>
          <p:nvSpPr>
            <p:cNvPr id="42" name="Text Box 37">
              <a:extLst>
                <a:ext uri="{FF2B5EF4-FFF2-40B4-BE49-F238E27FC236}">
                  <a16:creationId xmlns:a16="http://schemas.microsoft.com/office/drawing/2014/main" id="{683415E9-E0F7-4025-AAFF-AC3588BB5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60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  <a:r>
                <a:rPr lang="en-US" altLang="zh-CN" baseline="-25000"/>
                <a:t>3</a:t>
              </a:r>
            </a:p>
          </p:txBody>
        </p:sp>
        <p:sp>
          <p:nvSpPr>
            <p:cNvPr id="43" name="Text Box 38">
              <a:extLst>
                <a:ext uri="{FF2B5EF4-FFF2-40B4-BE49-F238E27FC236}">
                  <a16:creationId xmlns:a16="http://schemas.microsoft.com/office/drawing/2014/main" id="{C8272C64-2937-4FDB-95C1-A4F90E4B7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79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  <a:r>
                <a:rPr lang="en-US" altLang="zh-CN" baseline="-25000"/>
                <a:t>4</a:t>
              </a:r>
            </a:p>
          </p:txBody>
        </p:sp>
        <p:sp>
          <p:nvSpPr>
            <p:cNvPr id="44" name="Text Box 39">
              <a:extLst>
                <a:ext uri="{FF2B5EF4-FFF2-40B4-BE49-F238E27FC236}">
                  <a16:creationId xmlns:a16="http://schemas.microsoft.com/office/drawing/2014/main" id="{75E30C23-2F22-4F6C-B86C-499360C15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" y="2526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45" name="Text Box 40">
              <a:extLst>
                <a:ext uri="{FF2B5EF4-FFF2-40B4-BE49-F238E27FC236}">
                  <a16:creationId xmlns:a16="http://schemas.microsoft.com/office/drawing/2014/main" id="{9378D64A-BF15-4375-BCF4-4E8A7625B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0" y="1860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6"/>
                  </a:solidFill>
                </a:rPr>
                <a:t>R</a:t>
              </a:r>
            </a:p>
          </p:txBody>
        </p:sp>
        <p:sp>
          <p:nvSpPr>
            <p:cNvPr id="46" name="Text Box 41">
              <a:extLst>
                <a:ext uri="{FF2B5EF4-FFF2-40B4-BE49-F238E27FC236}">
                  <a16:creationId xmlns:a16="http://schemas.microsoft.com/office/drawing/2014/main" id="{94AD8475-1041-4394-BE47-90D8D5CAA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05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</a:rPr>
                <a:t>S</a:t>
              </a:r>
            </a:p>
          </p:txBody>
        </p:sp>
        <p:sp>
          <p:nvSpPr>
            <p:cNvPr id="47" name="Text Box 42">
              <a:extLst>
                <a:ext uri="{FF2B5EF4-FFF2-40B4-BE49-F238E27FC236}">
                  <a16:creationId xmlns:a16="http://schemas.microsoft.com/office/drawing/2014/main" id="{CFBAF696-707D-4EE9-8909-8A0EC89A3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28"/>
              <a:ext cx="432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</a:rPr>
                <a:t>R </a:t>
              </a:r>
              <a:r>
                <a:rPr lang="en-US" altLang="zh-CN" sz="2400" baseline="20000" dirty="0">
                  <a:solidFill>
                    <a:srgbClr val="FF0000"/>
                  </a:solidFill>
                </a:rPr>
                <a:t> </a:t>
              </a:r>
              <a:r>
                <a:rPr lang="en-US" altLang="zh-CN" dirty="0">
                  <a:solidFill>
                    <a:schemeClr val="accent2"/>
                  </a:solidFill>
                  <a:ea typeface="Arial Unicode MS" pitchFamily="34" charset="-122"/>
                </a:rPr>
                <a:t>S</a:t>
              </a: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0D5357F8-E23C-4A11-835F-AAC5301D6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" y="2997"/>
              <a:ext cx="45" cy="45"/>
            </a:xfrm>
            <a:prstGeom prst="ellips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文本框 2">
            <a:extLst>
              <a:ext uri="{FF2B5EF4-FFF2-40B4-BE49-F238E27FC236}">
                <a16:creationId xmlns:a16="http://schemas.microsoft.com/office/drawing/2014/main" id="{119B96C5-1452-1DCF-3B95-965DD3AA3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597336"/>
      </p:ext>
    </p:extLst>
  </p:cSld>
  <p:clrMapOvr>
    <a:masterClrMapping/>
  </p:clrMapOvr>
  <p:transition spd="slow" advTm="0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CCAFF01-8FDF-468A-8648-389C13D510A9}"/>
              </a:ext>
            </a:extLst>
          </p:cNvPr>
          <p:cNvSpPr/>
          <p:nvPr/>
        </p:nvSpPr>
        <p:spPr>
          <a:xfrm>
            <a:off x="1982297" y="926250"/>
            <a:ext cx="91154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B×C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C×D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是四个非空的集合。则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　　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(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(S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保序性：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∪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右分配律：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= 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∪ 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左分配不等式：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)∩(R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右分配不等式：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T)∩(S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66EE02-B801-F30B-CFEE-E57FA0D0C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224872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8C5F102-ADAB-445A-B76B-46E8FD538662}"/>
              </a:ext>
            </a:extLst>
          </p:cNvPr>
          <p:cNvSpPr/>
          <p:nvPr/>
        </p:nvSpPr>
        <p:spPr>
          <a:xfrm>
            <a:off x="2148737" y="415131"/>
            <a:ext cx="8997081" cy="694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对任何元素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,d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T)d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b(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T)d)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aRbb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aRbb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a(R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5B3CC7-B20E-F55C-90F6-BF5A53236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605833"/>
      </p:ext>
    </p:extLst>
  </p:cSld>
  <p:clrMapOvr>
    <a:masterClrMapping/>
  </p:clrMapOvr>
  <p:transition spd="slow" advTm="0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43BE272-08C2-429E-B8B3-225482A8DD62}"/>
              </a:ext>
            </a:extLst>
          </p:cNvPr>
          <p:cNvSpPr/>
          <p:nvPr/>
        </p:nvSpPr>
        <p:spPr>
          <a:xfrm>
            <a:off x="1890198" y="1009727"/>
            <a:ext cx="9266798" cy="60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b(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)((aRbb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)(aRb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)(aRbb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)(aRb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)∪(R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所以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)∪(R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BFBA86-4B7C-41C6-A64E-0ADF14D10B01}"/>
              </a:ext>
            </a:extLst>
          </p:cNvPr>
          <p:cNvSpPr/>
          <p:nvPr/>
        </p:nvSpPr>
        <p:spPr>
          <a:xfrm>
            <a:off x="2370423" y="3121927"/>
            <a:ext cx="85168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</a:t>
            </a:r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93B7D6F5-60AF-FC42-F641-B2E6617DC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146647"/>
      </p:ext>
    </p:extLst>
  </p:cSld>
  <p:clrMapOvr>
    <a:masterClrMapping/>
  </p:clrMapOvr>
  <p:transition spd="slow" advTm="0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1FC55BC-8B0D-42CD-B4A5-6F1C8C778680}"/>
              </a:ext>
            </a:extLst>
          </p:cNvPr>
          <p:cNvSpPr/>
          <p:nvPr/>
        </p:nvSpPr>
        <p:spPr>
          <a:xfrm>
            <a:off x="2407110" y="666690"/>
            <a:ext cx="4487071" cy="327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d,b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d,c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&gt;},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b,a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&gt;},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c,a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&gt;}.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 则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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) =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o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,</a:t>
            </a:r>
          </a:p>
          <a:p>
            <a:pPr>
              <a:lnSpc>
                <a:spcPct val="12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&gt;},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&gt;},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)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(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)=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9B2FE1E-6619-406E-9D91-4F32FC98D143}"/>
              </a:ext>
            </a:extLst>
          </p:cNvPr>
          <p:cNvGrpSpPr/>
          <p:nvPr/>
        </p:nvGrpSpPr>
        <p:grpSpPr>
          <a:xfrm>
            <a:off x="3738902" y="3867307"/>
            <a:ext cx="2602523" cy="1698381"/>
            <a:chOff x="0" y="0"/>
            <a:chExt cx="1776" cy="1159"/>
          </a:xfrm>
        </p:grpSpPr>
        <p:sp>
          <p:nvSpPr>
            <p:cNvPr id="6" name="椭圆 48132">
              <a:extLst>
                <a:ext uri="{FF2B5EF4-FFF2-40B4-BE49-F238E27FC236}">
                  <a16:creationId xmlns:a16="http://schemas.microsoft.com/office/drawing/2014/main" id="{D3D8A23C-E1EE-42B6-961F-15A5A84ABDAB}"/>
                </a:ext>
              </a:extLst>
            </p:cNvPr>
            <p:cNvSpPr/>
            <p:nvPr/>
          </p:nvSpPr>
          <p:spPr>
            <a:xfrm>
              <a:off x="144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48133">
              <a:extLst>
                <a:ext uri="{FF2B5EF4-FFF2-40B4-BE49-F238E27FC236}">
                  <a16:creationId xmlns:a16="http://schemas.microsoft.com/office/drawing/2014/main" id="{2E5B6072-7EC9-4504-B9D8-9FBE160B1B53}"/>
                </a:ext>
              </a:extLst>
            </p:cNvPr>
            <p:cNvSpPr/>
            <p:nvPr/>
          </p:nvSpPr>
          <p:spPr>
            <a:xfrm>
              <a:off x="768" y="2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48134">
              <a:extLst>
                <a:ext uri="{FF2B5EF4-FFF2-40B4-BE49-F238E27FC236}">
                  <a16:creationId xmlns:a16="http://schemas.microsoft.com/office/drawing/2014/main" id="{1BF9F23A-C4C7-45FC-9A4F-24F313B05745}"/>
                </a:ext>
              </a:extLst>
            </p:cNvPr>
            <p:cNvSpPr/>
            <p:nvPr/>
          </p:nvSpPr>
          <p:spPr>
            <a:xfrm>
              <a:off x="768" y="8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48135">
              <a:extLst>
                <a:ext uri="{FF2B5EF4-FFF2-40B4-BE49-F238E27FC236}">
                  <a16:creationId xmlns:a16="http://schemas.microsoft.com/office/drawing/2014/main" id="{E48062E4-0825-4FA1-8E36-19012F71EDC4}"/>
                </a:ext>
              </a:extLst>
            </p:cNvPr>
            <p:cNvSpPr/>
            <p:nvPr/>
          </p:nvSpPr>
          <p:spPr>
            <a:xfrm>
              <a:off x="1440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直接连接符 48136">
              <a:extLst>
                <a:ext uri="{FF2B5EF4-FFF2-40B4-BE49-F238E27FC236}">
                  <a16:creationId xmlns:a16="http://schemas.microsoft.com/office/drawing/2014/main" id="{92854A1E-2494-4A35-8046-62350F9CE563}"/>
                </a:ext>
              </a:extLst>
            </p:cNvPr>
            <p:cNvSpPr/>
            <p:nvPr/>
          </p:nvSpPr>
          <p:spPr>
            <a:xfrm flipV="1">
              <a:off x="192" y="336"/>
              <a:ext cx="576" cy="28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直接连接符 48137">
              <a:extLst>
                <a:ext uri="{FF2B5EF4-FFF2-40B4-BE49-F238E27FC236}">
                  <a16:creationId xmlns:a16="http://schemas.microsoft.com/office/drawing/2014/main" id="{286943EB-F48F-494D-8313-0D35BD9502D7}"/>
                </a:ext>
              </a:extLst>
            </p:cNvPr>
            <p:cNvSpPr/>
            <p:nvPr/>
          </p:nvSpPr>
          <p:spPr>
            <a:xfrm>
              <a:off x="240" y="624"/>
              <a:ext cx="528" cy="288"/>
            </a:xfrm>
            <a:prstGeom prst="line">
              <a:avLst/>
            </a:prstGeom>
            <a:ln w="952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48138">
              <a:extLst>
                <a:ext uri="{FF2B5EF4-FFF2-40B4-BE49-F238E27FC236}">
                  <a16:creationId xmlns:a16="http://schemas.microsoft.com/office/drawing/2014/main" id="{2DE7BA3A-709D-4FC2-9D58-47CB624619AD}"/>
                </a:ext>
              </a:extLst>
            </p:cNvPr>
            <p:cNvSpPr/>
            <p:nvPr/>
          </p:nvSpPr>
          <p:spPr>
            <a:xfrm>
              <a:off x="864" y="288"/>
              <a:ext cx="576" cy="288"/>
            </a:xfrm>
            <a:prstGeom prst="line">
              <a:avLst/>
            </a:prstGeom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48139">
              <a:extLst>
                <a:ext uri="{FF2B5EF4-FFF2-40B4-BE49-F238E27FC236}">
                  <a16:creationId xmlns:a16="http://schemas.microsoft.com/office/drawing/2014/main" id="{AE46CBDA-3C9E-4A7D-AAC2-5DD98C801683}"/>
                </a:ext>
              </a:extLst>
            </p:cNvPr>
            <p:cNvSpPr/>
            <p:nvPr/>
          </p:nvSpPr>
          <p:spPr>
            <a:xfrm flipV="1">
              <a:off x="864" y="624"/>
              <a:ext cx="576" cy="288"/>
            </a:xfrm>
            <a:prstGeom prst="line">
              <a:avLst/>
            </a:prstGeom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48140">
              <a:extLst>
                <a:ext uri="{FF2B5EF4-FFF2-40B4-BE49-F238E27FC236}">
                  <a16:creationId xmlns:a16="http://schemas.microsoft.com/office/drawing/2014/main" id="{9CEB2594-AEB4-4741-B7BB-EBB2BE3A34D5}"/>
                </a:ext>
              </a:extLst>
            </p:cNvPr>
            <p:cNvSpPr/>
            <p:nvPr/>
          </p:nvSpPr>
          <p:spPr>
            <a:xfrm>
              <a:off x="240" y="624"/>
              <a:ext cx="115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文本框 48141">
              <a:extLst>
                <a:ext uri="{FF2B5EF4-FFF2-40B4-BE49-F238E27FC236}">
                  <a16:creationId xmlns:a16="http://schemas.microsoft.com/office/drawing/2014/main" id="{246A9F79-FC4D-4AF7-923F-B5E123A93BC7}"/>
                </a:ext>
              </a:extLst>
            </p:cNvPr>
            <p:cNvSpPr txBox="1"/>
            <p:nvPr/>
          </p:nvSpPr>
          <p:spPr>
            <a:xfrm>
              <a:off x="0" y="48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d</a:t>
              </a:r>
            </a:p>
          </p:txBody>
        </p:sp>
        <p:sp>
          <p:nvSpPr>
            <p:cNvPr id="16" name="文本框 48142">
              <a:extLst>
                <a:ext uri="{FF2B5EF4-FFF2-40B4-BE49-F238E27FC236}">
                  <a16:creationId xmlns:a16="http://schemas.microsoft.com/office/drawing/2014/main" id="{A53ACBA0-0386-446B-AC8F-7B194DFF2D8A}"/>
                </a:ext>
              </a:extLst>
            </p:cNvPr>
            <p:cNvSpPr txBox="1"/>
            <p:nvPr/>
          </p:nvSpPr>
          <p:spPr>
            <a:xfrm>
              <a:off x="720" y="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b</a:t>
              </a:r>
            </a:p>
          </p:txBody>
        </p:sp>
        <p:sp>
          <p:nvSpPr>
            <p:cNvPr id="17" name="文本框 48143">
              <a:extLst>
                <a:ext uri="{FF2B5EF4-FFF2-40B4-BE49-F238E27FC236}">
                  <a16:creationId xmlns:a16="http://schemas.microsoft.com/office/drawing/2014/main" id="{4FF6CD4D-54DC-4140-8515-8A0CCE8366A9}"/>
                </a:ext>
              </a:extLst>
            </p:cNvPr>
            <p:cNvSpPr txBox="1"/>
            <p:nvPr/>
          </p:nvSpPr>
          <p:spPr>
            <a:xfrm>
              <a:off x="720" y="864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c</a:t>
              </a:r>
            </a:p>
          </p:txBody>
        </p:sp>
        <p:sp>
          <p:nvSpPr>
            <p:cNvPr id="18" name="文本框 48144">
              <a:extLst>
                <a:ext uri="{FF2B5EF4-FFF2-40B4-BE49-F238E27FC236}">
                  <a16:creationId xmlns:a16="http://schemas.microsoft.com/office/drawing/2014/main" id="{7BC86847-8486-464F-9BB4-F54CD219E779}"/>
                </a:ext>
              </a:extLst>
            </p:cNvPr>
            <p:cNvSpPr txBox="1"/>
            <p:nvPr/>
          </p:nvSpPr>
          <p:spPr>
            <a:xfrm>
              <a:off x="1488" y="48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a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6C5C040-6646-AFF5-788D-CB8BEEF83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531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9320</TotalTime>
  <Words>5839</Words>
  <Application>Microsoft Office PowerPoint</Application>
  <PresentationFormat>宽屏</PresentationFormat>
  <Paragraphs>565</Paragraphs>
  <Slides>50</Slides>
  <Notes>50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73" baseType="lpstr">
      <vt:lpstr>Arial Unicode MS</vt:lpstr>
      <vt:lpstr>cajcd fnta1</vt:lpstr>
      <vt:lpstr>等线</vt:lpstr>
      <vt:lpstr>等线 Light</vt:lpstr>
      <vt:lpstr>黑体</vt:lpstr>
      <vt:lpstr>KaiTi</vt:lpstr>
      <vt:lpstr>SimSun</vt:lpstr>
      <vt:lpstr>SimSun</vt:lpstr>
      <vt:lpstr>Microsoft YaHei</vt:lpstr>
      <vt:lpstr>Microsoft YaHei</vt:lpstr>
      <vt:lpstr>Microsoft YaHei Light</vt:lpstr>
      <vt:lpstr>Arial</vt:lpstr>
      <vt:lpstr>Arial Black</vt:lpstr>
      <vt:lpstr>Comic Sans MS</vt:lpstr>
      <vt:lpstr>Lucida Calligraphy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111</cp:revision>
  <dcterms:created xsi:type="dcterms:W3CDTF">2019-03-24T11:36:16Z</dcterms:created>
  <dcterms:modified xsi:type="dcterms:W3CDTF">2025-11-07T15:37:16Z</dcterms:modified>
</cp:coreProperties>
</file>