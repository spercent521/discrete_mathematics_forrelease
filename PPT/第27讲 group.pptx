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445" r:id="rId2"/>
    <p:sldId id="1585" r:id="rId3"/>
    <p:sldId id="2392" r:id="rId4"/>
    <p:sldId id="1677" r:id="rId5"/>
    <p:sldId id="1681" r:id="rId6"/>
    <p:sldId id="1678" r:id="rId7"/>
    <p:sldId id="1745" r:id="rId8"/>
    <p:sldId id="1746" r:id="rId9"/>
    <p:sldId id="1728" r:id="rId10"/>
    <p:sldId id="1730" r:id="rId11"/>
    <p:sldId id="1731" r:id="rId12"/>
    <p:sldId id="1754" r:id="rId13"/>
    <p:sldId id="1627" r:id="rId14"/>
    <p:sldId id="1628" r:id="rId15"/>
    <p:sldId id="1755" r:id="rId16"/>
    <p:sldId id="1756" r:id="rId17"/>
    <p:sldId id="1757" r:id="rId18"/>
    <p:sldId id="1758" r:id="rId19"/>
    <p:sldId id="1759" r:id="rId20"/>
    <p:sldId id="1760" r:id="rId21"/>
    <p:sldId id="1761" r:id="rId22"/>
    <p:sldId id="1762" r:id="rId23"/>
    <p:sldId id="1763" r:id="rId24"/>
    <p:sldId id="1764" r:id="rId25"/>
    <p:sldId id="1765" r:id="rId26"/>
    <p:sldId id="1766" r:id="rId27"/>
    <p:sldId id="1767" r:id="rId28"/>
    <p:sldId id="1732" r:id="rId29"/>
    <p:sldId id="1733" r:id="rId30"/>
    <p:sldId id="1734" r:id="rId31"/>
    <p:sldId id="1735" r:id="rId32"/>
    <p:sldId id="1736" r:id="rId33"/>
    <p:sldId id="1737" r:id="rId34"/>
    <p:sldId id="173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228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93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475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302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69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68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170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874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922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04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572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059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584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742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03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80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30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920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664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4147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28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526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233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576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498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2751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0694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784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2530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9510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7999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5695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29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5061101" y="2644170"/>
            <a:ext cx="206979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群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roup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29582487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7C1C40D-DA1B-4D05-8D98-66FE6C2F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166019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的子群，则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He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 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Ha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a∈H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 = H</a:t>
            </a:r>
          </a:p>
          <a:p>
            <a:pPr marL="0" indent="0" eaLnBrk="1" hangingPunct="1"/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31D46176-64F0-5260-8634-8574C3E7FE3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679025" y="3429000"/>
            <a:ext cx="8218488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924AA7-6A25-6BA1-43B5-927B90AE51E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679025" y="4743084"/>
            <a:ext cx="8218488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61901F-66D1-EE46-0CED-12CB894E1A8A}"/>
              </a:ext>
            </a:extLst>
          </p:cNvPr>
          <p:cNvSpPr/>
          <p:nvPr/>
        </p:nvSpPr>
        <p:spPr>
          <a:xfrm>
            <a:off x="742223" y="6057168"/>
            <a:ext cx="104331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上述定理表明，对任二右陪集来说，要么无公共元素，要么相等。</a:t>
            </a:r>
          </a:p>
        </p:txBody>
      </p:sp>
    </p:spTree>
    <p:extLst>
      <p:ext uri="{BB962C8B-B14F-4D97-AF65-F5344CB8AC3E}">
        <p14:creationId xmlns:p14="http://schemas.microsoft.com/office/powerpoint/2010/main" val="47546166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37BB80-AE76-478D-A7C3-41D539180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1090132"/>
            <a:ext cx="7704137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于是，群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的每个元素必属于一个右陪集，且不能属于不同的右陪集，因此，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的全体不同的右陪集构成群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的一个划分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即：</a:t>
            </a:r>
          </a:p>
          <a:p>
            <a:pPr marL="0" indent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G=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Ha∪Hb∪Hc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∪…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其中，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中的所有不同的右陪集，上述等式称为群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右陪集分解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，而称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,…}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右陪集代表系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上述划分也称为群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右商集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，记作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(G/H)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。相应地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左商集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(G/H)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264141587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DE52D0-4C84-4A36-B21C-D92EACC13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067841"/>
            <a:ext cx="9793506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需要注意到，子群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本身是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的一个右陪集（</a:t>
            </a:r>
            <a:r>
              <a:rPr lang="en-US" altLang="zh-CN" sz="2400" b="1" dirty="0">
                <a:latin typeface="Times New Roman" panose="02020603050405020304" pitchFamily="18" charset="0"/>
              </a:rPr>
              <a:t>He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但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的任何其它右陪集不是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的子群，因为其皆没有单位元。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G</a:t>
            </a:r>
            <a:r>
              <a:rPr lang="zh-CN" altLang="en-US" sz="2400" b="1" dirty="0">
                <a:latin typeface="Times New Roman" panose="02020603050405020304" pitchFamily="18" charset="0"/>
              </a:rPr>
              <a:t>是一个有限群时，求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的右陪集可用如下方法：首先，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本身是一个右陪集；之后，如果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真子群，则任取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而求得</a:t>
            </a:r>
            <a:r>
              <a:rPr lang="en-US" altLang="zh-CN" sz="2400" b="1" dirty="0">
                <a:latin typeface="Times New Roman" panose="02020603050405020304" pitchFamily="18" charset="0"/>
              </a:rPr>
              <a:t>Ha</a:t>
            </a:r>
            <a:r>
              <a:rPr lang="zh-CN" altLang="en-US" sz="2400" b="1" dirty="0">
                <a:latin typeface="Times New Roman" panose="02020603050405020304" pitchFamily="18" charset="0"/>
              </a:rPr>
              <a:t>；继续任取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H∪Ha</a:t>
            </a:r>
            <a:r>
              <a:rPr lang="zh-CN" altLang="en-US" sz="2400" b="1" dirty="0">
                <a:latin typeface="Times New Roman" panose="02020603050405020304" pitchFamily="18" charset="0"/>
              </a:rPr>
              <a:t>而求得</a:t>
            </a:r>
            <a:r>
              <a:rPr lang="en-US" altLang="zh-CN" sz="2400" b="1" dirty="0">
                <a:latin typeface="Times New Roman" panose="02020603050405020304" pitchFamily="18" charset="0"/>
              </a:rPr>
              <a:t>Hb</a:t>
            </a:r>
            <a:r>
              <a:rPr lang="zh-CN" altLang="en-US" sz="2400" b="1" dirty="0">
                <a:latin typeface="Times New Roman" panose="02020603050405020304" pitchFamily="18" charset="0"/>
              </a:rPr>
              <a:t>；依次类推，因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有限，最后必被穷尽，从而</a:t>
            </a:r>
          </a:p>
          <a:p>
            <a:pPr marL="0" indent="0"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    G=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H∪Ha∪Hb</a:t>
            </a:r>
            <a:r>
              <a:rPr lang="en-US" altLang="zh-CN" sz="2400" b="1" dirty="0">
                <a:latin typeface="Times New Roman" panose="02020603050405020304" pitchFamily="18" charset="0"/>
              </a:rPr>
              <a:t>∪…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880406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609802-DE7E-4B47-A4B0-9E920A3F9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942884"/>
            <a:ext cx="8728074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此外，群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关于子群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的左商集与右商集之间有什么关系？令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(G/H)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→(G/H)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aH</a:t>
            </a:r>
            <a:r>
              <a:rPr lang="en-US" altLang="zh-CN" sz="2400" b="1" dirty="0">
                <a:latin typeface="Times New Roman" panose="02020603050405020304" pitchFamily="18" charset="0"/>
              </a:rPr>
              <a:t>)=Ha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6B39898-6DA6-4B37-820D-716FC74775A5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2306547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从而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为群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关于子群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H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的左商集与右商集之间的双射关系。 这表明群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关于子群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H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的左商集与右商集的基数相同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这还表明，有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的左陪集分解：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G=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aH∪bH∪cH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∪…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可以立即得到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的右陪集分解：</a:t>
            </a:r>
            <a:endParaRPr kumimoji="1" lang="zh-CN" altLang="es-ES_tradnl" sz="2400" b="1" dirty="0">
              <a:latin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1" lang="es-ES_tradnl" altLang="zh-CN" sz="2400" b="1" dirty="0">
                <a:latin typeface="Times New Roman" panose="02020603050405020304" pitchFamily="18" charset="0"/>
              </a:rPr>
              <a:t>    G=Ha</a:t>
            </a:r>
            <a:r>
              <a:rPr kumimoji="1" lang="es-ES_tradnl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s-ES_tradnl" altLang="zh-CN" sz="2400" b="1" dirty="0">
                <a:latin typeface="Times New Roman" panose="02020603050405020304" pitchFamily="18" charset="0"/>
              </a:rPr>
              <a:t>∪Hb</a:t>
            </a:r>
            <a:r>
              <a:rPr kumimoji="1" lang="es-ES_tradnl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s-ES_tradnl" altLang="zh-CN" sz="2400" b="1" dirty="0">
                <a:latin typeface="Times New Roman" panose="02020603050405020304" pitchFamily="18" charset="0"/>
              </a:rPr>
              <a:t>∪Hc</a:t>
            </a:r>
            <a:r>
              <a:rPr kumimoji="1" lang="es-ES_tradnl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s-ES_tradnl" altLang="zh-CN" sz="2400" b="1" dirty="0">
                <a:latin typeface="Times New Roman" panose="02020603050405020304" pitchFamily="18" charset="0"/>
              </a:rPr>
              <a:t>∪…</a:t>
            </a:r>
            <a:r>
              <a:rPr kumimoji="1" lang="zh-CN" altLang="es-ES_tradnl" sz="2400" b="1" dirty="0">
                <a:latin typeface="Times New Roman" panose="02020603050405020304" pitchFamily="18" charset="0"/>
              </a:rPr>
              <a:t>。 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183707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C90DAB-D8FA-454A-A88A-97033EBD8E03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81075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关于子群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的左商集（右商集）的基数称为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指数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(Index)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，记作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[G:H]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定理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为有限群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的一子群，则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|G|=|H|[G:H]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本定理称为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拉格朗日定理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 </a:t>
            </a:r>
          </a:p>
        </p:txBody>
      </p:sp>
    </p:spTree>
    <p:extLst>
      <p:ext uri="{BB962C8B-B14F-4D97-AF65-F5344CB8AC3E}">
        <p14:creationId xmlns:p14="http://schemas.microsoft.com/office/powerpoint/2010/main" val="20144133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219D340-ECAB-47BB-999D-72BF23584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825" y="1052513"/>
            <a:ext cx="836295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阶群，则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的因子，且有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4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的阶是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的因子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是由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生成的子群，若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，则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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,…,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的阶与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相等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的因子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从而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F8BE473-C1D8-40B9-8434-8BB218665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869" y="3586177"/>
            <a:ext cx="8424862" cy="237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对阶为素数的群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，必存在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证  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| =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≥2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中必存在非单位元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≠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的子群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根据拉格朗日定理，</a:t>
            </a:r>
          </a:p>
          <a:p>
            <a:pPr fontAlgn="base"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的阶是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的因子，即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的阶是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显然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的阶不是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这就推出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&gt;.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771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6BCBFB-00CC-4A15-BDE5-181931F11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787406"/>
            <a:ext cx="7848600" cy="596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正规子群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79873">
            <a:extLst>
              <a:ext uri="{FF2B5EF4-FFF2-40B4-BE49-F238E27FC236}">
                <a16:creationId xmlns:a16="http://schemas.microsoft.com/office/drawing/2014/main" id="{E0FFBEDE-CED1-41F4-8292-DF75D44F206C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781298"/>
            <a:ext cx="8523518" cy="56880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正规子群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Normal Subgroup):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的一个子群，如果对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中每个元素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=Na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aNa</a:t>
            </a:r>
            <a:r>
              <a:rPr lang="en-US" altLang="zh-CN" b="1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zh-CN" altLang="en-US" b="1" dirty="0">
                <a:solidFill>
                  <a:srgbClr val="ED7D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正规子群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或不变子群。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8F0512-DBE2-49D6-B6FB-1843207068FC}"/>
              </a:ext>
            </a:extLst>
          </p:cNvPr>
          <p:cNvSpPr/>
          <p:nvPr/>
        </p:nvSpPr>
        <p:spPr>
          <a:xfrm>
            <a:off x="1675809" y="4714431"/>
            <a:ext cx="8765178" cy="211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rPr>
              <a:t>正规子群的判定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的一个子群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的正规子群当且仅当对任意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，皆有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aha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H.</a:t>
            </a: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906297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内容占位符 80897">
            <a:extLst>
              <a:ext uri="{FF2B5EF4-FFF2-40B4-BE49-F238E27FC236}">
                <a16:creationId xmlns:a16="http://schemas.microsoft.com/office/drawing/2014/main" id="{BECBA2E7-7D2C-4E8B-907F-6B5CF3C1AE50}"/>
              </a:ext>
            </a:extLst>
          </p:cNvPr>
          <p:cNvSpPr txBox="1">
            <a:spLocks noChangeArrowheads="1"/>
          </p:cNvSpPr>
          <p:nvPr/>
        </p:nvSpPr>
        <p:spPr>
          <a:xfrm>
            <a:off x="1879195" y="1584556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 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商群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(Quotient group)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&lt;G/N;*&gt;,*: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Na,Nb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N,Na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Nb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b|n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N}=Nab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上满足封闭性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上满足结合律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存在单位元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的每一个元素存在逆元</a:t>
            </a:r>
          </a:p>
          <a:p>
            <a:pPr>
              <a:buFontTx/>
              <a:buNone/>
            </a:pPr>
            <a:endParaRPr lang="zh-CN" altLang="en-US" sz="4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62158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占位符 81921">
            <a:extLst>
              <a:ext uri="{FF2B5EF4-FFF2-40B4-BE49-F238E27FC236}">
                <a16:creationId xmlns:a16="http://schemas.microsoft.com/office/drawing/2014/main" id="{190D5248-3225-45E6-9CD7-3BD81159ECAE}"/>
              </a:ext>
            </a:extLst>
          </p:cNvPr>
          <p:cNvSpPr txBox="1">
            <a:spLocks noChangeArrowheads="1"/>
          </p:cNvSpPr>
          <p:nvPr/>
        </p:nvSpPr>
        <p:spPr>
          <a:xfrm>
            <a:off x="2347509" y="1051897"/>
            <a:ext cx="7697788" cy="744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4 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群同态基本定理</a:t>
            </a:r>
          </a:p>
        </p:txBody>
      </p:sp>
      <p:grpSp>
        <p:nvGrpSpPr>
          <p:cNvPr id="7" name="组合 81922">
            <a:extLst>
              <a:ext uri="{FF2B5EF4-FFF2-40B4-BE49-F238E27FC236}">
                <a16:creationId xmlns:a16="http://schemas.microsoft.com/office/drawing/2014/main" id="{96FCC6F2-1FA2-41C7-98AB-B4E877098115}"/>
              </a:ext>
            </a:extLst>
          </p:cNvPr>
          <p:cNvGrpSpPr>
            <a:grpSpLocks/>
          </p:cNvGrpSpPr>
          <p:nvPr/>
        </p:nvGrpSpPr>
        <p:grpSpPr bwMode="auto">
          <a:xfrm>
            <a:off x="3226984" y="1731170"/>
            <a:ext cx="6062662" cy="3025775"/>
            <a:chOff x="0" y="0"/>
            <a:chExt cx="3525" cy="1906"/>
          </a:xfrm>
        </p:grpSpPr>
        <p:sp>
          <p:nvSpPr>
            <p:cNvPr id="8" name="矩形 81923">
              <a:extLst>
                <a:ext uri="{FF2B5EF4-FFF2-40B4-BE49-F238E27FC236}">
                  <a16:creationId xmlns:a16="http://schemas.microsoft.com/office/drawing/2014/main" id="{3276243E-E14A-4A6E-B9DC-A652B8647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45"/>
              <a:ext cx="1179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矩形 81924">
              <a:extLst>
                <a:ext uri="{FF2B5EF4-FFF2-40B4-BE49-F238E27FC236}">
                  <a16:creationId xmlns:a16="http://schemas.microsoft.com/office/drawing/2014/main" id="{D127A696-596C-49E3-B60F-51F1E13DB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" y="45"/>
              <a:ext cx="1134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en-US" sz="2400" b="1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lang="en-US" altLang="zh-CN" sz="2400" b="1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81925">
              <a:extLst>
                <a:ext uri="{FF2B5EF4-FFF2-40B4-BE49-F238E27FC236}">
                  <a16:creationId xmlns:a16="http://schemas.microsoft.com/office/drawing/2014/main" id="{645403A8-A9E0-4BAE-9FB0-42E6CA8F4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1361"/>
              <a:ext cx="1406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G/Ker(φ)</a:t>
              </a:r>
            </a:p>
          </p:txBody>
        </p:sp>
        <p:sp>
          <p:nvSpPr>
            <p:cNvPr id="11" name="直接连接符 81926">
              <a:extLst>
                <a:ext uri="{FF2B5EF4-FFF2-40B4-BE49-F238E27FC236}">
                  <a16:creationId xmlns:a16="http://schemas.microsoft.com/office/drawing/2014/main" id="{0D7ED5F3-A8F1-46DC-95F8-C07144CC2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3" y="317"/>
              <a:ext cx="1088" cy="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直接连接符 81927">
              <a:extLst>
                <a:ext uri="{FF2B5EF4-FFF2-40B4-BE49-F238E27FC236}">
                  <a16:creationId xmlns:a16="http://schemas.microsoft.com/office/drawing/2014/main" id="{22BDE528-44EB-4579-9A7E-6F197130B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6" y="589"/>
              <a:ext cx="765" cy="77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直接连接符 81928">
              <a:extLst>
                <a:ext uri="{FF2B5EF4-FFF2-40B4-BE49-F238E27FC236}">
                  <a16:creationId xmlns:a16="http://schemas.microsoft.com/office/drawing/2014/main" id="{C139DCF5-1D14-474C-AD60-5BF8B129F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9" y="589"/>
              <a:ext cx="670" cy="7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81929">
              <a:extLst>
                <a:ext uri="{FF2B5EF4-FFF2-40B4-BE49-F238E27FC236}">
                  <a16:creationId xmlns:a16="http://schemas.microsoft.com/office/drawing/2014/main" id="{7EF5D02D-C039-4B9C-8122-C95334FDF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0"/>
              <a:ext cx="95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φ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满同态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" name="矩形 81930">
              <a:extLst>
                <a:ext uri="{FF2B5EF4-FFF2-40B4-BE49-F238E27FC236}">
                  <a16:creationId xmlns:a16="http://schemas.microsoft.com/office/drawing/2014/main" id="{8878DD32-1936-4302-BBC4-C3BB10E6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98"/>
              <a:ext cx="1484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φ</a:t>
              </a:r>
              <a:r>
                <a:rPr lang="en-US" altLang="zh-CN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ru-RU" altLang="en-US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(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自然满同态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6" name="矩形 81931">
              <a:extLst>
                <a:ext uri="{FF2B5EF4-FFF2-40B4-BE49-F238E27FC236}">
                  <a16:creationId xmlns:a16="http://schemas.microsoft.com/office/drawing/2014/main" id="{3504FD00-2132-48C6-993E-936A7FD5D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6" y="952"/>
              <a:ext cx="95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 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同构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A318FEB2-9A17-424F-A4CA-33418D063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509" y="4899820"/>
            <a:ext cx="7510462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φ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得到的同态核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Ker(φ)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之正规子群</a:t>
            </a:r>
          </a:p>
          <a:p>
            <a:endParaRPr lang="en-US" altLang="zh-CN" sz="2000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G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 Ker(φ)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同态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&lt;G;*&gt;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与其每一个商群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&lt;G/N;*&gt;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同态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endParaRPr lang="en-US" altLang="zh-CN" sz="2000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G/ Ker(φ)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G’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637002592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6BCBFB-00CC-4A15-BDE5-181931F11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065901"/>
            <a:ext cx="78486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循环群</a:t>
            </a:r>
          </a:p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可以由一个元素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生成，即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G={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|k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为由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生成的一个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循环群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(Cyclic group)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，并称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生成元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Generator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）。记为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G=&lt;a&gt;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于是，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是一切形如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的元素构成的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群，亦即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&lt;a&gt;={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Z}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若群的代数运算用加号表示时，则指数可以改为倍数的形式，即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&lt;a&gt;={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ka|k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439209307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B3E7B4-6B7C-4E6E-9507-EF3403F004CC}"/>
              </a:ext>
            </a:extLst>
          </p:cNvPr>
          <p:cNvSpPr txBox="1">
            <a:spLocks noChangeArrowheads="1"/>
          </p:cNvSpPr>
          <p:nvPr/>
        </p:nvSpPr>
        <p:spPr>
          <a:xfrm>
            <a:off x="1784350" y="981075"/>
            <a:ext cx="7777163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）容易证明循环群是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Abel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群。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）整数加群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是无限阶循环群。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事实上，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Z=&lt;1&gt;,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，任意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n=n∙1,-1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也是其生成元，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，任意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n=(-n)∙(-1)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1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0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次单位根群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={   |k=0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,n-1}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阶循环群，其生成元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ε= 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=&lt;ε&gt;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事实上，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个复数是互异的，且对任意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k,ε</a:t>
            </a:r>
            <a:r>
              <a:rPr lang="en-US" altLang="zh-CN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必与这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个复数中一个相等。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D3B3BF-A7FE-4216-B291-8D89031FC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931" y="4422965"/>
            <a:ext cx="48577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FAE4377-898C-4E85-A889-E22957FA7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325" y="3909751"/>
            <a:ext cx="574675" cy="7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95170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F55E21-40D6-4312-89DB-2DEB6BED5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6238875"/>
            <a:ext cx="662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&lt;A,*&gt;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2400" b="1">
                <a:solidFill>
                  <a:srgbClr val="000000"/>
                </a:solidFill>
                <a:ea typeface="宋体" panose="02010600030101010101" pitchFamily="2" charset="-122"/>
              </a:rPr>
              <a:t>循环群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，生成元？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DE7FB6-4415-4BF5-B0AE-BC22040A0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4222750"/>
            <a:ext cx="99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  <a:endParaRPr lang="zh-CN" altLang="en-US" b="1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9FD676C7-5D33-4291-89C1-67FEF4959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7100" y="4294188"/>
            <a:ext cx="0" cy="1944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8980BF0-C8B4-45D6-AE35-12584800E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42227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59590E5-7A71-46F5-AD6F-D58E739BB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42227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9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0468F006-C65E-4530-AD4D-6B0F7824F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42227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7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E041C06E-7DBF-4E29-83CA-2407CD4B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4654550"/>
            <a:ext cx="99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  <a:endParaRPr lang="zh-CN" altLang="en-US" b="1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0F409D36-F794-45E0-BF7B-236DCAE50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46482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CFC8AB5E-7D46-46CB-B23F-984C9AC3C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46482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9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4394E6A3-95D4-4AA8-A671-BD0497FE1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46482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7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B7320A7E-5ABD-490E-9266-2F801F28D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42227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b="1">
                <a:ea typeface="宋体" panose="02010600030101010101" pitchFamily="2" charset="-122"/>
              </a:rPr>
              <a:t>*</a:t>
            </a:r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6018CF3-7FE2-42AA-BC1F-513312D9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46482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36DA52E-FB67-4939-BA92-CCEC68F43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5086350"/>
            <a:ext cx="99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  <a:endParaRPr lang="zh-CN" altLang="en-US" b="1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DFC2AD93-B80A-4411-9195-71C0FB52D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50863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9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DD5E1C36-1E08-4ED9-BF51-63EFE7BD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50863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7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C99FBFC4-ECC5-42AB-BF49-E5C93B23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50863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ED8BBB06-3841-4AD0-BE8E-6659F71DF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5511800"/>
            <a:ext cx="99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9</a:t>
            </a:r>
            <a:endParaRPr lang="zh-CN" altLang="en-US" b="1"/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58D5D0C0-C7E0-4730-8657-4FE4C00F2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55118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7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13D11B08-ACD3-40EC-B002-1838AABF6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55118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11BC8342-87F0-4C1D-8625-73C032192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55118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4F05F2AC-5872-4D8C-AB0C-F45CA1C88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508635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B5E9BAB1-6B68-4A06-9C90-9A51763E2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5511800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9</a:t>
            </a: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2B46197E-B8CB-43CA-86F0-F05ABB25B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5878513"/>
            <a:ext cx="998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7</a:t>
            </a:r>
            <a:endParaRPr lang="zh-CN" altLang="en-US" b="1"/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C0B8A650-F549-45FF-81F8-2A8010FD2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58785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FDA5008D-35E4-4967-92FB-F32D8531C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58785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B619A65F-E79B-463C-949B-6CF1312EC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58785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9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2FA68660-E661-42C9-A90E-2E4AAE783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58785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7</a:t>
            </a: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D8BF18E3-B62F-4885-BB1C-486E27B55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4294188"/>
            <a:ext cx="0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17D07E95-D9EA-4997-B9C4-76F90F85D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4654550"/>
            <a:ext cx="4176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3">
            <a:extLst>
              <a:ext uri="{FF2B5EF4-FFF2-40B4-BE49-F238E27FC236}">
                <a16:creationId xmlns:a16="http://schemas.microsoft.com/office/drawing/2014/main" id="{90FD8839-DA0A-4DCD-99A8-562D5D1E5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5086350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247C7E4B-B0B6-4D5F-B4CF-560E6E36C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5878513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F205F901-4CEE-489F-8166-B8F971258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913" y="3789363"/>
            <a:ext cx="7905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A={1,3,9,7},A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上模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乘法*运算表如下</a:t>
            </a:r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3B89F909-9412-485A-949A-F4A8C49FE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5446713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0C81AA93-4A71-4D46-8BD8-DD936E365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7325" y="4294188"/>
            <a:ext cx="0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6F1AF775-EEE8-4509-89DB-A099D3AB5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4294188"/>
            <a:ext cx="0" cy="1944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B1140A28-8F22-4846-B2DA-E0705D69C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1274763"/>
            <a:ext cx="998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0</a:t>
            </a:r>
            <a:endParaRPr lang="zh-CN" altLang="en-US" b="1"/>
          </a:p>
        </p:txBody>
      </p:sp>
      <p:sp>
        <p:nvSpPr>
          <p:cNvPr id="40" name="Line 40">
            <a:extLst>
              <a:ext uri="{FF2B5EF4-FFF2-40B4-BE49-F238E27FC236}">
                <a16:creationId xmlns:a16="http://schemas.microsoft.com/office/drawing/2014/main" id="{36F597BF-3937-4CA0-BB23-9C4159D414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7100" y="1339850"/>
            <a:ext cx="0" cy="1944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EC0276A5-3C6B-4DF9-8657-5518CFC18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12684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4EC905DE-75AE-4DE5-A911-67DCAF338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12684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2</a:t>
            </a:r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89BD5B6E-E29D-44D8-989D-0ADD899EB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2684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E8A657A6-2A03-4B36-8CEC-8B74CF03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1700213"/>
            <a:ext cx="998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0</a:t>
            </a:r>
            <a:endParaRPr lang="zh-CN" altLang="en-US" b="1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E784476F-26CE-45E4-BD67-4D438FC9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16938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45F22BD6-9178-45C1-8465-5EC2E0809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16938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2</a:t>
            </a: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0C9C8A4E-5045-4BD6-AA7B-29DD1C781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16938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4DFDE67B-2E54-4B43-A8B5-1FEAFEAC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12684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7D37F4C7-7700-4D4D-A89D-DD16A4CAD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16938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0</a:t>
            </a: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E4B15E66-B26A-4B2E-BD30-FE8D29697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2132013"/>
            <a:ext cx="998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  <a:endParaRPr lang="zh-CN" altLang="en-US" b="1"/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12D38F28-0CE7-44B9-951B-76E3278B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21320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2</a:t>
            </a:r>
          </a:p>
        </p:txBody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B87A7821-B485-448D-98DD-DA55CC832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21320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8A2C502A-A3BD-414F-AEFA-F345B6D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21320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0</a:t>
            </a: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8885E08B-A6F0-45BB-91B3-0284F3858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2557463"/>
            <a:ext cx="998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2</a:t>
            </a:r>
            <a:endParaRPr lang="zh-CN" altLang="en-US" b="1"/>
          </a:p>
        </p:txBody>
      </p:sp>
      <p:sp>
        <p:nvSpPr>
          <p:cNvPr id="55" name="Rectangle 55">
            <a:extLst>
              <a:ext uri="{FF2B5EF4-FFF2-40B4-BE49-F238E27FC236}">
                <a16:creationId xmlns:a16="http://schemas.microsoft.com/office/drawing/2014/main" id="{3D088DC0-415F-4A14-AE36-30DC6F116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25574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56" name="Rectangle 56">
            <a:extLst>
              <a:ext uri="{FF2B5EF4-FFF2-40B4-BE49-F238E27FC236}">
                <a16:creationId xmlns:a16="http://schemas.microsoft.com/office/drawing/2014/main" id="{04B9EAE1-B9A9-448F-816B-92950BEDF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25574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0</a:t>
            </a:r>
          </a:p>
        </p:txBody>
      </p:sp>
      <p:sp>
        <p:nvSpPr>
          <p:cNvPr id="57" name="Rectangle 57">
            <a:extLst>
              <a:ext uri="{FF2B5EF4-FFF2-40B4-BE49-F238E27FC236}">
                <a16:creationId xmlns:a16="http://schemas.microsoft.com/office/drawing/2014/main" id="{8000E13E-69C1-42E3-8210-6F1DA327D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25574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DF382765-8ECD-4D16-83C1-643763EC7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213201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4D805BDC-D94A-46EA-8546-0293B7B85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2557463"/>
            <a:ext cx="9985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2</a:t>
            </a:r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06BD6304-F704-4B55-B981-F4FBAD84A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2924175"/>
            <a:ext cx="998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  <a:endParaRPr lang="zh-CN" altLang="en-US" b="1"/>
          </a:p>
        </p:txBody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E4D7DF90-BE2E-4A1B-948C-FCC902A92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38" y="2924175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0</a:t>
            </a:r>
          </a:p>
        </p:txBody>
      </p:sp>
      <p:sp>
        <p:nvSpPr>
          <p:cNvPr id="62" name="Rectangle 62">
            <a:extLst>
              <a:ext uri="{FF2B5EF4-FFF2-40B4-BE49-F238E27FC236}">
                <a16:creationId xmlns:a16="http://schemas.microsoft.com/office/drawing/2014/main" id="{35096D53-5C7D-4681-94A8-D5AA2EF5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13" y="2924175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1</a:t>
            </a:r>
          </a:p>
        </p:txBody>
      </p:sp>
      <p:sp>
        <p:nvSpPr>
          <p:cNvPr id="63" name="Rectangle 63">
            <a:extLst>
              <a:ext uri="{FF2B5EF4-FFF2-40B4-BE49-F238E27FC236}">
                <a16:creationId xmlns:a16="http://schemas.microsoft.com/office/drawing/2014/main" id="{E08147F3-7469-4772-916E-ACF4A97A0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2924175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2</a:t>
            </a:r>
          </a:p>
        </p:txBody>
      </p:sp>
      <p:sp>
        <p:nvSpPr>
          <p:cNvPr id="64" name="Rectangle 64">
            <a:extLst>
              <a:ext uri="{FF2B5EF4-FFF2-40B4-BE49-F238E27FC236}">
                <a16:creationId xmlns:a16="http://schemas.microsoft.com/office/drawing/2014/main" id="{829285DD-4D22-49E3-9C8D-193263126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2924175"/>
            <a:ext cx="998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b="1"/>
              <a:t>3</a:t>
            </a:r>
          </a:p>
        </p:txBody>
      </p:sp>
      <p:sp>
        <p:nvSpPr>
          <p:cNvPr id="65" name="Line 65">
            <a:extLst>
              <a:ext uri="{FF2B5EF4-FFF2-40B4-BE49-F238E27FC236}">
                <a16:creationId xmlns:a16="http://schemas.microsoft.com/office/drawing/2014/main" id="{84EC9034-1B47-4C2E-9CFD-824F3697C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3725" y="1339850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66">
            <a:extLst>
              <a:ext uri="{FF2B5EF4-FFF2-40B4-BE49-F238E27FC236}">
                <a16:creationId xmlns:a16="http://schemas.microsoft.com/office/drawing/2014/main" id="{A676AA5D-1BC1-49F7-B36C-81A8B1D96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1700213"/>
            <a:ext cx="4176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67">
            <a:extLst>
              <a:ext uri="{FF2B5EF4-FFF2-40B4-BE49-F238E27FC236}">
                <a16:creationId xmlns:a16="http://schemas.microsoft.com/office/drawing/2014/main" id="{763854ED-8425-43BD-BBF4-FA5796601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2132013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68">
            <a:extLst>
              <a:ext uri="{FF2B5EF4-FFF2-40B4-BE49-F238E27FC236}">
                <a16:creationId xmlns:a16="http://schemas.microsoft.com/office/drawing/2014/main" id="{F524F9FC-9341-4429-BAC8-C7ECECA52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2924175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69">
            <a:extLst>
              <a:ext uri="{FF2B5EF4-FFF2-40B4-BE49-F238E27FC236}">
                <a16:creationId xmlns:a16="http://schemas.microsoft.com/office/drawing/2014/main" id="{06CEE7C8-D861-4217-8BBD-30D635D6D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2492375"/>
            <a:ext cx="4176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70">
            <a:extLst>
              <a:ext uri="{FF2B5EF4-FFF2-40B4-BE49-F238E27FC236}">
                <a16:creationId xmlns:a16="http://schemas.microsoft.com/office/drawing/2014/main" id="{1199E305-E9EB-4B86-B232-80329DBDC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7325" y="1339850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71">
            <a:extLst>
              <a:ext uri="{FF2B5EF4-FFF2-40B4-BE49-F238E27FC236}">
                <a16:creationId xmlns:a16="http://schemas.microsoft.com/office/drawing/2014/main" id="{75025193-2209-4BC8-9621-DCDF88844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1339850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Rectangle 72">
            <a:extLst>
              <a:ext uri="{FF2B5EF4-FFF2-40B4-BE49-F238E27FC236}">
                <a16:creationId xmlns:a16="http://schemas.microsoft.com/office/drawing/2014/main" id="{301902E4-F809-40CC-8987-C82075D3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765175"/>
            <a:ext cx="7905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B={0,1,2,3},B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上模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加法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运算表如下</a:t>
            </a:r>
          </a:p>
        </p:txBody>
      </p:sp>
      <p:sp>
        <p:nvSpPr>
          <p:cNvPr id="73" name="Rectangle 73">
            <a:extLst>
              <a:ext uri="{FF2B5EF4-FFF2-40B4-BE49-F238E27FC236}">
                <a16:creationId xmlns:a16="http://schemas.microsoft.com/office/drawing/2014/main" id="{0DE663D5-4FF9-43E4-B847-FDAEEF881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3338513"/>
            <a:ext cx="5472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</a:rPr>
              <a:t>&lt;B,+&gt;</a:t>
            </a:r>
            <a:r>
              <a:rPr lang="zh-CN" altLang="en-US" sz="2400" b="1">
                <a:solidFill>
                  <a:srgbClr val="000000"/>
                </a:solidFill>
              </a:rPr>
              <a:t>是循环群，生成元？</a:t>
            </a:r>
          </a:p>
        </p:txBody>
      </p:sp>
    </p:spTree>
    <p:extLst>
      <p:ext uri="{BB962C8B-B14F-4D97-AF65-F5344CB8AC3E}">
        <p14:creationId xmlns:p14="http://schemas.microsoft.com/office/powerpoint/2010/main" val="121291246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5" grpId="0"/>
      <p:bldP spid="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094ACC-AE5F-4B1D-B232-461979C77883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81075"/>
            <a:ext cx="7848600" cy="55435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根据上述元素的阶的定义以及相关定理，可以得到关于循环群的如下结论：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1)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G=&lt;a&gt;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。若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|a|=∞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&lt;a&gt;={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,e, 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中元素是互异的，否则，令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(j&gt;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j-i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=e,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这与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|a|=∞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，矛盾。由此可以看到，无限阶循环群的阶与其生成元的阶均为∞。</a:t>
            </a:r>
          </a:p>
          <a:p>
            <a:pPr marL="0" indent="0">
              <a:lnSpc>
                <a:spcPct val="10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2)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G=&lt;a&gt;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若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|a|=n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阶群，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&lt;a&gt;={a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中元素是互异的。 事实上，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∈G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H={a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n-1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且元素是互异的。又任取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&lt;a&gt;,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m=nq+r,0≤r&lt;n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nq+r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nq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。因此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是显然的，因此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&lt;a&gt;=H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。还可以看出，循环群的阶与其生成元的阶是相同的。  </a:t>
            </a:r>
          </a:p>
        </p:txBody>
      </p:sp>
    </p:spTree>
    <p:extLst>
      <p:ext uri="{BB962C8B-B14F-4D97-AF65-F5344CB8AC3E}">
        <p14:creationId xmlns:p14="http://schemas.microsoft.com/office/powerpoint/2010/main" val="25059203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76FC46-6EA9-4EA9-8C0D-CE4EB8E19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90" y="606885"/>
            <a:ext cx="78486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3) 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是循环群当且仅当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阶元素。 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阶循环群，根据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）知生成元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的阶即为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n;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反之，设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阶元素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H={a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n-1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阶群，但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|G|=n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，故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G=H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阶循环群且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是生成元。 由此可知，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阶循环群的一个元素是否为生成元，在于这个元素的阶是否为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4)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无限循环群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有两个生成元，即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 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阶循环群有</a:t>
            </a:r>
            <a:r>
              <a: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个生成元，其中</a:t>
            </a:r>
            <a:r>
              <a:rPr lang="zh-CN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Euler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函数（小于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且与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互素的正整数的个数）。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33127A-38B3-4126-A288-499D1C21D16B}"/>
              </a:ext>
            </a:extLst>
          </p:cNvPr>
          <p:cNvSpPr/>
          <p:nvPr/>
        </p:nvSpPr>
        <p:spPr>
          <a:xfrm>
            <a:off x="1076586" y="5085682"/>
            <a:ext cx="10365997" cy="206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defRPr/>
            </a:pP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其中，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称为欧拉函数：表示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…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n-1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中与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互素的数的个数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例如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=12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，小于或等于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且与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互素的正整数有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个：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      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1, 5, 7, 11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所以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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(12)=4.</a:t>
            </a:r>
            <a:b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23928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2C53D2-A185-4ECA-8C02-187360867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1052513"/>
            <a:ext cx="7777162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事实上，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为无限循环群时有两个生成元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是显然的。设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阶循环群的生成元为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|a|=n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。又根据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(0&lt;k&lt;n)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的生成元当且仅当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|=n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|=n/(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，故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n/(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n,k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k,n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)=1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，亦即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只与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互素且小于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即可。从而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(n)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个生成元。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1839305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7A4F550-ED68-422D-A69E-5B5F18253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15" y="1166018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设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是循环群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 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(1)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若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是无限循环群，则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只有两个生成元，即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 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(2)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若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阶循环群，则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含有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个生成元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对于任何小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于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且与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互质的数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∈{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0,1,…,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-1},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120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的生成元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   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</a:b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614607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4ACC694-25A0-4AD8-B0CB-0D9F11E66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166018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证  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显然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i="1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的生成元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再证明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只有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这两个生成元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假设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也是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的生成元，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&gt;.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可知存在整数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知存在整数 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从而得到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mt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中的消去律得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mt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是无限群，必有</a:t>
            </a:r>
            <a:r>
              <a:rPr lang="en-US" altLang="zh-CN" i="1" dirty="0">
                <a:latin typeface="Times New Roman" panose="02020603050405020304" pitchFamily="18" charset="0"/>
              </a:rPr>
              <a:t>mt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 = 0. </a:t>
            </a:r>
            <a:r>
              <a:rPr lang="zh-CN" altLang="en-US" dirty="0">
                <a:latin typeface="Times New Roman" panose="02020603050405020304" pitchFamily="18" charset="0"/>
              </a:rPr>
              <a:t>从而证明了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= 1</a:t>
            </a:r>
            <a:r>
              <a:rPr lang="zh-CN" altLang="en-US" dirty="0">
                <a:latin typeface="Times New Roman" panose="02020603050405020304" pitchFamily="18" charset="0"/>
              </a:rPr>
              <a:t>或 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，即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或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1881340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FDAA69B-C291-4E19-BB2F-BD8E622F8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495" y="1292404"/>
            <a:ext cx="8229600" cy="468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只须证明：对任何正整数 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的生成元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互质</a:t>
            </a:r>
            <a:r>
              <a:rPr lang="en-US" altLang="zh-CN" dirty="0">
                <a:latin typeface="Times New Roman" panose="02020603050405020304" pitchFamily="18" charset="0"/>
              </a:rPr>
              <a:t>.   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充分性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互质，且</a:t>
            </a:r>
            <a:r>
              <a:rPr lang="en-US" altLang="zh-CN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 err="1">
                <a:latin typeface="Times New Roman" panose="02020603050405020304" pitchFamily="18" charset="0"/>
              </a:rPr>
              <a:t>≤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，那么存在整数 </a:t>
            </a:r>
            <a:r>
              <a:rPr lang="en-US" altLang="zh-CN" i="1" dirty="0">
                <a:latin typeface="Times New Roman" panose="02020603050405020304" pitchFamily="18" charset="0"/>
              </a:rPr>
              <a:t>u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v </a:t>
            </a:r>
            <a:r>
              <a:rPr lang="zh-CN" altLang="en-US" dirty="0">
                <a:latin typeface="Times New Roman" panose="02020603050405020304" pitchFamily="18" charset="0"/>
              </a:rPr>
              <a:t>使得               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			</a:t>
            </a:r>
            <a:r>
              <a:rPr lang="en-US" altLang="zh-CN" i="1" dirty="0" err="1">
                <a:latin typeface="Times New Roman" panose="02020603050405020304" pitchFamily="18" charset="0"/>
              </a:rPr>
              <a:t>ur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en-US" altLang="zh-CN" i="1" dirty="0" err="1">
                <a:latin typeface="Times New Roman" panose="02020603050405020304" pitchFamily="18" charset="0"/>
              </a:rPr>
              <a:t>vn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1 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从而         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ur</a:t>
            </a:r>
            <a:r>
              <a:rPr lang="en-US" altLang="zh-CN" baseline="30000" dirty="0" err="1">
                <a:latin typeface="Times New Roman" panose="02020603050405020304" pitchFamily="18" charset="0"/>
              </a:rPr>
              <a:t>+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vn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v </a:t>
            </a:r>
            <a:r>
              <a:rPr lang="en-US" altLang="zh-CN" dirty="0">
                <a:latin typeface="Times New Roman" panose="02020603050405020304" pitchFamily="18" charset="0"/>
              </a:rPr>
              <a:t>= 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u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这就推出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(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uk</a:t>
            </a:r>
            <a:r>
              <a:rPr lang="en-US" altLang="zh-CN" dirty="0">
                <a:latin typeface="Times New Roman" panose="02020603050405020304" pitchFamily="18" charset="0"/>
              </a:rPr>
              <a:t>∈&lt;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&gt;.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另一方面，显然有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从而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&gt;. 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必要性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的生成元，则 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的最大公约数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，则存在正整数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dt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altLang="zh-CN" dirty="0">
                <a:latin typeface="Times New Roman" panose="02020603050405020304" pitchFamily="18" charset="0"/>
              </a:rPr>
              <a:t>, |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n/d</a:t>
            </a:r>
            <a:r>
              <a:rPr lang="zh-CN" altLang="en-US" dirty="0">
                <a:latin typeface="Times New Roman" panose="02020603050405020304" pitchFamily="18" charset="0"/>
              </a:rPr>
              <a:t>的因子，即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整除</a:t>
            </a:r>
            <a:r>
              <a:rPr lang="en-US" altLang="zh-CN" i="1" dirty="0">
                <a:latin typeface="Times New Roman" panose="02020603050405020304" pitchFamily="18" charset="0"/>
              </a:rPr>
              <a:t>n/d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从而证明了</a:t>
            </a:r>
            <a:r>
              <a:rPr lang="en-US" altLang="zh-CN" i="1" dirty="0">
                <a:latin typeface="Times New Roman" panose="02020603050405020304" pitchFamily="18" charset="0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</a:rPr>
              <a:t>= 1.</a:t>
            </a:r>
          </a:p>
        </p:txBody>
      </p:sp>
    </p:spTree>
    <p:extLst>
      <p:ext uri="{BB962C8B-B14F-4D97-AF65-F5344CB8AC3E}">
        <p14:creationId xmlns:p14="http://schemas.microsoft.com/office/powerpoint/2010/main" val="12356390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2D4D6F7-817B-4E63-AC1D-4118C358D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777" y="1292404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11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阶循环群，则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dirty="0">
                <a:latin typeface="Times New Roman" panose="02020603050405020304" pitchFamily="18" charset="0"/>
              </a:rPr>
              <a:t>(12)=4. </a:t>
            </a:r>
            <a:r>
              <a:rPr lang="zh-CN" altLang="en-US" dirty="0">
                <a:latin typeface="Times New Roman" panose="02020603050405020304" pitchFamily="18" charset="0"/>
              </a:rPr>
              <a:t>小于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与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</a:rPr>
              <a:t>互素的数是</a:t>
            </a:r>
            <a:r>
              <a:rPr lang="en-US" altLang="zh-CN" dirty="0">
                <a:latin typeface="Times New Roman" panose="02020603050405020304" pitchFamily="18" charset="0"/>
              </a:rPr>
              <a:t>1, 5, 7, 11, </a:t>
            </a:r>
            <a:r>
              <a:rPr lang="zh-CN" altLang="en-US" dirty="0">
                <a:latin typeface="Times New Roman" panose="02020603050405020304" pitchFamily="18" charset="0"/>
              </a:rPr>
              <a:t>由定理可知 </a:t>
            </a:r>
            <a:r>
              <a:rPr lang="en-US" altLang="zh-CN" i="1" dirty="0">
                <a:latin typeface="Times New Roman" panose="02020603050405020304" pitchFamily="18" charset="0"/>
              </a:rPr>
              <a:t>a, a</a:t>
            </a:r>
            <a:r>
              <a:rPr lang="en-US" altLang="zh-CN" baseline="30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11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的生成元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=&lt;Z</a:t>
            </a:r>
            <a:r>
              <a:rPr lang="en-US" altLang="zh-CN" baseline="-25000" dirty="0">
                <a:latin typeface="Times New Roman" panose="02020603050405020304" pitchFamily="18" charset="0"/>
              </a:rPr>
              <a:t>9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是模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的整数加群，则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dirty="0">
                <a:latin typeface="Times New Roman" panose="02020603050405020304" pitchFamily="18" charset="0"/>
              </a:rPr>
              <a:t>(9)=6. </a:t>
            </a:r>
            <a:r>
              <a:rPr lang="zh-CN" altLang="en-US" dirty="0">
                <a:latin typeface="Times New Roman" panose="02020603050405020304" pitchFamily="18" charset="0"/>
              </a:rPr>
              <a:t>小于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且与</a:t>
            </a:r>
            <a:r>
              <a:rPr lang="en-US" altLang="zh-CN" dirty="0"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latin typeface="Times New Roman" panose="02020603050405020304" pitchFamily="18" charset="0"/>
              </a:rPr>
              <a:t>互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素的数是 </a:t>
            </a:r>
            <a:r>
              <a:rPr lang="en-US" altLang="zh-CN" dirty="0">
                <a:latin typeface="Times New Roman" panose="02020603050405020304" pitchFamily="18" charset="0"/>
              </a:rPr>
              <a:t>1, 2, 4, 5, 7, 8. </a:t>
            </a:r>
            <a:r>
              <a:rPr lang="zh-CN" altLang="en-US" dirty="0">
                <a:latin typeface="Times New Roman" panose="02020603050405020304" pitchFamily="18" charset="0"/>
              </a:rPr>
              <a:t>根据定理，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的生成元是</a:t>
            </a:r>
            <a:r>
              <a:rPr lang="en-US" altLang="zh-CN" dirty="0">
                <a:latin typeface="Times New Roman" panose="02020603050405020304" pitchFamily="18" charset="0"/>
              </a:rPr>
              <a:t>1, 2,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4, 5, 7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8.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=3Z={3</a:t>
            </a:r>
            <a:r>
              <a:rPr lang="en-US" altLang="zh-CN" i="1" dirty="0">
                <a:latin typeface="Times New Roman" panose="02020603050405020304" pitchFamily="18" charset="0"/>
              </a:rPr>
              <a:t>z 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</a:rPr>
              <a:t>z</a:t>
            </a:r>
            <a:r>
              <a:rPr lang="en-US" altLang="zh-CN" dirty="0" err="1">
                <a:latin typeface="Times New Roman" panose="02020603050405020304" pitchFamily="18" charset="0"/>
              </a:rPr>
              <a:t>∈Z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上的运算是普通加法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只有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两个生成元：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3. </a:t>
            </a:r>
          </a:p>
        </p:txBody>
      </p:sp>
    </p:spTree>
    <p:extLst>
      <p:ext uri="{BB962C8B-B14F-4D97-AF65-F5344CB8AC3E}">
        <p14:creationId xmlns:p14="http://schemas.microsoft.com/office/powerpoint/2010/main" val="940086491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63087E-DB73-4658-B383-555906545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981075"/>
            <a:ext cx="78486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是任意一个循环群，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）若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|a|=∞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与整数加群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同构；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）若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|a|=n,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次单位根群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=&lt;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ε&gt;(ε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次单位根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同构。</a:t>
            </a:r>
          </a:p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此定理表明，无限阶循环群彼此同构，有限同阶循环群都彼此同构。 这样，抽象地看，即在同构的意义下，循环群仅有两种，即整数加群与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次单位根群（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为任意正整数）。  </a:t>
            </a:r>
          </a:p>
        </p:txBody>
      </p:sp>
    </p:spTree>
    <p:extLst>
      <p:ext uri="{BB962C8B-B14F-4D97-AF65-F5344CB8AC3E}">
        <p14:creationId xmlns:p14="http://schemas.microsoft.com/office/powerpoint/2010/main" val="190171254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28C99B-76F4-46CC-9AC2-46BFFC991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026880"/>
            <a:ext cx="8064500" cy="494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无限循环群有多少个子群？</a:t>
            </a:r>
          </a:p>
          <a:p>
            <a:pPr marL="0" indent="0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设无限阶循环群为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则易知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&lt;e&gt;,&lt;a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&gt;,&lt;a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都是全部互异的的子群。 所以，无限循环群有无限多个子群。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869469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ABF3E8-87D6-4946-80A3-7772EA7EC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836613"/>
            <a:ext cx="8064500" cy="602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循环群的子群是否为循环群？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是循环群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的任一子群，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H={e}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显然是循环群，下设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H≠{e}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设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的最小正幂，则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-m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于是由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是子群，易得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，从而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另一方面，任取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，令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s=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mq+r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0≤r&lt;m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则由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s-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mq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但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中最小正幂的元素，而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0≤r&lt;m,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r=0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。从而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=a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mq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=(a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de-DE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de-DE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于是有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de-DE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。所以，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H=&lt;a</a:t>
            </a:r>
            <a:r>
              <a:rPr lang="de-DE" altLang="zh-CN" sz="24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de-DE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。故</a:t>
            </a:r>
            <a:r>
              <a:rPr lang="de-DE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de-DE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也是循环群。 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所以</a:t>
            </a:r>
            <a:r>
              <a:rPr lang="zh-CN" altLang="de-DE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循环群的子群仍然为循环群。</a:t>
            </a:r>
          </a:p>
        </p:txBody>
      </p:sp>
    </p:spTree>
    <p:extLst>
      <p:ext uri="{BB962C8B-B14F-4D97-AF65-F5344CB8AC3E}">
        <p14:creationId xmlns:p14="http://schemas.microsoft.com/office/powerpoint/2010/main" val="1523247944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4BE708-32AA-42BD-A0F2-AD6457DB7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981075"/>
            <a:ext cx="9043756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阶循环群时，对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的每个正因数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有且仅有一个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阶子群，此时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所有的循环子群为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{e}, H</a:t>
            </a:r>
            <a:r>
              <a:rPr lang="de-DE" altLang="zh-CN" sz="2800" b="1" baseline="-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=&lt;a</a:t>
            </a:r>
            <a:r>
              <a:rPr lang="de-DE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n/k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（其中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k|n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）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阶循环群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个循环子群，分别是：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&lt;e&gt;,2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de-DE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&gt;,3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de-DE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&gt;,4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de-DE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&gt;,6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</a:t>
            </a:r>
            <a:r>
              <a:rPr lang="de-DE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&gt;,12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</a:t>
            </a:r>
            <a:r>
              <a:rPr lang="de-DE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de-DE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。试证明之。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阶循环群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|a|=n,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n=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kq,n,q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为正整数，则根据例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|=n/(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n,q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=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kq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/q=k,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,&lt;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&lt;a&gt;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阶子群。 </a:t>
            </a:r>
          </a:p>
        </p:txBody>
      </p:sp>
    </p:spTree>
    <p:extLst>
      <p:ext uri="{BB962C8B-B14F-4D97-AF65-F5344CB8AC3E}">
        <p14:creationId xmlns:p14="http://schemas.microsoft.com/office/powerpoint/2010/main" val="114531811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97A006-86F9-4E07-A5B8-51D197056778}"/>
              </a:ext>
            </a:extLst>
          </p:cNvPr>
          <p:cNvSpPr txBox="1">
            <a:spLocks noChangeArrowheads="1"/>
          </p:cNvSpPr>
          <p:nvPr/>
        </p:nvSpPr>
        <p:spPr>
          <a:xfrm>
            <a:off x="1837604" y="922886"/>
            <a:ext cx="8362112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    又设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亦是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&lt;a&gt;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的一个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阶子群，则可设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H=&lt;a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则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|=k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从而有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|=n/(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n,m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=k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，即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n=k(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则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=k(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n,m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，从而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q=(n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m),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q|m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。于是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,a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故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&gt;|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&gt;|=k,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所以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&lt;a</a:t>
            </a:r>
            <a:r>
              <a:rPr lang="en-US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&gt;=&lt;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因此，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阶循环群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&lt;a&gt;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的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阶子群是惟一的，即为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en-US" altLang="zh-CN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，亦即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&lt;</a:t>
            </a:r>
            <a:r>
              <a:rPr lang="de-DE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a</a:t>
            </a:r>
            <a:r>
              <a:rPr lang="de-DE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n/k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。 所以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&lt;a&gt;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所有的循环子群为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{e},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以及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b="1" baseline="-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=&lt;</a:t>
            </a:r>
            <a:r>
              <a:rPr lang="de-DE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de-DE" altLang="zh-CN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n/k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（其中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k|n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 </a:t>
            </a:r>
          </a:p>
        </p:txBody>
      </p:sp>
    </p:spTree>
    <p:extLst>
      <p:ext uri="{BB962C8B-B14F-4D97-AF65-F5344CB8AC3E}">
        <p14:creationId xmlns:p14="http://schemas.microsoft.com/office/powerpoint/2010/main" val="1780038606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D5BAE93-B947-4E04-A7EE-E5DF09573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2404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设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是循环群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 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(1)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设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是循环群，则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的子群仍是循环群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(2)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若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是无限循环群，则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的子群除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以外都是无限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循环群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(3)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若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阶循环群，则对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的每个正因子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恰好含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有一个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阶子群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</a:br>
            <a:b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</a:b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1130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44034">
            <a:extLst>
              <a:ext uri="{FF2B5EF4-FFF2-40B4-BE49-F238E27FC236}">
                <a16:creationId xmlns:a16="http://schemas.microsoft.com/office/drawing/2014/main" id="{0FF5A1C8-1300-4335-B2C6-D947C15BFE6A}"/>
              </a:ext>
            </a:extLst>
          </p:cNvPr>
          <p:cNvSpPr txBox="1">
            <a:spLocks noChangeArrowheads="1"/>
          </p:cNvSpPr>
          <p:nvPr/>
        </p:nvSpPr>
        <p:spPr>
          <a:xfrm>
            <a:off x="1857375" y="981075"/>
            <a:ext cx="8048625" cy="57610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置换群</a:t>
            </a:r>
          </a:p>
          <a:p>
            <a:pPr>
              <a:lnSpc>
                <a:spcPct val="110000"/>
              </a:lnSpc>
              <a:buFontTx/>
              <a:buNone/>
            </a:pPr>
            <a:endParaRPr lang="zh-CN" altLang="en-US" sz="2400" b="1" dirty="0">
              <a:solidFill>
                <a:srgbClr val="0000CC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变换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0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0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满射、单射、双射变换</a:t>
            </a:r>
            <a:endParaRPr lang="zh-CN" altLang="en-US" sz="2400" b="1" dirty="0">
              <a:solidFill>
                <a:schemeClr val="accent2"/>
              </a:solidFill>
              <a:latin typeface="Comic Sans MS" panose="030F0702030302020204" pitchFamily="66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	</a:t>
            </a:r>
            <a:r>
              <a:rPr lang="zh-CN" altLang="en-US" sz="20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变换群</a:t>
            </a:r>
            <a:r>
              <a:rPr lang="en-US" altLang="zh-CN" sz="2000" b="1" dirty="0">
                <a:latin typeface="Comic Sans MS" panose="030F0702030302020204" pitchFamily="66" charset="0"/>
                <a:ea typeface="黑体" panose="02010609060101010101" pitchFamily="49" charset="-122"/>
                <a:sym typeface="Wingdings" panose="05000000000000000000" pitchFamily="2" charset="2"/>
              </a:rPr>
              <a:t>(Transformation Group)</a:t>
            </a:r>
            <a:endParaRPr lang="en-US" altLang="zh-CN" sz="2400" b="1" dirty="0">
              <a:latin typeface="Comic Sans MS" panose="030F0702030302020204" pitchFamily="66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10000"/>
              </a:lnSpc>
              <a:buFontTx/>
              <a:buNone/>
            </a:pPr>
            <a:endParaRPr lang="zh-CN" altLang="en-US" sz="2400" b="1" dirty="0">
              <a:solidFill>
                <a:schemeClr val="accent2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4AAC9E1-0894-4D63-8805-15907A73C8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9687" y="4334854"/>
          <a:ext cx="41036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65617" imgH="457517" progId="">
                  <p:embed/>
                </p:oleObj>
              </mc:Choice>
              <mc:Fallback>
                <p:oleObj r:id="rId4" imgW="1765617" imgH="457517" progId="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4AAC9E1-0894-4D63-8805-15907A73C8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7" y="4334854"/>
                        <a:ext cx="41036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021261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5E0AC00-1F9C-4A8F-8F55-B1C379AD4892}"/>
              </a:ext>
            </a:extLst>
          </p:cNvPr>
          <p:cNvSpPr txBox="1">
            <a:spLocks/>
          </p:cNvSpPr>
          <p:nvPr/>
        </p:nvSpPr>
        <p:spPr>
          <a:xfrm>
            <a:off x="7971802" y="6151221"/>
            <a:ext cx="2133600" cy="476250"/>
          </a:xfrm>
          <a:prstGeom prst="rect">
            <a:avLst/>
          </a:prstGeom>
          <a:noFill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61E954B0-2375-45D8-8076-8BE992DBF243}" type="slidenum">
              <a:rPr lang="en-US" altLang="zh-CN" sz="1400" smtClean="0"/>
              <a:pPr/>
              <a:t>29</a:t>
            </a:fld>
            <a:endParaRPr lang="en-US" altLang="zh-CN" sz="140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EE4677C-6F5F-4049-BD6B-A066A974FC62}"/>
              </a:ext>
            </a:extLst>
          </p:cNvPr>
          <p:cNvSpPr txBox="1">
            <a:spLocks noChangeArrowheads="1"/>
          </p:cNvSpPr>
          <p:nvPr/>
        </p:nvSpPr>
        <p:spPr>
          <a:xfrm>
            <a:off x="1886915" y="1102971"/>
            <a:ext cx="8229600" cy="1368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= {1, 2, 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上的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</a:rPr>
              <a:t>任何</a:t>
            </a:r>
            <a:r>
              <a:rPr lang="zh-CN" altLang="en-US" dirty="0">
                <a:latin typeface="Times New Roman" panose="02020603050405020304" pitchFamily="18" charset="0"/>
              </a:rPr>
              <a:t>双射函数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σ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上的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元置换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例如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={1, 2, 3, 4, 5}, </a:t>
            </a:r>
            <a:r>
              <a:rPr lang="zh-CN" altLang="en-US" dirty="0">
                <a:latin typeface="Times New Roman" panose="02020603050405020304" pitchFamily="18" charset="0"/>
              </a:rPr>
              <a:t>下述为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元置换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FC170B11-E2A8-4330-9137-B0FDDDF67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890" y="4492284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CA569209-0BF3-4777-837B-B597C05618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3540" y="2542834"/>
          <a:ext cx="5661025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40000" imgH="469900" progId="Equation.3">
                  <p:embed/>
                </p:oleObj>
              </mc:Choice>
              <mc:Fallback>
                <p:oleObj name="公式" r:id="rId4" imgW="2540000" imgH="469900" progId="Equation.3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CA569209-0BF3-4777-837B-B597C05618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540" y="2542834"/>
                        <a:ext cx="5661025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2387349E-F96B-40F2-AE30-20310F637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6250" y="4989513"/>
          <a:ext cx="75914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54200" imgH="457200" progId="Equation.3">
                  <p:embed/>
                </p:oleObj>
              </mc:Choice>
              <mc:Fallback>
                <p:oleObj name="公式" r:id="rId6" imgW="3454200" imgH="457200" progId="Equation.3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2387349E-F96B-40F2-AE30-20310F6374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4989513"/>
                        <a:ext cx="759142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2">
            <a:extLst>
              <a:ext uri="{FF2B5EF4-FFF2-40B4-BE49-F238E27FC236}">
                <a16:creationId xmlns:a16="http://schemas.microsoft.com/office/drawing/2014/main" id="{2106DF6C-F3D9-4FC2-A284-F7AA51EC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915" y="3873159"/>
            <a:ext cx="7991475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i="1" dirty="0" err="1">
                <a:solidFill>
                  <a:srgbClr val="000000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σ,τ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元置换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Dotum" panose="020B0600000101010101" pitchFamily="34" charset="-127"/>
              </a:rPr>
              <a:t>σ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Dotum" panose="020B0600000101010101" pitchFamily="34" charset="-127"/>
              </a:rPr>
              <a:t>τ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的复合</a:t>
            </a:r>
            <a:r>
              <a:rPr lang="en-US" altLang="zh-CN" b="1" i="1" dirty="0">
                <a:solidFill>
                  <a:srgbClr val="000000"/>
                </a:solidFill>
                <a:ea typeface="Batang" panose="02030600000101010101" pitchFamily="18" charset="-127"/>
              </a:rPr>
              <a:t>σ</a:t>
            </a:r>
            <a:r>
              <a:rPr lang="en-US" altLang="zh-CN" b="1" i="1" dirty="0">
                <a:solidFill>
                  <a:srgbClr val="000000"/>
                </a:solidFill>
                <a:ea typeface="Dotum" panose="020B0600000101010101" pitchFamily="34" charset="-127"/>
              </a:rPr>
              <a:t> </a:t>
            </a:r>
            <a:r>
              <a:rPr lang="en-US" altLang="zh-CN" b="1" dirty="0"/>
              <a:t>∘</a:t>
            </a:r>
            <a:r>
              <a:rPr lang="en-US" altLang="zh-CN" b="1" i="1" dirty="0">
                <a:solidFill>
                  <a:srgbClr val="000000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τ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也是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元置换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称为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  <a:sym typeface="Symbol" panose="05050102010706020507" pitchFamily="18" charset="2"/>
              </a:rPr>
              <a:t>σ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  <a:sym typeface="Symbol" panose="05050102010706020507" pitchFamily="18" charset="2"/>
              </a:rPr>
              <a:t>τ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的乘积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记作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Batang" panose="02030600000101010101" pitchFamily="18" charset="-127"/>
                <a:sym typeface="Symbol" panose="05050102010706020507" pitchFamily="18" charset="2"/>
              </a:rPr>
              <a:t>σ τ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  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例如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5806385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45057">
            <a:extLst>
              <a:ext uri="{FF2B5EF4-FFF2-40B4-BE49-F238E27FC236}">
                <a16:creationId xmlns:a16="http://schemas.microsoft.com/office/drawing/2014/main" id="{7EB99446-6710-4937-AB11-D679757498D0}"/>
              </a:ext>
            </a:extLst>
          </p:cNvPr>
          <p:cNvSpPr txBox="1">
            <a:spLocks noChangeArrowheads="1"/>
          </p:cNvSpPr>
          <p:nvPr/>
        </p:nvSpPr>
        <p:spPr>
          <a:xfrm>
            <a:off x="1857375" y="981075"/>
            <a:ext cx="7697788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示例 </a:t>
            </a:r>
            <a:r>
              <a:rPr lang="en-US" altLang="zh-CN" sz="240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sz="2400">
                <a:solidFill>
                  <a:srgbClr val="0000CC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置换及置换乘法</a:t>
            </a:r>
          </a:p>
          <a:p>
            <a:pPr>
              <a:buFontTx/>
              <a:buNone/>
            </a:pP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集合</a:t>
            </a:r>
            <a:r>
              <a:rPr lang="en-US" altLang="zh-CN" sz="2000">
                <a:latin typeface="Comic Sans MS" panose="030F0702030302020204" pitchFamily="66" charset="0"/>
                <a:ea typeface="黑体" panose="02010609060101010101" pitchFamily="49" charset="-122"/>
              </a:rPr>
              <a:t>X={1</a:t>
            </a: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2000">
                <a:latin typeface="Comic Sans MS" panose="030F0702030302020204" pitchFamily="66" charset="0"/>
                <a:ea typeface="黑体" panose="02010609060101010101" pitchFamily="49" charset="-122"/>
              </a:rPr>
              <a:t>2</a:t>
            </a: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，</a:t>
            </a:r>
            <a:r>
              <a:rPr lang="en-US" altLang="zh-CN" sz="2000">
                <a:latin typeface="Comic Sans MS" panose="030F0702030302020204" pitchFamily="66" charset="0"/>
                <a:ea typeface="黑体" panose="02010609060101010101" pitchFamily="49" charset="-122"/>
              </a:rPr>
              <a:t>3, 4}</a:t>
            </a: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，共有</a:t>
            </a:r>
            <a:r>
              <a:rPr lang="en-US" altLang="zh-CN" sz="2000">
                <a:latin typeface="Comic Sans MS" panose="030F0702030302020204" pitchFamily="66" charset="0"/>
                <a:ea typeface="黑体" panose="02010609060101010101" pitchFamily="49" charset="-122"/>
              </a:rPr>
              <a:t>4</a:t>
            </a: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！</a:t>
            </a:r>
            <a:r>
              <a:rPr lang="en-US" altLang="zh-CN" sz="2000">
                <a:latin typeface="Comic Sans MS" panose="030F0702030302020204" pitchFamily="66" charset="0"/>
                <a:ea typeface="黑体" panose="02010609060101010101" pitchFamily="49" charset="-122"/>
              </a:rPr>
              <a:t>=24</a:t>
            </a: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个</a:t>
            </a:r>
            <a:r>
              <a:rPr lang="en-US" altLang="zh-CN" sz="2000">
                <a:latin typeface="Comic Sans MS" panose="030F0702030302020204" pitchFamily="66" charset="0"/>
                <a:ea typeface="黑体" panose="02010609060101010101" pitchFamily="49" charset="-122"/>
              </a:rPr>
              <a:t>4</a:t>
            </a:r>
            <a:r>
              <a:rPr lang="zh-CN" altLang="en-US" sz="2000">
                <a:latin typeface="Comic Sans MS" panose="030F0702030302020204" pitchFamily="66" charset="0"/>
                <a:ea typeface="黑体" panose="02010609060101010101" pitchFamily="49" charset="-122"/>
              </a:rPr>
              <a:t>次置换</a:t>
            </a:r>
            <a:endParaRPr lang="zh-CN" altLang="en-US" sz="2000" dirty="0"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pic>
        <p:nvPicPr>
          <p:cNvPr id="5" name="图片 45059">
            <a:extLst>
              <a:ext uri="{FF2B5EF4-FFF2-40B4-BE49-F238E27FC236}">
                <a16:creationId xmlns:a16="http://schemas.microsoft.com/office/drawing/2014/main" id="{84888B16-6F18-40FA-A326-67BAAD32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37" y="2181404"/>
            <a:ext cx="431958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45061">
            <a:extLst>
              <a:ext uri="{FF2B5EF4-FFF2-40B4-BE49-F238E27FC236}">
                <a16:creationId xmlns:a16="http://schemas.microsoft.com/office/drawing/2014/main" id="{FF7E70CD-D5DF-4889-9168-42C28F1CA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121" y="3676472"/>
            <a:ext cx="3744912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3380103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838ADDD-B391-4ACD-80E4-8FA23657D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738188"/>
            <a:ext cx="9016688" cy="345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= {1, 2, 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，对于任何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上的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元置换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存在着一个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有限序列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≥1, (</a:t>
            </a:r>
            <a:r>
              <a:rPr lang="zh-CN" altLang="en-US" dirty="0">
                <a:latin typeface="Times New Roman" panose="02020603050405020304" pitchFamily="18" charset="0"/>
              </a:rPr>
              <a:t>可以取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=1) 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aseline="-25000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且保持</a:t>
            </a:r>
            <a:r>
              <a:rPr lang="en-US" altLang="zh-CN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中的其他元素不变，则称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阶轮换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，记作（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latin typeface="Times New Roman" panose="02020603050405020304" pitchFamily="18" charset="0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k=2</a:t>
            </a:r>
            <a:r>
              <a:rPr lang="zh-CN" altLang="en-US" dirty="0">
                <a:latin typeface="Times New Roman" panose="02020603050405020304" pitchFamily="18" charset="0"/>
              </a:rPr>
              <a:t>，则称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baseline="-25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= (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…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它是从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 中</a:t>
            </a:r>
            <a:r>
              <a:rPr lang="zh-CN" altLang="en-US" dirty="0">
                <a:latin typeface="Times New Roman" panose="02020603050405020304" pitchFamily="18" charset="0"/>
              </a:rPr>
              <a:t>分解出的第一个轮换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将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zh-CN" altLang="en-US" dirty="0">
                <a:latin typeface="Times New Roman" panose="02020603050405020304" pitchFamily="18" charset="0"/>
              </a:rPr>
              <a:t>写作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,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其中， 作用于</a:t>
            </a:r>
            <a:r>
              <a:rPr lang="en-US" altLang="zh-CN" i="1" dirty="0">
                <a:latin typeface="Times New Roman" panose="02020603050405020304" pitchFamily="18" charset="0"/>
              </a:rPr>
              <a:t>S-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latin typeface="Times New Roman" panose="02020603050405020304" pitchFamily="18" charset="0"/>
              </a:rPr>
              <a:t>),</a:t>
            </a:r>
            <a:r>
              <a:rPr lang="zh-CN" altLang="en-US" i="1" dirty="0">
                <a:latin typeface="Times New Roman" panose="02020603050405020304" pitchFamily="18" charset="0"/>
              </a:rPr>
              <a:t>中的元素。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继续对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 </a:t>
            </a:r>
            <a:r>
              <a:rPr lang="zh-CN" altLang="en-US" dirty="0">
                <a:latin typeface="Times New Roman" panose="02020603050405020304" pitchFamily="18" charset="0"/>
              </a:rPr>
              <a:t>分解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en-US" altLang="zh-CN" i="1" dirty="0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只有</a:t>
            </a:r>
            <a:r>
              <a:rPr lang="en-US" altLang="zh-CN" i="1" dirty="0">
                <a:latin typeface="Times New Roman" panose="02020603050405020304" pitchFamily="18" charset="0"/>
              </a:rPr>
              <a:t>n  </a:t>
            </a:r>
            <a:r>
              <a:rPr lang="zh-CN" altLang="en-US" dirty="0">
                <a:latin typeface="Times New Roman" panose="02020603050405020304" pitchFamily="18" charset="0"/>
              </a:rPr>
              <a:t>个元素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经过有限步得到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的轮换分解式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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…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858610987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8" name="文本占位符 46081">
            <a:extLst>
              <a:ext uri="{FF2B5EF4-FFF2-40B4-BE49-F238E27FC236}">
                <a16:creationId xmlns:a16="http://schemas.microsoft.com/office/drawing/2014/main" id="{E4E658D9-2005-488B-B3D2-58799AF15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566" y="964406"/>
            <a:ext cx="7697788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lvl="1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●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lvl="3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lvl="4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►"/>
              <a:defRPr sz="200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黑体" panose="02010609060101010101" pitchFamily="49" charset="-122"/>
                <a:cs typeface="+mn-cs"/>
              </a:rPr>
              <a:t>示例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mic Sans MS" panose="030F0702030302020204" pitchFamily="66" charset="0"/>
                <a:ea typeface="黑体" panose="02010609060101010101" pitchFamily="49" charset="-122"/>
                <a:cs typeface="+mn-cs"/>
              </a:rPr>
              <a:t>轮换</a:t>
            </a:r>
          </a:p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黑体" panose="02010609060101010101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黑体" panose="02010609060101010101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黑体" panose="02010609060101010101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黑体" panose="02010609060101010101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omic Sans MS" panose="030F0702030302020204" pitchFamily="66" charset="0"/>
              <a:ea typeface="黑体" panose="02010609060101010101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P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 =(1432), P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2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 =(13)(24), P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 =(12)(34), P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P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/>
                <a:cs typeface="+mn-cs"/>
              </a:rPr>
              <a:t>=(1)(24)(3)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/>
                <a:cs typeface="+mn-cs"/>
              </a:rPr>
              <a:t>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/>
              <a:cs typeface="+mn-cs"/>
            </a:endParaRPr>
          </a:p>
        </p:txBody>
      </p:sp>
      <p:graphicFrame>
        <p:nvGraphicFramePr>
          <p:cNvPr id="9" name="对象 46084">
            <a:extLst>
              <a:ext uri="{FF2B5EF4-FFF2-40B4-BE49-F238E27FC236}">
                <a16:creationId xmlns:a16="http://schemas.microsoft.com/office/drawing/2014/main" id="{6F80AB01-A874-4C82-BB3A-355EFC3AC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341" y="1866106"/>
          <a:ext cx="5229225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354" imgH="533486" progId="Equation.DSMT4">
                  <p:embed/>
                </p:oleObj>
              </mc:Choice>
              <mc:Fallback>
                <p:oleObj name="Equation" r:id="rId6" imgW="2450354" imgH="533486" progId="Equation.DSMT4">
                  <p:embed/>
                  <p:pic>
                    <p:nvPicPr>
                      <p:cNvPr id="9" name="对象 46084">
                        <a:extLst>
                          <a:ext uri="{FF2B5EF4-FFF2-40B4-BE49-F238E27FC236}">
                            <a16:creationId xmlns:a16="http://schemas.microsoft.com/office/drawing/2014/main" id="{6F80AB01-A874-4C82-BB3A-355EFC3AC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341" y="1866106"/>
                        <a:ext cx="5229225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46085">
            <a:extLst>
              <a:ext uri="{FF2B5EF4-FFF2-40B4-BE49-F238E27FC236}">
                <a16:creationId xmlns:a16="http://schemas.microsoft.com/office/drawing/2014/main" id="{B7477566-C680-4EC4-81AC-0C9179893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04" y="3483769"/>
            <a:ext cx="431958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46086">
            <a:extLst>
              <a:ext uri="{FF2B5EF4-FFF2-40B4-BE49-F238E27FC236}">
                <a16:creationId xmlns:a16="http://schemas.microsoft.com/office/drawing/2014/main" id="{0E2BF95D-7D9F-4AA9-9C95-8F09B3D80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054" y="3253581"/>
            <a:ext cx="17446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003374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E4C5992-ED4B-4F53-890B-BEB8E18B3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468" y="984628"/>
            <a:ext cx="316464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1" kern="0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{1, 2, … , 8},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      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5328051-446B-4EB9-B6D4-7011B07B34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0305" y="1563866"/>
          <a:ext cx="3689350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52600" imgH="952500" progId="Equation.3">
                  <p:embed/>
                </p:oleObj>
              </mc:Choice>
              <mc:Fallback>
                <p:oleObj name="公式" r:id="rId4" imgW="1752600" imgH="952500" progId="Equation.3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5328051-446B-4EB9-B6D4-7011B07B3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0305" y="1563866"/>
                        <a:ext cx="3689350" cy="200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>
            <a:extLst>
              <a:ext uri="{FF2B5EF4-FFF2-40B4-BE49-F238E27FC236}">
                <a16:creationId xmlns:a16="http://schemas.microsoft.com/office/drawing/2014/main" id="{697B2A6D-60BC-42C4-8C7A-7BECF1358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905" y="3968929"/>
            <a:ext cx="7920038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 轮换分解式为：</a:t>
            </a:r>
          </a:p>
          <a:p>
            <a:pPr marL="0" marR="0" lvl="0" indent="0" defTabSz="9144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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(1 5 2 3 6) (4) (7 8) = (1 5 2 3 6) (7 8)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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(1 8 3 4 2) (5 6 7)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25124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D6028C7-6D1D-4D5C-9A53-B920D850F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292404"/>
            <a:ext cx="8229600" cy="216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轮换分解式的特征</a:t>
            </a:r>
          </a:p>
          <a:p>
            <a:pPr fontAlgn="base"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轮换的不交性</a:t>
            </a:r>
          </a:p>
          <a:p>
            <a:pPr fontAlgn="base"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分解的惟一性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若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…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的两个轮换表示式，则有</a:t>
            </a:r>
            <a:b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   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{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} = {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…,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} 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FDFED02-E2E7-44AD-82FC-67F79A58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905" y="4180723"/>
            <a:ext cx="7920038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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(1 5 2 3 6) (4) (7 8) = (1 5 2 3 6) (7 8)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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(1 8 3 4 2) (5 6 7)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933770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21751</TotalTime>
  <Words>3977</Words>
  <Application>Microsoft Office PowerPoint</Application>
  <PresentationFormat>宽屏</PresentationFormat>
  <Paragraphs>303</Paragraphs>
  <Slides>34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52" baseType="lpstr">
      <vt:lpstr>Batang</vt:lpstr>
      <vt:lpstr>Dotum</vt:lpstr>
      <vt:lpstr>等线</vt:lpstr>
      <vt:lpstr>等线 Light</vt:lpstr>
      <vt:lpstr>黑体</vt:lpstr>
      <vt:lpstr>KaiTi</vt:lpstr>
      <vt:lpstr>宋体</vt:lpstr>
      <vt:lpstr>Microsoft YaHei Light</vt:lpstr>
      <vt:lpstr>Arial</vt:lpstr>
      <vt:lpstr>Arial Black</vt:lpstr>
      <vt:lpstr>Comic Sans MS</vt:lpstr>
      <vt:lpstr>Lucida Handwriting</vt:lpstr>
      <vt:lpstr>Segoe UI Semibold</vt:lpstr>
      <vt:lpstr>Times New Roman</vt:lpstr>
      <vt:lpstr>Wingdings</vt:lpstr>
      <vt:lpstr>Office 主题​​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148</cp:revision>
  <dcterms:created xsi:type="dcterms:W3CDTF">2021-11-05T13:12:46Z</dcterms:created>
  <dcterms:modified xsi:type="dcterms:W3CDTF">2026-01-09T12:57:23Z</dcterms:modified>
</cp:coreProperties>
</file>