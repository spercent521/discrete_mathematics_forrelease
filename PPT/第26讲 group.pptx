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45" r:id="rId2"/>
    <p:sldId id="1585" r:id="rId3"/>
    <p:sldId id="1588" r:id="rId4"/>
    <p:sldId id="1603" r:id="rId5"/>
    <p:sldId id="1612" r:id="rId6"/>
    <p:sldId id="2389" r:id="rId7"/>
    <p:sldId id="2390" r:id="rId8"/>
    <p:sldId id="1622" r:id="rId9"/>
    <p:sldId id="1670" r:id="rId10"/>
    <p:sldId id="1676" r:id="rId11"/>
    <p:sldId id="2392" r:id="rId12"/>
    <p:sldId id="1682" r:id="rId13"/>
    <p:sldId id="1683" r:id="rId14"/>
    <p:sldId id="1684" r:id="rId15"/>
    <p:sldId id="1688" r:id="rId16"/>
    <p:sldId id="1686" r:id="rId17"/>
    <p:sldId id="1677" r:id="rId18"/>
    <p:sldId id="1681" r:id="rId19"/>
    <p:sldId id="1678" r:id="rId20"/>
    <p:sldId id="2393" r:id="rId21"/>
    <p:sldId id="1743" r:id="rId22"/>
    <p:sldId id="1745" r:id="rId23"/>
    <p:sldId id="1680" r:id="rId24"/>
    <p:sldId id="1746" r:id="rId25"/>
    <p:sldId id="2391" r:id="rId26"/>
    <p:sldId id="1689" r:id="rId27"/>
    <p:sldId id="1728" r:id="rId28"/>
    <p:sldId id="1729" r:id="rId29"/>
    <p:sldId id="1730" r:id="rId30"/>
    <p:sldId id="1731" r:id="rId31"/>
    <p:sldId id="174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228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512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756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865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982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92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07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77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393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393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996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851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541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768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178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4757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302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69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768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1415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687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793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1705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03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7599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8741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529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9221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046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35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2026/1/3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5061101" y="2644170"/>
            <a:ext cx="206979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群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G</a:t>
            </a:r>
            <a:r>
              <a:rPr lang="en-US" altLang="zh-CN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roup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029582487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A9EDA36-EA6A-4694-B45C-52A66D20031D}"/>
              </a:ext>
            </a:extLst>
          </p:cNvPr>
          <p:cNvSpPr txBox="1">
            <a:spLocks noChangeArrowheads="1"/>
          </p:cNvSpPr>
          <p:nvPr/>
        </p:nvSpPr>
        <p:spPr>
          <a:xfrm>
            <a:off x="2171700" y="1292404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如果一个群只包含有限个元素，则称为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有限群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，否则称为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无限群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若有限群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的元素个数为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，则称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的阶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，并记为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|G|=n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无限群的阶称为无限。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4435436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0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019BB2-FA9A-4AC6-8F51-391613814C3B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47519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群中元素的阶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的一个元素，使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=e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的最小正整数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，称为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元素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Order,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周期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）。若这样的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不存在，则称元素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的阶为无限，常记为∞。元素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的阶常用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|a|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根据定义，易知，单位元的阶为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，其它元素的阶均大于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。在群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&lt;Z;+&gt;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，其它元素的阶皆是无限的。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R-{0}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对普通乘法构成群中，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，其它元素的阶均为无限。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6898478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D70D266-C690-4967-ADE7-CCBF3BC08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981075"/>
            <a:ext cx="784860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中的一个阶为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的元素，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是一个整数，则有</a:t>
            </a: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=e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当且仅当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r|k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ahoma" panose="020B0604030504040204" pitchFamily="34" charset="0"/>
              </a:rPr>
              <a:t>-1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的阶相同；</a:t>
            </a:r>
          </a:p>
          <a:p>
            <a:pPr marL="0" indent="0" algn="just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3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小于或等于群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；*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中元素的个数。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4DB204-3D79-402B-9780-51D44FE36EEF}"/>
              </a:ext>
            </a:extLst>
          </p:cNvPr>
          <p:cNvSpPr txBox="1"/>
          <p:nvPr/>
        </p:nvSpPr>
        <p:spPr>
          <a:xfrm>
            <a:off x="1179739" y="4216356"/>
            <a:ext cx="9607731" cy="53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有限群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&lt;G, 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&gt;</a:t>
            </a:r>
            <a:r>
              <a:rPr lang="zh-CN" altLang="en-US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中每个元素的阶都有限，且不大于群</a:t>
            </a:r>
            <a:r>
              <a:rPr lang="en-US" altLang="zh-CN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G</a:t>
            </a:r>
            <a:r>
              <a:rPr lang="zh-CN" altLang="en-US" sz="2800" b="1" dirty="0">
                <a:latin typeface="Comic Sans MS" panose="030F0702030302020204" pitchFamily="66" charset="0"/>
                <a:ea typeface="黑体" panose="02010609060101010101" pitchFamily="49" charset="-122"/>
              </a:rPr>
              <a:t>的阶。</a:t>
            </a:r>
          </a:p>
        </p:txBody>
      </p:sp>
    </p:spTree>
    <p:extLst>
      <p:ext uri="{BB962C8B-B14F-4D97-AF65-F5344CB8AC3E}">
        <p14:creationId xmlns:p14="http://schemas.microsoft.com/office/powerpoint/2010/main" val="38857209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4D78581-8C43-41D1-B4F3-D3B6B8F6701B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81075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的非空子集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如果对于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的运算也成一个群，则称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(Subgroup)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|G|&gt;1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的两个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平凡子群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 </a:t>
            </a:r>
            <a:b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{e}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（常记为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b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另一个是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自身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其它子群，则被称为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非平凡子群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真子群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2551387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47397CE-DDE3-4239-BADC-AAD877B45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694" y="972686"/>
            <a:ext cx="7920037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如果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的子群，则容易得到如下结论：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）若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的单位元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的单位元；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6869762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B3E44E8-1F86-4A76-96D2-A20044D2E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867863"/>
            <a:ext cx="7777163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的非空子集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的运算构成一个子群的 充要条件是：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，都有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0" indent="0">
              <a:lnSpc>
                <a:spcPct val="11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）对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，都有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的非空子集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的运算构成一个子群的 充要条件是：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lang="en-US" altLang="zh-CN" sz="2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的非空有限子集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的运算构成一个子群的充要条件是：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4) 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是有限群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的非空子集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 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的运算构成一个子群的充要条件是：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</a:pP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en-US" sz="2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3D7E14-EE53-41B2-BFB6-4AD204A2DF41}"/>
              </a:ext>
            </a:extLst>
          </p:cNvPr>
          <p:cNvSpPr txBox="1"/>
          <p:nvPr/>
        </p:nvSpPr>
        <p:spPr>
          <a:xfrm>
            <a:off x="9620795" y="2994801"/>
            <a:ext cx="2318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定理中的条件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a,b∈H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，显然也可以改写成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18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="1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b∈H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7525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7FF317-5DC2-476A-8B98-86AF29AC7B22}"/>
              </a:ext>
            </a:extLst>
          </p:cNvPr>
          <p:cNvSpPr txBox="1">
            <a:spLocks noChangeArrowheads="1"/>
          </p:cNvSpPr>
          <p:nvPr/>
        </p:nvSpPr>
        <p:spPr>
          <a:xfrm>
            <a:off x="1657077" y="1721304"/>
            <a:ext cx="9299983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的一个子群，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a∈G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，则称群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的子集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Ha={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ha|h∈H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关于子群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右陪集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(Right 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Coset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而称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aH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={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ah|h∈H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的关于子群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的一个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左陪集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(Left 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Coset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称为右陪集（左陪集）的代表元。 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显然，当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Abel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群时，子群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的右陪集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与左陪集</a:t>
            </a:r>
            <a:r>
              <a:rPr lang="en-US" altLang="zh-CN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相等。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48B9C1-822E-4A85-B575-7BAFCEFE5F63}"/>
              </a:ext>
            </a:extLst>
          </p:cNvPr>
          <p:cNvSpPr txBox="1"/>
          <p:nvPr/>
        </p:nvSpPr>
        <p:spPr>
          <a:xfrm>
            <a:off x="1657077" y="870963"/>
            <a:ext cx="6143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陪集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60828653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7C1C40D-DA1B-4D05-8D98-66FE6C2FC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166019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是群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的子群，则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He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 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Ha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a∈H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 = H</a:t>
            </a:r>
          </a:p>
          <a:p>
            <a:pPr marL="0" indent="0" eaLnBrk="1" hangingPunct="1"/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i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57826"/>
      </p:ext>
    </p:extLst>
  </p:cSld>
  <p:clrMapOvr>
    <a:masterClrMapping/>
  </p:clrMapOvr>
  <p:transition spd="slow" advTm="0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7C1C40D-DA1B-4D05-8D98-66FE6C2FC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166019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是群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的子群，则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He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 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Ha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a∈H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 = H</a:t>
            </a:r>
          </a:p>
          <a:p>
            <a:pPr marL="0" indent="0" eaLnBrk="1" hangingPunct="1"/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i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61664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7298008-0D68-4C0A-B38A-8F604549B95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986756" y="1023938"/>
            <a:ext cx="8218488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是群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A1D6A39-FD4F-4263-B067-A70403D92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108" y="2052186"/>
            <a:ext cx="8208962" cy="439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先证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h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∧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再证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Hb.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充分性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r>
              <a:rPr lang="zh-CN" altLang="en-US" dirty="0">
                <a:latin typeface="Times New Roman" panose="02020603050405020304" pitchFamily="18" charset="0"/>
              </a:rPr>
              <a:t>，由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可知必有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必要性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可知存在 </a:t>
            </a:r>
            <a:r>
              <a:rPr lang="en-US" altLang="zh-CN" i="1" dirty="0" err="1">
                <a:latin typeface="Times New Roman" panose="02020603050405020304" pitchFamily="18" charset="0"/>
              </a:rPr>
              <a:t>h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任取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zh-CN" altLang="en-US" dirty="0">
                <a:latin typeface="Times New Roman" panose="02020603050405020304" pitchFamily="18" charset="0"/>
              </a:rPr>
              <a:t>，则有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i="1" dirty="0">
                <a:latin typeface="Times New Roman" panose="02020603050405020304" pitchFamily="18" charset="0"/>
              </a:rPr>
              <a:t>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dirty="0">
                <a:latin typeface="Times New Roman" panose="02020603050405020304" pitchFamily="18" charset="0"/>
              </a:rPr>
              <a:t>) = (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Hb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从而得到 </a:t>
            </a:r>
            <a:r>
              <a:rPr lang="en-US" altLang="zh-CN" i="1" dirty="0">
                <a:latin typeface="Times New Roman" panose="02020603050405020304" pitchFamily="18" charset="0"/>
              </a:rPr>
              <a:t>Ha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反之，任取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r>
              <a:rPr lang="zh-CN" altLang="en-US" dirty="0">
                <a:latin typeface="Times New Roman" panose="02020603050405020304" pitchFamily="18" charset="0"/>
              </a:rPr>
              <a:t>，则有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       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 = (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从而得到</a:t>
            </a:r>
            <a:r>
              <a:rPr lang="en-US" altLang="zh-CN" i="1" dirty="0">
                <a:latin typeface="Times New Roman" panose="02020603050405020304" pitchFamily="18" charset="0"/>
              </a:rPr>
              <a:t>Hb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综合上述，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r>
              <a:rPr lang="zh-CN" altLang="en-US" dirty="0">
                <a:latin typeface="Times New Roman" panose="02020603050405020304" pitchFamily="18" charset="0"/>
              </a:rPr>
              <a:t>得证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54539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3FC627C-5715-4404-9CEE-D97F462E0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4606" y="932591"/>
            <a:ext cx="8291513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是群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的子群，在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上定义二元关系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, 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上的等价关系，且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1C1D222-3241-4B64-BC6A-49F69224D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7853" y="2554702"/>
            <a:ext cx="8353425" cy="374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  先证明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上的等价关系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自反性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aa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对称性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，则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i="1" dirty="0">
                <a:latin typeface="Times New Roman" panose="02020603050405020304" pitchFamily="18" charset="0"/>
              </a:rPr>
              <a:t>ba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传递性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，则 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∧&lt;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∧</a:t>
            </a:r>
            <a:r>
              <a:rPr lang="en-US" altLang="zh-CN" i="1" dirty="0">
                <a:latin typeface="Times New Roman" panose="02020603050405020304" pitchFamily="18" charset="0"/>
              </a:rPr>
              <a:t>bc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ac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下面证明：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∈[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Hb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Ha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br>
              <a:rPr lang="en-US" altLang="zh-CN" dirty="0">
                <a:latin typeface="Times New Roman" panose="02020603050405020304" pitchFamily="18" charset="0"/>
              </a:rPr>
            </a:b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77474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0E1ADF45-A294-4AEA-B306-26D9F9A96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040716"/>
            <a:ext cx="8064500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  (1)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Klein</a:t>
            </a:r>
            <a:r>
              <a:rPr lang="zh-CN" altLang="en-US" dirty="0">
                <a:latin typeface="Times New Roman" panose="02020603050405020304" pitchFamily="18" charset="0"/>
              </a:rPr>
              <a:t>四元群，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所有的右陪集是： 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</a:rPr>
              <a:t>He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Ha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Hb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 err="1">
                <a:latin typeface="Times New Roman" panose="02020603050405020304" pitchFamily="18" charset="0"/>
              </a:rPr>
              <a:t>Hc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不同的右陪集只有两个，即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}.</a:t>
            </a:r>
            <a:br>
              <a:rPr lang="en-US" altLang="zh-CN" dirty="0">
                <a:latin typeface="Times New Roman" panose="02020603050405020304" pitchFamily="18" charset="0"/>
              </a:rPr>
            </a:br>
            <a:br>
              <a:rPr lang="en-US" altLang="zh-CN" dirty="0"/>
            </a:br>
            <a:endParaRPr lang="en-US" altLang="zh-CN" dirty="0"/>
          </a:p>
        </p:txBody>
      </p:sp>
      <p:graphicFrame>
        <p:nvGraphicFramePr>
          <p:cNvPr id="5" name="Group 77">
            <a:extLst>
              <a:ext uri="{FF2B5EF4-FFF2-40B4-BE49-F238E27FC236}">
                <a16:creationId xmlns:a16="http://schemas.microsoft.com/office/drawing/2014/main" id="{F4314D3F-F2B1-4630-A0F7-09886FCC40C6}"/>
              </a:ext>
            </a:extLst>
          </p:cNvPr>
          <p:cNvGraphicFramePr>
            <a:graphicFrameLocks noGrp="1"/>
          </p:cNvGraphicFramePr>
          <p:nvPr/>
        </p:nvGraphicFramePr>
        <p:xfrm>
          <a:off x="8641301" y="3320409"/>
          <a:ext cx="2519363" cy="2160588"/>
        </p:xfrm>
        <a:graphic>
          <a:graphicData uri="http://schemas.openxmlformats.org/drawingml/2006/table">
            <a:tbl>
              <a:tblPr/>
              <a:tblGrid>
                <a:gridCol w="574675">
                  <a:extLst>
                    <a:ext uri="{9D8B030D-6E8A-4147-A177-3AD203B41FA5}">
                      <a16:colId xmlns:a16="http://schemas.microsoft.com/office/drawing/2014/main" val="282754579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3875587174"/>
                    </a:ext>
                  </a:extLst>
                </a:gridCol>
              </a:tblGrid>
              <a:tr h="573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e    a    b    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83948"/>
                  </a:ext>
                </a:extLst>
              </a:tr>
              <a:tr h="1587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e    a    b    c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a    e    c    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b    c    e    a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c    b    a    e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98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23133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706C851-66AE-49E0-ABEE-D298F3968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090" y="873125"/>
            <a:ext cx="8229600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={1,2,3}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上的双射函数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</a:p>
          <a:p>
            <a:pPr>
              <a:spcBef>
                <a:spcPct val="3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={&lt;1,1&gt;,&lt;2,2&gt;,&lt;3,3&gt;}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={&lt;1,2&gt;,&lt;2,1&gt;,&lt;3,3&gt;}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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={&lt;1,3&gt;,&lt;2,2&gt;,&lt;3,1&gt;}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={&lt;1,1&gt;,&lt;2,3&gt;,&lt;3,2&gt;}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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={&lt;1,2&gt;,&lt;2,3&gt;,&lt;3,1&gt;}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={&lt;1,3&gt;,&lt;2,1&gt;,&lt;3,2&gt;}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关于函数的复合运算构成群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考虑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的子群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做出 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的全体右陪集如下：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 ,  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     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结论：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.  </a:t>
            </a:r>
          </a:p>
        </p:txBody>
      </p:sp>
    </p:spTree>
    <p:extLst>
      <p:ext uri="{BB962C8B-B14F-4D97-AF65-F5344CB8AC3E}">
        <p14:creationId xmlns:p14="http://schemas.microsoft.com/office/powerpoint/2010/main" val="1478858183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FF2CB0-0092-4AC6-96AE-DC90A8AA8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358" y="692239"/>
            <a:ext cx="9108885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的子群，则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Ha∩Hb≠Ф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Ha=Hb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若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Ha∩Hb≠Ф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Ha∩Hb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于是，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c=h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*a=h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*b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从而，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对于任意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，存在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使得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*a=h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*h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</a:t>
            </a:r>
            <a:r>
              <a:rPr lang="zh-CN" altLang="es-ES_tradnl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s-ES_tradnl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同理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lang="zh-CN" altLang="es-ES_tradnl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所以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Ha=Hb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04AF29-0A60-4C1E-BA00-6AA8152E136F}"/>
              </a:ext>
            </a:extLst>
          </p:cNvPr>
          <p:cNvSpPr/>
          <p:nvPr/>
        </p:nvSpPr>
        <p:spPr>
          <a:xfrm>
            <a:off x="751015" y="6242705"/>
            <a:ext cx="104331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上述定理表明，对任二右陪集来说，要么无公共元素，要么相等。</a:t>
            </a:r>
          </a:p>
        </p:txBody>
      </p:sp>
    </p:spTree>
    <p:extLst>
      <p:ext uri="{BB962C8B-B14F-4D97-AF65-F5344CB8AC3E}">
        <p14:creationId xmlns:p14="http://schemas.microsoft.com/office/powerpoint/2010/main" val="147581954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37BB80-AE76-478D-A7C3-41D539180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1090132"/>
            <a:ext cx="7704137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于是，群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的每个元素必属于一个右陪集，且不能属于不同的右陪集，因此，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的全体不同的右陪集构成群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的一个划分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即：</a:t>
            </a:r>
          </a:p>
          <a:p>
            <a:pPr marL="0" indent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G=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Ha∪Hb∪Hc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∪…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其中，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Hc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中的所有不同的右陪集，上述等式称为群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右陪集分解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，而称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,…}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右陪集代表系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上述划分也称为群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关于子群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右商集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，记作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(G/H)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。相应地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左商集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记作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(G/H)</a:t>
            </a:r>
            <a:r>
              <a:rPr lang="en-US" altLang="zh-CN" sz="2400" b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264141587"/>
      </p:ext>
    </p:extLst>
  </p:cSld>
  <p:clrMapOvr>
    <a:masterClrMapping/>
  </p:clrMapOvr>
  <p:transition spd="slow" advTm="0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DE52D0-4C84-4A36-B21C-D92EACC13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067841"/>
            <a:ext cx="9793506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需要注意到，子群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本身是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的一个右陪集（</a:t>
            </a:r>
            <a:r>
              <a:rPr lang="en-US" altLang="zh-CN" sz="2400" b="1" dirty="0">
                <a:latin typeface="Times New Roman" panose="02020603050405020304" pitchFamily="18" charset="0"/>
              </a:rPr>
              <a:t>He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</a:rPr>
              <a:t>但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的任何其它右陪集不是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的子群，因为其皆没有单位元。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G</a:t>
            </a:r>
            <a:r>
              <a:rPr lang="zh-CN" altLang="en-US" sz="2400" b="1" dirty="0">
                <a:latin typeface="Times New Roman" panose="02020603050405020304" pitchFamily="18" charset="0"/>
              </a:rPr>
              <a:t>是一个有限群时，求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的右陪集可用如下方法：首先，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本身是一个右陪集；之后，如果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真子群，则任取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而求得</a:t>
            </a:r>
            <a:r>
              <a:rPr lang="en-US" altLang="zh-CN" sz="2400" b="1" dirty="0">
                <a:latin typeface="Times New Roman" panose="02020603050405020304" pitchFamily="18" charset="0"/>
              </a:rPr>
              <a:t>Ha</a:t>
            </a:r>
            <a:r>
              <a:rPr lang="zh-CN" altLang="en-US" sz="2400" b="1" dirty="0">
                <a:latin typeface="Times New Roman" panose="02020603050405020304" pitchFamily="18" charset="0"/>
              </a:rPr>
              <a:t>；继续任取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H∪Ha</a:t>
            </a:r>
            <a:r>
              <a:rPr lang="zh-CN" altLang="en-US" sz="2400" b="1" dirty="0">
                <a:latin typeface="Times New Roman" panose="02020603050405020304" pitchFamily="18" charset="0"/>
              </a:rPr>
              <a:t>而求得</a:t>
            </a:r>
            <a:r>
              <a:rPr lang="en-US" altLang="zh-CN" sz="2400" b="1" dirty="0">
                <a:latin typeface="Times New Roman" panose="02020603050405020304" pitchFamily="18" charset="0"/>
              </a:rPr>
              <a:t>Hb</a:t>
            </a:r>
            <a:r>
              <a:rPr lang="zh-CN" altLang="en-US" sz="2400" b="1" dirty="0">
                <a:latin typeface="Times New Roman" panose="02020603050405020304" pitchFamily="18" charset="0"/>
              </a:rPr>
              <a:t>；依次类推，因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有限，最后必被穷尽，从而</a:t>
            </a:r>
          </a:p>
          <a:p>
            <a:pPr marL="0" indent="0"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    G=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H∪Ha∪Hb</a:t>
            </a:r>
            <a:r>
              <a:rPr lang="en-US" altLang="zh-CN" sz="2400" b="1" dirty="0">
                <a:latin typeface="Times New Roman" panose="02020603050405020304" pitchFamily="18" charset="0"/>
              </a:rPr>
              <a:t>∪…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880406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609802-DE7E-4B47-A4B0-9E920A3F9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942884"/>
            <a:ext cx="8728074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此外，群</a:t>
            </a: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</a:rPr>
              <a:t>关于子群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的左商集与右商集之间有什么关系？令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(G/H)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→(G/H)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aH</a:t>
            </a:r>
            <a:r>
              <a:rPr lang="en-US" altLang="zh-CN" sz="2400" b="1" dirty="0">
                <a:latin typeface="Times New Roman" panose="02020603050405020304" pitchFamily="18" charset="0"/>
              </a:rPr>
              <a:t>)=Ha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6B39898-6DA6-4B37-820D-716FC74775A5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2306547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从而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f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为群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关于子群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H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的左商集与右商集之间的双射关系。 这表明群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关于子群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H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的左商集与右商集的基数相同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这还表明，有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的左陪集分解：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G=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aH∪bH∪cH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∪…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可以立即得到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G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的右陪集分解：</a:t>
            </a:r>
            <a:endParaRPr kumimoji="1" lang="zh-CN" altLang="es-ES_tradnl" sz="2400" b="1" dirty="0">
              <a:latin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1" lang="es-ES_tradnl" altLang="zh-CN" sz="2400" b="1" dirty="0">
                <a:latin typeface="Times New Roman" panose="02020603050405020304" pitchFamily="18" charset="0"/>
              </a:rPr>
              <a:t>    G=Ha</a:t>
            </a:r>
            <a:r>
              <a:rPr kumimoji="1" lang="es-ES_tradnl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s-ES_tradnl" altLang="zh-CN" sz="2400" b="1" dirty="0">
                <a:latin typeface="Times New Roman" panose="02020603050405020304" pitchFamily="18" charset="0"/>
              </a:rPr>
              <a:t>∪Hb</a:t>
            </a:r>
            <a:r>
              <a:rPr kumimoji="1" lang="es-ES_tradnl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s-ES_tradnl" altLang="zh-CN" sz="2400" b="1" dirty="0">
                <a:latin typeface="Times New Roman" panose="02020603050405020304" pitchFamily="18" charset="0"/>
              </a:rPr>
              <a:t>∪Hc</a:t>
            </a:r>
            <a:r>
              <a:rPr kumimoji="1" lang="es-ES_tradnl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kumimoji="1" lang="es-ES_tradnl" altLang="zh-CN" sz="2400" b="1" dirty="0">
                <a:latin typeface="Times New Roman" panose="02020603050405020304" pitchFamily="18" charset="0"/>
              </a:rPr>
              <a:t>∪…</a:t>
            </a:r>
            <a:r>
              <a:rPr kumimoji="1" lang="zh-CN" altLang="es-ES_tradnl" sz="2400" b="1" dirty="0">
                <a:latin typeface="Times New Roman" panose="02020603050405020304" pitchFamily="18" charset="0"/>
              </a:rPr>
              <a:t>。 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183707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706C851-66AE-49E0-ABEE-D298F3968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090" y="873125"/>
            <a:ext cx="8229600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={1,2,3}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上的双射函数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</a:p>
          <a:p>
            <a:pPr>
              <a:spcBef>
                <a:spcPct val="3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={&lt;1,1&gt;,&lt;2,2&gt;,&lt;3,3&gt;}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={&lt;1,2&gt;,&lt;2,1&gt;,&lt;3,3&gt;}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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={&lt;1,3&gt;,&lt;2,2&gt;,&lt;3,1&gt;}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={&lt;1,1&gt;,&lt;2,3&gt;,&lt;3,2&gt;}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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={&lt;1,2&gt;,&lt;2,3&gt;,&lt;3,1&gt;}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={&lt;1,3&gt;,&lt;2,1&gt;,&lt;3,2&gt;}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关于函数的复合运算构成群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考虑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的子群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做出 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的全体右陪集如下：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 ,  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       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结论：  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.  </a:t>
            </a:r>
          </a:p>
        </p:txBody>
      </p:sp>
    </p:spTree>
    <p:extLst>
      <p:ext uri="{BB962C8B-B14F-4D97-AF65-F5344CB8AC3E}">
        <p14:creationId xmlns:p14="http://schemas.microsoft.com/office/powerpoint/2010/main" val="597352239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706C851-66AE-49E0-ABEE-D298F3968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738188"/>
            <a:ext cx="9765311" cy="298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zh-CN" sz="2000" i="1" dirty="0">
                <a:latin typeface="Times New Roman" panose="02020603050405020304" pitchFamily="18" charset="0"/>
              </a:rPr>
              <a:t>  Hf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}=</a:t>
            </a:r>
            <a:r>
              <a:rPr lang="en-US" altLang="zh-CN" sz="2000" i="1" dirty="0">
                <a:latin typeface="Times New Roman" panose="02020603050405020304" pitchFamily="18" charset="0"/>
              </a:rPr>
              <a:t>H                        Hf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Hf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}       </a:t>
            </a: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</a:t>
            </a:r>
            <a:r>
              <a:rPr lang="en-US" altLang="zh-CN" sz="2000" i="1" dirty="0">
                <a:latin typeface="Times New Roman" panose="02020603050405020304" pitchFamily="18" charset="0"/>
              </a:rPr>
              <a:t>H                       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</a:t>
            </a:r>
            <a:r>
              <a:rPr lang="en-US" altLang="zh-CN" sz="2000" i="1" dirty="0">
                <a:latin typeface="Times New Roman" panose="02020603050405020304" pitchFamily="18" charset="0"/>
              </a:rPr>
              <a:t>H                   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} </a:t>
            </a:r>
            <a:endParaRPr lang="en-US" altLang="zh-CN" sz="2000" i="1" dirty="0">
              <a:latin typeface="Times New Roman" panose="02020603050405020304" pitchFamily="18" charset="0"/>
            </a:endParaRPr>
          </a:p>
          <a:p>
            <a:r>
              <a:rPr lang="en-US" altLang="zh-CN" sz="2000" i="1" dirty="0">
                <a:latin typeface="Times New Roman" panose="02020603050405020304" pitchFamily="18" charset="0"/>
              </a:rPr>
              <a:t>   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</a:t>
            </a:r>
            <a:r>
              <a:rPr lang="en-US" altLang="zh-CN" sz="2000" i="1" dirty="0">
                <a:latin typeface="Times New Roman" panose="02020603050405020304" pitchFamily="18" charset="0"/>
              </a:rPr>
              <a:t>H                     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} </a:t>
            </a:r>
            <a:endParaRPr lang="en-US" altLang="zh-CN" sz="2000" i="1" dirty="0">
              <a:latin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30000"/>
              </a:spcBef>
            </a:pPr>
            <a:r>
              <a:rPr lang="en-US" altLang="zh-CN" sz="2000" i="1" dirty="0">
                <a:latin typeface="Times New Roman" panose="02020603050405020304" pitchFamily="18" charset="0"/>
              </a:rPr>
              <a:t>Hf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  <a:r>
              <a:rPr lang="en-US" altLang="zh-CN" sz="2000" i="1" dirty="0">
                <a:latin typeface="Times New Roman" panose="02020603050405020304" pitchFamily="18" charset="0"/>
              </a:rPr>
              <a:t>                 Hf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}      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Hf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}         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}     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}       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}         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000" i="1" dirty="0"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}={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60000"/>
              </a:spcBef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spcBef>
                <a:spcPct val="60000"/>
              </a:spcBef>
            </a:pP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i="1" dirty="0">
                <a:latin typeface="Times New Roman" panose="02020603050405020304" pitchFamily="18" charset="0"/>
              </a:rPr>
              <a:t>         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          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>
              <a:spcBef>
                <a:spcPct val="60000"/>
              </a:spcBef>
            </a:pP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i="1" dirty="0">
                <a:latin typeface="Times New Roman" panose="02020603050405020304" pitchFamily="18" charset="0"/>
              </a:rPr>
              <a:t>         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>
              <a:spcBef>
                <a:spcPct val="60000"/>
              </a:spcBef>
            </a:pP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Hf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i="1" dirty="0">
                <a:latin typeface="Times New Roman" panose="02020603050405020304" pitchFamily="18" charset="0"/>
              </a:rPr>
              <a:t>        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spcBef>
                <a:spcPct val="60000"/>
              </a:spcBef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169904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C90DAB-D8FA-454A-A88A-97033EBD8E03}"/>
              </a:ext>
            </a:extLst>
          </p:cNvPr>
          <p:cNvSpPr txBox="1">
            <a:spLocks noChangeArrowheads="1"/>
          </p:cNvSpPr>
          <p:nvPr/>
        </p:nvSpPr>
        <p:spPr>
          <a:xfrm>
            <a:off x="1712913" y="981075"/>
            <a:ext cx="7848600" cy="5327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关于子群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的左商集（右商集）的基数称为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指数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(Index)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，记作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[G:H]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00000"/>
              </a:lnSpc>
            </a:pPr>
            <a:endParaRPr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定理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为有限群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的一子群，则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|G|=|H|[G:H]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本定理称为</a:t>
            </a:r>
            <a:r>
              <a:rPr lang="zh-CN" altLang="en-US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拉格朗日定理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 </a:t>
            </a:r>
          </a:p>
        </p:txBody>
      </p:sp>
    </p:spTree>
    <p:extLst>
      <p:ext uri="{BB962C8B-B14F-4D97-AF65-F5344CB8AC3E}">
        <p14:creationId xmlns:p14="http://schemas.microsoft.com/office/powerpoint/2010/main" val="20144133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957EF4-F81F-4FB6-812C-C0B109D50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54949"/>
            <a:ext cx="8594770" cy="532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有限群中每个元素的阶都整除群的阶。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设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是有限群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阶元素，则</a:t>
            </a:r>
          </a:p>
          <a:p>
            <a:pPr marL="0" indent="0" algn="just">
              <a:lnSpc>
                <a:spcPct val="10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H={e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a,…,a</a:t>
            </a:r>
            <a:r>
              <a:rPr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r-1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阶子群，故由拉格朗日定理知，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s-ES_tradnl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|G|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5A091D61-9923-47BF-BF14-185E37753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3694770"/>
            <a:ext cx="82804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 </a:t>
            </a:r>
            <a:r>
              <a:rPr lang="zh-CN" altLang="en-US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奇数阶群所有元素之积等于单位元。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6051D08-7BCE-475F-8AD8-E28762CAB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4640274"/>
            <a:ext cx="82804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 </a:t>
            </a:r>
            <a:r>
              <a:rPr lang="zh-CN" altLang="en-US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偶数阶群必含</a:t>
            </a:r>
            <a:r>
              <a:rPr lang="en-US" altLang="zh-CN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Comic Sans MS" panose="030F0702030302020204" pitchFamily="66" charset="0"/>
                <a:ea typeface="黑体" panose="02010609060101010101" pitchFamily="49" charset="-122"/>
              </a:rPr>
              <a:t>阶元。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855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219D340-ECAB-47BB-999D-72BF23584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825" y="1052513"/>
            <a:ext cx="8362950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阶群，则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的因子，且有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4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任取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的阶是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的因子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是由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生成的子群，若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 =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，则 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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 =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,…,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r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的阶与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相等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的因子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从而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F8BE473-C1D8-40B9-8434-8BB218665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869" y="3586177"/>
            <a:ext cx="8424862" cy="237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Aft>
                <a:spcPct val="0"/>
              </a:spcAft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对阶为素数的群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，必存在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使得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证  设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| =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是素数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≥2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中必存在非单位元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fontAlgn="base"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≠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，则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的子群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根据拉格朗日定理，</a:t>
            </a:r>
          </a:p>
          <a:p>
            <a:pPr fontAlgn="base"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的阶是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的因子，即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的阶是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显然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的阶不是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</a:p>
          <a:p>
            <a:pPr fontAlgn="base"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这就推出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&gt;.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7717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91B0AB6-15DA-46EB-9972-BB9A3DED9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1086069"/>
            <a:ext cx="82804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命题</a:t>
            </a:r>
            <a:r>
              <a:rPr lang="zh-CN" altLang="en-US" dirty="0">
                <a:latin typeface="Times New Roman" panose="02020603050405020304" pitchFamily="18" charset="0"/>
              </a:rPr>
              <a:t>：如果群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只含 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阶和 </a:t>
            </a:r>
            <a:r>
              <a:rPr lang="en-US" altLang="zh-CN" dirty="0">
                <a:latin typeface="Times New Roman" panose="02020603050405020304" pitchFamily="18" charset="0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</a:rPr>
              <a:t>阶元，则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Abel</a:t>
            </a:r>
            <a:r>
              <a:rPr lang="zh-CN" altLang="en-US" dirty="0">
                <a:latin typeface="Times New Roman" panose="02020603050405020304" pitchFamily="18" charset="0"/>
              </a:rPr>
              <a:t>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00B133C-35A3-4A62-A593-43AB3009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751" y="1967204"/>
            <a:ext cx="82804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证明 </a:t>
            </a:r>
            <a:r>
              <a:rPr lang="en-US" altLang="zh-CN" dirty="0">
                <a:latin typeface="Times New Roman" panose="02020603050405020304" pitchFamily="18" charset="0"/>
              </a:rPr>
              <a:t>6 </a:t>
            </a:r>
            <a:r>
              <a:rPr lang="zh-CN" altLang="en-US" dirty="0">
                <a:latin typeface="Times New Roman" panose="02020603050405020304" pitchFamily="18" charset="0"/>
              </a:rPr>
              <a:t>阶群中必含有 </a:t>
            </a: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阶元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D6824E95-6F2D-4DE4-873B-6389081EE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013" y="2656325"/>
            <a:ext cx="8207375" cy="269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4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 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6 </a:t>
            </a:r>
            <a:r>
              <a:rPr lang="zh-CN" altLang="en-US" dirty="0">
                <a:latin typeface="Times New Roman" panose="02020603050405020304" pitchFamily="18" charset="0"/>
              </a:rPr>
              <a:t>阶群，则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中元素只能是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阶、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阶、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阶或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阶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中含有</a:t>
            </a:r>
            <a:r>
              <a:rPr lang="en-US" altLang="zh-CN" dirty="0">
                <a:latin typeface="Times New Roman" panose="02020603050405020304" pitchFamily="18" charset="0"/>
              </a:rPr>
              <a:t>6 </a:t>
            </a:r>
            <a:r>
              <a:rPr lang="zh-CN" altLang="en-US" dirty="0">
                <a:latin typeface="Times New Roman" panose="02020603050405020304" pitchFamily="18" charset="0"/>
              </a:rPr>
              <a:t>阶元，设为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，则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阶元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中不含</a:t>
            </a:r>
            <a:r>
              <a:rPr lang="en-US" altLang="zh-CN" dirty="0">
                <a:latin typeface="Times New Roman" panose="02020603050405020304" pitchFamily="18" charset="0"/>
              </a:rPr>
              <a:t>6 </a:t>
            </a:r>
            <a:r>
              <a:rPr lang="zh-CN" altLang="en-US" dirty="0">
                <a:latin typeface="Times New Roman" panose="02020603050405020304" pitchFamily="18" charset="0"/>
              </a:rPr>
              <a:t>阶元，下面证明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中必含有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阶元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如若不然，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中只含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阶和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阶元，即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，有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，由命题知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Abel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取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阶元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，令  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ab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H 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的子群，但 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| = 4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| = 6</a:t>
            </a:r>
            <a:r>
              <a:rPr lang="zh-CN" altLang="en-US" dirty="0">
                <a:latin typeface="Times New Roman" panose="02020603050405020304" pitchFamily="18" charset="0"/>
              </a:rPr>
              <a:t>，与拉格朗日定理矛盾</a:t>
            </a:r>
            <a:r>
              <a:rPr lang="en-US" altLang="zh-CN" dirty="0">
                <a:latin typeface="Times New Roman" panose="02020603050405020304" pitchFamily="18" charset="0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83830141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55B4EF4-493F-4725-8609-26247494F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865" y="952501"/>
            <a:ext cx="82804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证明阶小于</a:t>
            </a:r>
            <a:r>
              <a:rPr lang="en-US" altLang="zh-CN" dirty="0">
                <a:latin typeface="Times New Roman" panose="02020603050405020304" pitchFamily="18" charset="0"/>
              </a:rPr>
              <a:t>6 </a:t>
            </a:r>
            <a:r>
              <a:rPr lang="zh-CN" altLang="en-US" dirty="0">
                <a:latin typeface="Times New Roman" panose="02020603050405020304" pitchFamily="18" charset="0"/>
              </a:rPr>
              <a:t>的群都是</a:t>
            </a:r>
            <a:r>
              <a:rPr lang="en-US" altLang="zh-CN" dirty="0">
                <a:latin typeface="Times New Roman" panose="02020603050405020304" pitchFamily="18" charset="0"/>
              </a:rPr>
              <a:t>Abel</a:t>
            </a:r>
            <a:r>
              <a:rPr lang="zh-CN" altLang="en-US" dirty="0">
                <a:latin typeface="Times New Roman" panose="02020603050405020304" pitchFamily="18" charset="0"/>
              </a:rPr>
              <a:t>群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BC46F2F0-10C8-4F04-9B4E-F4DB73161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2669" y="1909002"/>
            <a:ext cx="9195661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 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阶群是平凡的，显然是阿贝尔群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2, 3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都是素数，由推论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它们都是单元素生成的群，都是</a:t>
            </a:r>
            <a:r>
              <a:rPr lang="en-US" altLang="zh-CN" dirty="0">
                <a:latin typeface="Times New Roman" panose="02020603050405020304" pitchFamily="18" charset="0"/>
              </a:rPr>
              <a:t>Abel</a:t>
            </a:r>
            <a:r>
              <a:rPr lang="zh-CN" altLang="en-US" dirty="0">
                <a:latin typeface="Times New Roman" panose="02020603050405020304" pitchFamily="18" charset="0"/>
              </a:rPr>
              <a:t>群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阶群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中含有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阶元，比如说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，由上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述分析可知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Abel</a:t>
            </a:r>
            <a:r>
              <a:rPr lang="zh-CN" altLang="en-US" dirty="0">
                <a:latin typeface="Times New Roman" panose="02020603050405020304" pitchFamily="18" charset="0"/>
              </a:rPr>
              <a:t>群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中不含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阶元，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中只含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阶和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阶元，由命题可知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</a:t>
            </a:r>
            <a:r>
              <a:rPr lang="en-US" altLang="zh-CN" dirty="0">
                <a:latin typeface="Times New Roman" panose="02020603050405020304" pitchFamily="18" charset="0"/>
              </a:rPr>
              <a:t>Abel</a:t>
            </a:r>
            <a:r>
              <a:rPr lang="zh-CN" altLang="en-US" dirty="0">
                <a:latin typeface="Times New Roman" panose="02020603050405020304" pitchFamily="18" charset="0"/>
              </a:rPr>
              <a:t>群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6203425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6BCBFB-00CC-4A15-BDE5-181931F11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787406"/>
            <a:ext cx="7848600" cy="596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609600" indent="-609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5334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●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Font typeface="Arial" panose="020B0604020202020204" pitchFamily="34" charset="0"/>
              <a:buChar char="■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indent="-3810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Font typeface="Arial" panose="020B0604020202020204" pitchFamily="34" charset="0"/>
              <a:buChar char="►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正规子群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79873">
            <a:extLst>
              <a:ext uri="{FF2B5EF4-FFF2-40B4-BE49-F238E27FC236}">
                <a16:creationId xmlns:a16="http://schemas.microsoft.com/office/drawing/2014/main" id="{E0FFBEDE-CED1-41F4-8292-DF75D44F206C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729047"/>
            <a:ext cx="8523518" cy="56880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正规子群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Normal Subgroup):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的一个子群，如果对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中每个元素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=Na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aNa</a:t>
            </a:r>
            <a:r>
              <a:rPr lang="en-US" altLang="zh-CN" b="1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=N</a:t>
            </a: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则称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zh-CN" altLang="en-US" b="1" dirty="0">
                <a:solidFill>
                  <a:srgbClr val="ED7D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正规子群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或不变子群。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906297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76399" y="1455738"/>
            <a:ext cx="8765178" cy="433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A50021"/>
                </a:solidFill>
                <a:latin typeface="Times New Roman" panose="02020603050405020304" pitchFamily="18" charset="0"/>
              </a:rPr>
              <a:t>2 </a:t>
            </a:r>
            <a:r>
              <a:rPr kumimoji="1"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rPr>
              <a:t>正规子群的判定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的一个子群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的正规子群当且仅当对任意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，皆有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aha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H.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示例</a:t>
            </a:r>
            <a:endParaRPr lang="en-US" altLang="zh-CN" sz="24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;*&gt;,&lt;G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;*&gt;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&lt;G;*&gt;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之二正规子群，则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;*&gt;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亦是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&lt;G;*&gt;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之正规子群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都是群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的正规子群，则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的正规子群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08742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内容占位符 80897">
            <a:extLst>
              <a:ext uri="{FF2B5EF4-FFF2-40B4-BE49-F238E27FC236}">
                <a16:creationId xmlns:a16="http://schemas.microsoft.com/office/drawing/2014/main" id="{BECBA2E7-7D2C-4E8B-907F-6B5CF3C1AE50}"/>
              </a:ext>
            </a:extLst>
          </p:cNvPr>
          <p:cNvSpPr txBox="1">
            <a:spLocks noChangeArrowheads="1"/>
          </p:cNvSpPr>
          <p:nvPr/>
        </p:nvSpPr>
        <p:spPr>
          <a:xfrm>
            <a:off x="1879195" y="1584556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Tx/>
              <a:buNone/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 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商群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(Quotient group) 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&lt;G/N;*&gt;,*: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Na,Nb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N,Na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Nb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b|n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,n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N}=Nab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上满足封闭性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上满足结合律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存在单位元</a:t>
            </a:r>
          </a:p>
          <a:p>
            <a:pPr>
              <a:lnSpc>
                <a:spcPct val="125000"/>
              </a:lnSpc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的每一个元素存在逆元</a:t>
            </a:r>
          </a:p>
          <a:p>
            <a:pPr>
              <a:buFontTx/>
              <a:buNone/>
            </a:pPr>
            <a:endParaRPr lang="zh-CN" altLang="en-US" sz="4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621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Group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占位符 81921">
            <a:extLst>
              <a:ext uri="{FF2B5EF4-FFF2-40B4-BE49-F238E27FC236}">
                <a16:creationId xmlns:a16="http://schemas.microsoft.com/office/drawing/2014/main" id="{190D5248-3225-45E6-9CD7-3BD81159ECAE}"/>
              </a:ext>
            </a:extLst>
          </p:cNvPr>
          <p:cNvSpPr txBox="1">
            <a:spLocks noChangeArrowheads="1"/>
          </p:cNvSpPr>
          <p:nvPr/>
        </p:nvSpPr>
        <p:spPr>
          <a:xfrm>
            <a:off x="2347509" y="1051897"/>
            <a:ext cx="7697788" cy="7445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4 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群同态基本定理</a:t>
            </a:r>
          </a:p>
        </p:txBody>
      </p:sp>
      <p:grpSp>
        <p:nvGrpSpPr>
          <p:cNvPr id="7" name="组合 81922">
            <a:extLst>
              <a:ext uri="{FF2B5EF4-FFF2-40B4-BE49-F238E27FC236}">
                <a16:creationId xmlns:a16="http://schemas.microsoft.com/office/drawing/2014/main" id="{96FCC6F2-1FA2-41C7-98AB-B4E877098115}"/>
              </a:ext>
            </a:extLst>
          </p:cNvPr>
          <p:cNvGrpSpPr>
            <a:grpSpLocks/>
          </p:cNvGrpSpPr>
          <p:nvPr/>
        </p:nvGrpSpPr>
        <p:grpSpPr bwMode="auto">
          <a:xfrm>
            <a:off x="3226984" y="1731170"/>
            <a:ext cx="6062662" cy="3025775"/>
            <a:chOff x="0" y="0"/>
            <a:chExt cx="3525" cy="1906"/>
          </a:xfrm>
        </p:grpSpPr>
        <p:sp>
          <p:nvSpPr>
            <p:cNvPr id="8" name="矩形 81923">
              <a:extLst>
                <a:ext uri="{FF2B5EF4-FFF2-40B4-BE49-F238E27FC236}">
                  <a16:creationId xmlns:a16="http://schemas.microsoft.com/office/drawing/2014/main" id="{3276243E-E14A-4A6E-B9DC-A652B8647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" y="45"/>
              <a:ext cx="1179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9" name="矩形 81924">
              <a:extLst>
                <a:ext uri="{FF2B5EF4-FFF2-40B4-BE49-F238E27FC236}">
                  <a16:creationId xmlns:a16="http://schemas.microsoft.com/office/drawing/2014/main" id="{D127A696-596C-49E3-B60F-51F1E13DB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" y="45"/>
              <a:ext cx="1134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en-US" sz="2400" b="1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lang="en-US" altLang="zh-CN" sz="2400" b="1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81925">
              <a:extLst>
                <a:ext uri="{FF2B5EF4-FFF2-40B4-BE49-F238E27FC236}">
                  <a16:creationId xmlns:a16="http://schemas.microsoft.com/office/drawing/2014/main" id="{645403A8-A9E0-4BAE-9FB0-42E6CA8F4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1361"/>
              <a:ext cx="1406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400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G/Ker(φ)</a:t>
              </a:r>
            </a:p>
          </p:txBody>
        </p:sp>
        <p:sp>
          <p:nvSpPr>
            <p:cNvPr id="11" name="直接连接符 81926">
              <a:extLst>
                <a:ext uri="{FF2B5EF4-FFF2-40B4-BE49-F238E27FC236}">
                  <a16:creationId xmlns:a16="http://schemas.microsoft.com/office/drawing/2014/main" id="{0D7ED5F3-A8F1-46DC-95F8-C07144CC2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3" y="317"/>
              <a:ext cx="1088" cy="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直接连接符 81927">
              <a:extLst>
                <a:ext uri="{FF2B5EF4-FFF2-40B4-BE49-F238E27FC236}">
                  <a16:creationId xmlns:a16="http://schemas.microsoft.com/office/drawing/2014/main" id="{22BDE528-44EB-4579-9A7E-6F197130B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6" y="589"/>
              <a:ext cx="765" cy="77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直接连接符 81928">
              <a:extLst>
                <a:ext uri="{FF2B5EF4-FFF2-40B4-BE49-F238E27FC236}">
                  <a16:creationId xmlns:a16="http://schemas.microsoft.com/office/drawing/2014/main" id="{C139DCF5-1D14-474C-AD60-5BF8B129F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9" y="589"/>
              <a:ext cx="670" cy="7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81929">
              <a:extLst>
                <a:ext uri="{FF2B5EF4-FFF2-40B4-BE49-F238E27FC236}">
                  <a16:creationId xmlns:a16="http://schemas.microsoft.com/office/drawing/2014/main" id="{7EF5D02D-C039-4B9C-8122-C95334FDF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0"/>
              <a:ext cx="957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φ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满同态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" name="矩形 81930">
              <a:extLst>
                <a:ext uri="{FF2B5EF4-FFF2-40B4-BE49-F238E27FC236}">
                  <a16:creationId xmlns:a16="http://schemas.microsoft.com/office/drawing/2014/main" id="{8878DD32-1936-4302-BBC4-C3BB10E6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98"/>
              <a:ext cx="1484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φ</a:t>
              </a:r>
              <a:r>
                <a:rPr lang="en-US" altLang="zh-CN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ru-RU" altLang="en-US" b="1" baseline="-25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(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自然满同态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6" name="矩形 81931">
              <a:extLst>
                <a:ext uri="{FF2B5EF4-FFF2-40B4-BE49-F238E27FC236}">
                  <a16:creationId xmlns:a16="http://schemas.microsoft.com/office/drawing/2014/main" id="{3504FD00-2132-48C6-993E-936A7FD5D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6" y="952"/>
              <a:ext cx="957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 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同构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A318FEB2-9A17-424F-A4CA-33418D063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509" y="4899820"/>
            <a:ext cx="7510462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φ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得到的同态核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Ker(φ)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之正规子群</a:t>
            </a:r>
          </a:p>
          <a:p>
            <a:endParaRPr lang="en-US" altLang="zh-CN" sz="2000" b="1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G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 Ker(φ)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同态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&lt;G;*&gt;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与其每一个商群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&lt;G/N;*&gt;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同态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</a:p>
          <a:p>
            <a:endParaRPr lang="en-US" altLang="zh-CN" sz="2000" b="1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G/ Ker(φ)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G’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63700259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Quiz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5CAF76-78C5-46FD-B6FF-7C83947D6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076" y="1639539"/>
            <a:ext cx="9425563" cy="412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19614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16857</TotalTime>
  <Words>3611</Words>
  <Application>Microsoft Office PowerPoint</Application>
  <PresentationFormat>宽屏</PresentationFormat>
  <Paragraphs>266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等线</vt:lpstr>
      <vt:lpstr>等线 Light</vt:lpstr>
      <vt:lpstr>黑体</vt:lpstr>
      <vt:lpstr>KaiTi</vt:lpstr>
      <vt:lpstr>宋体</vt:lpstr>
      <vt:lpstr>Microsoft YaHei Light</vt:lpstr>
      <vt:lpstr>Arial</vt:lpstr>
      <vt:lpstr>Arial Black</vt:lpstr>
      <vt:lpstr>Comic Sans MS</vt:lpstr>
      <vt:lpstr>Lucida Handwriting</vt:lpstr>
      <vt:lpstr>Segoe UI Semibold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142</cp:revision>
  <dcterms:created xsi:type="dcterms:W3CDTF">2021-11-05T13:12:46Z</dcterms:created>
  <dcterms:modified xsi:type="dcterms:W3CDTF">2026-01-04T03:24:48Z</dcterms:modified>
</cp:coreProperties>
</file>