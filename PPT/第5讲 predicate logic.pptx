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9"/>
  </p:notesMasterIdLst>
  <p:sldIdLst>
    <p:sldId id="445" r:id="rId2"/>
    <p:sldId id="1135" r:id="rId3"/>
    <p:sldId id="635" r:id="rId4"/>
    <p:sldId id="256" r:id="rId5"/>
    <p:sldId id="257" r:id="rId6"/>
    <p:sldId id="264" r:id="rId7"/>
    <p:sldId id="265" r:id="rId8"/>
    <p:sldId id="266" r:id="rId9"/>
    <p:sldId id="267" r:id="rId10"/>
    <p:sldId id="272" r:id="rId11"/>
    <p:sldId id="643" r:id="rId12"/>
    <p:sldId id="485" r:id="rId13"/>
    <p:sldId id="522" r:id="rId14"/>
    <p:sldId id="524" r:id="rId15"/>
    <p:sldId id="488" r:id="rId16"/>
    <p:sldId id="486" r:id="rId17"/>
    <p:sldId id="487" r:id="rId18"/>
    <p:sldId id="492" r:id="rId19"/>
    <p:sldId id="489" r:id="rId20"/>
    <p:sldId id="490" r:id="rId21"/>
    <p:sldId id="491" r:id="rId22"/>
    <p:sldId id="493" r:id="rId23"/>
    <p:sldId id="1159" r:id="rId24"/>
    <p:sldId id="495" r:id="rId25"/>
    <p:sldId id="494" r:id="rId26"/>
    <p:sldId id="496" r:id="rId27"/>
    <p:sldId id="498" r:id="rId28"/>
    <p:sldId id="497" r:id="rId29"/>
    <p:sldId id="499" r:id="rId30"/>
    <p:sldId id="1136" r:id="rId31"/>
    <p:sldId id="1137" r:id="rId32"/>
    <p:sldId id="500" r:id="rId33"/>
    <p:sldId id="501" r:id="rId34"/>
    <p:sldId id="502" r:id="rId35"/>
    <p:sldId id="503" r:id="rId36"/>
    <p:sldId id="504" r:id="rId37"/>
    <p:sldId id="505" r:id="rId38"/>
    <p:sldId id="1122" r:id="rId39"/>
    <p:sldId id="1115" r:id="rId40"/>
    <p:sldId id="506" r:id="rId41"/>
    <p:sldId id="507" r:id="rId42"/>
    <p:sldId id="508" r:id="rId43"/>
    <p:sldId id="509" r:id="rId44"/>
    <p:sldId id="1211" r:id="rId45"/>
    <p:sldId id="510" r:id="rId46"/>
    <p:sldId id="1212" r:id="rId47"/>
    <p:sldId id="1111" r:id="rId48"/>
    <p:sldId id="1121" r:id="rId49"/>
    <p:sldId id="1138" r:id="rId50"/>
    <p:sldId id="1141" r:id="rId51"/>
    <p:sldId id="1142" r:id="rId52"/>
    <p:sldId id="1213" r:id="rId53"/>
    <p:sldId id="1144" r:id="rId54"/>
    <p:sldId id="1129" r:id="rId55"/>
    <p:sldId id="1215" r:id="rId56"/>
    <p:sldId id="1216" r:id="rId57"/>
    <p:sldId id="1217" r:id="rId58"/>
    <p:sldId id="1218" r:id="rId59"/>
    <p:sldId id="1152" r:id="rId60"/>
    <p:sldId id="1153" r:id="rId61"/>
    <p:sldId id="1154" r:id="rId62"/>
    <p:sldId id="1155" r:id="rId63"/>
    <p:sldId id="521" r:id="rId64"/>
    <p:sldId id="517" r:id="rId65"/>
    <p:sldId id="518" r:id="rId66"/>
    <p:sldId id="519" r:id="rId67"/>
    <p:sldId id="520" r:id="rId68"/>
  </p:sldIdLst>
  <p:sldSz cx="12192000" cy="6858000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0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858CD0-EFD1-4D27-A427-70167095FD10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D1D47A-F619-4A5B-A8DF-B8BE879F94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9767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>
            <a:extLst>
              <a:ext uri="{FF2B5EF4-FFF2-40B4-BE49-F238E27FC236}">
                <a16:creationId xmlns:a16="http://schemas.microsoft.com/office/drawing/2014/main" id="{2214FF63-7E78-4CEA-B78B-294BDB7C41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>
            <a:extLst>
              <a:ext uri="{FF2B5EF4-FFF2-40B4-BE49-F238E27FC236}">
                <a16:creationId xmlns:a16="http://schemas.microsoft.com/office/drawing/2014/main" id="{999858BC-515F-4514-A470-A99FA05D13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>
            <a:extLst>
              <a:ext uri="{FF2B5EF4-FFF2-40B4-BE49-F238E27FC236}">
                <a16:creationId xmlns:a16="http://schemas.microsoft.com/office/drawing/2014/main" id="{DB2CFB14-3F96-47B7-9206-1409F9E89C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222AA93-F3F5-44B4-89DC-39F3993E743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44798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6203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6711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8037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66950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59688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06535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24510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33826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18033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84824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88617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52443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26885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08626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71339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51509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77518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43683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85410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6604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88183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8445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06239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19636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9000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36104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36968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159789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839841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7841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73796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07049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54870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513926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134837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535101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976362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085922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051259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090673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103363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19796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364642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298688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708498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639080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030191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358564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410938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321703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110602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791722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792716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205651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536363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405853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00036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084163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710516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317702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56560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286598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123121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3695004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39732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1951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76E42D-8E1F-4161-92FC-798002BD6E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C38D7EA-6BDB-4E64-B964-80168CE379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B6C0B8-A32B-4878-B781-603CA3775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6034E1-D035-43F7-B64D-29398828E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5B4D6F-9FE4-4AD6-8337-0FE1B6580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3337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EB075D-15DC-42AC-93A2-6A06B06EC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34E679-C3AD-4C33-B06C-91BDD767E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EB38F1-C445-4800-90A5-8F3ED061B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01018E-22E1-4D4F-A56D-10C1E62E9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0D2562-0CCF-4227-85A9-AFD35B0EC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8779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5192B2-AC57-485E-9E3F-B7B8C9055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8D281-194B-468B-ADBA-76A4E23855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E9BCE0-002E-42ED-B7C2-261D43E96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BEF642-B6DE-4777-8064-A39FFF8F8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4A94A4-38F0-4C2B-ADFE-D02E2B1A0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768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DB952-D4D5-4F3B-830A-67B71D6EA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357EF1-6F7D-43F5-BE79-67D16A90BD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1181AE9-5B3A-45EC-8869-29C393E4F2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75487C-7666-44DE-80EE-2902D9B43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E3EDC2-3316-4B5C-A95A-0A39BECDF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53D2A1-3261-49CC-BA76-3E398676A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045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6F3126-81EA-4C17-9D21-7D9EFAC38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55D8D7-9261-44FB-96B7-5B9D93CC5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081393F-A933-46B1-B8AE-5B752A5236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46D282E-4854-4A45-9EBC-6D406339DD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44A79BF-2110-4A4A-A27C-3064D7DEA0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997EF3B-A447-4A59-B47E-60D3E1B9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1260F99-31D5-491C-8D88-3FBFBEFAC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708E84E-BD81-4EE1-BFDF-4680C8F04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0971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7F80B8-CAFF-4186-813A-E935D303A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0707CB1-D86D-4955-AA11-EC4336999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83060BF-8F34-4402-8824-20704BA5A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C20C4CC-E83E-4E13-AAC4-6236B53B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764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E7E5E81-960E-452B-BEEC-237A76587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A28A7DE-E2FD-4DCD-88D4-9461A95F7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D45A2C-4D06-4ADE-A257-8FD503959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7530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4F57E0-C81E-4CD1-AD98-8E486CB68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B00199-6F84-4A59-8899-E8B2E6DE5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4090C66-7379-460F-9033-E6814CA81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EF1194-1784-48F1-B41C-D7101B2E4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ECE248-CB85-4EB4-8EAB-B63C1C9FA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8F506F9-F269-4A99-9F79-36580B841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178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4A2D68-F164-431A-B045-FF32FD8F4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188AEBE-7DD1-4AB2-88CB-65DD42C062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5E8435-B02C-45D8-8560-2C62BF6819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36AF48E-D282-434B-B1B1-A60EEBEE8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2310E0-45D2-4D33-B87B-87A037DAA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73DB1FD-3803-4744-81A6-2E12760C5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5541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31C7E0-3A75-4623-9D79-2EC44EB9D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D79C279-1369-407F-963C-3FDABB3B3F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EAB553-602F-4D34-9454-6212EA2F8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12D560-2717-478A-957B-EFA01113A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F9566A-D4B7-4359-930C-6E605905A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887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80FD482-6518-4B73-B8B4-737A92FE8B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4189D8D-031B-4157-A964-232795122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51B225-C513-4598-8A7C-52A744ECB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343814-5EB6-47BE-BCA3-2B92BA015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AC6707-C37E-4D0E-B58E-FFC349469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44236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D73D5CAC-F429-4F2F-9F7B-6223C359040B}"/>
              </a:ext>
            </a:extLst>
          </p:cNvPr>
          <p:cNvSpPr txBox="1"/>
          <p:nvPr userDrawn="1"/>
        </p:nvSpPr>
        <p:spPr>
          <a:xfrm>
            <a:off x="76200" y="117475"/>
            <a:ext cx="1701800" cy="676275"/>
          </a:xfrm>
          <a:prstGeom prst="rect">
            <a:avLst/>
          </a:prstGeom>
          <a:noFill/>
        </p:spPr>
        <p:txBody>
          <a:bodyPr lIns="121900" tIns="60949" rIns="121900" bIns="60949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598" b="1" spc="-150" dirty="0">
                <a:solidFill>
                  <a:schemeClr val="accent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3598" b="1" spc="-150" dirty="0">
              <a:solidFill>
                <a:schemeClr val="accent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44DE135-33BF-4676-B43F-8AA62673A58B}"/>
              </a:ext>
            </a:extLst>
          </p:cNvPr>
          <p:cNvCxnSpPr/>
          <p:nvPr userDrawn="1"/>
        </p:nvCxnSpPr>
        <p:spPr>
          <a:xfrm>
            <a:off x="1562100" y="693738"/>
            <a:ext cx="10629900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9053564"/>
      </p:ext>
    </p:extLst>
  </p:cSld>
  <p:clrMapOvr>
    <a:masterClrMapping/>
  </p:clrMapOvr>
  <p:transition spd="slow" advTm="0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0F79C98-3199-4C9B-9161-434E02C13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1E81D8-ADFF-4204-A1B1-03575868F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05A6F5-C2B7-426F-8FB9-A73AD3EFA7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1A7D63-D7B8-4F0E-B9CF-2A3E3830BAA8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2A0E02-245B-4209-85B4-765107BCA0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B4894D-1E88-4F89-8FD8-4C353DC3EE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149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4">
            <a:extLst>
              <a:ext uri="{FF2B5EF4-FFF2-40B4-BE49-F238E27FC236}">
                <a16:creationId xmlns:a16="http://schemas.microsoft.com/office/drawing/2014/main" id="{13E189C7-8218-4052-85AE-E01EC1124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3073">
            <a:extLst>
              <a:ext uri="{FF2B5EF4-FFF2-40B4-BE49-F238E27FC236}">
                <a16:creationId xmlns:a16="http://schemas.microsoft.com/office/drawing/2014/main" id="{F7D2571E-1D87-457C-8CCC-C3C98F94D652}"/>
              </a:ext>
            </a:extLst>
          </p:cNvPr>
          <p:cNvSpPr>
            <a:spLocks noGrp="1"/>
          </p:cNvSpPr>
          <p:nvPr/>
        </p:nvSpPr>
        <p:spPr>
          <a:xfrm>
            <a:off x="2390775" y="3140075"/>
            <a:ext cx="7772400" cy="95091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5400" noProof="1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anose="02010609060101010101" charset="-122"/>
                <a:ea typeface="KaiTi" panose="02010609060101010101" charset="-122"/>
                <a:cs typeface="Times New Roman" panose="02020603050405020304" pitchFamily="2" charset="0"/>
              </a:rPr>
              <a:t>离散数学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400" noProof="1">
                <a:solidFill>
                  <a:srgbClr val="0066FF"/>
                </a:solidFill>
                <a:latin typeface="Arial Black" panose="020B0A04020102020204" charset="0"/>
                <a:ea typeface="+mn-ea"/>
                <a:cs typeface="Times New Roman" panose="02020603050405020304" pitchFamily="2" charset="0"/>
              </a:rPr>
              <a:t>Discrete Mathematics</a:t>
            </a:r>
          </a:p>
        </p:txBody>
      </p:sp>
      <p:sp>
        <p:nvSpPr>
          <p:cNvPr id="4100" name="矩形 3074">
            <a:extLst>
              <a:ext uri="{FF2B5EF4-FFF2-40B4-BE49-F238E27FC236}">
                <a16:creationId xmlns:a16="http://schemas.microsoft.com/office/drawing/2014/main" id="{AA238628-3C73-45C1-88BF-CA2DFF4F68C6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485900" y="4337050"/>
            <a:ext cx="9104313" cy="233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zh-CN" altLang="en-US" sz="2400">
              <a:solidFill>
                <a:srgbClr val="0066FF"/>
              </a:solidFill>
              <a:latin typeface="Segoe UI Semibold" panose="020B0702040204020203" pitchFamily="34" charset="0"/>
              <a:ea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zh-CN" altLang="en-US" sz="2400">
              <a:solidFill>
                <a:srgbClr val="0066FF"/>
              </a:solidFill>
              <a:latin typeface="Segoe UI Semibold" panose="020B0702040204020203" pitchFamily="34" charset="0"/>
              <a:ea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zh-CN" altLang="en-US" sz="2400" b="1">
                <a:solidFill>
                  <a:srgbClr val="A5002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计算机学院 </a:t>
            </a: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zh-CN" altLang="en-US" sz="2400" b="1">
                <a:solidFill>
                  <a:srgbClr val="A5002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吴亦奇  </a:t>
            </a:r>
            <a:r>
              <a:rPr lang="en-US" altLang="zh-CN" sz="2400">
                <a:solidFill>
                  <a:srgbClr val="A50021"/>
                </a:solidFill>
                <a:latin typeface="Segoe UI Semibold" panose="020B0702040204020203" pitchFamily="34" charset="0"/>
                <a:ea typeface="宋体" panose="02010600030101010101" pitchFamily="2" charset="-122"/>
              </a:rPr>
              <a:t>wuyq</a:t>
            </a:r>
            <a:r>
              <a:rPr lang="zh-CN" altLang="en-US" sz="2400">
                <a:solidFill>
                  <a:srgbClr val="A50021"/>
                </a:solidFill>
                <a:latin typeface="Segoe UI Semibold" panose="020B0702040204020203" pitchFamily="34" charset="0"/>
                <a:ea typeface="宋体" panose="02010600030101010101" pitchFamily="2" charset="-122"/>
              </a:rPr>
              <a:t>@cug.edu.cn</a:t>
            </a:r>
            <a:endParaRPr lang="zh-CN" altLang="en-US" sz="32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101" name="内容占位符 3076">
            <a:extLst>
              <a:ext uri="{FF2B5EF4-FFF2-40B4-BE49-F238E27FC236}">
                <a16:creationId xmlns:a16="http://schemas.microsoft.com/office/drawing/2014/main" id="{31156996-2154-42A9-9D69-9E3C40E3A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52513"/>
            <a:ext cx="9137650" cy="168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821093"/>
      </p:ext>
    </p:extLst>
  </p:cSld>
  <p:clrMapOvr>
    <a:masterClrMapping/>
  </p:clrMapOvr>
  <p:transition spd="slow" advTm="0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4" name="标题 5121">
            <a:extLst>
              <a:ext uri="{FF2B5EF4-FFF2-40B4-BE49-F238E27FC236}">
                <a16:creationId xmlns:a16="http://schemas.microsoft.com/office/drawing/2014/main" id="{BD3B8202-9B15-491A-A771-6A87576C0324}"/>
              </a:ext>
            </a:extLst>
          </p:cNvPr>
          <p:cNvSpPr txBox="1">
            <a:spLocks/>
          </p:cNvSpPr>
          <p:nvPr/>
        </p:nvSpPr>
        <p:spPr>
          <a:xfrm>
            <a:off x="1562100" y="2954338"/>
            <a:ext cx="8691563" cy="1136650"/>
          </a:xfrm>
          <a:prstGeom prst="rect">
            <a:avLst/>
          </a:prstGeom>
          <a:ln>
            <a:miter/>
          </a:ln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ct val="135000"/>
              </a:lnSpc>
              <a:spcAft>
                <a:spcPts val="0"/>
              </a:spcAft>
              <a:defRPr/>
            </a:pPr>
            <a:r>
              <a:rPr lang="zh-CN" altLang="en-US" sz="48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 命题逻辑  </a:t>
            </a:r>
            <a:r>
              <a:rPr lang="en-US" altLang="zh-CN" sz="4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Propositional Logic</a:t>
            </a:r>
            <a:br>
              <a:rPr lang="en-US" altLang="zh-CN" sz="4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endParaRPr lang="en-US" altLang="zh-CN" sz="48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77278578"/>
      </p:ext>
    </p:extLst>
  </p:cSld>
  <p:clrMapOvr>
    <a:masterClrMapping/>
  </p:clrMapOvr>
  <p:transition spd="slow" advTm="0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F106722-5DE4-4F0A-8F97-05680CA35035}"/>
              </a:ext>
            </a:extLst>
          </p:cNvPr>
          <p:cNvSpPr txBox="1"/>
          <p:nvPr/>
        </p:nvSpPr>
        <p:spPr>
          <a:xfrm>
            <a:off x="2530763" y="2258291"/>
            <a:ext cx="632690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设</a:t>
            </a:r>
            <a:r>
              <a:rPr lang="en-US" altLang="zh-CN" sz="3200" dirty="0"/>
              <a:t>S</a:t>
            </a:r>
            <a:r>
              <a:rPr lang="zh-CN" altLang="en-US" sz="3200" dirty="0"/>
              <a:t>是一个</a:t>
            </a:r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</a:rPr>
              <a:t>联结词集合</a:t>
            </a:r>
            <a:r>
              <a:rPr lang="zh-CN" altLang="en-US" sz="3200" dirty="0"/>
              <a:t>，如果任何</a:t>
            </a:r>
            <a:r>
              <a:rPr lang="en-US" altLang="zh-CN" sz="3200" dirty="0">
                <a:solidFill>
                  <a:schemeClr val="accent1">
                    <a:lumMod val="75000"/>
                  </a:schemeClr>
                </a:solidFill>
              </a:rPr>
              <a:t>n(n</a:t>
            </a:r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</a:rPr>
              <a:t>≥</a:t>
            </a:r>
            <a:r>
              <a:rPr lang="en-US" altLang="zh-CN" sz="3200" dirty="0">
                <a:solidFill>
                  <a:schemeClr val="accent1">
                    <a:lumMod val="75000"/>
                  </a:schemeClr>
                </a:solidFill>
              </a:rPr>
              <a:t>1)</a:t>
            </a:r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</a:rPr>
              <a:t>元</a:t>
            </a:r>
            <a:r>
              <a:rPr lang="zh-CN" altLang="en-US" sz="3200" dirty="0"/>
              <a:t>真值函数都可以由</a:t>
            </a:r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</a:rPr>
              <a:t>仅含</a:t>
            </a:r>
            <a:r>
              <a:rPr lang="en-US" altLang="zh-CN" sz="3200" dirty="0">
                <a:solidFill>
                  <a:schemeClr val="accent1">
                    <a:lumMod val="75000"/>
                  </a:schemeClr>
                </a:solidFill>
              </a:rPr>
              <a:t>S</a:t>
            </a:r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</a:rPr>
              <a:t>中的联结词</a:t>
            </a:r>
            <a:r>
              <a:rPr lang="zh-CN" altLang="en-US" sz="3200" dirty="0"/>
              <a:t>构成的公式表示，则称</a:t>
            </a:r>
            <a:r>
              <a:rPr lang="en-US" altLang="zh-CN" sz="3200" dirty="0"/>
              <a:t>S</a:t>
            </a:r>
            <a:r>
              <a:rPr lang="zh-CN" altLang="en-US" sz="3200" dirty="0"/>
              <a:t>是</a:t>
            </a:r>
            <a:r>
              <a:rPr lang="zh-CN" altLang="en-US" sz="3200" dirty="0">
                <a:solidFill>
                  <a:srgbClr val="FF0000"/>
                </a:solidFill>
              </a:rPr>
              <a:t>联结词完备集</a:t>
            </a:r>
            <a:r>
              <a:rPr lang="zh-CN" altLang="en-US" sz="32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481488476"/>
      </p:ext>
    </p:extLst>
  </p:cSld>
  <p:clrMapOvr>
    <a:masterClrMapping/>
  </p:clrMapOvr>
  <p:transition spd="slow" advTm="0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5" name="文本占位符 108546">
            <a:extLst>
              <a:ext uri="{FF2B5EF4-FFF2-40B4-BE49-F238E27FC236}">
                <a16:creationId xmlns:a16="http://schemas.microsoft.com/office/drawing/2014/main" id="{695E9E90-7249-4802-9B42-21B134662876}"/>
              </a:ext>
            </a:extLst>
          </p:cNvPr>
          <p:cNvSpPr txBox="1">
            <a:spLocks noChangeArrowheads="1"/>
          </p:cNvSpPr>
          <p:nvPr/>
        </p:nvSpPr>
        <p:spPr>
          <a:xfrm>
            <a:off x="1751013" y="1455738"/>
            <a:ext cx="8229600" cy="40608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600" b="1" dirty="0">
                <a:solidFill>
                  <a:srgbClr val="3333FF"/>
                </a:solidFill>
                <a:latin typeface="+mn-ea"/>
              </a:rPr>
              <a:t>演绎推理</a:t>
            </a:r>
          </a:p>
          <a:p>
            <a:pPr>
              <a:buFontTx/>
              <a:buNone/>
            </a:pPr>
            <a:r>
              <a:rPr lang="zh-CN" altLang="en-US" sz="3600" b="1" dirty="0">
                <a:latin typeface="+mn-ea"/>
              </a:rPr>
              <a:t>  数理逻辑中，应用公认的推理规则</a:t>
            </a:r>
            <a:r>
              <a:rPr lang="en-US" altLang="zh-CN" sz="3600" b="1" dirty="0">
                <a:latin typeface="+mn-ea"/>
              </a:rPr>
              <a:t>(Rules of </a:t>
            </a:r>
            <a:r>
              <a:rPr lang="en-US" altLang="zh-CN" sz="3600" b="1" dirty="0">
                <a:solidFill>
                  <a:srgbClr val="FF0000"/>
                </a:solidFill>
                <a:latin typeface="+mn-ea"/>
              </a:rPr>
              <a:t>I</a:t>
            </a:r>
            <a:r>
              <a:rPr lang="en-US" altLang="zh-CN" sz="3600" b="1" dirty="0">
                <a:latin typeface="+mn-ea"/>
              </a:rPr>
              <a:t>nference)</a:t>
            </a:r>
            <a:r>
              <a:rPr lang="zh-CN" altLang="en-US" sz="3600" b="1" dirty="0">
                <a:latin typeface="+mn-ea"/>
              </a:rPr>
              <a:t>从一些前提</a:t>
            </a:r>
            <a:r>
              <a:rPr lang="en-US" altLang="zh-CN" sz="3600" b="1" dirty="0">
                <a:latin typeface="+mn-ea"/>
              </a:rPr>
              <a:t>(</a:t>
            </a:r>
            <a:r>
              <a:rPr lang="en-US" altLang="zh-CN" sz="3600" b="1" dirty="0">
                <a:solidFill>
                  <a:srgbClr val="FF0000"/>
                </a:solidFill>
                <a:latin typeface="+mn-ea"/>
              </a:rPr>
              <a:t>P</a:t>
            </a:r>
            <a:r>
              <a:rPr lang="en-US" altLang="zh-CN" sz="3600" b="1" dirty="0">
                <a:latin typeface="+mn-ea"/>
              </a:rPr>
              <a:t>remise)</a:t>
            </a:r>
            <a:r>
              <a:rPr lang="zh-CN" altLang="en-US" sz="3600" b="1" dirty="0">
                <a:latin typeface="+mn-ea"/>
              </a:rPr>
              <a:t>中推导出结论来时，这种推导过程称之为演绎推理</a:t>
            </a:r>
            <a:r>
              <a:rPr lang="en-US" altLang="zh-CN" sz="3600" b="1" dirty="0">
                <a:latin typeface="+mn-ea"/>
              </a:rPr>
              <a:t>(Deduction)</a:t>
            </a:r>
            <a:r>
              <a:rPr lang="zh-CN" altLang="en-US" sz="3600" b="1" dirty="0">
                <a:latin typeface="+mn-ea"/>
              </a:rPr>
              <a:t>或形式证明</a:t>
            </a:r>
            <a:r>
              <a:rPr lang="en-US" altLang="zh-CN" sz="3600" b="1" dirty="0">
                <a:latin typeface="+mn-ea"/>
              </a:rPr>
              <a:t>(Formal Proof)</a:t>
            </a:r>
            <a:r>
              <a:rPr lang="zh-CN" altLang="en-US" sz="3600" b="1" dirty="0">
                <a:latin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40380740"/>
      </p:ext>
    </p:extLst>
  </p:cSld>
  <p:clrMapOvr>
    <a:masterClrMapping/>
  </p:clrMapOvr>
  <p:transition spd="slow" advTm="0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5" name="内容占位符 110594">
            <a:extLst>
              <a:ext uri="{FF2B5EF4-FFF2-40B4-BE49-F238E27FC236}">
                <a16:creationId xmlns:a16="http://schemas.microsoft.com/office/drawing/2014/main" id="{5399EBF8-0137-488F-A2EC-3F7B72033479}"/>
              </a:ext>
            </a:extLst>
          </p:cNvPr>
          <p:cNvSpPr txBox="1">
            <a:spLocks noChangeArrowheads="1"/>
          </p:cNvSpPr>
          <p:nvPr/>
        </p:nvSpPr>
        <p:spPr>
          <a:xfrm>
            <a:off x="1473200" y="1455738"/>
            <a:ext cx="8435975" cy="45259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zh-CN" sz="3600" b="1" dirty="0">
                <a:solidFill>
                  <a:srgbClr val="333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 </a:t>
            </a:r>
            <a:r>
              <a:rPr lang="zh-CN" altLang="en-US" sz="3600" b="1" dirty="0">
                <a:solidFill>
                  <a:srgbClr val="333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推理形式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zh-CN" altLang="en-US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设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α</a:t>
            </a:r>
            <a:r>
              <a:rPr lang="en-US" altLang="zh-CN" sz="1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α</a:t>
            </a:r>
            <a:r>
              <a:rPr lang="en-US" altLang="zh-CN" sz="1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,…,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α</a:t>
            </a:r>
            <a:r>
              <a:rPr lang="en-US" altLang="zh-CN" sz="1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β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都是</a:t>
            </a:r>
            <a:r>
              <a:rPr lang="zh-CN" altLang="en-US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命题公式。称由前提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α</a:t>
            </a:r>
            <a:r>
              <a:rPr lang="en-US" altLang="zh-CN" sz="1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α</a:t>
            </a:r>
            <a:r>
              <a:rPr lang="en-US" altLang="zh-CN" sz="1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,…,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α</a:t>
            </a:r>
            <a:r>
              <a:rPr lang="en-US" altLang="zh-CN" sz="1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推出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β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的推理是</a:t>
            </a:r>
            <a:r>
              <a:rPr lang="zh-CN" altLang="en-US" sz="2400" b="1" dirty="0">
                <a:solidFill>
                  <a:srgbClr val="CC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有效的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或</a:t>
            </a:r>
            <a:r>
              <a:rPr lang="zh-CN" altLang="en-US" sz="2400" b="1" dirty="0">
                <a:solidFill>
                  <a:srgbClr val="CC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正确的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，并称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β</a:t>
            </a:r>
            <a:r>
              <a:rPr lang="zh-CN" altLang="en-US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是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α</a:t>
            </a:r>
            <a:r>
              <a:rPr lang="en-US" altLang="zh-CN" sz="1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α</a:t>
            </a:r>
            <a:r>
              <a:rPr lang="en-US" altLang="zh-CN" sz="1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,…,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α</a:t>
            </a:r>
            <a:r>
              <a:rPr lang="en-US" altLang="zh-CN" sz="1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的</a:t>
            </a:r>
            <a:r>
              <a:rPr lang="zh-CN" altLang="en-US" sz="2400" b="1" dirty="0">
                <a:solidFill>
                  <a:srgbClr val="CC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有效结论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或</a:t>
            </a:r>
            <a:r>
              <a:rPr lang="zh-CN" altLang="en-US" sz="2400" b="1" dirty="0">
                <a:solidFill>
                  <a:srgbClr val="CC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逻辑结果（</a:t>
            </a:r>
            <a:r>
              <a:rPr lang="en-US" altLang="zh-CN" sz="2400" b="1" dirty="0">
                <a:solidFill>
                  <a:srgbClr val="CC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Logical Consequence</a:t>
            </a:r>
            <a:r>
              <a:rPr lang="zh-CN" altLang="en-US" sz="2400" b="1" dirty="0">
                <a:solidFill>
                  <a:srgbClr val="CC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）</a:t>
            </a:r>
            <a:r>
              <a:rPr lang="zh-CN" altLang="en-US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，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	当且仅当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		</a:t>
            </a:r>
            <a:r>
              <a:rPr lang="en-US" altLang="zh-CN" b="1" dirty="0">
                <a:solidFill>
                  <a:schemeClr val="accent2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(α</a:t>
            </a:r>
            <a:r>
              <a:rPr lang="en-US" altLang="zh-CN" sz="1400" b="1" dirty="0">
                <a:solidFill>
                  <a:schemeClr val="accent2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chemeClr val="accent2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α</a:t>
            </a:r>
            <a:r>
              <a:rPr lang="en-US" altLang="zh-CN" sz="1400" b="1" dirty="0">
                <a:solidFill>
                  <a:schemeClr val="accent2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chemeClr val="accent2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…α</a:t>
            </a:r>
            <a:r>
              <a:rPr lang="en-US" altLang="zh-CN" sz="1400" b="1" dirty="0">
                <a:solidFill>
                  <a:schemeClr val="accent2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b="1" dirty="0">
                <a:solidFill>
                  <a:schemeClr val="accent2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)→β</a:t>
            </a:r>
            <a:r>
              <a:rPr lang="zh-CN" altLang="en-US" b="1" dirty="0">
                <a:solidFill>
                  <a:schemeClr val="accent2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是永真式</a:t>
            </a:r>
            <a:r>
              <a:rPr lang="zh-CN" altLang="en-US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	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	记为</a:t>
            </a:r>
            <a:r>
              <a:rPr lang="en-US" altLang="zh-CN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α</a:t>
            </a:r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α</a:t>
            </a:r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α</a:t>
            </a:r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β</a:t>
            </a:r>
            <a:r>
              <a:rPr lang="zh-CN" altLang="en-US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或</a:t>
            </a:r>
            <a:r>
              <a:rPr lang="en-US" altLang="zh-CN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α</a:t>
            </a:r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α</a:t>
            </a:r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2 </a:t>
            </a:r>
            <a:r>
              <a:rPr lang="en-US" altLang="zh-CN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,…,</a:t>
            </a:r>
            <a:r>
              <a:rPr lang="en-US" altLang="zh-CN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α</a:t>
            </a:r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β</a:t>
            </a:r>
            <a:r>
              <a:rPr lang="zh-CN" altLang="en-US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（</a:t>
            </a:r>
            <a:r>
              <a:rPr lang="zh-CN" altLang="en-US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称为</a:t>
            </a:r>
            <a:r>
              <a:rPr lang="zh-CN" altLang="en-US" sz="2400" b="1" dirty="0">
                <a:solidFill>
                  <a:srgbClr val="CC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重言蕴含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或</a:t>
            </a:r>
            <a:r>
              <a:rPr lang="zh-CN" altLang="en-US" sz="2400" b="1" dirty="0">
                <a:solidFill>
                  <a:srgbClr val="CC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推理形式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501142931"/>
      </p:ext>
    </p:extLst>
  </p:cSld>
  <p:clrMapOvr>
    <a:masterClrMapping/>
  </p:clrMapOvr>
  <p:transition spd="slow" advTm="0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DA17FF7-3DAD-4DDD-ADAC-C074247C0F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1783" y="1086283"/>
            <a:ext cx="8516072" cy="1081088"/>
          </a:xfrm>
          <a:prstGeom prst="rect">
            <a:avLst/>
          </a:prstGeom>
          <a:solidFill>
            <a:schemeClr val="bg1"/>
          </a:solidFill>
          <a:ln w="9525">
            <a:solidFill>
              <a:srgbClr val="CC0000"/>
            </a:solidFill>
            <a:prstDash val="dash"/>
            <a:miter lim="800000"/>
            <a:headEnd/>
            <a:tailEnd/>
          </a:ln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3200" dirty="0">
                <a:solidFill>
                  <a:srgbClr val="FF0000"/>
                </a:solidFill>
                <a:latin typeface="+mn-ea"/>
                <a:ea typeface="+mn-ea"/>
              </a:rPr>
              <a:t>   </a:t>
            </a:r>
            <a:r>
              <a:rPr lang="zh-CN" altLang="en-US" sz="3200" u="sng" dirty="0">
                <a:solidFill>
                  <a:srgbClr val="FF0000"/>
                </a:solidFill>
                <a:latin typeface="+mn-ea"/>
                <a:ea typeface="+mn-ea"/>
              </a:rPr>
              <a:t>等值公式</a:t>
            </a:r>
            <a:r>
              <a:rPr lang="zh-CN" altLang="en-US" sz="3200" dirty="0">
                <a:latin typeface="+mn-ea"/>
                <a:ea typeface="+mn-ea"/>
              </a:rPr>
              <a:t>（</a:t>
            </a:r>
            <a:r>
              <a:rPr lang="zh-CN" altLang="en-US" sz="3200" dirty="0">
                <a:solidFill>
                  <a:schemeClr val="hlink"/>
                </a:solidFill>
                <a:latin typeface="+mn-ea"/>
                <a:ea typeface="+mn-ea"/>
              </a:rPr>
              <a:t>用于等价变换或蕴含推理</a:t>
            </a:r>
            <a:r>
              <a:rPr lang="zh-CN" altLang="en-US" sz="3200" dirty="0">
                <a:latin typeface="+mn-ea"/>
                <a:ea typeface="+mn-ea"/>
              </a:rPr>
              <a:t>）以及以下</a:t>
            </a:r>
            <a:r>
              <a:rPr lang="zh-CN" altLang="en-US" sz="3200" u="sng" dirty="0">
                <a:solidFill>
                  <a:srgbClr val="FF0000"/>
                </a:solidFill>
                <a:latin typeface="+mn-ea"/>
                <a:ea typeface="+mn-ea"/>
              </a:rPr>
              <a:t>蕴含推理定律</a:t>
            </a:r>
            <a:r>
              <a:rPr lang="zh-CN" altLang="en-US" sz="3200" dirty="0">
                <a:latin typeface="+mn-ea"/>
                <a:ea typeface="+mn-ea"/>
              </a:rPr>
              <a:t>构成了演绎推理基本公理</a:t>
            </a:r>
          </a:p>
        </p:txBody>
      </p:sp>
    </p:spTree>
    <p:extLst>
      <p:ext uri="{BB962C8B-B14F-4D97-AF65-F5344CB8AC3E}">
        <p14:creationId xmlns:p14="http://schemas.microsoft.com/office/powerpoint/2010/main" val="2202893165"/>
      </p:ext>
    </p:extLst>
  </p:cSld>
  <p:clrMapOvr>
    <a:masterClrMapping/>
  </p:clrMapOvr>
  <p:transition spd="slow" advTm="0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8A74970-E641-4F6C-B48F-941894A653ED}"/>
              </a:ext>
            </a:extLst>
          </p:cNvPr>
          <p:cNvSpPr/>
          <p:nvPr/>
        </p:nvSpPr>
        <p:spPr>
          <a:xfrm>
            <a:off x="2707927" y="932133"/>
            <a:ext cx="6380655" cy="5236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5000"/>
              </a:lnSpc>
              <a:buFontTx/>
              <a:buNone/>
            </a:pPr>
            <a:r>
              <a:rPr lang="en-US" altLang="zh-CN" sz="2800" b="1" dirty="0">
                <a:latin typeface="+mn-ea"/>
              </a:rPr>
              <a:t>I</a:t>
            </a:r>
            <a:r>
              <a:rPr lang="en-US" altLang="zh-CN" sz="2800" b="1" baseline="-25000" dirty="0">
                <a:latin typeface="+mn-ea"/>
              </a:rPr>
              <a:t>1</a:t>
            </a:r>
            <a:r>
              <a:rPr lang="zh-CN" altLang="en-US" sz="2800" b="1" dirty="0">
                <a:latin typeface="+mn-ea"/>
              </a:rPr>
              <a:t>：简化规则 </a:t>
            </a:r>
            <a:r>
              <a:rPr lang="en-US" altLang="zh-CN" sz="2800" b="1" dirty="0">
                <a:latin typeface="+mn-ea"/>
              </a:rPr>
              <a:t>α</a:t>
            </a:r>
            <a:r>
              <a:rPr lang="en-US" altLang="zh-CN" sz="2800" b="1" dirty="0">
                <a:latin typeface="+mn-ea"/>
                <a:sym typeface="Symbol" panose="05050102010706020507" pitchFamily="18" charset="2"/>
              </a:rPr>
              <a:t></a:t>
            </a:r>
            <a:r>
              <a:rPr lang="en-US" altLang="zh-CN" sz="2800" b="1" dirty="0">
                <a:latin typeface="+mn-ea"/>
              </a:rPr>
              <a:t>β</a:t>
            </a:r>
            <a:r>
              <a:rPr lang="en-US" altLang="zh-CN" sz="2800" b="1" dirty="0">
                <a:latin typeface="+mn-ea"/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latin typeface="+mn-ea"/>
              </a:rPr>
              <a:t>α</a:t>
            </a:r>
            <a:r>
              <a:rPr lang="zh-CN" altLang="en-US" sz="2800" b="1" dirty="0">
                <a:latin typeface="+mn-ea"/>
              </a:rPr>
              <a:t>， </a:t>
            </a:r>
            <a:r>
              <a:rPr lang="en-US" altLang="zh-CN" sz="2800" b="1" dirty="0">
                <a:latin typeface="+mn-ea"/>
              </a:rPr>
              <a:t>α</a:t>
            </a:r>
            <a:r>
              <a:rPr lang="en-US" altLang="zh-CN" sz="2800" b="1" dirty="0">
                <a:latin typeface="+mn-ea"/>
                <a:sym typeface="Symbol" panose="05050102010706020507" pitchFamily="18" charset="2"/>
              </a:rPr>
              <a:t></a:t>
            </a:r>
            <a:r>
              <a:rPr lang="en-US" altLang="zh-CN" sz="2800" b="1" dirty="0">
                <a:latin typeface="+mn-ea"/>
              </a:rPr>
              <a:t>β</a:t>
            </a:r>
            <a:r>
              <a:rPr lang="en-US" altLang="zh-CN" sz="2800" b="1" dirty="0">
                <a:latin typeface="+mn-ea"/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latin typeface="+mn-ea"/>
              </a:rPr>
              <a:t>β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E31200-FC4F-4912-8457-9A47F0056266}"/>
              </a:ext>
            </a:extLst>
          </p:cNvPr>
          <p:cNvSpPr/>
          <p:nvPr/>
        </p:nvSpPr>
        <p:spPr>
          <a:xfrm>
            <a:off x="2707926" y="1573172"/>
            <a:ext cx="6380655" cy="520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5000"/>
              </a:lnSpc>
              <a:buFontTx/>
              <a:buNone/>
            </a:pPr>
            <a:r>
              <a:rPr lang="en-US" altLang="zh-CN" sz="2800" b="1" dirty="0">
                <a:latin typeface="+mn-ea"/>
              </a:rPr>
              <a:t>I</a:t>
            </a:r>
            <a:r>
              <a:rPr lang="en-US" altLang="zh-CN" sz="2800" b="1" baseline="-25000" dirty="0">
                <a:latin typeface="+mn-ea"/>
              </a:rPr>
              <a:t>2</a:t>
            </a:r>
            <a:r>
              <a:rPr lang="zh-CN" altLang="en-US" sz="2800" b="1" dirty="0">
                <a:latin typeface="+mn-ea"/>
              </a:rPr>
              <a:t>：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附加规则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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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β </a:t>
            </a:r>
            <a:endParaRPr lang="en-US" altLang="zh-CN" sz="2800" b="1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8E2A824-2135-4A71-865A-A67E004440A1}"/>
              </a:ext>
            </a:extLst>
          </p:cNvPr>
          <p:cNvSpPr/>
          <p:nvPr/>
        </p:nvSpPr>
        <p:spPr>
          <a:xfrm>
            <a:off x="2707926" y="2174773"/>
            <a:ext cx="8717456" cy="520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5000"/>
              </a:lnSpc>
            </a:pPr>
            <a:r>
              <a:rPr lang="en-US" altLang="zh-CN" sz="2800" b="1" dirty="0">
                <a:latin typeface="+mn-ea"/>
              </a:rPr>
              <a:t>I</a:t>
            </a:r>
            <a:r>
              <a:rPr lang="en-US" altLang="zh-CN" sz="2800" b="1" baseline="-25000" dirty="0">
                <a:latin typeface="+mn-ea"/>
              </a:rPr>
              <a:t>3</a:t>
            </a:r>
            <a:r>
              <a:rPr lang="zh-CN" altLang="en-US" sz="2800" b="1" dirty="0">
                <a:latin typeface="+mn-ea"/>
              </a:rPr>
              <a:t>：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假言推理（又称分离规则）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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β)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endParaRPr lang="en-US" altLang="zh-CN" sz="28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CB6D515-48B1-40C8-A993-B1FC17391BFE}"/>
              </a:ext>
            </a:extLst>
          </p:cNvPr>
          <p:cNvSpPr/>
          <p:nvPr/>
        </p:nvSpPr>
        <p:spPr>
          <a:xfrm>
            <a:off x="2707926" y="2811543"/>
            <a:ext cx="8717456" cy="5275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5000"/>
              </a:lnSpc>
            </a:pPr>
            <a:r>
              <a:rPr lang="en-US" altLang="zh-CN" sz="2800" b="1" dirty="0">
                <a:latin typeface="+mn-ea"/>
              </a:rPr>
              <a:t>I</a:t>
            </a:r>
            <a:r>
              <a:rPr lang="en-US" altLang="zh-CN" sz="2800" b="1" baseline="-25000" dirty="0">
                <a:latin typeface="+mn-ea"/>
              </a:rPr>
              <a:t>4</a:t>
            </a:r>
            <a:r>
              <a:rPr lang="zh-CN" altLang="en-US" sz="2800" b="1" dirty="0">
                <a:latin typeface="+mn-ea"/>
              </a:rPr>
              <a:t>：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假言三段论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β)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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(β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γ)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γ) </a:t>
            </a:r>
            <a:endParaRPr lang="en-US" altLang="zh-CN" sz="2800" b="1" dirty="0"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5FB5CA1-2B51-4329-B101-0305CB5EBB20}"/>
              </a:ext>
            </a:extLst>
          </p:cNvPr>
          <p:cNvSpPr/>
          <p:nvPr/>
        </p:nvSpPr>
        <p:spPr>
          <a:xfrm>
            <a:off x="2707926" y="3441569"/>
            <a:ext cx="8717456" cy="5275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5000"/>
              </a:lnSpc>
            </a:pPr>
            <a:r>
              <a:rPr lang="en-US" altLang="zh-CN" sz="2800" b="1" dirty="0">
                <a:latin typeface="+mn-ea"/>
              </a:rPr>
              <a:t>I</a:t>
            </a:r>
            <a:r>
              <a:rPr lang="en-US" altLang="zh-CN" sz="2800" b="1" baseline="-25000" dirty="0">
                <a:latin typeface="+mn-ea"/>
              </a:rPr>
              <a:t>5</a:t>
            </a:r>
            <a:r>
              <a:rPr lang="zh-CN" altLang="en-US" sz="2800" b="1" dirty="0">
                <a:latin typeface="+mn-ea"/>
              </a:rPr>
              <a:t>：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等价三段论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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β)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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(β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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γ)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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γ) </a:t>
            </a:r>
            <a:endParaRPr lang="en-US" altLang="zh-CN" sz="2800" b="1" dirty="0"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B1AAE39-FF50-4045-AAAD-3EF1A1F742CC}"/>
              </a:ext>
            </a:extLst>
          </p:cNvPr>
          <p:cNvSpPr/>
          <p:nvPr/>
        </p:nvSpPr>
        <p:spPr>
          <a:xfrm>
            <a:off x="2707926" y="4071595"/>
            <a:ext cx="8717456" cy="9800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5000"/>
              </a:lnSpc>
            </a:pPr>
            <a:r>
              <a:rPr lang="en-US" altLang="zh-CN" sz="2800" b="1" dirty="0">
                <a:latin typeface="+mn-ea"/>
              </a:rPr>
              <a:t>I</a:t>
            </a:r>
            <a:r>
              <a:rPr lang="en-US" altLang="zh-CN" sz="2800" b="1" baseline="-25000" dirty="0">
                <a:latin typeface="+mn-ea"/>
              </a:rPr>
              <a:t>6</a:t>
            </a:r>
            <a:r>
              <a:rPr lang="zh-CN" altLang="en-US" sz="2800" b="1" dirty="0">
                <a:latin typeface="+mn-ea"/>
              </a:rPr>
              <a:t>：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析取三段论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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β)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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</a:p>
          <a:p>
            <a:pPr algn="just">
              <a:lnSpc>
                <a:spcPct val="105000"/>
              </a:lnSpc>
            </a:pPr>
            <a:endParaRPr lang="en-US" altLang="zh-CN" sz="2800" b="1" dirty="0"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002C7EE-9FE3-40A0-8AF8-13648764DDFE}"/>
              </a:ext>
            </a:extLst>
          </p:cNvPr>
          <p:cNvSpPr/>
          <p:nvPr/>
        </p:nvSpPr>
        <p:spPr>
          <a:xfrm>
            <a:off x="2707926" y="4792417"/>
            <a:ext cx="8717456" cy="520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5000"/>
              </a:lnSpc>
            </a:pPr>
            <a:r>
              <a:rPr lang="en-US" altLang="zh-CN" sz="2800" b="1" dirty="0">
                <a:latin typeface="+mn-ea"/>
              </a:rPr>
              <a:t>I</a:t>
            </a:r>
            <a:r>
              <a:rPr lang="en-US" altLang="zh-CN" sz="2800" b="1" baseline="-25000" dirty="0">
                <a:latin typeface="+mn-ea"/>
              </a:rPr>
              <a:t>7</a:t>
            </a:r>
            <a:r>
              <a:rPr lang="zh-CN" altLang="en-US" sz="2800" b="1" dirty="0">
                <a:latin typeface="+mn-ea"/>
              </a:rPr>
              <a:t>：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拒取式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否定后件式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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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β)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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endParaRPr lang="en-US" altLang="zh-CN" sz="2800" b="1" dirty="0">
              <a:latin typeface="+mn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767580F-E1B1-4520-ABFC-A3E4648E481F}"/>
              </a:ext>
            </a:extLst>
          </p:cNvPr>
          <p:cNvSpPr/>
          <p:nvPr/>
        </p:nvSpPr>
        <p:spPr>
          <a:xfrm>
            <a:off x="2707926" y="5405532"/>
            <a:ext cx="8717456" cy="5275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5000"/>
              </a:lnSpc>
            </a:pPr>
            <a:r>
              <a:rPr lang="en-US" altLang="zh-CN" sz="2800" b="1" dirty="0">
                <a:latin typeface="+mn-ea"/>
              </a:rPr>
              <a:t>I</a:t>
            </a:r>
            <a:r>
              <a:rPr lang="en-US" altLang="zh-CN" sz="2800" b="1" baseline="-25000" dirty="0">
                <a:latin typeface="+mn-ea"/>
              </a:rPr>
              <a:t>8</a:t>
            </a:r>
            <a:r>
              <a:rPr lang="zh-CN" altLang="en-US" sz="2800" b="1" dirty="0">
                <a:latin typeface="+mn-ea"/>
              </a:rPr>
              <a:t>：</a:t>
            </a:r>
            <a:r>
              <a:rPr lang="zh-CN" altLang="en-US" sz="2800" b="1" u="sng" dirty="0">
                <a:latin typeface="黑体" panose="02010609060101010101" pitchFamily="49" charset="-122"/>
                <a:ea typeface="黑体" panose="02010609060101010101" pitchFamily="49" charset="-122"/>
              </a:rPr>
              <a:t>二难推理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γ)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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(β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γ)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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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β)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γ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17363721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2F33E01-14D2-49CC-AF08-389631176FD9}"/>
              </a:ext>
            </a:extLst>
          </p:cNvPr>
          <p:cNvSpPr/>
          <p:nvPr/>
        </p:nvSpPr>
        <p:spPr>
          <a:xfrm>
            <a:off x="2190689" y="905933"/>
            <a:ext cx="8717456" cy="520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5000"/>
              </a:lnSpc>
            </a:pPr>
            <a:r>
              <a:rPr lang="en-US" altLang="zh-CN" sz="2800" b="1" dirty="0">
                <a:latin typeface="+mn-ea"/>
              </a:rPr>
              <a:t>I</a:t>
            </a:r>
            <a:r>
              <a:rPr lang="en-US" altLang="zh-CN" sz="2800" b="1" baseline="-25000" dirty="0">
                <a:latin typeface="+mn-ea"/>
              </a:rPr>
              <a:t>9</a:t>
            </a:r>
            <a:r>
              <a:rPr lang="zh-CN" altLang="en-US" sz="2800" b="1" dirty="0">
                <a:latin typeface="+mn-ea"/>
              </a:rPr>
              <a:t>：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合取引入规则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b="1" dirty="0">
                <a:latin typeface="宋体" panose="02010600030101010101" pitchFamily="2" charset="-122"/>
              </a:rPr>
              <a:t>α,β</a:t>
            </a:r>
            <a:r>
              <a:rPr lang="en-US" altLang="zh-CN" sz="2800" b="1" dirty="0">
                <a:latin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latin typeface="宋体" panose="02010600030101010101" pitchFamily="2" charset="-122"/>
              </a:rPr>
              <a:t>α</a:t>
            </a:r>
            <a:r>
              <a:rPr lang="en-US" altLang="zh-CN" sz="2800" b="1" dirty="0">
                <a:latin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2800" b="1" dirty="0">
                <a:latin typeface="宋体" panose="02010600030101010101" pitchFamily="2" charset="-122"/>
              </a:rPr>
              <a:t>β</a:t>
            </a:r>
            <a:endParaRPr lang="en-US" altLang="zh-CN" sz="28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1850A8A-5C33-4801-8AC1-3C8D88306FE5}"/>
              </a:ext>
            </a:extLst>
          </p:cNvPr>
          <p:cNvSpPr/>
          <p:nvPr/>
        </p:nvSpPr>
        <p:spPr>
          <a:xfrm>
            <a:off x="2190689" y="2289338"/>
            <a:ext cx="8717456" cy="5275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5000"/>
              </a:lnSpc>
            </a:pPr>
            <a:r>
              <a:rPr lang="en-US" altLang="zh-CN" sz="2800" b="1" dirty="0">
                <a:latin typeface="+mn-ea"/>
              </a:rPr>
              <a:t>I</a:t>
            </a:r>
            <a:r>
              <a:rPr lang="en-US" altLang="zh-CN" sz="2800" b="1" baseline="-25000" dirty="0">
                <a:latin typeface="+mn-ea"/>
              </a:rPr>
              <a:t>11</a:t>
            </a:r>
            <a:r>
              <a:rPr lang="zh-CN" altLang="en-US" sz="2800" b="1" dirty="0">
                <a:latin typeface="+mn-ea"/>
              </a:rPr>
              <a:t>：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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β)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，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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β)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 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endParaRPr lang="en-US" altLang="zh-CN" sz="28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7572D5A-28E3-4716-B78A-31C9DE33065F}"/>
              </a:ext>
            </a:extLst>
          </p:cNvPr>
          <p:cNvSpPr/>
          <p:nvPr/>
        </p:nvSpPr>
        <p:spPr>
          <a:xfrm>
            <a:off x="2190689" y="1594013"/>
            <a:ext cx="8717456" cy="5275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5000"/>
              </a:lnSpc>
            </a:pPr>
            <a:r>
              <a:rPr lang="en-US" altLang="zh-CN" sz="2800" b="1" dirty="0">
                <a:latin typeface="+mn-ea"/>
              </a:rPr>
              <a:t>I</a:t>
            </a:r>
            <a:r>
              <a:rPr lang="en-US" altLang="zh-CN" sz="2800" b="1" baseline="-25000" dirty="0">
                <a:latin typeface="+mn-ea"/>
              </a:rPr>
              <a:t>10</a:t>
            </a:r>
            <a:r>
              <a:rPr lang="zh-CN" altLang="en-US" sz="2800" b="1" dirty="0">
                <a:latin typeface="+mn-ea"/>
              </a:rPr>
              <a:t>：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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endParaRPr lang="en-US" altLang="zh-CN" sz="2800" b="1" dirty="0"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9068C2-119C-486E-9FE6-A5927CFC9791}"/>
              </a:ext>
            </a:extLst>
          </p:cNvPr>
          <p:cNvSpPr/>
          <p:nvPr/>
        </p:nvSpPr>
        <p:spPr>
          <a:xfrm>
            <a:off x="2190689" y="2984663"/>
            <a:ext cx="8717456" cy="520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5000"/>
              </a:lnSpc>
              <a:buFontTx/>
              <a:buNone/>
            </a:pPr>
            <a:r>
              <a:rPr lang="en-US" altLang="zh-CN" sz="2800" b="1" dirty="0">
                <a:latin typeface="+mn-ea"/>
              </a:rPr>
              <a:t>I</a:t>
            </a:r>
            <a:r>
              <a:rPr lang="en-US" altLang="zh-CN" sz="2800" b="1" baseline="-25000" dirty="0">
                <a:latin typeface="+mn-ea"/>
              </a:rPr>
              <a:t>12</a:t>
            </a:r>
            <a:r>
              <a:rPr lang="zh-CN" altLang="en-US" sz="2800" b="1" dirty="0">
                <a:latin typeface="+mn-ea"/>
              </a:rPr>
              <a:t>：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β)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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(β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α)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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β)</a:t>
            </a:r>
            <a:endParaRPr lang="en-US" altLang="zh-CN" sz="2800" b="1" dirty="0"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A7D2F8-5C4F-4DF4-8D48-DD51992FE315}"/>
              </a:ext>
            </a:extLst>
          </p:cNvPr>
          <p:cNvSpPr/>
          <p:nvPr/>
        </p:nvSpPr>
        <p:spPr>
          <a:xfrm>
            <a:off x="2190689" y="3672743"/>
            <a:ext cx="8717456" cy="972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5000"/>
              </a:lnSpc>
              <a:buFontTx/>
              <a:buNone/>
            </a:pPr>
            <a:r>
              <a:rPr lang="en-US" altLang="zh-CN" sz="2800" b="1" dirty="0">
                <a:latin typeface="+mn-ea"/>
              </a:rPr>
              <a:t>I</a:t>
            </a:r>
            <a:r>
              <a:rPr lang="en-US" altLang="zh-CN" sz="2800" b="1" baseline="-25000" dirty="0">
                <a:latin typeface="+mn-ea"/>
              </a:rPr>
              <a:t>13</a:t>
            </a:r>
            <a:r>
              <a:rPr lang="zh-CN" altLang="en-US" sz="2800" b="1" dirty="0">
                <a:latin typeface="+mn-ea"/>
              </a:rPr>
              <a:t>：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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γ)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(β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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γ)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</a:p>
          <a:p>
            <a:pPr algn="just">
              <a:lnSpc>
                <a:spcPct val="105000"/>
              </a:lnSpc>
              <a:buFontTx/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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γ)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(β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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γ)</a:t>
            </a:r>
            <a:endParaRPr lang="en-US" altLang="zh-CN" sz="2800" b="1" dirty="0"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D163E12-DA92-4761-A231-DB6942732984}"/>
              </a:ext>
            </a:extLst>
          </p:cNvPr>
          <p:cNvSpPr/>
          <p:nvPr/>
        </p:nvSpPr>
        <p:spPr>
          <a:xfrm>
            <a:off x="2190689" y="4777603"/>
            <a:ext cx="8717456" cy="520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5000"/>
              </a:lnSpc>
              <a:buFontTx/>
              <a:buNone/>
            </a:pPr>
            <a:r>
              <a:rPr lang="en-US" altLang="zh-CN" sz="2800" b="1" dirty="0">
                <a:latin typeface="+mn-ea"/>
              </a:rPr>
              <a:t>I</a:t>
            </a:r>
            <a:r>
              <a:rPr lang="en-US" altLang="zh-CN" sz="2800" b="1" baseline="-25000" dirty="0">
                <a:latin typeface="+mn-ea"/>
              </a:rPr>
              <a:t>14</a:t>
            </a:r>
            <a:r>
              <a:rPr lang="zh-CN" altLang="en-US" sz="2800" b="1" dirty="0">
                <a:latin typeface="+mn-ea"/>
              </a:rPr>
              <a:t>：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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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97461486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F356912-DCFC-4B0F-AA22-21497600BA5F}"/>
              </a:ext>
            </a:extLst>
          </p:cNvPr>
          <p:cNvSpPr/>
          <p:nvPr/>
        </p:nvSpPr>
        <p:spPr>
          <a:xfrm>
            <a:off x="3121891" y="1720840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lang="zh-CN" altLang="en-US" sz="3600" dirty="0">
                <a:latin typeface="等线" panose="02010600030101010101" pitchFamily="2" charset="-122"/>
                <a:ea typeface="等线" panose="02010600030101010101" pitchFamily="2" charset="-122"/>
              </a:rPr>
              <a:t>推理规则</a:t>
            </a:r>
          </a:p>
          <a:p>
            <a:pPr lvl="1">
              <a:buClr>
                <a:srgbClr val="3333FF"/>
              </a:buClr>
              <a:buFont typeface="Wingdings" panose="05000000000000000000" pitchFamily="2" charset="2"/>
              <a:buChar char="l"/>
            </a:pPr>
            <a:endParaRPr lang="zh-CN" altLang="en-US" sz="36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buClr>
                <a:srgbClr val="3333FF"/>
              </a:buClr>
            </a:pPr>
            <a:r>
              <a:rPr lang="zh-CN" altLang="en-US" sz="3600" dirty="0">
                <a:latin typeface="等线" panose="02010600030101010101" pitchFamily="2" charset="-122"/>
                <a:ea typeface="等线" panose="02010600030101010101" pitchFamily="2" charset="-122"/>
              </a:rPr>
              <a:t>前提引入</a:t>
            </a:r>
            <a:r>
              <a:rPr lang="en-US" altLang="zh-CN" sz="3600" dirty="0">
                <a:latin typeface="等线" panose="02010600030101010101" pitchFamily="2" charset="-122"/>
                <a:ea typeface="等线" panose="02010600030101010101" pitchFamily="2" charset="-122"/>
              </a:rPr>
              <a:t>(P)</a:t>
            </a:r>
          </a:p>
          <a:p>
            <a:pPr lvl="1">
              <a:buClr>
                <a:srgbClr val="3333FF"/>
              </a:buClr>
            </a:pPr>
            <a:r>
              <a:rPr lang="zh-CN" altLang="en-US" sz="3600" dirty="0">
                <a:latin typeface="等线" panose="02010600030101010101" pitchFamily="2" charset="-122"/>
                <a:ea typeface="等线" panose="02010600030101010101" pitchFamily="2" charset="-122"/>
              </a:rPr>
              <a:t>结论引用</a:t>
            </a:r>
            <a:r>
              <a:rPr lang="en-US" altLang="zh-CN" sz="3600" dirty="0">
                <a:latin typeface="等线" panose="02010600030101010101" pitchFamily="2" charset="-122"/>
                <a:ea typeface="等线" panose="02010600030101010101" pitchFamily="2" charset="-122"/>
              </a:rPr>
              <a:t>(T)</a:t>
            </a:r>
          </a:p>
          <a:p>
            <a:pPr lvl="1">
              <a:buClr>
                <a:srgbClr val="3333FF"/>
              </a:buClr>
            </a:pPr>
            <a:r>
              <a:rPr lang="zh-CN" altLang="en-US" sz="3600" dirty="0">
                <a:latin typeface="等线" panose="02010600030101010101" pitchFamily="2" charset="-122"/>
                <a:ea typeface="等线" panose="02010600030101010101" pitchFamily="2" charset="-122"/>
              </a:rPr>
              <a:t>置换规则</a:t>
            </a:r>
            <a:r>
              <a:rPr lang="en-US" altLang="zh-CN" sz="3600" dirty="0">
                <a:latin typeface="等线" panose="02010600030101010101" pitchFamily="2" charset="-122"/>
                <a:ea typeface="等线" panose="02010600030101010101" pitchFamily="2" charset="-122"/>
              </a:rPr>
              <a:t>(R)</a:t>
            </a:r>
          </a:p>
          <a:p>
            <a:pPr lvl="1">
              <a:buClr>
                <a:srgbClr val="3333FF"/>
              </a:buClr>
            </a:pPr>
            <a:r>
              <a:rPr lang="zh-CN" altLang="en-US" sz="3600" dirty="0">
                <a:latin typeface="等线" panose="02010600030101010101" pitchFamily="2" charset="-122"/>
                <a:ea typeface="等线" panose="02010600030101010101" pitchFamily="2" charset="-122"/>
              </a:rPr>
              <a:t>代入规则</a:t>
            </a:r>
            <a:r>
              <a:rPr lang="en-US" altLang="zh-CN" sz="3600" dirty="0">
                <a:latin typeface="等线" panose="02010600030101010101" pitchFamily="2" charset="-122"/>
                <a:ea typeface="等线" panose="02010600030101010101" pitchFamily="2" charset="-122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3376143696"/>
      </p:ext>
    </p:extLst>
  </p:cSld>
  <p:clrMapOvr>
    <a:masterClrMapping/>
  </p:clrMapOvr>
  <p:transition spd="slow" advTm="0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4" name="内容占位符 120834">
            <a:extLst>
              <a:ext uri="{FF2B5EF4-FFF2-40B4-BE49-F238E27FC236}">
                <a16:creationId xmlns:a16="http://schemas.microsoft.com/office/drawing/2014/main" id="{54986F72-D8B5-4F45-838C-9D59E941C71E}"/>
              </a:ext>
            </a:extLst>
          </p:cNvPr>
          <p:cNvSpPr txBox="1">
            <a:spLocks noChangeArrowheads="1"/>
          </p:cNvSpPr>
          <p:nvPr/>
        </p:nvSpPr>
        <p:spPr>
          <a:xfrm>
            <a:off x="2138218" y="1166018"/>
            <a:ext cx="8229600" cy="272249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3333FF"/>
                </a:solidFill>
                <a:latin typeface="+mn-ea"/>
              </a:rPr>
              <a:t>CP</a:t>
            </a:r>
            <a:r>
              <a:rPr lang="zh-CN" altLang="en-US" dirty="0">
                <a:solidFill>
                  <a:srgbClr val="3333FF"/>
                </a:solidFill>
                <a:latin typeface="+mn-ea"/>
              </a:rPr>
              <a:t>规则</a:t>
            </a:r>
            <a:r>
              <a:rPr lang="en-US" altLang="zh-CN" dirty="0">
                <a:solidFill>
                  <a:srgbClr val="3333FF"/>
                </a:solidFill>
                <a:latin typeface="+mn-ea"/>
              </a:rPr>
              <a:t>(Rule of Condition Proof)</a:t>
            </a:r>
          </a:p>
          <a:p>
            <a:pPr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latin typeface="+mn-ea"/>
              </a:rPr>
              <a:t>	</a:t>
            </a:r>
          </a:p>
          <a:p>
            <a:pPr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latin typeface="+mn-ea"/>
              </a:rPr>
              <a:t>	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演绎定理</a:t>
            </a:r>
          </a:p>
          <a:p>
            <a:pPr>
              <a:buFontTx/>
              <a:buNone/>
            </a:pPr>
            <a:r>
              <a:rPr lang="zh-CN" altLang="en-US" dirty="0">
                <a:latin typeface="+mn-ea"/>
              </a:rPr>
              <a:t>	</a:t>
            </a:r>
            <a:r>
              <a:rPr lang="en-US" altLang="zh-CN" dirty="0">
                <a:latin typeface="+mn-ea"/>
              </a:rPr>
              <a:t>(α</a:t>
            </a:r>
            <a:r>
              <a:rPr lang="en-US" altLang="zh-CN" baseline="-25000" dirty="0">
                <a:latin typeface="+mn-ea"/>
              </a:rPr>
              <a:t>1</a:t>
            </a:r>
            <a:r>
              <a:rPr lang="en-US" altLang="zh-CN" dirty="0">
                <a:latin typeface="+mn-ea"/>
                <a:sym typeface="Symbol" panose="05050102010706020507" pitchFamily="18" charset="2"/>
              </a:rPr>
              <a:t></a:t>
            </a:r>
            <a:r>
              <a:rPr lang="en-US" altLang="zh-CN" dirty="0">
                <a:latin typeface="+mn-ea"/>
              </a:rPr>
              <a:t>α</a:t>
            </a:r>
            <a:r>
              <a:rPr lang="en-US" altLang="zh-CN" baseline="-25000" dirty="0">
                <a:latin typeface="+mn-ea"/>
              </a:rPr>
              <a:t>2</a:t>
            </a:r>
            <a:r>
              <a:rPr lang="en-US" altLang="zh-CN" dirty="0">
                <a:latin typeface="+mn-ea"/>
                <a:sym typeface="Symbol" panose="05050102010706020507" pitchFamily="18" charset="2"/>
              </a:rPr>
              <a:t></a:t>
            </a:r>
            <a:r>
              <a:rPr lang="en-US" altLang="zh-CN" dirty="0">
                <a:latin typeface="+mn-ea"/>
              </a:rPr>
              <a:t>…</a:t>
            </a:r>
            <a:r>
              <a:rPr lang="en-US" altLang="zh-CN" dirty="0">
                <a:latin typeface="+mn-ea"/>
                <a:sym typeface="Symbol" panose="05050102010706020507" pitchFamily="18" charset="2"/>
              </a:rPr>
              <a:t></a:t>
            </a:r>
            <a:r>
              <a:rPr lang="en-US" altLang="zh-CN" dirty="0">
                <a:latin typeface="+mn-ea"/>
              </a:rPr>
              <a:t>α</a:t>
            </a:r>
            <a:r>
              <a:rPr lang="en-US" altLang="zh-CN" baseline="-25000" dirty="0">
                <a:latin typeface="+mn-ea"/>
              </a:rPr>
              <a:t>k</a:t>
            </a:r>
            <a:r>
              <a:rPr lang="en-US" altLang="zh-CN" dirty="0">
                <a:latin typeface="+mn-ea"/>
                <a:sym typeface="Symbol" panose="05050102010706020507" pitchFamily="18" charset="2"/>
              </a:rPr>
              <a:t></a:t>
            </a:r>
            <a:r>
              <a:rPr lang="en-US" altLang="zh-CN" dirty="0">
                <a:solidFill>
                  <a:schemeClr val="accent2"/>
                </a:solidFill>
                <a:latin typeface="+mn-ea"/>
              </a:rPr>
              <a:t>α</a:t>
            </a:r>
            <a:r>
              <a:rPr lang="en-US" altLang="zh-CN" dirty="0">
                <a:latin typeface="+mn-ea"/>
              </a:rPr>
              <a:t>)</a:t>
            </a:r>
            <a:r>
              <a:rPr lang="en-US" altLang="zh-CN" dirty="0">
                <a:latin typeface="+mn-ea"/>
                <a:sym typeface="Symbol" panose="05050102010706020507" pitchFamily="18" charset="2"/>
              </a:rPr>
              <a:t></a:t>
            </a:r>
            <a:r>
              <a:rPr lang="en-US" altLang="zh-CN" dirty="0">
                <a:solidFill>
                  <a:schemeClr val="accent2"/>
                </a:solidFill>
                <a:latin typeface="+mn-ea"/>
              </a:rPr>
              <a:t>β</a:t>
            </a:r>
            <a:r>
              <a:rPr lang="en-US" altLang="zh-CN" dirty="0">
                <a:latin typeface="+mn-ea"/>
              </a:rPr>
              <a:t> </a:t>
            </a:r>
            <a:r>
              <a:rPr lang="zh-CN" altLang="en-US" dirty="0">
                <a:latin typeface="+mn-ea"/>
              </a:rPr>
              <a:t>当且仅当 </a:t>
            </a:r>
          </a:p>
          <a:p>
            <a:pPr>
              <a:buFontTx/>
              <a:buNone/>
            </a:pPr>
            <a:r>
              <a:rPr lang="zh-CN" altLang="en-US" dirty="0">
                <a:latin typeface="+mn-ea"/>
              </a:rPr>
              <a:t>	</a:t>
            </a:r>
            <a:r>
              <a:rPr lang="en-US" altLang="zh-CN" dirty="0">
                <a:latin typeface="+mn-ea"/>
              </a:rPr>
              <a:t>(α</a:t>
            </a:r>
            <a:r>
              <a:rPr lang="en-US" altLang="zh-CN" baseline="-25000" dirty="0">
                <a:latin typeface="+mn-ea"/>
              </a:rPr>
              <a:t>1</a:t>
            </a:r>
            <a:r>
              <a:rPr lang="en-US" altLang="zh-CN" dirty="0">
                <a:latin typeface="+mn-ea"/>
                <a:sym typeface="Symbol" panose="05050102010706020507" pitchFamily="18" charset="2"/>
              </a:rPr>
              <a:t></a:t>
            </a:r>
            <a:r>
              <a:rPr lang="en-US" altLang="zh-CN" dirty="0">
                <a:latin typeface="+mn-ea"/>
              </a:rPr>
              <a:t>α</a:t>
            </a:r>
            <a:r>
              <a:rPr lang="en-US" altLang="zh-CN" baseline="-25000" dirty="0">
                <a:latin typeface="+mn-ea"/>
              </a:rPr>
              <a:t>2</a:t>
            </a:r>
            <a:r>
              <a:rPr lang="en-US" altLang="zh-CN" dirty="0">
                <a:latin typeface="+mn-ea"/>
                <a:sym typeface="Symbol" panose="05050102010706020507" pitchFamily="18" charset="2"/>
              </a:rPr>
              <a:t></a:t>
            </a:r>
            <a:r>
              <a:rPr lang="en-US" altLang="zh-CN" dirty="0">
                <a:latin typeface="+mn-ea"/>
              </a:rPr>
              <a:t>…</a:t>
            </a:r>
            <a:r>
              <a:rPr lang="en-US" altLang="zh-CN" dirty="0">
                <a:latin typeface="+mn-ea"/>
                <a:sym typeface="Symbol" panose="05050102010706020507" pitchFamily="18" charset="2"/>
              </a:rPr>
              <a:t></a:t>
            </a:r>
            <a:r>
              <a:rPr lang="en-US" altLang="zh-CN" dirty="0">
                <a:latin typeface="+mn-ea"/>
              </a:rPr>
              <a:t>α</a:t>
            </a:r>
            <a:r>
              <a:rPr lang="en-US" altLang="zh-CN" baseline="-25000" dirty="0">
                <a:latin typeface="+mn-ea"/>
              </a:rPr>
              <a:t>k</a:t>
            </a:r>
            <a:r>
              <a:rPr lang="en-US" altLang="zh-CN" dirty="0">
                <a:latin typeface="+mn-ea"/>
              </a:rPr>
              <a:t>)</a:t>
            </a:r>
            <a:r>
              <a:rPr lang="en-US" altLang="zh-CN" dirty="0">
                <a:latin typeface="+mn-ea"/>
                <a:sym typeface="Symbol" panose="05050102010706020507" pitchFamily="18" charset="2"/>
              </a:rPr>
              <a:t></a:t>
            </a:r>
            <a:r>
              <a:rPr lang="en-US" altLang="zh-CN" dirty="0">
                <a:solidFill>
                  <a:schemeClr val="accent2"/>
                </a:solidFill>
                <a:latin typeface="+mn-ea"/>
              </a:rPr>
              <a:t>α</a:t>
            </a:r>
            <a:r>
              <a:rPr lang="en-US" altLang="zh-CN" dirty="0">
                <a:solidFill>
                  <a:schemeClr val="accent2"/>
                </a:solidFill>
                <a:latin typeface="+mn-ea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chemeClr val="accent2"/>
                </a:solidFill>
                <a:latin typeface="+mn-ea"/>
              </a:rPr>
              <a:t>β</a:t>
            </a:r>
            <a:r>
              <a:rPr lang="zh-CN" altLang="en-US" dirty="0">
                <a:latin typeface="+mn-ea"/>
              </a:rPr>
              <a:t>。</a:t>
            </a:r>
          </a:p>
          <a:p>
            <a:pPr>
              <a:lnSpc>
                <a:spcPct val="135000"/>
              </a:lnSpc>
              <a:spcBef>
                <a:spcPct val="40000"/>
              </a:spcBef>
              <a:buFontTx/>
              <a:buNone/>
            </a:pPr>
            <a:r>
              <a:rPr lang="zh-CN" altLang="en-US" dirty="0">
                <a:latin typeface="+mn-ea"/>
              </a:rPr>
              <a:t>	</a:t>
            </a:r>
          </a:p>
          <a:p>
            <a:pPr>
              <a:lnSpc>
                <a:spcPct val="135000"/>
              </a:lnSpc>
              <a:spcBef>
                <a:spcPct val="40000"/>
              </a:spcBef>
              <a:buFontTx/>
              <a:buNone/>
            </a:pPr>
            <a:r>
              <a:rPr lang="zh-CN" altLang="en-US" dirty="0">
                <a:latin typeface="+mn-ea"/>
              </a:rPr>
              <a:t>	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809B76F-F58B-4B8A-A95D-A493FDF2D5DD}"/>
              </a:ext>
            </a:extLst>
          </p:cNvPr>
          <p:cNvSpPr/>
          <p:nvPr/>
        </p:nvSpPr>
        <p:spPr>
          <a:xfrm>
            <a:off x="2262909" y="4204962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800" dirty="0">
                <a:latin typeface="+mn-ea"/>
              </a:rPr>
              <a:t>利用演绎定理，许多命题公式，特别是蕴涵式的证明可得到简化，可将</a:t>
            </a:r>
            <a:r>
              <a:rPr lang="zh-CN" altLang="en-US" sz="2800" dirty="0">
                <a:solidFill>
                  <a:srgbClr val="00B0F0"/>
                </a:solidFill>
                <a:latin typeface="+mn-ea"/>
              </a:rPr>
              <a:t>蕴涵式的前件作为前提</a:t>
            </a:r>
            <a:r>
              <a:rPr lang="zh-CN" altLang="en-US" sz="2800" dirty="0">
                <a:latin typeface="+mn-ea"/>
              </a:rPr>
              <a:t>引入来进行证明。</a:t>
            </a:r>
          </a:p>
        </p:txBody>
      </p:sp>
    </p:spTree>
    <p:extLst>
      <p:ext uri="{BB962C8B-B14F-4D97-AF65-F5344CB8AC3E}">
        <p14:creationId xmlns:p14="http://schemas.microsoft.com/office/powerpoint/2010/main" val="2395242064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B50E8E0-8679-4834-B52B-9296E28469F3}"/>
              </a:ext>
            </a:extLst>
          </p:cNvPr>
          <p:cNvSpPr txBox="1"/>
          <p:nvPr/>
        </p:nvSpPr>
        <p:spPr>
          <a:xfrm>
            <a:off x="1828800" y="877455"/>
            <a:ext cx="50153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accent1"/>
                </a:solidFill>
              </a:rPr>
              <a:t>间接证明</a:t>
            </a:r>
          </a:p>
        </p:txBody>
      </p:sp>
      <p:sp>
        <p:nvSpPr>
          <p:cNvPr id="5" name="文本占位符 118786">
            <a:extLst>
              <a:ext uri="{FF2B5EF4-FFF2-40B4-BE49-F238E27FC236}">
                <a16:creationId xmlns:a16="http://schemas.microsoft.com/office/drawing/2014/main" id="{20817542-C818-451C-988E-8C308518C8BF}"/>
              </a:ext>
            </a:extLst>
          </p:cNvPr>
          <p:cNvSpPr txBox="1">
            <a:spLocks/>
          </p:cNvSpPr>
          <p:nvPr/>
        </p:nvSpPr>
        <p:spPr>
          <a:xfrm>
            <a:off x="1751013" y="1840346"/>
            <a:ext cx="8229600" cy="4525963"/>
          </a:xfrm>
          <a:prstGeom prst="rect">
            <a:avLst/>
          </a:prstGeom>
          <a:ln>
            <a:miter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accent2"/>
              </a:buClr>
              <a:buNone/>
            </a:pPr>
            <a:r>
              <a:rPr lang="zh-CN" altLang="en-US" sz="4000" dirty="0">
                <a:latin typeface="+mn-ea"/>
              </a:rPr>
              <a:t>  </a:t>
            </a:r>
            <a:r>
              <a:rPr lang="zh-CN" altLang="en-US" sz="3600" dirty="0">
                <a:latin typeface="+mn-ea"/>
              </a:rPr>
              <a:t>反证法</a:t>
            </a:r>
            <a:r>
              <a:rPr lang="en-US" altLang="zh-CN" sz="3600" dirty="0">
                <a:latin typeface="+mn-ea"/>
              </a:rPr>
              <a:t>/</a:t>
            </a:r>
            <a:r>
              <a:rPr lang="zh-CN" altLang="en-US" sz="3600" dirty="0">
                <a:latin typeface="+mn-ea"/>
              </a:rPr>
              <a:t>矛盾法</a:t>
            </a:r>
            <a:r>
              <a:rPr lang="en-US" altLang="zh-CN" sz="3600" dirty="0">
                <a:latin typeface="+mn-ea"/>
              </a:rPr>
              <a:t>/(Proof by Contradiction)</a:t>
            </a: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en-US" altLang="zh-CN" sz="3600" dirty="0">
                <a:latin typeface="+mn-ea"/>
                <a:cs typeface="Times New Roman" panose="02020603050405020304" pitchFamily="18" charset="0"/>
              </a:rPr>
              <a:t>	</a:t>
            </a:r>
            <a:r>
              <a:rPr lang="zh-CN" altLang="en-US" sz="3600" dirty="0">
                <a:latin typeface="+mn-ea"/>
                <a:cs typeface="Times New Roman" panose="02020603050405020304" pitchFamily="18" charset="0"/>
              </a:rPr>
              <a:t>设</a:t>
            </a:r>
            <a:r>
              <a:rPr lang="en-US" altLang="zh-CN" sz="3600" dirty="0">
                <a:latin typeface="+mn-ea"/>
                <a:cs typeface="Times New Roman" panose="02020603050405020304" pitchFamily="18" charset="0"/>
              </a:rPr>
              <a:t>α</a:t>
            </a:r>
            <a:r>
              <a:rPr lang="zh-CN" altLang="en-US" sz="3600" dirty="0">
                <a:latin typeface="+mn-ea"/>
                <a:cs typeface="Times New Roman" panose="02020603050405020304" pitchFamily="18" charset="0"/>
              </a:rPr>
              <a:t>，</a:t>
            </a:r>
            <a:r>
              <a:rPr lang="en-US" altLang="zh-CN" sz="3600" dirty="0">
                <a:latin typeface="+mn-ea"/>
                <a:cs typeface="Times New Roman" panose="02020603050405020304" pitchFamily="18" charset="0"/>
              </a:rPr>
              <a:t>β</a:t>
            </a:r>
            <a:r>
              <a:rPr lang="zh-CN" altLang="en-US" sz="3600" dirty="0">
                <a:latin typeface="+mn-ea"/>
              </a:rPr>
              <a:t>是命题公式，则</a:t>
            </a:r>
            <a:r>
              <a:rPr lang="en-US" altLang="zh-CN" sz="3600" dirty="0">
                <a:latin typeface="+mn-ea"/>
                <a:cs typeface="Times New Roman" panose="02020603050405020304" pitchFamily="18" charset="0"/>
              </a:rPr>
              <a:t>α</a:t>
            </a:r>
            <a:r>
              <a:rPr lang="en-US" altLang="zh-CN" sz="3600" dirty="0">
                <a:latin typeface="+mn-ea"/>
                <a:sym typeface="Symbol" panose="05050102010706020507" pitchFamily="18" charset="2"/>
              </a:rPr>
              <a:t></a:t>
            </a:r>
            <a:r>
              <a:rPr lang="en-US" altLang="zh-CN" sz="3600" dirty="0">
                <a:latin typeface="+mn-ea"/>
                <a:cs typeface="Times New Roman" panose="02020603050405020304" pitchFamily="18" charset="0"/>
              </a:rPr>
              <a:t>β</a:t>
            </a:r>
            <a:r>
              <a:rPr lang="zh-CN" altLang="en-US" sz="3600" dirty="0">
                <a:latin typeface="+mn-ea"/>
                <a:cs typeface="Times New Roman" panose="02020603050405020304" pitchFamily="18" charset="0"/>
              </a:rPr>
              <a:t>的充要条件是</a:t>
            </a:r>
            <a:r>
              <a:rPr lang="en-US" altLang="zh-CN" sz="3600" dirty="0">
                <a:latin typeface="+mn-ea"/>
                <a:cs typeface="Times New Roman" panose="02020603050405020304" pitchFamily="18" charset="0"/>
              </a:rPr>
              <a:t>α</a:t>
            </a:r>
            <a:r>
              <a:rPr lang="en-US" altLang="zh-CN" sz="3600" dirty="0">
                <a:latin typeface="+mn-ea"/>
                <a:sym typeface="Symbol" panose="05050102010706020507" pitchFamily="18" charset="2"/>
              </a:rPr>
              <a:t></a:t>
            </a:r>
            <a:r>
              <a:rPr lang="en-US" altLang="zh-CN" sz="3600" dirty="0">
                <a:latin typeface="+mn-ea"/>
                <a:cs typeface="Times New Roman" panose="02020603050405020304" pitchFamily="18" charset="0"/>
              </a:rPr>
              <a:t>β</a:t>
            </a:r>
            <a:r>
              <a:rPr lang="zh-CN" altLang="en-US" sz="3600" dirty="0">
                <a:latin typeface="+mn-ea"/>
                <a:cs typeface="Times New Roman" panose="02020603050405020304" pitchFamily="18" charset="0"/>
              </a:rPr>
              <a:t>是矛盾式</a:t>
            </a:r>
            <a:r>
              <a:rPr lang="zh-CN" altLang="en-US" sz="4000" dirty="0">
                <a:latin typeface="+mn-ea"/>
                <a:cs typeface="Times New Roman" panose="02020603050405020304" pitchFamily="18" charset="0"/>
              </a:rPr>
              <a:t>。</a:t>
            </a:r>
          </a:p>
          <a:p>
            <a:pPr marL="0" indent="0">
              <a:buFontTx/>
              <a:buNone/>
            </a:pPr>
            <a:endParaRPr lang="zh-CN" altLang="en-US" sz="4000" b="1" dirty="0">
              <a:latin typeface="+mn-ea"/>
              <a:cs typeface="Times New Roman" panose="02020603050405020304" pitchFamily="18" charset="0"/>
            </a:endParaRPr>
          </a:p>
          <a:p>
            <a:pPr marL="0" indent="0">
              <a:buFontTx/>
              <a:buNone/>
            </a:pPr>
            <a:r>
              <a:rPr lang="zh-CN" altLang="en-US" sz="4000" b="1" dirty="0">
                <a:latin typeface="+mn-ea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000978860"/>
      </p:ext>
    </p:extLst>
  </p:cSld>
  <p:clrMapOvr>
    <a:masterClrMapping/>
  </p:clrMapOvr>
  <p:transition spd="slow" advTm="0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标题 5121">
            <a:extLst>
              <a:ext uri="{FF2B5EF4-FFF2-40B4-BE49-F238E27FC236}">
                <a16:creationId xmlns:a16="http://schemas.microsoft.com/office/drawing/2014/main" id="{BD3B8202-9B15-491A-A771-6A87576C0324}"/>
              </a:ext>
            </a:extLst>
          </p:cNvPr>
          <p:cNvSpPr txBox="1">
            <a:spLocks/>
          </p:cNvSpPr>
          <p:nvPr/>
        </p:nvSpPr>
        <p:spPr>
          <a:xfrm>
            <a:off x="1562100" y="2954338"/>
            <a:ext cx="8691563" cy="1136650"/>
          </a:xfrm>
          <a:prstGeom prst="rect">
            <a:avLst/>
          </a:prstGeom>
          <a:ln>
            <a:miter/>
          </a:ln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ct val="135000"/>
              </a:lnSpc>
              <a:spcAft>
                <a:spcPts val="0"/>
              </a:spcAft>
              <a:defRPr/>
            </a:pPr>
            <a:r>
              <a:rPr lang="zh-CN" altLang="en-US" sz="48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 </a:t>
            </a:r>
            <a:endParaRPr lang="en-US" altLang="zh-CN" sz="48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fontAlgn="auto">
              <a:lnSpc>
                <a:spcPct val="135000"/>
              </a:lnSpc>
              <a:spcAft>
                <a:spcPts val="0"/>
              </a:spcAft>
              <a:defRPr/>
            </a:pPr>
            <a:r>
              <a:rPr lang="zh-CN" altLang="en-US" sz="54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谓词逻辑  </a:t>
            </a:r>
            <a:r>
              <a:rPr lang="en-US" altLang="zh-CN" sz="4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Predicate Logic</a:t>
            </a:r>
            <a:br>
              <a:rPr lang="en-US" altLang="zh-CN" sz="4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endParaRPr lang="en-US" altLang="zh-CN" sz="48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29187025"/>
      </p:ext>
    </p:extLst>
  </p:cSld>
  <p:clrMapOvr>
    <a:masterClrMapping/>
  </p:clrMapOvr>
  <p:transition spd="slow" advTm="0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76D7CF4-4C43-4C8F-837B-BA900046B8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9206" y="1037365"/>
            <a:ext cx="6950042" cy="292633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5FDA8EA-A808-45D0-BFE3-7ADE2015FB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4750" y="1843902"/>
            <a:ext cx="3238781" cy="317019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ADD3819-8D36-4BC0-BC4E-544835292D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5609" y="3257535"/>
            <a:ext cx="6812870" cy="302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792676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C0CD44A-F2E2-4C21-A29C-5024A2704A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000" y="1650707"/>
            <a:ext cx="5241808" cy="3943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744824"/>
      </p:ext>
    </p:extLst>
  </p:cSld>
  <p:clrMapOvr>
    <a:masterClrMapping/>
  </p:clrMapOvr>
  <p:transition spd="slow" advTm="0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D803534-7679-42BB-A21F-FC6ADF202F22}"/>
              </a:ext>
            </a:extLst>
          </p:cNvPr>
          <p:cNvSpPr/>
          <p:nvPr/>
        </p:nvSpPr>
        <p:spPr>
          <a:xfrm>
            <a:off x="1932048" y="876889"/>
            <a:ext cx="341632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7800" indent="-177800">
              <a:buFont typeface="Wingdings" panose="05000000000000000000" pitchFamily="2" charset="2"/>
              <a:buNone/>
            </a:pPr>
            <a:r>
              <a:rPr lang="zh-CN" altLang="en-US" sz="3600" dirty="0">
                <a:solidFill>
                  <a:schemeClr val="accent1">
                    <a:lumMod val="75000"/>
                  </a:schemeClr>
                </a:solidFill>
              </a:rPr>
              <a:t>命题逻辑的缺陷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2B5EC5C-432D-477C-BE23-7338AE5308B6}"/>
              </a:ext>
            </a:extLst>
          </p:cNvPr>
          <p:cNvSpPr/>
          <p:nvPr/>
        </p:nvSpPr>
        <p:spPr>
          <a:xfrm>
            <a:off x="991351" y="1816892"/>
            <a:ext cx="17331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22325" lvl="1">
              <a:buFontTx/>
              <a:buNone/>
            </a:pPr>
            <a:r>
              <a:rPr lang="zh-CN" altLang="en-US" sz="28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繁琐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230334-4728-4AAE-AB0D-B89250CC13F7}"/>
              </a:ext>
            </a:extLst>
          </p:cNvPr>
          <p:cNvSpPr/>
          <p:nvPr/>
        </p:nvSpPr>
        <p:spPr>
          <a:xfrm>
            <a:off x="1258643" y="2633784"/>
            <a:ext cx="934136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22325" lvl="1">
              <a:buFontTx/>
              <a:buNone/>
            </a:pPr>
            <a:r>
              <a:rPr lang="en-US" altLang="zh-CN" sz="3200" b="0" dirty="0">
                <a:latin typeface="Times New Roman" panose="02020603050405020304" pitchFamily="18" charset="0"/>
              </a:rPr>
              <a:t>S={1,2,…,50}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65672AC-3C27-4236-AF0F-C50DDD47CB39}"/>
              </a:ext>
            </a:extLst>
          </p:cNvPr>
          <p:cNvSpPr/>
          <p:nvPr/>
        </p:nvSpPr>
        <p:spPr>
          <a:xfrm>
            <a:off x="1932048" y="3429000"/>
            <a:ext cx="718337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</a:rPr>
              <a:t>表述</a:t>
            </a:r>
            <a:r>
              <a:rPr lang="en-US" altLang="zh-CN" sz="3200" dirty="0">
                <a:latin typeface="Times New Roman" panose="02020603050405020304" pitchFamily="18" charset="0"/>
              </a:rPr>
              <a:t>S</a:t>
            </a:r>
            <a:r>
              <a:rPr lang="zh-CN" altLang="en-US" sz="3200" dirty="0">
                <a:latin typeface="Times New Roman" panose="02020603050405020304" pitchFamily="18" charset="0"/>
              </a:rPr>
              <a:t>中所有元素都大于</a:t>
            </a:r>
            <a:r>
              <a:rPr lang="en-US" altLang="zh-CN" sz="3200" dirty="0">
                <a:latin typeface="Times New Roman" panose="02020603050405020304" pitchFamily="18" charset="0"/>
              </a:rPr>
              <a:t>3</a:t>
            </a:r>
            <a:r>
              <a:rPr lang="zh-CN" altLang="en-US" sz="3200" dirty="0">
                <a:latin typeface="Times New Roman" panose="02020603050405020304" pitchFamily="18" charset="0"/>
              </a:rPr>
              <a:t>这样一个性质</a:t>
            </a:r>
            <a:endParaRPr lang="zh-CN" altLang="en-US" sz="32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062644-0BF8-4C3A-BAA5-540C35960793}"/>
              </a:ext>
            </a:extLst>
          </p:cNvPr>
          <p:cNvSpPr/>
          <p:nvPr/>
        </p:nvSpPr>
        <p:spPr>
          <a:xfrm>
            <a:off x="1127760" y="4329123"/>
            <a:ext cx="747463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22325" lvl="1">
              <a:buFontTx/>
              <a:buNone/>
            </a:pPr>
            <a:r>
              <a:rPr lang="zh-CN" altLang="en-US" sz="3200" b="0" dirty="0">
                <a:latin typeface="Times New Roman" panose="02020603050405020304" pitchFamily="18" charset="0"/>
              </a:rPr>
              <a:t>需要</a:t>
            </a:r>
            <a:r>
              <a:rPr lang="en-US" altLang="zh-CN" sz="3200" b="0" dirty="0">
                <a:latin typeface="Times New Roman" panose="02020603050405020304" pitchFamily="18" charset="0"/>
              </a:rPr>
              <a:t>1&gt;3, 2&gt;3, …, 50&gt;3 </a:t>
            </a:r>
            <a:r>
              <a:rPr lang="zh-CN" altLang="en-US" sz="3200" b="0" dirty="0">
                <a:latin typeface="Times New Roman" panose="02020603050405020304" pitchFamily="18" charset="0"/>
              </a:rPr>
              <a:t>等</a:t>
            </a:r>
            <a:r>
              <a:rPr lang="en-US" altLang="zh-CN" sz="3200" b="0" dirty="0">
                <a:latin typeface="Times New Roman" panose="02020603050405020304" pitchFamily="18" charset="0"/>
              </a:rPr>
              <a:t>50</a:t>
            </a:r>
            <a:r>
              <a:rPr lang="zh-CN" altLang="en-US" sz="3200" b="0" dirty="0">
                <a:latin typeface="Times New Roman" panose="02020603050405020304" pitchFamily="18" charset="0"/>
              </a:rPr>
              <a:t>个命题。</a:t>
            </a:r>
          </a:p>
        </p:txBody>
      </p:sp>
    </p:spTree>
    <p:extLst>
      <p:ext uri="{BB962C8B-B14F-4D97-AF65-F5344CB8AC3E}">
        <p14:creationId xmlns:p14="http://schemas.microsoft.com/office/powerpoint/2010/main" val="3894675906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F2A7A85-E54C-4CEE-91AC-A363C1DEF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612" y="1768270"/>
            <a:ext cx="9642256" cy="4681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kern="0" dirty="0"/>
              <a:t>例：</a:t>
            </a:r>
            <a:r>
              <a:rPr lang="zh-CN" altLang="en-US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苏格拉底三段论</a:t>
            </a:r>
          </a:p>
          <a:p>
            <a:pPr lvl="1">
              <a:lnSpc>
                <a:spcPct val="90000"/>
              </a:lnSpc>
            </a:pPr>
            <a:r>
              <a:rPr kumimoji="1" lang="zh-CN" altLang="en-US" kern="0" dirty="0"/>
              <a:t>前提</a:t>
            </a:r>
          </a:p>
          <a:p>
            <a:pPr lvl="2">
              <a:lnSpc>
                <a:spcPct val="90000"/>
              </a:lnSpc>
            </a:pPr>
            <a:r>
              <a:rPr kumimoji="1" lang="zh-CN" altLang="en-US" kern="0" dirty="0"/>
              <a:t>“所有的人都是要死的”</a:t>
            </a:r>
          </a:p>
          <a:p>
            <a:pPr lvl="2">
              <a:lnSpc>
                <a:spcPct val="90000"/>
              </a:lnSpc>
            </a:pPr>
            <a:r>
              <a:rPr kumimoji="1" lang="zh-CN" altLang="en-US" kern="0" dirty="0"/>
              <a:t>“苏格拉底是人”</a:t>
            </a:r>
          </a:p>
          <a:p>
            <a:pPr lvl="1">
              <a:lnSpc>
                <a:spcPct val="90000"/>
              </a:lnSpc>
            </a:pPr>
            <a:r>
              <a:rPr kumimoji="1" lang="zh-CN" altLang="en-US" kern="0" dirty="0"/>
              <a:t>结论</a:t>
            </a:r>
          </a:p>
          <a:p>
            <a:pPr lvl="2">
              <a:lnSpc>
                <a:spcPct val="90000"/>
              </a:lnSpc>
            </a:pPr>
            <a:r>
              <a:rPr kumimoji="1" lang="zh-CN" altLang="en-US" kern="0" dirty="0"/>
              <a:t>“所以苏格拉底是要死的”</a:t>
            </a:r>
          </a:p>
          <a:p>
            <a:pPr>
              <a:lnSpc>
                <a:spcPct val="90000"/>
              </a:lnSpc>
            </a:pPr>
            <a:endParaRPr lang="en-US" altLang="zh-CN" kern="0" dirty="0"/>
          </a:p>
          <a:p>
            <a:pPr>
              <a:lnSpc>
                <a:spcPct val="90000"/>
              </a:lnSpc>
            </a:pPr>
            <a:r>
              <a:rPr lang="zh-CN" altLang="en-US" kern="0" dirty="0"/>
              <a:t>命题逻辑限定原子命题是不能细分的整体</a:t>
            </a:r>
          </a:p>
          <a:p>
            <a:pPr lvl="1">
              <a:lnSpc>
                <a:spcPct val="90000"/>
              </a:lnSpc>
            </a:pPr>
            <a:r>
              <a:rPr lang="zh-CN" altLang="en-US" kern="0" dirty="0">
                <a:latin typeface="宋体" pitchFamily="2" charset="-122"/>
              </a:rPr>
              <a:t>命题逻辑的局限性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1FC345E1-6EA0-4B55-A8FA-341B1206FD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7112" y="2716007"/>
            <a:ext cx="42222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i="1">
                <a:latin typeface="Times New Roman" pitchFamily="18" charset="0"/>
              </a:rPr>
              <a:t>P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4F276282-48EC-4FBA-83DA-87B3055FB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5674" y="3074782"/>
            <a:ext cx="50592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i="1">
                <a:latin typeface="Times New Roman" pitchFamily="18" charset="0"/>
              </a:rPr>
              <a:t>Q</a:t>
            </a: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4A247019-13C8-404E-8A7D-CDBDD2B0F0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0124" y="3978070"/>
            <a:ext cx="50592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i="1">
                <a:latin typeface="Times New Roman" pitchFamily="18" charset="0"/>
              </a:rPr>
              <a:t>R</a:t>
            </a: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4BF61B9E-8152-4628-8EC7-695F411E24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0862" y="3352595"/>
            <a:ext cx="20255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i="1" dirty="0" err="1">
                <a:latin typeface="Times New Roman" pitchFamily="18" charset="0"/>
              </a:rPr>
              <a:t>P</a:t>
            </a:r>
            <a:r>
              <a:rPr lang="en-US" altLang="zh-CN" sz="2400" dirty="0" err="1">
                <a:latin typeface="Times New Roman" pitchFamily="18" charset="0"/>
              </a:rPr>
              <a:t>∧</a:t>
            </a:r>
            <a:r>
              <a:rPr lang="en-US" altLang="zh-CN" sz="2400" i="1" dirty="0" err="1">
                <a:latin typeface="Times New Roman" pitchFamily="18" charset="0"/>
              </a:rPr>
              <a:t>Q</a:t>
            </a:r>
            <a:r>
              <a:rPr lang="en-US" altLang="zh-CN" sz="2400" dirty="0" err="1"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2400" i="1" dirty="0" err="1">
                <a:latin typeface="Times New Roman" pitchFamily="18" charset="0"/>
              </a:rPr>
              <a:t>R</a:t>
            </a:r>
            <a:endParaRPr lang="en-US" altLang="zh-CN" sz="2400" i="1" dirty="0">
              <a:latin typeface="Times New Roman" pitchFamily="18" charset="0"/>
            </a:endParaRPr>
          </a:p>
        </p:txBody>
      </p:sp>
      <p:sp>
        <p:nvSpPr>
          <p:cNvPr id="11" name="AutoShape 8">
            <a:extLst>
              <a:ext uri="{FF2B5EF4-FFF2-40B4-BE49-F238E27FC236}">
                <a16:creationId xmlns:a16="http://schemas.microsoft.com/office/drawing/2014/main" id="{7ED95640-191E-4422-BB75-E5E9B904FB3D}"/>
              </a:ext>
            </a:extLst>
          </p:cNvPr>
          <p:cNvSpPr>
            <a:spLocks/>
          </p:cNvSpPr>
          <p:nvPr/>
        </p:nvSpPr>
        <p:spPr bwMode="auto">
          <a:xfrm>
            <a:off x="6501213" y="2813724"/>
            <a:ext cx="338521" cy="1733209"/>
          </a:xfrm>
          <a:prstGeom prst="rightBrace">
            <a:avLst>
              <a:gd name="adj1" fmla="val 4152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AutoShape 9">
            <a:extLst>
              <a:ext uri="{FF2B5EF4-FFF2-40B4-BE49-F238E27FC236}">
                <a16:creationId xmlns:a16="http://schemas.microsoft.com/office/drawing/2014/main" id="{AAFCB8A7-9CE2-472E-982C-1CD4AA648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7837" y="3279570"/>
            <a:ext cx="1887904" cy="779658"/>
          </a:xfrm>
          <a:prstGeom prst="wedgeEllipseCallout">
            <a:avLst>
              <a:gd name="adj1" fmla="val 61032"/>
              <a:gd name="adj2" fmla="val -137009"/>
            </a:avLst>
          </a:prstGeom>
          <a:noFill/>
          <a:ln w="2857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zh-CN" altLang="zh-CN"/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4C53B016-4553-48CA-9529-B20F1D0C4E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6975" y="1846057"/>
            <a:ext cx="253146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>
                <a:solidFill>
                  <a:srgbClr val="FF0000"/>
                </a:solidFill>
                <a:ea typeface="楷体_GB2312" pitchFamily="49" charset="-122"/>
              </a:rPr>
              <a:t>不是命题演算的有效推理</a:t>
            </a: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54B81821-194F-407A-AA7E-F04AB0B6B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625" y="904670"/>
            <a:ext cx="9279555" cy="779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</a:rPr>
              <a:t>不能很好地描述命题间的逻辑关系</a:t>
            </a:r>
            <a:endParaRPr lang="en-US" altLang="zh-CN" sz="3600" dirty="0">
              <a:solidFill>
                <a:schemeClr val="accent1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" name="TextBox 2">
            <a:extLst>
              <a:ext uri="{FF2B5EF4-FFF2-40B4-BE49-F238E27FC236}">
                <a16:creationId xmlns:a16="http://schemas.microsoft.com/office/drawing/2014/main" id="{CE8A448B-7CAD-4355-902C-4F4BE8AAD0CF}"/>
              </a:ext>
            </a:extLst>
          </p:cNvPr>
          <p:cNvSpPr txBox="1"/>
          <p:nvPr/>
        </p:nvSpPr>
        <p:spPr>
          <a:xfrm>
            <a:off x="7619651" y="3785436"/>
            <a:ext cx="1264947" cy="4760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00"/>
              </a:lnSpc>
            </a:pPr>
            <a:r>
              <a:rPr lang="zh-CN" altLang="en-US" sz="2800" dirty="0">
                <a:solidFill>
                  <a:srgbClr val="FF0000"/>
                </a:solidFill>
                <a:sym typeface="Symbol"/>
              </a:rPr>
              <a:t>？</a:t>
            </a:r>
            <a:endParaRPr lang="en-US" altLang="zh-CN" sz="2800" dirty="0">
              <a:solidFill>
                <a:srgbClr val="FF0000"/>
              </a:solidFill>
              <a:sym typeface="Symbol"/>
            </a:endParaRPr>
          </a:p>
          <a:p>
            <a:pPr>
              <a:lnSpc>
                <a:spcPts val="1300"/>
              </a:lnSpc>
            </a:pPr>
            <a:r>
              <a:rPr lang="zh-CN" altLang="en-US" sz="2800" dirty="0">
                <a:sym typeface="Symbol"/>
              </a:rPr>
              <a:t></a:t>
            </a:r>
            <a:endParaRPr lang="en-US" altLang="zh-CN" sz="2800" dirty="0">
              <a:sym typeface="Symbol"/>
            </a:endParaRP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2AD94A2C-0A45-426D-BC27-B06EAA13E71C}"/>
              </a:ext>
            </a:extLst>
          </p:cNvPr>
          <p:cNvSpPr>
            <a:spLocks noChangeArrowheads="1"/>
          </p:cNvSpPr>
          <p:nvPr/>
        </p:nvSpPr>
        <p:spPr bwMode="gray">
          <a:xfrm>
            <a:off x="5608306" y="5445811"/>
            <a:ext cx="5924550" cy="1131647"/>
          </a:xfrm>
          <a:prstGeom prst="rect">
            <a:avLst/>
          </a:prstGeom>
          <a:noFill/>
          <a:ln>
            <a:noFill/>
          </a:ln>
          <a:effectLst/>
        </p:spPr>
        <p:txBody>
          <a:bodyPr lIns="36000" tIns="36000" rIns="36000" bIns="36000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defRPr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defRPr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defRPr sz="16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defRPr sz="16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defRPr sz="16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defRPr sz="16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defRPr sz="16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dirty="0"/>
              <a:t>    命题逻辑能够解决的问题是有</a:t>
            </a:r>
            <a:r>
              <a:rPr lang="zh-CN" altLang="en-US" sz="2000" dirty="0">
                <a:solidFill>
                  <a:srgbClr val="FF0000"/>
                </a:solidFill>
              </a:rPr>
              <a:t>局限性</a:t>
            </a:r>
            <a:r>
              <a:rPr lang="zh-CN" altLang="en-US" sz="2000" dirty="0"/>
              <a:t>的。只能进行</a:t>
            </a:r>
            <a:r>
              <a:rPr lang="zh-CN" altLang="en-US" sz="2000" dirty="0">
                <a:solidFill>
                  <a:srgbClr val="0000FF"/>
                </a:solidFill>
              </a:rPr>
              <a:t>命题间关系</a:t>
            </a:r>
            <a:r>
              <a:rPr lang="zh-CN" altLang="en-US" sz="2000" dirty="0"/>
              <a:t>的推理，无法解决与</a:t>
            </a:r>
            <a:r>
              <a:rPr lang="zh-CN" altLang="en-US" sz="2000" dirty="0">
                <a:solidFill>
                  <a:srgbClr val="0000FF"/>
                </a:solidFill>
              </a:rPr>
              <a:t>命题的结构和成分</a:t>
            </a:r>
            <a:r>
              <a:rPr lang="zh-CN" altLang="en-US" sz="2000" dirty="0"/>
              <a:t>有关的推理问题。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086188635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 bldLvl="5"/>
      <p:bldP spid="7" grpId="0" uiExpand="1"/>
      <p:bldP spid="8" grpId="0" uiExpand="1"/>
      <p:bldP spid="9" grpId="0" uiExpand="1"/>
      <p:bldP spid="10" grpId="0" uiExpand="1"/>
      <p:bldP spid="11" grpId="0" uiExpand="1" animBg="1"/>
      <p:bldP spid="12" grpId="0" uiExpand="1" animBg="1"/>
      <p:bldP spid="13" grpId="0" uiExpand="1"/>
      <p:bldP spid="14" grpId="0"/>
      <p:bldP spid="15" grpId="0"/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118BCD-0868-4C96-8AAA-41E8CC4B7797}"/>
              </a:ext>
            </a:extLst>
          </p:cNvPr>
          <p:cNvSpPr txBox="1">
            <a:spLocks noChangeArrowheads="1"/>
          </p:cNvSpPr>
          <p:nvPr/>
        </p:nvSpPr>
        <p:spPr>
          <a:xfrm>
            <a:off x="1457691" y="1654996"/>
            <a:ext cx="8229600" cy="54006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3200" dirty="0"/>
          </a:p>
          <a:p>
            <a:pPr lvl="1"/>
            <a:r>
              <a:rPr lang="zh-CN" altLang="en-US" sz="3200" i="1" dirty="0">
                <a:latin typeface="Times New Roman" pitchFamily="18" charset="0"/>
              </a:rPr>
              <a:t>Ｐ</a:t>
            </a:r>
            <a:r>
              <a:rPr lang="en-US" altLang="zh-CN" sz="3200" baseline="-25000" dirty="0">
                <a:latin typeface="Times New Roman" pitchFamily="18" charset="0"/>
              </a:rPr>
              <a:t>1</a:t>
            </a:r>
            <a:r>
              <a:rPr lang="zh-CN" altLang="en-US" sz="3200" dirty="0">
                <a:latin typeface="宋体" pitchFamily="2" charset="-122"/>
              </a:rPr>
              <a:t>：小张是大学生</a:t>
            </a:r>
          </a:p>
          <a:p>
            <a:pPr lvl="1"/>
            <a:r>
              <a:rPr lang="zh-CN" altLang="en-US" sz="3200" i="1" dirty="0">
                <a:latin typeface="Times New Roman" pitchFamily="18" charset="0"/>
              </a:rPr>
              <a:t>Ｐ</a:t>
            </a:r>
            <a:r>
              <a:rPr lang="en-US" altLang="zh-CN" sz="3200" baseline="-25000" dirty="0">
                <a:latin typeface="Times New Roman" pitchFamily="18" charset="0"/>
              </a:rPr>
              <a:t>2</a:t>
            </a:r>
            <a:r>
              <a:rPr lang="zh-CN" altLang="en-US" sz="3200" dirty="0">
                <a:latin typeface="宋体" pitchFamily="2" charset="-122"/>
              </a:rPr>
              <a:t>：小李是大学生</a:t>
            </a:r>
          </a:p>
          <a:p>
            <a:pPr lvl="1"/>
            <a:r>
              <a:rPr lang="en-US" altLang="zh-CN" sz="3200" i="1" dirty="0">
                <a:latin typeface="Times New Roman" pitchFamily="18" charset="0"/>
              </a:rPr>
              <a:t>Q</a:t>
            </a:r>
            <a:r>
              <a:rPr lang="en-US" altLang="zh-CN" sz="3200" baseline="-25000" dirty="0">
                <a:latin typeface="Times New Roman" pitchFamily="18" charset="0"/>
              </a:rPr>
              <a:t>1</a:t>
            </a:r>
            <a:r>
              <a:rPr lang="zh-CN" altLang="en-US" sz="3200" dirty="0">
                <a:latin typeface="宋体" pitchFamily="2" charset="-122"/>
              </a:rPr>
              <a:t>：</a:t>
            </a:r>
            <a:r>
              <a:rPr lang="en-US" altLang="zh-CN" sz="3200" dirty="0">
                <a:latin typeface="宋体" pitchFamily="2" charset="-122"/>
              </a:rPr>
              <a:t>2</a:t>
            </a:r>
            <a:r>
              <a:rPr lang="zh-CN" altLang="en-US" sz="3200" dirty="0">
                <a:latin typeface="宋体" pitchFamily="2" charset="-122"/>
              </a:rPr>
              <a:t>大于</a:t>
            </a:r>
            <a:r>
              <a:rPr lang="en-US" altLang="zh-CN" sz="3200" dirty="0">
                <a:latin typeface="宋体" pitchFamily="2" charset="-122"/>
              </a:rPr>
              <a:t>3</a:t>
            </a:r>
          </a:p>
          <a:p>
            <a:pPr lvl="1"/>
            <a:r>
              <a:rPr lang="en-US" altLang="zh-CN" sz="3200" i="1" dirty="0">
                <a:latin typeface="Times New Roman" pitchFamily="18" charset="0"/>
              </a:rPr>
              <a:t>Q</a:t>
            </a:r>
            <a:r>
              <a:rPr lang="en-US" altLang="zh-CN" sz="3200" baseline="-25000" dirty="0">
                <a:latin typeface="Times New Roman" pitchFamily="18" charset="0"/>
              </a:rPr>
              <a:t>2</a:t>
            </a:r>
            <a:r>
              <a:rPr lang="zh-CN" altLang="en-US" sz="3200" dirty="0">
                <a:latin typeface="宋体" pitchFamily="2" charset="-122"/>
              </a:rPr>
              <a:t>：</a:t>
            </a:r>
            <a:r>
              <a:rPr lang="en-US" altLang="zh-CN" sz="3200" dirty="0">
                <a:latin typeface="宋体" pitchFamily="2" charset="-122"/>
              </a:rPr>
              <a:t>6</a:t>
            </a:r>
            <a:r>
              <a:rPr lang="zh-CN" altLang="en-US" sz="3200" dirty="0">
                <a:latin typeface="宋体" pitchFamily="2" charset="-122"/>
              </a:rPr>
              <a:t>大于</a:t>
            </a:r>
            <a:r>
              <a:rPr lang="en-US" altLang="zh-CN" sz="3200" dirty="0">
                <a:latin typeface="宋体" pitchFamily="2" charset="-122"/>
              </a:rPr>
              <a:t>4</a:t>
            </a:r>
          </a:p>
          <a:p>
            <a:r>
              <a:rPr lang="zh-CN" altLang="en-US" sz="3200" dirty="0">
                <a:latin typeface="宋体" pitchFamily="2" charset="-122"/>
              </a:rPr>
              <a:t>不同原子命题之间是有</a:t>
            </a:r>
            <a:r>
              <a:rPr lang="zh-CN" altLang="en-US" sz="3200" dirty="0">
                <a:solidFill>
                  <a:srgbClr val="FF0000"/>
                </a:solidFill>
                <a:latin typeface="宋体" pitchFamily="2" charset="-122"/>
              </a:rPr>
              <a:t>内在联系</a:t>
            </a:r>
            <a:r>
              <a:rPr lang="zh-CN" altLang="en-US" sz="3200" dirty="0">
                <a:latin typeface="宋体" pitchFamily="2" charset="-122"/>
              </a:rPr>
              <a:t>的，但命题逻辑无法研究这种内在联系</a:t>
            </a:r>
          </a:p>
          <a:p>
            <a:r>
              <a:rPr lang="zh-CN" altLang="en-US" sz="3200" dirty="0">
                <a:latin typeface="宋体" pitchFamily="2" charset="-122"/>
              </a:rPr>
              <a:t>解决问题的方法</a:t>
            </a:r>
          </a:p>
          <a:p>
            <a:pPr lvl="1"/>
            <a:r>
              <a:rPr lang="zh-CN" altLang="en-US" sz="3200" dirty="0">
                <a:latin typeface="宋体" pitchFamily="2" charset="-122"/>
              </a:rPr>
              <a:t>分析原子命题，</a:t>
            </a:r>
            <a:r>
              <a:rPr lang="zh-CN" altLang="en-US" sz="3200" dirty="0">
                <a:solidFill>
                  <a:srgbClr val="FF0000"/>
                </a:solidFill>
                <a:latin typeface="宋体" pitchFamily="2" charset="-122"/>
              </a:rPr>
              <a:t>分离其主语和谓语</a:t>
            </a:r>
          </a:p>
          <a:p>
            <a:pPr lvl="1"/>
            <a:r>
              <a:rPr lang="zh-CN" altLang="en-US" sz="3200" dirty="0">
                <a:latin typeface="宋体" pitchFamily="2" charset="-122"/>
              </a:rPr>
              <a:t>考虑</a:t>
            </a:r>
            <a:r>
              <a:rPr lang="zh-CN" altLang="en-US" sz="3200" dirty="0">
                <a:solidFill>
                  <a:srgbClr val="FF0000"/>
                </a:solidFill>
                <a:latin typeface="宋体" pitchFamily="2" charset="-122"/>
              </a:rPr>
              <a:t>一般和个别，全称和存在</a:t>
            </a:r>
          </a:p>
        </p:txBody>
      </p:sp>
      <p:grpSp>
        <p:nvGrpSpPr>
          <p:cNvPr id="5" name="Group 7">
            <a:extLst>
              <a:ext uri="{FF2B5EF4-FFF2-40B4-BE49-F238E27FC236}">
                <a16:creationId xmlns:a16="http://schemas.microsoft.com/office/drawing/2014/main" id="{20C250B0-237A-4204-B5EE-82A961B544C4}"/>
              </a:ext>
            </a:extLst>
          </p:cNvPr>
          <p:cNvGrpSpPr>
            <a:grpSpLocks/>
          </p:cNvGrpSpPr>
          <p:nvPr/>
        </p:nvGrpSpPr>
        <p:grpSpPr bwMode="auto">
          <a:xfrm>
            <a:off x="4224521" y="1805042"/>
            <a:ext cx="5545138" cy="1384300"/>
            <a:chOff x="1791" y="300"/>
            <a:chExt cx="3493" cy="953"/>
          </a:xfrm>
        </p:grpSpPr>
        <p:sp>
          <p:nvSpPr>
            <p:cNvPr id="6" name="AutoShape 4">
              <a:extLst>
                <a:ext uri="{FF2B5EF4-FFF2-40B4-BE49-F238E27FC236}">
                  <a16:creationId xmlns:a16="http://schemas.microsoft.com/office/drawing/2014/main" id="{46684DE4-0C13-4CF7-B203-BA74209E53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6" y="300"/>
              <a:ext cx="1678" cy="318"/>
            </a:xfrm>
            <a:prstGeom prst="wedgeRoundRectCallout">
              <a:avLst>
                <a:gd name="adj1" fmla="val -100833"/>
                <a:gd name="adj2" fmla="val 187106"/>
                <a:gd name="adj3" fmla="val 16667"/>
              </a:avLst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lang="zh-CN" altLang="en-US" sz="2400"/>
                <a:t>刻划个体的性质</a:t>
              </a:r>
            </a:p>
          </p:txBody>
        </p:sp>
        <p:sp>
          <p:nvSpPr>
            <p:cNvPr id="7" name="Line 5">
              <a:extLst>
                <a:ext uri="{FF2B5EF4-FFF2-40B4-BE49-F238E27FC236}">
                  <a16:creationId xmlns:a16="http://schemas.microsoft.com/office/drawing/2014/main" id="{82331F81-B98B-4B52-9077-496F80EC39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7" y="935"/>
              <a:ext cx="86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6">
              <a:extLst>
                <a:ext uri="{FF2B5EF4-FFF2-40B4-BE49-F238E27FC236}">
                  <a16:creationId xmlns:a16="http://schemas.microsoft.com/office/drawing/2014/main" id="{366AC8EE-603B-409F-A5B1-6869933289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1" y="1253"/>
              <a:ext cx="86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14">
            <a:extLst>
              <a:ext uri="{FF2B5EF4-FFF2-40B4-BE49-F238E27FC236}">
                <a16:creationId xmlns:a16="http://schemas.microsoft.com/office/drawing/2014/main" id="{49896C64-9B4F-4869-9344-AFA8CE00A7E7}"/>
              </a:ext>
            </a:extLst>
          </p:cNvPr>
          <p:cNvGrpSpPr>
            <a:grpSpLocks/>
          </p:cNvGrpSpPr>
          <p:nvPr/>
        </p:nvGrpSpPr>
        <p:grpSpPr bwMode="auto">
          <a:xfrm>
            <a:off x="3754560" y="2776637"/>
            <a:ext cx="6343650" cy="1384300"/>
            <a:chOff x="1429" y="935"/>
            <a:chExt cx="3996" cy="953"/>
          </a:xfrm>
        </p:grpSpPr>
        <p:sp>
          <p:nvSpPr>
            <p:cNvPr id="10" name="AutoShape 9">
              <a:extLst>
                <a:ext uri="{FF2B5EF4-FFF2-40B4-BE49-F238E27FC236}">
                  <a16:creationId xmlns:a16="http://schemas.microsoft.com/office/drawing/2014/main" id="{52BD9F11-9497-4412-8EA2-7B6F6651E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4" y="935"/>
              <a:ext cx="2091" cy="318"/>
            </a:xfrm>
            <a:prstGeom prst="wedgeRoundRectCallout">
              <a:avLst>
                <a:gd name="adj1" fmla="val -120634"/>
                <a:gd name="adj2" fmla="val 161949"/>
                <a:gd name="adj3" fmla="val 16667"/>
              </a:avLst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lang="zh-CN" altLang="en-US" sz="2400"/>
                <a:t>刻划两个个体的关系</a:t>
              </a:r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73D70EDF-ACA4-42BD-B3E1-1BAEFEFA8C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5" y="1570"/>
              <a:ext cx="356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6C85F199-AAB0-4655-BC8C-1CFC23F964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9" y="1888"/>
              <a:ext cx="356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03807773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bldLvl="5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A02961E-C559-4CF4-8752-9A45215D8955}"/>
              </a:ext>
            </a:extLst>
          </p:cNvPr>
          <p:cNvSpPr txBox="1">
            <a:spLocks noChangeArrowheads="1"/>
          </p:cNvSpPr>
          <p:nvPr/>
        </p:nvSpPr>
        <p:spPr>
          <a:xfrm>
            <a:off x="1751013" y="1385791"/>
            <a:ext cx="8424863" cy="48244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600" dirty="0"/>
              <a:t>谓词逻辑命题符号化的三个基本要素</a:t>
            </a:r>
          </a:p>
          <a:p>
            <a:pPr lvl="1" algn="just">
              <a:lnSpc>
                <a:spcPct val="120000"/>
              </a:lnSpc>
            </a:pPr>
            <a:r>
              <a:rPr lang="zh-CN" altLang="en-US" sz="3600" dirty="0"/>
              <a:t>个体</a:t>
            </a:r>
            <a:endParaRPr lang="en-US" altLang="zh-CN" sz="3600" dirty="0"/>
          </a:p>
          <a:p>
            <a:pPr lvl="1" algn="just">
              <a:lnSpc>
                <a:spcPct val="120000"/>
              </a:lnSpc>
            </a:pPr>
            <a:r>
              <a:rPr lang="zh-CN" altLang="en-US" sz="3600" dirty="0"/>
              <a:t>谓词</a:t>
            </a:r>
            <a:endParaRPr lang="en-US" altLang="zh-CN" sz="3600" dirty="0"/>
          </a:p>
          <a:p>
            <a:pPr lvl="1" algn="just">
              <a:lnSpc>
                <a:spcPct val="120000"/>
              </a:lnSpc>
            </a:pPr>
            <a:r>
              <a:rPr lang="zh-CN" altLang="en-US" sz="3600" dirty="0"/>
              <a:t>量词</a:t>
            </a:r>
          </a:p>
          <a:p>
            <a:pPr>
              <a:buFont typeface="Wingdings" panose="05000000000000000000" pitchFamily="2" charset="2"/>
              <a:buNone/>
            </a:pPr>
            <a:br>
              <a:rPr lang="zh-CN" altLang="en-US" sz="3600" dirty="0"/>
            </a:b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50656942"/>
      </p:ext>
    </p:extLst>
  </p:cSld>
  <p:clrMapOvr>
    <a:masterClrMapping/>
  </p:clrMapOvr>
  <p:transition spd="slow" advTm="0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DCEDE23-89D9-4D3D-8C81-A9D4CF6CB4C7}"/>
              </a:ext>
            </a:extLst>
          </p:cNvPr>
          <p:cNvSpPr txBox="1"/>
          <p:nvPr/>
        </p:nvSpPr>
        <p:spPr>
          <a:xfrm>
            <a:off x="1751013" y="1139483"/>
            <a:ext cx="791677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个体词：</a:t>
            </a:r>
            <a:endParaRPr lang="en-US" altLang="zh-CN" sz="40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可以独立存在的客体称为</a:t>
            </a:r>
            <a:r>
              <a:rPr lang="zh-CN" altLang="en-US" sz="4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个词体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（具体的事物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抽象的概念）</a:t>
            </a:r>
            <a:endParaRPr lang="en-US" altLang="zh-C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表示</a:t>
            </a:r>
            <a:r>
              <a:rPr lang="zh-CN" altLang="en-US" sz="4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具体的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zh-CN" altLang="en-US" sz="4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确定的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个体词称为</a:t>
            </a:r>
            <a:endParaRPr lang="en-US" altLang="zh-C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个体常量  </a:t>
            </a:r>
            <a:r>
              <a:rPr lang="en-US" altLang="zh-CN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c,   </a:t>
            </a:r>
            <a:r>
              <a:rPr lang="en-US" altLang="zh-CN" sz="4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4000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altLang="zh-CN" sz="4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r>
              <a:rPr lang="zh-CN" altLang="en-US" sz="4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抽象的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r>
              <a:rPr lang="zh-CN" altLang="en-US" sz="4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泛指的（取值不确定的）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r>
              <a:rPr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个体变量  </a:t>
            </a:r>
            <a:r>
              <a:rPr lang="en-US" altLang="zh-CN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 y, z, x</a:t>
            </a:r>
            <a:r>
              <a:rPr lang="en-US" altLang="zh-CN" sz="40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altLang="zh-CN" sz="4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15546"/>
      </p:ext>
    </p:extLst>
  </p:cSld>
  <p:clrMapOvr>
    <a:masterClrMapping/>
  </p:clrMapOvr>
  <p:transition spd="slow" advTm="0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367D8A8-D0DA-47FD-B035-CCB5F93EFE0A}"/>
              </a:ext>
            </a:extLst>
          </p:cNvPr>
          <p:cNvSpPr/>
          <p:nvPr/>
        </p:nvSpPr>
        <p:spPr>
          <a:xfrm>
            <a:off x="1751013" y="869470"/>
            <a:ext cx="8494542" cy="29690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个体域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（或称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论域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3200" dirty="0"/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Field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指个体变元的</a:t>
            </a:r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取值范围，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常用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表示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lvl="1" algn="just">
              <a:lnSpc>
                <a:spcPct val="150000"/>
              </a:lnSpc>
            </a:pP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可以是有穷集合，如{</a:t>
            </a:r>
            <a:r>
              <a:rPr lang="en-US" altLang="zh-CN" sz="3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3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3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}, {1, 2}。</a:t>
            </a:r>
          </a:p>
          <a:p>
            <a:pPr lvl="1" algn="just">
              <a:lnSpc>
                <a:spcPct val="150000"/>
              </a:lnSpc>
            </a:pP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可以是无穷集合，如</a:t>
            </a:r>
            <a:r>
              <a:rPr lang="en-US" altLang="zh-CN" sz="3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3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3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,…。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1E8DE45-9BE7-49B8-810D-29F79BA7C8F2}"/>
              </a:ext>
            </a:extLst>
          </p:cNvPr>
          <p:cNvSpPr/>
          <p:nvPr/>
        </p:nvSpPr>
        <p:spPr>
          <a:xfrm>
            <a:off x="1946445" y="3945437"/>
            <a:ext cx="9044110" cy="1236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3200" b="1" dirty="0"/>
              <a:t>全总个体域</a:t>
            </a:r>
            <a:r>
              <a:rPr lang="en-US" altLang="zh-CN" sz="3200" b="1" dirty="0"/>
              <a:t>(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Universal Individual Field</a:t>
            </a:r>
            <a:r>
              <a:rPr lang="en-US" altLang="zh-CN" sz="3200" b="1" dirty="0"/>
              <a:t>)</a:t>
            </a:r>
            <a:r>
              <a:rPr lang="zh-CN" altLang="en-US" sz="3200" b="1" dirty="0"/>
              <a:t> </a:t>
            </a:r>
            <a:r>
              <a:rPr lang="zh-CN" altLang="en-US" sz="3200" dirty="0"/>
              <a:t>——</a:t>
            </a:r>
            <a:endParaRPr lang="en-US" altLang="zh-CN" sz="3200" dirty="0"/>
          </a:p>
          <a:p>
            <a:pPr algn="just">
              <a:lnSpc>
                <a:spcPct val="120000"/>
              </a:lnSpc>
            </a:pPr>
            <a:r>
              <a:rPr lang="zh-CN" altLang="en-US" sz="3200" dirty="0"/>
              <a:t>宇宙间的所有个体域聚集在一起所构成的个体域。</a:t>
            </a:r>
          </a:p>
        </p:txBody>
      </p:sp>
      <p:sp>
        <p:nvSpPr>
          <p:cNvPr id="6" name="矩形 8">
            <a:extLst>
              <a:ext uri="{FF2B5EF4-FFF2-40B4-BE49-F238E27FC236}">
                <a16:creationId xmlns:a16="http://schemas.microsoft.com/office/drawing/2014/main" id="{54A7D7AE-E6EA-4B2F-9767-FA9F13B37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6536" y="5430056"/>
            <a:ext cx="7391400" cy="946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0"/>
              </a:spcBef>
              <a:buClr>
                <a:schemeClr val="bg2"/>
              </a:buClr>
              <a:buFont typeface="Wingdings" panose="05000000000000000000" pitchFamily="2" charset="2"/>
              <a:buChar char="q"/>
            </a:pPr>
            <a:r>
              <a:rPr kumimoji="0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本课程在论述或推理中，如果没有指明所采用的个体域，都是使用的全总个体域。</a:t>
            </a:r>
          </a:p>
        </p:txBody>
      </p:sp>
    </p:spTree>
    <p:extLst>
      <p:ext uri="{BB962C8B-B14F-4D97-AF65-F5344CB8AC3E}">
        <p14:creationId xmlns:p14="http://schemas.microsoft.com/office/powerpoint/2010/main" val="2671736232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F5DD32B-7216-4794-8E92-2FB64A8899F4}"/>
              </a:ext>
            </a:extLst>
          </p:cNvPr>
          <p:cNvSpPr/>
          <p:nvPr/>
        </p:nvSpPr>
        <p:spPr>
          <a:xfrm>
            <a:off x="1416148" y="1161303"/>
            <a:ext cx="9952892" cy="27086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20000"/>
              </a:lnSpc>
              <a:buFontTx/>
              <a:buChar char="–"/>
            </a:pPr>
            <a:r>
              <a:rPr lang="zh-CN" alt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命题：离散数学是一门有趣的学科。</a:t>
            </a:r>
            <a:br>
              <a:rPr lang="zh-CN" alt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</a:br>
            <a:r>
              <a:rPr lang="zh-CN" alt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个体词：离散数学。</a:t>
            </a:r>
          </a:p>
          <a:p>
            <a:pPr lvl="1">
              <a:lnSpc>
                <a:spcPct val="120000"/>
              </a:lnSpc>
              <a:buFontTx/>
              <a:buChar char="–"/>
            </a:pPr>
            <a:r>
              <a:rPr lang="zh-CN" alt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命题：我是好人</a:t>
            </a:r>
            <a:r>
              <a:rPr lang="en-US" altLang="zh-CN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。</a:t>
            </a:r>
            <a:br>
              <a:rPr lang="en-US" altLang="zh-CN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</a:br>
            <a:r>
              <a:rPr lang="zh-CN" alt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个体词：我。</a:t>
            </a:r>
          </a:p>
        </p:txBody>
      </p:sp>
      <p:sp>
        <p:nvSpPr>
          <p:cNvPr id="5" name="矩形 11">
            <a:extLst>
              <a:ext uri="{FF2B5EF4-FFF2-40B4-BE49-F238E27FC236}">
                <a16:creationId xmlns:a16="http://schemas.microsoft.com/office/drawing/2014/main" id="{6505511C-6C9C-4DE5-8192-B8113F3A9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3827" y="4613568"/>
            <a:ext cx="7620000" cy="120032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0"/>
              </a:spcBef>
              <a:buClr>
                <a:schemeClr val="bg2"/>
              </a:buClr>
              <a:buFont typeface="Wingdings" panose="05000000000000000000" pitchFamily="2" charset="2"/>
              <a:buChar char="q"/>
            </a:pPr>
            <a:r>
              <a:rPr kumimoji="0" lang="zh-CN" alt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个体词一般是充当陈述句主语的名词或代词</a:t>
            </a:r>
          </a:p>
        </p:txBody>
      </p:sp>
    </p:spTree>
    <p:extLst>
      <p:ext uri="{BB962C8B-B14F-4D97-AF65-F5344CB8AC3E}">
        <p14:creationId xmlns:p14="http://schemas.microsoft.com/office/powerpoint/2010/main" val="466551477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9BE213D-DF21-4E93-99D5-3004A2C345C8}"/>
              </a:ext>
            </a:extLst>
          </p:cNvPr>
          <p:cNvSpPr/>
          <p:nvPr/>
        </p:nvSpPr>
        <p:spPr>
          <a:xfrm>
            <a:off x="1466116" y="964023"/>
            <a:ext cx="8032968" cy="126188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4000" dirty="0">
                <a:solidFill>
                  <a:srgbClr val="4472C4">
                    <a:lumMod val="50000"/>
                  </a:srgbClr>
                </a:solidFill>
              </a:rPr>
              <a:t>谓词</a:t>
            </a:r>
            <a:r>
              <a:rPr lang="en-US" altLang="zh-CN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(Predicate) </a:t>
            </a:r>
            <a:r>
              <a:rPr lang="zh-CN" altLang="en-US" sz="4000" dirty="0">
                <a:solidFill>
                  <a:srgbClr val="4472C4">
                    <a:lumMod val="50000"/>
                  </a:srgbClr>
                </a:solidFill>
              </a:rPr>
              <a:t>：</a:t>
            </a:r>
            <a:endParaRPr lang="en-US" altLang="zh-CN" sz="4000" dirty="0">
              <a:solidFill>
                <a:srgbClr val="4472C4">
                  <a:lumMod val="50000"/>
                </a:srgbClr>
              </a:solidFill>
            </a:endParaRPr>
          </a:p>
          <a:p>
            <a:pPr lvl="0"/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用以刻划</a:t>
            </a:r>
            <a:r>
              <a:rPr lang="zh-CN" altLang="en-US" sz="3600" dirty="0">
                <a:solidFill>
                  <a:srgbClr val="0070C0"/>
                </a:solidFill>
              </a:rPr>
              <a:t>客体的性质</a:t>
            </a:r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或</a:t>
            </a:r>
            <a:r>
              <a:rPr lang="zh-CN" altLang="en-US" sz="3600" dirty="0">
                <a:solidFill>
                  <a:srgbClr val="0070C0"/>
                </a:solidFill>
              </a:rPr>
              <a:t>客体之间的关系</a:t>
            </a:r>
            <a:endParaRPr lang="en-US" altLang="zh-CN" sz="3600" dirty="0">
              <a:solidFill>
                <a:srgbClr val="0070C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B0B56AA-C4F9-411F-80E5-E5C3AD99330E}"/>
              </a:ext>
            </a:extLst>
          </p:cNvPr>
          <p:cNvSpPr/>
          <p:nvPr/>
        </p:nvSpPr>
        <p:spPr>
          <a:xfrm>
            <a:off x="1466116" y="2420964"/>
            <a:ext cx="849463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表示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</a:rPr>
              <a:t>具体性质或关系</a:t>
            </a:r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的谓词称为</a:t>
            </a:r>
            <a:r>
              <a:rPr lang="zh-CN" altLang="en-US" sz="3600" dirty="0">
                <a:solidFill>
                  <a:srgbClr val="FF0000"/>
                </a:solidFill>
              </a:rPr>
              <a:t>谓词常量</a:t>
            </a:r>
            <a:endParaRPr lang="en-US" altLang="zh-CN" sz="3600" dirty="0">
              <a:solidFill>
                <a:srgbClr val="FF000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B516390-0E9B-436E-8A97-4FA3860A3E16}"/>
              </a:ext>
            </a:extLst>
          </p:cNvPr>
          <p:cNvSpPr/>
          <p:nvPr/>
        </p:nvSpPr>
        <p:spPr>
          <a:xfrm>
            <a:off x="1466116" y="3138514"/>
            <a:ext cx="1034129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表示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</a:rPr>
              <a:t>抽象或泛指的性质或关系</a:t>
            </a:r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的谓词称为</a:t>
            </a:r>
            <a:r>
              <a:rPr lang="zh-CN" altLang="en-US" sz="3600" dirty="0">
                <a:solidFill>
                  <a:srgbClr val="FF0000"/>
                </a:solidFill>
              </a:rPr>
              <a:t>谓词变量</a:t>
            </a:r>
            <a:endParaRPr lang="en-US" altLang="zh-CN" sz="3600" dirty="0">
              <a:solidFill>
                <a:srgbClr val="FF0000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7B82408-53DF-4E43-8CBE-EA678047B055}"/>
              </a:ext>
            </a:extLst>
          </p:cNvPr>
          <p:cNvSpPr/>
          <p:nvPr/>
        </p:nvSpPr>
        <p:spPr>
          <a:xfrm>
            <a:off x="1571624" y="3979902"/>
            <a:ext cx="68267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3600" dirty="0">
                <a:solidFill>
                  <a:prstClr val="black">
                    <a:lumMod val="95000"/>
                    <a:lumOff val="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P, Q, R, P</a:t>
            </a:r>
            <a:r>
              <a:rPr lang="en-US" altLang="zh-CN" sz="3600" baseline="-25000" dirty="0">
                <a:solidFill>
                  <a:prstClr val="black">
                    <a:lumMod val="95000"/>
                    <a:lumOff val="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   </a:t>
            </a:r>
            <a:r>
              <a:rPr lang="zh-CN" altLang="en-US" sz="3600" dirty="0">
                <a:solidFill>
                  <a:prstClr val="black">
                    <a:lumMod val="95000"/>
                    <a:lumOff val="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谓词常元  谓词变元</a:t>
            </a:r>
            <a:endParaRPr lang="en-US" altLang="zh-CN" sz="3600" dirty="0">
              <a:solidFill>
                <a:prstClr val="black">
                  <a:lumMod val="95000"/>
                  <a:lumOff val="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563539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EA8C2F1-876E-4419-9A39-54574DD5C462}"/>
              </a:ext>
            </a:extLst>
          </p:cNvPr>
          <p:cNvSpPr txBox="1"/>
          <p:nvPr/>
        </p:nvSpPr>
        <p:spPr>
          <a:xfrm>
            <a:off x="851694" y="5389461"/>
            <a:ext cx="109470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由一个谓词和</a:t>
            </a:r>
            <a:r>
              <a:rPr lang="en-US" altLang="zh-CN" sz="3600" b="1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3600" b="1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lang="zh-CN" altLang="en-US" sz="36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个体变元</a:t>
            </a:r>
            <a:r>
              <a:rPr lang="zh-CN" altLang="en-US" sz="3600" b="1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组成的</a:t>
            </a:r>
            <a:r>
              <a:rPr lang="en-US" altLang="zh-CN" sz="3600" b="1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 sz="3600" b="1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3600" b="1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x=x</a:t>
            </a:r>
            <a:r>
              <a:rPr lang="en-US" altLang="zh-CN" sz="3600" b="1" baseline="-250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3600" b="1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, x</a:t>
            </a:r>
            <a:r>
              <a:rPr lang="en-US" altLang="zh-CN" sz="3600" b="1" baseline="-250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3600" b="1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, … </a:t>
            </a:r>
            <a:r>
              <a:rPr lang="en-US" altLang="zh-CN" sz="3600" b="1" dirty="0" err="1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3600" b="1" baseline="-25000" dirty="0" err="1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3600" b="1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），称它为</a:t>
            </a:r>
            <a:r>
              <a:rPr lang="en-US" altLang="zh-CN" sz="36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36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元谓词</a:t>
            </a:r>
            <a:r>
              <a:rPr lang="zh-CN" altLang="en-US" sz="3600" b="1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36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36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元命题函数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73E13C1-DE4A-4AB3-AA64-DCC505392FAD}"/>
              </a:ext>
            </a:extLst>
          </p:cNvPr>
          <p:cNvSpPr>
            <a:spLocks noChangeArrowheads="1"/>
          </p:cNvSpPr>
          <p:nvPr/>
        </p:nvSpPr>
        <p:spPr bwMode="gray">
          <a:xfrm>
            <a:off x="1399900" y="809210"/>
            <a:ext cx="10187952" cy="4159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zh-CN" altLang="en-US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非空的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个体域，定义在</a:t>
            </a:r>
            <a:r>
              <a:rPr lang="en-US" altLang="zh-C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36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表示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个个体都在个体域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上取值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上取值于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{0,1}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元函数，称为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元命题函数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元谓词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(Propositional Function)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，记为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P(x</a:t>
            </a:r>
            <a:r>
              <a:rPr lang="en-US" altLang="zh-CN" sz="3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x</a:t>
            </a:r>
            <a:r>
              <a:rPr lang="en-US" altLang="zh-CN" sz="3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…, </a:t>
            </a:r>
            <a:r>
              <a:rPr lang="en-US" altLang="zh-C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3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。此时，个体变量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3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x</a:t>
            </a:r>
            <a:r>
              <a:rPr lang="en-US" altLang="zh-CN" sz="3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…, </a:t>
            </a:r>
            <a:r>
              <a:rPr lang="en-US" altLang="zh-C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3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的定义域都为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P(x</a:t>
            </a:r>
            <a:r>
              <a:rPr lang="en-US" altLang="zh-CN" sz="3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x</a:t>
            </a:r>
            <a:r>
              <a:rPr lang="en-US" altLang="zh-CN" sz="3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…, </a:t>
            </a:r>
            <a:r>
              <a:rPr lang="en-US" altLang="zh-C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3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的值域为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{0, 1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｝。 </a:t>
            </a:r>
          </a:p>
        </p:txBody>
      </p:sp>
    </p:spTree>
    <p:extLst>
      <p:ext uri="{BB962C8B-B14F-4D97-AF65-F5344CB8AC3E}">
        <p14:creationId xmlns:p14="http://schemas.microsoft.com/office/powerpoint/2010/main" val="4006800372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矩形 4">
            <a:extLst>
              <a:ext uri="{FF2B5EF4-FFF2-40B4-BE49-F238E27FC236}">
                <a16:creationId xmlns:a16="http://schemas.microsoft.com/office/drawing/2014/main" id="{AC56465E-34D3-4B71-BA90-9E85C49528BE}"/>
              </a:ext>
            </a:extLst>
          </p:cNvPr>
          <p:cNvSpPr txBox="1">
            <a:spLocks noChangeArrowheads="1"/>
          </p:cNvSpPr>
          <p:nvPr/>
        </p:nvSpPr>
        <p:spPr>
          <a:xfrm>
            <a:off x="1515354" y="646748"/>
            <a:ext cx="9415243" cy="5745162"/>
          </a:xfrm>
          <a:prstGeom prst="rect">
            <a:avLst/>
          </a:prstGeom>
          <a:noFill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Wingdings" panose="05000000000000000000" pitchFamily="2" charset="2"/>
              <a:buAutoNum type="arabicParenBoth"/>
            </a:pPr>
            <a:r>
              <a:rPr lang="zh-CN" altLang="en-US" sz="3200" dirty="0">
                <a:latin typeface="+mn-ea"/>
                <a:sym typeface="Symbol" panose="05050102010706020507" pitchFamily="18" charset="2"/>
              </a:rPr>
              <a:t></a:t>
            </a:r>
            <a:r>
              <a:rPr lang="zh-CN" altLang="en-US" sz="3200" dirty="0">
                <a:latin typeface="+mn-ea"/>
              </a:rPr>
              <a:t>是无理数。</a:t>
            </a:r>
            <a:endParaRPr lang="en-US" altLang="zh-CN" sz="3200" dirty="0">
              <a:latin typeface="+mn-ea"/>
            </a:endParaRPr>
          </a:p>
          <a:p>
            <a:r>
              <a:rPr lang="zh-CN" altLang="en-US" sz="3200" dirty="0">
                <a:latin typeface="+mn-ea"/>
                <a:sym typeface="Symbol" panose="05050102010706020507" pitchFamily="18" charset="2"/>
              </a:rPr>
              <a:t></a:t>
            </a:r>
            <a:r>
              <a:rPr lang="zh-CN" altLang="en-US" sz="3200" dirty="0">
                <a:latin typeface="+mn-ea"/>
              </a:rPr>
              <a:t>是个体常元，“</a:t>
            </a:r>
            <a:r>
              <a:rPr lang="zh-CN" altLang="en-US" sz="3200" dirty="0">
                <a:solidFill>
                  <a:srgbClr val="FF0000"/>
                </a:solidFill>
                <a:latin typeface="+mn-ea"/>
                <a:sym typeface="Symbol" panose="05050102010706020507" pitchFamily="18" charset="2"/>
              </a:rPr>
              <a:t></a:t>
            </a:r>
            <a:r>
              <a:rPr lang="zh-CN" altLang="en-US" sz="3200" dirty="0">
                <a:latin typeface="+mn-ea"/>
              </a:rPr>
              <a:t>是无理数”是谓词，记为</a:t>
            </a:r>
            <a:r>
              <a:rPr lang="en-US" altLang="zh-CN" sz="3200" dirty="0">
                <a:latin typeface="+mn-ea"/>
              </a:rPr>
              <a:t>F，</a:t>
            </a:r>
            <a:r>
              <a:rPr lang="zh-CN" altLang="en-US" sz="3200" dirty="0">
                <a:latin typeface="+mn-ea"/>
              </a:rPr>
              <a:t>命题符号化为</a:t>
            </a:r>
            <a:r>
              <a:rPr lang="en-US" altLang="zh-CN" sz="3200" dirty="0">
                <a:latin typeface="+mn-ea"/>
              </a:rPr>
              <a:t>F(</a:t>
            </a:r>
            <a:r>
              <a:rPr lang="zh-CN" altLang="en-US" sz="3200" dirty="0">
                <a:latin typeface="+mn-ea"/>
                <a:sym typeface="Symbol" panose="05050102010706020507" pitchFamily="18" charset="2"/>
              </a:rPr>
              <a:t></a:t>
            </a:r>
            <a:r>
              <a:rPr lang="en-US" altLang="zh-CN" sz="3200" dirty="0">
                <a:latin typeface="+mn-ea"/>
              </a:rPr>
              <a:t>)</a:t>
            </a:r>
            <a:r>
              <a:rPr lang="zh-CN" altLang="en-US" sz="3200" dirty="0">
                <a:latin typeface="+mn-ea"/>
              </a:rPr>
              <a:t> 。</a:t>
            </a:r>
          </a:p>
          <a:p>
            <a:r>
              <a:rPr lang="zh-CN" altLang="en-US" sz="3200" dirty="0">
                <a:latin typeface="+mn-ea"/>
              </a:rPr>
              <a:t>(2) </a:t>
            </a:r>
            <a:r>
              <a:rPr lang="en-US" altLang="zh-CN" sz="3200" dirty="0">
                <a:latin typeface="+mn-ea"/>
              </a:rPr>
              <a:t>x</a:t>
            </a:r>
            <a:r>
              <a:rPr lang="zh-CN" altLang="en-US" sz="3200" dirty="0">
                <a:latin typeface="+mn-ea"/>
              </a:rPr>
              <a:t>是有理数。</a:t>
            </a:r>
            <a:endParaRPr lang="en-US" altLang="zh-CN" sz="3200" dirty="0">
              <a:latin typeface="+mn-ea"/>
            </a:endParaRPr>
          </a:p>
          <a:p>
            <a:r>
              <a:rPr lang="en-US" altLang="zh-CN" sz="3200" dirty="0">
                <a:latin typeface="+mn-ea"/>
                <a:sym typeface="Symbol" panose="05050102010706020507" pitchFamily="18" charset="2"/>
              </a:rPr>
              <a:t>x</a:t>
            </a:r>
            <a:r>
              <a:rPr lang="zh-CN" altLang="en-US" sz="3200" dirty="0">
                <a:latin typeface="+mn-ea"/>
              </a:rPr>
              <a:t>是个体变元，“</a:t>
            </a:r>
            <a:r>
              <a:rPr lang="zh-CN" altLang="en-US" sz="3200" dirty="0">
                <a:solidFill>
                  <a:srgbClr val="FF0000"/>
                </a:solidFill>
                <a:latin typeface="+mn-ea"/>
                <a:sym typeface="Symbol" panose="05050102010706020507" pitchFamily="18" charset="2"/>
              </a:rPr>
              <a:t></a:t>
            </a:r>
            <a:r>
              <a:rPr lang="zh-CN" altLang="en-US" sz="3200" dirty="0">
                <a:latin typeface="+mn-ea"/>
              </a:rPr>
              <a:t>是有理数”是谓词，记为</a:t>
            </a:r>
            <a:r>
              <a:rPr lang="en-US" altLang="zh-CN" sz="3200" dirty="0">
                <a:latin typeface="+mn-ea"/>
              </a:rPr>
              <a:t>G，</a:t>
            </a:r>
            <a:r>
              <a:rPr lang="zh-CN" altLang="en-US" sz="3200" dirty="0">
                <a:latin typeface="+mn-ea"/>
              </a:rPr>
              <a:t>命题符号化为</a:t>
            </a:r>
            <a:r>
              <a:rPr lang="en-US" altLang="zh-CN" sz="3200" dirty="0">
                <a:latin typeface="+mn-ea"/>
              </a:rPr>
              <a:t>G(</a:t>
            </a:r>
            <a:r>
              <a:rPr lang="en-US" altLang="zh-CN" sz="3200" dirty="0">
                <a:latin typeface="+mn-ea"/>
                <a:sym typeface="Symbol" panose="05050102010706020507" pitchFamily="18" charset="2"/>
              </a:rPr>
              <a:t>x</a:t>
            </a:r>
            <a:r>
              <a:rPr lang="en-US" altLang="zh-CN" sz="3200" dirty="0">
                <a:latin typeface="+mn-ea"/>
              </a:rPr>
              <a:t>)</a:t>
            </a:r>
            <a:r>
              <a:rPr lang="zh-CN" altLang="en-US" sz="3200" dirty="0">
                <a:latin typeface="+mn-ea"/>
              </a:rPr>
              <a:t>。</a:t>
            </a:r>
            <a:endParaRPr lang="en-US" altLang="zh-CN" sz="3200" dirty="0">
              <a:latin typeface="+mn-ea"/>
            </a:endParaRPr>
          </a:p>
          <a:p>
            <a:r>
              <a:rPr lang="en-US" altLang="zh-CN" sz="3200" dirty="0">
                <a:latin typeface="+mn-ea"/>
              </a:rPr>
              <a:t> </a:t>
            </a:r>
            <a:r>
              <a:rPr lang="zh-CN" altLang="en-US" sz="3200" dirty="0">
                <a:latin typeface="+mn-ea"/>
              </a:rPr>
              <a:t>(3) 小王与小李同岁。</a:t>
            </a:r>
            <a:endParaRPr lang="en-US" altLang="zh-CN" sz="3200" dirty="0">
              <a:latin typeface="+mn-ea"/>
            </a:endParaRPr>
          </a:p>
          <a:p>
            <a:r>
              <a:rPr lang="zh-CN" altLang="en-US" sz="3200" dirty="0">
                <a:latin typeface="+mn-ea"/>
              </a:rPr>
              <a:t>小王、小李都是个体常元，“</a:t>
            </a:r>
            <a:r>
              <a:rPr lang="zh-CN" altLang="en-US" sz="3200" dirty="0">
                <a:solidFill>
                  <a:srgbClr val="FF0000"/>
                </a:solidFill>
                <a:latin typeface="+mn-ea"/>
                <a:sym typeface="Symbol" panose="05050102010706020507" pitchFamily="18" charset="2"/>
              </a:rPr>
              <a:t></a:t>
            </a:r>
            <a:r>
              <a:rPr lang="zh-CN" altLang="en-US" sz="3200" dirty="0">
                <a:latin typeface="+mn-ea"/>
              </a:rPr>
              <a:t>与</a:t>
            </a:r>
            <a:r>
              <a:rPr lang="zh-CN" altLang="en-US" sz="3200" dirty="0">
                <a:solidFill>
                  <a:srgbClr val="FF0000"/>
                </a:solidFill>
                <a:latin typeface="+mn-ea"/>
                <a:sym typeface="Symbol" panose="05050102010706020507" pitchFamily="18" charset="2"/>
              </a:rPr>
              <a:t></a:t>
            </a:r>
            <a:r>
              <a:rPr lang="zh-CN" altLang="en-US" sz="3200" dirty="0">
                <a:latin typeface="+mn-ea"/>
              </a:rPr>
              <a:t>同岁”是谓词，记为</a:t>
            </a:r>
            <a:r>
              <a:rPr lang="en-US" altLang="zh-CN" sz="3200" dirty="0">
                <a:latin typeface="+mn-ea"/>
              </a:rPr>
              <a:t>H，</a:t>
            </a:r>
            <a:r>
              <a:rPr lang="zh-CN" altLang="en-US" sz="3200" dirty="0">
                <a:latin typeface="+mn-ea"/>
              </a:rPr>
              <a:t>命题符号化为</a:t>
            </a:r>
            <a:r>
              <a:rPr lang="en-US" altLang="zh-CN" sz="3200" dirty="0">
                <a:latin typeface="+mn-ea"/>
              </a:rPr>
              <a:t>H(</a:t>
            </a:r>
            <a:r>
              <a:rPr lang="en-US" altLang="zh-CN" sz="3200" dirty="0" err="1">
                <a:latin typeface="+mn-ea"/>
                <a:sym typeface="Symbol" panose="05050102010706020507" pitchFamily="18" charset="2"/>
              </a:rPr>
              <a:t>a,b</a:t>
            </a:r>
            <a:r>
              <a:rPr lang="en-US" altLang="zh-CN" sz="3200" dirty="0">
                <a:latin typeface="+mn-ea"/>
              </a:rPr>
              <a:t>)</a:t>
            </a:r>
            <a:r>
              <a:rPr lang="zh-CN" altLang="en-US" sz="3200" dirty="0">
                <a:latin typeface="+mn-ea"/>
              </a:rPr>
              <a:t> ，其中</a:t>
            </a:r>
            <a:r>
              <a:rPr lang="en-US" altLang="zh-CN" sz="3200" dirty="0">
                <a:latin typeface="+mn-ea"/>
                <a:sym typeface="Symbol" panose="05050102010706020507" pitchFamily="18" charset="2"/>
              </a:rPr>
              <a:t>a：</a:t>
            </a:r>
            <a:r>
              <a:rPr lang="zh-CN" altLang="en-US" sz="3200" dirty="0">
                <a:latin typeface="+mn-ea"/>
                <a:sym typeface="Symbol" panose="05050102010706020507" pitchFamily="18" charset="2"/>
              </a:rPr>
              <a:t>小王，</a:t>
            </a:r>
            <a:r>
              <a:rPr lang="en-US" altLang="zh-CN" sz="3200" dirty="0">
                <a:latin typeface="+mn-ea"/>
                <a:sym typeface="Symbol" panose="05050102010706020507" pitchFamily="18" charset="2"/>
              </a:rPr>
              <a:t>b</a:t>
            </a:r>
            <a:r>
              <a:rPr lang="zh-CN" altLang="en-US" sz="3200" dirty="0">
                <a:latin typeface="+mn-ea"/>
              </a:rPr>
              <a:t>：小李</a:t>
            </a:r>
            <a:r>
              <a:rPr lang="en-US" altLang="zh-CN" sz="3200" dirty="0">
                <a:latin typeface="+mn-ea"/>
              </a:rPr>
              <a:t>。</a:t>
            </a:r>
          </a:p>
          <a:p>
            <a:r>
              <a:rPr lang="en-US" altLang="zh-CN" sz="3200" dirty="0">
                <a:latin typeface="+mn-ea"/>
              </a:rPr>
              <a:t> </a:t>
            </a:r>
            <a:r>
              <a:rPr lang="zh-CN" altLang="en-US" sz="3200" dirty="0">
                <a:latin typeface="+mn-ea"/>
              </a:rPr>
              <a:t>(4) </a:t>
            </a:r>
            <a:r>
              <a:rPr lang="en-US" altLang="zh-CN" sz="3200" dirty="0">
                <a:latin typeface="+mn-ea"/>
              </a:rPr>
              <a:t>x</a:t>
            </a:r>
            <a:r>
              <a:rPr lang="zh-CN" altLang="en-US" sz="3200" dirty="0">
                <a:latin typeface="+mn-ea"/>
              </a:rPr>
              <a:t>与</a:t>
            </a:r>
            <a:r>
              <a:rPr lang="en-US" altLang="zh-CN" sz="3200" dirty="0">
                <a:latin typeface="+mn-ea"/>
              </a:rPr>
              <a:t>y</a:t>
            </a:r>
            <a:r>
              <a:rPr lang="zh-CN" altLang="en-US" sz="3200" dirty="0">
                <a:latin typeface="+mn-ea"/>
              </a:rPr>
              <a:t>具有关系</a:t>
            </a:r>
            <a:r>
              <a:rPr lang="en-US" altLang="zh-CN" sz="3200" dirty="0">
                <a:latin typeface="+mn-ea"/>
              </a:rPr>
              <a:t>L。</a:t>
            </a:r>
          </a:p>
          <a:p>
            <a:r>
              <a:rPr lang="en-US" altLang="zh-CN" sz="3200" dirty="0" err="1">
                <a:latin typeface="+mn-ea"/>
              </a:rPr>
              <a:t>x，y</a:t>
            </a:r>
            <a:r>
              <a:rPr lang="zh-CN" altLang="en-US" sz="3200" dirty="0">
                <a:latin typeface="+mn-ea"/>
              </a:rPr>
              <a:t>都是个体变元，谓词为</a:t>
            </a:r>
            <a:r>
              <a:rPr lang="en-US" altLang="zh-CN" sz="3200" dirty="0">
                <a:latin typeface="+mn-ea"/>
              </a:rPr>
              <a:t>L，</a:t>
            </a:r>
            <a:r>
              <a:rPr lang="zh-CN" altLang="en-US" sz="3200" dirty="0">
                <a:latin typeface="+mn-ea"/>
              </a:rPr>
              <a:t>命题符号化为</a:t>
            </a:r>
            <a:r>
              <a:rPr lang="en-US" altLang="zh-CN" sz="3200" dirty="0">
                <a:latin typeface="+mn-ea"/>
              </a:rPr>
              <a:t>L(</a:t>
            </a:r>
            <a:r>
              <a:rPr lang="en-US" altLang="zh-CN" sz="3200" dirty="0" err="1">
                <a:latin typeface="+mn-ea"/>
              </a:rPr>
              <a:t>x,y</a:t>
            </a:r>
            <a:r>
              <a:rPr lang="en-US" altLang="zh-CN" sz="3200" dirty="0">
                <a:latin typeface="+mn-ea"/>
              </a:rPr>
              <a:t>)。</a:t>
            </a:r>
            <a:endParaRPr lang="zh-CN" altLang="en-US" sz="3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08892035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矩形 6">
            <a:extLst>
              <a:ext uri="{FF2B5EF4-FFF2-40B4-BE49-F238E27FC236}">
                <a16:creationId xmlns:a16="http://schemas.microsoft.com/office/drawing/2014/main" id="{8B136832-59BF-45BB-B436-1718826A9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4713" y="956335"/>
            <a:ext cx="7391400" cy="5232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0"/>
              </a:spcBef>
              <a:buClr>
                <a:schemeClr val="bg2"/>
              </a:buClr>
              <a:buFont typeface="Wingdings" panose="05000000000000000000" pitchFamily="2" charset="2"/>
              <a:buChar char="q"/>
            </a:pPr>
            <a:r>
              <a:rPr lang="en-US" altLang="zh-CN" b="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n</a:t>
            </a:r>
            <a:r>
              <a:rPr lang="zh-CN" altLang="en-US" b="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元谓词是命题吗？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E71FF10-E008-4435-AAF7-EF7047FC7656}"/>
              </a:ext>
            </a:extLst>
          </p:cNvPr>
          <p:cNvSpPr/>
          <p:nvPr/>
        </p:nvSpPr>
        <p:spPr>
          <a:xfrm>
            <a:off x="2034713" y="1635762"/>
            <a:ext cx="708818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>
                <a:schemeClr val="bg2"/>
              </a:buClr>
              <a:buFont typeface="Wingdings" panose="05000000000000000000" pitchFamily="2" charset="2"/>
              <a:buNone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不是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，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只有用谓词常元取代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P，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用个体常元取代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Symbol" panose="05050102010706020507" pitchFamily="18" charset="2"/>
              </a:rPr>
              <a:t>x</a:t>
            </a:r>
            <a:r>
              <a:rPr kumimoji="1" lang="en-US" altLang="zh-CN" sz="28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Symbol" panose="05050102010706020507" pitchFamily="18" charset="2"/>
              </a:rPr>
              <a:t>1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Symbol" panose="05050102010706020507" pitchFamily="18" charset="2"/>
              </a:rPr>
              <a:t>,x</a:t>
            </a:r>
            <a:r>
              <a:rPr kumimoji="1" lang="en-US" altLang="zh-CN" sz="28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Symbol" panose="05050102010706020507" pitchFamily="18" charset="2"/>
              </a:rPr>
              <a:t>2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Symbol" panose="05050102010706020507" pitchFamily="18" charset="2"/>
              </a:rPr>
              <a:t>,…,</a:t>
            </a:r>
            <a:r>
              <a:rPr kumimoji="1" lang="en-US" altLang="zh-CN" sz="2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Symbol" panose="05050102010706020507" pitchFamily="18" charset="2"/>
              </a:rPr>
              <a:t>x</a:t>
            </a:r>
            <a:r>
              <a:rPr kumimoji="1" lang="en-US" altLang="zh-CN" sz="2800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Symbol" panose="05050102010706020507" pitchFamily="18" charset="2"/>
              </a:rPr>
              <a:t>n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时，才能使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n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元谓词变为命题。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4C275F7-17CA-4DF1-BDB4-FA5AE78D0114}"/>
              </a:ext>
            </a:extLst>
          </p:cNvPr>
          <p:cNvSpPr txBox="1"/>
          <p:nvPr/>
        </p:nvSpPr>
        <p:spPr>
          <a:xfrm>
            <a:off x="2034713" y="2961249"/>
            <a:ext cx="64129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不带个体变元的谓词称为</a:t>
            </a:r>
            <a:r>
              <a:rPr lang="en-US" altLang="zh-CN" sz="3200" dirty="0"/>
              <a:t>0</a:t>
            </a:r>
            <a:r>
              <a:rPr lang="zh-CN" altLang="en-US" sz="3200" dirty="0"/>
              <a:t>元谓词，</a:t>
            </a:r>
            <a:endParaRPr lang="en-US" altLang="zh-CN" sz="3200" dirty="0"/>
          </a:p>
          <a:p>
            <a:r>
              <a:rPr lang="zh-CN" altLang="en-US" sz="3200" dirty="0"/>
              <a:t>当谓词为常元时，</a:t>
            </a:r>
            <a:r>
              <a:rPr lang="en-US" altLang="zh-CN" sz="3200" dirty="0"/>
              <a:t>0</a:t>
            </a:r>
            <a:r>
              <a:rPr lang="zh-CN" altLang="en-US" sz="3200" dirty="0"/>
              <a:t>元谓词为命题。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B715B07-DEA8-4143-B7C9-B12FB9E7C919}"/>
              </a:ext>
            </a:extLst>
          </p:cNvPr>
          <p:cNvSpPr txBox="1"/>
          <p:nvPr/>
        </p:nvSpPr>
        <p:spPr>
          <a:xfrm>
            <a:off x="2201594" y="4375052"/>
            <a:ext cx="53879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任何命题可表示为</a:t>
            </a:r>
            <a:r>
              <a:rPr lang="en-US" altLang="zh-CN" sz="3200" dirty="0"/>
              <a:t>0</a:t>
            </a:r>
            <a:r>
              <a:rPr lang="zh-CN" altLang="en-US" sz="3200" dirty="0"/>
              <a:t>元谓词。</a:t>
            </a:r>
            <a:endParaRPr lang="en-US" altLang="zh-CN" sz="32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4DA2735-854A-4048-B578-219372DCE696}"/>
              </a:ext>
            </a:extLst>
          </p:cNvPr>
          <p:cNvSpPr txBox="1"/>
          <p:nvPr/>
        </p:nvSpPr>
        <p:spPr>
          <a:xfrm>
            <a:off x="2201594" y="5316890"/>
            <a:ext cx="53879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</a:rPr>
              <a:t>谓词和命题的统一。</a:t>
            </a:r>
            <a:endParaRPr lang="en-US" altLang="zh-CN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3402811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矩形 2">
            <a:extLst>
              <a:ext uri="{FF2B5EF4-FFF2-40B4-BE49-F238E27FC236}">
                <a16:creationId xmlns:a16="http://schemas.microsoft.com/office/drawing/2014/main" id="{FEFCE479-03A1-468F-9E29-84FDA13E49CD}"/>
              </a:ext>
            </a:extLst>
          </p:cNvPr>
          <p:cNvSpPr txBox="1">
            <a:spLocks noChangeArrowheads="1"/>
          </p:cNvSpPr>
          <p:nvPr/>
        </p:nvSpPr>
        <p:spPr>
          <a:xfrm>
            <a:off x="1677572" y="1209676"/>
            <a:ext cx="8686800" cy="50645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dirty="0">
                <a:latin typeface="Times New Roman" panose="02020603050405020304" pitchFamily="18" charset="0"/>
              </a:rPr>
              <a:t> D={2, 3, 4}</a:t>
            </a:r>
          </a:p>
          <a:p>
            <a:pPr>
              <a:buClr>
                <a:schemeClr val="tx1"/>
              </a:buClr>
            </a:pPr>
            <a:r>
              <a:rPr lang="zh-CN" altLang="en-US" sz="3200" dirty="0">
                <a:latin typeface="Times New Roman" panose="02020603050405020304" pitchFamily="18" charset="0"/>
              </a:rPr>
              <a:t>设</a:t>
            </a:r>
            <a:r>
              <a:rPr lang="en-US" altLang="zh-CN" sz="3200" dirty="0">
                <a:latin typeface="Times New Roman" panose="02020603050405020304" pitchFamily="18" charset="0"/>
              </a:rPr>
              <a:t>P(x)</a:t>
            </a:r>
            <a:r>
              <a:rPr lang="zh-CN" altLang="en-US" sz="3200" dirty="0">
                <a:latin typeface="Times New Roman" panose="02020603050405020304" pitchFamily="18" charset="0"/>
              </a:rPr>
              <a:t>：</a:t>
            </a:r>
            <a:r>
              <a:rPr lang="en-US" altLang="zh-CN" sz="3200" dirty="0">
                <a:latin typeface="Times New Roman" panose="02020603050405020304" pitchFamily="18" charset="0"/>
              </a:rPr>
              <a:t>x</a:t>
            </a:r>
            <a:r>
              <a:rPr lang="zh-CN" altLang="en-US" sz="3200" dirty="0">
                <a:latin typeface="Times New Roman" panose="02020603050405020304" pitchFamily="18" charset="0"/>
              </a:rPr>
              <a:t>大于</a:t>
            </a:r>
            <a:r>
              <a:rPr lang="en-US" altLang="zh-CN" sz="3200" dirty="0">
                <a:latin typeface="Times New Roman" panose="02020603050405020304" pitchFamily="18" charset="0"/>
              </a:rPr>
              <a:t>3</a:t>
            </a:r>
            <a:r>
              <a:rPr lang="zh-CN" altLang="en-US" sz="3200" dirty="0">
                <a:latin typeface="Times New Roman" panose="02020603050405020304" pitchFamily="18" charset="0"/>
              </a:rPr>
              <a:t>，则</a:t>
            </a:r>
            <a:r>
              <a:rPr lang="en-US" altLang="zh-CN" sz="3200" dirty="0">
                <a:latin typeface="Times New Roman" panose="02020603050405020304" pitchFamily="18" charset="0"/>
              </a:rPr>
              <a:t>P(x)</a:t>
            </a:r>
            <a:r>
              <a:rPr lang="zh-CN" altLang="en-US" sz="3200" dirty="0">
                <a:latin typeface="Times New Roman" panose="02020603050405020304" pitchFamily="18" charset="0"/>
              </a:rPr>
              <a:t>为一元谓词。</a:t>
            </a:r>
          </a:p>
          <a:p>
            <a:r>
              <a:rPr lang="zh-CN" altLang="en-US" sz="3200" dirty="0">
                <a:latin typeface="Times New Roman" panose="02020603050405020304" pitchFamily="18" charset="0"/>
              </a:rPr>
              <a:t> 指定元素</a:t>
            </a:r>
            <a:r>
              <a:rPr lang="en-US" altLang="zh-CN" sz="3200" dirty="0">
                <a:latin typeface="Times New Roman" panose="02020603050405020304" pitchFamily="18" charset="0"/>
              </a:rPr>
              <a:t>--</a:t>
            </a:r>
            <a:r>
              <a:rPr lang="zh-CN" altLang="en-US" sz="3200" dirty="0">
                <a:latin typeface="Times New Roman" panose="02020603050405020304" pitchFamily="18" charset="0"/>
              </a:rPr>
              <a:t>命题：</a:t>
            </a:r>
            <a:r>
              <a:rPr lang="en-US" altLang="zh-CN" sz="3200" dirty="0">
                <a:latin typeface="Times New Roman" panose="02020603050405020304" pitchFamily="18" charset="0"/>
              </a:rPr>
              <a:t>P(2)=0, P(3)=0, P(4)=1</a:t>
            </a:r>
          </a:p>
          <a:p>
            <a:pPr>
              <a:buClr>
                <a:schemeClr val="tx1"/>
              </a:buClr>
            </a:pPr>
            <a:r>
              <a:rPr lang="zh-CN" altLang="en-US" sz="3200" dirty="0">
                <a:latin typeface="Times New Roman" panose="02020603050405020304" pitchFamily="18" charset="0"/>
              </a:rPr>
              <a:t>设</a:t>
            </a:r>
            <a:r>
              <a:rPr lang="en-US" altLang="zh-CN" sz="3200" dirty="0">
                <a:latin typeface="Times New Roman" panose="02020603050405020304" pitchFamily="18" charset="0"/>
              </a:rPr>
              <a:t>P(</a:t>
            </a:r>
            <a:r>
              <a:rPr lang="en-US" altLang="zh-CN" sz="3200" dirty="0" err="1">
                <a:latin typeface="Times New Roman" panose="02020603050405020304" pitchFamily="18" charset="0"/>
              </a:rPr>
              <a:t>x,y</a:t>
            </a:r>
            <a:r>
              <a:rPr lang="en-US" altLang="zh-CN" sz="3200" dirty="0">
                <a:latin typeface="Times New Roman" panose="02020603050405020304" pitchFamily="18" charset="0"/>
              </a:rPr>
              <a:t>)</a:t>
            </a:r>
            <a:r>
              <a:rPr lang="zh-CN" altLang="en-US" sz="3200" dirty="0">
                <a:latin typeface="Times New Roman" panose="02020603050405020304" pitchFamily="18" charset="0"/>
              </a:rPr>
              <a:t>：</a:t>
            </a:r>
            <a:r>
              <a:rPr lang="en-US" altLang="zh-CN" sz="3200" dirty="0">
                <a:latin typeface="Times New Roman" panose="02020603050405020304" pitchFamily="18" charset="0"/>
              </a:rPr>
              <a:t>x</a:t>
            </a:r>
            <a:r>
              <a:rPr lang="zh-CN" altLang="en-US" sz="3200" dirty="0">
                <a:latin typeface="Times New Roman" panose="02020603050405020304" pitchFamily="18" charset="0"/>
              </a:rPr>
              <a:t>大于</a:t>
            </a:r>
            <a:r>
              <a:rPr lang="en-US" altLang="zh-CN" sz="3200" dirty="0">
                <a:latin typeface="Times New Roman" panose="02020603050405020304" pitchFamily="18" charset="0"/>
              </a:rPr>
              <a:t>y,</a:t>
            </a:r>
            <a:r>
              <a:rPr lang="zh-CN" altLang="en-US" sz="3200" dirty="0">
                <a:latin typeface="Times New Roman" panose="02020603050405020304" pitchFamily="18" charset="0"/>
              </a:rPr>
              <a:t>则</a:t>
            </a:r>
            <a:r>
              <a:rPr lang="en-US" altLang="zh-CN" sz="3200" dirty="0">
                <a:latin typeface="Times New Roman" panose="02020603050405020304" pitchFamily="18" charset="0"/>
              </a:rPr>
              <a:t>P(</a:t>
            </a:r>
            <a:r>
              <a:rPr lang="en-US" altLang="zh-CN" sz="3200" dirty="0" err="1">
                <a:latin typeface="Times New Roman" panose="02020603050405020304" pitchFamily="18" charset="0"/>
              </a:rPr>
              <a:t>x,y</a:t>
            </a:r>
            <a:r>
              <a:rPr lang="en-US" altLang="zh-CN" sz="3200" dirty="0">
                <a:latin typeface="Times New Roman" panose="02020603050405020304" pitchFamily="18" charset="0"/>
              </a:rPr>
              <a:t>)</a:t>
            </a:r>
            <a:r>
              <a:rPr lang="zh-CN" altLang="en-US" sz="3200" dirty="0">
                <a:latin typeface="Times New Roman" panose="02020603050405020304" pitchFamily="18" charset="0"/>
              </a:rPr>
              <a:t>为二元谓词。</a:t>
            </a:r>
          </a:p>
          <a:p>
            <a:pPr>
              <a:buClr>
                <a:srgbClr val="FFCC00"/>
              </a:buClr>
              <a:buFont typeface="Wingdings" panose="05000000000000000000" pitchFamily="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指定元素</a:t>
            </a:r>
            <a:r>
              <a:rPr lang="en-US" altLang="zh-CN" sz="3200" dirty="0">
                <a:latin typeface="Times New Roman" panose="02020603050405020304" pitchFamily="18" charset="0"/>
              </a:rPr>
              <a:t>--</a:t>
            </a:r>
            <a:r>
              <a:rPr lang="zh-CN" altLang="en-US" sz="3200" dirty="0">
                <a:latin typeface="Times New Roman" panose="02020603050405020304" pitchFamily="18" charset="0"/>
              </a:rPr>
              <a:t>命题：</a:t>
            </a:r>
            <a:r>
              <a:rPr lang="en-US" altLang="zh-CN" sz="3200" dirty="0">
                <a:latin typeface="Times New Roman" panose="02020603050405020304" pitchFamily="18" charset="0"/>
              </a:rPr>
              <a:t>P(2,3)=0, P(4,2)=1</a:t>
            </a:r>
          </a:p>
          <a:p>
            <a:r>
              <a:rPr lang="zh-CN" altLang="en-US" sz="3200" dirty="0">
                <a:latin typeface="Times New Roman" panose="02020603050405020304" pitchFamily="18" charset="0"/>
              </a:rPr>
              <a:t>设</a:t>
            </a:r>
            <a:r>
              <a:rPr lang="en-US" altLang="zh-CN" sz="3200" dirty="0">
                <a:latin typeface="Times New Roman" panose="02020603050405020304" pitchFamily="18" charset="0"/>
              </a:rPr>
              <a:t>P(</a:t>
            </a:r>
            <a:r>
              <a:rPr lang="en-US" altLang="zh-CN" sz="3200" dirty="0" err="1">
                <a:latin typeface="Times New Roman" panose="02020603050405020304" pitchFamily="18" charset="0"/>
              </a:rPr>
              <a:t>x,y,z</a:t>
            </a:r>
            <a:r>
              <a:rPr lang="en-US" altLang="zh-CN" sz="3200" dirty="0">
                <a:latin typeface="Times New Roman" panose="02020603050405020304" pitchFamily="18" charset="0"/>
              </a:rPr>
              <a:t>)</a:t>
            </a:r>
            <a:r>
              <a:rPr lang="zh-CN" altLang="en-US" sz="3200" dirty="0">
                <a:latin typeface="Times New Roman" panose="02020603050405020304" pitchFamily="18" charset="0"/>
              </a:rPr>
              <a:t>：若</a:t>
            </a:r>
            <a:r>
              <a:rPr lang="en-US" altLang="zh-CN" sz="3200" dirty="0">
                <a:latin typeface="Times New Roman" panose="02020603050405020304" pitchFamily="18" charset="0"/>
              </a:rPr>
              <a:t>x+y-1=z</a:t>
            </a:r>
            <a:r>
              <a:rPr lang="zh-CN" altLang="en-US" sz="3200" dirty="0">
                <a:latin typeface="Times New Roman" panose="02020603050405020304" pitchFamily="18" charset="0"/>
              </a:rPr>
              <a:t>，则</a:t>
            </a:r>
            <a:r>
              <a:rPr lang="en-US" altLang="zh-CN" sz="3200" dirty="0">
                <a:latin typeface="Times New Roman" panose="02020603050405020304" pitchFamily="18" charset="0"/>
              </a:rPr>
              <a:t>P(</a:t>
            </a:r>
            <a:r>
              <a:rPr lang="en-US" altLang="zh-CN" sz="3200" dirty="0" err="1">
                <a:latin typeface="Times New Roman" panose="02020603050405020304" pitchFamily="18" charset="0"/>
              </a:rPr>
              <a:t>x,y,z</a:t>
            </a:r>
            <a:r>
              <a:rPr lang="en-US" altLang="zh-CN" sz="3200" dirty="0">
                <a:latin typeface="Times New Roman" panose="02020603050405020304" pitchFamily="18" charset="0"/>
              </a:rPr>
              <a:t>)</a:t>
            </a:r>
            <a:r>
              <a:rPr lang="zh-CN" altLang="en-US" sz="3200" dirty="0">
                <a:latin typeface="Times New Roman" panose="02020603050405020304" pitchFamily="18" charset="0"/>
              </a:rPr>
              <a:t>为</a:t>
            </a:r>
            <a:r>
              <a:rPr lang="en-US" altLang="zh-CN" sz="3200" dirty="0">
                <a:latin typeface="Times New Roman" panose="02020603050405020304" pitchFamily="18" charset="0"/>
              </a:rPr>
              <a:t>1</a:t>
            </a:r>
            <a:r>
              <a:rPr lang="zh-CN" altLang="en-US" sz="3200" dirty="0">
                <a:latin typeface="Times New Roman" panose="02020603050405020304" pitchFamily="18" charset="0"/>
              </a:rPr>
              <a:t>，否则为</a:t>
            </a:r>
            <a:r>
              <a:rPr lang="en-US" altLang="zh-CN" sz="3200" dirty="0">
                <a:latin typeface="Times New Roman" panose="02020603050405020304" pitchFamily="18" charset="0"/>
              </a:rPr>
              <a:t>0 </a:t>
            </a:r>
            <a:r>
              <a:rPr lang="zh-CN" altLang="en-US" sz="3200" dirty="0">
                <a:latin typeface="Times New Roman" panose="02020603050405020304" pitchFamily="18" charset="0"/>
              </a:rPr>
              <a:t>。则</a:t>
            </a:r>
            <a:r>
              <a:rPr lang="en-US" altLang="zh-CN" sz="3200" dirty="0">
                <a:latin typeface="Times New Roman" panose="02020603050405020304" pitchFamily="18" charset="0"/>
              </a:rPr>
              <a:t>P(</a:t>
            </a:r>
            <a:r>
              <a:rPr lang="en-US" altLang="zh-CN" sz="3200" dirty="0" err="1">
                <a:latin typeface="Times New Roman" panose="02020603050405020304" pitchFamily="18" charset="0"/>
              </a:rPr>
              <a:t>x,y,z</a:t>
            </a:r>
            <a:r>
              <a:rPr lang="en-US" altLang="zh-CN" sz="3200" dirty="0">
                <a:latin typeface="Times New Roman" panose="02020603050405020304" pitchFamily="18" charset="0"/>
              </a:rPr>
              <a:t>)</a:t>
            </a:r>
            <a:r>
              <a:rPr lang="zh-CN" altLang="en-US" sz="3200" dirty="0">
                <a:latin typeface="Times New Roman" panose="02020603050405020304" pitchFamily="18" charset="0"/>
              </a:rPr>
              <a:t>为三元谓词。</a:t>
            </a:r>
          </a:p>
          <a:p>
            <a:r>
              <a:rPr lang="zh-CN" altLang="en-US" sz="3200" dirty="0">
                <a:latin typeface="Times New Roman" panose="02020603050405020304" pitchFamily="18" charset="0"/>
              </a:rPr>
              <a:t>指定元素</a:t>
            </a:r>
            <a:r>
              <a:rPr lang="en-US" altLang="zh-CN" sz="3200" dirty="0">
                <a:latin typeface="Times New Roman" panose="02020603050405020304" pitchFamily="18" charset="0"/>
              </a:rPr>
              <a:t>--</a:t>
            </a:r>
            <a:r>
              <a:rPr lang="zh-CN" altLang="en-US" sz="3200" dirty="0">
                <a:latin typeface="Times New Roman" panose="02020603050405020304" pitchFamily="18" charset="0"/>
              </a:rPr>
              <a:t>命题：</a:t>
            </a:r>
            <a:r>
              <a:rPr lang="en-US" altLang="zh-CN" sz="3200" dirty="0">
                <a:latin typeface="Times New Roman" panose="02020603050405020304" pitchFamily="18" charset="0"/>
              </a:rPr>
              <a:t>P(2,3,4)=1,P(4,2,2)=0</a:t>
            </a:r>
          </a:p>
        </p:txBody>
      </p:sp>
    </p:spTree>
    <p:extLst>
      <p:ext uri="{BB962C8B-B14F-4D97-AF65-F5344CB8AC3E}">
        <p14:creationId xmlns:p14="http://schemas.microsoft.com/office/powerpoint/2010/main" val="147484021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C2ED7F7-4338-40E1-80FC-7610ACFFEB19}"/>
              </a:ext>
            </a:extLst>
          </p:cNvPr>
          <p:cNvSpPr/>
          <p:nvPr/>
        </p:nvSpPr>
        <p:spPr>
          <a:xfrm>
            <a:off x="1452808" y="1725184"/>
            <a:ext cx="9866355" cy="39149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3600" dirty="0"/>
              <a:t>命题函数</a:t>
            </a:r>
          </a:p>
          <a:p>
            <a:pPr lvl="1">
              <a:lnSpc>
                <a:spcPct val="150000"/>
              </a:lnSpc>
            </a:pPr>
            <a:r>
              <a:rPr lang="zh-CN" altLang="en-US" sz="3600" dirty="0"/>
              <a:t>由一个谓词和若干个个体变元组成的命题形式称为</a:t>
            </a:r>
            <a:r>
              <a:rPr lang="zh-CN" altLang="en-US" sz="3600" b="1" i="1" dirty="0">
                <a:solidFill>
                  <a:srgbClr val="FF0000"/>
                </a:solidFill>
              </a:rPr>
              <a:t>简单命题函数</a:t>
            </a:r>
            <a:r>
              <a:rPr lang="zh-CN" altLang="en-US" sz="3600" dirty="0"/>
              <a:t>，表示为</a:t>
            </a:r>
            <a:r>
              <a:rPr lang="en-US" altLang="zh-CN" sz="3600" i="1" dirty="0">
                <a:latin typeface="Times New Roman" pitchFamily="18" charset="0"/>
              </a:rPr>
              <a:t>P</a:t>
            </a:r>
            <a:r>
              <a:rPr lang="en-US" altLang="zh-CN" sz="3600" dirty="0">
                <a:latin typeface="Times New Roman" pitchFamily="18" charset="0"/>
              </a:rPr>
              <a:t>(</a:t>
            </a:r>
            <a:r>
              <a:rPr lang="en-US" altLang="zh-CN" sz="3600" i="1" dirty="0">
                <a:latin typeface="Times New Roman" pitchFamily="18" charset="0"/>
              </a:rPr>
              <a:t>x</a:t>
            </a:r>
            <a:r>
              <a:rPr lang="en-US" altLang="zh-CN" sz="3600" baseline="-25000" dirty="0">
                <a:latin typeface="Times New Roman" pitchFamily="18" charset="0"/>
              </a:rPr>
              <a:t>1</a:t>
            </a:r>
            <a:r>
              <a:rPr lang="en-US" altLang="zh-CN" sz="3600" dirty="0">
                <a:latin typeface="Times New Roman" pitchFamily="18" charset="0"/>
              </a:rPr>
              <a:t>,</a:t>
            </a:r>
            <a:r>
              <a:rPr lang="en-US" altLang="zh-CN" sz="3600" i="1" dirty="0">
                <a:latin typeface="Times New Roman" pitchFamily="18" charset="0"/>
              </a:rPr>
              <a:t>x</a:t>
            </a:r>
            <a:r>
              <a:rPr lang="en-US" altLang="zh-CN" sz="3600" baseline="-25000" dirty="0">
                <a:latin typeface="Times New Roman" pitchFamily="18" charset="0"/>
              </a:rPr>
              <a:t>2</a:t>
            </a:r>
            <a:r>
              <a:rPr lang="en-US" altLang="zh-CN" sz="3600" dirty="0">
                <a:latin typeface="Times New Roman" pitchFamily="18" charset="0"/>
              </a:rPr>
              <a:t>,…,</a:t>
            </a:r>
            <a:r>
              <a:rPr lang="en-US" altLang="zh-CN" sz="3600" i="1" dirty="0" err="1">
                <a:latin typeface="Times New Roman" pitchFamily="18" charset="0"/>
              </a:rPr>
              <a:t>x</a:t>
            </a:r>
            <a:r>
              <a:rPr lang="en-US" altLang="zh-CN" sz="3600" baseline="-25000" dirty="0" err="1">
                <a:latin typeface="Times New Roman" pitchFamily="18" charset="0"/>
              </a:rPr>
              <a:t>n</a:t>
            </a:r>
            <a:r>
              <a:rPr lang="en-US" altLang="zh-CN" sz="3600" dirty="0">
                <a:latin typeface="Times New Roman" pitchFamily="18" charset="0"/>
              </a:rPr>
              <a:t>)</a:t>
            </a:r>
            <a:r>
              <a:rPr lang="zh-CN" altLang="en-US" sz="3600" dirty="0"/>
              <a:t>。由一个或若干个简单命题函数以及逻辑联结词组成的命题形式称为</a:t>
            </a:r>
            <a:r>
              <a:rPr lang="zh-CN" altLang="en-US" sz="3600" b="1" i="1" dirty="0">
                <a:solidFill>
                  <a:srgbClr val="FF0000"/>
                </a:solidFill>
              </a:rPr>
              <a:t>复合命题函数</a:t>
            </a:r>
          </a:p>
        </p:txBody>
      </p:sp>
    </p:spTree>
    <p:extLst>
      <p:ext uri="{BB962C8B-B14F-4D97-AF65-F5344CB8AC3E}">
        <p14:creationId xmlns:p14="http://schemas.microsoft.com/office/powerpoint/2010/main" val="2552481385"/>
      </p:ext>
    </p:extLst>
  </p:cSld>
  <p:clrMapOvr>
    <a:masterClrMapping/>
  </p:clrMapOvr>
  <p:transition spd="slow" advTm="0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矩形 3">
            <a:extLst>
              <a:ext uri="{FF2B5EF4-FFF2-40B4-BE49-F238E27FC236}">
                <a16:creationId xmlns:a16="http://schemas.microsoft.com/office/drawing/2014/main" id="{FC6A97B6-29D5-4315-B2C0-7D026664C7C2}"/>
              </a:ext>
            </a:extLst>
          </p:cNvPr>
          <p:cNvSpPr txBox="1">
            <a:spLocks noChangeArrowheads="1"/>
          </p:cNvSpPr>
          <p:nvPr/>
        </p:nvSpPr>
        <p:spPr>
          <a:xfrm>
            <a:off x="1883568" y="1048166"/>
            <a:ext cx="8424863" cy="646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将命题“这只大红书柜摆满了那些古书。”符号化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542099B-7453-4FB2-BFA6-38C611C57E90}"/>
              </a:ext>
            </a:extLst>
          </p:cNvPr>
          <p:cNvSpPr/>
          <p:nvPr/>
        </p:nvSpPr>
        <p:spPr>
          <a:xfrm>
            <a:off x="2149799" y="3093904"/>
            <a:ext cx="52164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符号化为：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R(a)∧Q(b)∧F(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388EEA1-3D92-473E-9E01-2E5388B11C16}"/>
              </a:ext>
            </a:extLst>
          </p:cNvPr>
          <p:cNvSpPr/>
          <p:nvPr/>
        </p:nvSpPr>
        <p:spPr>
          <a:xfrm>
            <a:off x="1751013" y="1725438"/>
            <a:ext cx="38956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R(x)：x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是大红书柜，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BB48417-3F10-4EF8-9977-5304C9AEB7BC}"/>
              </a:ext>
            </a:extLst>
          </p:cNvPr>
          <p:cNvSpPr/>
          <p:nvPr/>
        </p:nvSpPr>
        <p:spPr>
          <a:xfrm>
            <a:off x="5341949" y="1703897"/>
            <a:ext cx="28392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Q(y)：y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是古书，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47013B2-DF53-4311-AFA1-A13549358921}"/>
              </a:ext>
            </a:extLst>
          </p:cNvPr>
          <p:cNvSpPr/>
          <p:nvPr/>
        </p:nvSpPr>
        <p:spPr>
          <a:xfrm>
            <a:off x="789329" y="1694279"/>
            <a:ext cx="58221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A31B6F2-1447-416C-8264-C10167F51848}"/>
              </a:ext>
            </a:extLst>
          </p:cNvPr>
          <p:cNvSpPr/>
          <p:nvPr/>
        </p:nvSpPr>
        <p:spPr>
          <a:xfrm>
            <a:off x="7882795" y="1703897"/>
            <a:ext cx="32287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)：x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摆满了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C2AA07-DEBD-4E1C-882B-066B9EB601C7}"/>
              </a:ext>
            </a:extLst>
          </p:cNvPr>
          <p:cNvSpPr/>
          <p:nvPr/>
        </p:nvSpPr>
        <p:spPr>
          <a:xfrm>
            <a:off x="2487873" y="2420441"/>
            <a:ext cx="25186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a：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这个书柜，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72D4EF0-7E23-4D55-B45D-ED9865134CD2}"/>
              </a:ext>
            </a:extLst>
          </p:cNvPr>
          <p:cNvSpPr/>
          <p:nvPr/>
        </p:nvSpPr>
        <p:spPr>
          <a:xfrm>
            <a:off x="5248892" y="2420799"/>
            <a:ext cx="21868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b：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那些书，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E2263DD-3B3B-437E-A582-42FFF0D5C421}"/>
              </a:ext>
            </a:extLst>
          </p:cNvPr>
          <p:cNvSpPr/>
          <p:nvPr/>
        </p:nvSpPr>
        <p:spPr>
          <a:xfrm>
            <a:off x="870220" y="3908976"/>
            <a:ext cx="37625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(2)设	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A(x)：x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是书柜，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3D6B1B6-7DB6-4652-BFD9-0FCD0AAAEDF4}"/>
              </a:ext>
            </a:extLst>
          </p:cNvPr>
          <p:cNvSpPr/>
          <p:nvPr/>
        </p:nvSpPr>
        <p:spPr>
          <a:xfrm>
            <a:off x="4655481" y="3893178"/>
            <a:ext cx="281840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B(x)：x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是大的，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74860EB-D426-46E5-BDDE-FFAF950D624A}"/>
              </a:ext>
            </a:extLst>
          </p:cNvPr>
          <p:cNvSpPr/>
          <p:nvPr/>
        </p:nvSpPr>
        <p:spPr>
          <a:xfrm>
            <a:off x="7512050" y="3908976"/>
            <a:ext cx="281840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C(x)：x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是红的，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36A17A6-BB80-48DD-8AD0-0DE808EB2A25}"/>
              </a:ext>
            </a:extLst>
          </p:cNvPr>
          <p:cNvSpPr/>
          <p:nvPr/>
        </p:nvSpPr>
        <p:spPr>
          <a:xfrm>
            <a:off x="1883568" y="4563238"/>
            <a:ext cx="31983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D(y)：y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是古老的，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5B3D1-A316-4F4A-BC74-0AF8DF5B017A}"/>
              </a:ext>
            </a:extLst>
          </p:cNvPr>
          <p:cNvSpPr/>
          <p:nvPr/>
        </p:nvSpPr>
        <p:spPr>
          <a:xfrm>
            <a:off x="7523971" y="4563238"/>
            <a:ext cx="32287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)：x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摆满了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42B23A7-6DB4-4F03-AA2F-A7829C3C1CE8}"/>
              </a:ext>
            </a:extLst>
          </p:cNvPr>
          <p:cNvSpPr/>
          <p:nvPr/>
        </p:nvSpPr>
        <p:spPr>
          <a:xfrm>
            <a:off x="4758045" y="4563238"/>
            <a:ext cx="28889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E(y)： y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是图书，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96E84FA-15F3-40B6-86D0-8E8A5CD5E315}"/>
              </a:ext>
            </a:extLst>
          </p:cNvPr>
          <p:cNvSpPr/>
          <p:nvPr/>
        </p:nvSpPr>
        <p:spPr>
          <a:xfrm>
            <a:off x="1924604" y="5267663"/>
            <a:ext cx="25186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a：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这个东西，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4B4E585-8F95-4A94-A3C8-4EAF94DE81F2}"/>
              </a:ext>
            </a:extLst>
          </p:cNvPr>
          <p:cNvSpPr/>
          <p:nvPr/>
        </p:nvSpPr>
        <p:spPr>
          <a:xfrm>
            <a:off x="4374376" y="5271859"/>
            <a:ext cx="25458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b：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那些东西，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F243502-D199-4FC4-98BA-9C701D6AF108}"/>
              </a:ext>
            </a:extLst>
          </p:cNvPr>
          <p:cNvSpPr/>
          <p:nvPr/>
        </p:nvSpPr>
        <p:spPr>
          <a:xfrm>
            <a:off x="2339827" y="6110988"/>
            <a:ext cx="90941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符号化为：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A(a)∧B(a)∧C(a)∧D(b)∧E(b)∧F(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5158961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  <p:bldP spid="7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9EB60FC-34D3-4A9A-BEB3-BD839F2C6194}"/>
              </a:ext>
            </a:extLst>
          </p:cNvPr>
          <p:cNvSpPr/>
          <p:nvPr/>
        </p:nvSpPr>
        <p:spPr>
          <a:xfrm>
            <a:off x="2323513" y="4760351"/>
            <a:ext cx="7369126" cy="795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10000"/>
              </a:lnSpc>
            </a:pPr>
            <a:r>
              <a:rPr lang="zh-CN" altLang="en-US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</a:t>
            </a:r>
            <a:r>
              <a:rPr lang="en-US" altLang="zh-CN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A(x)→(</a:t>
            </a:r>
            <a:r>
              <a:rPr lang="en-US" altLang="zh-CN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</a:t>
            </a:r>
            <a:r>
              <a:rPr lang="en-US" altLang="zh-CN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B(x)∧</a:t>
            </a:r>
            <a:r>
              <a:rPr lang="en-US" altLang="zh-CN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</a:t>
            </a:r>
            <a:r>
              <a:rPr lang="en-US" altLang="zh-CN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C(x))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A308650-D6DD-4A21-8C58-65C2CA3C73B0}"/>
              </a:ext>
            </a:extLst>
          </p:cNvPr>
          <p:cNvSpPr/>
          <p:nvPr/>
        </p:nvSpPr>
        <p:spPr>
          <a:xfrm>
            <a:off x="2067586" y="1271072"/>
            <a:ext cx="895629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身体不好，则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的学习与工作都不会好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C1903BE-8657-41FB-A4AB-87538C818F1A}"/>
              </a:ext>
            </a:extLst>
          </p:cNvPr>
          <p:cNvSpPr/>
          <p:nvPr/>
        </p:nvSpPr>
        <p:spPr>
          <a:xfrm>
            <a:off x="2323513" y="2450287"/>
            <a:ext cx="7544973" cy="11415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10000"/>
              </a:lnSpc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A(x)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身体好    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B(x)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学习好     </a:t>
            </a:r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C(x)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工作好</a:t>
            </a:r>
          </a:p>
        </p:txBody>
      </p:sp>
    </p:spTree>
    <p:extLst>
      <p:ext uri="{BB962C8B-B14F-4D97-AF65-F5344CB8AC3E}">
        <p14:creationId xmlns:p14="http://schemas.microsoft.com/office/powerpoint/2010/main" val="3559052881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1248440-A9A6-4BCB-B849-D8D7BC028D81}"/>
              </a:ext>
            </a:extLst>
          </p:cNvPr>
          <p:cNvSpPr/>
          <p:nvPr/>
        </p:nvSpPr>
        <p:spPr>
          <a:xfrm>
            <a:off x="1751013" y="895839"/>
            <a:ext cx="34676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个体函数（函词）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431FA17-A424-4DD2-B292-B8E218900080}"/>
              </a:ext>
            </a:extLst>
          </p:cNvPr>
          <p:cNvSpPr/>
          <p:nvPr/>
        </p:nvSpPr>
        <p:spPr>
          <a:xfrm>
            <a:off x="1475972" y="1534174"/>
            <a:ext cx="44935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Times New Roman" pitchFamily="18" charset="0"/>
              </a:rPr>
              <a:t>小王的父亲去给小王买橘子</a:t>
            </a:r>
            <a:endParaRPr lang="zh-CN" altLang="en-US" sz="28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0887C0-07B9-45C4-B771-EEA80E6F0476}"/>
              </a:ext>
            </a:extLst>
          </p:cNvPr>
          <p:cNvSpPr/>
          <p:nvPr/>
        </p:nvSpPr>
        <p:spPr>
          <a:xfrm>
            <a:off x="1155505" y="2135830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pPr lvl="2">
              <a:buFont typeface="Wingdings" pitchFamily="2" charset="2"/>
              <a:buNone/>
            </a:pPr>
            <a:r>
              <a:rPr lang="zh-CN" altLang="en-US" sz="2800" dirty="0">
                <a:latin typeface="Times New Roman" pitchFamily="18" charset="0"/>
              </a:rPr>
              <a:t> </a:t>
            </a:r>
            <a:r>
              <a:rPr lang="en-US" altLang="zh-CN" sz="2800" i="1" dirty="0">
                <a:latin typeface="Times New Roman" pitchFamily="18" charset="0"/>
              </a:rPr>
              <a:t>H</a:t>
            </a:r>
            <a:r>
              <a:rPr lang="en-US" altLang="zh-CN" sz="2800" dirty="0">
                <a:latin typeface="Times New Roman" pitchFamily="18" charset="0"/>
              </a:rPr>
              <a:t>(</a:t>
            </a:r>
            <a:r>
              <a:rPr lang="en-US" altLang="zh-CN" sz="2800" i="1" dirty="0">
                <a:latin typeface="Times New Roman" pitchFamily="18" charset="0"/>
              </a:rPr>
              <a:t>x</a:t>
            </a:r>
            <a:r>
              <a:rPr lang="zh-CN" altLang="en-US" sz="2800" dirty="0">
                <a:latin typeface="Times New Roman" pitchFamily="18" charset="0"/>
              </a:rPr>
              <a:t>，</a:t>
            </a:r>
            <a:r>
              <a:rPr lang="en-US" altLang="zh-CN" sz="2800" i="1" dirty="0">
                <a:latin typeface="Times New Roman" pitchFamily="18" charset="0"/>
              </a:rPr>
              <a:t>y</a:t>
            </a:r>
            <a:r>
              <a:rPr lang="en-US" altLang="zh-CN" sz="2800" dirty="0">
                <a:latin typeface="Times New Roman" pitchFamily="18" charset="0"/>
              </a:rPr>
              <a:t>)</a:t>
            </a:r>
            <a:r>
              <a:rPr lang="zh-CN" altLang="en-US" sz="2800" dirty="0">
                <a:latin typeface="Times New Roman" pitchFamily="18" charset="0"/>
              </a:rPr>
              <a:t>：</a:t>
            </a:r>
            <a:r>
              <a:rPr lang="en-US" altLang="zh-CN" sz="2800" i="1" dirty="0">
                <a:latin typeface="Times New Roman" pitchFamily="18" charset="0"/>
              </a:rPr>
              <a:t>x</a:t>
            </a:r>
            <a:r>
              <a:rPr lang="zh-CN" altLang="en-US" sz="2800" dirty="0">
                <a:latin typeface="Times New Roman" pitchFamily="18" charset="0"/>
              </a:rPr>
              <a:t>给</a:t>
            </a:r>
            <a:r>
              <a:rPr lang="en-US" altLang="zh-CN" sz="2800" i="1" dirty="0">
                <a:latin typeface="Times New Roman" pitchFamily="18" charset="0"/>
              </a:rPr>
              <a:t>y</a:t>
            </a:r>
            <a:r>
              <a:rPr lang="zh-CN" altLang="en-US" sz="2800" i="1" dirty="0">
                <a:latin typeface="Times New Roman" pitchFamily="18" charset="0"/>
              </a:rPr>
              <a:t> </a:t>
            </a:r>
            <a:r>
              <a:rPr lang="zh-CN" altLang="en-US" sz="2800" dirty="0">
                <a:latin typeface="Times New Roman" pitchFamily="18" charset="0"/>
              </a:rPr>
              <a:t>买橘子</a:t>
            </a:r>
            <a:endParaRPr lang="en-US" altLang="zh-CN" sz="2800" dirty="0">
              <a:latin typeface="Times New Roman" pitchFamily="18" charset="0"/>
            </a:endParaRPr>
          </a:p>
          <a:p>
            <a:pPr lvl="2">
              <a:buFont typeface="Wingdings" pitchFamily="2" charset="2"/>
              <a:buNone/>
            </a:pPr>
            <a:r>
              <a:rPr lang="en-US" altLang="zh-CN" sz="2800" i="1" dirty="0">
                <a:latin typeface="Times New Roman" pitchFamily="18" charset="0"/>
              </a:rPr>
              <a:t>a</a:t>
            </a:r>
            <a:r>
              <a:rPr lang="zh-CN" altLang="en-US" sz="2800" dirty="0">
                <a:latin typeface="Times New Roman" pitchFamily="18" charset="0"/>
              </a:rPr>
              <a:t>：小王的父亲</a:t>
            </a:r>
          </a:p>
          <a:p>
            <a:pPr lvl="2">
              <a:buFont typeface="Wingdings" pitchFamily="2" charset="2"/>
              <a:buNone/>
            </a:pPr>
            <a:r>
              <a:rPr lang="en-US" altLang="zh-CN" sz="2800" i="1" dirty="0">
                <a:latin typeface="Times New Roman" pitchFamily="18" charset="0"/>
              </a:rPr>
              <a:t>b</a:t>
            </a:r>
            <a:r>
              <a:rPr lang="zh-CN" altLang="en-US" sz="2800" dirty="0">
                <a:latin typeface="Times New Roman" pitchFamily="18" charset="0"/>
              </a:rPr>
              <a:t>：小王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F4EA3C5-2110-42FF-A835-D0111FED9032}"/>
              </a:ext>
            </a:extLst>
          </p:cNvPr>
          <p:cNvSpPr/>
          <p:nvPr/>
        </p:nvSpPr>
        <p:spPr>
          <a:xfrm>
            <a:off x="1583319" y="3628913"/>
            <a:ext cx="23262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2">
              <a:buFont typeface="Wingdings" pitchFamily="2" charset="2"/>
              <a:buNone/>
            </a:pPr>
            <a:r>
              <a:rPr lang="en-US" altLang="zh-CN" sz="2800" i="1" dirty="0">
                <a:latin typeface="Times New Roman" pitchFamily="18" charset="0"/>
              </a:rPr>
              <a:t>H</a:t>
            </a:r>
            <a:r>
              <a:rPr lang="en-US" altLang="zh-CN" sz="2800" dirty="0">
                <a:latin typeface="Times New Roman" pitchFamily="18" charset="0"/>
              </a:rPr>
              <a:t>(</a:t>
            </a:r>
            <a:r>
              <a:rPr lang="en-US" altLang="zh-CN" sz="2800" i="1" dirty="0">
                <a:latin typeface="Times New Roman" pitchFamily="18" charset="0"/>
              </a:rPr>
              <a:t>a</a:t>
            </a:r>
            <a:r>
              <a:rPr lang="zh-CN" altLang="en-US" sz="2800" dirty="0">
                <a:latin typeface="Times New Roman" pitchFamily="18" charset="0"/>
              </a:rPr>
              <a:t>，</a:t>
            </a:r>
            <a:r>
              <a:rPr lang="en-US" altLang="zh-CN" sz="2800" i="1" dirty="0">
                <a:latin typeface="Times New Roman" pitchFamily="18" charset="0"/>
              </a:rPr>
              <a:t>b</a:t>
            </a:r>
            <a:r>
              <a:rPr lang="en-US" altLang="zh-CN" sz="2800" dirty="0">
                <a:latin typeface="Times New Roman" pitchFamily="18" charset="0"/>
              </a:rPr>
              <a:t>)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49C544C-0474-4FEC-802D-AFD6653DF731}"/>
              </a:ext>
            </a:extLst>
          </p:cNvPr>
          <p:cNvSpPr/>
          <p:nvPr/>
        </p:nvSpPr>
        <p:spPr>
          <a:xfrm>
            <a:off x="267432" y="4210851"/>
            <a:ext cx="57759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2">
              <a:buFont typeface="Wingdings" pitchFamily="2" charset="2"/>
              <a:buNone/>
            </a:pPr>
            <a:r>
              <a:rPr lang="zh-CN" altLang="en-US" sz="2800" dirty="0">
                <a:latin typeface="Times New Roman" pitchFamily="18" charset="0"/>
              </a:rPr>
              <a:t>无法显示个体之间的依赖关系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C8A76AF-A2BB-4888-952B-ACDBB19ADF28}"/>
              </a:ext>
            </a:extLst>
          </p:cNvPr>
          <p:cNvSpPr/>
          <p:nvPr/>
        </p:nvSpPr>
        <p:spPr>
          <a:xfrm>
            <a:off x="6043372" y="2140605"/>
            <a:ext cx="23262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2">
              <a:buFont typeface="Wingdings" pitchFamily="2" charset="2"/>
              <a:buNone/>
            </a:pPr>
            <a:r>
              <a:rPr lang="en-US" altLang="zh-CN" sz="2800" i="1" dirty="0">
                <a:latin typeface="Times New Roman" pitchFamily="18" charset="0"/>
              </a:rPr>
              <a:t>G</a:t>
            </a:r>
            <a:r>
              <a:rPr lang="en-US" altLang="zh-CN" sz="2800" dirty="0">
                <a:latin typeface="Times New Roman" pitchFamily="18" charset="0"/>
              </a:rPr>
              <a:t>(</a:t>
            </a:r>
            <a:r>
              <a:rPr lang="en-US" altLang="zh-CN" sz="2800" i="1" dirty="0">
                <a:latin typeface="Times New Roman" pitchFamily="18" charset="0"/>
              </a:rPr>
              <a:t>x</a:t>
            </a:r>
            <a:r>
              <a:rPr lang="zh-CN" altLang="en-US" sz="2800" dirty="0">
                <a:latin typeface="Times New Roman" pitchFamily="18" charset="0"/>
              </a:rPr>
              <a:t>，</a:t>
            </a:r>
            <a:r>
              <a:rPr lang="en-US" altLang="zh-CN" sz="2800" i="1" dirty="0">
                <a:latin typeface="Times New Roman" pitchFamily="18" charset="0"/>
              </a:rPr>
              <a:t>y</a:t>
            </a:r>
            <a:r>
              <a:rPr lang="en-US" altLang="zh-CN" sz="2800" dirty="0">
                <a:latin typeface="Times New Roman" pitchFamily="18" charset="0"/>
              </a:rPr>
              <a:t>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34F600E-394D-488E-B767-524ECDD74D53}"/>
              </a:ext>
            </a:extLst>
          </p:cNvPr>
          <p:cNvSpPr/>
          <p:nvPr/>
        </p:nvSpPr>
        <p:spPr>
          <a:xfrm>
            <a:off x="8298497" y="2109827"/>
            <a:ext cx="26468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latin typeface="Times New Roman" pitchFamily="18" charset="0"/>
              </a:rPr>
              <a:t>：</a:t>
            </a:r>
            <a:r>
              <a:rPr lang="en-US" altLang="zh-CN" sz="3200" dirty="0">
                <a:latin typeface="Times New Roman" pitchFamily="18" charset="0"/>
              </a:rPr>
              <a:t>x</a:t>
            </a:r>
            <a:r>
              <a:rPr lang="zh-CN" altLang="en-US" sz="3200" dirty="0">
                <a:latin typeface="Times New Roman" pitchFamily="18" charset="0"/>
              </a:rPr>
              <a:t>是</a:t>
            </a:r>
            <a:r>
              <a:rPr lang="en-US" altLang="zh-CN" sz="3200" dirty="0">
                <a:latin typeface="Times New Roman" pitchFamily="18" charset="0"/>
              </a:rPr>
              <a:t>y</a:t>
            </a:r>
            <a:r>
              <a:rPr lang="zh-CN" altLang="en-US" sz="3200" dirty="0">
                <a:latin typeface="Times New Roman" pitchFamily="18" charset="0"/>
              </a:rPr>
              <a:t>的爸爸</a:t>
            </a:r>
            <a:endParaRPr lang="zh-CN" altLang="en-US" sz="32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51B6CD2-BE43-450F-8F98-BF255806EF2E}"/>
              </a:ext>
            </a:extLst>
          </p:cNvPr>
          <p:cNvSpPr/>
          <p:nvPr/>
        </p:nvSpPr>
        <p:spPr>
          <a:xfrm>
            <a:off x="5972219" y="3599261"/>
            <a:ext cx="23262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2">
              <a:buFont typeface="Wingdings" pitchFamily="2" charset="2"/>
              <a:buNone/>
            </a:pPr>
            <a:r>
              <a:rPr lang="en-US" altLang="zh-CN" sz="2800" i="1" dirty="0">
                <a:latin typeface="Times New Roman" pitchFamily="18" charset="0"/>
              </a:rPr>
              <a:t>G</a:t>
            </a:r>
            <a:r>
              <a:rPr lang="en-US" altLang="zh-CN" sz="2800" dirty="0">
                <a:latin typeface="Times New Roman" pitchFamily="18" charset="0"/>
              </a:rPr>
              <a:t>(</a:t>
            </a:r>
            <a:r>
              <a:rPr lang="en-US" altLang="zh-CN" sz="2800" i="1" dirty="0">
                <a:latin typeface="Times New Roman" pitchFamily="18" charset="0"/>
              </a:rPr>
              <a:t>a</a:t>
            </a:r>
            <a:r>
              <a:rPr lang="zh-CN" altLang="en-US" sz="2800" dirty="0">
                <a:latin typeface="Times New Roman" pitchFamily="18" charset="0"/>
              </a:rPr>
              <a:t>，</a:t>
            </a:r>
            <a:r>
              <a:rPr lang="en-US" altLang="zh-CN" sz="2800" i="1" dirty="0">
                <a:latin typeface="Times New Roman" pitchFamily="18" charset="0"/>
              </a:rPr>
              <a:t>b</a:t>
            </a:r>
            <a:r>
              <a:rPr lang="en-US" altLang="zh-CN" sz="2800" dirty="0">
                <a:latin typeface="Times New Roman" pitchFamily="18" charset="0"/>
              </a:rPr>
              <a:t>)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CC904F1-497D-4701-83BA-95E45CD167E9}"/>
              </a:ext>
            </a:extLst>
          </p:cNvPr>
          <p:cNvSpPr/>
          <p:nvPr/>
        </p:nvSpPr>
        <p:spPr>
          <a:xfrm>
            <a:off x="7269262" y="3628913"/>
            <a:ext cx="30918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algn="just">
              <a:buFont typeface="Wingdings" pitchFamily="2" charset="2"/>
              <a:buNone/>
            </a:pPr>
            <a:r>
              <a:rPr kumimoji="1"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∧ </a:t>
            </a:r>
            <a:r>
              <a:rPr lang="en-US" altLang="zh-CN" sz="2800" i="1" dirty="0">
                <a:latin typeface="Times New Roman" pitchFamily="18" charset="0"/>
              </a:rPr>
              <a:t>H</a:t>
            </a:r>
            <a:r>
              <a:rPr lang="en-US" altLang="zh-CN" sz="2800" dirty="0">
                <a:latin typeface="Times New Roman" pitchFamily="18" charset="0"/>
              </a:rPr>
              <a:t>(</a:t>
            </a:r>
            <a:r>
              <a:rPr lang="en-US" altLang="zh-CN" sz="2800" i="1" dirty="0">
                <a:latin typeface="Times New Roman" pitchFamily="18" charset="0"/>
              </a:rPr>
              <a:t>a</a:t>
            </a:r>
            <a:r>
              <a:rPr lang="zh-CN" altLang="en-US" sz="2800" dirty="0">
                <a:latin typeface="Times New Roman" pitchFamily="18" charset="0"/>
              </a:rPr>
              <a:t>，</a:t>
            </a:r>
            <a:r>
              <a:rPr lang="en-US" altLang="zh-CN" sz="2800" i="1" dirty="0">
                <a:latin typeface="Times New Roman" pitchFamily="18" charset="0"/>
              </a:rPr>
              <a:t>b</a:t>
            </a:r>
            <a:r>
              <a:rPr lang="en-US" altLang="zh-CN" sz="2800" dirty="0">
                <a:latin typeface="Times New Roman" pitchFamily="18" charset="0"/>
              </a:rPr>
              <a:t>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9D319B7-F531-48A9-A69B-B51D36752E1B}"/>
              </a:ext>
            </a:extLst>
          </p:cNvPr>
          <p:cNvSpPr/>
          <p:nvPr/>
        </p:nvSpPr>
        <p:spPr>
          <a:xfrm>
            <a:off x="1583531" y="5780039"/>
            <a:ext cx="6096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lvl="2"/>
            <a:r>
              <a:rPr lang="en-US" altLang="zh-CN" sz="4000" i="1" dirty="0">
                <a:latin typeface="Times New Roman" pitchFamily="18" charset="0"/>
              </a:rPr>
              <a:t>H</a:t>
            </a:r>
            <a:r>
              <a:rPr lang="en-US" altLang="zh-CN" sz="4000" dirty="0">
                <a:latin typeface="Times New Roman" pitchFamily="18" charset="0"/>
              </a:rPr>
              <a:t>(</a:t>
            </a:r>
            <a:r>
              <a:rPr lang="en-US" altLang="zh-CN" sz="4000" i="1" dirty="0">
                <a:latin typeface="Times New Roman" pitchFamily="18" charset="0"/>
              </a:rPr>
              <a:t>f</a:t>
            </a:r>
            <a:r>
              <a:rPr lang="en-US" altLang="zh-CN" sz="4000" dirty="0">
                <a:latin typeface="Times New Roman" pitchFamily="18" charset="0"/>
              </a:rPr>
              <a:t>(</a:t>
            </a:r>
            <a:r>
              <a:rPr lang="en-US" altLang="zh-CN" sz="4000" i="1" dirty="0">
                <a:latin typeface="Times New Roman" pitchFamily="18" charset="0"/>
              </a:rPr>
              <a:t>b</a:t>
            </a:r>
            <a:r>
              <a:rPr lang="en-US" altLang="zh-CN" sz="4000" dirty="0">
                <a:latin typeface="Times New Roman" pitchFamily="18" charset="0"/>
              </a:rPr>
              <a:t>), </a:t>
            </a:r>
            <a:r>
              <a:rPr lang="en-US" altLang="zh-CN" sz="4000" i="1" dirty="0">
                <a:latin typeface="Times New Roman" pitchFamily="18" charset="0"/>
              </a:rPr>
              <a:t>b</a:t>
            </a:r>
            <a:r>
              <a:rPr lang="en-US" altLang="zh-CN" sz="4000" dirty="0">
                <a:latin typeface="Times New Roman" pitchFamily="18" charset="0"/>
              </a:rPr>
              <a:t>)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DC3B859-12E7-44BF-9A43-0AA556F3926F}"/>
              </a:ext>
            </a:extLst>
          </p:cNvPr>
          <p:cNvSpPr/>
          <p:nvPr/>
        </p:nvSpPr>
        <p:spPr>
          <a:xfrm>
            <a:off x="1155505" y="4842159"/>
            <a:ext cx="20826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CN" altLang="en-US" sz="2800" dirty="0">
                <a:solidFill>
                  <a:srgbClr val="FF0000"/>
                </a:solidFill>
                <a:latin typeface="Times New Roman" pitchFamily="18" charset="0"/>
              </a:rPr>
              <a:t>定义函数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0C060B4-5F8E-4A52-B36E-99004F131802}"/>
              </a:ext>
            </a:extLst>
          </p:cNvPr>
          <p:cNvSpPr/>
          <p:nvPr/>
        </p:nvSpPr>
        <p:spPr>
          <a:xfrm>
            <a:off x="3238126" y="4826830"/>
            <a:ext cx="30444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2"/>
            <a:r>
              <a:rPr lang="en-US" altLang="zh-CN" sz="2800" i="1" dirty="0">
                <a:latin typeface="Times New Roman" pitchFamily="18" charset="0"/>
              </a:rPr>
              <a:t>f</a:t>
            </a:r>
            <a:r>
              <a:rPr lang="en-US" altLang="zh-CN" sz="2800" dirty="0">
                <a:latin typeface="Times New Roman" pitchFamily="18" charset="0"/>
              </a:rPr>
              <a:t>(</a:t>
            </a:r>
            <a:r>
              <a:rPr lang="en-US" altLang="zh-CN" sz="2800" i="1" dirty="0">
                <a:latin typeface="Times New Roman" pitchFamily="18" charset="0"/>
              </a:rPr>
              <a:t>x</a:t>
            </a:r>
            <a:r>
              <a:rPr lang="en-US" altLang="zh-CN" sz="2800" dirty="0">
                <a:latin typeface="Times New Roman" pitchFamily="18" charset="0"/>
              </a:rPr>
              <a:t>)=</a:t>
            </a:r>
            <a:r>
              <a:rPr lang="en-US" altLang="zh-CN" sz="2800" i="1" dirty="0">
                <a:latin typeface="Times New Roman" pitchFamily="18" charset="0"/>
              </a:rPr>
              <a:t>x</a:t>
            </a:r>
            <a:r>
              <a:rPr lang="zh-CN" altLang="en-US" sz="2800" dirty="0">
                <a:latin typeface="Times New Roman" pitchFamily="18" charset="0"/>
              </a:rPr>
              <a:t>的父亲</a:t>
            </a:r>
          </a:p>
        </p:txBody>
      </p:sp>
    </p:spTree>
    <p:extLst>
      <p:ext uri="{BB962C8B-B14F-4D97-AF65-F5344CB8AC3E}">
        <p14:creationId xmlns:p14="http://schemas.microsoft.com/office/powerpoint/2010/main" val="2226381676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10" grpId="0"/>
      <p:bldP spid="8" grpId="0"/>
      <p:bldP spid="12" grpId="0"/>
      <p:bldP spid="13" grpId="0"/>
      <p:bldP spid="9" grpId="0"/>
      <p:bldP spid="11" grpId="0"/>
      <p:bldP spid="1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A2E7EFA-AF41-4782-81FD-3E4C5F363B5E}"/>
              </a:ext>
            </a:extLst>
          </p:cNvPr>
          <p:cNvSpPr/>
          <p:nvPr/>
        </p:nvSpPr>
        <p:spPr>
          <a:xfrm>
            <a:off x="1348577" y="1116331"/>
            <a:ext cx="10295222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latin typeface="Times New Roman" pitchFamily="18" charset="0"/>
              </a:rPr>
              <a:t>函词与谓词的区别</a:t>
            </a:r>
          </a:p>
          <a:p>
            <a:pPr lvl="1"/>
            <a:r>
              <a:rPr lang="zh-CN" altLang="en-US" sz="3200" dirty="0">
                <a:latin typeface="Times New Roman" pitchFamily="18" charset="0"/>
              </a:rPr>
              <a:t>函词中的个体变元用个体代入后的结果依然是</a:t>
            </a:r>
            <a:r>
              <a:rPr lang="zh-CN" altLang="en-US" sz="3200" dirty="0">
                <a:solidFill>
                  <a:srgbClr val="FF0000"/>
                </a:solidFill>
                <a:latin typeface="Times New Roman" pitchFamily="18" charset="0"/>
              </a:rPr>
              <a:t>个体</a:t>
            </a:r>
          </a:p>
          <a:p>
            <a:pPr lvl="2"/>
            <a:r>
              <a:rPr lang="en-US" altLang="zh-CN" sz="3200" i="1" dirty="0">
                <a:latin typeface="Times New Roman" pitchFamily="18" charset="0"/>
              </a:rPr>
              <a:t>f</a:t>
            </a:r>
            <a:r>
              <a:rPr lang="en-US" altLang="zh-CN" sz="3200" dirty="0">
                <a:latin typeface="Times New Roman" pitchFamily="18" charset="0"/>
              </a:rPr>
              <a:t>(</a:t>
            </a:r>
            <a:r>
              <a:rPr lang="en-US" altLang="zh-CN" sz="3200" i="1" dirty="0">
                <a:latin typeface="Times New Roman" pitchFamily="18" charset="0"/>
              </a:rPr>
              <a:t>b</a:t>
            </a:r>
            <a:r>
              <a:rPr lang="en-US" altLang="zh-CN" sz="3200" dirty="0">
                <a:latin typeface="Times New Roman" pitchFamily="18" charset="0"/>
              </a:rPr>
              <a:t>)=</a:t>
            </a:r>
            <a:r>
              <a:rPr lang="zh-CN" altLang="en-US" sz="3200" dirty="0">
                <a:latin typeface="Times New Roman" pitchFamily="18" charset="0"/>
              </a:rPr>
              <a:t>小王的父亲</a:t>
            </a:r>
          </a:p>
          <a:p>
            <a:pPr lvl="1"/>
            <a:r>
              <a:rPr lang="zh-CN" altLang="en-US" sz="3200" dirty="0">
                <a:latin typeface="Times New Roman" pitchFamily="18" charset="0"/>
              </a:rPr>
              <a:t>谓词中的个体变元用确定的个体带入后就变成了</a:t>
            </a:r>
            <a:r>
              <a:rPr lang="zh-CN" altLang="en-US" sz="3200" dirty="0">
                <a:solidFill>
                  <a:srgbClr val="FF0000"/>
                </a:solidFill>
                <a:latin typeface="Times New Roman" pitchFamily="18" charset="0"/>
              </a:rPr>
              <a:t>命题</a:t>
            </a:r>
          </a:p>
          <a:p>
            <a:pPr lvl="2"/>
            <a:r>
              <a:rPr kumimoji="1" lang="en-US" altLang="zh-CN" sz="3200" i="1" dirty="0">
                <a:latin typeface="Times New Roman" pitchFamily="18" charset="0"/>
              </a:rPr>
              <a:t>M</a:t>
            </a:r>
            <a:r>
              <a:rPr kumimoji="1" lang="en-US" altLang="zh-CN" sz="3200" dirty="0">
                <a:latin typeface="Times New Roman" pitchFamily="18" charset="0"/>
              </a:rPr>
              <a:t>(</a:t>
            </a:r>
            <a:r>
              <a:rPr kumimoji="1" lang="en-US" altLang="zh-CN" sz="3200" i="1" dirty="0">
                <a:latin typeface="Times New Roman" pitchFamily="18" charset="0"/>
              </a:rPr>
              <a:t>x</a:t>
            </a:r>
            <a:r>
              <a:rPr kumimoji="1" lang="en-US" altLang="zh-CN" sz="3200" dirty="0">
                <a:latin typeface="Times New Roman" pitchFamily="18" charset="0"/>
              </a:rPr>
              <a:t>)</a:t>
            </a:r>
            <a:r>
              <a:rPr kumimoji="1" lang="zh-CN" altLang="en-US" sz="3200" dirty="0">
                <a:latin typeface="Times New Roman" pitchFamily="18" charset="0"/>
              </a:rPr>
              <a:t>：</a:t>
            </a:r>
            <a:r>
              <a:rPr kumimoji="1" lang="en-US" altLang="zh-CN" sz="3200" i="1" dirty="0">
                <a:latin typeface="Times New Roman" pitchFamily="18" charset="0"/>
              </a:rPr>
              <a:t>x</a:t>
            </a:r>
            <a:r>
              <a:rPr kumimoji="1" lang="zh-CN" altLang="en-US" sz="3200" dirty="0">
                <a:latin typeface="Times New Roman" pitchFamily="18" charset="0"/>
              </a:rPr>
              <a:t>是人</a:t>
            </a:r>
          </a:p>
          <a:p>
            <a:pPr lvl="2"/>
            <a:r>
              <a:rPr kumimoji="1" lang="en-US" altLang="zh-CN" sz="3200" i="1" dirty="0">
                <a:latin typeface="Times New Roman" pitchFamily="18" charset="0"/>
              </a:rPr>
              <a:t>M</a:t>
            </a:r>
            <a:r>
              <a:rPr kumimoji="1" lang="en-US" altLang="zh-CN" sz="3200" dirty="0">
                <a:latin typeface="Times New Roman" pitchFamily="18" charset="0"/>
              </a:rPr>
              <a:t>(</a:t>
            </a:r>
            <a:r>
              <a:rPr kumimoji="1" lang="en-US" altLang="zh-CN" sz="3200" i="1" dirty="0">
                <a:latin typeface="Times New Roman" pitchFamily="18" charset="0"/>
              </a:rPr>
              <a:t>b</a:t>
            </a:r>
            <a:r>
              <a:rPr kumimoji="1" lang="en-US" altLang="zh-CN" sz="3200" dirty="0">
                <a:latin typeface="Times New Roman" pitchFamily="18" charset="0"/>
              </a:rPr>
              <a:t>)</a:t>
            </a:r>
            <a:r>
              <a:rPr kumimoji="1" lang="zh-CN" altLang="en-US" sz="3200" dirty="0">
                <a:latin typeface="Times New Roman" pitchFamily="18" charset="0"/>
              </a:rPr>
              <a:t>：</a:t>
            </a:r>
            <a:r>
              <a:rPr lang="zh-CN" altLang="en-US" sz="3200" dirty="0">
                <a:latin typeface="Times New Roman" pitchFamily="18" charset="0"/>
              </a:rPr>
              <a:t>小王</a:t>
            </a:r>
            <a:r>
              <a:rPr kumimoji="1" lang="zh-CN" altLang="en-US" sz="3200" dirty="0">
                <a:latin typeface="Times New Roman" pitchFamily="18" charset="0"/>
              </a:rPr>
              <a:t>是人</a:t>
            </a:r>
          </a:p>
          <a:p>
            <a:pPr lvl="1"/>
            <a:r>
              <a:rPr lang="zh-CN" altLang="en-US" sz="3200" dirty="0">
                <a:latin typeface="Times New Roman" pitchFamily="18" charset="0"/>
              </a:rPr>
              <a:t>函词是</a:t>
            </a:r>
            <a:r>
              <a:rPr lang="zh-CN" altLang="en-US" sz="3200" dirty="0">
                <a:solidFill>
                  <a:srgbClr val="FF0000"/>
                </a:solidFill>
                <a:latin typeface="Times New Roman" pitchFamily="18" charset="0"/>
              </a:rPr>
              <a:t>论域到论域</a:t>
            </a:r>
            <a:r>
              <a:rPr lang="zh-CN" altLang="en-US" sz="3200" dirty="0">
                <a:latin typeface="Times New Roman" pitchFamily="18" charset="0"/>
              </a:rPr>
              <a:t>的映射</a:t>
            </a:r>
          </a:p>
          <a:p>
            <a:pPr lvl="2"/>
            <a:r>
              <a:rPr lang="en-US" altLang="zh-CN" sz="3200" i="1" dirty="0">
                <a:latin typeface="Times New Roman" pitchFamily="18" charset="0"/>
              </a:rPr>
              <a:t>f </a:t>
            </a:r>
            <a:r>
              <a:rPr lang="en-US" altLang="zh-CN" sz="3200" dirty="0">
                <a:latin typeface="Times New Roman" pitchFamily="18" charset="0"/>
              </a:rPr>
              <a:t>: </a:t>
            </a:r>
            <a:r>
              <a:rPr lang="en-US" altLang="zh-CN" sz="3200" i="1" dirty="0">
                <a:latin typeface="Times New Roman" pitchFamily="18" charset="0"/>
              </a:rPr>
              <a:t>D</a:t>
            </a:r>
            <a:r>
              <a:rPr lang="en-US" altLang="zh-CN" sz="3200" dirty="0">
                <a:latin typeface="Times New Roman" pitchFamily="18" charset="0"/>
              </a:rPr>
              <a:t>→</a:t>
            </a:r>
            <a:r>
              <a:rPr lang="en-US" altLang="zh-CN" sz="3200" i="1" dirty="0">
                <a:latin typeface="Times New Roman" pitchFamily="18" charset="0"/>
              </a:rPr>
              <a:t>D</a:t>
            </a:r>
          </a:p>
          <a:p>
            <a:pPr lvl="1"/>
            <a:r>
              <a:rPr lang="zh-CN" altLang="en-US" sz="3200" dirty="0">
                <a:latin typeface="Times New Roman" pitchFamily="18" charset="0"/>
              </a:rPr>
              <a:t>谓词是</a:t>
            </a:r>
            <a:r>
              <a:rPr lang="zh-CN" altLang="en-US" sz="3200" dirty="0">
                <a:solidFill>
                  <a:srgbClr val="FF0000"/>
                </a:solidFill>
                <a:latin typeface="Times New Roman" pitchFamily="18" charset="0"/>
              </a:rPr>
              <a:t>从论域到</a:t>
            </a:r>
            <a:r>
              <a:rPr lang="en-US" altLang="zh-CN" sz="3200" dirty="0">
                <a:solidFill>
                  <a:srgbClr val="FF0000"/>
                </a:solidFill>
                <a:latin typeface="Times New Roman" pitchFamily="18" charset="0"/>
              </a:rPr>
              <a:t>{</a:t>
            </a:r>
            <a:r>
              <a:rPr lang="en-US" altLang="zh-CN" sz="3200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sz="3200" dirty="0">
                <a:solidFill>
                  <a:srgbClr val="FF0000"/>
                </a:solidFill>
                <a:latin typeface="Times New Roman" pitchFamily="18" charset="0"/>
              </a:rPr>
              <a:t>,</a:t>
            </a:r>
            <a:r>
              <a:rPr lang="en-US" altLang="zh-CN" sz="3200" i="1" dirty="0">
                <a:solidFill>
                  <a:srgbClr val="FF0000"/>
                </a:solidFill>
                <a:latin typeface="Times New Roman" pitchFamily="18" charset="0"/>
              </a:rPr>
              <a:t>F</a:t>
            </a:r>
            <a:r>
              <a:rPr lang="en-US" altLang="zh-CN" sz="3200" dirty="0">
                <a:solidFill>
                  <a:srgbClr val="FF0000"/>
                </a:solidFill>
                <a:latin typeface="Times New Roman" pitchFamily="18" charset="0"/>
              </a:rPr>
              <a:t>}</a:t>
            </a:r>
            <a:r>
              <a:rPr lang="zh-CN" altLang="en-US" sz="3200" dirty="0">
                <a:latin typeface="Times New Roman" pitchFamily="18" charset="0"/>
              </a:rPr>
              <a:t>的映射</a:t>
            </a:r>
          </a:p>
          <a:p>
            <a:pPr lvl="2"/>
            <a:r>
              <a:rPr lang="en-US" altLang="zh-CN" sz="3200" i="1" dirty="0">
                <a:latin typeface="Times New Roman" pitchFamily="18" charset="0"/>
              </a:rPr>
              <a:t>M</a:t>
            </a:r>
            <a:r>
              <a:rPr lang="en-US" altLang="zh-CN" sz="3200" dirty="0">
                <a:latin typeface="Times New Roman" pitchFamily="18" charset="0"/>
              </a:rPr>
              <a:t> : </a:t>
            </a:r>
            <a:r>
              <a:rPr lang="en-US" altLang="zh-CN" sz="3200" i="1" dirty="0">
                <a:latin typeface="Times New Roman" pitchFamily="18" charset="0"/>
              </a:rPr>
              <a:t>D</a:t>
            </a:r>
            <a:r>
              <a:rPr lang="en-US" altLang="zh-CN" sz="3200" dirty="0">
                <a:latin typeface="Times New Roman" pitchFamily="18" charset="0"/>
              </a:rPr>
              <a:t> →{</a:t>
            </a:r>
            <a:r>
              <a:rPr lang="en-US" altLang="zh-CN" sz="3200" i="1" dirty="0">
                <a:latin typeface="Times New Roman" pitchFamily="18" charset="0"/>
              </a:rPr>
              <a:t>T</a:t>
            </a:r>
            <a:r>
              <a:rPr lang="en-US" altLang="zh-CN" sz="3200" dirty="0">
                <a:latin typeface="Times New Roman" pitchFamily="18" charset="0"/>
              </a:rPr>
              <a:t>,</a:t>
            </a:r>
            <a:r>
              <a:rPr lang="en-US" altLang="zh-CN" sz="3200" i="1" dirty="0">
                <a:latin typeface="Times New Roman" pitchFamily="18" charset="0"/>
              </a:rPr>
              <a:t>F</a:t>
            </a:r>
            <a:r>
              <a:rPr lang="en-US" altLang="zh-CN" sz="3200" dirty="0">
                <a:latin typeface="Times New Roman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56629002"/>
      </p:ext>
    </p:extLst>
  </p:cSld>
  <p:clrMapOvr>
    <a:masterClrMapping/>
  </p:clrMapOvr>
  <p:transition spd="slow" advTm="0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矩形 2">
            <a:extLst>
              <a:ext uri="{FF2B5EF4-FFF2-40B4-BE49-F238E27FC236}">
                <a16:creationId xmlns:a16="http://schemas.microsoft.com/office/drawing/2014/main" id="{F35C0036-31AE-4946-BEDC-193D562192C6}"/>
              </a:ext>
            </a:extLst>
          </p:cNvPr>
          <p:cNvSpPr txBox="1">
            <a:spLocks noChangeArrowheads="1"/>
          </p:cNvSpPr>
          <p:nvPr/>
        </p:nvSpPr>
        <p:spPr>
          <a:xfrm>
            <a:off x="1751013" y="1146518"/>
            <a:ext cx="8915400" cy="171625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1716088" algn="l"/>
              </a:tabLst>
            </a:pPr>
            <a:r>
              <a:rPr lang="zh-CN" altLang="en-US" dirty="0">
                <a:latin typeface="Times New Roman" panose="02020603050405020304" pitchFamily="18" charset="0"/>
              </a:rPr>
              <a:t>用谓词的概念可将苏格拉底三段论做如下的符号化： 令</a:t>
            </a:r>
            <a:br>
              <a:rPr lang="zh-CN" altLang="en-US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H(x)</a:t>
            </a:r>
            <a:r>
              <a:rPr lang="zh-CN" altLang="en-US" dirty="0">
                <a:latin typeface="Times New Roman" panose="02020603050405020304" pitchFamily="18" charset="0"/>
              </a:rPr>
              <a:t>表示 “</a:t>
            </a:r>
            <a:r>
              <a:rPr lang="en-US" altLang="zh-CN" dirty="0">
                <a:latin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</a:rPr>
              <a:t>是人”，</a:t>
            </a:r>
            <a:br>
              <a:rPr lang="zh-CN" altLang="en-US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M(x)</a:t>
            </a:r>
            <a:r>
              <a:rPr lang="zh-CN" altLang="en-US" dirty="0">
                <a:latin typeface="Times New Roman" panose="02020603050405020304" pitchFamily="18" charset="0"/>
              </a:rPr>
              <a:t>表示 “</a:t>
            </a:r>
            <a:r>
              <a:rPr lang="en-US" altLang="zh-CN" dirty="0">
                <a:latin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</a:rPr>
              <a:t>必死”。</a:t>
            </a:r>
          </a:p>
          <a:p>
            <a:pPr>
              <a:tabLst>
                <a:tab pos="1716088" algn="l"/>
              </a:tabLst>
            </a:pPr>
            <a:endParaRPr lang="zh-CN" altLang="en-US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  <a:tabLst>
                <a:tab pos="1716088" algn="l"/>
              </a:tabLst>
            </a:pPr>
            <a:r>
              <a:rPr lang="zh-CN" altLang="en-US" dirty="0">
                <a:latin typeface="Times New Roman" panose="02020603050405020304" pitchFamily="18" charset="0"/>
              </a:rPr>
              <a:t>  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49F3F3E-ED8B-420F-B07E-7300942C4F65}"/>
              </a:ext>
            </a:extLst>
          </p:cNvPr>
          <p:cNvSpPr/>
          <p:nvPr/>
        </p:nvSpPr>
        <p:spPr>
          <a:xfrm>
            <a:off x="2098431" y="3313310"/>
            <a:ext cx="6096000" cy="206210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3200" dirty="0">
                <a:solidFill>
                  <a:prstClr val="black"/>
                </a:solidFill>
                <a:latin typeface="Times New Roman" panose="02020603050405020304" pitchFamily="18" charset="0"/>
              </a:rPr>
              <a:t>则三段论的三个命题表示如下：</a:t>
            </a:r>
            <a:br>
              <a:rPr lang="zh-CN" altLang="en-US" sz="3200" dirty="0">
                <a:solidFill>
                  <a:prstClr val="black"/>
                </a:solidFill>
                <a:latin typeface="Times New Roman" panose="02020603050405020304" pitchFamily="18" charset="0"/>
              </a:rPr>
            </a:br>
            <a:r>
              <a:rPr lang="en-US" altLang="zh-CN" sz="3200" dirty="0">
                <a:solidFill>
                  <a:prstClr val="black"/>
                </a:solidFill>
                <a:latin typeface="Times New Roman" panose="02020603050405020304" pitchFamily="18" charset="0"/>
              </a:rPr>
              <a:t>P</a:t>
            </a:r>
            <a:r>
              <a:rPr lang="zh-CN" altLang="en-US" sz="3200" dirty="0">
                <a:solidFill>
                  <a:prstClr val="black"/>
                </a:solidFill>
                <a:latin typeface="Times New Roman" panose="02020603050405020304" pitchFamily="18" charset="0"/>
              </a:rPr>
              <a:t>： </a:t>
            </a:r>
            <a:r>
              <a:rPr lang="en-US" altLang="zh-CN" sz="3200" dirty="0">
                <a:solidFill>
                  <a:prstClr val="black"/>
                </a:solidFill>
                <a:latin typeface="Times New Roman" panose="02020603050405020304" pitchFamily="18" charset="0"/>
              </a:rPr>
              <a:t>H(x)</a:t>
            </a:r>
            <a:r>
              <a:rPr lang="en-US" altLang="zh-CN" sz="3200" dirty="0">
                <a:solidFill>
                  <a:prstClr val="blac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3200" dirty="0">
                <a:solidFill>
                  <a:prstClr val="black"/>
                </a:solidFill>
                <a:latin typeface="Times New Roman" panose="02020603050405020304" pitchFamily="18" charset="0"/>
              </a:rPr>
              <a:t>M(x)</a:t>
            </a:r>
            <a:br>
              <a:rPr lang="en-US" altLang="zh-CN" sz="3200" dirty="0">
                <a:solidFill>
                  <a:prstClr val="black"/>
                </a:solidFill>
                <a:latin typeface="Times New Roman" panose="02020603050405020304" pitchFamily="18" charset="0"/>
              </a:rPr>
            </a:br>
            <a:r>
              <a:rPr lang="en-US" altLang="zh-CN" sz="3200" dirty="0">
                <a:solidFill>
                  <a:prstClr val="black"/>
                </a:solidFill>
                <a:latin typeface="Times New Roman" panose="02020603050405020304" pitchFamily="18" charset="0"/>
              </a:rPr>
              <a:t>Q</a:t>
            </a:r>
            <a:r>
              <a:rPr lang="zh-CN" altLang="en-US" sz="3200" dirty="0">
                <a:solidFill>
                  <a:prstClr val="black"/>
                </a:solidFill>
                <a:latin typeface="Times New Roman" panose="02020603050405020304" pitchFamily="18" charset="0"/>
              </a:rPr>
              <a:t>： </a:t>
            </a:r>
            <a:r>
              <a:rPr lang="en-US" altLang="zh-CN" sz="3200" dirty="0">
                <a:solidFill>
                  <a:prstClr val="black"/>
                </a:solidFill>
                <a:latin typeface="Times New Roman" panose="02020603050405020304" pitchFamily="18" charset="0"/>
              </a:rPr>
              <a:t>H(</a:t>
            </a:r>
            <a:r>
              <a:rPr lang="zh-CN" altLang="en-US" sz="3200" dirty="0">
                <a:solidFill>
                  <a:prstClr val="black"/>
                </a:solidFill>
                <a:latin typeface="Times New Roman" panose="02020603050405020304" pitchFamily="18" charset="0"/>
              </a:rPr>
              <a:t>苏格拉底</a:t>
            </a:r>
            <a:r>
              <a:rPr lang="en-US" altLang="zh-CN" sz="3200" dirty="0">
                <a:solidFill>
                  <a:prstClr val="black"/>
                </a:solidFill>
                <a:latin typeface="Times New Roman" panose="02020603050405020304" pitchFamily="18" charset="0"/>
              </a:rPr>
              <a:t>)</a:t>
            </a:r>
            <a:br>
              <a:rPr lang="en-US" altLang="zh-CN" sz="3200" dirty="0">
                <a:solidFill>
                  <a:prstClr val="black"/>
                </a:solidFill>
                <a:latin typeface="Times New Roman" panose="02020603050405020304" pitchFamily="18" charset="0"/>
              </a:rPr>
            </a:br>
            <a:r>
              <a:rPr lang="en-US" altLang="zh-CN" sz="3200" dirty="0">
                <a:solidFill>
                  <a:prstClr val="black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sz="3200" dirty="0">
                <a:solidFill>
                  <a:prstClr val="black"/>
                </a:solidFill>
                <a:latin typeface="Times New Roman" panose="02020603050405020304" pitchFamily="18" charset="0"/>
              </a:rPr>
              <a:t>： </a:t>
            </a:r>
            <a:r>
              <a:rPr lang="en-US" altLang="zh-CN" sz="3200" dirty="0">
                <a:solidFill>
                  <a:prstClr val="black"/>
                </a:solidFill>
                <a:latin typeface="Times New Roman" panose="02020603050405020304" pitchFamily="18" charset="0"/>
              </a:rPr>
              <a:t>M(</a:t>
            </a:r>
            <a:r>
              <a:rPr lang="zh-CN" altLang="en-US" sz="3200" dirty="0">
                <a:solidFill>
                  <a:prstClr val="black"/>
                </a:solidFill>
                <a:latin typeface="Times New Roman" panose="02020603050405020304" pitchFamily="18" charset="0"/>
              </a:rPr>
              <a:t>苏格拉底</a:t>
            </a:r>
            <a:r>
              <a:rPr lang="en-US" altLang="zh-CN" sz="3200" dirty="0">
                <a:solidFill>
                  <a:prstClr val="black"/>
                </a:solidFill>
                <a:latin typeface="Times New Roman" panose="02020603050405020304" pitchFamily="18" charset="0"/>
              </a:rPr>
              <a:t>)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221553815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96CC9AF-78CA-4792-8E08-5FF802AC501B}"/>
              </a:ext>
            </a:extLst>
          </p:cNvPr>
          <p:cNvSpPr/>
          <p:nvPr/>
        </p:nvSpPr>
        <p:spPr>
          <a:xfrm>
            <a:off x="2443375" y="1324094"/>
            <a:ext cx="79095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latin typeface="+mn-ea"/>
              </a:rPr>
              <a:t>命题</a:t>
            </a:r>
            <a:r>
              <a:rPr lang="en-US" altLang="zh-CN" sz="3200" dirty="0">
                <a:latin typeface="+mn-ea"/>
              </a:rPr>
              <a:t>P</a:t>
            </a:r>
            <a:r>
              <a:rPr lang="zh-CN" altLang="en-US" sz="3200" dirty="0">
                <a:latin typeface="+mn-ea"/>
              </a:rPr>
              <a:t>为：</a:t>
            </a:r>
            <a:r>
              <a:rPr lang="zh-CN" altLang="en-US" sz="3200" u="sng" dirty="0">
                <a:latin typeface="+mn-ea"/>
              </a:rPr>
              <a:t>所有人都会死 </a:t>
            </a:r>
            <a:r>
              <a:rPr lang="zh-CN" altLang="en-US" sz="3200" dirty="0">
                <a:latin typeface="+mn-ea"/>
              </a:rPr>
              <a:t>，其否定命題为：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B13CE7A-D162-4730-A515-9F48FB765045}"/>
              </a:ext>
            </a:extLst>
          </p:cNvPr>
          <p:cNvSpPr/>
          <p:nvPr/>
        </p:nvSpPr>
        <p:spPr>
          <a:xfrm>
            <a:off x="2754079" y="2224426"/>
            <a:ext cx="519456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latin typeface="Times New Roman" panose="02020603050405020304" pitchFamily="18" charset="0"/>
              </a:rPr>
              <a:t>	</a:t>
            </a:r>
            <a:r>
              <a:rPr lang="zh-CN" altLang="en-US" sz="3600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3600" dirty="0">
                <a:latin typeface="Times New Roman" panose="02020603050405020304" pitchFamily="18" charset="0"/>
              </a:rPr>
              <a:t>P  = </a:t>
            </a:r>
            <a:r>
              <a:rPr lang="en-US" altLang="zh-CN" sz="3600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3600" dirty="0">
                <a:latin typeface="Times New Roman" panose="02020603050405020304" pitchFamily="18" charset="0"/>
              </a:rPr>
              <a:t>(H(x)</a:t>
            </a:r>
            <a:r>
              <a:rPr lang="en-US" altLang="zh-CN" sz="3600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3600" dirty="0">
                <a:latin typeface="Times New Roman" panose="02020603050405020304" pitchFamily="18" charset="0"/>
              </a:rPr>
              <a:t>M(x))</a:t>
            </a:r>
            <a:endParaRPr lang="zh-CN" altLang="en-US" sz="36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37C4410-615C-48F3-866B-0C1353A679B8}"/>
              </a:ext>
            </a:extLst>
          </p:cNvPr>
          <p:cNvSpPr/>
          <p:nvPr/>
        </p:nvSpPr>
        <p:spPr>
          <a:xfrm>
            <a:off x="4060874" y="3105834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tabLst>
                <a:tab pos="1716088" algn="l"/>
                <a:tab pos="2343150" algn="l"/>
              </a:tabLst>
            </a:pPr>
            <a:r>
              <a:rPr lang="en-US" altLang="zh-CN" sz="3600" dirty="0">
                <a:latin typeface="Times New Roman" panose="02020603050405020304" pitchFamily="18" charset="0"/>
              </a:rPr>
              <a:t>= </a:t>
            </a:r>
            <a:r>
              <a:rPr lang="en-US" altLang="zh-CN" sz="3600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3600" dirty="0">
                <a:latin typeface="Times New Roman" panose="02020603050405020304" pitchFamily="18" charset="0"/>
              </a:rPr>
              <a:t>(</a:t>
            </a:r>
            <a:r>
              <a:rPr lang="en-US" altLang="zh-CN" sz="3600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3600" dirty="0">
                <a:latin typeface="Times New Roman" panose="02020603050405020304" pitchFamily="18" charset="0"/>
              </a:rPr>
              <a:t>H(x)</a:t>
            </a:r>
            <a:r>
              <a:rPr lang="en-US" altLang="zh-CN" sz="3600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3600" dirty="0">
                <a:latin typeface="Times New Roman" panose="02020603050405020304" pitchFamily="18" charset="0"/>
              </a:rPr>
              <a:t>M(x))</a:t>
            </a:r>
            <a:br>
              <a:rPr lang="en-US" altLang="zh-CN" sz="3600" dirty="0">
                <a:latin typeface="Times New Roman" panose="02020603050405020304" pitchFamily="18" charset="0"/>
              </a:rPr>
            </a:br>
            <a:r>
              <a:rPr lang="en-US" altLang="zh-CN" sz="3600" dirty="0">
                <a:latin typeface="Times New Roman" panose="02020603050405020304" pitchFamily="18" charset="0"/>
              </a:rPr>
              <a:t>		= H(x)</a:t>
            </a:r>
            <a:r>
              <a:rPr lang="en-US" altLang="zh-CN" sz="3600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3600" dirty="0">
                <a:latin typeface="Times New Roman" panose="02020603050405020304" pitchFamily="18" charset="0"/>
              </a:rPr>
              <a:t>M(x)</a:t>
            </a:r>
          </a:p>
        </p:txBody>
      </p:sp>
    </p:spTree>
    <p:extLst>
      <p:ext uri="{BB962C8B-B14F-4D97-AF65-F5344CB8AC3E}">
        <p14:creationId xmlns:p14="http://schemas.microsoft.com/office/powerpoint/2010/main" val="1852730233"/>
      </p:ext>
    </p:extLst>
  </p:cSld>
  <p:clrMapOvr>
    <a:masterClrMapping/>
  </p:clrMapOvr>
  <p:transition spd="slow" advTm="0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A33FFDF-F224-48D3-98B4-0B4B866F2979}"/>
              </a:ext>
            </a:extLst>
          </p:cNvPr>
          <p:cNvSpPr txBox="1">
            <a:spLocks noChangeArrowheads="1"/>
          </p:cNvSpPr>
          <p:nvPr/>
        </p:nvSpPr>
        <p:spPr>
          <a:xfrm>
            <a:off x="2377440" y="1455738"/>
            <a:ext cx="8229600" cy="4724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3200" dirty="0"/>
          </a:p>
          <a:p>
            <a:pPr lvl="1"/>
            <a:r>
              <a:rPr lang="zh-CN" altLang="en-US" sz="3200" dirty="0"/>
              <a:t> “所有的正整数都是素数” </a:t>
            </a:r>
          </a:p>
          <a:p>
            <a:pPr lvl="1"/>
            <a:r>
              <a:rPr lang="zh-CN" altLang="en-US" sz="3200" dirty="0"/>
              <a:t> “有些正整数是素数”</a:t>
            </a:r>
          </a:p>
          <a:p>
            <a:r>
              <a:rPr lang="zh-CN" altLang="en-US" sz="3200" dirty="0"/>
              <a:t>假设</a:t>
            </a:r>
          </a:p>
          <a:p>
            <a:pPr lvl="1"/>
            <a:r>
              <a:rPr lang="zh-CN" altLang="en-US" sz="3200" dirty="0"/>
              <a:t>只有两个正整数</a:t>
            </a:r>
            <a:r>
              <a:rPr lang="en-US" altLang="zh-CN" sz="3200" i="1" dirty="0">
                <a:latin typeface="Times New Roman" pitchFamily="18" charset="0"/>
              </a:rPr>
              <a:t>a</a:t>
            </a:r>
            <a:r>
              <a:rPr lang="zh-CN" altLang="en-US" sz="3200" dirty="0"/>
              <a:t>和</a:t>
            </a:r>
            <a:r>
              <a:rPr lang="en-US" altLang="zh-CN" sz="3200" i="1" dirty="0">
                <a:latin typeface="Times New Roman" pitchFamily="18" charset="0"/>
              </a:rPr>
              <a:t>b</a:t>
            </a:r>
          </a:p>
          <a:p>
            <a:pPr lvl="1"/>
            <a:r>
              <a:rPr lang="zh-CN" altLang="en-US" sz="3200" dirty="0">
                <a:latin typeface="Times New Roman" pitchFamily="18" charset="0"/>
              </a:rPr>
              <a:t>个体域为</a:t>
            </a:r>
            <a:r>
              <a:rPr lang="en-US" altLang="zh-CN" sz="3200" dirty="0">
                <a:latin typeface="Times New Roman" pitchFamily="18" charset="0"/>
              </a:rPr>
              <a:t>{</a:t>
            </a:r>
            <a:r>
              <a:rPr lang="en-US" altLang="zh-CN" sz="3200" i="1" dirty="0" err="1">
                <a:latin typeface="Times New Roman" pitchFamily="18" charset="0"/>
              </a:rPr>
              <a:t>a</a:t>
            </a:r>
            <a:r>
              <a:rPr lang="en-US" altLang="zh-CN" sz="3200" dirty="0" err="1">
                <a:latin typeface="Times New Roman" pitchFamily="18" charset="0"/>
              </a:rPr>
              <a:t>,</a:t>
            </a:r>
            <a:r>
              <a:rPr lang="en-US" altLang="zh-CN" sz="3200" i="1" dirty="0" err="1">
                <a:latin typeface="Times New Roman" pitchFamily="18" charset="0"/>
              </a:rPr>
              <a:t>b</a:t>
            </a:r>
            <a:r>
              <a:rPr lang="en-US" altLang="zh-CN" sz="3200" dirty="0">
                <a:latin typeface="Times New Roman" pitchFamily="18" charset="0"/>
              </a:rPr>
              <a:t>}</a:t>
            </a:r>
          </a:p>
          <a:p>
            <a:pPr lvl="1"/>
            <a:r>
              <a:rPr lang="en-US" altLang="zh-CN" sz="3200" i="1" dirty="0">
                <a:latin typeface="Times New Roman" pitchFamily="18" charset="0"/>
              </a:rPr>
              <a:t>P</a:t>
            </a:r>
            <a:r>
              <a:rPr lang="en-US" altLang="zh-CN" sz="3200" dirty="0">
                <a:latin typeface="Times New Roman" pitchFamily="18" charset="0"/>
              </a:rPr>
              <a:t>(</a:t>
            </a:r>
            <a:r>
              <a:rPr lang="en-US" altLang="zh-CN" sz="3200" i="1" dirty="0">
                <a:latin typeface="Times New Roman" pitchFamily="18" charset="0"/>
              </a:rPr>
              <a:t>x</a:t>
            </a:r>
            <a:r>
              <a:rPr lang="en-US" altLang="zh-CN" sz="3200" dirty="0">
                <a:latin typeface="Times New Roman" pitchFamily="18" charset="0"/>
              </a:rPr>
              <a:t>)</a:t>
            </a:r>
            <a:r>
              <a:rPr lang="zh-CN" altLang="en-US" sz="3200" dirty="0">
                <a:latin typeface="Times New Roman" pitchFamily="18" charset="0"/>
              </a:rPr>
              <a:t>：</a:t>
            </a:r>
            <a:r>
              <a:rPr lang="en-US" altLang="zh-CN" sz="3200" i="1" dirty="0">
                <a:latin typeface="Times New Roman" pitchFamily="18" charset="0"/>
              </a:rPr>
              <a:t>x</a:t>
            </a:r>
            <a:r>
              <a:rPr lang="zh-CN" altLang="en-US" sz="3200" dirty="0">
                <a:latin typeface="Times New Roman" pitchFamily="18" charset="0"/>
              </a:rPr>
              <a:t>是素数</a:t>
            </a:r>
            <a:endParaRPr lang="zh-CN" altLang="en-US" sz="3200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1EDF8F5-AD06-4127-BCFD-E00259CC0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3084" y="1812607"/>
            <a:ext cx="1895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i="1" dirty="0">
                <a:latin typeface="Times New Roman" pitchFamily="18" charset="0"/>
              </a:rPr>
              <a:t>P</a:t>
            </a:r>
            <a:r>
              <a:rPr lang="en-US" altLang="zh-CN" sz="2800" dirty="0">
                <a:latin typeface="Times New Roman" pitchFamily="18" charset="0"/>
              </a:rPr>
              <a:t>(</a:t>
            </a:r>
            <a:r>
              <a:rPr lang="en-US" altLang="zh-CN" sz="2800" i="1" dirty="0">
                <a:latin typeface="Times New Roman" pitchFamily="18" charset="0"/>
              </a:rPr>
              <a:t>a</a:t>
            </a:r>
            <a:r>
              <a:rPr lang="en-US" altLang="zh-CN" sz="2800" dirty="0">
                <a:latin typeface="Times New Roman" pitchFamily="18" charset="0"/>
              </a:rPr>
              <a:t>)∧ </a:t>
            </a:r>
            <a:r>
              <a:rPr lang="en-US" altLang="zh-CN" sz="2800" i="1" dirty="0">
                <a:latin typeface="Times New Roman" pitchFamily="18" charset="0"/>
              </a:rPr>
              <a:t>P</a:t>
            </a:r>
            <a:r>
              <a:rPr lang="en-US" altLang="zh-CN" sz="2800" dirty="0">
                <a:latin typeface="Times New Roman" pitchFamily="18" charset="0"/>
              </a:rPr>
              <a:t>(</a:t>
            </a:r>
            <a:r>
              <a:rPr lang="en-US" altLang="zh-CN" sz="2800" i="1" dirty="0">
                <a:latin typeface="Times New Roman" pitchFamily="18" charset="0"/>
              </a:rPr>
              <a:t>b</a:t>
            </a:r>
            <a:r>
              <a:rPr lang="en-US" altLang="zh-CN" sz="2800" dirty="0">
                <a:latin typeface="Times New Roman" pitchFamily="18" charset="0"/>
              </a:rPr>
              <a:t>)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817AEC50-4687-4A88-A66A-9022F76AB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3084" y="2396201"/>
            <a:ext cx="193835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i="1" dirty="0">
                <a:latin typeface="Times New Roman" pitchFamily="18" charset="0"/>
              </a:rPr>
              <a:t>P</a:t>
            </a:r>
            <a:r>
              <a:rPr lang="en-US" altLang="zh-CN" sz="2800" dirty="0">
                <a:latin typeface="Times New Roman" pitchFamily="18" charset="0"/>
              </a:rPr>
              <a:t>(</a:t>
            </a:r>
            <a:r>
              <a:rPr lang="en-US" altLang="zh-CN" sz="2800" i="1" dirty="0">
                <a:latin typeface="Times New Roman" pitchFamily="18" charset="0"/>
              </a:rPr>
              <a:t>a</a:t>
            </a:r>
            <a:r>
              <a:rPr lang="en-US" altLang="zh-CN" sz="2800" dirty="0">
                <a:latin typeface="Times New Roman" pitchFamily="18" charset="0"/>
              </a:rPr>
              <a:t>)∨ </a:t>
            </a:r>
            <a:r>
              <a:rPr lang="en-US" altLang="zh-CN" sz="2800" i="1" dirty="0">
                <a:latin typeface="Times New Roman" pitchFamily="18" charset="0"/>
              </a:rPr>
              <a:t>P</a:t>
            </a:r>
            <a:r>
              <a:rPr lang="en-US" altLang="zh-CN" sz="2800" dirty="0">
                <a:latin typeface="Times New Roman" pitchFamily="18" charset="0"/>
              </a:rPr>
              <a:t>(</a:t>
            </a:r>
            <a:r>
              <a:rPr lang="en-US" altLang="zh-CN" sz="3200" i="1" dirty="0">
                <a:latin typeface="Times New Roman" pitchFamily="18" charset="0"/>
              </a:rPr>
              <a:t>b</a:t>
            </a:r>
            <a:r>
              <a:rPr lang="en-US" altLang="zh-CN" sz="2800" dirty="0">
                <a:latin typeface="Times New Roman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26234790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8C051CE-6D26-4445-B006-1DB78C36CE06}"/>
              </a:ext>
            </a:extLst>
          </p:cNvPr>
          <p:cNvSpPr/>
          <p:nvPr/>
        </p:nvSpPr>
        <p:spPr>
          <a:xfrm>
            <a:off x="2151185" y="1116938"/>
            <a:ext cx="7453532" cy="14916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dirty="0"/>
              <a:t>除个体指派外，还常用</a:t>
            </a:r>
            <a:r>
              <a:rPr lang="zh-CN" altLang="en-US" sz="2800" dirty="0">
                <a:solidFill>
                  <a:srgbClr val="FF0000"/>
                </a:solidFill>
              </a:rPr>
              <a:t>“量”</a:t>
            </a:r>
            <a:r>
              <a:rPr lang="zh-CN" altLang="en-US" sz="2800" dirty="0"/>
              <a:t>作出判断，如：“所有的人</a:t>
            </a:r>
            <a:r>
              <a:rPr kumimoji="1" lang="zh-CN" altLang="en-US" sz="2800" dirty="0"/>
              <a:t>都是要死的”</a:t>
            </a:r>
            <a:r>
              <a:rPr lang="zh-CN" altLang="en-US" sz="2800" dirty="0"/>
              <a:t>、“有的数是质数”</a:t>
            </a:r>
            <a:r>
              <a:rPr kumimoji="1" lang="zh-CN" altLang="en-US" sz="2800" dirty="0"/>
              <a:t>。这种表述在</a:t>
            </a:r>
            <a:r>
              <a:rPr lang="zh-CN" altLang="en-US" sz="2800" dirty="0"/>
              <a:t>数理逻辑目标语言中需要引入</a:t>
            </a:r>
            <a:r>
              <a:rPr kumimoji="1" lang="zh-CN" altLang="en-US" sz="2800" dirty="0"/>
              <a:t>量词，</a:t>
            </a:r>
            <a:endParaRPr lang="zh-CN" altLang="en-US" sz="28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0389E52-BAEB-4AA6-BB5E-715EE4B6F65A}"/>
              </a:ext>
            </a:extLst>
          </p:cNvPr>
          <p:cNvSpPr/>
          <p:nvPr/>
        </p:nvSpPr>
        <p:spPr>
          <a:xfrm>
            <a:off x="1894448" y="3228536"/>
            <a:ext cx="79670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表示</a:t>
            </a:r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</a:rPr>
              <a:t>个体常元</a:t>
            </a:r>
            <a:r>
              <a:rPr lang="zh-CN" altLang="en-US" sz="2800" dirty="0"/>
              <a:t>或</a:t>
            </a:r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</a:rPr>
              <a:t>变元</a:t>
            </a:r>
            <a:r>
              <a:rPr lang="zh-CN" altLang="en-US" sz="2800" dirty="0"/>
              <a:t>之间</a:t>
            </a:r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</a:rPr>
              <a:t>数量关系</a:t>
            </a:r>
            <a:r>
              <a:rPr lang="zh-CN" altLang="en-US" sz="2800" dirty="0"/>
              <a:t>的词叫</a:t>
            </a:r>
            <a:r>
              <a:rPr lang="zh-CN" altLang="en-US" sz="2800" dirty="0">
                <a:solidFill>
                  <a:srgbClr val="FF0000"/>
                </a:solidFill>
              </a:rPr>
              <a:t>量词</a:t>
            </a:r>
          </a:p>
        </p:txBody>
      </p:sp>
    </p:spTree>
    <p:extLst>
      <p:ext uri="{BB962C8B-B14F-4D97-AF65-F5344CB8AC3E}">
        <p14:creationId xmlns:p14="http://schemas.microsoft.com/office/powerpoint/2010/main" val="1520507251"/>
      </p:ext>
    </p:extLst>
  </p:cSld>
  <p:clrMapOvr>
    <a:masterClrMapping/>
  </p:clrMapOvr>
  <p:transition spd="slow" advTm="0">
    <p:wip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CF4B88A9-D970-48E8-BB27-7F8BB24A4348}"/>
              </a:ext>
            </a:extLst>
          </p:cNvPr>
          <p:cNvSpPr txBox="1">
            <a:spLocks noChangeArrowheads="1"/>
          </p:cNvSpPr>
          <p:nvPr/>
        </p:nvSpPr>
        <p:spPr>
          <a:xfrm>
            <a:off x="2032782" y="1664677"/>
            <a:ext cx="8229600" cy="4800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Times New Roman" pitchFamily="18" charset="0"/>
              </a:rPr>
              <a:t>记作</a:t>
            </a: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</a:t>
            </a:r>
            <a:endParaRPr lang="zh-CN" altLang="en-US" dirty="0">
              <a:solidFill>
                <a:srgbClr val="FF0000"/>
              </a:solidFill>
              <a:latin typeface="Times New Roman" pitchFamily="18" charset="0"/>
            </a:endParaRPr>
          </a:p>
          <a:p>
            <a:r>
              <a:rPr lang="zh-CN" altLang="en-US" dirty="0">
                <a:latin typeface="Times New Roman" pitchFamily="18" charset="0"/>
              </a:rPr>
              <a:t>表示“每个”、“任何一个”、“一切”、“所有的”、“凡是”、“任意的”等</a:t>
            </a:r>
          </a:p>
          <a:p>
            <a:r>
              <a:rPr lang="zh-CN" altLang="en-US" dirty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b="1" i="1" dirty="0">
                <a:solidFill>
                  <a:srgbClr val="FF0000"/>
                </a:solidFill>
                <a:latin typeface="Times New Roman" pitchFamily="18" charset="0"/>
              </a:rPr>
              <a:t>x</a:t>
            </a:r>
            <a:r>
              <a:rPr lang="zh-CN" altLang="en-US" dirty="0">
                <a:latin typeface="Times New Roman" pitchFamily="18" charset="0"/>
              </a:rPr>
              <a:t>读作“任意</a:t>
            </a:r>
            <a:r>
              <a:rPr lang="en-US" altLang="zh-CN" i="1" dirty="0">
                <a:latin typeface="Times New Roman" pitchFamily="18" charset="0"/>
              </a:rPr>
              <a:t>x</a:t>
            </a:r>
            <a:r>
              <a:rPr lang="en-US" altLang="zh-CN" dirty="0">
                <a:latin typeface="Times New Roman" pitchFamily="18" charset="0"/>
              </a:rPr>
              <a:t>”</a:t>
            </a:r>
            <a:r>
              <a:rPr lang="zh-CN" altLang="en-US" dirty="0">
                <a:latin typeface="Times New Roman" pitchFamily="18" charset="0"/>
              </a:rPr>
              <a:t>， “所有</a:t>
            </a:r>
            <a:r>
              <a:rPr lang="en-US" altLang="zh-CN" i="1" dirty="0">
                <a:latin typeface="Times New Roman" pitchFamily="18" charset="0"/>
              </a:rPr>
              <a:t>x</a:t>
            </a:r>
            <a:r>
              <a:rPr lang="en-US" altLang="zh-CN" dirty="0">
                <a:latin typeface="Times New Roman" pitchFamily="18" charset="0"/>
              </a:rPr>
              <a:t>”</a:t>
            </a:r>
            <a:r>
              <a:rPr lang="zh-CN" altLang="en-US" dirty="0">
                <a:latin typeface="Times New Roman" pitchFamily="18" charset="0"/>
              </a:rPr>
              <a:t>， “对一切</a:t>
            </a:r>
            <a:r>
              <a:rPr lang="en-US" altLang="zh-CN" i="1" dirty="0">
                <a:latin typeface="Times New Roman" pitchFamily="18" charset="0"/>
              </a:rPr>
              <a:t>x</a:t>
            </a:r>
            <a:r>
              <a:rPr lang="en-US" altLang="zh-CN" dirty="0">
                <a:latin typeface="Times New Roman" pitchFamily="18" charset="0"/>
              </a:rPr>
              <a:t> ”</a:t>
            </a:r>
          </a:p>
          <a:p>
            <a:r>
              <a:rPr lang="zh-CN" altLang="en-US" dirty="0">
                <a:latin typeface="Times New Roman" pitchFamily="18" charset="0"/>
              </a:rPr>
              <a:t>量词后边的个体变元，指明对哪个个体变元量化，称为量词后的</a:t>
            </a:r>
            <a:r>
              <a:rPr lang="zh-CN" altLang="en-US" b="1" dirty="0">
                <a:solidFill>
                  <a:srgbClr val="FF0000"/>
                </a:solidFill>
                <a:latin typeface="Times New Roman" pitchFamily="18" charset="0"/>
              </a:rPr>
              <a:t>指导变元</a:t>
            </a:r>
          </a:p>
          <a:p>
            <a:r>
              <a:rPr lang="zh-CN" altLang="en-US" dirty="0">
                <a:latin typeface="Times New Roman" pitchFamily="18" charset="0"/>
              </a:rPr>
              <a:t>例</a:t>
            </a:r>
          </a:p>
          <a:p>
            <a:pPr lvl="1"/>
            <a:r>
              <a:rPr lang="zh-CN" altLang="en-US" dirty="0">
                <a:latin typeface="Times New Roman" pitchFamily="18" charset="0"/>
              </a:rPr>
              <a:t>所有人都是要死的</a:t>
            </a:r>
          </a:p>
          <a:p>
            <a:pPr lvl="1"/>
            <a:r>
              <a:rPr lang="en-US" altLang="zh-CN" i="1" dirty="0">
                <a:latin typeface="Times New Roman" pitchFamily="18" charset="0"/>
              </a:rPr>
              <a:t>D</a:t>
            </a:r>
            <a:r>
              <a:rPr lang="en-US" altLang="zh-CN" dirty="0">
                <a:latin typeface="Times New Roman" pitchFamily="18" charset="0"/>
              </a:rPr>
              <a:t>(</a:t>
            </a:r>
            <a:r>
              <a:rPr lang="en-US" altLang="zh-CN" i="1" dirty="0">
                <a:latin typeface="Times New Roman" pitchFamily="18" charset="0"/>
              </a:rPr>
              <a:t>x</a:t>
            </a:r>
            <a:r>
              <a:rPr lang="en-US" altLang="zh-CN" dirty="0">
                <a:latin typeface="Times New Roman" pitchFamily="18" charset="0"/>
              </a:rPr>
              <a:t>)</a:t>
            </a:r>
            <a:r>
              <a:rPr lang="zh-CN" altLang="en-US" dirty="0">
                <a:latin typeface="Times New Roman" pitchFamily="18" charset="0"/>
              </a:rPr>
              <a:t>：</a:t>
            </a:r>
            <a:r>
              <a:rPr lang="en-US" altLang="zh-CN" i="1" dirty="0">
                <a:latin typeface="Times New Roman" pitchFamily="18" charset="0"/>
              </a:rPr>
              <a:t>x</a:t>
            </a:r>
            <a:r>
              <a:rPr lang="zh-CN" altLang="en-US" dirty="0">
                <a:latin typeface="Times New Roman" pitchFamily="18" charset="0"/>
              </a:rPr>
              <a:t>是要死的</a:t>
            </a:r>
          </a:p>
          <a:p>
            <a:pPr lvl="1"/>
            <a:r>
              <a:rPr lang="zh-CN" altLang="en-US" dirty="0">
                <a:latin typeface="Times New Roman" pitchFamily="18" charset="0"/>
              </a:rPr>
              <a:t>个体域：所有人构成的集合</a:t>
            </a:r>
          </a:p>
          <a:p>
            <a:pPr lvl="1"/>
            <a:r>
              <a:rPr lang="zh-CN" altLang="en-US" dirty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i="1" dirty="0">
                <a:latin typeface="Times New Roman" pitchFamily="18" charset="0"/>
              </a:rPr>
              <a:t>x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D</a:t>
            </a:r>
            <a:r>
              <a:rPr lang="en-US" altLang="zh-CN" dirty="0">
                <a:latin typeface="Times New Roman" pitchFamily="18" charset="0"/>
              </a:rPr>
              <a:t>(</a:t>
            </a:r>
            <a:r>
              <a:rPr lang="en-US" altLang="zh-CN" i="1" dirty="0">
                <a:latin typeface="Times New Roman" pitchFamily="18" charset="0"/>
              </a:rPr>
              <a:t>x</a:t>
            </a:r>
            <a:r>
              <a:rPr lang="en-US" altLang="zh-CN" dirty="0">
                <a:latin typeface="Times New Roman" pitchFamily="18" charset="0"/>
              </a:rPr>
              <a:t>)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F6E5C11-17AF-4721-9B27-3625E5E79929}"/>
              </a:ext>
            </a:extLst>
          </p:cNvPr>
          <p:cNvSpPr/>
          <p:nvPr/>
        </p:nvSpPr>
        <p:spPr>
          <a:xfrm>
            <a:off x="1913207" y="946428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全称量词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76956242"/>
      </p:ext>
    </p:extLst>
  </p:cSld>
  <p:clrMapOvr>
    <a:masterClrMapping/>
  </p:clrMapOvr>
  <p:transition spd="slow" advTm="0">
    <p:wip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78E4BB-CF9C-4B38-9654-307F93EF2239}"/>
              </a:ext>
            </a:extLst>
          </p:cNvPr>
          <p:cNvSpPr txBox="1">
            <a:spLocks noChangeArrowheads="1"/>
          </p:cNvSpPr>
          <p:nvPr/>
        </p:nvSpPr>
        <p:spPr>
          <a:xfrm>
            <a:off x="2138289" y="1609578"/>
            <a:ext cx="8229600" cy="5105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>
                <a:latin typeface="宋体" pitchFamily="2" charset="-122"/>
              </a:rPr>
              <a:t>记作</a:t>
            </a:r>
            <a:r>
              <a:rPr lang="zh-CN" altLang="en-US" sz="3200" b="1">
                <a:solidFill>
                  <a:srgbClr val="FF0000"/>
                </a:solidFill>
                <a:latin typeface="宋体" pitchFamily="2" charset="-122"/>
                <a:sym typeface="Symbol" pitchFamily="18" charset="2"/>
              </a:rPr>
              <a:t></a:t>
            </a:r>
          </a:p>
          <a:p>
            <a:r>
              <a:rPr lang="zh-CN" altLang="en-US" sz="3200">
                <a:latin typeface="宋体" pitchFamily="2" charset="-122"/>
              </a:rPr>
              <a:t>表示</a:t>
            </a:r>
            <a:r>
              <a:rPr lang="zh-CN" altLang="en-US" sz="3200">
                <a:latin typeface="Arial"/>
              </a:rPr>
              <a:t>“</a:t>
            </a:r>
            <a:r>
              <a:rPr lang="zh-CN" altLang="en-US" sz="3200">
                <a:latin typeface="宋体" pitchFamily="2" charset="-122"/>
              </a:rPr>
              <a:t>有些</a:t>
            </a:r>
            <a:r>
              <a:rPr lang="zh-CN" altLang="en-US" sz="3200">
                <a:latin typeface="Arial"/>
              </a:rPr>
              <a:t>”</a:t>
            </a:r>
            <a:r>
              <a:rPr lang="zh-CN" altLang="en-US" sz="3200">
                <a:latin typeface="宋体" pitchFamily="2" charset="-122"/>
              </a:rPr>
              <a:t>、</a:t>
            </a:r>
            <a:r>
              <a:rPr lang="zh-CN" altLang="en-US" sz="3200">
                <a:latin typeface="Arial"/>
              </a:rPr>
              <a:t>“</a:t>
            </a:r>
            <a:r>
              <a:rPr lang="zh-CN" altLang="en-US" sz="3200">
                <a:latin typeface="宋体" pitchFamily="2" charset="-122"/>
              </a:rPr>
              <a:t>一些</a:t>
            </a:r>
            <a:r>
              <a:rPr lang="zh-CN" altLang="en-US" sz="3200">
                <a:latin typeface="Arial"/>
              </a:rPr>
              <a:t>”</a:t>
            </a:r>
            <a:r>
              <a:rPr lang="zh-CN" altLang="en-US" sz="3200">
                <a:latin typeface="宋体" pitchFamily="2" charset="-122"/>
              </a:rPr>
              <a:t>、</a:t>
            </a:r>
            <a:r>
              <a:rPr lang="zh-CN" altLang="en-US" sz="3200">
                <a:latin typeface="Arial"/>
              </a:rPr>
              <a:t>“</a:t>
            </a:r>
            <a:r>
              <a:rPr lang="zh-CN" altLang="en-US" sz="3200">
                <a:latin typeface="宋体" pitchFamily="2" charset="-122"/>
              </a:rPr>
              <a:t>某些</a:t>
            </a:r>
            <a:r>
              <a:rPr lang="zh-CN" altLang="en-US" sz="3200">
                <a:latin typeface="Arial"/>
              </a:rPr>
              <a:t>”</a:t>
            </a:r>
            <a:r>
              <a:rPr lang="zh-CN" altLang="en-US" sz="3200">
                <a:latin typeface="宋体" pitchFamily="2" charset="-122"/>
              </a:rPr>
              <a:t>、</a:t>
            </a:r>
            <a:r>
              <a:rPr lang="zh-CN" altLang="en-US" sz="3200">
                <a:latin typeface="Arial"/>
              </a:rPr>
              <a:t>“</a:t>
            </a:r>
            <a:r>
              <a:rPr lang="zh-CN" altLang="en-US" sz="3200">
                <a:latin typeface="宋体" pitchFamily="2" charset="-122"/>
              </a:rPr>
              <a:t>至少一个</a:t>
            </a:r>
            <a:r>
              <a:rPr lang="zh-CN" altLang="en-US" sz="3200">
                <a:latin typeface="Arial"/>
              </a:rPr>
              <a:t>”</a:t>
            </a:r>
            <a:r>
              <a:rPr lang="zh-CN" altLang="en-US" sz="3200">
                <a:latin typeface="宋体" pitchFamily="2" charset="-122"/>
              </a:rPr>
              <a:t>等</a:t>
            </a:r>
          </a:p>
          <a:p>
            <a:r>
              <a:rPr lang="zh-CN" altLang="en-US" sz="3200" b="1">
                <a:latin typeface="宋体" pitchFamily="2" charset="-122"/>
                <a:sym typeface="Symbol" pitchFamily="18" charset="2"/>
              </a:rPr>
              <a:t></a:t>
            </a:r>
            <a:r>
              <a:rPr lang="en-US" altLang="zh-CN" sz="3200" i="1">
                <a:solidFill>
                  <a:srgbClr val="FF0000"/>
                </a:solidFill>
                <a:latin typeface="Times New Roman" pitchFamily="18" charset="0"/>
              </a:rPr>
              <a:t>x</a:t>
            </a:r>
            <a:r>
              <a:rPr lang="zh-CN" altLang="en-US" sz="3200">
                <a:latin typeface="宋体" pitchFamily="2" charset="-122"/>
              </a:rPr>
              <a:t>读作</a:t>
            </a:r>
            <a:r>
              <a:rPr lang="zh-CN" altLang="en-US" sz="3200">
                <a:latin typeface="Arial"/>
              </a:rPr>
              <a:t>“</a:t>
            </a:r>
            <a:r>
              <a:rPr lang="zh-CN" altLang="en-US" sz="3200">
                <a:latin typeface="宋体" pitchFamily="2" charset="-122"/>
              </a:rPr>
              <a:t>存在</a:t>
            </a:r>
            <a:r>
              <a:rPr lang="en-US" altLang="zh-CN" sz="3200" i="1">
                <a:latin typeface="Times New Roman" pitchFamily="18" charset="0"/>
              </a:rPr>
              <a:t>x</a:t>
            </a:r>
            <a:r>
              <a:rPr lang="en-US" altLang="zh-CN" sz="3200">
                <a:latin typeface="Arial"/>
              </a:rPr>
              <a:t>”</a:t>
            </a:r>
            <a:r>
              <a:rPr lang="zh-CN" altLang="en-US" sz="3200">
                <a:latin typeface="宋体" pitchFamily="2" charset="-122"/>
              </a:rPr>
              <a:t>，</a:t>
            </a:r>
            <a:r>
              <a:rPr lang="zh-CN" altLang="en-US" sz="3200">
                <a:latin typeface="Arial"/>
              </a:rPr>
              <a:t>“</a:t>
            </a:r>
            <a:r>
              <a:rPr lang="zh-CN" altLang="en-US" sz="3200">
                <a:latin typeface="宋体" pitchFamily="2" charset="-122"/>
              </a:rPr>
              <a:t>对某些</a:t>
            </a:r>
            <a:r>
              <a:rPr lang="en-US" altLang="zh-CN" sz="3200" i="1">
                <a:latin typeface="Times New Roman" pitchFamily="18" charset="0"/>
              </a:rPr>
              <a:t>x</a:t>
            </a:r>
            <a:r>
              <a:rPr lang="en-US" altLang="zh-CN" sz="3200">
                <a:latin typeface="Arial"/>
              </a:rPr>
              <a:t>”</a:t>
            </a:r>
            <a:r>
              <a:rPr lang="zh-CN" altLang="en-US" sz="3200">
                <a:latin typeface="宋体" pitchFamily="2" charset="-122"/>
              </a:rPr>
              <a:t>或</a:t>
            </a:r>
            <a:r>
              <a:rPr lang="zh-CN" altLang="en-US" sz="3200">
                <a:latin typeface="Arial"/>
              </a:rPr>
              <a:t>“</a:t>
            </a:r>
            <a:r>
              <a:rPr lang="zh-CN" altLang="en-US" sz="3200">
                <a:latin typeface="宋体" pitchFamily="2" charset="-122"/>
              </a:rPr>
              <a:t>至少有一</a:t>
            </a:r>
            <a:r>
              <a:rPr lang="en-US" altLang="zh-CN" sz="3200" i="1">
                <a:latin typeface="Times New Roman" pitchFamily="18" charset="0"/>
              </a:rPr>
              <a:t>x</a:t>
            </a:r>
            <a:r>
              <a:rPr lang="en-US" altLang="zh-CN" sz="3200">
                <a:latin typeface="Arial"/>
              </a:rPr>
              <a:t>”</a:t>
            </a:r>
            <a:endParaRPr lang="en-US" altLang="zh-CN" sz="3200">
              <a:latin typeface="宋体" pitchFamily="2" charset="-122"/>
            </a:endParaRPr>
          </a:p>
          <a:p>
            <a:r>
              <a:rPr lang="zh-CN" altLang="en-US" sz="3200" b="1">
                <a:solidFill>
                  <a:srgbClr val="FF0000"/>
                </a:solidFill>
              </a:rPr>
              <a:t>指导变元</a:t>
            </a:r>
          </a:p>
          <a:p>
            <a:r>
              <a:rPr lang="zh-CN" altLang="en-US" sz="3200"/>
              <a:t>例</a:t>
            </a:r>
          </a:p>
          <a:p>
            <a:pPr lvl="1"/>
            <a:r>
              <a:rPr kumimoji="1" lang="zh-CN" altLang="en-US" sz="3200">
                <a:latin typeface="Times New Roman" pitchFamily="18" charset="0"/>
              </a:rPr>
              <a:t>有些有理数是整数</a:t>
            </a:r>
          </a:p>
          <a:p>
            <a:pPr lvl="1"/>
            <a:r>
              <a:rPr kumimoji="1" lang="zh-CN" altLang="en-US" sz="3200" i="1">
                <a:latin typeface="Times New Roman" pitchFamily="18" charset="0"/>
              </a:rPr>
              <a:t>Ｉ</a:t>
            </a:r>
            <a:r>
              <a:rPr kumimoji="1" lang="en-US" altLang="zh-CN" sz="3200">
                <a:latin typeface="Times New Roman" pitchFamily="18" charset="0"/>
              </a:rPr>
              <a:t>(</a:t>
            </a:r>
            <a:r>
              <a:rPr kumimoji="1" lang="en-US" altLang="zh-CN" sz="3200" i="1">
                <a:latin typeface="Times New Roman" pitchFamily="18" charset="0"/>
              </a:rPr>
              <a:t>x</a:t>
            </a:r>
            <a:r>
              <a:rPr kumimoji="1" lang="en-US" altLang="zh-CN" sz="3200">
                <a:latin typeface="Times New Roman" pitchFamily="18" charset="0"/>
              </a:rPr>
              <a:t>)</a:t>
            </a:r>
            <a:r>
              <a:rPr kumimoji="1" lang="zh-CN" altLang="en-US" sz="3200">
                <a:latin typeface="Times New Roman" pitchFamily="18" charset="0"/>
              </a:rPr>
              <a:t>：</a:t>
            </a:r>
            <a:r>
              <a:rPr kumimoji="1" lang="en-US" altLang="zh-CN" sz="3200" i="1">
                <a:latin typeface="Times New Roman" pitchFamily="18" charset="0"/>
              </a:rPr>
              <a:t>x</a:t>
            </a:r>
            <a:r>
              <a:rPr kumimoji="1" lang="zh-CN" altLang="en-US" sz="3200">
                <a:latin typeface="Times New Roman" pitchFamily="18" charset="0"/>
              </a:rPr>
              <a:t>是整数</a:t>
            </a:r>
          </a:p>
          <a:p>
            <a:pPr lvl="1"/>
            <a:r>
              <a:rPr kumimoji="1" lang="zh-CN" altLang="en-US" sz="3200">
                <a:latin typeface="Times New Roman" pitchFamily="18" charset="0"/>
              </a:rPr>
              <a:t>个体域：有理数集合</a:t>
            </a:r>
          </a:p>
          <a:p>
            <a:pPr lvl="1"/>
            <a:r>
              <a:rPr lang="zh-CN" altLang="en-US" sz="3200">
                <a:latin typeface="宋体" pitchFamily="2" charset="-122"/>
                <a:sym typeface="Symbol" pitchFamily="18" charset="2"/>
              </a:rPr>
              <a:t></a:t>
            </a:r>
            <a:r>
              <a:rPr kumimoji="1" lang="en-US" altLang="zh-CN" sz="3200" i="1">
                <a:latin typeface="Times New Roman" pitchFamily="18" charset="0"/>
              </a:rPr>
              <a:t>x</a:t>
            </a:r>
            <a:r>
              <a:rPr kumimoji="1" lang="zh-CN" altLang="en-US" sz="3200" i="1">
                <a:latin typeface="Times New Roman" pitchFamily="18" charset="0"/>
              </a:rPr>
              <a:t>Ｉ</a:t>
            </a:r>
            <a:r>
              <a:rPr kumimoji="1" lang="en-US" altLang="zh-CN" sz="3200">
                <a:latin typeface="Times New Roman" pitchFamily="18" charset="0"/>
              </a:rPr>
              <a:t>(</a:t>
            </a:r>
            <a:r>
              <a:rPr kumimoji="1" lang="en-US" altLang="zh-CN" sz="3200" i="1">
                <a:latin typeface="Times New Roman" pitchFamily="18" charset="0"/>
              </a:rPr>
              <a:t>x</a:t>
            </a:r>
            <a:r>
              <a:rPr kumimoji="1" lang="en-US" altLang="zh-CN" sz="3200">
                <a:latin typeface="Times New Roman" pitchFamily="18" charset="0"/>
              </a:rPr>
              <a:t>)</a:t>
            </a:r>
            <a:endParaRPr kumimoji="1" lang="en-US" altLang="zh-CN" sz="3200" dirty="0">
              <a:latin typeface="Times New Roman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DED95CF-852A-4A29-BB35-636277D67A9A}"/>
              </a:ext>
            </a:extLst>
          </p:cNvPr>
          <p:cNvSpPr/>
          <p:nvPr/>
        </p:nvSpPr>
        <p:spPr>
          <a:xfrm>
            <a:off x="1906173" y="809407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存在量词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396524946"/>
      </p:ext>
    </p:extLst>
  </p:cSld>
  <p:clrMapOvr>
    <a:masterClrMapping/>
  </p:clrMapOvr>
  <p:transition spd="slow" advTm="0">
    <p:wip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8AA3EC-70A6-4795-943F-69B8F164F2B4}"/>
              </a:ext>
            </a:extLst>
          </p:cNvPr>
          <p:cNvSpPr/>
          <p:nvPr/>
        </p:nvSpPr>
        <p:spPr>
          <a:xfrm>
            <a:off x="1874849" y="887849"/>
            <a:ext cx="855194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1716088" algn="l"/>
                <a:tab pos="2343150" algn="l"/>
              </a:tabLst>
            </a:pPr>
            <a:r>
              <a:rPr lang="zh-CN" altLang="en-US" sz="3200" dirty="0">
                <a:latin typeface="Times New Roman" panose="02020603050405020304" pitchFamily="18" charset="0"/>
              </a:rPr>
              <a:t>语义上，当</a:t>
            </a:r>
            <a:r>
              <a:rPr lang="en-US" altLang="zh-CN" sz="3200" dirty="0">
                <a:latin typeface="Times New Roman" panose="02020603050405020304" pitchFamily="18" charset="0"/>
              </a:rPr>
              <a:t>D={x</a:t>
            </a:r>
            <a:r>
              <a:rPr lang="en-US" altLang="zh-CN" sz="3200" baseline="-30000" dirty="0">
                <a:latin typeface="Times New Roman" panose="02020603050405020304" pitchFamily="18" charset="0"/>
              </a:rPr>
              <a:t>0</a:t>
            </a:r>
            <a:r>
              <a:rPr lang="en-US" altLang="zh-CN" sz="3200" dirty="0">
                <a:latin typeface="Times New Roman" panose="02020603050405020304" pitchFamily="18" charset="0"/>
              </a:rPr>
              <a:t>,x</a:t>
            </a:r>
            <a:r>
              <a:rPr lang="en-US" altLang="zh-CN" sz="3200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3200" dirty="0">
                <a:latin typeface="Times New Roman" panose="02020603050405020304" pitchFamily="18" charset="0"/>
              </a:rPr>
              <a:t>,…, </a:t>
            </a:r>
            <a:r>
              <a:rPr lang="en-US" altLang="zh-CN" sz="3200" dirty="0" err="1">
                <a:latin typeface="Times New Roman" panose="02020603050405020304" pitchFamily="18" charset="0"/>
              </a:rPr>
              <a:t>x</a:t>
            </a:r>
            <a:r>
              <a:rPr lang="en-US" altLang="zh-CN" sz="3200" baseline="-30000" dirty="0" err="1">
                <a:latin typeface="Times New Roman" panose="02020603050405020304" pitchFamily="18" charset="0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</a:rPr>
              <a:t>}</a:t>
            </a:r>
            <a:r>
              <a:rPr lang="zh-CN" altLang="en-US" sz="3200" dirty="0">
                <a:latin typeface="Times New Roman" panose="02020603050405020304" pitchFamily="18" charset="0"/>
              </a:rPr>
              <a:t>是可数集合时，	</a:t>
            </a:r>
            <a:br>
              <a:rPr lang="zh-CN" altLang="en-US" sz="3200" dirty="0">
                <a:latin typeface="Times New Roman" panose="02020603050405020304" pitchFamily="18" charset="0"/>
              </a:rPr>
            </a:br>
            <a:br>
              <a:rPr lang="zh-CN" altLang="en-US" sz="3200" dirty="0">
                <a:latin typeface="Times New Roman" panose="02020603050405020304" pitchFamily="18" charset="0"/>
              </a:rPr>
            </a:br>
            <a:r>
              <a:rPr lang="zh-CN" altLang="en-US" sz="3200" dirty="0">
                <a:latin typeface="Times New Roman" panose="02020603050405020304" pitchFamily="18" charset="0"/>
              </a:rPr>
              <a:t>	</a:t>
            </a:r>
            <a:r>
              <a:rPr lang="zh-CN" altLang="en-US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3200" dirty="0" err="1">
                <a:latin typeface="Times New Roman" panose="02020603050405020304" pitchFamily="18" charset="0"/>
              </a:rPr>
              <a:t>xG</a:t>
            </a:r>
            <a:r>
              <a:rPr lang="en-US" altLang="zh-CN" sz="3200" dirty="0">
                <a:latin typeface="Times New Roman" panose="02020603050405020304" pitchFamily="18" charset="0"/>
              </a:rPr>
              <a:t>(x)</a:t>
            </a:r>
            <a:r>
              <a:rPr lang="zh-CN" altLang="en-US" sz="3200" dirty="0">
                <a:latin typeface="Times New Roman" panose="02020603050405020304" pitchFamily="18" charset="0"/>
              </a:rPr>
              <a:t>等价于</a:t>
            </a:r>
            <a:r>
              <a:rPr lang="en-US" altLang="zh-CN" sz="3200" dirty="0">
                <a:latin typeface="Times New Roman" panose="02020603050405020304" pitchFamily="18" charset="0"/>
              </a:rPr>
              <a:t>G(x</a:t>
            </a:r>
            <a:r>
              <a:rPr lang="en-US" altLang="zh-CN" sz="3200" baseline="-30000" dirty="0">
                <a:latin typeface="Times New Roman" panose="02020603050405020304" pitchFamily="18" charset="0"/>
              </a:rPr>
              <a:t>0</a:t>
            </a:r>
            <a:r>
              <a:rPr lang="en-US" altLang="zh-CN" sz="3200" dirty="0">
                <a:latin typeface="Times New Roman" panose="02020603050405020304" pitchFamily="18" charset="0"/>
              </a:rPr>
              <a:t>)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3200" dirty="0">
                <a:latin typeface="Times New Roman" panose="02020603050405020304" pitchFamily="18" charset="0"/>
              </a:rPr>
              <a:t>G(x</a:t>
            </a:r>
            <a:r>
              <a:rPr lang="en-US" altLang="zh-CN" sz="3200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3200" dirty="0">
                <a:latin typeface="Times New Roman" panose="02020603050405020304" pitchFamily="18" charset="0"/>
              </a:rPr>
              <a:t>)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3200" dirty="0">
                <a:latin typeface="Times New Roman" panose="02020603050405020304" pitchFamily="18" charset="0"/>
              </a:rPr>
              <a:t>…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 </a:t>
            </a:r>
            <a:r>
              <a:rPr lang="en-US" altLang="zh-CN" sz="3200" dirty="0">
                <a:latin typeface="Times New Roman" panose="02020603050405020304" pitchFamily="18" charset="0"/>
              </a:rPr>
              <a:t> G(</a:t>
            </a:r>
            <a:r>
              <a:rPr lang="en-US" altLang="zh-CN" sz="3200" dirty="0" err="1">
                <a:latin typeface="Times New Roman" panose="02020603050405020304" pitchFamily="18" charset="0"/>
              </a:rPr>
              <a:t>x</a:t>
            </a:r>
            <a:r>
              <a:rPr lang="en-US" altLang="zh-CN" sz="3200" baseline="-30000" dirty="0" err="1">
                <a:latin typeface="Times New Roman" panose="02020603050405020304" pitchFamily="18" charset="0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</a:rPr>
              <a:t>)</a:t>
            </a:r>
            <a:br>
              <a:rPr lang="en-US" altLang="zh-CN" sz="3200" dirty="0">
                <a:latin typeface="Times New Roman" panose="02020603050405020304" pitchFamily="18" charset="0"/>
              </a:rPr>
            </a:br>
            <a:r>
              <a:rPr lang="en-US" altLang="zh-CN" sz="3200" dirty="0">
                <a:latin typeface="Times New Roman" panose="02020603050405020304" pitchFamily="18" charset="0"/>
              </a:rPr>
              <a:t>	 </a:t>
            </a:r>
            <a:br>
              <a:rPr lang="en-US" altLang="zh-CN" sz="3200" dirty="0">
                <a:latin typeface="Times New Roman" panose="02020603050405020304" pitchFamily="18" charset="0"/>
              </a:rPr>
            </a:br>
            <a:r>
              <a:rPr lang="en-US" altLang="zh-CN" sz="3200" dirty="0">
                <a:latin typeface="Times New Roman" panose="02020603050405020304" pitchFamily="18" charset="0"/>
              </a:rPr>
              <a:t>	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3200" dirty="0" err="1">
                <a:latin typeface="Times New Roman" panose="02020603050405020304" pitchFamily="18" charset="0"/>
              </a:rPr>
              <a:t>xG</a:t>
            </a:r>
            <a:r>
              <a:rPr lang="en-US" altLang="zh-CN" sz="3200" dirty="0">
                <a:latin typeface="Times New Roman" panose="02020603050405020304" pitchFamily="18" charset="0"/>
              </a:rPr>
              <a:t>(x)</a:t>
            </a:r>
            <a:r>
              <a:rPr lang="zh-CN" altLang="en-US" sz="3200" dirty="0">
                <a:latin typeface="Times New Roman" panose="02020603050405020304" pitchFamily="18" charset="0"/>
              </a:rPr>
              <a:t>等价于</a:t>
            </a:r>
            <a:r>
              <a:rPr lang="en-US" altLang="zh-CN" sz="3200" dirty="0">
                <a:latin typeface="Times New Roman" panose="02020603050405020304" pitchFamily="18" charset="0"/>
              </a:rPr>
              <a:t>G(x</a:t>
            </a:r>
            <a:r>
              <a:rPr lang="en-US" altLang="zh-CN" sz="3200" baseline="-30000" dirty="0">
                <a:latin typeface="Times New Roman" panose="02020603050405020304" pitchFamily="18" charset="0"/>
              </a:rPr>
              <a:t>0</a:t>
            </a:r>
            <a:r>
              <a:rPr lang="en-US" altLang="zh-CN" sz="3200" dirty="0">
                <a:latin typeface="Times New Roman" panose="02020603050405020304" pitchFamily="18" charset="0"/>
              </a:rPr>
              <a:t>)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3200" dirty="0">
                <a:latin typeface="Times New Roman" panose="02020603050405020304" pitchFamily="18" charset="0"/>
              </a:rPr>
              <a:t>G(x</a:t>
            </a:r>
            <a:r>
              <a:rPr lang="en-US" altLang="zh-CN" sz="3200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3200" dirty="0">
                <a:latin typeface="Times New Roman" panose="02020603050405020304" pitchFamily="18" charset="0"/>
              </a:rPr>
              <a:t>)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3200" dirty="0">
                <a:latin typeface="Times New Roman" panose="02020603050405020304" pitchFamily="18" charset="0"/>
              </a:rPr>
              <a:t>…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 </a:t>
            </a:r>
            <a:r>
              <a:rPr lang="en-US" altLang="zh-CN" sz="3200" dirty="0">
                <a:latin typeface="Times New Roman" panose="02020603050405020304" pitchFamily="18" charset="0"/>
              </a:rPr>
              <a:t> G(</a:t>
            </a:r>
            <a:r>
              <a:rPr lang="en-US" altLang="zh-CN" sz="3200" dirty="0" err="1">
                <a:latin typeface="Times New Roman" panose="02020603050405020304" pitchFamily="18" charset="0"/>
              </a:rPr>
              <a:t>x</a:t>
            </a:r>
            <a:r>
              <a:rPr lang="en-US" altLang="zh-CN" sz="3200" baseline="-30000" dirty="0" err="1">
                <a:latin typeface="Times New Roman" panose="02020603050405020304" pitchFamily="18" charset="0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</a:rPr>
              <a:t>)</a:t>
            </a:r>
            <a:br>
              <a:rPr lang="en-US" altLang="zh-CN" sz="3200" dirty="0">
                <a:latin typeface="Times New Roman" panose="02020603050405020304" pitchFamily="18" charset="0"/>
              </a:rPr>
            </a:b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2A6345D-1F14-46BC-9FA5-051210FE84CA}"/>
              </a:ext>
            </a:extLst>
          </p:cNvPr>
          <p:cNvSpPr/>
          <p:nvPr/>
        </p:nvSpPr>
        <p:spPr>
          <a:xfrm>
            <a:off x="2791441" y="3934138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kumimoji="1" lang="en-US" altLang="zh-CN" sz="3200" dirty="0">
                <a:latin typeface="宋体" pitchFamily="2" charset="-122"/>
              </a:rPr>
              <a:t>D={1,2,3}</a:t>
            </a:r>
          </a:p>
          <a:p>
            <a:pPr lvl="1"/>
            <a:r>
              <a:rPr kumimoji="1" lang="en-US" altLang="zh-CN" sz="3200" dirty="0">
                <a:latin typeface="Times New Roman" pitchFamily="18" charset="0"/>
                <a:sym typeface="Symbol" pitchFamily="18" charset="2"/>
              </a:rPr>
              <a:t></a:t>
            </a:r>
            <a:r>
              <a:rPr kumimoji="1" lang="en-US" altLang="zh-CN" sz="3200" i="1" dirty="0" err="1">
                <a:latin typeface="Times New Roman" pitchFamily="18" charset="0"/>
                <a:sym typeface="Symbol" pitchFamily="18" charset="2"/>
              </a:rPr>
              <a:t>x</a:t>
            </a:r>
            <a:r>
              <a:rPr kumimoji="1" lang="en-US" altLang="zh-CN" sz="3200" i="1" dirty="0" err="1">
                <a:latin typeface="Times New Roman" pitchFamily="18" charset="0"/>
              </a:rPr>
              <a:t>P</a:t>
            </a:r>
            <a:r>
              <a:rPr kumimoji="1" lang="en-US" altLang="zh-CN" sz="3200" dirty="0">
                <a:latin typeface="Times New Roman" pitchFamily="18" charset="0"/>
              </a:rPr>
              <a:t>(</a:t>
            </a:r>
            <a:r>
              <a:rPr kumimoji="1" lang="en-US" altLang="zh-CN" sz="3200" i="1" dirty="0">
                <a:latin typeface="Times New Roman" pitchFamily="18" charset="0"/>
              </a:rPr>
              <a:t>x</a:t>
            </a:r>
            <a:r>
              <a:rPr kumimoji="1" lang="en-US" altLang="zh-CN" sz="3200" dirty="0">
                <a:latin typeface="Times New Roman" pitchFamily="18" charset="0"/>
              </a:rPr>
              <a:t>)</a:t>
            </a:r>
            <a:r>
              <a:rPr kumimoji="1" lang="en-US" altLang="zh-CN" sz="3200" dirty="0">
                <a:latin typeface="Times New Roman" pitchFamily="18" charset="0"/>
                <a:sym typeface="Symbol" pitchFamily="18" charset="2"/>
              </a:rPr>
              <a:t></a:t>
            </a:r>
            <a:r>
              <a:rPr kumimoji="1" lang="en-US" altLang="zh-CN" sz="3200" i="1" dirty="0">
                <a:latin typeface="Times New Roman" pitchFamily="18" charset="0"/>
              </a:rPr>
              <a:t> P</a:t>
            </a:r>
            <a:r>
              <a:rPr kumimoji="1" lang="en-US" altLang="zh-CN" sz="3200" dirty="0">
                <a:latin typeface="Times New Roman" pitchFamily="18" charset="0"/>
              </a:rPr>
              <a:t>(1)∧ </a:t>
            </a:r>
            <a:r>
              <a:rPr kumimoji="1" lang="en-US" altLang="zh-CN" sz="3200" i="1" dirty="0">
                <a:latin typeface="Times New Roman" pitchFamily="18" charset="0"/>
              </a:rPr>
              <a:t>P</a:t>
            </a:r>
            <a:r>
              <a:rPr kumimoji="1" lang="en-US" altLang="zh-CN" sz="3200" dirty="0">
                <a:latin typeface="Times New Roman" pitchFamily="18" charset="0"/>
              </a:rPr>
              <a:t>(2) ∧ </a:t>
            </a:r>
            <a:r>
              <a:rPr kumimoji="1" lang="en-US" altLang="zh-CN" sz="3200" i="1" dirty="0">
                <a:latin typeface="Times New Roman" pitchFamily="18" charset="0"/>
              </a:rPr>
              <a:t>P</a:t>
            </a:r>
            <a:r>
              <a:rPr kumimoji="1" lang="en-US" altLang="zh-CN" sz="3200" dirty="0">
                <a:latin typeface="Times New Roman" pitchFamily="18" charset="0"/>
              </a:rPr>
              <a:t>(3)</a:t>
            </a:r>
          </a:p>
          <a:p>
            <a:pPr lvl="1"/>
            <a:r>
              <a:rPr kumimoji="1" lang="en-US" altLang="zh-CN" sz="3200" dirty="0">
                <a:latin typeface="Times New Roman" pitchFamily="18" charset="0"/>
                <a:sym typeface="Symbol" pitchFamily="18" charset="2"/>
              </a:rPr>
              <a:t></a:t>
            </a:r>
            <a:r>
              <a:rPr kumimoji="1" lang="en-US" altLang="zh-CN" sz="3200" i="1" dirty="0" err="1">
                <a:latin typeface="Times New Roman" pitchFamily="18" charset="0"/>
                <a:sym typeface="Symbol" pitchFamily="18" charset="2"/>
              </a:rPr>
              <a:t>x</a:t>
            </a:r>
            <a:r>
              <a:rPr kumimoji="1" lang="en-US" altLang="zh-CN" sz="3200" i="1" dirty="0" err="1">
                <a:latin typeface="Times New Roman" pitchFamily="18" charset="0"/>
              </a:rPr>
              <a:t>P</a:t>
            </a:r>
            <a:r>
              <a:rPr kumimoji="1" lang="en-US" altLang="zh-CN" sz="3200" dirty="0">
                <a:latin typeface="Times New Roman" pitchFamily="18" charset="0"/>
              </a:rPr>
              <a:t>(</a:t>
            </a:r>
            <a:r>
              <a:rPr kumimoji="1" lang="en-US" altLang="zh-CN" sz="3200" i="1" dirty="0">
                <a:latin typeface="Times New Roman" pitchFamily="18" charset="0"/>
              </a:rPr>
              <a:t>x</a:t>
            </a:r>
            <a:r>
              <a:rPr kumimoji="1" lang="en-US" altLang="zh-CN" sz="3200" dirty="0">
                <a:latin typeface="Times New Roman" pitchFamily="18" charset="0"/>
              </a:rPr>
              <a:t>)</a:t>
            </a:r>
            <a:r>
              <a:rPr kumimoji="1" lang="en-US" altLang="zh-CN" sz="3200" dirty="0">
                <a:latin typeface="Times New Roman" pitchFamily="18" charset="0"/>
                <a:sym typeface="Symbol" pitchFamily="18" charset="2"/>
              </a:rPr>
              <a:t> </a:t>
            </a:r>
            <a:r>
              <a:rPr kumimoji="1" lang="en-US" altLang="zh-CN" sz="3200" i="1" dirty="0">
                <a:latin typeface="Times New Roman" pitchFamily="18" charset="0"/>
              </a:rPr>
              <a:t>P</a:t>
            </a:r>
            <a:r>
              <a:rPr kumimoji="1" lang="en-US" altLang="zh-CN" sz="3200" dirty="0">
                <a:latin typeface="Times New Roman" pitchFamily="18" charset="0"/>
              </a:rPr>
              <a:t>(1)∨ </a:t>
            </a:r>
            <a:r>
              <a:rPr kumimoji="1" lang="en-US" altLang="zh-CN" sz="3200" i="1" dirty="0">
                <a:latin typeface="Times New Roman" pitchFamily="18" charset="0"/>
              </a:rPr>
              <a:t>P</a:t>
            </a:r>
            <a:r>
              <a:rPr kumimoji="1" lang="en-US" altLang="zh-CN" sz="3200" dirty="0">
                <a:latin typeface="Times New Roman" pitchFamily="18" charset="0"/>
              </a:rPr>
              <a:t>(2) ∨</a:t>
            </a:r>
            <a:r>
              <a:rPr kumimoji="1" lang="en-US" altLang="zh-CN" sz="3200" i="1" dirty="0">
                <a:latin typeface="Times New Roman" pitchFamily="18" charset="0"/>
              </a:rPr>
              <a:t>P</a:t>
            </a:r>
            <a:r>
              <a:rPr kumimoji="1" lang="en-US" altLang="zh-CN" sz="3200" dirty="0">
                <a:latin typeface="Times New Roman" pitchFamily="18" charset="0"/>
              </a:rPr>
              <a:t>(3)</a:t>
            </a:r>
          </a:p>
        </p:txBody>
      </p:sp>
    </p:spTree>
    <p:extLst>
      <p:ext uri="{BB962C8B-B14F-4D97-AF65-F5344CB8AC3E}">
        <p14:creationId xmlns:p14="http://schemas.microsoft.com/office/powerpoint/2010/main" val="1425328984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graphicFrame>
        <p:nvGraphicFramePr>
          <p:cNvPr id="4" name="Group 55">
            <a:extLst>
              <a:ext uri="{FF2B5EF4-FFF2-40B4-BE49-F238E27FC236}">
                <a16:creationId xmlns:a16="http://schemas.microsoft.com/office/drawing/2014/main" id="{095FC14F-B5DD-407A-899E-682C2CDAA7C4}"/>
              </a:ext>
            </a:extLst>
          </p:cNvPr>
          <p:cNvGraphicFramePr>
            <a:graphicFrameLocks/>
          </p:cNvGraphicFramePr>
          <p:nvPr/>
        </p:nvGraphicFramePr>
        <p:xfrm>
          <a:off x="2075795" y="1785812"/>
          <a:ext cx="3024187" cy="2709864"/>
        </p:xfrm>
        <a:graphic>
          <a:graphicData uri="http://schemas.openxmlformats.org/drawingml/2006/table">
            <a:tbl>
              <a:tblPr/>
              <a:tblGrid>
                <a:gridCol w="1008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5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32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A(x)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sym typeface="Symbol" pitchFamily="18" charset="2"/>
                        </a:rPr>
                        <a:t></a:t>
                      </a:r>
                      <a:r>
                        <a:rPr kumimoji="1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sym typeface="Symbol" pitchFamily="18" charset="2"/>
                        </a:rPr>
                        <a:t>xA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(</a:t>
                      </a:r>
                      <a:r>
                        <a:rPr kumimoji="1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8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8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4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AutoShape 38">
            <a:extLst>
              <a:ext uri="{FF2B5EF4-FFF2-40B4-BE49-F238E27FC236}">
                <a16:creationId xmlns:a16="http://schemas.microsoft.com/office/drawing/2014/main" id="{0E609582-A906-4B9C-8042-691BD8CE21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095" y="5025900"/>
            <a:ext cx="1728787" cy="792162"/>
          </a:xfrm>
          <a:prstGeom prst="wedgeRoundRectCallout">
            <a:avLst>
              <a:gd name="adj1" fmla="val 22634"/>
              <a:gd name="adj2" fmla="val -110722"/>
              <a:gd name="adj3" fmla="val 16667"/>
            </a:avLst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zh-CN" sz="2000"/>
              <a:t>x</a:t>
            </a:r>
            <a:r>
              <a:rPr lang="zh-CN" altLang="en-US" sz="2000"/>
              <a:t>取遍论域中的所有值</a:t>
            </a:r>
          </a:p>
        </p:txBody>
      </p:sp>
      <p:sp>
        <p:nvSpPr>
          <p:cNvPr id="6" name="Text Box 45">
            <a:extLst>
              <a:ext uri="{FF2B5EF4-FFF2-40B4-BE49-F238E27FC236}">
                <a16:creationId xmlns:a16="http://schemas.microsoft.com/office/drawing/2014/main" id="{82108D08-CEDC-4768-AF66-815042AC63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9407" y="3154237"/>
            <a:ext cx="43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800"/>
              <a:t>T</a:t>
            </a:r>
          </a:p>
        </p:txBody>
      </p:sp>
      <p:sp>
        <p:nvSpPr>
          <p:cNvPr id="7" name="AutoShape 46">
            <a:extLst>
              <a:ext uri="{FF2B5EF4-FFF2-40B4-BE49-F238E27FC236}">
                <a16:creationId xmlns:a16="http://schemas.microsoft.com/office/drawing/2014/main" id="{699351AB-DDF1-4C88-B8B3-0CB5ED9EC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2420" y="5818062"/>
            <a:ext cx="2808287" cy="863600"/>
          </a:xfrm>
          <a:prstGeom prst="wedgeRoundRectCallout">
            <a:avLst>
              <a:gd name="adj1" fmla="val -30273"/>
              <a:gd name="adj2" fmla="val -193750"/>
              <a:gd name="adj3" fmla="val 16667"/>
            </a:avLst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2400">
                <a:latin typeface="宋体" pitchFamily="2" charset="-122"/>
              </a:rPr>
              <a:t>关于</a:t>
            </a:r>
            <a:r>
              <a:rPr lang="en-US" altLang="zh-CN" sz="2400">
                <a:latin typeface="宋体" pitchFamily="2" charset="-122"/>
              </a:rPr>
              <a:t>x</a:t>
            </a:r>
            <a:r>
              <a:rPr lang="zh-CN" altLang="en-US" sz="2400">
                <a:latin typeface="宋体" pitchFamily="2" charset="-122"/>
              </a:rPr>
              <a:t>的命题函数</a:t>
            </a:r>
            <a:r>
              <a:rPr lang="en-US" altLang="zh-CN" sz="2400">
                <a:latin typeface="宋体" pitchFamily="2" charset="-122"/>
              </a:rPr>
              <a:t>A(x)</a:t>
            </a:r>
            <a:r>
              <a:rPr lang="zh-CN" altLang="en-US" sz="2400">
                <a:latin typeface="宋体" pitchFamily="2" charset="-122"/>
              </a:rPr>
              <a:t>取值皆为</a:t>
            </a:r>
            <a:r>
              <a:rPr lang="en-US" altLang="zh-CN" sz="2400">
                <a:latin typeface="宋体" pitchFamily="2" charset="-122"/>
              </a:rPr>
              <a:t>T</a:t>
            </a:r>
          </a:p>
        </p:txBody>
      </p:sp>
      <p:sp>
        <p:nvSpPr>
          <p:cNvPr id="8" name="AutoShape 47">
            <a:extLst>
              <a:ext uri="{FF2B5EF4-FFF2-40B4-BE49-F238E27FC236}">
                <a16:creationId xmlns:a16="http://schemas.microsoft.com/office/drawing/2014/main" id="{85409548-545F-4832-95ED-AB2C28ECB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6382" y="4665537"/>
            <a:ext cx="2519363" cy="863600"/>
          </a:xfrm>
          <a:prstGeom prst="wedgeRoundRectCallout">
            <a:avLst>
              <a:gd name="adj1" fmla="val -39037"/>
              <a:gd name="adj2" fmla="val -171139"/>
              <a:gd name="adj3" fmla="val 16667"/>
            </a:avLst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2400">
                <a:latin typeface="宋体" pitchFamily="2" charset="-122"/>
              </a:rPr>
              <a:t>全称命题</a:t>
            </a:r>
            <a:r>
              <a:rPr kumimoji="1" lang="zh-CN" altLang="en-US" sz="2400">
                <a:sym typeface="Symbol" pitchFamily="18" charset="2"/>
              </a:rPr>
              <a:t></a:t>
            </a:r>
            <a:r>
              <a:rPr kumimoji="1" lang="en-US" altLang="zh-CN" sz="2400" i="1">
                <a:sym typeface="Symbol" pitchFamily="18" charset="2"/>
              </a:rPr>
              <a:t>x</a:t>
            </a:r>
            <a:r>
              <a:rPr lang="en-US" altLang="zh-CN" sz="2400">
                <a:latin typeface="宋体" pitchFamily="2" charset="-122"/>
              </a:rPr>
              <a:t>A(x)</a:t>
            </a:r>
            <a:r>
              <a:rPr lang="zh-CN" altLang="en-US" sz="2400">
                <a:latin typeface="宋体" pitchFamily="2" charset="-122"/>
              </a:rPr>
              <a:t>的真值为</a:t>
            </a:r>
            <a:r>
              <a:rPr lang="en-US" altLang="zh-CN" sz="2400">
                <a:latin typeface="宋体" pitchFamily="2" charset="-122"/>
              </a:rPr>
              <a:t>T</a:t>
            </a:r>
          </a:p>
        </p:txBody>
      </p:sp>
      <p:grpSp>
        <p:nvGrpSpPr>
          <p:cNvPr id="9" name="Group 87">
            <a:extLst>
              <a:ext uri="{FF2B5EF4-FFF2-40B4-BE49-F238E27FC236}">
                <a16:creationId xmlns:a16="http://schemas.microsoft.com/office/drawing/2014/main" id="{66F9D30C-9379-4847-AB3C-9078C8A60748}"/>
              </a:ext>
            </a:extLst>
          </p:cNvPr>
          <p:cNvGrpSpPr>
            <a:grpSpLocks/>
          </p:cNvGrpSpPr>
          <p:nvPr/>
        </p:nvGrpSpPr>
        <p:grpSpPr bwMode="auto">
          <a:xfrm>
            <a:off x="3083857" y="2362075"/>
            <a:ext cx="895350" cy="2087562"/>
            <a:chOff x="1292" y="1253"/>
            <a:chExt cx="564" cy="1315"/>
          </a:xfrm>
        </p:grpSpPr>
        <p:sp>
          <p:nvSpPr>
            <p:cNvPr id="10" name="Text Box 48">
              <a:extLst>
                <a:ext uri="{FF2B5EF4-FFF2-40B4-BE49-F238E27FC236}">
                  <a16:creationId xmlns:a16="http://schemas.microsoft.com/office/drawing/2014/main" id="{5AA99C9D-AA9D-4C7E-A0FA-425F93E651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0" y="1253"/>
              <a:ext cx="27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/>
                <a:t>T</a:t>
              </a:r>
            </a:p>
          </p:txBody>
        </p:sp>
        <p:sp>
          <p:nvSpPr>
            <p:cNvPr id="11" name="Text Box 49">
              <a:extLst>
                <a:ext uri="{FF2B5EF4-FFF2-40B4-BE49-F238E27FC236}">
                  <a16:creationId xmlns:a16="http://schemas.microsoft.com/office/drawing/2014/main" id="{AA97316E-1B7C-4735-AC23-F3366D1E92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2" y="1890"/>
              <a:ext cx="5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/>
                <a:t>……</a:t>
              </a:r>
            </a:p>
          </p:txBody>
        </p:sp>
        <p:sp>
          <p:nvSpPr>
            <p:cNvPr id="12" name="Text Box 50">
              <a:extLst>
                <a:ext uri="{FF2B5EF4-FFF2-40B4-BE49-F238E27FC236}">
                  <a16:creationId xmlns:a16="http://schemas.microsoft.com/office/drawing/2014/main" id="{1ADAF88B-DF0F-46B4-8EFB-E8233B3D0F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0" y="1570"/>
              <a:ext cx="27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/>
                <a:t>T</a:t>
              </a:r>
            </a:p>
          </p:txBody>
        </p:sp>
        <p:sp>
          <p:nvSpPr>
            <p:cNvPr id="13" name="Text Box 51">
              <a:extLst>
                <a:ext uri="{FF2B5EF4-FFF2-40B4-BE49-F238E27FC236}">
                  <a16:creationId xmlns:a16="http://schemas.microsoft.com/office/drawing/2014/main" id="{36D986E6-82F5-4DA1-B53F-F1C4BA8FCE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0" y="2241"/>
              <a:ext cx="27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/>
                <a:t>T</a:t>
              </a:r>
            </a:p>
          </p:txBody>
        </p:sp>
      </p:grpSp>
      <p:graphicFrame>
        <p:nvGraphicFramePr>
          <p:cNvPr id="14" name="Group 56">
            <a:extLst>
              <a:ext uri="{FF2B5EF4-FFF2-40B4-BE49-F238E27FC236}">
                <a16:creationId xmlns:a16="http://schemas.microsoft.com/office/drawing/2014/main" id="{681CFEC0-20D3-4E2C-A25B-EE7F80EC6660}"/>
              </a:ext>
            </a:extLst>
          </p:cNvPr>
          <p:cNvGraphicFramePr>
            <a:graphicFrameLocks noGrp="1"/>
          </p:cNvGraphicFramePr>
          <p:nvPr/>
        </p:nvGraphicFramePr>
        <p:xfrm>
          <a:off x="5749270" y="1785812"/>
          <a:ext cx="3024187" cy="2709864"/>
        </p:xfrm>
        <a:graphic>
          <a:graphicData uri="http://schemas.openxmlformats.org/drawingml/2006/table">
            <a:tbl>
              <a:tblPr/>
              <a:tblGrid>
                <a:gridCol w="1008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5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32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A(x)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sym typeface="Symbol" pitchFamily="18" charset="2"/>
                        </a:rPr>
                        <a:t></a:t>
                      </a: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sym typeface="Symbol" pitchFamily="18" charset="2"/>
                        </a:rPr>
                        <a:t>xA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(</a:t>
                      </a: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8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8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4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5" name="Group 88">
            <a:extLst>
              <a:ext uri="{FF2B5EF4-FFF2-40B4-BE49-F238E27FC236}">
                <a16:creationId xmlns:a16="http://schemas.microsoft.com/office/drawing/2014/main" id="{606326BC-EEA0-4232-B1A5-9CD0A471E7A5}"/>
              </a:ext>
            </a:extLst>
          </p:cNvPr>
          <p:cNvGrpSpPr>
            <a:grpSpLocks/>
          </p:cNvGrpSpPr>
          <p:nvPr/>
        </p:nvGrpSpPr>
        <p:grpSpPr bwMode="auto">
          <a:xfrm>
            <a:off x="6797020" y="2362075"/>
            <a:ext cx="895350" cy="2087562"/>
            <a:chOff x="3631" y="1253"/>
            <a:chExt cx="564" cy="1315"/>
          </a:xfrm>
        </p:grpSpPr>
        <p:sp>
          <p:nvSpPr>
            <p:cNvPr id="16" name="Text Box 79">
              <a:extLst>
                <a:ext uri="{FF2B5EF4-FFF2-40B4-BE49-F238E27FC236}">
                  <a16:creationId xmlns:a16="http://schemas.microsoft.com/office/drawing/2014/main" id="{9EDA5508-7157-44ED-A22A-038FADC263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9" y="1253"/>
              <a:ext cx="27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/>
                <a:t>F</a:t>
              </a:r>
            </a:p>
          </p:txBody>
        </p:sp>
        <p:sp>
          <p:nvSpPr>
            <p:cNvPr id="17" name="Text Box 80">
              <a:extLst>
                <a:ext uri="{FF2B5EF4-FFF2-40B4-BE49-F238E27FC236}">
                  <a16:creationId xmlns:a16="http://schemas.microsoft.com/office/drawing/2014/main" id="{F9943C87-5025-4ED0-A4DF-7EF9A69604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1" y="1890"/>
              <a:ext cx="5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/>
                <a:t>……</a:t>
              </a:r>
            </a:p>
          </p:txBody>
        </p:sp>
        <p:sp>
          <p:nvSpPr>
            <p:cNvPr id="18" name="Text Box 81">
              <a:extLst>
                <a:ext uri="{FF2B5EF4-FFF2-40B4-BE49-F238E27FC236}">
                  <a16:creationId xmlns:a16="http://schemas.microsoft.com/office/drawing/2014/main" id="{46496160-A74C-405C-80FB-A248D3F2E8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9" y="1570"/>
              <a:ext cx="27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/>
                <a:t>F</a:t>
              </a:r>
            </a:p>
          </p:txBody>
        </p:sp>
        <p:sp>
          <p:nvSpPr>
            <p:cNvPr id="19" name="Text Box 82">
              <a:extLst>
                <a:ext uri="{FF2B5EF4-FFF2-40B4-BE49-F238E27FC236}">
                  <a16:creationId xmlns:a16="http://schemas.microsoft.com/office/drawing/2014/main" id="{F4CA6B12-81A5-41BA-8354-01BE988B67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9" y="2241"/>
              <a:ext cx="27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/>
                <a:t>F</a:t>
              </a:r>
            </a:p>
          </p:txBody>
        </p:sp>
      </p:grpSp>
      <p:sp>
        <p:nvSpPr>
          <p:cNvPr id="20" name="Text Box 83">
            <a:extLst>
              <a:ext uri="{FF2B5EF4-FFF2-40B4-BE49-F238E27FC236}">
                <a16:creationId xmlns:a16="http://schemas.microsoft.com/office/drawing/2014/main" id="{6A33AC49-BD21-4421-AAF5-D6AFE57B93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1295" y="3154237"/>
            <a:ext cx="43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800"/>
              <a:t>F</a:t>
            </a:r>
          </a:p>
        </p:txBody>
      </p:sp>
      <p:sp>
        <p:nvSpPr>
          <p:cNvPr id="21" name="AutoShape 84">
            <a:extLst>
              <a:ext uri="{FF2B5EF4-FFF2-40B4-BE49-F238E27FC236}">
                <a16:creationId xmlns:a16="http://schemas.microsoft.com/office/drawing/2014/main" id="{CDF81231-AE05-4D4D-A48E-0CF7A4DA6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0707" y="5889500"/>
            <a:ext cx="2736850" cy="863600"/>
          </a:xfrm>
          <a:prstGeom prst="wedgeRoundRectCallout">
            <a:avLst>
              <a:gd name="adj1" fmla="val -1565"/>
              <a:gd name="adj2" fmla="val -203491"/>
              <a:gd name="adj3" fmla="val 16667"/>
            </a:avLst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2400">
                <a:latin typeface="宋体" pitchFamily="2" charset="-122"/>
              </a:rPr>
              <a:t>关于</a:t>
            </a:r>
            <a:r>
              <a:rPr lang="en-US" altLang="zh-CN" sz="2400">
                <a:latin typeface="宋体" pitchFamily="2" charset="-122"/>
              </a:rPr>
              <a:t>x</a:t>
            </a:r>
            <a:r>
              <a:rPr lang="zh-CN" altLang="en-US" sz="2400">
                <a:latin typeface="宋体" pitchFamily="2" charset="-122"/>
              </a:rPr>
              <a:t>的命题函数</a:t>
            </a:r>
            <a:r>
              <a:rPr lang="en-US" altLang="zh-CN" sz="2400">
                <a:latin typeface="宋体" pitchFamily="2" charset="-122"/>
              </a:rPr>
              <a:t>A(x)</a:t>
            </a:r>
            <a:r>
              <a:rPr lang="zh-CN" altLang="en-US" sz="2400">
                <a:latin typeface="宋体" pitchFamily="2" charset="-122"/>
              </a:rPr>
              <a:t>取值皆为</a:t>
            </a:r>
            <a:r>
              <a:rPr lang="en-US" altLang="zh-CN" sz="2400">
                <a:latin typeface="宋体" pitchFamily="2" charset="-122"/>
              </a:rPr>
              <a:t>F</a:t>
            </a:r>
          </a:p>
        </p:txBody>
      </p:sp>
      <p:sp>
        <p:nvSpPr>
          <p:cNvPr id="22" name="AutoShape 85">
            <a:extLst>
              <a:ext uri="{FF2B5EF4-FFF2-40B4-BE49-F238E27FC236}">
                <a16:creationId xmlns:a16="http://schemas.microsoft.com/office/drawing/2014/main" id="{47D6BFB8-73B0-4CEE-9A04-5672F2674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6470" y="4810000"/>
            <a:ext cx="2449512" cy="863600"/>
          </a:xfrm>
          <a:prstGeom prst="wedgeRoundRectCallout">
            <a:avLst>
              <a:gd name="adj1" fmla="val -20255"/>
              <a:gd name="adj2" fmla="val -183824"/>
              <a:gd name="adj3" fmla="val 16667"/>
            </a:avLst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2400">
                <a:latin typeface="宋体" pitchFamily="2" charset="-122"/>
              </a:rPr>
              <a:t>存在命题</a:t>
            </a:r>
            <a:r>
              <a:rPr kumimoji="1" lang="zh-CN" altLang="en-US" sz="2400">
                <a:sym typeface="Symbol" pitchFamily="18" charset="2"/>
              </a:rPr>
              <a:t></a:t>
            </a:r>
            <a:r>
              <a:rPr kumimoji="1" lang="en-US" altLang="zh-CN" sz="2400" i="1">
                <a:sym typeface="Symbol" pitchFamily="18" charset="2"/>
              </a:rPr>
              <a:t>x</a:t>
            </a:r>
            <a:r>
              <a:rPr lang="en-US" altLang="zh-CN" sz="2400">
                <a:latin typeface="宋体" pitchFamily="2" charset="-122"/>
              </a:rPr>
              <a:t>A(x)</a:t>
            </a:r>
            <a:r>
              <a:rPr lang="zh-CN" altLang="en-US" sz="2400">
                <a:latin typeface="宋体" pitchFamily="2" charset="-122"/>
              </a:rPr>
              <a:t>的真值为</a:t>
            </a:r>
            <a:r>
              <a:rPr lang="en-US" altLang="zh-CN" sz="2400">
                <a:latin typeface="宋体" pitchFamily="2" charset="-122"/>
              </a:rPr>
              <a:t>F</a:t>
            </a:r>
          </a:p>
        </p:txBody>
      </p:sp>
      <p:sp>
        <p:nvSpPr>
          <p:cNvPr id="23" name="Rectangle 86">
            <a:extLst>
              <a:ext uri="{FF2B5EF4-FFF2-40B4-BE49-F238E27FC236}">
                <a16:creationId xmlns:a16="http://schemas.microsoft.com/office/drawing/2014/main" id="{58FE3F93-8198-437E-9B4F-67A02BDA0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7482" y="830200"/>
            <a:ext cx="6985000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dirty="0"/>
              <a:t>量化断言和个体指派的关系</a:t>
            </a:r>
          </a:p>
        </p:txBody>
      </p:sp>
      <p:sp>
        <p:nvSpPr>
          <p:cNvPr id="24" name="AutoShape 89">
            <a:extLst>
              <a:ext uri="{FF2B5EF4-FFF2-40B4-BE49-F238E27FC236}">
                <a16:creationId xmlns:a16="http://schemas.microsoft.com/office/drawing/2014/main" id="{D5DF1900-CD19-4125-A50D-3EC77275D1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2282" y="4881437"/>
            <a:ext cx="1728788" cy="792163"/>
          </a:xfrm>
          <a:prstGeom prst="wedgeRoundRectCallout">
            <a:avLst>
              <a:gd name="adj1" fmla="val 49171"/>
              <a:gd name="adj2" fmla="val -92486"/>
              <a:gd name="adj3" fmla="val 16667"/>
            </a:avLst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zh-CN" sz="2000"/>
              <a:t>x</a:t>
            </a:r>
            <a:r>
              <a:rPr lang="zh-CN" altLang="en-US" sz="2000"/>
              <a:t>取遍论域中的所有值</a:t>
            </a:r>
          </a:p>
        </p:txBody>
      </p:sp>
      <p:sp>
        <p:nvSpPr>
          <p:cNvPr id="25" name="Text Box 90">
            <a:extLst>
              <a:ext uri="{FF2B5EF4-FFF2-40B4-BE49-F238E27FC236}">
                <a16:creationId xmlns:a16="http://schemas.microsoft.com/office/drawing/2014/main" id="{94631FE6-824C-4DDD-AA8B-4D7FF0F865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020" y="4594100"/>
            <a:ext cx="8135937" cy="2195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zh-CN" altLang="en-US" sz="2400" b="1" dirty="0">
                <a:latin typeface="宋体" pitchFamily="2" charset="-122"/>
              </a:rPr>
              <a:t>总之：</a:t>
            </a:r>
          </a:p>
          <a:p>
            <a:pPr>
              <a:lnSpc>
                <a:spcPct val="115000"/>
              </a:lnSpc>
            </a:pPr>
            <a:r>
              <a:rPr lang="zh-CN" altLang="en-US" sz="2400" b="1" dirty="0">
                <a:latin typeface="宋体" pitchFamily="2" charset="-122"/>
              </a:rPr>
              <a:t>  </a:t>
            </a:r>
            <a:r>
              <a:rPr lang="en-US" altLang="zh-CN" sz="2400" b="1" dirty="0">
                <a:latin typeface="宋体" pitchFamily="2" charset="-122"/>
              </a:rPr>
              <a:t>1.</a:t>
            </a:r>
            <a:r>
              <a:rPr lang="zh-CN" altLang="en-US" sz="2400" b="1" dirty="0">
                <a:latin typeface="宋体" pitchFamily="2" charset="-122"/>
              </a:rPr>
              <a:t>全称命题</a:t>
            </a:r>
            <a:r>
              <a:rPr kumimoji="1" lang="zh-CN" altLang="en-US" sz="2400" b="1" dirty="0">
                <a:latin typeface="宋体" pitchFamily="2" charset="-122"/>
                <a:sym typeface="Symbol" pitchFamily="18" charset="2"/>
              </a:rPr>
              <a:t></a:t>
            </a:r>
            <a:r>
              <a:rPr kumimoji="1" lang="en-US" altLang="zh-CN" sz="2400" b="1" dirty="0" err="1">
                <a:latin typeface="宋体" pitchFamily="2" charset="-122"/>
                <a:sym typeface="Symbol" pitchFamily="18" charset="2"/>
              </a:rPr>
              <a:t>xA</a:t>
            </a:r>
            <a:r>
              <a:rPr kumimoji="1" lang="en-US" altLang="zh-CN" sz="2400" b="1" dirty="0">
                <a:latin typeface="宋体" pitchFamily="2" charset="-122"/>
              </a:rPr>
              <a:t>(x)</a:t>
            </a:r>
            <a:r>
              <a:rPr kumimoji="1" lang="zh-CN" altLang="en-US" sz="2400" b="1" dirty="0">
                <a:latin typeface="宋体" pitchFamily="2" charset="-122"/>
              </a:rPr>
              <a:t>为真，当且仅当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itchFamily="2" charset="-122"/>
                <a:sym typeface="Symbol" pitchFamily="18" charset="2"/>
              </a:rPr>
              <a:t></a:t>
            </a:r>
            <a:r>
              <a:rPr kumimoji="1" lang="en-US" altLang="zh-CN" sz="2400" b="1" dirty="0" err="1">
                <a:solidFill>
                  <a:srgbClr val="FF0000"/>
                </a:solidFill>
                <a:latin typeface="宋体" pitchFamily="2" charset="-122"/>
                <a:sym typeface="Symbol" pitchFamily="18" charset="2"/>
              </a:rPr>
              <a:t>a</a:t>
            </a:r>
            <a:r>
              <a:rPr kumimoji="1" lang="en-US" altLang="zh-CN" sz="2400" b="1" dirty="0" err="1">
                <a:latin typeface="宋体" pitchFamily="2" charset="-122"/>
                <a:sym typeface="Symbol" pitchFamily="18" charset="2"/>
              </a:rPr>
              <a:t>∈D</a:t>
            </a:r>
            <a:r>
              <a:rPr kumimoji="1" lang="zh-CN" altLang="en-US" sz="2400" b="1" dirty="0">
                <a:latin typeface="宋体" pitchFamily="2" charset="-122"/>
                <a:sym typeface="Symbol" pitchFamily="18" charset="2"/>
              </a:rPr>
              <a:t>，</a:t>
            </a:r>
            <a:r>
              <a:rPr kumimoji="1" lang="en-US" altLang="zh-CN" sz="2400" b="1" dirty="0">
                <a:latin typeface="宋体" pitchFamily="2" charset="-122"/>
                <a:sym typeface="Symbol" pitchFamily="18" charset="2"/>
              </a:rPr>
              <a:t>A</a:t>
            </a:r>
            <a:r>
              <a:rPr kumimoji="1" lang="en-US" altLang="zh-CN" sz="2400" b="1" dirty="0">
                <a:latin typeface="宋体" pitchFamily="2" charset="-122"/>
              </a:rPr>
              <a:t>(a)</a:t>
            </a:r>
            <a:r>
              <a:rPr kumimoji="1" lang="zh-CN" altLang="en-US" sz="2400" b="1" dirty="0">
                <a:latin typeface="宋体" pitchFamily="2" charset="-122"/>
              </a:rPr>
              <a:t>皆为真</a:t>
            </a:r>
          </a:p>
          <a:p>
            <a:pPr>
              <a:lnSpc>
                <a:spcPct val="115000"/>
              </a:lnSpc>
            </a:pPr>
            <a:r>
              <a:rPr kumimoji="1" lang="zh-CN" altLang="en-US" sz="2400" b="1" dirty="0">
                <a:latin typeface="宋体" pitchFamily="2" charset="-122"/>
              </a:rPr>
              <a:t>  </a:t>
            </a:r>
            <a:r>
              <a:rPr kumimoji="1" lang="en-US" altLang="zh-CN" sz="2400" b="1" dirty="0">
                <a:latin typeface="宋体" pitchFamily="2" charset="-122"/>
              </a:rPr>
              <a:t>2.</a:t>
            </a:r>
            <a:r>
              <a:rPr lang="zh-CN" altLang="en-US" sz="2400" b="1" dirty="0">
                <a:latin typeface="宋体" pitchFamily="2" charset="-122"/>
              </a:rPr>
              <a:t>全称命题</a:t>
            </a:r>
            <a:r>
              <a:rPr kumimoji="1" lang="zh-CN" altLang="en-US" sz="2400" b="1" dirty="0">
                <a:latin typeface="宋体" pitchFamily="2" charset="-122"/>
                <a:sym typeface="Symbol" pitchFamily="18" charset="2"/>
              </a:rPr>
              <a:t></a:t>
            </a:r>
            <a:r>
              <a:rPr kumimoji="1" lang="en-US" altLang="zh-CN" sz="2400" b="1" dirty="0" err="1">
                <a:latin typeface="宋体" pitchFamily="2" charset="-122"/>
                <a:sym typeface="Symbol" pitchFamily="18" charset="2"/>
              </a:rPr>
              <a:t>xA</a:t>
            </a:r>
            <a:r>
              <a:rPr kumimoji="1" lang="en-US" altLang="zh-CN" sz="2400" b="1" dirty="0">
                <a:latin typeface="宋体" pitchFamily="2" charset="-122"/>
              </a:rPr>
              <a:t>(x)</a:t>
            </a:r>
            <a:r>
              <a:rPr kumimoji="1" lang="zh-CN" altLang="en-US" sz="2400" b="1" dirty="0">
                <a:latin typeface="宋体" pitchFamily="2" charset="-122"/>
              </a:rPr>
              <a:t>为假，当且仅当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itchFamily="2" charset="-122"/>
                <a:sym typeface="Symbol" pitchFamily="18" charset="2"/>
              </a:rPr>
              <a:t></a:t>
            </a:r>
            <a:r>
              <a:rPr kumimoji="1" lang="en-US" altLang="zh-CN" sz="2400" b="1" dirty="0" err="1">
                <a:solidFill>
                  <a:srgbClr val="FF0000"/>
                </a:solidFill>
                <a:latin typeface="宋体" pitchFamily="2" charset="-122"/>
                <a:sym typeface="Symbol" pitchFamily="18" charset="2"/>
              </a:rPr>
              <a:t>a</a:t>
            </a:r>
            <a:r>
              <a:rPr kumimoji="1" lang="en-US" altLang="zh-CN" sz="2400" b="1" dirty="0" err="1">
                <a:latin typeface="宋体" pitchFamily="2" charset="-122"/>
                <a:sym typeface="Symbol" pitchFamily="18" charset="2"/>
              </a:rPr>
              <a:t>∈D</a:t>
            </a:r>
            <a:r>
              <a:rPr kumimoji="1" lang="zh-CN" altLang="en-US" sz="2400" b="1" dirty="0">
                <a:latin typeface="宋体" pitchFamily="2" charset="-122"/>
                <a:sym typeface="Symbol" pitchFamily="18" charset="2"/>
              </a:rPr>
              <a:t>，</a:t>
            </a:r>
            <a:r>
              <a:rPr kumimoji="1" lang="en-US" altLang="zh-CN" sz="2400" b="1" dirty="0">
                <a:latin typeface="宋体" pitchFamily="2" charset="-122"/>
                <a:sym typeface="Symbol" pitchFamily="18" charset="2"/>
              </a:rPr>
              <a:t>A</a:t>
            </a:r>
            <a:r>
              <a:rPr kumimoji="1" lang="en-US" altLang="zh-CN" sz="2400" b="1" dirty="0">
                <a:latin typeface="宋体" pitchFamily="2" charset="-122"/>
              </a:rPr>
              <a:t>(a)</a:t>
            </a:r>
            <a:r>
              <a:rPr kumimoji="1" lang="zh-CN" altLang="en-US" sz="2400" b="1" dirty="0">
                <a:latin typeface="宋体" pitchFamily="2" charset="-122"/>
              </a:rPr>
              <a:t>为假。</a:t>
            </a:r>
          </a:p>
          <a:p>
            <a:pPr>
              <a:lnSpc>
                <a:spcPct val="115000"/>
              </a:lnSpc>
            </a:pPr>
            <a:r>
              <a:rPr lang="zh-CN" altLang="en-US" sz="2400" b="1" dirty="0">
                <a:latin typeface="宋体" pitchFamily="2" charset="-122"/>
              </a:rPr>
              <a:t>  </a:t>
            </a:r>
            <a:r>
              <a:rPr lang="en-US" altLang="zh-CN" sz="2400" b="1" dirty="0">
                <a:latin typeface="宋体" pitchFamily="2" charset="-122"/>
              </a:rPr>
              <a:t>3.</a:t>
            </a:r>
            <a:r>
              <a:rPr lang="zh-CN" altLang="en-US" sz="2400" b="1" dirty="0">
                <a:latin typeface="宋体" pitchFamily="2" charset="-122"/>
              </a:rPr>
              <a:t>存在命题</a:t>
            </a:r>
            <a:r>
              <a:rPr kumimoji="1" lang="zh-CN" altLang="en-US" sz="2400" b="1" dirty="0">
                <a:latin typeface="宋体" pitchFamily="2" charset="-122"/>
                <a:sym typeface="Symbol" pitchFamily="18" charset="2"/>
              </a:rPr>
              <a:t></a:t>
            </a:r>
            <a:r>
              <a:rPr kumimoji="1" lang="en-US" altLang="zh-CN" sz="2400" b="1" dirty="0" err="1">
                <a:latin typeface="宋体" pitchFamily="2" charset="-122"/>
                <a:sym typeface="Symbol" pitchFamily="18" charset="2"/>
              </a:rPr>
              <a:t>xA</a:t>
            </a:r>
            <a:r>
              <a:rPr kumimoji="1" lang="en-US" altLang="zh-CN" sz="2400" b="1" dirty="0">
                <a:latin typeface="宋体" pitchFamily="2" charset="-122"/>
              </a:rPr>
              <a:t>(x)</a:t>
            </a:r>
            <a:r>
              <a:rPr kumimoji="1" lang="zh-CN" altLang="en-US" sz="2400" b="1" dirty="0">
                <a:latin typeface="宋体" pitchFamily="2" charset="-122"/>
              </a:rPr>
              <a:t>为真，当且仅当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itchFamily="2" charset="-122"/>
                <a:sym typeface="Symbol" pitchFamily="18" charset="2"/>
              </a:rPr>
              <a:t></a:t>
            </a:r>
            <a:r>
              <a:rPr kumimoji="1" lang="en-US" altLang="zh-CN" sz="2400" b="1" dirty="0" err="1">
                <a:solidFill>
                  <a:srgbClr val="FF0000"/>
                </a:solidFill>
                <a:latin typeface="宋体" pitchFamily="2" charset="-122"/>
                <a:sym typeface="Symbol" pitchFamily="18" charset="2"/>
              </a:rPr>
              <a:t>a</a:t>
            </a:r>
            <a:r>
              <a:rPr kumimoji="1" lang="en-US" altLang="zh-CN" sz="2400" b="1" dirty="0" err="1">
                <a:latin typeface="宋体" pitchFamily="2" charset="-122"/>
                <a:sym typeface="Symbol" pitchFamily="18" charset="2"/>
              </a:rPr>
              <a:t>∈D</a:t>
            </a:r>
            <a:r>
              <a:rPr kumimoji="1" lang="zh-CN" altLang="en-US" sz="2400" b="1" dirty="0">
                <a:latin typeface="宋体" pitchFamily="2" charset="-122"/>
                <a:sym typeface="Symbol" pitchFamily="18" charset="2"/>
              </a:rPr>
              <a:t>，</a:t>
            </a:r>
            <a:r>
              <a:rPr kumimoji="1" lang="en-US" altLang="zh-CN" sz="2400" b="1" dirty="0">
                <a:latin typeface="宋体" pitchFamily="2" charset="-122"/>
                <a:sym typeface="Symbol" pitchFamily="18" charset="2"/>
              </a:rPr>
              <a:t>A</a:t>
            </a:r>
            <a:r>
              <a:rPr kumimoji="1" lang="en-US" altLang="zh-CN" sz="2400" b="1" dirty="0">
                <a:latin typeface="宋体" pitchFamily="2" charset="-122"/>
              </a:rPr>
              <a:t>(a)</a:t>
            </a:r>
            <a:r>
              <a:rPr kumimoji="1" lang="zh-CN" altLang="en-US" sz="2400" b="1" dirty="0">
                <a:latin typeface="宋体" pitchFamily="2" charset="-122"/>
              </a:rPr>
              <a:t>为真。</a:t>
            </a:r>
          </a:p>
          <a:p>
            <a:pPr>
              <a:lnSpc>
                <a:spcPct val="115000"/>
              </a:lnSpc>
            </a:pPr>
            <a:r>
              <a:rPr kumimoji="1" lang="zh-CN" altLang="en-US" sz="2400" b="1" dirty="0">
                <a:latin typeface="宋体" pitchFamily="2" charset="-122"/>
              </a:rPr>
              <a:t>  </a:t>
            </a:r>
            <a:r>
              <a:rPr kumimoji="1" lang="en-US" altLang="zh-CN" sz="2400" b="1" dirty="0">
                <a:latin typeface="宋体" pitchFamily="2" charset="-122"/>
              </a:rPr>
              <a:t>4.</a:t>
            </a:r>
            <a:r>
              <a:rPr lang="zh-CN" altLang="en-US" sz="2400" b="1" dirty="0">
                <a:latin typeface="宋体" pitchFamily="2" charset="-122"/>
              </a:rPr>
              <a:t>存在命题</a:t>
            </a:r>
            <a:r>
              <a:rPr kumimoji="1" lang="zh-CN" altLang="en-US" sz="2400" b="1" dirty="0">
                <a:latin typeface="宋体" pitchFamily="2" charset="-122"/>
                <a:sym typeface="Symbol" pitchFamily="18" charset="2"/>
              </a:rPr>
              <a:t></a:t>
            </a:r>
            <a:r>
              <a:rPr kumimoji="1" lang="en-US" altLang="zh-CN" sz="2400" b="1" dirty="0" err="1">
                <a:latin typeface="宋体" pitchFamily="2" charset="-122"/>
                <a:sym typeface="Symbol" pitchFamily="18" charset="2"/>
              </a:rPr>
              <a:t>xA</a:t>
            </a:r>
            <a:r>
              <a:rPr kumimoji="1" lang="en-US" altLang="zh-CN" sz="2400" b="1" dirty="0">
                <a:latin typeface="宋体" pitchFamily="2" charset="-122"/>
              </a:rPr>
              <a:t>(x)</a:t>
            </a:r>
            <a:r>
              <a:rPr kumimoji="1" lang="zh-CN" altLang="en-US" sz="2400" b="1" dirty="0">
                <a:latin typeface="宋体" pitchFamily="2" charset="-122"/>
              </a:rPr>
              <a:t>为假，当且仅当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itchFamily="2" charset="-122"/>
                <a:sym typeface="Symbol" pitchFamily="18" charset="2"/>
              </a:rPr>
              <a:t></a:t>
            </a:r>
            <a:r>
              <a:rPr kumimoji="1" lang="en-US" altLang="zh-CN" sz="2400" b="1" dirty="0" err="1">
                <a:solidFill>
                  <a:srgbClr val="FF0000"/>
                </a:solidFill>
                <a:latin typeface="宋体" pitchFamily="2" charset="-122"/>
                <a:sym typeface="Symbol" pitchFamily="18" charset="2"/>
              </a:rPr>
              <a:t>a</a:t>
            </a:r>
            <a:r>
              <a:rPr kumimoji="1" lang="en-US" altLang="zh-CN" sz="2400" b="1" dirty="0" err="1">
                <a:latin typeface="宋体" pitchFamily="2" charset="-122"/>
                <a:sym typeface="Symbol" pitchFamily="18" charset="2"/>
              </a:rPr>
              <a:t>∈D</a:t>
            </a:r>
            <a:r>
              <a:rPr kumimoji="1" lang="zh-CN" altLang="en-US" sz="2400" b="1" dirty="0">
                <a:latin typeface="宋体" pitchFamily="2" charset="-122"/>
                <a:sym typeface="Symbol" pitchFamily="18" charset="2"/>
              </a:rPr>
              <a:t>，</a:t>
            </a:r>
            <a:r>
              <a:rPr kumimoji="1" lang="en-US" altLang="zh-CN" sz="2400" b="1" dirty="0">
                <a:latin typeface="宋体" pitchFamily="2" charset="-122"/>
                <a:sym typeface="Symbol" pitchFamily="18" charset="2"/>
              </a:rPr>
              <a:t>A</a:t>
            </a:r>
            <a:r>
              <a:rPr kumimoji="1" lang="en-US" altLang="zh-CN" sz="2400" b="1" dirty="0">
                <a:latin typeface="宋体" pitchFamily="2" charset="-122"/>
              </a:rPr>
              <a:t>(a)</a:t>
            </a:r>
            <a:r>
              <a:rPr kumimoji="1" lang="zh-CN" altLang="en-US" sz="2400" b="1" dirty="0">
                <a:latin typeface="宋体" pitchFamily="2" charset="-122"/>
              </a:rPr>
              <a:t>皆为假。</a:t>
            </a:r>
          </a:p>
        </p:txBody>
      </p:sp>
    </p:spTree>
    <p:extLst>
      <p:ext uri="{BB962C8B-B14F-4D97-AF65-F5344CB8AC3E}">
        <p14:creationId xmlns:p14="http://schemas.microsoft.com/office/powerpoint/2010/main" val="4221908932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/>
      <p:bldP spid="7" grpId="0" animBg="1"/>
      <p:bldP spid="7" grpId="1" animBg="1"/>
      <p:bldP spid="8" grpId="0" animBg="1"/>
      <p:bldP spid="8" grpId="1" animBg="1"/>
      <p:bldP spid="20" grpId="0"/>
      <p:bldP spid="21" grpId="0" animBg="1"/>
      <p:bldP spid="21" grpId="1" animBg="1"/>
      <p:bldP spid="22" grpId="0" animBg="1"/>
      <p:bldP spid="22" grpId="1" animBg="1"/>
      <p:bldP spid="24" grpId="0" animBg="1"/>
      <p:bldP spid="24" grpId="1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59101F9-2CE2-4A11-BA05-C8239D86ED9F}"/>
              </a:ext>
            </a:extLst>
          </p:cNvPr>
          <p:cNvSpPr/>
          <p:nvPr/>
        </p:nvSpPr>
        <p:spPr>
          <a:xfrm>
            <a:off x="2374475" y="2763308"/>
            <a:ext cx="744304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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！</a:t>
            </a:r>
            <a:r>
              <a:rPr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)=</a:t>
            </a:r>
            <a:r>
              <a:rPr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(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)</a:t>
            </a:r>
            <a:r>
              <a:rPr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2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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)))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13C188E-AC5E-473E-AE48-CF6102C762C4}"/>
              </a:ext>
            </a:extLst>
          </p:cNvPr>
          <p:cNvSpPr/>
          <p:nvPr/>
        </p:nvSpPr>
        <p:spPr>
          <a:xfrm>
            <a:off x="2507154" y="4967626"/>
            <a:ext cx="619111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∃!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xR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=(∃c)((∀x)(R(x)↔(x=c))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FB2099D-CB53-4D81-BE28-44126759155B}"/>
              </a:ext>
            </a:extLst>
          </p:cNvPr>
          <p:cNvSpPr/>
          <p:nvPr/>
        </p:nvSpPr>
        <p:spPr>
          <a:xfrm>
            <a:off x="2374475" y="1424480"/>
            <a:ext cx="392785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！   存在唯一量词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zh-CN" altLang="en-US" sz="28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0C21BCF-45CC-4510-827C-D8C36D612A83}"/>
              </a:ext>
            </a:extLst>
          </p:cNvPr>
          <p:cNvSpPr/>
          <p:nvPr/>
        </p:nvSpPr>
        <p:spPr>
          <a:xfrm>
            <a:off x="4202834" y="3723670"/>
            <a:ext cx="537023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200" i="1" dirty="0">
                <a:latin typeface="Times New Roman" pitchFamily="18" charset="0"/>
                <a:sym typeface="Symbol" pitchFamily="18" charset="2"/>
              </a:rPr>
              <a:t>x</a:t>
            </a:r>
            <a:r>
              <a:rPr lang="en-US" altLang="zh-CN" sz="3200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kumimoji="1" lang="en-US" altLang="zh-CN" sz="3200" dirty="0">
                <a:latin typeface="Times New Roman" pitchFamily="18" charset="0"/>
              </a:rPr>
              <a:t>(</a:t>
            </a:r>
            <a:r>
              <a:rPr kumimoji="1" lang="en-US" altLang="zh-CN" sz="3200" i="1" dirty="0">
                <a:latin typeface="Times New Roman" pitchFamily="18" charset="0"/>
              </a:rPr>
              <a:t>x</a:t>
            </a:r>
            <a:r>
              <a:rPr kumimoji="1" lang="en-US" altLang="zh-CN" sz="3200" dirty="0">
                <a:latin typeface="Times New Roman" pitchFamily="18" charset="0"/>
              </a:rPr>
              <a:t>) ∧ </a:t>
            </a:r>
            <a:r>
              <a:rPr kumimoji="1" lang="en-US" altLang="zh-CN" sz="3200" dirty="0">
                <a:latin typeface="Times New Roman" pitchFamily="18" charset="0"/>
                <a:sym typeface="Symbol" pitchFamily="18" charset="2"/>
              </a:rPr>
              <a:t></a:t>
            </a:r>
            <a:r>
              <a:rPr kumimoji="1" lang="en-US" altLang="zh-CN" sz="3200" i="1" dirty="0">
                <a:latin typeface="Times New Roman" pitchFamily="18" charset="0"/>
                <a:sym typeface="Symbol" pitchFamily="18" charset="2"/>
              </a:rPr>
              <a:t>y</a:t>
            </a:r>
            <a:r>
              <a:rPr kumimoji="1" lang="en-US" altLang="zh-CN" sz="3200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kumimoji="1" lang="en-US" altLang="zh-CN" sz="3200" dirty="0">
                <a:latin typeface="Times New Roman" pitchFamily="18" charset="0"/>
              </a:rPr>
              <a:t>(</a:t>
            </a:r>
            <a:r>
              <a:rPr kumimoji="1" lang="en-US" altLang="zh-CN" sz="3200" i="1" dirty="0">
                <a:latin typeface="Times New Roman" pitchFamily="18" charset="0"/>
              </a:rPr>
              <a:t>y</a:t>
            </a:r>
            <a:r>
              <a:rPr kumimoji="1" lang="en-US" altLang="zh-CN" sz="3200" dirty="0">
                <a:latin typeface="Times New Roman" pitchFamily="18" charset="0"/>
              </a:rPr>
              <a:t>)</a:t>
            </a:r>
            <a:r>
              <a:rPr kumimoji="1" lang="en-US" altLang="zh-CN" sz="3200" dirty="0">
                <a:latin typeface="Times New Roman" pitchFamily="18" charset="0"/>
                <a:sym typeface="Symbol" pitchFamily="18" charset="2"/>
              </a:rPr>
              <a:t></a:t>
            </a:r>
            <a:r>
              <a:rPr kumimoji="1" lang="en-US" altLang="zh-CN" sz="3200" i="1" dirty="0">
                <a:latin typeface="Times New Roman" pitchFamily="18" charset="0"/>
                <a:sym typeface="Symbol" pitchFamily="18" charset="2"/>
              </a:rPr>
              <a:t>x</a:t>
            </a:r>
            <a:r>
              <a:rPr kumimoji="1" lang="en-US" altLang="zh-CN" sz="3200" dirty="0">
                <a:latin typeface="Times New Roman" pitchFamily="18" charset="0"/>
                <a:sym typeface="Symbol" pitchFamily="18" charset="2"/>
              </a:rPr>
              <a:t>=</a:t>
            </a:r>
            <a:r>
              <a:rPr kumimoji="1" lang="en-US" altLang="zh-CN" sz="3200" i="1" dirty="0">
                <a:latin typeface="Times New Roman" pitchFamily="18" charset="0"/>
                <a:sym typeface="Symbol" pitchFamily="18" charset="2"/>
              </a:rPr>
              <a:t>y</a:t>
            </a:r>
            <a:r>
              <a:rPr kumimoji="1" lang="en-US" altLang="zh-CN" sz="3200" dirty="0">
                <a:latin typeface="Times New Roman" pitchFamily="18" charset="0"/>
                <a:sym typeface="Symbol" pitchFamily="18" charset="2"/>
              </a:rPr>
              <a:t>)</a:t>
            </a:r>
            <a:r>
              <a:rPr kumimoji="1" lang="en-US" altLang="zh-CN" sz="3200" dirty="0">
                <a:latin typeface="Times New Roman" pitchFamily="18" charset="0"/>
              </a:rPr>
              <a:t>)</a:t>
            </a:r>
          </a:p>
          <a:p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854725117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937B365-C74A-4E43-A26F-1AA144372B88}"/>
              </a:ext>
            </a:extLst>
          </p:cNvPr>
          <p:cNvSpPr txBox="1">
            <a:spLocks noChangeArrowheads="1"/>
          </p:cNvSpPr>
          <p:nvPr/>
        </p:nvSpPr>
        <p:spPr>
          <a:xfrm>
            <a:off x="1029383" y="978388"/>
            <a:ext cx="5184775" cy="41767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/>
              <a:t>例</a:t>
            </a:r>
            <a:r>
              <a:rPr lang="en-US" altLang="zh-CN" dirty="0"/>
              <a:t> </a:t>
            </a:r>
            <a:r>
              <a:rPr lang="zh-CN" altLang="en-US" dirty="0"/>
              <a:t>符号化下述命题：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zh-CN" altLang="en-US" u="sng" dirty="0"/>
              <a:t>所有的</a:t>
            </a:r>
            <a:r>
              <a:rPr lang="zh-CN" altLang="en-US" dirty="0"/>
              <a:t>老虎都要吃人；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zh-CN" altLang="en-US" u="sng" dirty="0"/>
              <a:t>每一个</a:t>
            </a:r>
            <a:r>
              <a:rPr lang="zh-CN" altLang="en-US" dirty="0"/>
              <a:t>大学生都会说英语；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r>
              <a:rPr lang="zh-CN" altLang="en-US" u="sng" dirty="0"/>
              <a:t>所有的</a:t>
            </a:r>
            <a:r>
              <a:rPr lang="zh-CN" altLang="en-US" dirty="0"/>
              <a:t>人都长着黑头发；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（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  <a:r>
              <a:rPr lang="zh-CN" altLang="en-US" u="sng" dirty="0"/>
              <a:t>有一些</a:t>
            </a:r>
            <a:r>
              <a:rPr lang="zh-CN" altLang="en-US" dirty="0"/>
              <a:t>人登上过月球；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（</a:t>
            </a:r>
            <a:r>
              <a:rPr lang="en-US" altLang="zh-CN" dirty="0"/>
              <a:t>5</a:t>
            </a:r>
            <a:r>
              <a:rPr lang="zh-CN" altLang="en-US" dirty="0"/>
              <a:t>）</a:t>
            </a:r>
            <a:r>
              <a:rPr lang="zh-CN" altLang="en-US" u="sng" dirty="0"/>
              <a:t>有一些</a:t>
            </a:r>
            <a:r>
              <a:rPr lang="zh-CN" altLang="en-US" dirty="0"/>
              <a:t>自然数是素数。 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505B555C-DCFA-4D89-9535-819E4009921D}"/>
              </a:ext>
            </a:extLst>
          </p:cNvPr>
          <p:cNvSpPr txBox="1">
            <a:spLocks/>
          </p:cNvSpPr>
          <p:nvPr/>
        </p:nvSpPr>
        <p:spPr bwMode="auto">
          <a:xfrm>
            <a:off x="6720596" y="957970"/>
            <a:ext cx="3598863" cy="4824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  </a:t>
            </a:r>
            <a:endParaRPr lang="en-US" altLang="zh-CN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设有如下谓词：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P(x)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会吃人；</a:t>
            </a:r>
            <a:endParaRPr lang="en-US" altLang="zh-CN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Q(x)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会说英语；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R(x)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长着黑头发；</a:t>
            </a:r>
            <a:endParaRPr lang="en-US" altLang="zh-CN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S(x)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登上过月球；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T(x)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是素数。</a:t>
            </a:r>
          </a:p>
          <a:p>
            <a:pPr>
              <a:buFont typeface="Wingdings" panose="05000000000000000000" pitchFamily="2" charset="2"/>
              <a:buNone/>
            </a:pP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3">
            <a:extLst>
              <a:ext uri="{FF2B5EF4-FFF2-40B4-BE49-F238E27FC236}">
                <a16:creationId xmlns:a16="http://schemas.microsoft.com/office/drawing/2014/main" id="{6942D561-F486-4A1B-84FC-3DB14C43E3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5664" y="4149725"/>
            <a:ext cx="6326385" cy="2708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lvl1pPr>
              <a:defRPr kumimoji="1" sz="2800" b="1">
                <a:solidFill>
                  <a:srgbClr val="FFFFFF"/>
                </a:solidFill>
                <a:latin typeface="Arial" pitchFamily="34" charset="0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rgbClr val="FFFFFF"/>
                </a:solidFill>
                <a:latin typeface="Arial" pitchFamily="34" charset="0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rgbClr val="FFFFFF"/>
                </a:solidFill>
                <a:latin typeface="Arial" pitchFamily="34" charset="0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rgbClr val="FFFFFF"/>
                </a:solidFill>
                <a:latin typeface="Arial" pitchFamily="34" charset="0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rgbClr val="FFFFFF"/>
                </a:solidFill>
                <a:latin typeface="Arial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defRPr kumimoji="1" sz="2800" b="1">
                <a:solidFill>
                  <a:srgbClr val="FFFFFF"/>
                </a:solidFill>
                <a:latin typeface="Arial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defRPr kumimoji="1" sz="2800" b="1">
                <a:solidFill>
                  <a:srgbClr val="FFFFFF"/>
                </a:solidFill>
                <a:latin typeface="Arial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defRPr kumimoji="1" sz="2800" b="1">
                <a:solidFill>
                  <a:srgbClr val="FFFFFF"/>
                </a:solidFill>
                <a:latin typeface="Arial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defRPr kumimoji="1" sz="2800" b="1">
                <a:solidFill>
                  <a:srgbClr val="FFFFFF"/>
                </a:solidFill>
                <a:latin typeface="Arial" pitchFamily="34" charset="0"/>
                <a:ea typeface="楷体_GB2312" pitchFamily="49" charset="-122"/>
              </a:defRPr>
            </a:lvl9pPr>
          </a:lstStyle>
          <a:p>
            <a:pPr>
              <a:buFont typeface="Wingdings" pitchFamily="2" charset="2"/>
              <a:buNone/>
              <a:defRPr/>
            </a:pPr>
            <a:r>
              <a:rPr lang="zh-CN" altLang="en-US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（</a:t>
            </a:r>
            <a:r>
              <a:rPr lang="en-US" altLang="zh-CN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en-US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）</a:t>
            </a:r>
            <a:r>
              <a:rPr lang="en-US" altLang="zh-CN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(</a:t>
            </a:r>
            <a:r>
              <a:rPr lang="en-US" altLang="zh-CN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  <a:sym typeface="Symbol" pitchFamily="18" charset="2"/>
              </a:rPr>
              <a:t></a:t>
            </a:r>
            <a:r>
              <a:rPr lang="en-US" altLang="zh-CN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x)P(x) 	</a:t>
            </a:r>
            <a:r>
              <a:rPr lang="en-US" altLang="zh-CN" sz="3200" dirty="0">
                <a:solidFill>
                  <a:schemeClr val="tx1"/>
                </a:solidFill>
                <a:latin typeface="+mn-lt"/>
                <a:ea typeface="+mn-ea"/>
              </a:rPr>
              <a:t>x</a:t>
            </a:r>
            <a:r>
              <a:rPr lang="zh-CN" altLang="en-US" sz="3200" dirty="0">
                <a:solidFill>
                  <a:schemeClr val="tx1"/>
                </a:solidFill>
                <a:latin typeface="+mn-lt"/>
                <a:ea typeface="+mn-ea"/>
              </a:rPr>
              <a:t>∈ </a:t>
            </a:r>
            <a:r>
              <a:rPr lang="en-US" altLang="zh-CN" sz="3200" dirty="0">
                <a:solidFill>
                  <a:schemeClr val="tx1"/>
                </a:solidFill>
                <a:latin typeface="+mn-lt"/>
                <a:ea typeface="+mn-ea"/>
              </a:rPr>
              <a:t>{</a:t>
            </a:r>
            <a:r>
              <a:rPr lang="zh-CN" altLang="en-US" sz="3200" dirty="0">
                <a:solidFill>
                  <a:schemeClr val="tx1"/>
                </a:solidFill>
                <a:latin typeface="+mn-lt"/>
                <a:ea typeface="+mn-ea"/>
              </a:rPr>
              <a:t>老虎</a:t>
            </a:r>
            <a:r>
              <a:rPr lang="en-US" altLang="zh-CN" sz="3200" dirty="0">
                <a:solidFill>
                  <a:schemeClr val="tx1"/>
                </a:solidFill>
                <a:latin typeface="+mn-lt"/>
                <a:ea typeface="+mn-ea"/>
              </a:rPr>
              <a:t>}</a:t>
            </a:r>
            <a:r>
              <a:rPr lang="zh-CN" altLang="en-US" sz="3200" dirty="0">
                <a:solidFill>
                  <a:schemeClr val="tx1"/>
                </a:solidFill>
                <a:latin typeface="+mn-lt"/>
                <a:ea typeface="+mn-ea"/>
              </a:rPr>
              <a:t> </a:t>
            </a:r>
            <a:r>
              <a:rPr lang="zh-CN" altLang="en-US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；</a:t>
            </a:r>
          </a:p>
          <a:p>
            <a:pPr>
              <a:buFont typeface="Wingdings" pitchFamily="2" charset="2"/>
              <a:buNone/>
              <a:defRPr/>
            </a:pPr>
            <a:r>
              <a:rPr lang="zh-CN" altLang="en-US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（</a:t>
            </a:r>
            <a:r>
              <a:rPr lang="en-US" altLang="zh-CN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2</a:t>
            </a:r>
            <a:r>
              <a:rPr lang="zh-CN" altLang="en-US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）</a:t>
            </a:r>
            <a:r>
              <a:rPr lang="en-US" altLang="zh-CN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(</a:t>
            </a:r>
            <a:r>
              <a:rPr lang="en-US" altLang="zh-CN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  <a:sym typeface="Symbol" pitchFamily="18" charset="2"/>
              </a:rPr>
              <a:t></a:t>
            </a:r>
            <a:r>
              <a:rPr lang="en-US" altLang="zh-CN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x)Q(x) 	</a:t>
            </a:r>
            <a:r>
              <a:rPr lang="en-US" altLang="zh-CN" sz="3200" dirty="0">
                <a:solidFill>
                  <a:schemeClr val="tx1"/>
                </a:solidFill>
                <a:latin typeface="+mn-lt"/>
                <a:ea typeface="+mn-ea"/>
              </a:rPr>
              <a:t>x</a:t>
            </a:r>
            <a:r>
              <a:rPr lang="zh-CN" altLang="en-US" sz="3200" dirty="0">
                <a:solidFill>
                  <a:schemeClr val="tx1"/>
                </a:solidFill>
                <a:latin typeface="+mn-lt"/>
                <a:ea typeface="+mn-ea"/>
              </a:rPr>
              <a:t>∈</a:t>
            </a:r>
            <a:r>
              <a:rPr lang="en-US" altLang="zh-CN" sz="3200" dirty="0">
                <a:solidFill>
                  <a:schemeClr val="tx1"/>
                </a:solidFill>
                <a:latin typeface="+mn-lt"/>
                <a:ea typeface="+mn-ea"/>
              </a:rPr>
              <a:t>{</a:t>
            </a:r>
            <a:r>
              <a:rPr lang="zh-CN" altLang="en-US" sz="3200" dirty="0">
                <a:solidFill>
                  <a:schemeClr val="tx1"/>
                </a:solidFill>
                <a:latin typeface="+mn-lt"/>
                <a:ea typeface="+mn-ea"/>
              </a:rPr>
              <a:t>大学生</a:t>
            </a:r>
            <a:r>
              <a:rPr lang="en-US" altLang="zh-CN" sz="3200" dirty="0">
                <a:solidFill>
                  <a:schemeClr val="tx1"/>
                </a:solidFill>
                <a:latin typeface="+mn-lt"/>
                <a:ea typeface="+mn-ea"/>
              </a:rPr>
              <a:t>}</a:t>
            </a:r>
            <a:r>
              <a:rPr lang="zh-CN" altLang="en-US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；</a:t>
            </a:r>
          </a:p>
          <a:p>
            <a:pPr>
              <a:buFont typeface="Wingdings" pitchFamily="2" charset="2"/>
              <a:buNone/>
              <a:defRPr/>
            </a:pPr>
            <a:r>
              <a:rPr lang="zh-CN" altLang="en-US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（</a:t>
            </a:r>
            <a:r>
              <a:rPr lang="en-US" altLang="zh-CN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3</a:t>
            </a:r>
            <a:r>
              <a:rPr lang="zh-CN" altLang="en-US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）</a:t>
            </a:r>
            <a:r>
              <a:rPr lang="en-US" altLang="zh-CN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(</a:t>
            </a:r>
            <a:r>
              <a:rPr lang="en-US" altLang="zh-CN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  <a:sym typeface="Symbol" pitchFamily="18" charset="2"/>
              </a:rPr>
              <a:t></a:t>
            </a:r>
            <a:r>
              <a:rPr lang="en-US" altLang="zh-CN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x)R(x) 	</a:t>
            </a:r>
            <a:r>
              <a:rPr lang="en-US" altLang="zh-CN" sz="3200" dirty="0">
                <a:solidFill>
                  <a:schemeClr val="tx1"/>
                </a:solidFill>
                <a:latin typeface="+mn-lt"/>
                <a:ea typeface="+mn-ea"/>
              </a:rPr>
              <a:t>x</a:t>
            </a:r>
            <a:r>
              <a:rPr lang="zh-CN" altLang="en-US" sz="3200" dirty="0">
                <a:solidFill>
                  <a:schemeClr val="tx1"/>
                </a:solidFill>
                <a:latin typeface="+mn-lt"/>
                <a:ea typeface="+mn-ea"/>
              </a:rPr>
              <a:t>∈</a:t>
            </a:r>
            <a:r>
              <a:rPr lang="en-US" altLang="zh-CN" sz="3200" dirty="0">
                <a:solidFill>
                  <a:schemeClr val="tx1"/>
                </a:solidFill>
                <a:latin typeface="+mn-lt"/>
                <a:ea typeface="+mn-ea"/>
              </a:rPr>
              <a:t>{</a:t>
            </a:r>
            <a:r>
              <a:rPr lang="zh-CN" altLang="en-US" sz="3200" dirty="0">
                <a:solidFill>
                  <a:schemeClr val="tx1"/>
                </a:solidFill>
                <a:latin typeface="+mn-lt"/>
                <a:ea typeface="+mn-ea"/>
              </a:rPr>
              <a:t>人</a:t>
            </a:r>
            <a:r>
              <a:rPr lang="en-US" altLang="zh-CN" sz="3200" dirty="0">
                <a:solidFill>
                  <a:schemeClr val="tx1"/>
                </a:solidFill>
                <a:latin typeface="+mn-lt"/>
                <a:ea typeface="+mn-ea"/>
              </a:rPr>
              <a:t>}</a:t>
            </a:r>
            <a:r>
              <a:rPr lang="zh-CN" altLang="en-US" sz="3200" dirty="0">
                <a:solidFill>
                  <a:schemeClr val="tx1"/>
                </a:solidFill>
                <a:latin typeface="+mn-lt"/>
                <a:ea typeface="+mn-ea"/>
              </a:rPr>
              <a:t>；</a:t>
            </a:r>
          </a:p>
          <a:p>
            <a:pPr>
              <a:buFont typeface="Wingdings" pitchFamily="2" charset="2"/>
              <a:buNone/>
              <a:defRPr/>
            </a:pPr>
            <a:r>
              <a:rPr lang="zh-CN" altLang="en-US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（</a:t>
            </a:r>
            <a:r>
              <a:rPr lang="en-US" altLang="zh-CN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4</a:t>
            </a:r>
            <a:r>
              <a:rPr lang="zh-CN" altLang="en-US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）</a:t>
            </a:r>
            <a:r>
              <a:rPr lang="en-US" altLang="zh-CN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(</a:t>
            </a:r>
            <a:r>
              <a:rPr lang="en-US" altLang="zh-CN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  <a:sym typeface="Symbol" pitchFamily="18" charset="2"/>
              </a:rPr>
              <a:t></a:t>
            </a:r>
            <a:r>
              <a:rPr lang="en-US" altLang="zh-CN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x)S(x) 	</a:t>
            </a:r>
            <a:r>
              <a:rPr lang="en-US" altLang="zh-CN" sz="3200" dirty="0">
                <a:solidFill>
                  <a:schemeClr val="tx1"/>
                </a:solidFill>
                <a:latin typeface="+mn-lt"/>
                <a:ea typeface="+mn-ea"/>
              </a:rPr>
              <a:t>x</a:t>
            </a:r>
            <a:r>
              <a:rPr lang="zh-CN" altLang="en-US" sz="3200" dirty="0">
                <a:solidFill>
                  <a:schemeClr val="tx1"/>
                </a:solidFill>
                <a:latin typeface="+mn-lt"/>
                <a:ea typeface="+mn-ea"/>
              </a:rPr>
              <a:t>∈</a:t>
            </a:r>
            <a:r>
              <a:rPr lang="en-US" altLang="zh-CN" sz="3200" dirty="0">
                <a:solidFill>
                  <a:schemeClr val="tx1"/>
                </a:solidFill>
                <a:latin typeface="+mn-lt"/>
                <a:ea typeface="+mn-ea"/>
              </a:rPr>
              <a:t>{</a:t>
            </a:r>
            <a:r>
              <a:rPr lang="zh-CN" altLang="en-US" sz="3200" dirty="0">
                <a:solidFill>
                  <a:schemeClr val="tx1"/>
                </a:solidFill>
                <a:latin typeface="+mn-lt"/>
                <a:ea typeface="+mn-ea"/>
              </a:rPr>
              <a:t>人</a:t>
            </a:r>
            <a:r>
              <a:rPr lang="en-US" altLang="zh-CN" sz="3200" dirty="0">
                <a:solidFill>
                  <a:schemeClr val="tx1"/>
                </a:solidFill>
                <a:latin typeface="+mn-lt"/>
                <a:ea typeface="+mn-ea"/>
              </a:rPr>
              <a:t>}</a:t>
            </a:r>
            <a:r>
              <a:rPr lang="zh-CN" altLang="en-US" sz="3200" dirty="0">
                <a:solidFill>
                  <a:schemeClr val="tx1"/>
                </a:solidFill>
                <a:latin typeface="+mn-lt"/>
                <a:ea typeface="+mn-ea"/>
              </a:rPr>
              <a:t>；</a:t>
            </a:r>
          </a:p>
          <a:p>
            <a:pPr>
              <a:buFont typeface="Wingdings" pitchFamily="2" charset="2"/>
              <a:buNone/>
              <a:defRPr/>
            </a:pPr>
            <a:r>
              <a:rPr lang="zh-CN" altLang="en-US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（</a:t>
            </a:r>
            <a:r>
              <a:rPr lang="en-US" altLang="zh-CN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5</a:t>
            </a:r>
            <a:r>
              <a:rPr lang="zh-CN" altLang="en-US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）</a:t>
            </a:r>
            <a:r>
              <a:rPr lang="en-US" altLang="zh-CN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(</a:t>
            </a:r>
            <a:r>
              <a:rPr lang="en-US" altLang="zh-CN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  <a:sym typeface="Symbol" pitchFamily="18" charset="2"/>
              </a:rPr>
              <a:t></a:t>
            </a:r>
            <a:r>
              <a:rPr lang="en-US" altLang="zh-CN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x)T(x) 	</a:t>
            </a:r>
            <a:r>
              <a:rPr lang="en-US" altLang="zh-CN" sz="3200" dirty="0">
                <a:solidFill>
                  <a:schemeClr val="tx1"/>
                </a:solidFill>
                <a:latin typeface="+mn-lt"/>
                <a:ea typeface="+mn-ea"/>
              </a:rPr>
              <a:t>x</a:t>
            </a:r>
            <a:r>
              <a:rPr lang="zh-CN" altLang="en-US" sz="3200" dirty="0">
                <a:solidFill>
                  <a:schemeClr val="tx1"/>
                </a:solidFill>
                <a:latin typeface="+mn-lt"/>
                <a:ea typeface="+mn-ea"/>
              </a:rPr>
              <a:t>∈</a:t>
            </a:r>
            <a:r>
              <a:rPr lang="en-US" altLang="zh-CN" sz="3200" dirty="0">
                <a:solidFill>
                  <a:schemeClr val="tx1"/>
                </a:solidFill>
                <a:latin typeface="+mn-lt"/>
                <a:ea typeface="+mn-ea"/>
              </a:rPr>
              <a:t>{</a:t>
            </a:r>
            <a:r>
              <a:rPr lang="zh-CN" altLang="en-US" sz="3200" dirty="0">
                <a:solidFill>
                  <a:schemeClr val="tx1"/>
                </a:solidFill>
                <a:latin typeface="+mn-lt"/>
                <a:ea typeface="+mn-ea"/>
              </a:rPr>
              <a:t>自然数</a:t>
            </a:r>
            <a:r>
              <a:rPr lang="en-US" altLang="zh-CN" sz="3200" dirty="0">
                <a:solidFill>
                  <a:schemeClr val="tx1"/>
                </a:solidFill>
                <a:latin typeface="+mn-lt"/>
                <a:ea typeface="+mn-ea"/>
              </a:rPr>
              <a:t>}</a:t>
            </a:r>
            <a:r>
              <a:rPr lang="zh-CN" altLang="en-US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733076352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6" name="矩形 3">
            <a:extLst>
              <a:ext uri="{FF2B5EF4-FFF2-40B4-BE49-F238E27FC236}">
                <a16:creationId xmlns:a16="http://schemas.microsoft.com/office/drawing/2014/main" id="{2A832847-7867-4960-829F-2A4CE5850DFA}"/>
              </a:ext>
            </a:extLst>
          </p:cNvPr>
          <p:cNvSpPr txBox="1">
            <a:spLocks noChangeArrowheads="1"/>
          </p:cNvSpPr>
          <p:nvPr/>
        </p:nvSpPr>
        <p:spPr>
          <a:xfrm>
            <a:off x="1571625" y="1544614"/>
            <a:ext cx="9021347" cy="54461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Wingdings" panose="05000000000000000000" pitchFamily="2" charset="2"/>
              <a:buNone/>
            </a:pPr>
            <a:r>
              <a:rPr lang="zh-CN" altLang="en-US" sz="3200" dirty="0">
                <a:latin typeface="+mn-ea"/>
              </a:rPr>
              <a:t>（</a:t>
            </a:r>
            <a:r>
              <a:rPr lang="en-US" altLang="zh-CN" sz="3200" dirty="0">
                <a:latin typeface="+mn-ea"/>
              </a:rPr>
              <a:t>1</a:t>
            </a:r>
            <a:r>
              <a:rPr lang="zh-CN" altLang="en-US" sz="3200" dirty="0">
                <a:latin typeface="+mn-ea"/>
              </a:rPr>
              <a:t>）从书写上十分不便，总要特别注明个体域；</a:t>
            </a:r>
          </a:p>
        </p:txBody>
      </p:sp>
      <p:sp>
        <p:nvSpPr>
          <p:cNvPr id="7" name="矩形 4">
            <a:extLst>
              <a:ext uri="{FF2B5EF4-FFF2-40B4-BE49-F238E27FC236}">
                <a16:creationId xmlns:a16="http://schemas.microsoft.com/office/drawing/2014/main" id="{F15A4264-F129-4064-AD1A-E755EBFAF40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741272" y="4950059"/>
            <a:ext cx="1530242" cy="565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just"/>
            <a:r>
              <a: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∈</a:t>
            </a:r>
            <a:r>
              <a: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{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人</a:t>
            </a:r>
            <a:r>
              <a: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  <a:endParaRPr lang="zh-CN" altLang="en-US" sz="32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矩形 5">
            <a:extLst>
              <a:ext uri="{FF2B5EF4-FFF2-40B4-BE49-F238E27FC236}">
                <a16:creationId xmlns:a16="http://schemas.microsoft.com/office/drawing/2014/main" id="{E7F35559-2345-4755-9B45-38CED2EBC71B}"/>
              </a:ext>
            </a:extLst>
          </p:cNvPr>
          <p:cNvSpPr>
            <a:spLocks noChangeArrowheads="1"/>
          </p:cNvSpPr>
          <p:nvPr/>
        </p:nvSpPr>
        <p:spPr bwMode="gray">
          <a:xfrm>
            <a:off x="2427429" y="4878340"/>
            <a:ext cx="1911117" cy="565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just"/>
            <a:r>
              <a: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∈</a:t>
            </a:r>
            <a:r>
              <a: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{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老虎</a:t>
            </a:r>
            <a:r>
              <a: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  <a:endParaRPr lang="zh-CN" altLang="en-US" sz="32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直线 6">
            <a:extLst>
              <a:ext uri="{FF2B5EF4-FFF2-40B4-BE49-F238E27FC236}">
                <a16:creationId xmlns:a16="http://schemas.microsoft.com/office/drawing/2014/main" id="{F686B0D6-E585-4652-BBC9-7C5836E0767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9562" y="4645343"/>
            <a:ext cx="1452718" cy="0"/>
          </a:xfrm>
          <a:prstGeom prst="line">
            <a:avLst/>
          </a:prstGeom>
          <a:noFill/>
          <a:ln w="5715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just"/>
            <a:endParaRPr lang="zh-CN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直线 7">
            <a:extLst>
              <a:ext uri="{FF2B5EF4-FFF2-40B4-BE49-F238E27FC236}">
                <a16:creationId xmlns:a16="http://schemas.microsoft.com/office/drawing/2014/main" id="{2E4778CB-58B4-4D37-8193-1D0F5E3698B2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1272" y="4645343"/>
            <a:ext cx="1452718" cy="0"/>
          </a:xfrm>
          <a:prstGeom prst="line">
            <a:avLst/>
          </a:prstGeom>
          <a:noFill/>
          <a:ln w="5715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just"/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A25780F-581D-4267-9B6D-122801CA4774}"/>
              </a:ext>
            </a:extLst>
          </p:cNvPr>
          <p:cNvSpPr/>
          <p:nvPr/>
        </p:nvSpPr>
        <p:spPr>
          <a:xfrm>
            <a:off x="1658103" y="2258292"/>
            <a:ext cx="934986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）在同一个比较复杂的句子中，不同命题函数中的个体可能属于不同的个体域，此时无法清晰表达；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66C5C3A-F986-4CAF-82B4-5F8295B75CFB}"/>
              </a:ext>
            </a:extLst>
          </p:cNvPr>
          <p:cNvSpPr/>
          <p:nvPr/>
        </p:nvSpPr>
        <p:spPr>
          <a:xfrm>
            <a:off x="1782409" y="3399064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如例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的合取 </a:t>
            </a:r>
          </a:p>
          <a:p>
            <a:pPr algn="just"/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x)P(x) ∧ (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x)R(x) 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FB10531-0629-4FC3-A569-CF89B8262599}"/>
              </a:ext>
            </a:extLst>
          </p:cNvPr>
          <p:cNvSpPr/>
          <p:nvPr/>
        </p:nvSpPr>
        <p:spPr>
          <a:xfrm>
            <a:off x="6769339" y="3522491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</a:t>
            </a:r>
            <a:r>
              <a:rPr lang="zh-CN" altLang="en-US" sz="2800" u="sng" dirty="0"/>
              <a:t>所有的</a:t>
            </a:r>
            <a:r>
              <a:rPr lang="zh-CN" altLang="en-US" sz="2800" dirty="0"/>
              <a:t>老虎都要吃人</a:t>
            </a:r>
          </a:p>
          <a:p>
            <a:r>
              <a:rPr lang="zh-CN" altLang="en-US" sz="2800" dirty="0"/>
              <a:t>（</a:t>
            </a:r>
            <a:r>
              <a:rPr lang="en-US" altLang="zh-CN" sz="2800" dirty="0"/>
              <a:t>4</a:t>
            </a:r>
            <a:r>
              <a:rPr lang="zh-CN" altLang="en-US" sz="2800" dirty="0"/>
              <a:t>）</a:t>
            </a:r>
            <a:r>
              <a:rPr lang="zh-CN" altLang="en-US" sz="2800" u="sng" dirty="0"/>
              <a:t>有一些</a:t>
            </a:r>
            <a:r>
              <a:rPr lang="zh-CN" altLang="en-US" sz="2800" dirty="0"/>
              <a:t>人登上过月球</a:t>
            </a:r>
          </a:p>
        </p:txBody>
      </p:sp>
    </p:spTree>
    <p:extLst>
      <p:ext uri="{BB962C8B-B14F-4D97-AF65-F5344CB8AC3E}">
        <p14:creationId xmlns:p14="http://schemas.microsoft.com/office/powerpoint/2010/main" val="1365815102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 animBg="1"/>
      <p:bldP spid="10" grpId="0" animBg="1"/>
      <p:bldP spid="5" grpId="0"/>
      <p:bldP spid="1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6CE1BAF-EE31-4A9D-A1A2-52B9522BA8F7}"/>
              </a:ext>
            </a:extLst>
          </p:cNvPr>
          <p:cNvSpPr/>
          <p:nvPr/>
        </p:nvSpPr>
        <p:spPr>
          <a:xfrm>
            <a:off x="1345809" y="1251757"/>
            <a:ext cx="8290560" cy="1691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）若个体域的注明不清楚，将造成无法确定命题真值。即对于同一个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元谓词，不同的个体域有可能带来不同的真值。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B28208-6CE6-487C-88F2-B30387BEC3FE}"/>
              </a:ext>
            </a:extLst>
          </p:cNvPr>
          <p:cNvSpPr/>
          <p:nvPr/>
        </p:nvSpPr>
        <p:spPr>
          <a:xfrm>
            <a:off x="3408188" y="3013502"/>
            <a:ext cx="356235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x)(x+6 = 5)</a:t>
            </a:r>
            <a:endParaRPr lang="zh-CN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7899416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4CE86B6-388F-4F6D-9E49-C13E3F58A5B7}"/>
              </a:ext>
            </a:extLst>
          </p:cNvPr>
          <p:cNvSpPr txBox="1"/>
          <p:nvPr/>
        </p:nvSpPr>
        <p:spPr>
          <a:xfrm>
            <a:off x="1984717" y="1536107"/>
            <a:ext cx="822256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若一个谓词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）用来限制个体变元的</a:t>
            </a:r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取值范围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，那么称谓词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）为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特性谓词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426B95F-A552-43B7-B46A-7A9493129494}"/>
              </a:ext>
            </a:extLst>
          </p:cNvPr>
          <p:cNvSpPr txBox="1"/>
          <p:nvPr/>
        </p:nvSpPr>
        <p:spPr>
          <a:xfrm>
            <a:off x="2053883" y="3655109"/>
            <a:ext cx="822256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使用全总个体域时，对个体变化的真正取值范围，用特性谓词加以限制。</a:t>
            </a:r>
          </a:p>
        </p:txBody>
      </p:sp>
    </p:spTree>
    <p:extLst>
      <p:ext uri="{BB962C8B-B14F-4D97-AF65-F5344CB8AC3E}">
        <p14:creationId xmlns:p14="http://schemas.microsoft.com/office/powerpoint/2010/main" val="2039451485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2" name="矩形 7">
            <a:extLst>
              <a:ext uri="{FF2B5EF4-FFF2-40B4-BE49-F238E27FC236}">
                <a16:creationId xmlns:a16="http://schemas.microsoft.com/office/drawing/2014/main" id="{C4D35088-4F10-4FBA-A811-46ECAAE95E7B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05421" y="3775715"/>
            <a:ext cx="8479631" cy="1204167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 lIns="36000" tIns="36000" rIns="36000" bIns="36000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itchFamily="2" charset="2"/>
              <a:buNone/>
              <a:defRPr/>
            </a:pPr>
            <a:r>
              <a:rPr lang="en-US" altLang="zh-CN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U(x)</a:t>
            </a:r>
            <a:r>
              <a:rPr lang="zh-CN" altLang="en-US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如何与</a:t>
            </a:r>
            <a:r>
              <a:rPr lang="en-US" altLang="zh-CN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itchFamily="18" charset="2"/>
              </a:rPr>
              <a:t></a:t>
            </a:r>
            <a:r>
              <a:rPr lang="en-US" altLang="zh-CN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x)P(x)</a:t>
            </a:r>
            <a:r>
              <a:rPr lang="zh-CN" altLang="en-US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itchFamily="18" charset="2"/>
              </a:rPr>
              <a:t></a:t>
            </a:r>
            <a:r>
              <a:rPr lang="en-US" altLang="zh-CN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x)S(x)</a:t>
            </a:r>
            <a:r>
              <a:rPr lang="zh-CN" altLang="en-US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结合才符合逻辑呢？</a:t>
            </a:r>
          </a:p>
        </p:txBody>
      </p:sp>
      <p:grpSp>
        <p:nvGrpSpPr>
          <p:cNvPr id="23" name="组合 17">
            <a:extLst>
              <a:ext uri="{FF2B5EF4-FFF2-40B4-BE49-F238E27FC236}">
                <a16:creationId xmlns:a16="http://schemas.microsoft.com/office/drawing/2014/main" id="{5047EEC3-AB78-445A-8244-3C8ABF5BF8D4}"/>
              </a:ext>
            </a:extLst>
          </p:cNvPr>
          <p:cNvGrpSpPr>
            <a:grpSpLocks/>
          </p:cNvGrpSpPr>
          <p:nvPr/>
        </p:nvGrpSpPr>
        <p:grpSpPr bwMode="auto">
          <a:xfrm>
            <a:off x="2391060" y="1459272"/>
            <a:ext cx="6245949" cy="545932"/>
            <a:chOff x="839" y="1616"/>
            <a:chExt cx="3719" cy="287"/>
          </a:xfrm>
        </p:grpSpPr>
        <p:sp>
          <p:nvSpPr>
            <p:cNvPr id="26" name="矩形 4">
              <a:extLst>
                <a:ext uri="{FF2B5EF4-FFF2-40B4-BE49-F238E27FC236}">
                  <a16:creationId xmlns:a16="http://schemas.microsoft.com/office/drawing/2014/main" id="{4659EFA6-BE6D-470C-9621-749F20F16D0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39" y="1616"/>
              <a:ext cx="1678" cy="2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6000" tIns="36000" rIns="36000" bIns="36000">
              <a:spAutoFit/>
            </a:bodyPr>
            <a:lstStyle>
              <a:lvl1pP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U(x)</a:t>
              </a:r>
              <a:r>
                <a:rPr lang="zh-CN" altLang="en-US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：</a:t>
              </a: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en-US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是老虎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矩形 5">
              <a:extLst>
                <a:ext uri="{FF2B5EF4-FFF2-40B4-BE49-F238E27FC236}">
                  <a16:creationId xmlns:a16="http://schemas.microsoft.com/office/drawing/2014/main" id="{717F879B-4C1C-4C30-8F64-2279638CA99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288" y="1616"/>
              <a:ext cx="1270" cy="2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6000" tIns="36000" rIns="36000" bIns="36000">
              <a:spAutoFit/>
            </a:bodyPr>
            <a:lstStyle>
              <a:lvl1pP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en-US" sz="26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∈</a:t>
              </a:r>
              <a:r>
                <a:rPr lang="zh-CN" altLang="en-US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｛老虎｝</a:t>
              </a:r>
            </a:p>
          </p:txBody>
        </p:sp>
        <p:sp>
          <p:nvSpPr>
            <p:cNvPr id="28" name="自选图形 8">
              <a:extLst>
                <a:ext uri="{FF2B5EF4-FFF2-40B4-BE49-F238E27FC236}">
                  <a16:creationId xmlns:a16="http://schemas.microsoft.com/office/drawing/2014/main" id="{214512DE-DF31-40C6-B004-D1BD7A71F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1706"/>
              <a:ext cx="499" cy="181"/>
            </a:xfrm>
            <a:prstGeom prst="leftRightArrow">
              <a:avLst>
                <a:gd name="adj1" fmla="val 50000"/>
                <a:gd name="adj2" fmla="val 55138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endParaRPr lang="zh-CN" altLang="en-US" b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0" name="组合 17">
            <a:extLst>
              <a:ext uri="{FF2B5EF4-FFF2-40B4-BE49-F238E27FC236}">
                <a16:creationId xmlns:a16="http://schemas.microsoft.com/office/drawing/2014/main" id="{E07A6372-C2E0-4B44-9C04-DB0B3844E2CB}"/>
              </a:ext>
            </a:extLst>
          </p:cNvPr>
          <p:cNvGrpSpPr>
            <a:grpSpLocks/>
          </p:cNvGrpSpPr>
          <p:nvPr/>
        </p:nvGrpSpPr>
        <p:grpSpPr bwMode="auto">
          <a:xfrm>
            <a:off x="2460227" y="2647966"/>
            <a:ext cx="6245949" cy="545932"/>
            <a:chOff x="839" y="1616"/>
            <a:chExt cx="3719" cy="287"/>
          </a:xfrm>
        </p:grpSpPr>
        <p:sp>
          <p:nvSpPr>
            <p:cNvPr id="33" name="矩形 4">
              <a:extLst>
                <a:ext uri="{FF2B5EF4-FFF2-40B4-BE49-F238E27FC236}">
                  <a16:creationId xmlns:a16="http://schemas.microsoft.com/office/drawing/2014/main" id="{16077747-28B2-44D6-81A9-2859236011D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39" y="1616"/>
              <a:ext cx="1678" cy="2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6000" tIns="36000" rIns="36000" bIns="36000">
              <a:spAutoFit/>
            </a:bodyPr>
            <a:lstStyle>
              <a:lvl1pP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U(x)</a:t>
              </a:r>
              <a:r>
                <a:rPr lang="zh-CN" altLang="en-US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：</a:t>
              </a: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en-US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是人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矩形 5">
              <a:extLst>
                <a:ext uri="{FF2B5EF4-FFF2-40B4-BE49-F238E27FC236}">
                  <a16:creationId xmlns:a16="http://schemas.microsoft.com/office/drawing/2014/main" id="{2D2F2B5E-3D8F-46A5-84EC-9ACB8E6474D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288" y="1616"/>
              <a:ext cx="1270" cy="2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6000" tIns="36000" rIns="36000" bIns="36000">
              <a:spAutoFit/>
            </a:bodyPr>
            <a:lstStyle>
              <a:lvl1pP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None/>
              </a:pPr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en-US" sz="2600" b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∈</a:t>
              </a:r>
              <a:r>
                <a:rPr lang="zh-CN" altLang="en-US" b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｛人｝</a:t>
              </a:r>
            </a:p>
          </p:txBody>
        </p:sp>
        <p:sp>
          <p:nvSpPr>
            <p:cNvPr id="35" name="自选图形 8">
              <a:extLst>
                <a:ext uri="{FF2B5EF4-FFF2-40B4-BE49-F238E27FC236}">
                  <a16:creationId xmlns:a16="http://schemas.microsoft.com/office/drawing/2014/main" id="{B038CA5F-4943-4061-87FB-BC7C0E0D9A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1706"/>
              <a:ext cx="499" cy="181"/>
            </a:xfrm>
            <a:prstGeom prst="leftRightArrow">
              <a:avLst>
                <a:gd name="adj1" fmla="val 50000"/>
                <a:gd name="adj2" fmla="val 55138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endParaRPr lang="zh-CN" altLang="en-US" b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6" name="矩形 35">
            <a:extLst>
              <a:ext uri="{FF2B5EF4-FFF2-40B4-BE49-F238E27FC236}">
                <a16:creationId xmlns:a16="http://schemas.microsoft.com/office/drawing/2014/main" id="{4B475731-FA94-4E4D-A08A-99F561AEBE91}"/>
              </a:ext>
            </a:extLst>
          </p:cNvPr>
          <p:cNvSpPr/>
          <p:nvPr/>
        </p:nvSpPr>
        <p:spPr>
          <a:xfrm>
            <a:off x="3097236" y="5244439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3600" dirty="0"/>
              <a:t>（</a:t>
            </a:r>
            <a:r>
              <a:rPr lang="en-US" altLang="zh-CN" sz="3600" dirty="0"/>
              <a:t>1</a:t>
            </a:r>
            <a:r>
              <a:rPr lang="zh-CN" altLang="en-US" sz="3600" dirty="0"/>
              <a:t>）</a:t>
            </a:r>
            <a:r>
              <a:rPr lang="zh-CN" altLang="en-US" sz="3600" u="sng" dirty="0"/>
              <a:t>所有的</a:t>
            </a:r>
            <a:r>
              <a:rPr lang="zh-CN" altLang="en-US" sz="3600" dirty="0"/>
              <a:t>老虎都要吃人</a:t>
            </a:r>
          </a:p>
          <a:p>
            <a:r>
              <a:rPr lang="zh-CN" altLang="en-US" sz="3600" dirty="0"/>
              <a:t>（</a:t>
            </a:r>
            <a:r>
              <a:rPr lang="en-US" altLang="zh-CN" sz="3600" dirty="0"/>
              <a:t>4</a:t>
            </a:r>
            <a:r>
              <a:rPr lang="zh-CN" altLang="en-US" sz="3600" dirty="0"/>
              <a:t>）</a:t>
            </a:r>
            <a:r>
              <a:rPr lang="zh-CN" altLang="en-US" sz="3600" u="sng" dirty="0"/>
              <a:t>有一些</a:t>
            </a:r>
            <a:r>
              <a:rPr lang="zh-CN" altLang="en-US" sz="3600" dirty="0"/>
              <a:t>人登上过月球</a:t>
            </a:r>
          </a:p>
        </p:txBody>
      </p:sp>
    </p:spTree>
    <p:extLst>
      <p:ext uri="{BB962C8B-B14F-4D97-AF65-F5344CB8AC3E}">
        <p14:creationId xmlns:p14="http://schemas.microsoft.com/office/powerpoint/2010/main" val="1046068404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0B6BCAF-CFD5-4330-B8DD-2681F8445904}"/>
              </a:ext>
            </a:extLst>
          </p:cNvPr>
          <p:cNvSpPr txBox="1">
            <a:spLocks noChangeArrowheads="1"/>
          </p:cNvSpPr>
          <p:nvPr/>
        </p:nvSpPr>
        <p:spPr>
          <a:xfrm>
            <a:off x="1841011" y="1212143"/>
            <a:ext cx="8135938" cy="21605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若统一个体域为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全总个体域</a:t>
            </a:r>
            <a:r>
              <a:rPr lang="zh-CN" altLang="en-US" dirty="0"/>
              <a:t>，对每一个句子中个体变量的变化范围用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一元特性谓词</a:t>
            </a:r>
            <a:r>
              <a:rPr lang="zh-CN" altLang="en-US" dirty="0"/>
              <a:t>刻划，这种特性谓词在加入到命题函数中时必须遵循如下原则：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93C261F-A774-4428-A72E-9B31553A3E56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85474" y="3085393"/>
            <a:ext cx="7705725" cy="121641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>
            <a:spAutoFit/>
          </a:bodyPr>
          <a:lstStyle>
            <a:lvl1pPr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chemeClr val="tx1"/>
                </a:solidFill>
                <a:latin typeface="+mn-ea"/>
                <a:ea typeface="+mn-ea"/>
              </a:rPr>
              <a:t>（</a:t>
            </a:r>
            <a:r>
              <a:rPr lang="en-US" altLang="zh-CN" sz="3200" dirty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lang="zh-CN" altLang="en-US" sz="3200" dirty="0">
                <a:solidFill>
                  <a:schemeClr val="tx1"/>
                </a:solidFill>
                <a:latin typeface="+mn-ea"/>
                <a:ea typeface="+mn-ea"/>
              </a:rPr>
              <a:t>）对于</a:t>
            </a:r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全称量词</a:t>
            </a:r>
            <a:r>
              <a:rPr lang="en-US" altLang="zh-CN" sz="3200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en-US" altLang="zh-CN" sz="3200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</a:t>
            </a:r>
            <a:r>
              <a:rPr lang="en-US" altLang="zh-CN" sz="3200" dirty="0">
                <a:solidFill>
                  <a:schemeClr val="tx1"/>
                </a:solidFill>
                <a:latin typeface="+mn-ea"/>
                <a:ea typeface="+mn-ea"/>
              </a:rPr>
              <a:t>x)</a:t>
            </a:r>
            <a:r>
              <a:rPr lang="zh-CN" altLang="en-US" sz="3200" dirty="0">
                <a:solidFill>
                  <a:schemeClr val="tx1"/>
                </a:solidFill>
                <a:latin typeface="+mn-ea"/>
                <a:ea typeface="+mn-ea"/>
              </a:rPr>
              <a:t>，刻划其对应个体域的特性谓词作为</a:t>
            </a:r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蕴涵式之前件</a:t>
            </a:r>
            <a:r>
              <a:rPr lang="zh-CN" altLang="en-US" sz="3200" dirty="0">
                <a:solidFill>
                  <a:schemeClr val="tx1"/>
                </a:solidFill>
                <a:latin typeface="+mn-ea"/>
                <a:ea typeface="+mn-ea"/>
              </a:rPr>
              <a:t>加入。</a:t>
            </a:r>
          </a:p>
        </p:txBody>
      </p:sp>
      <p:sp>
        <p:nvSpPr>
          <p:cNvPr id="6" name="矩形 6">
            <a:extLst>
              <a:ext uri="{FF2B5EF4-FFF2-40B4-BE49-F238E27FC236}">
                <a16:creationId xmlns:a16="http://schemas.microsoft.com/office/drawing/2014/main" id="{F9171C78-3E00-4C32-9DB2-5FCC648530C5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85474" y="4812593"/>
            <a:ext cx="7704137" cy="121641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>
            <a:spAutoFit/>
          </a:bodyPr>
          <a:lstStyle>
            <a:lvl1pPr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chemeClr val="tx1"/>
                </a:solidFill>
                <a:latin typeface="+mn-ea"/>
                <a:ea typeface="+mn-ea"/>
              </a:rPr>
              <a:t>（</a:t>
            </a:r>
            <a:r>
              <a:rPr lang="en-US" altLang="zh-CN" sz="3200" dirty="0">
                <a:solidFill>
                  <a:schemeClr val="tx1"/>
                </a:solidFill>
                <a:latin typeface="+mn-ea"/>
                <a:ea typeface="+mn-ea"/>
              </a:rPr>
              <a:t>2</a:t>
            </a:r>
            <a:r>
              <a:rPr lang="zh-CN" altLang="en-US" sz="3200" dirty="0">
                <a:solidFill>
                  <a:schemeClr val="tx1"/>
                </a:solidFill>
                <a:latin typeface="+mn-ea"/>
                <a:ea typeface="+mn-ea"/>
              </a:rPr>
              <a:t>）对于</a:t>
            </a:r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存在量词</a:t>
            </a:r>
            <a:r>
              <a:rPr lang="en-US" altLang="zh-CN" sz="3200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en-US" altLang="zh-CN" sz="3200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</a:t>
            </a:r>
            <a:r>
              <a:rPr lang="en-US" altLang="zh-CN" sz="3200" dirty="0">
                <a:solidFill>
                  <a:schemeClr val="tx1"/>
                </a:solidFill>
                <a:latin typeface="+mn-ea"/>
                <a:ea typeface="+mn-ea"/>
              </a:rPr>
              <a:t>x)</a:t>
            </a:r>
            <a:r>
              <a:rPr lang="zh-CN" altLang="en-US" sz="3200" dirty="0">
                <a:solidFill>
                  <a:schemeClr val="tx1"/>
                </a:solidFill>
                <a:latin typeface="+mn-ea"/>
                <a:ea typeface="+mn-ea"/>
              </a:rPr>
              <a:t>，刻划其对应个体域的特性谓词作为</a:t>
            </a:r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合取式之合取项</a:t>
            </a:r>
            <a:r>
              <a:rPr lang="zh-CN" altLang="en-US" sz="3200" dirty="0">
                <a:solidFill>
                  <a:schemeClr val="tx1"/>
                </a:solidFill>
                <a:latin typeface="+mn-ea"/>
                <a:ea typeface="+mn-ea"/>
              </a:rPr>
              <a:t>加入。 </a:t>
            </a:r>
          </a:p>
        </p:txBody>
      </p:sp>
    </p:spTree>
    <p:extLst>
      <p:ext uri="{BB962C8B-B14F-4D97-AF65-F5344CB8AC3E}">
        <p14:creationId xmlns:p14="http://schemas.microsoft.com/office/powerpoint/2010/main" val="6208189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737BB6-0337-41E2-ACC7-E0D5FF9AF3E6}"/>
              </a:ext>
            </a:extLst>
          </p:cNvPr>
          <p:cNvSpPr txBox="1">
            <a:spLocks noChangeArrowheads="1"/>
          </p:cNvSpPr>
          <p:nvPr/>
        </p:nvSpPr>
        <p:spPr>
          <a:xfrm>
            <a:off x="1751013" y="1105803"/>
            <a:ext cx="8507413" cy="53990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对全称量词</a:t>
            </a:r>
            <a:r>
              <a:rPr kumimoji="1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特性谓词作为</a:t>
            </a:r>
            <a:r>
              <a:rPr kumimoji="1"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条件式之前件</a:t>
            </a:r>
            <a:r>
              <a:rPr kumimoji="1"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加入</a:t>
            </a:r>
          </a:p>
          <a:p>
            <a:r>
              <a:rPr kumimoji="1"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对存在量词</a:t>
            </a:r>
            <a:r>
              <a:rPr kumimoji="1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特性谓词作为</a:t>
            </a:r>
            <a:r>
              <a:rPr kumimoji="1"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合取项</a:t>
            </a:r>
            <a:r>
              <a:rPr kumimoji="1"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而加入</a:t>
            </a:r>
          </a:p>
          <a:p>
            <a:r>
              <a:rPr kumimoji="1"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</a:p>
          <a:p>
            <a:pPr lvl="1">
              <a:buFont typeface="Wingdings" pitchFamily="2" charset="2"/>
              <a:buNone/>
            </a:pPr>
            <a:r>
              <a:rPr kumimoji="1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1"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没有不犯错误的人</a:t>
            </a:r>
          </a:p>
          <a:p>
            <a:pPr lvl="1">
              <a:buFont typeface="Wingdings" pitchFamily="2" charset="2"/>
              <a:buNone/>
            </a:pPr>
            <a:r>
              <a:rPr kumimoji="1"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1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1"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kumimoji="1"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犯错误		 </a:t>
            </a:r>
            <a:r>
              <a:rPr kumimoji="1"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kumimoji="1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1"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kumimoji="1"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是人</a:t>
            </a:r>
          </a:p>
          <a:p>
            <a:pPr lvl="1">
              <a:buFont typeface="Wingdings" pitchFamily="2" charset="2"/>
              <a:buNone/>
            </a:pPr>
            <a:r>
              <a:rPr kumimoji="1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¬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</a:t>
            </a:r>
            <a:r>
              <a:rPr kumimoji="1"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kumimoji="1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kumimoji="1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)∧¬</a:t>
            </a:r>
            <a:r>
              <a:rPr kumimoji="1"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1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pPr lvl="1">
              <a:buFont typeface="Wingdings" pitchFamily="2" charset="2"/>
              <a:buNone/>
            </a:pPr>
            <a:r>
              <a:rPr kumimoji="1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1"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凡实数</a:t>
            </a:r>
            <a:r>
              <a:rPr kumimoji="1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或大于零，或等于零，或小于零</a:t>
            </a:r>
          </a:p>
          <a:p>
            <a:pPr lvl="1">
              <a:buFont typeface="Wingdings" pitchFamily="2" charset="2"/>
              <a:buNone/>
            </a:pPr>
            <a:r>
              <a:rPr kumimoji="1"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1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1"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kumimoji="1"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是实数		</a:t>
            </a:r>
            <a:r>
              <a:rPr kumimoji="1"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kumimoji="1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kumimoji="1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1"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kumimoji="1"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＞</a:t>
            </a:r>
            <a:r>
              <a:rPr kumimoji="1"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  <a:p>
            <a:pPr lvl="1">
              <a:buFont typeface="Wingdings" pitchFamily="2" charset="2"/>
              <a:buNone/>
            </a:pPr>
            <a:r>
              <a:rPr kumimoji="1"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1"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kumimoji="1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1"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 </a:t>
            </a:r>
            <a:r>
              <a:rPr kumimoji="1"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kumimoji="1"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		S</a:t>
            </a:r>
            <a:r>
              <a:rPr kumimoji="1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kumimoji="1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1"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kumimoji="1"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＜ </a:t>
            </a:r>
            <a:r>
              <a:rPr kumimoji="1"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  <a:p>
            <a:pPr lvl="1">
              <a:buFont typeface="Wingdings" pitchFamily="2" charset="2"/>
              <a:buNone/>
            </a:pPr>
            <a:r>
              <a:rPr kumimoji="1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</a:t>
            </a:r>
            <a:r>
              <a:rPr kumimoji="1"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kumimoji="1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kumimoji="1"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1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1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 </a:t>
            </a:r>
            <a:r>
              <a:rPr kumimoji="1"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kumimoji="1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0)∨ </a:t>
            </a:r>
            <a:r>
              <a:rPr kumimoji="1"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1"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0) ∨ </a:t>
            </a:r>
            <a:r>
              <a:rPr kumimoji="1"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1"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0)) </a:t>
            </a:r>
          </a:p>
        </p:txBody>
      </p:sp>
    </p:spTree>
    <p:extLst>
      <p:ext uri="{BB962C8B-B14F-4D97-AF65-F5344CB8AC3E}">
        <p14:creationId xmlns:p14="http://schemas.microsoft.com/office/powerpoint/2010/main" val="2952159249"/>
      </p:ext>
    </p:extLst>
  </p:cSld>
  <p:clrMapOvr>
    <a:masterClrMapping/>
  </p:clrMapOvr>
  <p:transition spd="slow" advTm="0">
    <p:wip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2" name="矩形 7">
            <a:extLst>
              <a:ext uri="{FF2B5EF4-FFF2-40B4-BE49-F238E27FC236}">
                <a16:creationId xmlns:a16="http://schemas.microsoft.com/office/drawing/2014/main" id="{C4D35088-4F10-4FBA-A811-46ECAAE95E7B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05421" y="3775715"/>
            <a:ext cx="8975015" cy="611761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 lIns="36000" tIns="36000" rIns="36000" bIns="36000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itchFamily="2" charset="2"/>
              <a:buNone/>
              <a:defRPr/>
            </a:pPr>
            <a:r>
              <a:rPr lang="en-US" altLang="zh-CN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U(x)</a:t>
            </a:r>
            <a:r>
              <a:rPr lang="zh-CN" altLang="en-US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如何与</a:t>
            </a:r>
            <a:r>
              <a:rPr lang="en-US" altLang="zh-CN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itchFamily="18" charset="2"/>
              </a:rPr>
              <a:t></a:t>
            </a:r>
            <a:r>
              <a:rPr lang="en-US" altLang="zh-CN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x)P(x)</a:t>
            </a:r>
            <a:r>
              <a:rPr lang="zh-CN" altLang="en-US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itchFamily="18" charset="2"/>
              </a:rPr>
              <a:t></a:t>
            </a:r>
            <a:r>
              <a:rPr lang="en-US" altLang="zh-CN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x)S(x)</a:t>
            </a:r>
            <a:r>
              <a:rPr lang="zh-CN" altLang="en-US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结合才符合逻辑呢？</a:t>
            </a:r>
          </a:p>
        </p:txBody>
      </p:sp>
      <p:grpSp>
        <p:nvGrpSpPr>
          <p:cNvPr id="23" name="组合 17">
            <a:extLst>
              <a:ext uri="{FF2B5EF4-FFF2-40B4-BE49-F238E27FC236}">
                <a16:creationId xmlns:a16="http://schemas.microsoft.com/office/drawing/2014/main" id="{5047EEC3-AB78-445A-8244-3C8ABF5BF8D4}"/>
              </a:ext>
            </a:extLst>
          </p:cNvPr>
          <p:cNvGrpSpPr>
            <a:grpSpLocks/>
          </p:cNvGrpSpPr>
          <p:nvPr/>
        </p:nvGrpSpPr>
        <p:grpSpPr bwMode="auto">
          <a:xfrm>
            <a:off x="2391060" y="1459272"/>
            <a:ext cx="6245949" cy="545932"/>
            <a:chOff x="839" y="1616"/>
            <a:chExt cx="3719" cy="287"/>
          </a:xfrm>
        </p:grpSpPr>
        <p:sp>
          <p:nvSpPr>
            <p:cNvPr id="26" name="矩形 4">
              <a:extLst>
                <a:ext uri="{FF2B5EF4-FFF2-40B4-BE49-F238E27FC236}">
                  <a16:creationId xmlns:a16="http://schemas.microsoft.com/office/drawing/2014/main" id="{4659EFA6-BE6D-470C-9621-749F20F16D0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39" y="1616"/>
              <a:ext cx="1678" cy="2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6000" tIns="36000" rIns="36000" bIns="36000">
              <a:spAutoFit/>
            </a:bodyPr>
            <a:lstStyle>
              <a:lvl1pP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U(x)</a:t>
              </a:r>
              <a:r>
                <a:rPr lang="zh-CN" altLang="en-US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：</a:t>
              </a: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en-US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是老虎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矩形 5">
              <a:extLst>
                <a:ext uri="{FF2B5EF4-FFF2-40B4-BE49-F238E27FC236}">
                  <a16:creationId xmlns:a16="http://schemas.microsoft.com/office/drawing/2014/main" id="{717F879B-4C1C-4C30-8F64-2279638CA99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288" y="1616"/>
              <a:ext cx="1270" cy="2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6000" tIns="36000" rIns="36000" bIns="36000">
              <a:spAutoFit/>
            </a:bodyPr>
            <a:lstStyle>
              <a:lvl1pP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en-US" sz="26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∈</a:t>
              </a:r>
              <a:r>
                <a:rPr lang="zh-CN" altLang="en-US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｛老虎｝</a:t>
              </a:r>
            </a:p>
          </p:txBody>
        </p:sp>
        <p:sp>
          <p:nvSpPr>
            <p:cNvPr id="28" name="自选图形 8">
              <a:extLst>
                <a:ext uri="{FF2B5EF4-FFF2-40B4-BE49-F238E27FC236}">
                  <a16:creationId xmlns:a16="http://schemas.microsoft.com/office/drawing/2014/main" id="{214512DE-DF31-40C6-B004-D1BD7A71F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1706"/>
              <a:ext cx="499" cy="181"/>
            </a:xfrm>
            <a:prstGeom prst="leftRightArrow">
              <a:avLst>
                <a:gd name="adj1" fmla="val 50000"/>
                <a:gd name="adj2" fmla="val 55138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endParaRPr lang="zh-CN" altLang="en-US" b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0" name="组合 17">
            <a:extLst>
              <a:ext uri="{FF2B5EF4-FFF2-40B4-BE49-F238E27FC236}">
                <a16:creationId xmlns:a16="http://schemas.microsoft.com/office/drawing/2014/main" id="{E07A6372-C2E0-4B44-9C04-DB0B3844E2CB}"/>
              </a:ext>
            </a:extLst>
          </p:cNvPr>
          <p:cNvGrpSpPr>
            <a:grpSpLocks/>
          </p:cNvGrpSpPr>
          <p:nvPr/>
        </p:nvGrpSpPr>
        <p:grpSpPr bwMode="auto">
          <a:xfrm>
            <a:off x="2460227" y="2647966"/>
            <a:ext cx="6245949" cy="545932"/>
            <a:chOff x="839" y="1616"/>
            <a:chExt cx="3719" cy="287"/>
          </a:xfrm>
        </p:grpSpPr>
        <p:sp>
          <p:nvSpPr>
            <p:cNvPr id="33" name="矩形 4">
              <a:extLst>
                <a:ext uri="{FF2B5EF4-FFF2-40B4-BE49-F238E27FC236}">
                  <a16:creationId xmlns:a16="http://schemas.microsoft.com/office/drawing/2014/main" id="{16077747-28B2-44D6-81A9-2859236011D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39" y="1616"/>
              <a:ext cx="1678" cy="2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6000" tIns="36000" rIns="36000" bIns="36000">
              <a:spAutoFit/>
            </a:bodyPr>
            <a:lstStyle>
              <a:lvl1pP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U(x)</a:t>
              </a:r>
              <a:r>
                <a:rPr lang="zh-CN" altLang="en-US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：</a:t>
              </a: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en-US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是人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矩形 5">
              <a:extLst>
                <a:ext uri="{FF2B5EF4-FFF2-40B4-BE49-F238E27FC236}">
                  <a16:creationId xmlns:a16="http://schemas.microsoft.com/office/drawing/2014/main" id="{2D2F2B5E-3D8F-46A5-84EC-9ACB8E6474D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288" y="1616"/>
              <a:ext cx="1270" cy="2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6000" tIns="36000" rIns="36000" bIns="36000">
              <a:spAutoFit/>
            </a:bodyPr>
            <a:lstStyle>
              <a:lvl1pP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None/>
              </a:pPr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en-US" sz="2600" b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∈</a:t>
              </a:r>
              <a:r>
                <a:rPr lang="zh-CN" altLang="en-US" b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｛人｝</a:t>
              </a:r>
            </a:p>
          </p:txBody>
        </p:sp>
        <p:sp>
          <p:nvSpPr>
            <p:cNvPr id="35" name="自选图形 8">
              <a:extLst>
                <a:ext uri="{FF2B5EF4-FFF2-40B4-BE49-F238E27FC236}">
                  <a16:creationId xmlns:a16="http://schemas.microsoft.com/office/drawing/2014/main" id="{B038CA5F-4943-4061-87FB-BC7C0E0D9A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1706"/>
              <a:ext cx="499" cy="181"/>
            </a:xfrm>
            <a:prstGeom prst="leftRightArrow">
              <a:avLst>
                <a:gd name="adj1" fmla="val 50000"/>
                <a:gd name="adj2" fmla="val 55138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endParaRPr lang="zh-CN" altLang="en-US" b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6" name="矩形 35">
            <a:extLst>
              <a:ext uri="{FF2B5EF4-FFF2-40B4-BE49-F238E27FC236}">
                <a16:creationId xmlns:a16="http://schemas.microsoft.com/office/drawing/2014/main" id="{4B475731-FA94-4E4D-A08A-99F561AEBE91}"/>
              </a:ext>
            </a:extLst>
          </p:cNvPr>
          <p:cNvSpPr/>
          <p:nvPr/>
        </p:nvSpPr>
        <p:spPr>
          <a:xfrm>
            <a:off x="1084240" y="4644274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所有的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老虎都要吃人</a:t>
            </a:r>
          </a:p>
          <a:p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有一些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人登上过月球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FF709E9-FB11-4702-8691-00261D8D4324}"/>
              </a:ext>
            </a:extLst>
          </p:cNvPr>
          <p:cNvSpPr/>
          <p:nvPr/>
        </p:nvSpPr>
        <p:spPr>
          <a:xfrm>
            <a:off x="7180240" y="4644274"/>
            <a:ext cx="30508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itchFamily="18" charset="2"/>
              </a:rPr>
              <a:t></a:t>
            </a:r>
            <a:r>
              <a:rPr lang="en-US" altLang="zh-CN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x(U(x) </a:t>
            </a:r>
            <a:r>
              <a:rPr lang="zh-CN" altLang="en-US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→</a:t>
            </a:r>
            <a:r>
              <a:rPr lang="en-US" altLang="zh-CN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P(x))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B78351A-5A03-4A9E-A2B9-D94526D6EB10}"/>
              </a:ext>
            </a:extLst>
          </p:cNvPr>
          <p:cNvSpPr/>
          <p:nvPr/>
        </p:nvSpPr>
        <p:spPr>
          <a:xfrm>
            <a:off x="7244878" y="5289577"/>
            <a:ext cx="308610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itchFamily="18" charset="2"/>
              </a:rPr>
              <a:t></a:t>
            </a:r>
            <a:r>
              <a:rPr lang="en-US" altLang="zh-CN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 (U(x)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3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S(x))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37441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内容占位符 36866">
            <a:extLst>
              <a:ext uri="{FF2B5EF4-FFF2-40B4-BE49-F238E27FC236}">
                <a16:creationId xmlns:a16="http://schemas.microsoft.com/office/drawing/2014/main" id="{E4952C6A-D62D-48F6-82F9-1EC6C51E5CE4}"/>
              </a:ext>
            </a:extLst>
          </p:cNvPr>
          <p:cNvSpPr txBox="1">
            <a:spLocks noChangeArrowheads="1"/>
          </p:cNvSpPr>
          <p:nvPr/>
        </p:nvSpPr>
        <p:spPr>
          <a:xfrm>
            <a:off x="1632601" y="738188"/>
            <a:ext cx="9886208" cy="55165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>
              <a:lnSpc>
                <a:spcPct val="100000"/>
              </a:lnSpc>
              <a:buClr>
                <a:schemeClr val="tx1"/>
              </a:buClr>
              <a:buFontTx/>
              <a:buNone/>
            </a:pPr>
            <a:r>
              <a:rPr lang="en-US" altLang="zh-CN" sz="2400" dirty="0">
                <a:latin typeface="+mn-ea"/>
              </a:rPr>
              <a:t>1.   </a:t>
            </a:r>
            <a:r>
              <a:rPr lang="zh-CN" altLang="en-US" sz="2400" dirty="0">
                <a:solidFill>
                  <a:srgbClr val="CC0000"/>
                </a:solidFill>
                <a:latin typeface="+mn-ea"/>
              </a:rPr>
              <a:t>命题是陈述句</a:t>
            </a:r>
            <a:r>
              <a:rPr lang="zh-CN" altLang="en-US" sz="2400" dirty="0">
                <a:latin typeface="+mn-ea"/>
              </a:rPr>
              <a:t>，在自然语言中，通常陈述句有主语、谓语和宾语，主语和宾语都可能是</a:t>
            </a:r>
            <a:r>
              <a:rPr lang="zh-CN" altLang="en-US" sz="2400" dirty="0">
                <a:solidFill>
                  <a:srgbClr val="0033CC"/>
                </a:solidFill>
                <a:latin typeface="+mn-ea"/>
                <a:sym typeface="Arial" panose="020B0604020202020204" pitchFamily="34" charset="0"/>
              </a:rPr>
              <a:t>个体</a:t>
            </a:r>
            <a:r>
              <a:rPr lang="zh-CN" altLang="en-US" sz="2400" dirty="0">
                <a:latin typeface="+mn-ea"/>
              </a:rPr>
              <a:t>，而谓语及其相连的宾语通常被看成是</a:t>
            </a:r>
            <a:r>
              <a:rPr lang="zh-CN" altLang="en-US" sz="2400" dirty="0">
                <a:solidFill>
                  <a:srgbClr val="0033CC"/>
                </a:solidFill>
                <a:latin typeface="+mn-ea"/>
                <a:sym typeface="Arial" panose="020B0604020202020204" pitchFamily="34" charset="0"/>
              </a:rPr>
              <a:t>谓词</a:t>
            </a:r>
            <a:r>
              <a:rPr lang="zh-CN" altLang="en-US" sz="2400" dirty="0">
                <a:latin typeface="+mn-ea"/>
              </a:rPr>
              <a:t>。</a:t>
            </a:r>
            <a:r>
              <a:rPr lang="en-US" altLang="zh-CN" sz="2400" dirty="0">
                <a:latin typeface="+mn-ea"/>
              </a:rPr>
              <a:t>(</a:t>
            </a:r>
            <a:r>
              <a:rPr lang="zh-CN" altLang="en-US" sz="2400" dirty="0">
                <a:latin typeface="+mn-ea"/>
              </a:rPr>
              <a:t>谓词命名式，谓词填式）</a:t>
            </a:r>
          </a:p>
          <a:p>
            <a:pPr marL="609600" indent="-609600">
              <a:lnSpc>
                <a:spcPct val="100000"/>
              </a:lnSpc>
              <a:buClr>
                <a:schemeClr val="tx1"/>
              </a:buClr>
              <a:buFontTx/>
              <a:buAutoNum type="arabicPeriod" startAt="2"/>
            </a:pPr>
            <a:r>
              <a:rPr lang="zh-CN" altLang="en-US" sz="2400" dirty="0">
                <a:latin typeface="+mn-ea"/>
              </a:rPr>
              <a:t>在谓词逻辑中还可描述对个体所进行的某种变换，即引入所谓</a:t>
            </a:r>
            <a:r>
              <a:rPr lang="zh-CN" altLang="en-US" sz="2400" dirty="0">
                <a:solidFill>
                  <a:srgbClr val="0033CC"/>
                </a:solidFill>
                <a:latin typeface="+mn-ea"/>
              </a:rPr>
              <a:t>函词</a:t>
            </a:r>
            <a:r>
              <a:rPr lang="zh-CN" altLang="en-US" sz="2400" dirty="0">
                <a:latin typeface="+mn-ea"/>
              </a:rPr>
              <a:t>，函词与谓词不同，函词作用在个体上，而产生另一个个体，而谓词作用在个体上之后产生的是一个命题。</a:t>
            </a:r>
          </a:p>
          <a:p>
            <a:pPr marL="609600" indent="-609600">
              <a:lnSpc>
                <a:spcPct val="100000"/>
              </a:lnSpc>
              <a:buClr>
                <a:schemeClr val="tx1"/>
              </a:buClr>
              <a:buFontTx/>
              <a:buAutoNum type="arabicPeriod" startAt="2"/>
            </a:pPr>
            <a:r>
              <a:rPr lang="zh-CN" altLang="en-US" sz="2400" dirty="0">
                <a:solidFill>
                  <a:srgbClr val="0033CC"/>
                </a:solidFill>
                <a:latin typeface="+mn-ea"/>
                <a:sym typeface="Arial" panose="020B0604020202020204" pitchFamily="34" charset="0"/>
              </a:rPr>
              <a:t>个体域</a:t>
            </a:r>
            <a:r>
              <a:rPr lang="zh-CN" altLang="en-US" sz="2400" dirty="0">
                <a:latin typeface="+mn-ea"/>
              </a:rPr>
              <a:t>不同时，谓词逻辑公式的含义不同。为了使公式有一致的含义，可引入一个</a:t>
            </a:r>
            <a:r>
              <a:rPr lang="zh-CN" altLang="en-US" sz="2400" dirty="0">
                <a:solidFill>
                  <a:srgbClr val="CC0000"/>
                </a:solidFill>
                <a:latin typeface="+mn-ea"/>
              </a:rPr>
              <a:t>全总域</a:t>
            </a:r>
            <a:r>
              <a:rPr lang="zh-CN" altLang="en-US" sz="2400" dirty="0">
                <a:latin typeface="+mn-ea"/>
              </a:rPr>
              <a:t>，表示宇宙间所有个体所组成的域。在某些情况下，全总域也可指所讨论的问题范围内的所有个体。</a:t>
            </a:r>
          </a:p>
          <a:p>
            <a:pPr marL="609600" indent="-609600">
              <a:lnSpc>
                <a:spcPct val="100000"/>
              </a:lnSpc>
              <a:buClr>
                <a:schemeClr val="tx1"/>
              </a:buClr>
              <a:buFontTx/>
              <a:buAutoNum type="arabicPeriod" startAt="2"/>
            </a:pPr>
            <a:r>
              <a:rPr lang="zh-CN" altLang="en-US" sz="2400" dirty="0">
                <a:solidFill>
                  <a:srgbClr val="CC0000"/>
                </a:solidFill>
                <a:latin typeface="+mn-ea"/>
              </a:rPr>
              <a:t>量词与个体域</a:t>
            </a:r>
            <a:r>
              <a:rPr lang="zh-CN" altLang="en-US" sz="2400" dirty="0">
                <a:latin typeface="+mn-ea"/>
              </a:rPr>
              <a:t>总是联系在一起的，因此使用不同的个体域，同一命题可能在一阶逻辑中有不同的符号化形式，但总可使所有的个体变量的个体域为全总域，并通过引入合适的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特性谓词</a:t>
            </a:r>
            <a:r>
              <a:rPr lang="zh-CN" altLang="en-US" sz="2400" dirty="0">
                <a:latin typeface="+mn-ea"/>
              </a:rPr>
              <a:t>来从全总域中分离出可使用量词限制的合适个体域来。</a:t>
            </a:r>
          </a:p>
          <a:p>
            <a:pPr marL="609600" indent="-609600">
              <a:lnSpc>
                <a:spcPct val="100000"/>
              </a:lnSpc>
              <a:buClr>
                <a:schemeClr val="tx1"/>
              </a:buClr>
              <a:buFontTx/>
              <a:buAutoNum type="arabicPeriod" startAt="2"/>
            </a:pPr>
            <a:r>
              <a:rPr lang="zh-CN" altLang="en-US" sz="2400" dirty="0">
                <a:solidFill>
                  <a:srgbClr val="CC0000"/>
                </a:solidFill>
                <a:latin typeface="+mn-ea"/>
              </a:rPr>
              <a:t>量词是有顺序</a:t>
            </a:r>
            <a:r>
              <a:rPr lang="zh-CN" altLang="en-US" sz="2400" dirty="0">
                <a:latin typeface="+mn-ea"/>
              </a:rPr>
              <a:t>的，不能将量词的顺序随意改变。若一个谓词公式中所有个体变元都量化了，则该谓词公式就变成了命题（闭公式）。 </a:t>
            </a:r>
          </a:p>
        </p:txBody>
      </p:sp>
    </p:spTree>
    <p:extLst>
      <p:ext uri="{BB962C8B-B14F-4D97-AF65-F5344CB8AC3E}">
        <p14:creationId xmlns:p14="http://schemas.microsoft.com/office/powerpoint/2010/main" val="4252944988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E4DB6B6-92A2-43C7-B1A4-E23843F547F2}"/>
              </a:ext>
            </a:extLst>
          </p:cNvPr>
          <p:cNvSpPr/>
          <p:nvPr/>
        </p:nvSpPr>
        <p:spPr>
          <a:xfrm>
            <a:off x="1751013" y="1455738"/>
            <a:ext cx="4091185" cy="6406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609600" indent="-609600">
              <a:lnSpc>
                <a:spcPct val="140000"/>
              </a:lnSpc>
              <a:buClr>
                <a:schemeClr val="tx1"/>
              </a:buClr>
              <a:buFontTx/>
              <a:buNone/>
            </a:pPr>
            <a:r>
              <a:rPr lang="zh-CN" altLang="en-US" sz="2800" b="1">
                <a:solidFill>
                  <a:srgbClr val="CC0000"/>
                </a:solidFill>
                <a:latin typeface="+mn-ea"/>
              </a:rPr>
              <a:t>关于“一阶” 逻辑（</a:t>
            </a:r>
            <a:r>
              <a:rPr lang="en-US" altLang="zh-CN" sz="2800" b="1">
                <a:solidFill>
                  <a:srgbClr val="CC0000"/>
                </a:solidFill>
                <a:latin typeface="+mn-ea"/>
              </a:rPr>
              <a:t>FOL</a:t>
            </a:r>
            <a:r>
              <a:rPr lang="zh-CN" altLang="en-US" sz="2800" b="1">
                <a:solidFill>
                  <a:srgbClr val="CC0000"/>
                </a:solidFill>
                <a:latin typeface="+mn-ea"/>
              </a:rPr>
              <a:t>）</a:t>
            </a:r>
            <a:endParaRPr lang="zh-CN" altLang="en-US" sz="2800" b="1" dirty="0">
              <a:solidFill>
                <a:srgbClr val="CC0000"/>
              </a:solidFill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B7E0293-528A-4531-8B56-A41863B7FF8E}"/>
              </a:ext>
            </a:extLst>
          </p:cNvPr>
          <p:cNvSpPr/>
          <p:nvPr/>
        </p:nvSpPr>
        <p:spPr>
          <a:xfrm>
            <a:off x="2054659" y="2125298"/>
            <a:ext cx="8082681" cy="29719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>
                <a:latin typeface="+mn-ea"/>
              </a:rPr>
              <a:t> </a:t>
            </a:r>
            <a:r>
              <a:rPr lang="en-US" altLang="zh-CN" sz="3200" dirty="0">
                <a:latin typeface="+mn-ea"/>
              </a:rPr>
              <a:t>1</a:t>
            </a:r>
            <a:r>
              <a:rPr lang="zh-CN" altLang="en-US" sz="3200" dirty="0">
                <a:latin typeface="+mn-ea"/>
              </a:rPr>
              <a:t>）所谓一阶逻辑的“一阶”的含义就是指其中的函数只能作用在个体上，或者说其中的变量只能代表取值于个体，如果允许函数作用在谓词上，则变成</a:t>
            </a:r>
            <a:r>
              <a:rPr lang="zh-CN" altLang="en-US" sz="3200" dirty="0">
                <a:solidFill>
                  <a:srgbClr val="CC0000"/>
                </a:solidFill>
                <a:latin typeface="+mn-ea"/>
              </a:rPr>
              <a:t>二阶或高阶</a:t>
            </a:r>
            <a:r>
              <a:rPr lang="zh-CN" altLang="en-US" sz="3200" dirty="0">
                <a:solidFill>
                  <a:srgbClr val="CC0000"/>
                </a:solidFill>
                <a:latin typeface="+mn-ea"/>
                <a:sym typeface="Arial" panose="020B0604020202020204" pitchFamily="34" charset="0"/>
              </a:rPr>
              <a:t>逻辑</a:t>
            </a:r>
            <a:r>
              <a:rPr lang="zh-CN" altLang="en-US" sz="3200" dirty="0">
                <a:latin typeface="+mn-ea"/>
              </a:rPr>
              <a:t>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0BBD229-2252-450E-B86F-572B6ED76D61}"/>
              </a:ext>
            </a:extLst>
          </p:cNvPr>
          <p:cNvSpPr txBox="1"/>
          <p:nvPr/>
        </p:nvSpPr>
        <p:spPr>
          <a:xfrm>
            <a:off x="3109404" y="5590257"/>
            <a:ext cx="6147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ym typeface="Symbol" panose="05050102010706020507" pitchFamily="18" charset="2"/>
              </a:rPr>
              <a:t></a:t>
            </a:r>
            <a:r>
              <a:rPr lang="en-US" altLang="zh-CN" i="1" dirty="0"/>
              <a:t>F</a:t>
            </a:r>
            <a:r>
              <a:rPr lang="zh-CN" altLang="en-US" dirty="0"/>
              <a:t>（</a:t>
            </a:r>
            <a:r>
              <a:rPr lang="en-US" altLang="zh-CN" i="1" dirty="0"/>
              <a:t>F</a:t>
            </a:r>
            <a:r>
              <a:rPr lang="en-US" altLang="zh-CN" dirty="0"/>
              <a:t>(0)∧</a:t>
            </a:r>
            <a:r>
              <a:rPr lang="en-US" altLang="zh-CN" dirty="0">
                <a:sym typeface="Symbol" panose="05050102010706020507" pitchFamily="18" charset="2"/>
              </a:rPr>
              <a:t> </a:t>
            </a:r>
            <a:r>
              <a:rPr lang="en-US" altLang="zh-CN" dirty="0"/>
              <a:t>x(</a:t>
            </a:r>
            <a:r>
              <a:rPr lang="en-US" altLang="zh-CN" i="1" dirty="0"/>
              <a:t>F</a:t>
            </a:r>
            <a:r>
              <a:rPr lang="en-US" altLang="zh-CN" dirty="0"/>
              <a:t>(x)→</a:t>
            </a:r>
            <a:r>
              <a:rPr lang="en-US" altLang="zh-CN" i="1" dirty="0"/>
              <a:t>F</a:t>
            </a:r>
            <a:r>
              <a:rPr lang="en-US" altLang="zh-CN" dirty="0"/>
              <a:t>(x+1))→</a:t>
            </a:r>
            <a:r>
              <a:rPr lang="en-US" altLang="zh-CN" dirty="0">
                <a:sym typeface="Symbol" panose="05050102010706020507" pitchFamily="18" charset="2"/>
              </a:rPr>
              <a:t> </a:t>
            </a:r>
            <a:r>
              <a:rPr lang="en-US" altLang="zh-CN" dirty="0" err="1"/>
              <a:t>x</a:t>
            </a:r>
            <a:r>
              <a:rPr lang="en-US" altLang="zh-CN" i="1" dirty="0" err="1"/>
              <a:t>F</a:t>
            </a:r>
            <a:r>
              <a:rPr lang="en-US" altLang="zh-CN" dirty="0"/>
              <a:t>(x)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017129541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1893979-A59A-4AFF-8926-631E5636F9E3}"/>
              </a:ext>
            </a:extLst>
          </p:cNvPr>
          <p:cNvSpPr/>
          <p:nvPr/>
        </p:nvSpPr>
        <p:spPr>
          <a:xfrm>
            <a:off x="1751013" y="1049452"/>
            <a:ext cx="8951034" cy="5544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9600" indent="-609600" algn="just">
              <a:lnSpc>
                <a:spcPct val="140000"/>
              </a:lnSpc>
              <a:buClr>
                <a:schemeClr val="tx1"/>
              </a:buClr>
              <a:buFontTx/>
              <a:buNone/>
            </a:pPr>
            <a:r>
              <a:rPr lang="en-US" altLang="zh-CN" sz="3200" dirty="0">
                <a:latin typeface="+mn-ea"/>
              </a:rPr>
              <a:t>2</a:t>
            </a:r>
            <a:r>
              <a:rPr lang="zh-CN" altLang="en-US" sz="3200" dirty="0">
                <a:latin typeface="+mn-ea"/>
              </a:rPr>
              <a:t>）在一阶逻辑中，谓词变量和谓词常量的区别并不重要，正如在命题逻辑中，命题常量和命题变项的区别不重要一样，这是因为在</a:t>
            </a:r>
            <a:r>
              <a:rPr lang="zh-CN" altLang="en-US" sz="3200" dirty="0">
                <a:solidFill>
                  <a:srgbClr val="0033CC"/>
                </a:solidFill>
                <a:latin typeface="+mn-ea"/>
              </a:rPr>
              <a:t>一阶逻辑中不能对谓词做某些变换（操作），或者说在一阶逻辑上不能在谓词集合上定义函数。</a:t>
            </a:r>
            <a:r>
              <a:rPr lang="zh-CN" altLang="en-US" sz="3200" dirty="0">
                <a:latin typeface="+mn-ea"/>
              </a:rPr>
              <a:t>但在个体域上可定义函数，因此个体常量与个体变量的区别显得比较重要。</a:t>
            </a:r>
          </a:p>
          <a:p>
            <a:pPr marL="609600" indent="-609600" algn="just">
              <a:lnSpc>
                <a:spcPct val="140000"/>
              </a:lnSpc>
              <a:buClr>
                <a:schemeClr val="tx1"/>
              </a:buClr>
              <a:buFontTx/>
              <a:buNone/>
            </a:pPr>
            <a:endParaRPr lang="zh-CN" altLang="en-US" sz="32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34942030"/>
      </p:ext>
    </p:extLst>
  </p:cSld>
  <p:clrMapOvr>
    <a:masterClrMapping/>
  </p:clrMapOvr>
  <p:transition spd="slow" advTm="0">
    <p:wip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81F9535-10FD-4F71-B7C2-A0906C397A01}"/>
              </a:ext>
            </a:extLst>
          </p:cNvPr>
          <p:cNvSpPr/>
          <p:nvPr/>
        </p:nvSpPr>
        <p:spPr>
          <a:xfrm>
            <a:off x="1571625" y="1156435"/>
            <a:ext cx="9391787" cy="4855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9600" indent="-609600">
              <a:lnSpc>
                <a:spcPct val="140000"/>
              </a:lnSpc>
              <a:buClr>
                <a:schemeClr val="tx1"/>
              </a:buClr>
              <a:buFontTx/>
              <a:buNone/>
            </a:pPr>
            <a:r>
              <a:rPr lang="en-US" altLang="zh-CN" sz="3200" dirty="0">
                <a:latin typeface="+mn-ea"/>
              </a:rPr>
              <a:t>3</a:t>
            </a:r>
            <a:r>
              <a:rPr lang="zh-CN" altLang="en-US" sz="3200" dirty="0">
                <a:latin typeface="+mn-ea"/>
              </a:rPr>
              <a:t>）可以说，一阶逻辑一个很重要的特点是在个体域上引入了变量。个体变量既可作为谓词作用的对象也可作为函数作用的对象。一阶逻辑中的阶的含义在某种意义上是指个体处于0阶，而对个体的判断（即命题）处于一阶，一阶逻辑中的函数作用于0阶的个体而得到个体，而</a:t>
            </a:r>
            <a:r>
              <a:rPr lang="zh-CN" altLang="en-US" sz="3200" dirty="0">
                <a:solidFill>
                  <a:srgbClr val="0033CC"/>
                </a:solidFill>
                <a:latin typeface="+mn-ea"/>
              </a:rPr>
              <a:t>谓词作用于</a:t>
            </a:r>
            <a:r>
              <a:rPr lang="zh-CN" altLang="en-US" sz="3200" i="1" u="sng" dirty="0">
                <a:solidFill>
                  <a:srgbClr val="0033CC"/>
                </a:solidFill>
                <a:latin typeface="+mn-ea"/>
              </a:rPr>
              <a:t>个体</a:t>
            </a:r>
            <a:r>
              <a:rPr lang="zh-CN" altLang="en-US" sz="3200" dirty="0">
                <a:solidFill>
                  <a:srgbClr val="0033CC"/>
                </a:solidFill>
                <a:latin typeface="+mn-ea"/>
              </a:rPr>
              <a:t>得到处于一阶的命题</a:t>
            </a:r>
            <a:r>
              <a:rPr lang="zh-CN" altLang="en-US" sz="3200" dirty="0">
                <a:latin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914378375"/>
      </p:ext>
    </p:extLst>
  </p:cSld>
  <p:clrMapOvr>
    <a:masterClrMapping/>
  </p:clrMapOvr>
  <p:transition spd="slow" advTm="0">
    <p:wip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97D7C92-B3DF-4817-8216-A082370DE6A2}"/>
              </a:ext>
            </a:extLst>
          </p:cNvPr>
          <p:cNvSpPr/>
          <p:nvPr/>
        </p:nvSpPr>
        <p:spPr>
          <a:xfrm>
            <a:off x="1932958" y="1164407"/>
            <a:ext cx="8326083" cy="47816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zh-CN" altLang="en-US" sz="3200" dirty="0">
                <a:latin typeface="+mn-ea"/>
              </a:rPr>
              <a:t>同在命题逻辑中一样，为在一阶逻辑中进行演算和推理，必须给出一阶逻辑中公式的抽象定义，以及它们的分类及解释。</a:t>
            </a:r>
            <a:endParaRPr lang="en-US" altLang="zh-CN" sz="32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zh-CN" altLang="en-US" sz="3200" dirty="0">
              <a:latin typeface="+mn-ea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chemeClr val="hlink"/>
                </a:solidFill>
                <a:latin typeface="+mn-ea"/>
              </a:rPr>
              <a:t>一阶语言</a:t>
            </a:r>
            <a:r>
              <a:rPr lang="zh-CN" altLang="en-US" sz="3200" dirty="0">
                <a:latin typeface="+mn-ea"/>
              </a:rPr>
              <a:t>是用于一阶逻辑的形式语言，而一阶逻辑就是建立在一阶语言基础上的逻辑体系，一阶语言本身不具备任何意义，但可以根据需要被解释成具有某种含义。</a:t>
            </a:r>
          </a:p>
        </p:txBody>
      </p:sp>
    </p:spTree>
    <p:extLst>
      <p:ext uri="{BB962C8B-B14F-4D97-AF65-F5344CB8AC3E}">
        <p14:creationId xmlns:p14="http://schemas.microsoft.com/office/powerpoint/2010/main" val="1722655221"/>
      </p:ext>
    </p:extLst>
  </p:cSld>
  <p:clrMapOvr>
    <a:masterClrMapping/>
  </p:clrMapOvr>
  <p:transition spd="slow" advTm="0">
    <p:wip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127FEFF-8972-4D8D-9F00-C0E055CAA50D}"/>
              </a:ext>
            </a:extLst>
          </p:cNvPr>
          <p:cNvSpPr/>
          <p:nvPr/>
        </p:nvSpPr>
        <p:spPr>
          <a:xfrm>
            <a:off x="928224" y="1444415"/>
            <a:ext cx="9847223" cy="4938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20000"/>
              </a:lnSpc>
            </a:pPr>
            <a:r>
              <a:rPr lang="zh-CN" altLang="en-US" sz="2400" dirty="0">
                <a:latin typeface="+mn-ea"/>
              </a:rPr>
              <a:t>	一阶逻辑语言符号包括：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AutoNum type="circleNumDbPlain"/>
            </a:pPr>
            <a:r>
              <a:rPr lang="zh-CN" altLang="en-US" sz="2400" dirty="0">
                <a:latin typeface="+mn-ea"/>
              </a:rPr>
              <a:t>	个体常量：通常用排在前面的小写字母表示，</a:t>
            </a:r>
            <a:r>
              <a:rPr lang="zh-CN" altLang="en-US" sz="2400" i="1" dirty="0">
                <a:latin typeface="+mn-ea"/>
              </a:rPr>
              <a:t>a</a:t>
            </a:r>
            <a:r>
              <a:rPr lang="zh-CN" altLang="en-US" sz="2400">
                <a:latin typeface="+mn-ea"/>
              </a:rPr>
              <a:t>, </a:t>
            </a:r>
            <a:r>
              <a:rPr lang="zh-CN" altLang="en-US" sz="2400" i="1">
                <a:latin typeface="+mn-ea"/>
              </a:rPr>
              <a:t>b</a:t>
            </a:r>
            <a:r>
              <a:rPr lang="zh-CN" altLang="en-US" sz="2400">
                <a:latin typeface="+mn-ea"/>
              </a:rPr>
              <a:t>, </a:t>
            </a:r>
            <a:r>
              <a:rPr lang="zh-CN" altLang="en-US" sz="2400" i="1" dirty="0">
                <a:latin typeface="+mn-ea"/>
              </a:rPr>
              <a:t>c</a:t>
            </a:r>
            <a:r>
              <a:rPr lang="zh-CN" altLang="en-US" sz="2400" dirty="0">
                <a:latin typeface="+mn-ea"/>
              </a:rPr>
              <a:t>, …, </a:t>
            </a:r>
            <a:r>
              <a:rPr lang="zh-CN" altLang="en-US" sz="2400" i="1" dirty="0">
                <a:latin typeface="+mn-ea"/>
              </a:rPr>
              <a:t>a</a:t>
            </a:r>
            <a:r>
              <a:rPr lang="zh-CN" altLang="en-US" sz="2400" i="1" baseline="-25000" dirty="0">
                <a:latin typeface="+mn-ea"/>
                <a:sym typeface="Arial" panose="020B0604020202020204" pitchFamily="34" charset="0"/>
              </a:rPr>
              <a:t>i</a:t>
            </a:r>
            <a:r>
              <a:rPr lang="zh-CN" altLang="en-US" sz="2400">
                <a:latin typeface="+mn-ea"/>
              </a:rPr>
              <a:t>, </a:t>
            </a:r>
            <a:r>
              <a:rPr lang="zh-CN" altLang="en-US" sz="2400" i="1">
                <a:latin typeface="+mn-ea"/>
              </a:rPr>
              <a:t>b</a:t>
            </a:r>
            <a:r>
              <a:rPr lang="zh-CN" altLang="en-US" sz="2400" i="1" baseline="-25000">
                <a:latin typeface="+mn-ea"/>
                <a:sym typeface="Arial" panose="020B0604020202020204" pitchFamily="34" charset="0"/>
              </a:rPr>
              <a:t>i</a:t>
            </a:r>
            <a:r>
              <a:rPr lang="zh-CN" altLang="en-US" sz="2400" dirty="0">
                <a:latin typeface="+mn-ea"/>
              </a:rPr>
              <a:t>, </a:t>
            </a:r>
            <a:r>
              <a:rPr lang="zh-CN" altLang="en-US" sz="2400" i="1" dirty="0">
                <a:latin typeface="+mn-ea"/>
              </a:rPr>
              <a:t>c</a:t>
            </a:r>
            <a:r>
              <a:rPr lang="zh-CN" altLang="en-US" sz="2400" i="1" baseline="-25000" dirty="0">
                <a:latin typeface="+mn-ea"/>
                <a:sym typeface="Arial" panose="020B0604020202020204" pitchFamily="34" charset="0"/>
              </a:rPr>
              <a:t>i</a:t>
            </a:r>
            <a:r>
              <a:rPr lang="zh-CN" altLang="en-US" sz="2400" dirty="0">
                <a:latin typeface="+mn-ea"/>
              </a:rPr>
              <a:t>, …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AutoNum type="circleNumDbPlain"/>
            </a:pPr>
            <a:r>
              <a:rPr lang="zh-CN" altLang="en-US" sz="2400" dirty="0">
                <a:latin typeface="+mn-ea"/>
              </a:rPr>
              <a:t>	个体变项：通常用排在后面的小写字母表示，</a:t>
            </a:r>
            <a:r>
              <a:rPr lang="zh-CN" altLang="en-US" sz="2400" i="1" dirty="0">
                <a:latin typeface="+mn-ea"/>
              </a:rPr>
              <a:t>x</a:t>
            </a:r>
            <a:r>
              <a:rPr lang="zh-CN" altLang="en-US" sz="2400" dirty="0">
                <a:latin typeface="+mn-ea"/>
              </a:rPr>
              <a:t>, </a:t>
            </a:r>
            <a:r>
              <a:rPr lang="zh-CN" altLang="en-US" sz="2400" i="1" dirty="0">
                <a:latin typeface="+mn-ea"/>
              </a:rPr>
              <a:t>y</a:t>
            </a:r>
            <a:r>
              <a:rPr lang="zh-CN" altLang="en-US" sz="2400" dirty="0">
                <a:latin typeface="+mn-ea"/>
              </a:rPr>
              <a:t>, </a:t>
            </a:r>
            <a:r>
              <a:rPr lang="zh-CN" altLang="en-US" sz="2400" i="1" dirty="0">
                <a:latin typeface="+mn-ea"/>
              </a:rPr>
              <a:t>z</a:t>
            </a:r>
            <a:r>
              <a:rPr lang="zh-CN" altLang="en-US" sz="2400" dirty="0">
                <a:latin typeface="+mn-ea"/>
              </a:rPr>
              <a:t>, …, </a:t>
            </a:r>
            <a:r>
              <a:rPr lang="zh-CN" altLang="en-US" sz="2400" i="1" dirty="0">
                <a:latin typeface="+mn-ea"/>
              </a:rPr>
              <a:t>x</a:t>
            </a:r>
            <a:r>
              <a:rPr lang="zh-CN" altLang="en-US" sz="2400" i="1" baseline="-25000" dirty="0">
                <a:latin typeface="+mn-ea"/>
                <a:sym typeface="Arial" panose="020B0604020202020204" pitchFamily="34" charset="0"/>
              </a:rPr>
              <a:t>i</a:t>
            </a:r>
            <a:r>
              <a:rPr lang="zh-CN" altLang="en-US" sz="2400" dirty="0">
                <a:latin typeface="+mn-ea"/>
              </a:rPr>
              <a:t>, </a:t>
            </a:r>
            <a:r>
              <a:rPr lang="zh-CN" altLang="en-US" sz="2400" i="1" dirty="0">
                <a:latin typeface="+mn-ea"/>
              </a:rPr>
              <a:t>y</a:t>
            </a:r>
            <a:r>
              <a:rPr lang="zh-CN" altLang="en-US" sz="2400" i="1" baseline="-25000" dirty="0">
                <a:latin typeface="+mn-ea"/>
                <a:sym typeface="Arial" panose="020B0604020202020204" pitchFamily="34" charset="0"/>
              </a:rPr>
              <a:t>i</a:t>
            </a:r>
            <a:r>
              <a:rPr lang="zh-CN" altLang="en-US" sz="2400" dirty="0">
                <a:latin typeface="+mn-ea"/>
              </a:rPr>
              <a:t>, </a:t>
            </a:r>
            <a:r>
              <a:rPr lang="zh-CN" altLang="en-US" sz="2400" i="1" dirty="0">
                <a:latin typeface="+mn-ea"/>
              </a:rPr>
              <a:t>z</a:t>
            </a:r>
            <a:r>
              <a:rPr lang="zh-CN" altLang="en-US" sz="2400" i="1" baseline="-25000" dirty="0">
                <a:latin typeface="+mn-ea"/>
                <a:sym typeface="Arial" panose="020B0604020202020204" pitchFamily="34" charset="0"/>
              </a:rPr>
              <a:t>i</a:t>
            </a:r>
            <a:r>
              <a:rPr lang="zh-CN" altLang="en-US" sz="2400" dirty="0">
                <a:latin typeface="+mn-ea"/>
              </a:rPr>
              <a:t>, …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AutoNum type="circleNumDbPlain"/>
            </a:pPr>
            <a:r>
              <a:rPr lang="zh-CN" altLang="en-US" sz="2400" dirty="0">
                <a:latin typeface="+mn-ea"/>
              </a:rPr>
              <a:t>	函数符号：通常用排在中间的小写字母表示，</a:t>
            </a:r>
            <a:r>
              <a:rPr lang="zh-CN" altLang="en-US" sz="2400" i="1" dirty="0">
                <a:latin typeface="+mn-ea"/>
              </a:rPr>
              <a:t>f</a:t>
            </a:r>
            <a:r>
              <a:rPr lang="zh-CN" altLang="en-US" sz="2400" dirty="0">
                <a:latin typeface="+mn-ea"/>
              </a:rPr>
              <a:t>, </a:t>
            </a:r>
            <a:r>
              <a:rPr lang="zh-CN" altLang="en-US" sz="2400" i="1" dirty="0">
                <a:latin typeface="+mn-ea"/>
              </a:rPr>
              <a:t>g</a:t>
            </a:r>
            <a:r>
              <a:rPr lang="zh-CN" altLang="en-US" sz="2400" dirty="0">
                <a:latin typeface="+mn-ea"/>
              </a:rPr>
              <a:t>, </a:t>
            </a:r>
            <a:r>
              <a:rPr lang="zh-CN" altLang="en-US" sz="2400" i="1" dirty="0">
                <a:latin typeface="+mn-ea"/>
              </a:rPr>
              <a:t>h</a:t>
            </a:r>
            <a:r>
              <a:rPr lang="zh-CN" altLang="en-US" sz="2400" dirty="0">
                <a:latin typeface="+mn-ea"/>
              </a:rPr>
              <a:t>, …, </a:t>
            </a:r>
            <a:r>
              <a:rPr lang="zh-CN" altLang="en-US" sz="2400" i="1" dirty="0">
                <a:latin typeface="+mn-ea"/>
              </a:rPr>
              <a:t>f</a:t>
            </a:r>
            <a:r>
              <a:rPr lang="zh-CN" altLang="en-US" sz="2400" i="1" baseline="-25000" dirty="0">
                <a:latin typeface="+mn-ea"/>
              </a:rPr>
              <a:t>i</a:t>
            </a:r>
            <a:r>
              <a:rPr lang="zh-CN" altLang="en-US" sz="2400" dirty="0">
                <a:latin typeface="+mn-ea"/>
              </a:rPr>
              <a:t>, </a:t>
            </a:r>
            <a:r>
              <a:rPr lang="zh-CN" altLang="en-US" sz="2400" i="1" dirty="0">
                <a:latin typeface="+mn-ea"/>
              </a:rPr>
              <a:t>g</a:t>
            </a:r>
            <a:r>
              <a:rPr lang="zh-CN" altLang="en-US" sz="2400" i="1" baseline="-25000" dirty="0">
                <a:latin typeface="+mn-ea"/>
                <a:sym typeface="Arial" panose="020B0604020202020204" pitchFamily="34" charset="0"/>
              </a:rPr>
              <a:t>i</a:t>
            </a:r>
            <a:r>
              <a:rPr lang="zh-CN" altLang="en-US" sz="2400" dirty="0">
                <a:latin typeface="+mn-ea"/>
              </a:rPr>
              <a:t>, </a:t>
            </a:r>
            <a:r>
              <a:rPr lang="zh-CN" altLang="en-US" sz="2400" i="1" dirty="0">
                <a:latin typeface="+mn-ea"/>
              </a:rPr>
              <a:t>h</a:t>
            </a:r>
            <a:r>
              <a:rPr lang="zh-CN" altLang="en-US" sz="2400" i="1" baseline="-25000" dirty="0">
                <a:latin typeface="+mn-ea"/>
                <a:sym typeface="Arial" panose="020B0604020202020204" pitchFamily="34" charset="0"/>
              </a:rPr>
              <a:t>i</a:t>
            </a:r>
            <a:r>
              <a:rPr lang="zh-CN" altLang="en-US" sz="2400" dirty="0">
                <a:latin typeface="+mn-ea"/>
              </a:rPr>
              <a:t>, …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AutoNum type="circleNumDbPlain"/>
            </a:pPr>
            <a:r>
              <a:rPr lang="zh-CN" altLang="en-US" sz="2400" dirty="0">
                <a:latin typeface="+mn-ea"/>
              </a:rPr>
              <a:t>	谓词符号：通常用排在中间的大写字母表示，F, G, H, …, F</a:t>
            </a:r>
            <a:r>
              <a:rPr lang="zh-CN" altLang="en-US" sz="2400" i="1" baseline="-25000" dirty="0">
                <a:latin typeface="+mn-ea"/>
                <a:sym typeface="Arial" panose="020B0604020202020204" pitchFamily="34" charset="0"/>
              </a:rPr>
              <a:t>i</a:t>
            </a:r>
            <a:r>
              <a:rPr lang="zh-CN" altLang="en-US" sz="2400" dirty="0">
                <a:latin typeface="+mn-ea"/>
              </a:rPr>
              <a:t>, G</a:t>
            </a:r>
            <a:r>
              <a:rPr lang="zh-CN" altLang="en-US" sz="2400" i="1" baseline="-25000" dirty="0">
                <a:latin typeface="+mn-ea"/>
                <a:sym typeface="Arial" panose="020B0604020202020204" pitchFamily="34" charset="0"/>
              </a:rPr>
              <a:t>i</a:t>
            </a:r>
            <a:r>
              <a:rPr lang="zh-CN" altLang="en-US" sz="2400" dirty="0">
                <a:latin typeface="+mn-ea"/>
              </a:rPr>
              <a:t>, H</a:t>
            </a:r>
            <a:r>
              <a:rPr lang="zh-CN" altLang="en-US" sz="2400" i="1" baseline="-25000" dirty="0">
                <a:latin typeface="+mn-ea"/>
                <a:sym typeface="Arial" panose="020B0604020202020204" pitchFamily="34" charset="0"/>
              </a:rPr>
              <a:t>i</a:t>
            </a:r>
            <a:r>
              <a:rPr lang="zh-CN" altLang="en-US" sz="2400" dirty="0">
                <a:latin typeface="+mn-ea"/>
              </a:rPr>
              <a:t>, …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AutoNum type="circleNumDbPlain"/>
            </a:pPr>
            <a:r>
              <a:rPr lang="zh-CN" altLang="en-US" sz="2400" dirty="0">
                <a:solidFill>
                  <a:schemeClr val="accent2"/>
                </a:solidFill>
                <a:latin typeface="+mn-ea"/>
              </a:rPr>
              <a:t>	量词符号：全称量词</a:t>
            </a:r>
            <a:r>
              <a:rPr lang="zh-CN" altLang="en-US" sz="2400" dirty="0">
                <a:solidFill>
                  <a:schemeClr val="accent2"/>
                </a:solidFill>
                <a:latin typeface="+mn-ea"/>
                <a:sym typeface="Symbol" panose="05050102010706020507" pitchFamily="18" charset="2"/>
              </a:rPr>
              <a:t></a:t>
            </a:r>
            <a:r>
              <a:rPr lang="zh-CN" altLang="en-US" sz="2400" dirty="0">
                <a:solidFill>
                  <a:schemeClr val="accent2"/>
                </a:solidFill>
                <a:latin typeface="+mn-ea"/>
              </a:rPr>
              <a:t>、存在量词</a:t>
            </a:r>
            <a:r>
              <a:rPr lang="zh-CN" altLang="en-US" sz="2400" dirty="0">
                <a:solidFill>
                  <a:schemeClr val="accent2"/>
                </a:solidFill>
                <a:latin typeface="+mn-ea"/>
                <a:sym typeface="Symbol" panose="05050102010706020507" pitchFamily="18" charset="2"/>
              </a:rPr>
              <a:t>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AutoNum type="circleNumDbPlain"/>
            </a:pPr>
            <a:r>
              <a:rPr lang="zh-CN" altLang="en-US" sz="2400" dirty="0">
                <a:solidFill>
                  <a:schemeClr val="accent2"/>
                </a:solidFill>
                <a:latin typeface="+mn-ea"/>
              </a:rPr>
              <a:t>	联结符号：</a:t>
            </a:r>
            <a:r>
              <a:rPr lang="zh-CN" altLang="en-US" sz="2400" dirty="0">
                <a:solidFill>
                  <a:schemeClr val="accent2"/>
                </a:solidFill>
                <a:latin typeface="+mn-ea"/>
                <a:sym typeface="Symbol" panose="05050102010706020507" pitchFamily="18" charset="2"/>
              </a:rPr>
              <a:t></a:t>
            </a:r>
            <a:r>
              <a:rPr lang="zh-CN" altLang="en-US" sz="2400" dirty="0">
                <a:solidFill>
                  <a:schemeClr val="accent2"/>
                </a:solidFill>
                <a:latin typeface="+mn-ea"/>
              </a:rPr>
              <a:t>、</a:t>
            </a:r>
            <a:r>
              <a:rPr lang="zh-CN" altLang="en-US" sz="2400" dirty="0">
                <a:solidFill>
                  <a:schemeClr val="accent2"/>
                </a:solidFill>
                <a:latin typeface="+mn-ea"/>
                <a:sym typeface="Symbol" panose="05050102010706020507" pitchFamily="18" charset="2"/>
              </a:rPr>
              <a:t></a:t>
            </a:r>
            <a:r>
              <a:rPr lang="zh-CN" altLang="en-US" sz="2400" dirty="0">
                <a:solidFill>
                  <a:schemeClr val="accent2"/>
                </a:solidFill>
                <a:latin typeface="+mn-ea"/>
              </a:rPr>
              <a:t>、</a:t>
            </a:r>
            <a:r>
              <a:rPr lang="zh-CN" altLang="en-US" sz="2400" dirty="0">
                <a:solidFill>
                  <a:schemeClr val="accent2"/>
                </a:solidFill>
                <a:latin typeface="+mn-ea"/>
                <a:sym typeface="Symbol" panose="05050102010706020507" pitchFamily="18" charset="2"/>
              </a:rPr>
              <a:t></a:t>
            </a:r>
            <a:r>
              <a:rPr lang="zh-CN" altLang="en-US" sz="2400" dirty="0">
                <a:solidFill>
                  <a:schemeClr val="accent2"/>
                </a:solidFill>
                <a:latin typeface="+mn-ea"/>
              </a:rPr>
              <a:t>、</a:t>
            </a:r>
            <a:r>
              <a:rPr lang="zh-CN" altLang="en-US" sz="2400" dirty="0">
                <a:solidFill>
                  <a:schemeClr val="accent2"/>
                </a:solidFill>
                <a:latin typeface="+mn-ea"/>
                <a:sym typeface="Symbol" panose="05050102010706020507" pitchFamily="18" charset="2"/>
              </a:rPr>
              <a:t></a:t>
            </a:r>
            <a:r>
              <a:rPr lang="zh-CN" altLang="en-US" sz="2400" dirty="0">
                <a:solidFill>
                  <a:schemeClr val="accent2"/>
                </a:solidFill>
                <a:latin typeface="+mn-ea"/>
              </a:rPr>
              <a:t>、</a:t>
            </a:r>
            <a:r>
              <a:rPr lang="zh-CN" altLang="en-US" sz="2400" dirty="0">
                <a:solidFill>
                  <a:schemeClr val="accent2"/>
                </a:solidFill>
                <a:latin typeface="+mn-ea"/>
                <a:sym typeface="Symbol" panose="05050102010706020507" pitchFamily="18" charset="2"/>
              </a:rPr>
              <a:t>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AutoNum type="circleNumDbPlain"/>
            </a:pPr>
            <a:r>
              <a:rPr lang="zh-CN" altLang="en-US" sz="2400" dirty="0">
                <a:solidFill>
                  <a:schemeClr val="accent2"/>
                </a:solidFill>
                <a:latin typeface="+mn-ea"/>
              </a:rPr>
              <a:t>	辅助符号：(、)、,(逗号)</a:t>
            </a:r>
            <a:r>
              <a:rPr lang="zh-CN" altLang="en-US" sz="2400" dirty="0">
                <a:latin typeface="+mn-ea"/>
              </a:rPr>
              <a:t> </a:t>
            </a:r>
          </a:p>
          <a:p>
            <a:pPr lvl="1">
              <a:lnSpc>
                <a:spcPct val="120000"/>
              </a:lnSpc>
            </a:pPr>
            <a:r>
              <a:rPr lang="zh-CN" altLang="en-US" sz="2400" dirty="0">
                <a:latin typeface="+mn-ea"/>
              </a:rPr>
              <a:t>	</a:t>
            </a:r>
            <a:r>
              <a:rPr lang="zh-CN" altLang="en-US" sz="2400" dirty="0">
                <a:solidFill>
                  <a:srgbClr val="CC0000"/>
                </a:solidFill>
                <a:latin typeface="+mn-ea"/>
              </a:rPr>
              <a:t>进而可以基于语言符号表定义项(个体单词)，谓词公式(原子公式以及更复杂的公式)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D7EFFD-B110-4481-B4B5-1408CCD29700}"/>
              </a:ext>
            </a:extLst>
          </p:cNvPr>
          <p:cNvSpPr/>
          <p:nvPr/>
        </p:nvSpPr>
        <p:spPr>
          <a:xfrm>
            <a:off x="1703585" y="738188"/>
            <a:ext cx="3759362" cy="6451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buClr>
                <a:srgbClr val="CC0000"/>
              </a:buClr>
              <a:buFontTx/>
              <a:buNone/>
            </a:pPr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关于“一阶逻辑语言”</a:t>
            </a:r>
          </a:p>
        </p:txBody>
      </p:sp>
    </p:spTree>
    <p:extLst>
      <p:ext uri="{BB962C8B-B14F-4D97-AF65-F5344CB8AC3E}">
        <p14:creationId xmlns:p14="http://schemas.microsoft.com/office/powerpoint/2010/main" val="822178985"/>
      </p:ext>
    </p:extLst>
  </p:cSld>
  <p:clrMapOvr>
    <a:masterClrMapping/>
  </p:clrMapOvr>
  <p:transition spd="slow" advTm="0">
    <p:wip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6C7C14A-A50E-4DC1-B36B-B27219D8B0E3}"/>
              </a:ext>
            </a:extLst>
          </p:cNvPr>
          <p:cNvSpPr/>
          <p:nvPr/>
        </p:nvSpPr>
        <p:spPr>
          <a:xfrm>
            <a:off x="1906173" y="809407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谓词公式</a:t>
            </a:r>
            <a:endParaRPr lang="zh-CN" altLang="en-US" sz="36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4DB54B8-CD5D-4AD9-B092-156A80D5EABF}"/>
              </a:ext>
            </a:extLst>
          </p:cNvPr>
          <p:cNvSpPr/>
          <p:nvPr/>
        </p:nvSpPr>
        <p:spPr>
          <a:xfrm>
            <a:off x="1571625" y="1526957"/>
            <a:ext cx="973386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9600" indent="-609600"/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项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(item)</a:t>
            </a:r>
          </a:p>
          <a:p>
            <a:pPr marL="990600" lvl="1" indent="-533400"/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表示个体</a:t>
            </a:r>
          </a:p>
          <a:p>
            <a:pPr marL="990600" lvl="1" indent="-533400"/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定义</a:t>
            </a:r>
          </a:p>
          <a:p>
            <a:pPr marL="1371600" lvl="2" indent="-457200">
              <a:buFont typeface="Wingdings" pitchFamily="2" charset="2"/>
              <a:buAutoNum type="arabicParenBoth"/>
            </a:pP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个体常量是项</a:t>
            </a:r>
          </a:p>
          <a:p>
            <a:pPr marL="1371600" lvl="2" indent="-457200">
              <a:buFont typeface="Wingdings" pitchFamily="2" charset="2"/>
              <a:buAutoNum type="arabicParenBoth"/>
            </a:pP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个体变元是项</a:t>
            </a:r>
          </a:p>
          <a:p>
            <a:pPr marL="1371600" lvl="2" indent="-457200">
              <a:buFont typeface="Wingdings" pitchFamily="2" charset="2"/>
              <a:buAutoNum type="arabicParenBoth"/>
            </a:pP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是一个</a:t>
            </a:r>
            <a:r>
              <a:rPr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≥1)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元函词，其</a:t>
            </a:r>
            <a:r>
              <a:rPr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,…, </a:t>
            </a:r>
            <a:r>
              <a:rPr lang="en-US" altLang="zh-CN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3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都是项，则</a:t>
            </a:r>
            <a:r>
              <a:rPr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,…, </a:t>
            </a:r>
            <a:r>
              <a:rPr lang="en-US" altLang="zh-CN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3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是项</a:t>
            </a:r>
          </a:p>
          <a:p>
            <a:pPr marL="990600" lvl="1" indent="-533400">
              <a:buFont typeface="Wingdings" pitchFamily="2" charset="2"/>
              <a:buChar char="p"/>
            </a:pP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</a:p>
          <a:p>
            <a:pPr marL="1371600" lvl="2" indent="-457200"/>
            <a:r>
              <a:rPr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     x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       f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(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y)) 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9649180"/>
      </p:ext>
    </p:extLst>
  </p:cSld>
  <p:clrMapOvr>
    <a:masterClrMapping/>
  </p:clrMapOvr>
  <p:transition spd="slow" advTm="0">
    <p:wip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67B462C-0771-425A-932A-17DF60D0DDA2}"/>
              </a:ext>
            </a:extLst>
          </p:cNvPr>
          <p:cNvSpPr/>
          <p:nvPr/>
        </p:nvSpPr>
        <p:spPr>
          <a:xfrm>
            <a:off x="1186308" y="1393329"/>
            <a:ext cx="9273375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3200" dirty="0">
                <a:latin typeface="Times New Roman" pitchFamily="18" charset="0"/>
              </a:rPr>
              <a:t>原子公式</a:t>
            </a:r>
            <a:r>
              <a:rPr lang="en-US" altLang="zh-CN" sz="3200" dirty="0">
                <a:latin typeface="Times New Roman" pitchFamily="18" charset="0"/>
              </a:rPr>
              <a:t>(atom)</a:t>
            </a:r>
          </a:p>
          <a:p>
            <a:pPr lvl="1" algn="just"/>
            <a:r>
              <a:rPr lang="zh-CN" altLang="en-US" sz="3200" dirty="0">
                <a:latin typeface="Times New Roman" pitchFamily="18" charset="0"/>
              </a:rPr>
              <a:t>定义</a:t>
            </a:r>
          </a:p>
          <a:p>
            <a:pPr lvl="2" algn="just"/>
            <a:r>
              <a:rPr lang="zh-CN" altLang="en-US" sz="3200" dirty="0">
                <a:latin typeface="Times New Roman" pitchFamily="18" charset="0"/>
              </a:rPr>
              <a:t>若</a:t>
            </a:r>
            <a:r>
              <a:rPr lang="en-US" altLang="zh-CN" sz="3200" i="1" dirty="0">
                <a:latin typeface="Times New Roman" pitchFamily="18" charset="0"/>
              </a:rPr>
              <a:t>P</a:t>
            </a:r>
            <a:r>
              <a:rPr lang="zh-CN" altLang="en-US" sz="3200" dirty="0">
                <a:latin typeface="Times New Roman" pitchFamily="18" charset="0"/>
              </a:rPr>
              <a:t>是一个</a:t>
            </a:r>
            <a:r>
              <a:rPr lang="en-US" altLang="zh-CN" sz="3200" i="1" dirty="0">
                <a:latin typeface="Times New Roman" pitchFamily="18" charset="0"/>
              </a:rPr>
              <a:t>n</a:t>
            </a:r>
            <a:r>
              <a:rPr lang="zh-CN" altLang="en-US" sz="3200" dirty="0">
                <a:latin typeface="Times New Roman" pitchFamily="18" charset="0"/>
              </a:rPr>
              <a:t>元谓词，且</a:t>
            </a:r>
            <a:r>
              <a:rPr lang="en-US" altLang="zh-CN" sz="3200" i="1" dirty="0">
                <a:latin typeface="Times New Roman" pitchFamily="18" charset="0"/>
              </a:rPr>
              <a:t>t</a:t>
            </a:r>
            <a:r>
              <a:rPr lang="en-US" altLang="zh-CN" sz="3200" baseline="-25000" dirty="0">
                <a:latin typeface="Times New Roman" pitchFamily="18" charset="0"/>
              </a:rPr>
              <a:t>1</a:t>
            </a:r>
            <a:r>
              <a:rPr lang="en-US" altLang="zh-CN" sz="3200" dirty="0">
                <a:latin typeface="Times New Roman" pitchFamily="18" charset="0"/>
              </a:rPr>
              <a:t>,</a:t>
            </a:r>
            <a:r>
              <a:rPr lang="en-US" altLang="zh-CN" sz="3200" i="1" dirty="0">
                <a:latin typeface="Times New Roman" pitchFamily="18" charset="0"/>
              </a:rPr>
              <a:t>t</a:t>
            </a:r>
            <a:r>
              <a:rPr lang="en-US" altLang="zh-CN" sz="3200" baseline="-25000" dirty="0">
                <a:latin typeface="Times New Roman" pitchFamily="18" charset="0"/>
              </a:rPr>
              <a:t>2</a:t>
            </a:r>
            <a:r>
              <a:rPr lang="en-US" altLang="zh-CN" sz="3200" dirty="0">
                <a:latin typeface="Times New Roman" pitchFamily="18" charset="0"/>
              </a:rPr>
              <a:t>,…,</a:t>
            </a:r>
            <a:r>
              <a:rPr lang="en-US" altLang="zh-CN" sz="3200" i="1" dirty="0" err="1">
                <a:latin typeface="Times New Roman" pitchFamily="18" charset="0"/>
              </a:rPr>
              <a:t>t</a:t>
            </a:r>
            <a:r>
              <a:rPr lang="en-US" altLang="zh-CN" sz="3200" baseline="-25000" dirty="0" err="1">
                <a:latin typeface="Times New Roman" pitchFamily="18" charset="0"/>
              </a:rPr>
              <a:t>n</a:t>
            </a:r>
            <a:r>
              <a:rPr lang="zh-CN" altLang="en-US" sz="3200" dirty="0">
                <a:latin typeface="Times New Roman" pitchFamily="18" charset="0"/>
              </a:rPr>
              <a:t>是项，则</a:t>
            </a:r>
            <a:r>
              <a:rPr lang="en-US" altLang="zh-CN" sz="3200" i="1" dirty="0">
                <a:latin typeface="Times New Roman" pitchFamily="18" charset="0"/>
              </a:rPr>
              <a:t>P</a:t>
            </a:r>
            <a:r>
              <a:rPr lang="en-US" altLang="zh-CN" sz="3200" dirty="0">
                <a:latin typeface="Times New Roman" pitchFamily="18" charset="0"/>
              </a:rPr>
              <a:t>(</a:t>
            </a:r>
            <a:r>
              <a:rPr lang="en-US" altLang="zh-CN" sz="3200" i="1" dirty="0">
                <a:latin typeface="Times New Roman" pitchFamily="18" charset="0"/>
              </a:rPr>
              <a:t>t</a:t>
            </a:r>
            <a:r>
              <a:rPr lang="en-US" altLang="zh-CN" sz="3200" baseline="-25000" dirty="0">
                <a:latin typeface="Times New Roman" pitchFamily="18" charset="0"/>
              </a:rPr>
              <a:t>1</a:t>
            </a:r>
            <a:r>
              <a:rPr lang="en-US" altLang="zh-CN" sz="3200" dirty="0">
                <a:latin typeface="Times New Roman" pitchFamily="18" charset="0"/>
              </a:rPr>
              <a:t>,</a:t>
            </a:r>
            <a:r>
              <a:rPr lang="en-US" altLang="zh-CN" sz="3200" i="1" dirty="0">
                <a:latin typeface="Times New Roman" pitchFamily="18" charset="0"/>
              </a:rPr>
              <a:t>t</a:t>
            </a:r>
            <a:r>
              <a:rPr lang="en-US" altLang="zh-CN" sz="3200" baseline="-25000" dirty="0">
                <a:latin typeface="Times New Roman" pitchFamily="18" charset="0"/>
              </a:rPr>
              <a:t>2</a:t>
            </a:r>
            <a:r>
              <a:rPr lang="en-US" altLang="zh-CN" sz="3200" dirty="0">
                <a:latin typeface="Times New Roman" pitchFamily="18" charset="0"/>
              </a:rPr>
              <a:t>,…,</a:t>
            </a:r>
            <a:r>
              <a:rPr lang="en-US" altLang="zh-CN" sz="3200" i="1" dirty="0" err="1">
                <a:latin typeface="Times New Roman" pitchFamily="18" charset="0"/>
              </a:rPr>
              <a:t>t</a:t>
            </a:r>
            <a:r>
              <a:rPr lang="en-US" altLang="zh-CN" sz="3200" baseline="-25000" dirty="0" err="1">
                <a:latin typeface="Times New Roman" pitchFamily="18" charset="0"/>
              </a:rPr>
              <a:t>n</a:t>
            </a:r>
            <a:r>
              <a:rPr lang="en-US" altLang="zh-CN" sz="3200" dirty="0">
                <a:latin typeface="Times New Roman" pitchFamily="18" charset="0"/>
              </a:rPr>
              <a:t>)</a:t>
            </a:r>
            <a:r>
              <a:rPr lang="zh-CN" altLang="en-US" sz="3200" dirty="0">
                <a:latin typeface="Times New Roman" pitchFamily="18" charset="0"/>
              </a:rPr>
              <a:t>是原子公式</a:t>
            </a:r>
          </a:p>
          <a:p>
            <a:pPr lvl="1" algn="just"/>
            <a:endParaRPr lang="en-US" altLang="zh-CN" sz="3200" dirty="0">
              <a:latin typeface="Times New Roman" pitchFamily="18" charset="0"/>
            </a:endParaRPr>
          </a:p>
          <a:p>
            <a:pPr lvl="1" algn="just"/>
            <a:r>
              <a:rPr lang="zh-CN" altLang="en-US" sz="3200" dirty="0">
                <a:latin typeface="Times New Roman" pitchFamily="18" charset="0"/>
              </a:rPr>
              <a:t>命题也是原子</a:t>
            </a:r>
            <a:r>
              <a:rPr lang="en-US" altLang="zh-CN" sz="3200" dirty="0">
                <a:latin typeface="Times New Roman" pitchFamily="18" charset="0"/>
              </a:rPr>
              <a:t>(</a:t>
            </a:r>
            <a:r>
              <a:rPr lang="en-US" altLang="zh-CN" sz="3200" i="1" dirty="0">
                <a:latin typeface="Times New Roman" pitchFamily="18" charset="0"/>
              </a:rPr>
              <a:t>n=</a:t>
            </a:r>
            <a:r>
              <a:rPr lang="en-US" altLang="zh-CN" sz="3200" dirty="0">
                <a:latin typeface="Times New Roman" pitchFamily="18" charset="0"/>
              </a:rPr>
              <a:t>0)</a:t>
            </a:r>
          </a:p>
          <a:p>
            <a:pPr lvl="1" algn="just"/>
            <a:endParaRPr lang="en-US" altLang="zh-CN" sz="3200" dirty="0">
              <a:latin typeface="Times New Roman" pitchFamily="18" charset="0"/>
            </a:endParaRPr>
          </a:p>
          <a:p>
            <a:pPr lvl="1" algn="just"/>
            <a:r>
              <a:rPr lang="zh-CN" altLang="en-US" sz="3200" dirty="0">
                <a:latin typeface="Times New Roman" pitchFamily="18" charset="0"/>
              </a:rPr>
              <a:t>例 </a:t>
            </a:r>
            <a:r>
              <a:rPr lang="en-US" altLang="zh-CN" sz="3200" i="1" dirty="0">
                <a:latin typeface="Times New Roman" pitchFamily="18" charset="0"/>
              </a:rPr>
              <a:t>P</a:t>
            </a:r>
            <a:r>
              <a:rPr lang="en-US" altLang="zh-CN" sz="3200" dirty="0">
                <a:latin typeface="Times New Roman" pitchFamily="18" charset="0"/>
              </a:rPr>
              <a:t>, </a:t>
            </a:r>
            <a:r>
              <a:rPr lang="en-US" altLang="zh-CN" sz="3200" i="1" dirty="0">
                <a:latin typeface="Times New Roman" pitchFamily="18" charset="0"/>
              </a:rPr>
              <a:t>Q </a:t>
            </a:r>
            <a:r>
              <a:rPr lang="en-US" altLang="zh-CN" sz="3200" dirty="0">
                <a:latin typeface="Times New Roman" pitchFamily="18" charset="0"/>
              </a:rPr>
              <a:t>(</a:t>
            </a:r>
            <a:r>
              <a:rPr lang="en-US" altLang="zh-CN" sz="3200" i="1" dirty="0">
                <a:latin typeface="Times New Roman" pitchFamily="18" charset="0"/>
              </a:rPr>
              <a:t>x</a:t>
            </a:r>
            <a:r>
              <a:rPr lang="en-US" altLang="zh-CN" sz="3200" dirty="0">
                <a:latin typeface="Times New Roman" pitchFamily="18" charset="0"/>
              </a:rPr>
              <a:t>), </a:t>
            </a:r>
            <a:r>
              <a:rPr lang="en-US" altLang="zh-CN" sz="3200" i="1" dirty="0">
                <a:latin typeface="Times New Roman" pitchFamily="18" charset="0"/>
              </a:rPr>
              <a:t>A </a:t>
            </a:r>
            <a:r>
              <a:rPr lang="en-US" altLang="zh-CN" sz="3200" dirty="0">
                <a:latin typeface="Times New Roman" pitchFamily="18" charset="0"/>
              </a:rPr>
              <a:t>(</a:t>
            </a:r>
            <a:r>
              <a:rPr lang="en-US" altLang="zh-CN" sz="3200" i="1" dirty="0">
                <a:latin typeface="Times New Roman" pitchFamily="18" charset="0"/>
              </a:rPr>
              <a:t>x</a:t>
            </a:r>
            <a:r>
              <a:rPr lang="en-US" altLang="zh-CN" sz="3200" dirty="0">
                <a:latin typeface="Times New Roman" pitchFamily="18" charset="0"/>
              </a:rPr>
              <a:t>, </a:t>
            </a:r>
            <a:r>
              <a:rPr lang="en-US" altLang="zh-CN" sz="3200" i="1" dirty="0">
                <a:latin typeface="Times New Roman" pitchFamily="18" charset="0"/>
              </a:rPr>
              <a:t>f </a:t>
            </a:r>
            <a:r>
              <a:rPr lang="en-US" altLang="zh-CN" sz="3200" dirty="0">
                <a:latin typeface="Times New Roman" pitchFamily="18" charset="0"/>
              </a:rPr>
              <a:t>(</a:t>
            </a:r>
            <a:r>
              <a:rPr lang="en-US" altLang="zh-CN" sz="3200" i="1" dirty="0">
                <a:latin typeface="Times New Roman" pitchFamily="18" charset="0"/>
              </a:rPr>
              <a:t>x</a:t>
            </a:r>
            <a:r>
              <a:rPr lang="en-US" altLang="zh-CN" sz="3200" dirty="0">
                <a:latin typeface="Times New Roman" pitchFamily="18" charset="0"/>
              </a:rPr>
              <a:t>)), </a:t>
            </a:r>
            <a:r>
              <a:rPr lang="en-US" altLang="zh-CN" sz="3200" i="1" dirty="0">
                <a:latin typeface="Times New Roman" pitchFamily="18" charset="0"/>
              </a:rPr>
              <a:t>B </a:t>
            </a:r>
            <a:r>
              <a:rPr lang="en-US" altLang="zh-CN" sz="3200" dirty="0">
                <a:latin typeface="Times New Roman" pitchFamily="18" charset="0"/>
              </a:rPr>
              <a:t>(</a:t>
            </a:r>
            <a:r>
              <a:rPr lang="en-US" altLang="zh-CN" sz="3200" i="1" dirty="0">
                <a:latin typeface="Times New Roman" pitchFamily="18" charset="0"/>
              </a:rPr>
              <a:t>x</a:t>
            </a:r>
            <a:r>
              <a:rPr lang="en-US" altLang="zh-CN" sz="3200" dirty="0">
                <a:latin typeface="Times New Roman" pitchFamily="18" charset="0"/>
              </a:rPr>
              <a:t>, </a:t>
            </a:r>
            <a:r>
              <a:rPr lang="en-US" altLang="zh-CN" sz="3200" i="1" dirty="0">
                <a:latin typeface="Times New Roman" pitchFamily="18" charset="0"/>
              </a:rPr>
              <a:t>y</a:t>
            </a:r>
            <a:r>
              <a:rPr lang="en-US" altLang="zh-CN" sz="3200" dirty="0">
                <a:latin typeface="Times New Roman" pitchFamily="18" charset="0"/>
              </a:rPr>
              <a:t>, </a:t>
            </a:r>
            <a:r>
              <a:rPr lang="en-US" altLang="zh-CN" sz="3200" i="1" dirty="0">
                <a:latin typeface="Times New Roman" pitchFamily="18" charset="0"/>
              </a:rPr>
              <a:t>a</a:t>
            </a:r>
            <a:r>
              <a:rPr lang="en-US" altLang="zh-CN" sz="3200" dirty="0">
                <a:latin typeface="Times New Roman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83480532"/>
      </p:ext>
    </p:extLst>
  </p:cSld>
  <p:clrMapOvr>
    <a:masterClrMapping/>
  </p:clrMapOvr>
  <p:transition spd="slow" advTm="0">
    <p:wip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29A9835-5046-4D02-8A81-EDA23FB38B4E}"/>
              </a:ext>
            </a:extLst>
          </p:cNvPr>
          <p:cNvSpPr/>
          <p:nvPr/>
        </p:nvSpPr>
        <p:spPr>
          <a:xfrm>
            <a:off x="1877668" y="978083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谓词公式</a:t>
            </a:r>
            <a:endParaRPr lang="zh-CN" altLang="en-US" sz="36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C3A6C81-5A96-4470-8F52-4F318FD84AE9}"/>
              </a:ext>
            </a:extLst>
          </p:cNvPr>
          <p:cNvSpPr txBox="1">
            <a:spLocks noChangeArrowheads="1"/>
          </p:cNvSpPr>
          <p:nvPr/>
        </p:nvSpPr>
        <p:spPr>
          <a:xfrm>
            <a:off x="1504997" y="2013721"/>
            <a:ext cx="8497887" cy="51847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满足下列条件的表达式，称为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合式公式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Well-Formed Formulae/</a:t>
            </a:r>
            <a:r>
              <a:rPr lang="en-US" altLang="zh-CN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Wff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，简称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公式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Formulae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dirty="0">
                <a:solidFill>
                  <a:srgbClr val="99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原子公式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是合式公式；</a:t>
            </a: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）若</a:t>
            </a:r>
            <a:r>
              <a:rPr lang="en-US" altLang="zh-CN" dirty="0">
                <a:solidFill>
                  <a:srgbClr val="99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99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β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是合式公式，则</a:t>
            </a:r>
            <a:r>
              <a:rPr lang="en-US" altLang="zh-CN" dirty="0">
                <a:solidFill>
                  <a:srgbClr val="99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solidFill>
                  <a:srgbClr val="99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┐</a:t>
            </a:r>
            <a:r>
              <a:rPr lang="en-US" altLang="zh-CN" dirty="0">
                <a:solidFill>
                  <a:srgbClr val="99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α)</a:t>
            </a:r>
            <a:r>
              <a:rPr lang="zh-CN" altLang="en-US" dirty="0">
                <a:solidFill>
                  <a:srgbClr val="99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solidFill>
                  <a:srgbClr val="99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solidFill>
                  <a:srgbClr val="99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┐</a:t>
            </a:r>
            <a:r>
              <a:rPr lang="en-US" altLang="zh-CN" dirty="0">
                <a:solidFill>
                  <a:srgbClr val="99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β)</a:t>
            </a:r>
            <a:r>
              <a:rPr lang="zh-CN" altLang="en-US" dirty="0">
                <a:solidFill>
                  <a:srgbClr val="99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solidFill>
                  <a:srgbClr val="99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(α ∨ β)</a:t>
            </a:r>
            <a:r>
              <a:rPr lang="zh-CN" altLang="en-US" dirty="0">
                <a:solidFill>
                  <a:srgbClr val="99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99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(α ∧ β)</a:t>
            </a:r>
            <a:r>
              <a:rPr lang="zh-CN" altLang="en-US" dirty="0">
                <a:solidFill>
                  <a:srgbClr val="99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solidFill>
                  <a:srgbClr val="99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(α → β)</a:t>
            </a:r>
            <a:r>
              <a:rPr lang="zh-CN" altLang="en-US" dirty="0">
                <a:solidFill>
                  <a:srgbClr val="99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solidFill>
                  <a:srgbClr val="99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(α </a:t>
            </a:r>
            <a:r>
              <a:rPr lang="zh-CN" altLang="en-US" dirty="0">
                <a:solidFill>
                  <a:srgbClr val="99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dirty="0">
                <a:solidFill>
                  <a:srgbClr val="99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β)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也是合式公式；</a:t>
            </a: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）若</a:t>
            </a:r>
            <a:r>
              <a:rPr lang="en-US" altLang="zh-CN" dirty="0">
                <a:solidFill>
                  <a:srgbClr val="99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是合式公式，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是个体变量，则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fr-FR" altLang="zh-CN" dirty="0">
                <a:solidFill>
                  <a:srgbClr val="99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99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fr-FR" altLang="zh-CN" dirty="0">
                <a:solidFill>
                  <a:srgbClr val="99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x)</a:t>
            </a:r>
            <a:r>
              <a:rPr lang="en-US" altLang="zh-CN" dirty="0">
                <a:solidFill>
                  <a:srgbClr val="99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α </a:t>
            </a:r>
            <a:r>
              <a:rPr lang="zh-CN" altLang="en-US" dirty="0">
                <a:solidFill>
                  <a:srgbClr val="99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solidFill>
                  <a:srgbClr val="99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99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dirty="0">
                <a:solidFill>
                  <a:srgbClr val="99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x) β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也是合式公式；</a:t>
            </a: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）仅仅由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(1)-(3)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产生的表达式才是合式公式。 </a:t>
            </a:r>
          </a:p>
        </p:txBody>
      </p:sp>
    </p:spTree>
    <p:extLst>
      <p:ext uri="{BB962C8B-B14F-4D97-AF65-F5344CB8AC3E}">
        <p14:creationId xmlns:p14="http://schemas.microsoft.com/office/powerpoint/2010/main" val="748120360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3FE5D4A-67EF-41A6-8316-F29101D73A60}"/>
              </a:ext>
            </a:extLst>
          </p:cNvPr>
          <p:cNvSpPr txBox="1"/>
          <p:nvPr/>
        </p:nvSpPr>
        <p:spPr>
          <a:xfrm>
            <a:off x="2508309" y="1996580"/>
            <a:ext cx="624979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自然语言改写成谓词公式的步骤：</a:t>
            </a:r>
            <a:endParaRPr lang="en-US" altLang="zh-CN" sz="3200" dirty="0"/>
          </a:p>
          <a:p>
            <a:r>
              <a:rPr lang="en-US" altLang="zh-CN" sz="3200" dirty="0"/>
              <a:t>1 </a:t>
            </a:r>
            <a:r>
              <a:rPr lang="zh-CN" altLang="en-US" sz="3200" dirty="0"/>
              <a:t>个体域</a:t>
            </a:r>
            <a:endParaRPr lang="en-US" altLang="zh-CN" sz="3200" dirty="0"/>
          </a:p>
          <a:p>
            <a:r>
              <a:rPr lang="en-US" altLang="zh-CN" sz="3200" dirty="0"/>
              <a:t>2 </a:t>
            </a:r>
            <a:r>
              <a:rPr lang="zh-CN" altLang="en-US" sz="3200" dirty="0"/>
              <a:t>确定谓词</a:t>
            </a:r>
            <a:endParaRPr lang="en-US" altLang="zh-CN" sz="3200" dirty="0"/>
          </a:p>
          <a:p>
            <a:r>
              <a:rPr lang="en-US" altLang="zh-CN" sz="3200" dirty="0"/>
              <a:t>3 </a:t>
            </a:r>
            <a:r>
              <a:rPr lang="zh-CN" altLang="en-US" sz="3200" dirty="0"/>
              <a:t>确定量词</a:t>
            </a:r>
            <a:endParaRPr lang="en-US" altLang="zh-CN" sz="3200" dirty="0"/>
          </a:p>
          <a:p>
            <a:r>
              <a:rPr lang="en-US" altLang="zh-CN" sz="3200" dirty="0"/>
              <a:t>4 </a:t>
            </a:r>
            <a:r>
              <a:rPr lang="zh-CN" altLang="en-US" sz="3200" dirty="0"/>
              <a:t>使用联结词</a:t>
            </a:r>
          </a:p>
        </p:txBody>
      </p:sp>
    </p:spTree>
    <p:extLst>
      <p:ext uri="{BB962C8B-B14F-4D97-AF65-F5344CB8AC3E}">
        <p14:creationId xmlns:p14="http://schemas.microsoft.com/office/powerpoint/2010/main" val="2592078264"/>
      </p:ext>
    </p:extLst>
  </p:cSld>
  <p:clrMapOvr>
    <a:masterClrMapping/>
  </p:clrMapOvr>
  <p:transition spd="slow" advTm="0">
    <p:wip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文本占位符 13314">
            <a:extLst>
              <a:ext uri="{FF2B5EF4-FFF2-40B4-BE49-F238E27FC236}">
                <a16:creationId xmlns:a16="http://schemas.microsoft.com/office/drawing/2014/main" id="{84867296-0777-44C4-BE00-D0B89C83825A}"/>
              </a:ext>
            </a:extLst>
          </p:cNvPr>
          <p:cNvSpPr txBox="1">
            <a:spLocks noChangeArrowheads="1"/>
          </p:cNvSpPr>
          <p:nvPr/>
        </p:nvSpPr>
        <p:spPr>
          <a:xfrm>
            <a:off x="1470293" y="1362075"/>
            <a:ext cx="9847165" cy="41338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0000"/>
              </a:lnSpc>
              <a:buClr>
                <a:schemeClr val="tx1"/>
              </a:buClr>
              <a:buFontTx/>
              <a:buNone/>
            </a:pPr>
            <a:r>
              <a:rPr lang="zh-CN" altLang="en-US" sz="3200" dirty="0">
                <a:solidFill>
                  <a:srgbClr val="CC0000"/>
                </a:solidFill>
                <a:latin typeface="+mn-ea"/>
              </a:rPr>
              <a:t>考虑如下</a:t>
            </a:r>
            <a:r>
              <a:rPr lang="en-US" altLang="zh-CN" sz="3200" dirty="0">
                <a:solidFill>
                  <a:srgbClr val="CC0000"/>
                </a:solidFill>
                <a:latin typeface="+mn-ea"/>
              </a:rPr>
              <a:t>3</a:t>
            </a:r>
            <a:r>
              <a:rPr lang="zh-CN" altLang="en-US" sz="3200" dirty="0">
                <a:solidFill>
                  <a:srgbClr val="CC0000"/>
                </a:solidFill>
                <a:latin typeface="+mn-ea"/>
              </a:rPr>
              <a:t>个命题或推理：</a:t>
            </a:r>
          </a:p>
          <a:p>
            <a:pPr>
              <a:lnSpc>
                <a:spcPct val="140000"/>
              </a:lnSpc>
              <a:buClr>
                <a:schemeClr val="tx1"/>
              </a:buClr>
              <a:buFontTx/>
              <a:buNone/>
            </a:pPr>
            <a:r>
              <a:rPr lang="en-US" altLang="zh-CN" sz="3200" dirty="0">
                <a:latin typeface="+mn-ea"/>
              </a:rPr>
              <a:t>1 “</a:t>
            </a:r>
            <a:r>
              <a:rPr lang="zh-CN" altLang="en-US" sz="3200" dirty="0">
                <a:latin typeface="+mn-ea"/>
              </a:rPr>
              <a:t>有一个整数大于其它每个整数”</a:t>
            </a:r>
          </a:p>
          <a:p>
            <a:pPr>
              <a:lnSpc>
                <a:spcPct val="140000"/>
              </a:lnSpc>
              <a:buClr>
                <a:schemeClr val="tx1"/>
              </a:buClr>
              <a:buFontTx/>
              <a:buNone/>
            </a:pPr>
            <a:r>
              <a:rPr lang="en-US" altLang="zh-CN" sz="3200" dirty="0">
                <a:latin typeface="+mn-ea"/>
              </a:rPr>
              <a:t>2 “</a:t>
            </a:r>
            <a:r>
              <a:rPr lang="zh-CN" altLang="en-US" sz="3200" dirty="0">
                <a:latin typeface="+mn-ea"/>
              </a:rPr>
              <a:t>任给</a:t>
            </a:r>
            <a:r>
              <a:rPr lang="zh-CN" altLang="en-US" sz="3200" dirty="0">
                <a:latin typeface="+mn-ea"/>
                <a:sym typeface="Symbol" panose="05050102010706020507" pitchFamily="18" charset="2"/>
              </a:rPr>
              <a:t></a:t>
            </a:r>
            <a:r>
              <a:rPr lang="zh-CN" altLang="en-US" sz="3200" dirty="0">
                <a:latin typeface="+mn-ea"/>
              </a:rPr>
              <a:t> </a:t>
            </a:r>
            <a:r>
              <a:rPr lang="en-US" altLang="zh-CN" sz="3200" dirty="0">
                <a:latin typeface="+mn-ea"/>
              </a:rPr>
              <a:t>&gt; 0</a:t>
            </a:r>
            <a:r>
              <a:rPr lang="zh-CN" altLang="en-US" sz="3200" dirty="0">
                <a:latin typeface="+mn-ea"/>
              </a:rPr>
              <a:t>，存在</a:t>
            </a:r>
            <a:r>
              <a:rPr lang="zh-CN" altLang="en-US" sz="3200" dirty="0">
                <a:latin typeface="+mn-ea"/>
                <a:sym typeface="Symbol" panose="05050102010706020507" pitchFamily="18" charset="2"/>
              </a:rPr>
              <a:t></a:t>
            </a:r>
            <a:r>
              <a:rPr lang="zh-CN" altLang="en-US" sz="3200" dirty="0">
                <a:latin typeface="+mn-ea"/>
              </a:rPr>
              <a:t> </a:t>
            </a:r>
            <a:r>
              <a:rPr lang="en-US" altLang="zh-CN" sz="3200" dirty="0">
                <a:latin typeface="+mn-ea"/>
              </a:rPr>
              <a:t>&gt; 0</a:t>
            </a:r>
            <a:r>
              <a:rPr lang="zh-CN" altLang="en-US" sz="3200" dirty="0">
                <a:latin typeface="+mn-ea"/>
              </a:rPr>
              <a:t>，如果</a:t>
            </a:r>
            <a:r>
              <a:rPr lang="en-US" altLang="zh-CN" sz="3200" dirty="0">
                <a:latin typeface="+mn-ea"/>
              </a:rPr>
              <a:t>|x-a|&lt;</a:t>
            </a:r>
            <a:r>
              <a:rPr lang="en-US" altLang="zh-CN" sz="3200" dirty="0">
                <a:latin typeface="+mn-ea"/>
                <a:sym typeface="Symbol" panose="05050102010706020507" pitchFamily="18" charset="2"/>
              </a:rPr>
              <a:t></a:t>
            </a:r>
            <a:r>
              <a:rPr lang="zh-CN" altLang="en-US" sz="3200" dirty="0">
                <a:latin typeface="+mn-ea"/>
              </a:rPr>
              <a:t>，则</a:t>
            </a:r>
            <a:r>
              <a:rPr lang="en-US" altLang="zh-CN" sz="3200" dirty="0">
                <a:latin typeface="+mn-ea"/>
              </a:rPr>
              <a:t>|f(x)-b|&lt;</a:t>
            </a:r>
            <a:r>
              <a:rPr lang="en-US" altLang="zh-CN" sz="3200" dirty="0">
                <a:latin typeface="+mn-ea"/>
                <a:sym typeface="Symbol" panose="05050102010706020507" pitchFamily="18" charset="2"/>
              </a:rPr>
              <a:t></a:t>
            </a:r>
            <a:r>
              <a:rPr lang="en-US" altLang="zh-CN" sz="3200" dirty="0">
                <a:latin typeface="+mn-ea"/>
              </a:rPr>
              <a:t>”</a:t>
            </a:r>
          </a:p>
          <a:p>
            <a:pPr>
              <a:lnSpc>
                <a:spcPct val="140000"/>
              </a:lnSpc>
              <a:buClr>
                <a:schemeClr val="tx1"/>
              </a:buClr>
              <a:buFontTx/>
              <a:buNone/>
            </a:pPr>
            <a:r>
              <a:rPr lang="en-US" altLang="zh-CN" sz="3200" dirty="0">
                <a:latin typeface="+mn-ea"/>
              </a:rPr>
              <a:t>3</a:t>
            </a:r>
            <a:r>
              <a:rPr lang="en-US" altLang="zh-CN" sz="3200" dirty="0">
                <a:solidFill>
                  <a:srgbClr val="3333FF"/>
                </a:solidFill>
                <a:latin typeface="+mn-ea"/>
              </a:rPr>
              <a:t>  </a:t>
            </a:r>
            <a:r>
              <a:rPr lang="zh-CN" altLang="en-US" sz="3200" dirty="0">
                <a:latin typeface="+mn-ea"/>
              </a:rPr>
              <a:t>苏格拉底三段论：“人都是要死的，苏格拉底是人，所以苏格拉底是要死的。” </a:t>
            </a:r>
          </a:p>
        </p:txBody>
      </p:sp>
    </p:spTree>
    <p:extLst>
      <p:ext uri="{BB962C8B-B14F-4D97-AF65-F5344CB8AC3E}">
        <p14:creationId xmlns:p14="http://schemas.microsoft.com/office/powerpoint/2010/main" val="3351447221"/>
      </p:ext>
    </p:extLst>
  </p:cSld>
  <p:clrMapOvr>
    <a:masterClrMapping/>
  </p:clrMapOvr>
  <p:transition spd="slow" advTm="0">
    <p:wip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1" name="文本占位符 14337">
            <a:extLst>
              <a:ext uri="{FF2B5EF4-FFF2-40B4-BE49-F238E27FC236}">
                <a16:creationId xmlns:a16="http://schemas.microsoft.com/office/drawing/2014/main" id="{5DF9A5ED-D8FB-4C67-97ED-987F6565E486}"/>
              </a:ext>
            </a:extLst>
          </p:cNvPr>
          <p:cNvSpPr txBox="1">
            <a:spLocks noChangeArrowheads="1"/>
          </p:cNvSpPr>
          <p:nvPr/>
        </p:nvSpPr>
        <p:spPr>
          <a:xfrm>
            <a:off x="1571625" y="1368523"/>
            <a:ext cx="8229600" cy="34559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chemeClr val="tx1"/>
              </a:buClr>
              <a:buFontTx/>
              <a:buNone/>
            </a:pPr>
            <a:endParaRPr lang="en-US" altLang="zh-CN" b="1" dirty="0">
              <a:solidFill>
                <a:srgbClr val="0033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buClr>
                <a:schemeClr val="tx1"/>
              </a:buClr>
              <a:buFontTx/>
              <a:buNone/>
            </a:pPr>
            <a:r>
              <a:rPr lang="zh-CN" altLang="en-US" b="1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有一个整数大于其它每个整数</a:t>
            </a:r>
          </a:p>
        </p:txBody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107C1264-A9B8-4F9F-966B-F1D25E8D8966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9621" y="2867395"/>
            <a:ext cx="720725" cy="0"/>
          </a:xfrm>
          <a:prstGeom prst="line">
            <a:avLst/>
          </a:prstGeom>
          <a:noFill/>
          <a:ln w="5715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F191DF1E-0C78-448E-8854-23EDC0F0D4B4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1589" y="2871349"/>
            <a:ext cx="935037" cy="0"/>
          </a:xfrm>
          <a:prstGeom prst="line">
            <a:avLst/>
          </a:prstGeom>
          <a:noFill/>
          <a:ln w="5715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5BB26666-C87A-416A-B15E-4F19EF9E9BFA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3810" y="2867395"/>
            <a:ext cx="720725" cy="0"/>
          </a:xfrm>
          <a:prstGeom prst="line">
            <a:avLst/>
          </a:prstGeom>
          <a:noFill/>
          <a:ln w="5715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5" name="直接连接符 24">
            <a:extLst>
              <a:ext uri="{FF2B5EF4-FFF2-40B4-BE49-F238E27FC236}">
                <a16:creationId xmlns:a16="http://schemas.microsoft.com/office/drawing/2014/main" id="{3B27776F-2BB3-4075-A42B-19AEB24EC541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0117" y="2867395"/>
            <a:ext cx="720725" cy="0"/>
          </a:xfrm>
          <a:prstGeom prst="line">
            <a:avLst/>
          </a:prstGeom>
          <a:noFill/>
          <a:ln w="57150">
            <a:solidFill>
              <a:srgbClr val="99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6" name="直接连接符 25">
            <a:extLst>
              <a:ext uri="{FF2B5EF4-FFF2-40B4-BE49-F238E27FC236}">
                <a16:creationId xmlns:a16="http://schemas.microsoft.com/office/drawing/2014/main" id="{4DC71236-64CF-45C4-B087-A3CC84ED1AAC}"/>
              </a:ext>
            </a:extLst>
          </p:cNvPr>
          <p:cNvSpPr>
            <a:spLocks noChangeShapeType="1"/>
          </p:cNvSpPr>
          <p:nvPr/>
        </p:nvSpPr>
        <p:spPr bwMode="auto">
          <a:xfrm>
            <a:off x="5643538" y="2848052"/>
            <a:ext cx="720725" cy="0"/>
          </a:xfrm>
          <a:prstGeom prst="line">
            <a:avLst/>
          </a:prstGeom>
          <a:noFill/>
          <a:ln w="57150">
            <a:solidFill>
              <a:srgbClr val="99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00CC419-BF71-4A82-B0DB-FEE4D4170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50" y="3932336"/>
            <a:ext cx="3168650" cy="460375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个体</a:t>
            </a:r>
            <a:r>
              <a:rPr lang="en-US" altLang="zh-CN" sz="2400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Individual</a:t>
            </a:r>
            <a:r>
              <a:rPr lang="zh-CN" altLang="en-US" sz="2400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？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0C25984-3A4A-4F53-99DD-896F95F74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3613" y="3898998"/>
            <a:ext cx="2855912" cy="522288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0066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谓词</a:t>
            </a:r>
            <a:r>
              <a:rPr lang="en-US" altLang="zh-CN">
                <a:solidFill>
                  <a:srgbClr val="0066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Predicate</a:t>
            </a:r>
            <a:r>
              <a:rPr lang="zh-CN" altLang="en-US">
                <a:solidFill>
                  <a:srgbClr val="0066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？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3AE3F86-8684-4839-8AD9-C21F267C17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2325" y="1368523"/>
            <a:ext cx="3644900" cy="522288"/>
          </a:xfrm>
          <a:prstGeom prst="rect">
            <a:avLst/>
          </a:prstGeom>
          <a:noFill/>
          <a:ln w="9525">
            <a:solidFill>
              <a:srgbClr val="0033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003366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量词</a:t>
            </a:r>
            <a:r>
              <a:rPr lang="en-US" altLang="zh-CN">
                <a:solidFill>
                  <a:srgbClr val="003366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Quantification</a:t>
            </a:r>
            <a:r>
              <a:rPr lang="zh-CN" altLang="en-US">
                <a:solidFill>
                  <a:srgbClr val="003366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？</a:t>
            </a:r>
          </a:p>
        </p:txBody>
      </p:sp>
      <p:sp>
        <p:nvSpPr>
          <p:cNvPr id="30" name="直接连接符 29">
            <a:extLst>
              <a:ext uri="{FF2B5EF4-FFF2-40B4-BE49-F238E27FC236}">
                <a16:creationId xmlns:a16="http://schemas.microsoft.com/office/drawing/2014/main" id="{DAF7D56D-922B-4AE6-AE2B-CC6D8266F1B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49576" y="3029048"/>
            <a:ext cx="209550" cy="846138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1" name="直接连接符 30">
            <a:extLst>
              <a:ext uri="{FF2B5EF4-FFF2-40B4-BE49-F238E27FC236}">
                <a16:creationId xmlns:a16="http://schemas.microsoft.com/office/drawing/2014/main" id="{DE5D901B-D20B-40AC-AEDF-6F08C6D7104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102100" y="3083023"/>
            <a:ext cx="1368425" cy="806450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2" name="直接连接符 31">
            <a:extLst>
              <a:ext uri="{FF2B5EF4-FFF2-40B4-BE49-F238E27FC236}">
                <a16:creationId xmlns:a16="http://schemas.microsoft.com/office/drawing/2014/main" id="{78C55220-F7D9-4D0A-906A-F2BF9A801E8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14535" y="2016223"/>
            <a:ext cx="1540315" cy="37528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3" name="直接连接符 32">
            <a:extLst>
              <a:ext uri="{FF2B5EF4-FFF2-40B4-BE49-F238E27FC236}">
                <a16:creationId xmlns:a16="http://schemas.microsoft.com/office/drawing/2014/main" id="{98DE3EA6-B0B3-4539-A93C-9A3F46B950E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77307" y="1883508"/>
            <a:ext cx="4392612" cy="431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6266869-BB10-4F80-B7F9-5AAF2A2862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3175" y="4700686"/>
            <a:ext cx="40989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800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个体常</a:t>
            </a:r>
            <a:r>
              <a:rPr lang="zh-CN" altLang="en-US" sz="180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元</a:t>
            </a:r>
            <a:r>
              <a:rPr lang="en-US" altLang="zh-CN" sz="180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(a,b,…)</a:t>
            </a:r>
            <a:r>
              <a:rPr lang="zh-CN" altLang="en-US" sz="180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、个体变元</a:t>
            </a:r>
            <a:r>
              <a:rPr lang="en-US" altLang="zh-CN" sz="180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(x,y,…)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49E1114-4F82-4A8E-AF41-926273D0F6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7975" y="4608611"/>
            <a:ext cx="4995863" cy="132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600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表示性质、关系。</a:t>
            </a:r>
          </a:p>
          <a:p>
            <a:r>
              <a:rPr lang="zh-CN" altLang="en-US" sz="1600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谓词常元、谓词变元(P,Q,…)，</a:t>
            </a:r>
          </a:p>
          <a:p>
            <a:r>
              <a:rPr lang="zh-CN" altLang="en-US" sz="1600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n元谓词,</a:t>
            </a:r>
            <a:endParaRPr lang="zh-CN" altLang="en-US" sz="16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16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命题函数</a:t>
            </a:r>
            <a:r>
              <a:rPr lang="en-US" altLang="zh-CN" sz="16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6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谓词命名式</a:t>
            </a:r>
            <a:r>
              <a:rPr lang="zh-CN" altLang="en-US" sz="1600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，如G(x,y)</a:t>
            </a:r>
            <a:r>
              <a:rPr lang="en-US" altLang="zh-CN" sz="1600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,x,y</a:t>
            </a:r>
            <a:r>
              <a:rPr lang="zh-CN" altLang="en-US" sz="1600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仅表示占位），</a:t>
            </a:r>
          </a:p>
          <a:p>
            <a:r>
              <a:rPr lang="zh-CN" altLang="en-US" sz="160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谓词填式</a:t>
            </a:r>
            <a:r>
              <a:rPr lang="zh-CN" altLang="en-US" sz="1600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G(x,</a:t>
            </a:r>
            <a:r>
              <a:rPr lang="en-US" altLang="zh-CN" sz="1600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sz="1600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)（</a:t>
            </a:r>
            <a:r>
              <a:rPr lang="en-US" altLang="zh-CN" sz="1600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en-US" sz="1600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个体变元，</a:t>
            </a:r>
            <a:r>
              <a:rPr lang="en-US" altLang="zh-CN" sz="1600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sz="1600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个体常量）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24CFB85-C225-4A5A-8E69-178E9A130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50" y="1435198"/>
            <a:ext cx="3246438" cy="707886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>
                <a:latin typeface="Arial" panose="020B0604020202020204" pitchFamily="34" charset="0"/>
                <a:ea typeface="黑体" panose="02010609060101010101" pitchFamily="49" charset="-122"/>
              </a:rPr>
              <a:t>论域？个体域，全总个体域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5CD30FB-B043-488E-A0B5-075C51F41F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5213" y="2268636"/>
            <a:ext cx="2843212" cy="1198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>
                <a:solidFill>
                  <a:srgbClr val="003366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 </a:t>
            </a:r>
            <a:r>
              <a:rPr lang="en-US" altLang="zh-CN" sz="2400">
                <a:solidFill>
                  <a:srgbClr val="003366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Existential ~</a:t>
            </a:r>
          </a:p>
          <a:p>
            <a:pPr>
              <a:buFont typeface="Symbol" panose="05050102010706020507" pitchFamily="18" charset="2"/>
              <a:buChar char="&quot;"/>
            </a:pPr>
            <a:r>
              <a:rPr lang="en-US" altLang="zh-CN" sz="2400">
                <a:solidFill>
                  <a:srgbClr val="003366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Universal ~</a:t>
            </a:r>
          </a:p>
          <a:p>
            <a:pPr>
              <a:buFont typeface="Symbol" panose="05050102010706020507" pitchFamily="18" charset="2"/>
              <a:buNone/>
            </a:pPr>
            <a:r>
              <a:rPr lang="en-US" altLang="zh-CN" sz="2400">
                <a:solidFill>
                  <a:srgbClr val="003366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  (All)</a:t>
            </a:r>
          </a:p>
        </p:txBody>
      </p:sp>
    </p:spTree>
    <p:extLst>
      <p:ext uri="{BB962C8B-B14F-4D97-AF65-F5344CB8AC3E}">
        <p14:creationId xmlns:p14="http://schemas.microsoft.com/office/powerpoint/2010/main" val="1731015565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bldLvl="0" animBg="1"/>
      <p:bldP spid="28" grpId="0" bldLvl="0" animBg="1"/>
      <p:bldP spid="29" grpId="0" bldLvl="0" animBg="1"/>
      <p:bldP spid="34" grpId="0"/>
      <p:bldP spid="35" grpId="0"/>
      <p:bldP spid="36" grpId="0" bldLvl="0" animBg="1"/>
      <p:bldP spid="37" grpId="0"/>
      <p:bldP spid="37" grpId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文本占位符 15362">
            <a:extLst>
              <a:ext uri="{FF2B5EF4-FFF2-40B4-BE49-F238E27FC236}">
                <a16:creationId xmlns:a16="http://schemas.microsoft.com/office/drawing/2014/main" id="{FB5E6FC9-5E4B-44FB-AB31-AB39D7A5672A}"/>
              </a:ext>
            </a:extLst>
          </p:cNvPr>
          <p:cNvSpPr txBox="1">
            <a:spLocks noChangeArrowheads="1"/>
          </p:cNvSpPr>
          <p:nvPr/>
        </p:nvSpPr>
        <p:spPr>
          <a:xfrm>
            <a:off x="2060917" y="1362075"/>
            <a:ext cx="8229600" cy="41338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chemeClr val="tx1"/>
              </a:buClr>
              <a:buFontTx/>
              <a:buNone/>
            </a:pPr>
            <a:r>
              <a:rPr lang="zh-CN" altLang="en-US" sz="2400" b="1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有一个整数大于其他每个整数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3CFDADA-9108-46BE-8F77-EB3B0B9BE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2030" y="2873375"/>
            <a:ext cx="8353425" cy="209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Symbol" panose="05050102010706020507" pitchFamily="18" charset="2"/>
              <a:buNone/>
            </a:pPr>
            <a:r>
              <a:rPr lang="zh-CN" altLang="en-US" sz="2400" dirty="0">
                <a:solidFill>
                  <a:srgbClr val="006600"/>
                </a:solidFill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论域为整数集合：</a:t>
            </a:r>
            <a:r>
              <a:rPr lang="en-US" altLang="zh-CN" sz="2400" dirty="0">
                <a:solidFill>
                  <a:srgbClr val="0066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x</a:t>
            </a:r>
            <a:r>
              <a:rPr lang="en-US" altLang="zh-CN" sz="2400" dirty="0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</a:t>
            </a:r>
            <a:r>
              <a:rPr lang="en-US" altLang="zh-CN" sz="2400" dirty="0">
                <a:solidFill>
                  <a:srgbClr val="006600"/>
                </a:solidFill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</a:t>
            </a:r>
            <a:r>
              <a:rPr lang="en-US" altLang="zh-CN" sz="2400" dirty="0" err="1">
                <a:solidFill>
                  <a:srgbClr val="0066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yG</a:t>
            </a:r>
            <a:r>
              <a:rPr lang="en-US" altLang="zh-CN" sz="2400" dirty="0">
                <a:solidFill>
                  <a:srgbClr val="0066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</a:t>
            </a:r>
            <a:r>
              <a:rPr lang="en-US" altLang="zh-CN" sz="2400" dirty="0" err="1">
                <a:solidFill>
                  <a:srgbClr val="0066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x,y</a:t>
            </a:r>
            <a:r>
              <a:rPr lang="en-US" altLang="zh-CN" sz="2400" dirty="0">
                <a:solidFill>
                  <a:srgbClr val="0066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  <a:r>
              <a:rPr lang="en-US" altLang="zh-CN" sz="2400" dirty="0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</a:p>
          <a:p>
            <a:pPr>
              <a:buFont typeface="Symbol" panose="05050102010706020507" pitchFamily="18" charset="2"/>
              <a:buNone/>
            </a:pPr>
            <a:endParaRPr lang="en-US" altLang="zh-CN" sz="2000" dirty="0">
              <a:solidFill>
                <a:srgbClr val="CC33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>
              <a:buFont typeface="Symbol" panose="05050102010706020507" pitchFamily="18" charset="2"/>
              <a:buNone/>
            </a:pPr>
            <a:r>
              <a:rPr lang="zh-CN" altLang="en-US" sz="2400" dirty="0">
                <a:solidFill>
                  <a:srgbClr val="006600"/>
                </a:solidFill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论域为全总域：</a:t>
            </a:r>
            <a:r>
              <a:rPr lang="zh-CN" altLang="en-US" sz="1400" dirty="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olidFill>
                  <a:srgbClr val="006600"/>
                </a:solidFill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</a:t>
            </a:r>
            <a:r>
              <a:rPr lang="en-US" altLang="zh-CN" sz="2400" dirty="0">
                <a:solidFill>
                  <a:srgbClr val="0066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x</a:t>
            </a:r>
            <a:r>
              <a:rPr lang="en-US" altLang="zh-CN" sz="2400" dirty="0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</a:t>
            </a:r>
            <a:r>
              <a:rPr lang="en-US" altLang="zh-CN" sz="2400" dirty="0">
                <a:solidFill>
                  <a:srgbClr val="0066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Z(x)</a:t>
            </a:r>
            <a:r>
              <a:rPr lang="en-US" altLang="zh-CN" sz="2400" dirty="0">
                <a:solidFill>
                  <a:srgbClr val="006600"/>
                </a:solidFill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</a:t>
            </a:r>
            <a:r>
              <a:rPr lang="en-US" altLang="zh-CN" sz="2400" dirty="0">
                <a:solidFill>
                  <a:srgbClr val="0066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y</a:t>
            </a:r>
            <a:r>
              <a:rPr lang="en-US" altLang="zh-CN" sz="2400" dirty="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</a:t>
            </a:r>
            <a:r>
              <a:rPr lang="en-US" altLang="zh-CN" sz="2400" dirty="0">
                <a:solidFill>
                  <a:srgbClr val="0066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Z(y) </a:t>
            </a:r>
            <a:r>
              <a:rPr lang="en-US" altLang="zh-CN" sz="2400" dirty="0">
                <a:solidFill>
                  <a:srgbClr val="006600"/>
                </a:solidFill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 </a:t>
            </a:r>
            <a:r>
              <a:rPr lang="en-US" altLang="zh-CN" sz="2400" dirty="0">
                <a:solidFill>
                  <a:srgbClr val="0066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G(</a:t>
            </a:r>
            <a:r>
              <a:rPr lang="en-US" altLang="zh-CN" sz="2400" dirty="0" err="1">
                <a:solidFill>
                  <a:srgbClr val="0066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x,y</a:t>
            </a:r>
            <a:r>
              <a:rPr lang="en-US" altLang="zh-CN" sz="2400" dirty="0">
                <a:solidFill>
                  <a:srgbClr val="0066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  <a:r>
              <a:rPr lang="en-US" altLang="zh-CN" sz="2400" dirty="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  <a:r>
              <a:rPr lang="en-US" altLang="zh-CN" sz="2400" dirty="0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</a:p>
          <a:p>
            <a:endParaRPr lang="en-US" altLang="zh-CN" sz="2000" dirty="0">
              <a:solidFill>
                <a:srgbClr val="CC33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endParaRPr lang="en-US" altLang="zh-CN" sz="1800" dirty="0">
              <a:solidFill>
                <a:srgbClr val="CC3300"/>
              </a:solidFill>
              <a:latin typeface="Arial" panose="020B0604020202020204" pitchFamily="34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r>
              <a:rPr lang="en-US" altLang="zh-CN" sz="2400" dirty="0">
                <a:solidFill>
                  <a:srgbClr val="006600"/>
                </a:solidFill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 </a:t>
            </a:r>
            <a:r>
              <a:rPr lang="en-US" altLang="zh-CN" sz="2400" dirty="0">
                <a:solidFill>
                  <a:srgbClr val="0066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x</a:t>
            </a:r>
            <a:r>
              <a:rPr lang="en-US" altLang="zh-CN" sz="2400" dirty="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</a:t>
            </a:r>
            <a:r>
              <a:rPr lang="en-US" altLang="zh-CN" sz="2400" dirty="0">
                <a:solidFill>
                  <a:srgbClr val="0066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Z(x)</a:t>
            </a:r>
            <a:r>
              <a:rPr lang="en-US" altLang="zh-CN" sz="2400" dirty="0">
                <a:solidFill>
                  <a:srgbClr val="006600"/>
                </a:solidFill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</a:t>
            </a:r>
            <a:r>
              <a:rPr lang="en-US" altLang="zh-CN" sz="2400" dirty="0">
                <a:solidFill>
                  <a:srgbClr val="0066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y</a:t>
            </a:r>
            <a:r>
              <a:rPr lang="en-US" altLang="zh-CN" sz="2400" dirty="0">
                <a:solidFill>
                  <a:srgbClr val="3333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</a:t>
            </a:r>
            <a:r>
              <a:rPr lang="en-US" altLang="zh-CN" sz="2400" dirty="0">
                <a:solidFill>
                  <a:srgbClr val="CC66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</a:t>
            </a:r>
            <a:r>
              <a:rPr lang="en-US" altLang="zh-CN" sz="2400" dirty="0">
                <a:solidFill>
                  <a:srgbClr val="0066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Z(y) </a:t>
            </a:r>
            <a:r>
              <a:rPr lang="en-US" altLang="zh-CN" sz="2400" dirty="0">
                <a:solidFill>
                  <a:srgbClr val="006600"/>
                </a:solidFill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N(</a:t>
            </a:r>
            <a:r>
              <a:rPr lang="en-US" altLang="zh-CN" sz="2400" dirty="0" err="1">
                <a:solidFill>
                  <a:srgbClr val="006600"/>
                </a:solidFill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x,y</a:t>
            </a:r>
            <a:r>
              <a:rPr lang="en-US" altLang="zh-CN" sz="2400" dirty="0">
                <a:solidFill>
                  <a:srgbClr val="006600"/>
                </a:solidFill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)</a:t>
            </a:r>
            <a:r>
              <a:rPr lang="en-US" altLang="zh-CN" sz="2400" dirty="0">
                <a:solidFill>
                  <a:srgbClr val="CC6600"/>
                </a:solidFill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)</a:t>
            </a:r>
            <a:r>
              <a:rPr lang="en-US" altLang="zh-CN" sz="2400" dirty="0">
                <a:solidFill>
                  <a:srgbClr val="0066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sz="2400" dirty="0">
                <a:solidFill>
                  <a:srgbClr val="006600"/>
                </a:solidFill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 </a:t>
            </a:r>
            <a:r>
              <a:rPr lang="en-US" altLang="zh-CN" sz="2400" dirty="0">
                <a:solidFill>
                  <a:srgbClr val="0066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G(</a:t>
            </a:r>
            <a:r>
              <a:rPr lang="en-US" altLang="zh-CN" sz="2400" dirty="0" err="1">
                <a:solidFill>
                  <a:srgbClr val="0066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x,y</a:t>
            </a:r>
            <a:r>
              <a:rPr lang="en-US" altLang="zh-CN" sz="2400" dirty="0">
                <a:solidFill>
                  <a:srgbClr val="0066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  <a:r>
              <a:rPr lang="en-US" altLang="zh-CN" sz="2400" dirty="0">
                <a:solidFill>
                  <a:srgbClr val="3333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  <a:r>
              <a:rPr lang="en-US" altLang="zh-CN" sz="2400" dirty="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7" name="直接连接符 6">
            <a:extLst>
              <a:ext uri="{FF2B5EF4-FFF2-40B4-BE49-F238E27FC236}">
                <a16:creationId xmlns:a16="http://schemas.microsoft.com/office/drawing/2014/main" id="{5458EB46-6887-4153-8B3B-88D14F2008B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2780" y="2035175"/>
            <a:ext cx="720725" cy="0"/>
          </a:xfrm>
          <a:prstGeom prst="line">
            <a:avLst/>
          </a:prstGeom>
          <a:noFill/>
          <a:ln w="57150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3725406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7" name="内容占位符 16386">
            <a:extLst>
              <a:ext uri="{FF2B5EF4-FFF2-40B4-BE49-F238E27FC236}">
                <a16:creationId xmlns:a16="http://schemas.microsoft.com/office/drawing/2014/main" id="{47B556C8-294C-42FD-B609-482676C3147D}"/>
              </a:ext>
            </a:extLst>
          </p:cNvPr>
          <p:cNvSpPr txBox="1">
            <a:spLocks noChangeArrowheads="1"/>
          </p:cNvSpPr>
          <p:nvPr/>
        </p:nvSpPr>
        <p:spPr>
          <a:xfrm>
            <a:off x="1892103" y="653782"/>
            <a:ext cx="9228407" cy="41338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5000"/>
              </a:lnSpc>
              <a:buClr>
                <a:schemeClr val="tx1"/>
              </a:buClr>
              <a:buFontTx/>
              <a:buNone/>
            </a:pPr>
            <a:r>
              <a:rPr lang="en-US" altLang="zh-CN" b="1" dirty="0">
                <a:solidFill>
                  <a:srgbClr val="3333FF"/>
                </a:solidFill>
                <a:latin typeface="+mn-ea"/>
              </a:rPr>
              <a:t>2  “</a:t>
            </a:r>
            <a:r>
              <a:rPr lang="zh-CN" altLang="en-US" b="1" dirty="0">
                <a:solidFill>
                  <a:srgbClr val="3333FF"/>
                </a:solidFill>
                <a:latin typeface="+mn-ea"/>
              </a:rPr>
              <a:t>任给</a:t>
            </a:r>
            <a:r>
              <a:rPr lang="zh-CN" altLang="en-US" b="1" dirty="0">
                <a:solidFill>
                  <a:srgbClr val="3333FF"/>
                </a:solidFill>
                <a:latin typeface="+mn-ea"/>
                <a:sym typeface="Symbol" panose="05050102010706020507" pitchFamily="18" charset="2"/>
              </a:rPr>
              <a:t></a:t>
            </a:r>
            <a:r>
              <a:rPr lang="en-US" altLang="zh-CN" b="1" dirty="0">
                <a:solidFill>
                  <a:srgbClr val="3333FF"/>
                </a:solidFill>
                <a:latin typeface="+mn-ea"/>
              </a:rPr>
              <a:t>&gt;0</a:t>
            </a:r>
            <a:r>
              <a:rPr lang="zh-CN" altLang="en-US" b="1" dirty="0">
                <a:solidFill>
                  <a:srgbClr val="3333FF"/>
                </a:solidFill>
                <a:latin typeface="+mn-ea"/>
              </a:rPr>
              <a:t>，存在</a:t>
            </a:r>
            <a:r>
              <a:rPr lang="zh-CN" altLang="en-US" b="1" dirty="0">
                <a:solidFill>
                  <a:srgbClr val="3333FF"/>
                </a:solidFill>
                <a:latin typeface="+mn-ea"/>
                <a:sym typeface="Symbol" panose="05050102010706020507" pitchFamily="18" charset="2"/>
              </a:rPr>
              <a:t></a:t>
            </a:r>
            <a:r>
              <a:rPr lang="en-US" altLang="zh-CN" b="1" dirty="0">
                <a:solidFill>
                  <a:srgbClr val="3333FF"/>
                </a:solidFill>
                <a:latin typeface="+mn-ea"/>
              </a:rPr>
              <a:t>&gt;0</a:t>
            </a:r>
            <a:r>
              <a:rPr lang="zh-CN" altLang="en-US" b="1" dirty="0">
                <a:solidFill>
                  <a:srgbClr val="3333FF"/>
                </a:solidFill>
                <a:latin typeface="+mn-ea"/>
              </a:rPr>
              <a:t>，如果</a:t>
            </a:r>
            <a:r>
              <a:rPr lang="en-US" altLang="zh-CN" b="1" dirty="0">
                <a:solidFill>
                  <a:srgbClr val="3333FF"/>
                </a:solidFill>
                <a:latin typeface="+mn-ea"/>
              </a:rPr>
              <a:t>|x-a|&lt;</a:t>
            </a:r>
            <a:r>
              <a:rPr lang="en-US" altLang="zh-CN" b="1" dirty="0">
                <a:solidFill>
                  <a:srgbClr val="3333FF"/>
                </a:solidFill>
                <a:latin typeface="+mn-ea"/>
                <a:sym typeface="Symbol" panose="05050102010706020507" pitchFamily="18" charset="2"/>
              </a:rPr>
              <a:t></a:t>
            </a:r>
            <a:r>
              <a:rPr lang="zh-CN" altLang="en-US" b="1" dirty="0">
                <a:solidFill>
                  <a:srgbClr val="3333FF"/>
                </a:solidFill>
                <a:latin typeface="+mn-ea"/>
              </a:rPr>
              <a:t>，则</a:t>
            </a:r>
            <a:r>
              <a:rPr lang="en-US" altLang="zh-CN" b="1" dirty="0">
                <a:solidFill>
                  <a:srgbClr val="3333FF"/>
                </a:solidFill>
                <a:latin typeface="+mn-ea"/>
              </a:rPr>
              <a:t>|f(x)-b|&lt;</a:t>
            </a:r>
            <a:r>
              <a:rPr lang="en-US" altLang="zh-CN" b="1" dirty="0">
                <a:solidFill>
                  <a:srgbClr val="3333FF"/>
                </a:solidFill>
                <a:latin typeface="+mn-ea"/>
                <a:sym typeface="Symbol" panose="05050102010706020507" pitchFamily="18" charset="2"/>
              </a:rPr>
              <a:t></a:t>
            </a:r>
            <a:r>
              <a:rPr lang="en-US" altLang="zh-CN" b="1" dirty="0">
                <a:solidFill>
                  <a:srgbClr val="3333FF"/>
                </a:solidFill>
                <a:latin typeface="+mn-ea"/>
              </a:rPr>
              <a:t>”</a:t>
            </a:r>
            <a:r>
              <a:rPr lang="en-US" altLang="zh-CN" b="1" dirty="0">
                <a:latin typeface="+mn-ea"/>
              </a:rPr>
              <a:t> </a:t>
            </a:r>
            <a:r>
              <a:rPr lang="zh-CN" altLang="en-US" b="1" dirty="0">
                <a:solidFill>
                  <a:srgbClr val="006600"/>
                </a:solidFill>
                <a:latin typeface="+mn-ea"/>
              </a:rPr>
              <a:t>（实数域）</a:t>
            </a:r>
          </a:p>
          <a:p>
            <a:pPr>
              <a:lnSpc>
                <a:spcPct val="145000"/>
              </a:lnSpc>
              <a:buClr>
                <a:schemeClr val="tx1"/>
              </a:buClr>
              <a:buFontTx/>
              <a:buNone/>
            </a:pPr>
            <a:r>
              <a:rPr lang="zh-CN" altLang="en-US" b="1" dirty="0">
                <a:latin typeface="+mn-ea"/>
              </a:rPr>
              <a:t>	</a:t>
            </a:r>
            <a:r>
              <a:rPr lang="en-US" altLang="zh-CN" b="1" dirty="0">
                <a:latin typeface="+mn-ea"/>
              </a:rPr>
              <a:t>(</a:t>
            </a:r>
            <a:r>
              <a:rPr lang="en-US" altLang="zh-CN" b="1" dirty="0">
                <a:latin typeface="+mn-ea"/>
                <a:sym typeface="Symbol" panose="05050102010706020507" pitchFamily="18" charset="2"/>
              </a:rPr>
              <a:t></a:t>
            </a:r>
            <a:r>
              <a:rPr lang="en-US" altLang="zh-CN" b="1" i="1" dirty="0">
                <a:latin typeface="+mn-ea"/>
                <a:sym typeface="Symbol" panose="05050102010706020507" pitchFamily="18" charset="2"/>
              </a:rPr>
              <a:t></a:t>
            </a:r>
            <a:r>
              <a:rPr lang="en-US" altLang="zh-CN" b="1" dirty="0">
                <a:latin typeface="+mn-ea"/>
              </a:rPr>
              <a:t>)</a:t>
            </a:r>
            <a:r>
              <a:rPr lang="en-US" altLang="zh-CN" b="1" dirty="0">
                <a:solidFill>
                  <a:srgbClr val="3333FF"/>
                </a:solidFill>
                <a:latin typeface="+mn-ea"/>
              </a:rPr>
              <a:t>(</a:t>
            </a:r>
            <a:r>
              <a:rPr lang="en-US" altLang="zh-CN" b="1" dirty="0">
                <a:latin typeface="+mn-ea"/>
              </a:rPr>
              <a:t>(</a:t>
            </a:r>
            <a:r>
              <a:rPr lang="en-US" altLang="zh-CN" b="1" i="1" dirty="0">
                <a:latin typeface="+mn-ea"/>
                <a:sym typeface="Symbol" panose="05050102010706020507" pitchFamily="18" charset="2"/>
              </a:rPr>
              <a:t></a:t>
            </a:r>
            <a:r>
              <a:rPr lang="en-US" altLang="zh-CN" b="1" i="1" dirty="0">
                <a:latin typeface="+mn-ea"/>
              </a:rPr>
              <a:t> </a:t>
            </a:r>
            <a:r>
              <a:rPr lang="en-US" altLang="zh-CN" b="1" dirty="0">
                <a:latin typeface="+mn-ea"/>
              </a:rPr>
              <a:t>&gt;0)</a:t>
            </a:r>
            <a:r>
              <a:rPr lang="en-US" altLang="zh-CN" b="1" dirty="0">
                <a:latin typeface="+mn-ea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+mn-ea"/>
              </a:rPr>
              <a:t>(</a:t>
            </a:r>
            <a:r>
              <a:rPr lang="en-US" altLang="zh-CN" b="1" dirty="0">
                <a:latin typeface="+mn-ea"/>
                <a:sym typeface="Symbol" panose="05050102010706020507" pitchFamily="18" charset="2"/>
              </a:rPr>
              <a:t></a:t>
            </a:r>
            <a:r>
              <a:rPr lang="en-US" altLang="zh-CN" b="1" i="1" dirty="0">
                <a:latin typeface="+mn-ea"/>
                <a:sym typeface="Symbol" panose="05050102010706020507" pitchFamily="18" charset="2"/>
              </a:rPr>
              <a:t></a:t>
            </a:r>
            <a:r>
              <a:rPr lang="en-US" altLang="zh-CN" b="1" dirty="0">
                <a:latin typeface="+mn-ea"/>
              </a:rPr>
              <a:t>)</a:t>
            </a:r>
            <a:r>
              <a:rPr lang="en-US" altLang="zh-CN" b="1" dirty="0">
                <a:solidFill>
                  <a:srgbClr val="CC3300"/>
                </a:solidFill>
                <a:latin typeface="+mn-ea"/>
              </a:rPr>
              <a:t>(</a:t>
            </a:r>
            <a:r>
              <a:rPr lang="en-US" altLang="zh-CN" b="1" dirty="0">
                <a:latin typeface="+mn-ea"/>
              </a:rPr>
              <a:t>(</a:t>
            </a:r>
            <a:r>
              <a:rPr lang="en-US" altLang="zh-CN" b="1" i="1" dirty="0">
                <a:latin typeface="+mn-ea"/>
                <a:sym typeface="Symbol" panose="05050102010706020507" pitchFamily="18" charset="2"/>
              </a:rPr>
              <a:t></a:t>
            </a:r>
            <a:r>
              <a:rPr lang="en-US" altLang="zh-CN" b="1" dirty="0">
                <a:latin typeface="+mn-ea"/>
              </a:rPr>
              <a:t>&gt;0)</a:t>
            </a:r>
            <a:r>
              <a:rPr lang="en-US" altLang="zh-CN" b="1" dirty="0">
                <a:latin typeface="+mn-ea"/>
                <a:sym typeface="Symbol" panose="05050102010706020507" pitchFamily="18" charset="2"/>
              </a:rPr>
              <a:t></a:t>
            </a:r>
            <a:r>
              <a:rPr lang="en-US" altLang="zh-CN" b="1" dirty="0">
                <a:latin typeface="+mn-ea"/>
              </a:rPr>
              <a:t>((|</a:t>
            </a:r>
            <a:r>
              <a:rPr lang="en-US" altLang="zh-CN" b="1" i="1" dirty="0">
                <a:latin typeface="+mn-ea"/>
              </a:rPr>
              <a:t>x</a:t>
            </a:r>
            <a:r>
              <a:rPr lang="en-US" altLang="zh-CN" b="1" dirty="0">
                <a:latin typeface="+mn-ea"/>
              </a:rPr>
              <a:t>-</a:t>
            </a:r>
            <a:r>
              <a:rPr lang="en-US" altLang="zh-CN" b="1" i="1" dirty="0">
                <a:latin typeface="+mn-ea"/>
              </a:rPr>
              <a:t>a</a:t>
            </a:r>
            <a:r>
              <a:rPr lang="en-US" altLang="zh-CN" b="1" dirty="0">
                <a:latin typeface="+mn-ea"/>
              </a:rPr>
              <a:t>|&lt;</a:t>
            </a:r>
            <a:r>
              <a:rPr lang="en-US" altLang="zh-CN" b="1" i="1" dirty="0">
                <a:latin typeface="+mn-ea"/>
                <a:sym typeface="Symbol" panose="05050102010706020507" pitchFamily="18" charset="2"/>
              </a:rPr>
              <a:t></a:t>
            </a:r>
            <a:r>
              <a:rPr lang="en-US" altLang="zh-CN" b="1" dirty="0">
                <a:latin typeface="+mn-ea"/>
              </a:rPr>
              <a:t>)</a:t>
            </a:r>
            <a:r>
              <a:rPr lang="en-US" altLang="zh-CN" b="1" dirty="0">
                <a:latin typeface="+mn-ea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+mn-ea"/>
              </a:rPr>
              <a:t>(</a:t>
            </a:r>
            <a:r>
              <a:rPr lang="en-US" altLang="zh-CN" b="1" i="1" dirty="0">
                <a:latin typeface="+mn-ea"/>
              </a:rPr>
              <a:t>f</a:t>
            </a:r>
            <a:r>
              <a:rPr lang="en-US" altLang="zh-CN" b="1" dirty="0">
                <a:latin typeface="+mn-ea"/>
              </a:rPr>
              <a:t>(</a:t>
            </a:r>
            <a:r>
              <a:rPr lang="en-US" altLang="zh-CN" b="1" i="1" dirty="0">
                <a:latin typeface="+mn-ea"/>
              </a:rPr>
              <a:t>x</a:t>
            </a:r>
            <a:r>
              <a:rPr lang="en-US" altLang="zh-CN" b="1" dirty="0">
                <a:latin typeface="+mn-ea"/>
              </a:rPr>
              <a:t>)-</a:t>
            </a:r>
            <a:r>
              <a:rPr lang="en-US" altLang="zh-CN" b="1" i="1" dirty="0">
                <a:latin typeface="+mn-ea"/>
              </a:rPr>
              <a:t>b</a:t>
            </a:r>
            <a:r>
              <a:rPr lang="en-US" altLang="zh-CN" b="1" dirty="0">
                <a:latin typeface="+mn-ea"/>
              </a:rPr>
              <a:t>|&lt;</a:t>
            </a:r>
            <a:r>
              <a:rPr lang="en-US" altLang="zh-CN" b="1" i="1" dirty="0">
                <a:latin typeface="+mn-ea"/>
                <a:sym typeface="Symbol" panose="05050102010706020507" pitchFamily="18" charset="2"/>
              </a:rPr>
              <a:t></a:t>
            </a:r>
            <a:r>
              <a:rPr lang="en-US" altLang="zh-CN" b="1" dirty="0">
                <a:latin typeface="+mn-ea"/>
              </a:rPr>
              <a:t>))</a:t>
            </a:r>
            <a:r>
              <a:rPr lang="en-US" altLang="zh-CN" b="1" dirty="0">
                <a:solidFill>
                  <a:srgbClr val="CC3300"/>
                </a:solidFill>
                <a:latin typeface="+mn-ea"/>
              </a:rPr>
              <a:t>)</a:t>
            </a:r>
            <a:r>
              <a:rPr lang="en-US" altLang="zh-CN" b="1" dirty="0">
                <a:solidFill>
                  <a:srgbClr val="3333FF"/>
                </a:solidFill>
                <a:latin typeface="+mn-ea"/>
              </a:rPr>
              <a:t>)</a:t>
            </a:r>
          </a:p>
          <a:p>
            <a:pPr>
              <a:lnSpc>
                <a:spcPct val="145000"/>
              </a:lnSpc>
              <a:buClr>
                <a:schemeClr val="tx1"/>
              </a:buClr>
              <a:buFontTx/>
              <a:buNone/>
            </a:pPr>
            <a:r>
              <a:rPr lang="en-US" altLang="zh-CN" b="1" dirty="0">
                <a:solidFill>
                  <a:srgbClr val="3333FF"/>
                </a:solidFill>
                <a:latin typeface="+mn-ea"/>
              </a:rPr>
              <a:t>3  </a:t>
            </a:r>
            <a:r>
              <a:rPr lang="zh-CN" altLang="en-US" b="1" dirty="0">
                <a:solidFill>
                  <a:srgbClr val="3333FF"/>
                </a:solidFill>
                <a:latin typeface="+mn-ea"/>
              </a:rPr>
              <a:t>苏格拉底三段论：“人都是要死的，苏格拉底是人，所以苏格拉底是要死的。”</a:t>
            </a:r>
            <a:r>
              <a:rPr lang="zh-CN" altLang="en-US" b="1" dirty="0">
                <a:solidFill>
                  <a:schemeClr val="accent2"/>
                </a:solidFill>
                <a:latin typeface="+mn-ea"/>
              </a:rPr>
              <a:t>  </a:t>
            </a:r>
            <a:r>
              <a:rPr lang="en-US" altLang="zh-CN" b="1" dirty="0">
                <a:solidFill>
                  <a:srgbClr val="006600"/>
                </a:solidFill>
                <a:latin typeface="+mn-ea"/>
              </a:rPr>
              <a:t>(</a:t>
            </a:r>
            <a:r>
              <a:rPr lang="zh-CN" altLang="en-US" b="1" dirty="0">
                <a:solidFill>
                  <a:srgbClr val="006600"/>
                </a:solidFill>
                <a:latin typeface="+mn-ea"/>
              </a:rPr>
              <a:t>全总个体域</a:t>
            </a:r>
            <a:r>
              <a:rPr lang="en-US" altLang="zh-CN" b="1" dirty="0">
                <a:solidFill>
                  <a:srgbClr val="006600"/>
                </a:solidFill>
                <a:latin typeface="+mn-ea"/>
              </a:rPr>
              <a:t>)</a:t>
            </a:r>
          </a:p>
          <a:p>
            <a:pPr>
              <a:lnSpc>
                <a:spcPct val="145000"/>
              </a:lnSpc>
              <a:buClr>
                <a:schemeClr val="tx1"/>
              </a:buClr>
              <a:buFontTx/>
              <a:buNone/>
            </a:pPr>
            <a:r>
              <a:rPr lang="en-US" altLang="zh-CN" b="1" dirty="0">
                <a:latin typeface="+mn-ea"/>
              </a:rPr>
              <a:t>	</a:t>
            </a:r>
            <a:r>
              <a:rPr lang="zh-CN" altLang="en-US" b="1" dirty="0">
                <a:latin typeface="+mn-ea"/>
              </a:rPr>
              <a:t>令</a:t>
            </a:r>
            <a:r>
              <a:rPr lang="en-US" altLang="zh-CN" b="1" dirty="0">
                <a:latin typeface="+mn-ea"/>
              </a:rPr>
              <a:t>F(x)</a:t>
            </a:r>
            <a:r>
              <a:rPr lang="zh-CN" altLang="en-US" b="1" dirty="0">
                <a:latin typeface="+mn-ea"/>
              </a:rPr>
              <a:t>：</a:t>
            </a:r>
            <a:r>
              <a:rPr lang="en-US" altLang="zh-CN" b="1" dirty="0">
                <a:latin typeface="+mn-ea"/>
              </a:rPr>
              <a:t>x</a:t>
            </a:r>
            <a:r>
              <a:rPr lang="zh-CN" altLang="en-US" b="1" dirty="0">
                <a:latin typeface="+mn-ea"/>
              </a:rPr>
              <a:t>是人，</a:t>
            </a:r>
            <a:r>
              <a:rPr lang="en-US" altLang="zh-CN" b="1" dirty="0">
                <a:latin typeface="+mn-ea"/>
              </a:rPr>
              <a:t>G(x)</a:t>
            </a:r>
            <a:r>
              <a:rPr lang="zh-CN" altLang="en-US" b="1" dirty="0">
                <a:latin typeface="+mn-ea"/>
              </a:rPr>
              <a:t>：</a:t>
            </a:r>
            <a:r>
              <a:rPr lang="en-US" altLang="zh-CN" b="1" dirty="0">
                <a:latin typeface="+mn-ea"/>
              </a:rPr>
              <a:t>x</a:t>
            </a:r>
            <a:r>
              <a:rPr lang="zh-CN" altLang="en-US" b="1" dirty="0">
                <a:latin typeface="+mn-ea"/>
              </a:rPr>
              <a:t>是要死的，</a:t>
            </a:r>
            <a:r>
              <a:rPr lang="en-US" altLang="zh-CN" b="1" dirty="0">
                <a:latin typeface="+mn-ea"/>
              </a:rPr>
              <a:t>a:</a:t>
            </a:r>
            <a:r>
              <a:rPr lang="zh-CN" altLang="en-US" b="1" dirty="0">
                <a:latin typeface="+mn-ea"/>
              </a:rPr>
              <a:t>苏格拉底，则可以形式化为：</a:t>
            </a:r>
          </a:p>
          <a:p>
            <a:pPr>
              <a:lnSpc>
                <a:spcPct val="145000"/>
              </a:lnSpc>
              <a:buClr>
                <a:schemeClr val="tx1"/>
              </a:buClr>
              <a:buFontTx/>
              <a:buNone/>
            </a:pPr>
            <a:r>
              <a:rPr lang="zh-CN" altLang="en-US" b="1" dirty="0">
                <a:latin typeface="+mn-ea"/>
              </a:rPr>
              <a:t>	前提：</a:t>
            </a:r>
            <a:r>
              <a:rPr lang="zh-CN" altLang="en-US" b="1" dirty="0">
                <a:latin typeface="+mn-ea"/>
                <a:sym typeface="Symbol" panose="05050102010706020507" pitchFamily="18" charset="2"/>
              </a:rPr>
              <a:t></a:t>
            </a:r>
            <a:r>
              <a:rPr lang="en-US" altLang="zh-CN" b="1" dirty="0">
                <a:latin typeface="+mn-ea"/>
              </a:rPr>
              <a:t>x(F(x)</a:t>
            </a:r>
            <a:r>
              <a:rPr lang="en-US" altLang="zh-CN" b="1" dirty="0">
                <a:latin typeface="+mn-ea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+mn-ea"/>
              </a:rPr>
              <a:t>G(x)), F(a) </a:t>
            </a:r>
          </a:p>
          <a:p>
            <a:pPr>
              <a:lnSpc>
                <a:spcPct val="145000"/>
              </a:lnSpc>
              <a:buClr>
                <a:schemeClr val="tx1"/>
              </a:buClr>
              <a:buFontTx/>
              <a:buNone/>
            </a:pPr>
            <a:r>
              <a:rPr lang="en-US" altLang="zh-CN" b="1" dirty="0">
                <a:latin typeface="+mn-ea"/>
              </a:rPr>
              <a:t>     </a:t>
            </a:r>
            <a:r>
              <a:rPr lang="zh-CN" altLang="en-US" b="1" dirty="0">
                <a:latin typeface="+mn-ea"/>
              </a:rPr>
              <a:t>结论：</a:t>
            </a:r>
            <a:r>
              <a:rPr lang="en-US" altLang="zh-CN" b="1" dirty="0">
                <a:latin typeface="+mn-ea"/>
              </a:rPr>
              <a:t>G(a)</a:t>
            </a:r>
          </a:p>
        </p:txBody>
      </p:sp>
    </p:spTree>
    <p:extLst>
      <p:ext uri="{BB962C8B-B14F-4D97-AF65-F5344CB8AC3E}">
        <p14:creationId xmlns:p14="http://schemas.microsoft.com/office/powerpoint/2010/main" val="1457943945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6" name="矩形 1028">
            <a:extLst>
              <a:ext uri="{FF2B5EF4-FFF2-40B4-BE49-F238E27FC236}">
                <a16:creationId xmlns:a16="http://schemas.microsoft.com/office/drawing/2014/main" id="{6E664949-A247-409E-AE17-204DAAE6EC17}"/>
              </a:ext>
            </a:extLst>
          </p:cNvPr>
          <p:cNvSpPr txBox="1">
            <a:spLocks noChangeArrowheads="1"/>
          </p:cNvSpPr>
          <p:nvPr/>
        </p:nvSpPr>
        <p:spPr>
          <a:xfrm>
            <a:off x="1751013" y="905107"/>
            <a:ext cx="7848600" cy="2287028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dirty="0"/>
              <a:t> 将下列命题符号化</a:t>
            </a:r>
            <a:br>
              <a:rPr lang="zh-CN" altLang="en-US" dirty="0"/>
            </a:br>
            <a:r>
              <a:rPr lang="zh-CN" altLang="en-US" dirty="0"/>
              <a:t>（1）兔子比乌龟跑得快。</a:t>
            </a:r>
            <a:br>
              <a:rPr lang="zh-CN" altLang="en-US" dirty="0"/>
            </a:br>
            <a:r>
              <a:rPr lang="zh-CN" altLang="en-US" dirty="0"/>
              <a:t>（2）有的兔子比所有的乌龟跑得快。</a:t>
            </a:r>
            <a:br>
              <a:rPr lang="zh-CN" altLang="en-US" dirty="0"/>
            </a:br>
            <a:r>
              <a:rPr lang="zh-CN" altLang="en-US" dirty="0"/>
              <a:t>（3）并不是所有的兔子都比乌龟跑得快。</a:t>
            </a:r>
            <a:br>
              <a:rPr lang="zh-CN" altLang="en-US" dirty="0"/>
            </a:br>
            <a:r>
              <a:rPr lang="zh-CN" altLang="en-US" dirty="0"/>
              <a:t>（4）不存在跑得同样快的两只兔子。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hlink"/>
                </a:solidFill>
              </a:rPr>
              <a:t>解</a:t>
            </a:r>
            <a:r>
              <a:rPr lang="zh-CN" altLang="en-US" dirty="0"/>
              <a:t>：</a:t>
            </a:r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17CE61B-42D2-4CD1-86EA-932B777226EE}"/>
              </a:ext>
            </a:extLst>
          </p:cNvPr>
          <p:cNvSpPr/>
          <p:nvPr/>
        </p:nvSpPr>
        <p:spPr>
          <a:xfrm>
            <a:off x="2386818" y="4078969"/>
            <a:ext cx="663262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（1）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xy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(F(x)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∧G(y)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7A542B0-B68E-4825-B283-425D02D9A481}"/>
              </a:ext>
            </a:extLst>
          </p:cNvPr>
          <p:cNvSpPr/>
          <p:nvPr/>
        </p:nvSpPr>
        <p:spPr>
          <a:xfrm>
            <a:off x="2592387" y="2951946"/>
            <a:ext cx="814026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令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F(x):x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是兔子，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G(y):y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是乌龟，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N(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≠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b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比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跑得快，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L(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跑得同样快。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C72805F-040E-4C31-AE2E-BDEB69EC96A5}"/>
              </a:ext>
            </a:extLst>
          </p:cNvPr>
          <p:cNvSpPr/>
          <p:nvPr/>
        </p:nvSpPr>
        <p:spPr>
          <a:xfrm>
            <a:off x="2386818" y="4775105"/>
            <a:ext cx="663262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（2） x(F(x)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y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(G(y)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F129B15-2D4C-4AFF-AE81-679158998811}"/>
              </a:ext>
            </a:extLst>
          </p:cNvPr>
          <p:cNvSpPr/>
          <p:nvPr/>
        </p:nvSpPr>
        <p:spPr>
          <a:xfrm>
            <a:off x="2386818" y="5429672"/>
            <a:ext cx="663262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（3）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┐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xy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(F(x)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∧G(y)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215CDC-EAB0-4EE5-A6A0-330FF3100969}"/>
              </a:ext>
            </a:extLst>
          </p:cNvPr>
          <p:cNvSpPr/>
          <p:nvPr/>
        </p:nvSpPr>
        <p:spPr>
          <a:xfrm>
            <a:off x="2447843" y="6162059"/>
            <a:ext cx="78924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（4）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┐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xy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(F(x)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∧F(y) ∧ N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∧L(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33305515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9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7D3BF72-0152-46FE-B706-CD2FA0794DDE}"/>
              </a:ext>
            </a:extLst>
          </p:cNvPr>
          <p:cNvSpPr txBox="1">
            <a:spLocks noChangeArrowheads="1"/>
          </p:cNvSpPr>
          <p:nvPr/>
        </p:nvSpPr>
        <p:spPr>
          <a:xfrm>
            <a:off x="1571625" y="1266215"/>
            <a:ext cx="8675687" cy="51133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3600" dirty="0"/>
              <a:t>用谓词逻辑符号化下述语句：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3600" dirty="0"/>
              <a:t>(1) </a:t>
            </a:r>
            <a:r>
              <a:rPr lang="zh-CN" altLang="en-US" sz="3600" dirty="0"/>
              <a:t>天下乌鸦一般黑；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3600" dirty="0"/>
              <a:t>(2) </a:t>
            </a:r>
            <a:r>
              <a:rPr lang="zh-CN" altLang="en-US" sz="3600" dirty="0"/>
              <a:t>没有人登上过木星；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3600" dirty="0"/>
              <a:t>(3) </a:t>
            </a:r>
            <a:r>
              <a:rPr lang="zh-CN" altLang="en-US" sz="3600" dirty="0"/>
              <a:t>在美国留学的学生未必都是亚洲人；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3600" dirty="0"/>
              <a:t>(4) </a:t>
            </a:r>
            <a:r>
              <a:rPr lang="zh-CN" altLang="en-US" sz="3600" dirty="0"/>
              <a:t>每个实数都存在比它大的另外的实数；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3600" dirty="0"/>
              <a:t>(5) </a:t>
            </a:r>
            <a:r>
              <a:rPr lang="zh-CN" altLang="en-US" sz="3600" dirty="0"/>
              <a:t>尽管有人很聪明，但未必一切人都聪明；</a:t>
            </a:r>
          </a:p>
        </p:txBody>
      </p:sp>
    </p:spTree>
    <p:extLst>
      <p:ext uri="{BB962C8B-B14F-4D97-AF65-F5344CB8AC3E}">
        <p14:creationId xmlns:p14="http://schemas.microsoft.com/office/powerpoint/2010/main" val="173135627"/>
      </p:ext>
    </p:extLst>
  </p:cSld>
  <p:clrMapOvr>
    <a:masterClrMapping/>
  </p:clrMapOvr>
  <p:transition spd="slow" advTm="0">
    <p:wip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974895E-04A8-458D-99BB-00D6B05B1555}"/>
              </a:ext>
            </a:extLst>
          </p:cNvPr>
          <p:cNvSpPr txBox="1">
            <a:spLocks noChangeArrowheads="1"/>
          </p:cNvSpPr>
          <p:nvPr/>
        </p:nvSpPr>
        <p:spPr>
          <a:xfrm>
            <a:off x="2325810" y="827131"/>
            <a:ext cx="8374063" cy="64611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）天下乌鸦一般黑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0BF68F6-1FDB-4B1C-A1C2-E1CC349FEE96}"/>
              </a:ext>
            </a:extLst>
          </p:cNvPr>
          <p:cNvSpPr/>
          <p:nvPr/>
        </p:nvSpPr>
        <p:spPr>
          <a:xfrm>
            <a:off x="2757729" y="4822919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┐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fr-FR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x(H(x)∧M(x)) 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1FB3693-5386-4AB0-AC64-4691D4D70EA4}"/>
              </a:ext>
            </a:extLst>
          </p:cNvPr>
          <p:cNvSpPr/>
          <p:nvPr/>
        </p:nvSpPr>
        <p:spPr>
          <a:xfrm>
            <a:off x="2223540" y="1453000"/>
            <a:ext cx="79480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F(x)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是乌鸦；</a:t>
            </a:r>
            <a:r>
              <a:rPr lang="fr-FR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G(x, y)</a:t>
            </a:r>
            <a:r>
              <a:rPr lang="zh-CN" alt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fr-FR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fr-FR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一般黑，则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fr-FR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E0C0A4C-7CE3-482C-A3CD-6EA38B4188EC}"/>
              </a:ext>
            </a:extLst>
          </p:cNvPr>
          <p:cNvSpPr/>
          <p:nvPr/>
        </p:nvSpPr>
        <p:spPr>
          <a:xfrm>
            <a:off x="2757729" y="2099114"/>
            <a:ext cx="438453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fr-FR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fr-FR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y(F(x)∧F(y)→G(x, y)) 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27D4200-5B2F-44C6-BCB4-F0573D9A59BE}"/>
              </a:ext>
            </a:extLst>
          </p:cNvPr>
          <p:cNvSpPr/>
          <p:nvPr/>
        </p:nvSpPr>
        <p:spPr>
          <a:xfrm>
            <a:off x="2674424" y="2752587"/>
            <a:ext cx="57743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或者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┐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fr-FR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fr-FR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y(F(x)∧F(y)∧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┐</a:t>
            </a:r>
            <a:r>
              <a:rPr lang="fr-FR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G(x, y))</a:t>
            </a:r>
            <a:r>
              <a:rPr lang="zh-CN" alt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841BB3C-8726-4922-A9FF-E0D9805A0411}"/>
              </a:ext>
            </a:extLst>
          </p:cNvPr>
          <p:cNvSpPr/>
          <p:nvPr/>
        </p:nvSpPr>
        <p:spPr>
          <a:xfrm>
            <a:off x="2390049" y="3468925"/>
            <a:ext cx="39645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）没有人登上过木星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344C043-3E2E-4420-A0ED-86C104009AC1}"/>
              </a:ext>
            </a:extLst>
          </p:cNvPr>
          <p:cNvSpPr/>
          <p:nvPr/>
        </p:nvSpPr>
        <p:spPr>
          <a:xfrm>
            <a:off x="2674424" y="4176805"/>
            <a:ext cx="69894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H(x)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是人；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M(x)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登上过木星，则：</a:t>
            </a:r>
            <a:endParaRPr lang="zh-CN" alt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7C5D86D-5555-46CD-A301-F599D47ED6B6}"/>
              </a:ext>
            </a:extLst>
          </p:cNvPr>
          <p:cNvSpPr/>
          <p:nvPr/>
        </p:nvSpPr>
        <p:spPr>
          <a:xfrm>
            <a:off x="2757729" y="5602333"/>
            <a:ext cx="41504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或者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fr-FR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x(H(x)→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  <a:cs typeface="Times New Roman" panose="02020603050405020304" pitchFamily="18" charset="0"/>
              </a:rPr>
              <a:t>┐</a:t>
            </a:r>
            <a:r>
              <a:rPr lang="fr-FR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M(x))</a:t>
            </a:r>
            <a:r>
              <a:rPr lang="zh-CN" alt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2651757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7" grpId="0"/>
      <p:bldP spid="8" grpId="0"/>
      <p:bldP spid="9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BAFBECD-285D-4E0B-9E9E-EADD2C771108}"/>
              </a:ext>
            </a:extLst>
          </p:cNvPr>
          <p:cNvSpPr txBox="1">
            <a:spLocks noChangeArrowheads="1"/>
          </p:cNvSpPr>
          <p:nvPr/>
        </p:nvSpPr>
        <p:spPr>
          <a:xfrm>
            <a:off x="1751013" y="1003882"/>
            <a:ext cx="8291512" cy="266460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zh-CN" alt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）在美国留学的学生未必都是亚洲人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A(x)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是亚洲人；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H(x)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是在美国留学的学生，则：</a:t>
            </a:r>
            <a:endParaRPr lang="zh-CN" alt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zh-CN" altLang="en-US" dirty="0">
                <a:latin typeface="Times New Roman" panose="02020603050405020304" pitchFamily="18" charset="0"/>
                <a:ea typeface="楷体_GB2312" pitchFamily="1" charset="-122"/>
                <a:cs typeface="Times New Roman" panose="02020603050405020304" pitchFamily="18" charset="0"/>
              </a:rPr>
              <a:t>┐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x(H(x)→A(x))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或者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x(H(x)∧</a:t>
            </a:r>
            <a:r>
              <a:rPr lang="zh-CN" altLang="en-US" dirty="0">
                <a:latin typeface="Times New Roman" panose="02020603050405020304" pitchFamily="18" charset="0"/>
                <a:ea typeface="楷体_GB2312" pitchFamily="1" charset="-122"/>
                <a:cs typeface="Times New Roman" panose="02020603050405020304" pitchFamily="18" charset="0"/>
              </a:rPr>
              <a:t>┐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A(x))</a:t>
            </a:r>
            <a:r>
              <a:rPr lang="zh-CN" alt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zh-CN" alt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355DE4E-313D-4A46-A450-742E04AFE159}"/>
              </a:ext>
            </a:extLst>
          </p:cNvPr>
          <p:cNvSpPr/>
          <p:nvPr/>
        </p:nvSpPr>
        <p:spPr>
          <a:xfrm>
            <a:off x="1583531" y="4521815"/>
            <a:ext cx="936263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）每个实数都存在比它大的另外的实数</a:t>
            </a:r>
          </a:p>
          <a:p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R(x)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是实数；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L(x, y)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小于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fr-FR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N(x,y):x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≠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则：</a:t>
            </a:r>
            <a:r>
              <a:rPr lang="fr-FR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fr-FR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x(R(x)→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fr-FR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y(R(y) ∧ N(x,y)∧L(x, y))</a:t>
            </a:r>
            <a:r>
              <a:rPr lang="zh-CN" alt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3703363033"/>
      </p:ext>
    </p:extLst>
  </p:cSld>
  <p:clrMapOvr>
    <a:masterClrMapping/>
  </p:clrMapOvr>
  <p:transition spd="slow" advTm="0">
    <p:wip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Predicate Logic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61C06D8-A15B-4C4F-B9A9-007F79EF3A12}"/>
              </a:ext>
            </a:extLst>
          </p:cNvPr>
          <p:cNvSpPr/>
          <p:nvPr/>
        </p:nvSpPr>
        <p:spPr>
          <a:xfrm>
            <a:off x="2274276" y="1377786"/>
            <a:ext cx="7594209" cy="23818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）尽管有人很聪明，但未必一切人都聪明</a:t>
            </a:r>
          </a:p>
          <a:p>
            <a:pPr>
              <a:lnSpc>
                <a:spcPct val="120000"/>
              </a:lnSpc>
              <a:spcBef>
                <a:spcPct val="20000"/>
              </a:spcBef>
            </a:pPr>
            <a:endParaRPr lang="en-US" altLang="zh-C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M(x)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是人；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C(x)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很聪明，则：</a:t>
            </a: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x)(M(x)∧C(x))∧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┐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x)(M(x)→C(x))</a:t>
            </a:r>
          </a:p>
        </p:txBody>
      </p:sp>
    </p:spTree>
    <p:extLst>
      <p:ext uri="{BB962C8B-B14F-4D97-AF65-F5344CB8AC3E}">
        <p14:creationId xmlns:p14="http://schemas.microsoft.com/office/powerpoint/2010/main" val="2187594991"/>
      </p:ext>
    </p:extLst>
  </p:cSld>
  <p:clrMapOvr>
    <a:masterClrMapping/>
  </p:clrMapOvr>
  <p:transition spd="slow" advTm="0">
    <p:wipe/>
  </p:transition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5080</TotalTime>
  <Words>5902</Words>
  <Application>Microsoft Office PowerPoint</Application>
  <PresentationFormat>宽屏</PresentationFormat>
  <Paragraphs>573</Paragraphs>
  <Slides>67</Slides>
  <Notes>67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67</vt:i4>
      </vt:variant>
    </vt:vector>
  </HeadingPairs>
  <TitlesOfParts>
    <vt:vector size="84" baseType="lpstr">
      <vt:lpstr>等线</vt:lpstr>
      <vt:lpstr>等线 Light</vt:lpstr>
      <vt:lpstr>仿宋</vt:lpstr>
      <vt:lpstr>黑体</vt:lpstr>
      <vt:lpstr>楷体</vt:lpstr>
      <vt:lpstr>楷体_GB2312</vt:lpstr>
      <vt:lpstr>隶书</vt:lpstr>
      <vt:lpstr>宋体</vt:lpstr>
      <vt:lpstr>微软雅黑 Light</vt:lpstr>
      <vt:lpstr>Arial</vt:lpstr>
      <vt:lpstr>Arial Black</vt:lpstr>
      <vt:lpstr>Lucida Handwriting</vt:lpstr>
      <vt:lpstr>Segoe UI Semibold</vt:lpstr>
      <vt:lpstr>Symbol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77</dc:creator>
  <cp:lastModifiedBy>y z</cp:lastModifiedBy>
  <cp:revision>40</cp:revision>
  <dcterms:created xsi:type="dcterms:W3CDTF">2019-03-24T11:36:16Z</dcterms:created>
  <dcterms:modified xsi:type="dcterms:W3CDTF">2025-10-16T03:23:57Z</dcterms:modified>
</cp:coreProperties>
</file>