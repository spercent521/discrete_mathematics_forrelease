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445" r:id="rId2"/>
    <p:sldId id="1449" r:id="rId3"/>
    <p:sldId id="1378" r:id="rId4"/>
    <p:sldId id="1381" r:id="rId5"/>
    <p:sldId id="1382" r:id="rId6"/>
    <p:sldId id="1383" r:id="rId7"/>
    <p:sldId id="1396" r:id="rId8"/>
    <p:sldId id="1386" r:id="rId9"/>
    <p:sldId id="1374" r:id="rId10"/>
    <p:sldId id="2338" r:id="rId11"/>
    <p:sldId id="2339" r:id="rId12"/>
    <p:sldId id="2340" r:id="rId13"/>
    <p:sldId id="1551" r:id="rId14"/>
    <p:sldId id="1408" r:id="rId15"/>
    <p:sldId id="1409" r:id="rId16"/>
    <p:sldId id="1552" r:id="rId17"/>
    <p:sldId id="1411" r:id="rId18"/>
    <p:sldId id="1432" r:id="rId19"/>
    <p:sldId id="1433" r:id="rId20"/>
    <p:sldId id="1434" r:id="rId21"/>
    <p:sldId id="1448" r:id="rId22"/>
    <p:sldId id="2341" r:id="rId23"/>
    <p:sldId id="1554" r:id="rId24"/>
    <p:sldId id="155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66" autoAdjust="0"/>
  </p:normalViewPr>
  <p:slideViewPr>
    <p:cSldViewPr snapToGrid="0">
      <p:cViewPr varScale="1">
        <p:scale>
          <a:sx n="67" d="100"/>
          <a:sy n="67" d="100"/>
        </p:scale>
        <p:origin x="8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77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1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750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749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963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903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82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259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821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623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861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401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814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601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455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81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033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836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7648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632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550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02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02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0D836C-C6CC-42F7-8855-E7DF8BAA07CD}"/>
              </a:ext>
            </a:extLst>
          </p:cNvPr>
          <p:cNvSpPr/>
          <p:nvPr/>
        </p:nvSpPr>
        <p:spPr>
          <a:xfrm>
            <a:off x="2949811" y="2794770"/>
            <a:ext cx="602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集合与关系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zh-CN" sz="4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Set &amp; Relation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277186850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63490">
            <a:extLst>
              <a:ext uri="{FF2B5EF4-FFF2-40B4-BE49-F238E27FC236}">
                <a16:creationId xmlns:a16="http://schemas.microsoft.com/office/drawing/2014/main" id="{6892681D-CA1E-4C62-B7CA-0B691A5EB6E2}"/>
              </a:ext>
            </a:extLst>
          </p:cNvPr>
          <p:cNvSpPr txBox="1">
            <a:spLocks/>
          </p:cNvSpPr>
          <p:nvPr/>
        </p:nvSpPr>
        <p:spPr>
          <a:xfrm>
            <a:off x="1571625" y="1154132"/>
            <a:ext cx="8510954" cy="443132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215" dirty="0">
                <a:latin typeface="Microsoft YaHei" panose="020B0503020204020204" charset="-122"/>
                <a:ea typeface="Microsoft YaHei" panose="020B0503020204020204" charset="-122"/>
              </a:rPr>
              <a:t>	</a:t>
            </a:r>
            <a:r>
              <a:rPr lang="zh-CN" altLang="en-US" dirty="0">
                <a:latin typeface="+mn-ea"/>
              </a:rPr>
              <a:t>设</a:t>
            </a:r>
            <a:r>
              <a:rPr lang="en-US" altLang="x-none" dirty="0">
                <a:latin typeface="+mn-ea"/>
              </a:rPr>
              <a:t>R</a:t>
            </a:r>
            <a:r>
              <a:rPr lang="en-US" altLang="x-none" baseline="-25000" dirty="0">
                <a:latin typeface="+mn-ea"/>
              </a:rPr>
              <a:t>1</a:t>
            </a:r>
            <a:r>
              <a:rPr lang="en-US" altLang="x-none" dirty="0">
                <a:latin typeface="+mn-ea"/>
              </a:rPr>
              <a:t>,R</a:t>
            </a:r>
            <a:r>
              <a:rPr lang="en-US" altLang="x-none" baseline="-25000" dirty="0">
                <a:latin typeface="+mn-ea"/>
              </a:rPr>
              <a:t>2</a:t>
            </a:r>
            <a:r>
              <a:rPr lang="en-US" altLang="x-none" dirty="0">
                <a:latin typeface="+mn-ea"/>
                <a:sym typeface="Symbol" panose="05050102010706020507" pitchFamily="2" charset="2"/>
              </a:rPr>
              <a:t>AA</a:t>
            </a:r>
            <a:r>
              <a:rPr lang="zh-CN" altLang="en-US" dirty="0">
                <a:latin typeface="+mn-ea"/>
                <a:sym typeface="Symbol" panose="05050102010706020507" pitchFamily="2" charset="2"/>
              </a:rPr>
              <a:t>都具有某种性质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D6C0341-D58A-4A87-BB43-4FB76C35A922}"/>
              </a:ext>
            </a:extLst>
          </p:cNvPr>
          <p:cNvGraphicFramePr/>
          <p:nvPr/>
        </p:nvGraphicFramePr>
        <p:xfrm>
          <a:off x="2038155" y="1864409"/>
          <a:ext cx="7577455" cy="3953510"/>
        </p:xfrm>
        <a:graphic>
          <a:graphicData uri="http://schemas.openxmlformats.org/drawingml/2006/table">
            <a:tbl>
              <a:tblPr/>
              <a:tblGrid>
                <a:gridCol w="237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6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>
                          <a:sym typeface="Symbol" panose="05050102010706020507" pitchFamily="2" charset="2"/>
                        </a:rPr>
                        <a:t>自反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反自反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对称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反对称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15"/>
                        <a:t>传递</a:t>
                      </a: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baseline="30000" dirty="0"/>
                        <a:t>-1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30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baseline="30000" dirty="0"/>
                        <a:t>-1</a:t>
                      </a:r>
                      <a:endParaRPr lang="zh-CN" altLang="en-US" sz="2215" baseline="30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zh-CN" altLang="en-US" sz="2215" dirty="0">
                          <a:sym typeface="Symbol" panose="05050102010706020507" pitchFamily="2" charset="2"/>
                        </a:rPr>
                        <a:t></a:t>
                      </a:r>
                      <a:r>
                        <a:rPr lang="en-US" altLang="x-none" sz="2215" dirty="0">
                          <a:sym typeface="Symbol" panose="05050102010706020507" pitchFamily="2" charset="2"/>
                        </a:rPr>
                        <a:t>R</a:t>
                      </a:r>
                      <a:r>
                        <a:rPr lang="en-US" altLang="x-none" sz="2215" baseline="-25000" dirty="0">
                          <a:sym typeface="Symbol" panose="05050102010706020507" pitchFamily="2" charset="2"/>
                        </a:rPr>
                        <a:t>2</a:t>
                      </a:r>
                      <a:endParaRPr lang="zh-CN" altLang="en-US" sz="2215" baseline="-25000" dirty="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sym typeface="Symbol" panose="05050102010706020507" pitchFamily="2" charset="2"/>
                        </a:rPr>
                        <a:t>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o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 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-25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o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61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-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 </a:t>
                      </a:r>
                      <a:r>
                        <a:rPr lang="en-US" altLang="x-none" sz="2215" dirty="0"/>
                        <a:t>,</a:t>
                      </a:r>
                      <a:r>
                        <a:rPr lang="en-US" altLang="x-none" sz="2215" baseline="-25000" dirty="0"/>
                        <a:t> 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215" dirty="0">
                          <a:ea typeface="Arial" panose="020B0604020202020204" pitchFamily="34" charset="0"/>
                          <a:sym typeface="Symbol" panose="05050102010706020507" pitchFamily="2" charset="2"/>
                        </a:rPr>
                        <a:t>-</a:t>
                      </a: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endParaRPr lang="zh-CN" altLang="en-US" sz="2215" baseline="-25000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09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2215" dirty="0"/>
                        <a:t>R</a:t>
                      </a:r>
                      <a:r>
                        <a:rPr lang="en-US" altLang="x-none" sz="2215" baseline="-25000" dirty="0"/>
                        <a:t>1</a:t>
                      </a:r>
                      <a:r>
                        <a:rPr lang="en-US" altLang="x-none" sz="2585" dirty="0"/>
                        <a:t>’</a:t>
                      </a:r>
                      <a:r>
                        <a:rPr lang="en-US" altLang="x-none" sz="2215" dirty="0"/>
                        <a:t>, R</a:t>
                      </a:r>
                      <a:r>
                        <a:rPr lang="en-US" altLang="x-none" sz="2215" baseline="-25000" dirty="0"/>
                        <a:t>2</a:t>
                      </a:r>
                      <a:r>
                        <a:rPr lang="en-US" altLang="x-none" sz="2585" dirty="0"/>
                        <a:t>’</a:t>
                      </a:r>
                      <a:endParaRPr lang="zh-CN" altLang="en-US" sz="258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215">
                          <a:sym typeface="Symbol" panose="05050102010706020507" pitchFamily="2" charset="2"/>
                        </a:rPr>
                        <a:t></a:t>
                      </a:r>
                      <a:endParaRPr lang="zh-CN" altLang="en-US" sz="2215" baseline="-25000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>
                        <a:sym typeface="Symbol" panose="05050102010706020507" pitchFamily="2" charset="2"/>
                      </a:endParaRPr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2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1" i="0" u="none" kern="1200" baseline="0">
                          <a:solidFill>
                            <a:srgbClr val="000000"/>
                          </a:solidFill>
                          <a:latin typeface="Comic Sans MS" panose="030F0702030302020204" charset="0"/>
                          <a:ea typeface="SimHei" panose="0201060906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215" dirty="0"/>
                    </a:p>
                  </a:txBody>
                  <a:tcPr marL="84406" marR="84406" marT="42203" marB="4220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FBAA635B-DBD9-FC3B-126B-E15AC0EB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529248098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4A8E0F-97FF-4FA6-8EA5-45F8B985B8E0}"/>
              </a:ext>
            </a:extLst>
          </p:cNvPr>
          <p:cNvSpPr txBox="1"/>
          <p:nvPr/>
        </p:nvSpPr>
        <p:spPr>
          <a:xfrm>
            <a:off x="1571625" y="787793"/>
            <a:ext cx="329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关系的闭包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AD4184-6AF5-426A-AD1C-71CFA5F5FBD4}"/>
              </a:ext>
            </a:extLst>
          </p:cNvPr>
          <p:cNvSpPr/>
          <p:nvPr/>
        </p:nvSpPr>
        <p:spPr>
          <a:xfrm>
            <a:off x="1571625" y="1702505"/>
            <a:ext cx="9587346" cy="3037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自反闭包：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上的二元关系，如果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endParaRPr lang="en-US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（1）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是自反的;</a:t>
            </a:r>
          </a:p>
          <a:p>
            <a:pPr>
              <a:lnSpc>
                <a:spcPct val="115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（2）R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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'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也满足（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R’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R’’.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的自反闭包，记为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）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69C719-73CF-4D7C-A981-15D6C404D958}"/>
              </a:ext>
            </a:extLst>
          </p:cNvPr>
          <p:cNvSpPr/>
          <p:nvPr/>
        </p:nvSpPr>
        <p:spPr>
          <a:xfrm>
            <a:off x="1303518" y="5280998"/>
            <a:ext cx="10123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A×A</a:t>
            </a:r>
            <a:r>
              <a:rPr lang="zh-CN" altLang="en-US" sz="2800" dirty="0"/>
              <a:t>，最小的包含</a:t>
            </a:r>
            <a:r>
              <a:rPr lang="en-US" altLang="zh-CN" sz="2800" dirty="0"/>
              <a:t>R</a:t>
            </a:r>
            <a:r>
              <a:rPr lang="zh-CN" altLang="en-US" sz="2800" dirty="0"/>
              <a:t>的自反关系称为</a:t>
            </a:r>
            <a:r>
              <a:rPr lang="en-US" altLang="zh-CN" sz="2800" dirty="0"/>
              <a:t>R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自反闭包</a:t>
            </a:r>
            <a:r>
              <a:rPr lang="zh-CN" altLang="en-US" sz="2800" dirty="0"/>
              <a:t>，记为</a:t>
            </a:r>
            <a:r>
              <a:rPr lang="en-US" altLang="zh-CN" sz="2800" dirty="0"/>
              <a:t>r(R)</a:t>
            </a:r>
            <a:r>
              <a:rPr lang="zh-CN" altLang="en-US" sz="2800"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2A08B-5571-4276-BEEA-01CCBC20C4F9}"/>
              </a:ext>
            </a:extLst>
          </p:cNvPr>
          <p:cNvSpPr/>
          <p:nvPr/>
        </p:nvSpPr>
        <p:spPr>
          <a:xfrm>
            <a:off x="2358159" y="6083225"/>
            <a:ext cx="6096000" cy="557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对称闭包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s(R)     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传递闭包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t(R)</a:t>
            </a:r>
          </a:p>
        </p:txBody>
      </p:sp>
    </p:spTree>
    <p:extLst>
      <p:ext uri="{BB962C8B-B14F-4D97-AF65-F5344CB8AC3E}">
        <p14:creationId xmlns:p14="http://schemas.microsoft.com/office/powerpoint/2010/main" val="1708693602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EE0499-F367-4DE3-9C7A-8A87EE074A24}"/>
              </a:ext>
            </a:extLst>
          </p:cNvPr>
          <p:cNvSpPr/>
          <p:nvPr/>
        </p:nvSpPr>
        <p:spPr>
          <a:xfrm>
            <a:off x="2327563" y="2907314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对称闭包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个条件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对称性；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574DF7-C1E1-47AB-BE24-3C194C96B56B}"/>
              </a:ext>
            </a:extLst>
          </p:cNvPr>
          <p:cNvSpPr/>
          <p:nvPr/>
        </p:nvSpPr>
        <p:spPr>
          <a:xfrm>
            <a:off x="2327563" y="1029459"/>
            <a:ext cx="88253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的自反闭包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r(R)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上的关系，且满足以下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个条件：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自反性；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最小性。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F792C7-4193-44AD-B04C-659A215CCD43}"/>
              </a:ext>
            </a:extLst>
          </p:cNvPr>
          <p:cNvSpPr/>
          <p:nvPr/>
        </p:nvSpPr>
        <p:spPr>
          <a:xfrm>
            <a:off x="2327563" y="4785169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传递闭包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(R)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个条件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传递性；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425000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196B42-DD61-4A42-BC06-59A3C4C46E49}"/>
              </a:ext>
            </a:extLst>
          </p:cNvPr>
          <p:cNvSpPr/>
          <p:nvPr/>
        </p:nvSpPr>
        <p:spPr>
          <a:xfrm>
            <a:off x="2119745" y="1068337"/>
            <a:ext cx="6096000" cy="20344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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则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(1)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r( R ) =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(2)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对称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s( R ) =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1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(3)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t( R ) = R.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24791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F7A8A0-61CC-4311-977D-25E1AE97ACA8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738188"/>
            <a:ext cx="8064500" cy="4586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利用关系图求关系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闭包的方法：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）检查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的关系图，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在没有自环的结点处加上自环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r(R)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）检查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的关系图，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将每条单向边全部改成双向边，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s(R)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）检查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的关系图，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从每个结点出发，找到其终点，如果该结点到其终点没有边相连，就加上此边，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的关系图。</a:t>
            </a:r>
          </a:p>
        </p:txBody>
      </p:sp>
    </p:spTree>
    <p:extLst>
      <p:ext uri="{BB962C8B-B14F-4D97-AF65-F5344CB8AC3E}">
        <p14:creationId xmlns:p14="http://schemas.microsoft.com/office/powerpoint/2010/main" val="3169953194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>
                <a:latin typeface="Lucida Handwriting" panose="03010101010101010101" pitchFamily="66" charset="0"/>
              </a:rPr>
              <a:t>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6EBDBB4-F9C8-4A94-A2E5-43BA0B76C76C}"/>
              </a:ext>
            </a:extLst>
          </p:cNvPr>
          <p:cNvSpPr txBox="1">
            <a:spLocks noChangeArrowheads="1"/>
          </p:cNvSpPr>
          <p:nvPr/>
        </p:nvSpPr>
        <p:spPr>
          <a:xfrm>
            <a:off x="2311379" y="1373727"/>
            <a:ext cx="8026400" cy="24669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上的二元关系，则：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r(R)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R∪I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s(R)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R∪R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    ，若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|A|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t(R)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    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F50DCFF5-E2D6-49BE-8985-E5644A72D6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5235" y="3529333"/>
          <a:ext cx="6826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380880" progId="Equation.3">
                  <p:embed/>
                </p:oleObj>
              </mc:Choice>
              <mc:Fallback>
                <p:oleObj name="Equation" r:id="rId4" imgW="342720" imgH="380880" progId="Equation.3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F50DCFF5-E2D6-49BE-8985-E5644A72D6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235" y="3529333"/>
                        <a:ext cx="6826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C1A4AC61-87F6-4F85-A4AB-E5DFC8B83A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9094" y="3459702"/>
          <a:ext cx="6826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380880" progId="Equation.3">
                  <p:embed/>
                </p:oleObj>
              </mc:Choice>
              <mc:Fallback>
                <p:oleObj name="Equation" r:id="rId6" imgW="342720" imgH="380880" progId="Equation.3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C1A4AC61-87F6-4F85-A4AB-E5DFC8B83A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9094" y="3459702"/>
                        <a:ext cx="6826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796966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5C4381-AF5E-41B0-9965-3FCFAB2117DB}"/>
              </a:ext>
            </a:extLst>
          </p:cNvPr>
          <p:cNvSpPr/>
          <p:nvPr/>
        </p:nvSpPr>
        <p:spPr>
          <a:xfrm>
            <a:off x="3520505" y="2850957"/>
            <a:ext cx="52341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特殊关系</a:t>
            </a:r>
            <a:endParaRPr lang="en-US" altLang="zh-CN" sz="4800" b="1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  <a:p>
            <a:pPr algn="ctr"/>
            <a:r>
              <a:rPr lang="en-US" altLang="zh-CN" sz="4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 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Relations</a:t>
            </a:r>
            <a:endParaRPr lang="zh-CN" altLang="en-US" sz="4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004224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729DF6-0F9B-46E6-A716-4BD6E69F29D1}"/>
              </a:ext>
            </a:extLst>
          </p:cNvPr>
          <p:cNvSpPr txBox="1"/>
          <p:nvPr/>
        </p:nvSpPr>
        <p:spPr>
          <a:xfrm>
            <a:off x="1751013" y="902569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等价关系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9E296D-34EB-4107-8506-DB6B8A743B49}"/>
              </a:ext>
            </a:extLst>
          </p:cNvPr>
          <p:cNvSpPr/>
          <p:nvPr/>
        </p:nvSpPr>
        <p:spPr>
          <a:xfrm>
            <a:off x="1751013" y="1651725"/>
            <a:ext cx="9587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(equivalence relation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设二元关系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是非空的集合。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自反的、对称的、传递的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40ADDA-E3F6-42B5-BBF3-CE6CBE9D59FB}"/>
              </a:ext>
            </a:extLst>
          </p:cNvPr>
          <p:cNvSpPr/>
          <p:nvPr/>
        </p:nvSpPr>
        <p:spPr>
          <a:xfrm>
            <a:off x="3444157" y="3636616"/>
            <a:ext cx="29412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R = ran R = A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C0AEF29E-9E77-53DC-898F-15FD0A1EB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9973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991A4C5-197A-4155-88A1-A02D1FC573FA}"/>
              </a:ext>
            </a:extLst>
          </p:cNvPr>
          <p:cNvSpPr txBox="1"/>
          <p:nvPr/>
        </p:nvSpPr>
        <p:spPr>
          <a:xfrm>
            <a:off x="1894584" y="1032812"/>
            <a:ext cx="9249255" cy="4548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非空集合，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是满足下列条件的集合。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中元素是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的非空子集。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中任一元素至少属于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中一个元素，即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中各元素之并等于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覆盖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还满足条件：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中元素互不相交。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分划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中每一个元素叫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分划块。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DFCEC0-80AA-495E-824E-619FAD8FC62B}"/>
              </a:ext>
            </a:extLst>
          </p:cNvPr>
          <p:cNvSpPr txBox="1"/>
          <p:nvPr/>
        </p:nvSpPr>
        <p:spPr>
          <a:xfrm>
            <a:off x="1500187" y="5825188"/>
            <a:ext cx="9392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A={0,1,2,3,4}</a:t>
            </a:r>
            <a:r>
              <a:rPr lang="zh-CN" altLang="en-US" sz="2800" dirty="0"/>
              <a:t>，</a:t>
            </a:r>
            <a:r>
              <a:rPr lang="en-US" altLang="zh-CN" sz="2800" dirty="0"/>
              <a:t>π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={{0,1}, {1,2}, {2,3,4}}</a:t>
            </a:r>
            <a:r>
              <a:rPr lang="zh-CN" altLang="en-US" sz="2800" dirty="0"/>
              <a:t>，</a:t>
            </a:r>
            <a:r>
              <a:rPr lang="en-US" altLang="zh-CN" sz="2800" dirty="0"/>
              <a:t>π</a:t>
            </a:r>
            <a:r>
              <a:rPr lang="en-US" altLang="zh-CN" sz="2800" baseline="-25000" dirty="0"/>
              <a:t>2=</a:t>
            </a:r>
            <a:r>
              <a:rPr lang="en-US" altLang="zh-CN" sz="2800" dirty="0"/>
              <a:t>{{0,1}, {2,3}, {4}}</a:t>
            </a:r>
            <a:endParaRPr lang="zh-CN" altLang="en-US" sz="2800" dirty="0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C8FD839D-A896-AB6D-B259-3903A5D00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5090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E1EC985-03BC-4166-A882-A19F33320234}"/>
              </a:ext>
            </a:extLst>
          </p:cNvPr>
          <p:cNvSpPr/>
          <p:nvPr/>
        </p:nvSpPr>
        <p:spPr>
          <a:xfrm>
            <a:off x="297125" y="1451717"/>
            <a:ext cx="11597749" cy="2608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是非空集合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上的等价关系。对任何元素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，由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或者说是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诱导出的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等价类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定义为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　　　　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{b </a:t>
            </a:r>
            <a:r>
              <a:rPr lang="en-US" altLang="zh-CN" sz="2800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&lt;</a:t>
            </a:r>
            <a:r>
              <a:rPr lang="en-US" altLang="zh-CN" sz="28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R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记为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a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a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。同时称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为等价类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a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的代表元（生成元）。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862FF6-8726-4136-B476-9B79C99A534B}"/>
              </a:ext>
            </a:extLst>
          </p:cNvPr>
          <p:cNvSpPr/>
          <p:nvPr/>
        </p:nvSpPr>
        <p:spPr>
          <a:xfrm>
            <a:off x="1662733" y="799678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等价类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87D3D1-408B-42DA-9A05-3A93306CE255}"/>
              </a:ext>
            </a:extLst>
          </p:cNvPr>
          <p:cNvSpPr/>
          <p:nvPr/>
        </p:nvSpPr>
        <p:spPr>
          <a:xfrm>
            <a:off x="1857307" y="4188559"/>
            <a:ext cx="9560110" cy="190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buClrTx/>
              <a:buNone/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示例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A={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a,b,c,d,e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上的关系</a:t>
            </a:r>
          </a:p>
          <a:p>
            <a:pPr>
              <a:lnSpc>
                <a:spcPct val="145000"/>
              </a:lnSpc>
              <a:buClr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={&lt;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b,a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b,b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c,c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d,d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d,e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e,d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e,e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&gt;}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4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确定由集合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中的元素产生的等价类。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76504F-26E4-0F7A-0BDB-5DAE5AAD1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4305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15E9415-B653-4E98-AB3D-0ABA6D368BAF}"/>
              </a:ext>
            </a:extLst>
          </p:cNvPr>
          <p:cNvSpPr txBox="1"/>
          <p:nvPr/>
        </p:nvSpPr>
        <p:spPr>
          <a:xfrm>
            <a:off x="1914319" y="986763"/>
            <a:ext cx="68086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上的等价关系，对于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A，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R，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当且仅当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[a]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=[b]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R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9C5F39-E936-4EDA-9450-F66DE8357FD2}"/>
              </a:ext>
            </a:extLst>
          </p:cNvPr>
          <p:cNvSpPr txBox="1"/>
          <p:nvPr/>
        </p:nvSpPr>
        <p:spPr>
          <a:xfrm>
            <a:off x="1236742" y="2348494"/>
            <a:ext cx="2164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[a]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=[b]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R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b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[b]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R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b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[a]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R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27D51A-CF25-46C8-BAA3-C0829A078A80}"/>
              </a:ext>
            </a:extLst>
          </p:cNvPr>
          <p:cNvSpPr txBox="1"/>
          <p:nvPr/>
        </p:nvSpPr>
        <p:spPr>
          <a:xfrm>
            <a:off x="4724399" y="2348494"/>
            <a:ext cx="45840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c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[a]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R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b,a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b,c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c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[b]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R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endParaRPr lang="zh-CN" altLang="en-US" sz="2800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B0E03259-3324-7C2D-EF5A-95BF08910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9344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68CEA50-AAE7-419C-82C3-80731671FC0F}"/>
              </a:ext>
            </a:extLst>
          </p:cNvPr>
          <p:cNvSpPr/>
          <p:nvPr/>
        </p:nvSpPr>
        <p:spPr>
          <a:xfrm>
            <a:off x="2835307" y="884942"/>
            <a:ext cx="13468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x]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 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B5248F-2D33-4473-A0DE-185A2047C614}"/>
              </a:ext>
            </a:extLst>
          </p:cNvPr>
          <p:cNvSpPr/>
          <p:nvPr/>
        </p:nvSpPr>
        <p:spPr>
          <a:xfrm>
            <a:off x="2644414" y="1702616"/>
            <a:ext cx="35814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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xRy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 [x]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[y]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= 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273743-2EAF-4F3A-8FF7-94CB244193BD}"/>
              </a:ext>
            </a:extLst>
          </p:cNvPr>
          <p:cNvSpPr/>
          <p:nvPr/>
        </p:nvSpPr>
        <p:spPr>
          <a:xfrm>
            <a:off x="2644414" y="2520290"/>
            <a:ext cx="6096000" cy="12711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45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U{ [x]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R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|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} =A.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45000"/>
              </a:lnSpc>
              <a:buClrTx/>
              <a:buNone/>
            </a:pP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47AB52-85C9-4909-B5BE-B74D3CE496CF}"/>
              </a:ext>
            </a:extLst>
          </p:cNvPr>
          <p:cNvSpPr/>
          <p:nvPr/>
        </p:nvSpPr>
        <p:spPr>
          <a:xfrm>
            <a:off x="2090507" y="3798292"/>
            <a:ext cx="7595349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等价关系的实质是将集合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中的元素进行分类。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8D37F6D5-7477-33E8-6DC8-DAB6088A4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01613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83970">
            <a:extLst>
              <a:ext uri="{FF2B5EF4-FFF2-40B4-BE49-F238E27FC236}">
                <a16:creationId xmlns:a16="http://schemas.microsoft.com/office/drawing/2014/main" id="{FF870DBC-ACB0-48D6-A8F4-EE370D0E3451}"/>
              </a:ext>
            </a:extLst>
          </p:cNvPr>
          <p:cNvSpPr txBox="1">
            <a:spLocks/>
          </p:cNvSpPr>
          <p:nvPr/>
        </p:nvSpPr>
        <p:spPr>
          <a:xfrm>
            <a:off x="1905000" y="1455738"/>
            <a:ext cx="8382000" cy="361061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示例</a:t>
            </a:r>
            <a:r>
              <a:rPr lang="zh-CN" altLang="en-US" sz="24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设 </a:t>
            </a:r>
            <a:r>
              <a:rPr lang="en-US" altLang="x-none" sz="24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A={1,2,3,4,5,8}, </a:t>
            </a:r>
            <a:r>
              <a:rPr lang="zh-CN" altLang="en-US" sz="24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求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x-none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0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3</a:t>
            </a:r>
            <a:r>
              <a:rPr lang="en-US" altLang="x-none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= { &lt;</a:t>
            </a:r>
            <a:r>
              <a:rPr lang="en-US" altLang="x-none" sz="2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x,y</a:t>
            </a:r>
            <a:r>
              <a:rPr lang="en-US" altLang="x-none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 | </a:t>
            </a:r>
            <a:r>
              <a:rPr lang="en-US" altLang="x-none" sz="2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x,yA</a:t>
            </a:r>
            <a:r>
              <a:rPr lang="en-US" altLang="x-none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sz="2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x</a:t>
            </a:r>
            <a:r>
              <a:rPr lang="en-US" altLang="x-none" sz="2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y</a:t>
            </a:r>
            <a:r>
              <a:rPr lang="en-US" altLang="x-none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(mod 3) }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的等价类, 画出</a:t>
            </a:r>
            <a:r>
              <a:rPr lang="en-US" altLang="x-none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0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的关系图.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解: 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[1]=[4]={1,4}, 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[2]=[5]=[8]={2,5,8},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[3]={3}.</a:t>
            </a:r>
            <a:r>
              <a:rPr lang="zh-CN" altLang="en-US" sz="36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    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123C4BD-843B-4502-9147-90A4665238D0}"/>
              </a:ext>
            </a:extLst>
          </p:cNvPr>
          <p:cNvGrpSpPr/>
          <p:nvPr/>
        </p:nvGrpSpPr>
        <p:grpSpPr>
          <a:xfrm>
            <a:off x="4434254" y="3906008"/>
            <a:ext cx="5882054" cy="1768719"/>
            <a:chOff x="0" y="0"/>
            <a:chExt cx="4014" cy="1207"/>
          </a:xfrm>
        </p:grpSpPr>
        <p:sp>
          <p:nvSpPr>
            <p:cNvPr id="6" name="椭圆 83972">
              <a:extLst>
                <a:ext uri="{FF2B5EF4-FFF2-40B4-BE49-F238E27FC236}">
                  <a16:creationId xmlns:a16="http://schemas.microsoft.com/office/drawing/2014/main" id="{4FAAD32F-4512-49C5-B47B-433A6EE17B85}"/>
                </a:ext>
              </a:extLst>
            </p:cNvPr>
            <p:cNvSpPr/>
            <p:nvPr/>
          </p:nvSpPr>
          <p:spPr>
            <a:xfrm>
              <a:off x="728" y="240"/>
              <a:ext cx="104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83973">
              <a:extLst>
                <a:ext uri="{FF2B5EF4-FFF2-40B4-BE49-F238E27FC236}">
                  <a16:creationId xmlns:a16="http://schemas.microsoft.com/office/drawing/2014/main" id="{B837A2F6-4C70-4825-B417-CCC384150CD9}"/>
                </a:ext>
              </a:extLst>
            </p:cNvPr>
            <p:cNvSpPr/>
            <p:nvPr/>
          </p:nvSpPr>
          <p:spPr>
            <a:xfrm>
              <a:off x="260" y="912"/>
              <a:ext cx="104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83974">
              <a:extLst>
                <a:ext uri="{FF2B5EF4-FFF2-40B4-BE49-F238E27FC236}">
                  <a16:creationId xmlns:a16="http://schemas.microsoft.com/office/drawing/2014/main" id="{1D66BC7A-F98C-437D-AE94-BD12CA8B1414}"/>
                </a:ext>
              </a:extLst>
            </p:cNvPr>
            <p:cNvSpPr/>
            <p:nvPr/>
          </p:nvSpPr>
          <p:spPr>
            <a:xfrm>
              <a:off x="624" y="48"/>
              <a:ext cx="312" cy="24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直接连接符 83975">
              <a:extLst>
                <a:ext uri="{FF2B5EF4-FFF2-40B4-BE49-F238E27FC236}">
                  <a16:creationId xmlns:a16="http://schemas.microsoft.com/office/drawing/2014/main" id="{015615D9-19E9-447C-A729-CC008145F7E8}"/>
                </a:ext>
              </a:extLst>
            </p:cNvPr>
            <p:cNvSpPr/>
            <p:nvPr/>
          </p:nvSpPr>
          <p:spPr>
            <a:xfrm>
              <a:off x="936" y="144"/>
              <a:ext cx="1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0" name="椭圆 83976">
              <a:extLst>
                <a:ext uri="{FF2B5EF4-FFF2-40B4-BE49-F238E27FC236}">
                  <a16:creationId xmlns:a16="http://schemas.microsoft.com/office/drawing/2014/main" id="{9E45A7BA-426E-45B7-B7DA-02534D15009B}"/>
                </a:ext>
              </a:extLst>
            </p:cNvPr>
            <p:cNvSpPr/>
            <p:nvPr/>
          </p:nvSpPr>
          <p:spPr>
            <a:xfrm>
              <a:off x="0" y="816"/>
              <a:ext cx="312" cy="24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直接连接符 83977">
              <a:extLst>
                <a:ext uri="{FF2B5EF4-FFF2-40B4-BE49-F238E27FC236}">
                  <a16:creationId xmlns:a16="http://schemas.microsoft.com/office/drawing/2014/main" id="{621D00C1-061F-44B5-B6A6-58B23D61DD77}"/>
                </a:ext>
              </a:extLst>
            </p:cNvPr>
            <p:cNvSpPr/>
            <p:nvPr/>
          </p:nvSpPr>
          <p:spPr>
            <a:xfrm>
              <a:off x="0" y="912"/>
              <a:ext cx="1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未知">
              <a:extLst>
                <a:ext uri="{FF2B5EF4-FFF2-40B4-BE49-F238E27FC236}">
                  <a16:creationId xmlns:a16="http://schemas.microsoft.com/office/drawing/2014/main" id="{2A8FFDF6-FEC3-43B4-8E14-1076677BEA8A}"/>
                </a:ext>
              </a:extLst>
            </p:cNvPr>
            <p:cNvSpPr/>
            <p:nvPr/>
          </p:nvSpPr>
          <p:spPr>
            <a:xfrm>
              <a:off x="364" y="288"/>
              <a:ext cx="416" cy="672"/>
            </a:xfrm>
            <a:custGeom>
              <a:avLst/>
              <a:gdLst/>
              <a:ahLst/>
              <a:cxnLst/>
              <a:rect l="0" t="0" r="0" b="0"/>
              <a:pathLst>
                <a:path w="400" h="672">
                  <a:moveTo>
                    <a:pt x="0" y="672"/>
                  </a:moveTo>
                  <a:cubicBezTo>
                    <a:pt x="136" y="608"/>
                    <a:pt x="272" y="544"/>
                    <a:pt x="336" y="432"/>
                  </a:cubicBezTo>
                  <a:cubicBezTo>
                    <a:pt x="400" y="320"/>
                    <a:pt x="392" y="160"/>
                    <a:pt x="38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13" name="未知">
              <a:extLst>
                <a:ext uri="{FF2B5EF4-FFF2-40B4-BE49-F238E27FC236}">
                  <a16:creationId xmlns:a16="http://schemas.microsoft.com/office/drawing/2014/main" id="{DEBF9631-0DF4-4BCE-9AB9-CBDFED13AE38}"/>
                </a:ext>
              </a:extLst>
            </p:cNvPr>
            <p:cNvSpPr/>
            <p:nvPr/>
          </p:nvSpPr>
          <p:spPr>
            <a:xfrm>
              <a:off x="312" y="288"/>
              <a:ext cx="416" cy="624"/>
            </a:xfrm>
            <a:custGeom>
              <a:avLst/>
              <a:gdLst/>
              <a:ahLst/>
              <a:cxnLst/>
              <a:rect l="0" t="0" r="0" b="0"/>
              <a:pathLst>
                <a:path w="456" h="624">
                  <a:moveTo>
                    <a:pt x="456" y="0"/>
                  </a:moveTo>
                  <a:cubicBezTo>
                    <a:pt x="300" y="68"/>
                    <a:pt x="144" y="136"/>
                    <a:pt x="72" y="240"/>
                  </a:cubicBezTo>
                  <a:cubicBezTo>
                    <a:pt x="0" y="344"/>
                    <a:pt x="12" y="484"/>
                    <a:pt x="24" y="62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14" name="直接连接符 83980">
              <a:extLst>
                <a:ext uri="{FF2B5EF4-FFF2-40B4-BE49-F238E27FC236}">
                  <a16:creationId xmlns:a16="http://schemas.microsoft.com/office/drawing/2014/main" id="{2E0BD430-20FA-482D-8203-FF5FB0B9E565}"/>
                </a:ext>
              </a:extLst>
            </p:cNvPr>
            <p:cNvSpPr/>
            <p:nvPr/>
          </p:nvSpPr>
          <p:spPr>
            <a:xfrm flipH="1">
              <a:off x="312" y="528"/>
              <a:ext cx="52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83981">
              <a:extLst>
                <a:ext uri="{FF2B5EF4-FFF2-40B4-BE49-F238E27FC236}">
                  <a16:creationId xmlns:a16="http://schemas.microsoft.com/office/drawing/2014/main" id="{95756CDE-C09D-4910-818E-EE5DED4959D7}"/>
                </a:ext>
              </a:extLst>
            </p:cNvPr>
            <p:cNvSpPr/>
            <p:nvPr/>
          </p:nvSpPr>
          <p:spPr>
            <a:xfrm flipV="1">
              <a:off x="676" y="720"/>
              <a:ext cx="5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6" name="椭圆 83982">
              <a:extLst>
                <a:ext uri="{FF2B5EF4-FFF2-40B4-BE49-F238E27FC236}">
                  <a16:creationId xmlns:a16="http://schemas.microsoft.com/office/drawing/2014/main" id="{6122DB41-F53D-4274-87F8-A7B030A0B08E}"/>
                </a:ext>
              </a:extLst>
            </p:cNvPr>
            <p:cNvSpPr/>
            <p:nvPr/>
          </p:nvSpPr>
          <p:spPr>
            <a:xfrm>
              <a:off x="2236" y="192"/>
              <a:ext cx="104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7" name="椭圆 83983">
              <a:extLst>
                <a:ext uri="{FF2B5EF4-FFF2-40B4-BE49-F238E27FC236}">
                  <a16:creationId xmlns:a16="http://schemas.microsoft.com/office/drawing/2014/main" id="{59021979-672B-403B-9532-4FC1B5D275EB}"/>
                </a:ext>
              </a:extLst>
            </p:cNvPr>
            <p:cNvSpPr/>
            <p:nvPr/>
          </p:nvSpPr>
          <p:spPr>
            <a:xfrm>
              <a:off x="1768" y="864"/>
              <a:ext cx="104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8" name="椭圆 83984">
              <a:extLst>
                <a:ext uri="{FF2B5EF4-FFF2-40B4-BE49-F238E27FC236}">
                  <a16:creationId xmlns:a16="http://schemas.microsoft.com/office/drawing/2014/main" id="{CED2B980-26BA-4C84-BA5B-25EFD88BA282}"/>
                </a:ext>
              </a:extLst>
            </p:cNvPr>
            <p:cNvSpPr/>
            <p:nvPr/>
          </p:nvSpPr>
          <p:spPr>
            <a:xfrm>
              <a:off x="2704" y="864"/>
              <a:ext cx="104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9" name="椭圆 83985">
              <a:extLst>
                <a:ext uri="{FF2B5EF4-FFF2-40B4-BE49-F238E27FC236}">
                  <a16:creationId xmlns:a16="http://schemas.microsoft.com/office/drawing/2014/main" id="{DEB2BEB5-A7D9-4174-9892-C1ED065012C5}"/>
                </a:ext>
              </a:extLst>
            </p:cNvPr>
            <p:cNvSpPr/>
            <p:nvPr/>
          </p:nvSpPr>
          <p:spPr>
            <a:xfrm>
              <a:off x="2756" y="816"/>
              <a:ext cx="312" cy="24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0" name="直接连接符 83986">
              <a:extLst>
                <a:ext uri="{FF2B5EF4-FFF2-40B4-BE49-F238E27FC236}">
                  <a16:creationId xmlns:a16="http://schemas.microsoft.com/office/drawing/2014/main" id="{A92AD689-DCA5-40A4-8C3D-D5D20362455A}"/>
                </a:ext>
              </a:extLst>
            </p:cNvPr>
            <p:cNvSpPr/>
            <p:nvPr/>
          </p:nvSpPr>
          <p:spPr>
            <a:xfrm>
              <a:off x="3068" y="912"/>
              <a:ext cx="1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1" name="椭圆 83987">
              <a:extLst>
                <a:ext uri="{FF2B5EF4-FFF2-40B4-BE49-F238E27FC236}">
                  <a16:creationId xmlns:a16="http://schemas.microsoft.com/office/drawing/2014/main" id="{ADAF7C44-3A96-42DF-9509-CE217ED00016}"/>
                </a:ext>
              </a:extLst>
            </p:cNvPr>
            <p:cNvSpPr/>
            <p:nvPr/>
          </p:nvSpPr>
          <p:spPr>
            <a:xfrm>
              <a:off x="2132" y="0"/>
              <a:ext cx="312" cy="24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83988">
              <a:extLst>
                <a:ext uri="{FF2B5EF4-FFF2-40B4-BE49-F238E27FC236}">
                  <a16:creationId xmlns:a16="http://schemas.microsoft.com/office/drawing/2014/main" id="{9447A18F-8D15-432E-8F73-C029AF6FCD0A}"/>
                </a:ext>
              </a:extLst>
            </p:cNvPr>
            <p:cNvSpPr/>
            <p:nvPr/>
          </p:nvSpPr>
          <p:spPr>
            <a:xfrm>
              <a:off x="2444" y="96"/>
              <a:ext cx="1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3" name="椭圆 83989">
              <a:extLst>
                <a:ext uri="{FF2B5EF4-FFF2-40B4-BE49-F238E27FC236}">
                  <a16:creationId xmlns:a16="http://schemas.microsoft.com/office/drawing/2014/main" id="{D80559DA-0027-43EE-B0C9-FD96E6FF9369}"/>
                </a:ext>
              </a:extLst>
            </p:cNvPr>
            <p:cNvSpPr/>
            <p:nvPr/>
          </p:nvSpPr>
          <p:spPr>
            <a:xfrm>
              <a:off x="1508" y="768"/>
              <a:ext cx="312" cy="24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83990">
              <a:extLst>
                <a:ext uri="{FF2B5EF4-FFF2-40B4-BE49-F238E27FC236}">
                  <a16:creationId xmlns:a16="http://schemas.microsoft.com/office/drawing/2014/main" id="{B4014A31-EA47-4F7D-856E-C9B2FC59D308}"/>
                </a:ext>
              </a:extLst>
            </p:cNvPr>
            <p:cNvSpPr/>
            <p:nvPr/>
          </p:nvSpPr>
          <p:spPr>
            <a:xfrm>
              <a:off x="1508" y="864"/>
              <a:ext cx="1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5" name="未知">
              <a:extLst>
                <a:ext uri="{FF2B5EF4-FFF2-40B4-BE49-F238E27FC236}">
                  <a16:creationId xmlns:a16="http://schemas.microsoft.com/office/drawing/2014/main" id="{2D8BC099-0F01-469F-BCCA-B44F0501B563}"/>
                </a:ext>
              </a:extLst>
            </p:cNvPr>
            <p:cNvSpPr/>
            <p:nvPr/>
          </p:nvSpPr>
          <p:spPr>
            <a:xfrm>
              <a:off x="1872" y="240"/>
              <a:ext cx="416" cy="672"/>
            </a:xfrm>
            <a:custGeom>
              <a:avLst/>
              <a:gdLst/>
              <a:ahLst/>
              <a:cxnLst/>
              <a:rect l="0" t="0" r="0" b="0"/>
              <a:pathLst>
                <a:path w="400" h="672">
                  <a:moveTo>
                    <a:pt x="0" y="672"/>
                  </a:moveTo>
                  <a:cubicBezTo>
                    <a:pt x="136" y="608"/>
                    <a:pt x="272" y="544"/>
                    <a:pt x="336" y="432"/>
                  </a:cubicBezTo>
                  <a:cubicBezTo>
                    <a:pt x="400" y="320"/>
                    <a:pt x="392" y="160"/>
                    <a:pt x="38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26" name="未知">
              <a:extLst>
                <a:ext uri="{FF2B5EF4-FFF2-40B4-BE49-F238E27FC236}">
                  <a16:creationId xmlns:a16="http://schemas.microsoft.com/office/drawing/2014/main" id="{FF707C7A-8B4E-41DA-A793-8EE1B0209C71}"/>
                </a:ext>
              </a:extLst>
            </p:cNvPr>
            <p:cNvSpPr/>
            <p:nvPr/>
          </p:nvSpPr>
          <p:spPr>
            <a:xfrm>
              <a:off x="1820" y="240"/>
              <a:ext cx="416" cy="624"/>
            </a:xfrm>
            <a:custGeom>
              <a:avLst/>
              <a:gdLst/>
              <a:ahLst/>
              <a:cxnLst/>
              <a:rect l="0" t="0" r="0" b="0"/>
              <a:pathLst>
                <a:path w="456" h="624">
                  <a:moveTo>
                    <a:pt x="456" y="0"/>
                  </a:moveTo>
                  <a:cubicBezTo>
                    <a:pt x="300" y="68"/>
                    <a:pt x="144" y="136"/>
                    <a:pt x="72" y="240"/>
                  </a:cubicBezTo>
                  <a:cubicBezTo>
                    <a:pt x="0" y="344"/>
                    <a:pt x="12" y="484"/>
                    <a:pt x="24" y="62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27" name="直接连接符 83993">
              <a:extLst>
                <a:ext uri="{FF2B5EF4-FFF2-40B4-BE49-F238E27FC236}">
                  <a16:creationId xmlns:a16="http://schemas.microsoft.com/office/drawing/2014/main" id="{A047BB62-7551-45A2-846B-19320D125585}"/>
                </a:ext>
              </a:extLst>
            </p:cNvPr>
            <p:cNvSpPr/>
            <p:nvPr/>
          </p:nvSpPr>
          <p:spPr>
            <a:xfrm flipH="1">
              <a:off x="1820" y="480"/>
              <a:ext cx="52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8" name="直接连接符 83994">
              <a:extLst>
                <a:ext uri="{FF2B5EF4-FFF2-40B4-BE49-F238E27FC236}">
                  <a16:creationId xmlns:a16="http://schemas.microsoft.com/office/drawing/2014/main" id="{CC572A1A-5191-4B17-A106-F0C42D56D989}"/>
                </a:ext>
              </a:extLst>
            </p:cNvPr>
            <p:cNvSpPr/>
            <p:nvPr/>
          </p:nvSpPr>
          <p:spPr>
            <a:xfrm flipV="1">
              <a:off x="2184" y="672"/>
              <a:ext cx="5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9" name="椭圆 83995">
              <a:extLst>
                <a:ext uri="{FF2B5EF4-FFF2-40B4-BE49-F238E27FC236}">
                  <a16:creationId xmlns:a16="http://schemas.microsoft.com/office/drawing/2014/main" id="{E838F257-9479-4950-B563-19FF9ECF45D9}"/>
                </a:ext>
              </a:extLst>
            </p:cNvPr>
            <p:cNvSpPr/>
            <p:nvPr/>
          </p:nvSpPr>
          <p:spPr>
            <a:xfrm>
              <a:off x="3649" y="497"/>
              <a:ext cx="104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0" name="椭圆 83996">
              <a:extLst>
                <a:ext uri="{FF2B5EF4-FFF2-40B4-BE49-F238E27FC236}">
                  <a16:creationId xmlns:a16="http://schemas.microsoft.com/office/drawing/2014/main" id="{61F4237F-176B-4D88-8051-38077703D556}"/>
                </a:ext>
              </a:extLst>
            </p:cNvPr>
            <p:cNvSpPr/>
            <p:nvPr/>
          </p:nvSpPr>
          <p:spPr>
            <a:xfrm>
              <a:off x="3701" y="449"/>
              <a:ext cx="312" cy="24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1" name="直接连接符 83997">
              <a:extLst>
                <a:ext uri="{FF2B5EF4-FFF2-40B4-BE49-F238E27FC236}">
                  <a16:creationId xmlns:a16="http://schemas.microsoft.com/office/drawing/2014/main" id="{BB9FD71B-31B1-40B6-833E-93209D3A528A}"/>
                </a:ext>
              </a:extLst>
            </p:cNvPr>
            <p:cNvSpPr/>
            <p:nvPr/>
          </p:nvSpPr>
          <p:spPr>
            <a:xfrm>
              <a:off x="4013" y="545"/>
              <a:ext cx="1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2" name="未知">
              <a:extLst>
                <a:ext uri="{FF2B5EF4-FFF2-40B4-BE49-F238E27FC236}">
                  <a16:creationId xmlns:a16="http://schemas.microsoft.com/office/drawing/2014/main" id="{8ABBAB5C-EF52-4F79-943A-FF9D0EC68863}"/>
                </a:ext>
              </a:extLst>
            </p:cNvPr>
            <p:cNvSpPr/>
            <p:nvPr/>
          </p:nvSpPr>
          <p:spPr>
            <a:xfrm>
              <a:off x="2288" y="240"/>
              <a:ext cx="468" cy="672"/>
            </a:xfrm>
            <a:custGeom>
              <a:avLst/>
              <a:gdLst/>
              <a:ahLst/>
              <a:cxnLst/>
              <a:rect l="0" t="0" r="0" b="0"/>
              <a:pathLst>
                <a:path w="432" h="672">
                  <a:moveTo>
                    <a:pt x="0" y="0"/>
                  </a:moveTo>
                  <a:cubicBezTo>
                    <a:pt x="12" y="136"/>
                    <a:pt x="24" y="272"/>
                    <a:pt x="96" y="384"/>
                  </a:cubicBezTo>
                  <a:cubicBezTo>
                    <a:pt x="168" y="496"/>
                    <a:pt x="376" y="624"/>
                    <a:pt x="432" y="67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33" name="未知">
              <a:extLst>
                <a:ext uri="{FF2B5EF4-FFF2-40B4-BE49-F238E27FC236}">
                  <a16:creationId xmlns:a16="http://schemas.microsoft.com/office/drawing/2014/main" id="{1FB56D1D-5008-4227-8942-71240889D01A}"/>
                </a:ext>
              </a:extLst>
            </p:cNvPr>
            <p:cNvSpPr/>
            <p:nvPr/>
          </p:nvSpPr>
          <p:spPr>
            <a:xfrm>
              <a:off x="2340" y="288"/>
              <a:ext cx="468" cy="624"/>
            </a:xfrm>
            <a:custGeom>
              <a:avLst/>
              <a:gdLst/>
              <a:ahLst/>
              <a:cxnLst/>
              <a:rect l="0" t="0" r="0" b="0"/>
              <a:pathLst>
                <a:path w="456" h="624">
                  <a:moveTo>
                    <a:pt x="0" y="0"/>
                  </a:moveTo>
                  <a:cubicBezTo>
                    <a:pt x="156" y="68"/>
                    <a:pt x="312" y="136"/>
                    <a:pt x="384" y="240"/>
                  </a:cubicBezTo>
                  <a:cubicBezTo>
                    <a:pt x="456" y="344"/>
                    <a:pt x="424" y="552"/>
                    <a:pt x="432" y="62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34" name="未知">
              <a:extLst>
                <a:ext uri="{FF2B5EF4-FFF2-40B4-BE49-F238E27FC236}">
                  <a16:creationId xmlns:a16="http://schemas.microsoft.com/office/drawing/2014/main" id="{B12705A6-45D1-45B8-8D46-95C150093405}"/>
                </a:ext>
              </a:extLst>
            </p:cNvPr>
            <p:cNvSpPr/>
            <p:nvPr/>
          </p:nvSpPr>
          <p:spPr>
            <a:xfrm>
              <a:off x="1820" y="912"/>
              <a:ext cx="936" cy="144"/>
            </a:xfrm>
            <a:custGeom>
              <a:avLst/>
              <a:gdLst/>
              <a:ahLst/>
              <a:cxnLst/>
              <a:rect l="0" t="0" r="0" b="0"/>
              <a:pathLst>
                <a:path w="864" h="200">
                  <a:moveTo>
                    <a:pt x="0" y="48"/>
                  </a:moveTo>
                  <a:cubicBezTo>
                    <a:pt x="192" y="124"/>
                    <a:pt x="384" y="200"/>
                    <a:pt x="528" y="192"/>
                  </a:cubicBezTo>
                  <a:cubicBezTo>
                    <a:pt x="672" y="184"/>
                    <a:pt x="816" y="32"/>
                    <a:pt x="86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35" name="未知">
              <a:extLst>
                <a:ext uri="{FF2B5EF4-FFF2-40B4-BE49-F238E27FC236}">
                  <a16:creationId xmlns:a16="http://schemas.microsoft.com/office/drawing/2014/main" id="{33C780E7-A5B5-4047-B6DA-E5DA4FC74D37}"/>
                </a:ext>
              </a:extLst>
            </p:cNvPr>
            <p:cNvSpPr/>
            <p:nvPr/>
          </p:nvSpPr>
          <p:spPr>
            <a:xfrm>
              <a:off x="1820" y="864"/>
              <a:ext cx="936" cy="96"/>
            </a:xfrm>
            <a:custGeom>
              <a:avLst/>
              <a:gdLst/>
              <a:ahLst/>
              <a:cxnLst/>
              <a:rect l="0" t="0" r="0" b="0"/>
              <a:pathLst>
                <a:path w="864" h="96">
                  <a:moveTo>
                    <a:pt x="0" y="96"/>
                  </a:moveTo>
                  <a:cubicBezTo>
                    <a:pt x="144" y="48"/>
                    <a:pt x="288" y="0"/>
                    <a:pt x="432" y="0"/>
                  </a:cubicBezTo>
                  <a:cubicBezTo>
                    <a:pt x="576" y="0"/>
                    <a:pt x="720" y="48"/>
                    <a:pt x="864" y="9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36" name="直接连接符 84002">
              <a:extLst>
                <a:ext uri="{FF2B5EF4-FFF2-40B4-BE49-F238E27FC236}">
                  <a16:creationId xmlns:a16="http://schemas.microsoft.com/office/drawing/2014/main" id="{9E7B6771-751F-47B7-B1DE-582ED95D7CAD}"/>
                </a:ext>
              </a:extLst>
            </p:cNvPr>
            <p:cNvSpPr/>
            <p:nvPr/>
          </p:nvSpPr>
          <p:spPr>
            <a:xfrm>
              <a:off x="2652" y="432"/>
              <a:ext cx="5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7" name="直接连接符 84003">
              <a:extLst>
                <a:ext uri="{FF2B5EF4-FFF2-40B4-BE49-F238E27FC236}">
                  <a16:creationId xmlns:a16="http://schemas.microsoft.com/office/drawing/2014/main" id="{E9FA3074-49AE-4B3B-BEFC-ABB809584376}"/>
                </a:ext>
              </a:extLst>
            </p:cNvPr>
            <p:cNvSpPr/>
            <p:nvPr/>
          </p:nvSpPr>
          <p:spPr>
            <a:xfrm flipH="1" flipV="1">
              <a:off x="2392" y="624"/>
              <a:ext cx="5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8" name="直接连接符 84004">
              <a:extLst>
                <a:ext uri="{FF2B5EF4-FFF2-40B4-BE49-F238E27FC236}">
                  <a16:creationId xmlns:a16="http://schemas.microsoft.com/office/drawing/2014/main" id="{60DF309C-A6ED-4A35-BD02-4B64E6CEBF7A}"/>
                </a:ext>
              </a:extLst>
            </p:cNvPr>
            <p:cNvSpPr/>
            <p:nvPr/>
          </p:nvSpPr>
          <p:spPr>
            <a:xfrm>
              <a:off x="2288" y="864"/>
              <a:ext cx="52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9" name="直接连接符 84005">
              <a:extLst>
                <a:ext uri="{FF2B5EF4-FFF2-40B4-BE49-F238E27FC236}">
                  <a16:creationId xmlns:a16="http://schemas.microsoft.com/office/drawing/2014/main" id="{B2418FFE-CDA0-404D-A55F-B932B500E3A4}"/>
                </a:ext>
              </a:extLst>
            </p:cNvPr>
            <p:cNvSpPr/>
            <p:nvPr/>
          </p:nvSpPr>
          <p:spPr>
            <a:xfrm flipH="1">
              <a:off x="2288" y="1056"/>
              <a:ext cx="10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40" name="文本框 84006">
              <a:extLst>
                <a:ext uri="{FF2B5EF4-FFF2-40B4-BE49-F238E27FC236}">
                  <a16:creationId xmlns:a16="http://schemas.microsoft.com/office/drawing/2014/main" id="{43AA8D07-F9EE-4502-B61B-9B93DE963F25}"/>
                </a:ext>
              </a:extLst>
            </p:cNvPr>
            <p:cNvSpPr txBox="1"/>
            <p:nvPr/>
          </p:nvSpPr>
          <p:spPr>
            <a:xfrm>
              <a:off x="312" y="912"/>
              <a:ext cx="260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zh-CN" altLang="en-US" sz="2215" b="1" dirty="0">
                  <a:solidFill>
                    <a:srgbClr val="3333FF"/>
                  </a:solidFill>
                  <a:latin typeface="Arial Narrow" pitchFamily="2" charset="0"/>
                </a:rPr>
                <a:t>1</a:t>
              </a:r>
            </a:p>
          </p:txBody>
        </p:sp>
        <p:sp>
          <p:nvSpPr>
            <p:cNvPr id="41" name="文本框 84007">
              <a:extLst>
                <a:ext uri="{FF2B5EF4-FFF2-40B4-BE49-F238E27FC236}">
                  <a16:creationId xmlns:a16="http://schemas.microsoft.com/office/drawing/2014/main" id="{71D8CF5C-136B-4D05-A4E5-6132A8899D20}"/>
                </a:ext>
              </a:extLst>
            </p:cNvPr>
            <p:cNvSpPr txBox="1"/>
            <p:nvPr/>
          </p:nvSpPr>
          <p:spPr>
            <a:xfrm>
              <a:off x="780" y="240"/>
              <a:ext cx="260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zh-CN" altLang="en-US" sz="2215" b="1" dirty="0">
                  <a:solidFill>
                    <a:srgbClr val="3333FF"/>
                  </a:solidFill>
                  <a:latin typeface="Arial Narrow" pitchFamily="2" charset="0"/>
                </a:rPr>
                <a:t>4</a:t>
              </a:r>
            </a:p>
          </p:txBody>
        </p:sp>
        <p:sp>
          <p:nvSpPr>
            <p:cNvPr id="42" name="文本框 84008">
              <a:extLst>
                <a:ext uri="{FF2B5EF4-FFF2-40B4-BE49-F238E27FC236}">
                  <a16:creationId xmlns:a16="http://schemas.microsoft.com/office/drawing/2014/main" id="{65F959D8-41DF-430D-B26F-3A44BE6A30D7}"/>
                </a:ext>
              </a:extLst>
            </p:cNvPr>
            <p:cNvSpPr txBox="1"/>
            <p:nvPr/>
          </p:nvSpPr>
          <p:spPr>
            <a:xfrm>
              <a:off x="1716" y="912"/>
              <a:ext cx="260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zh-CN" altLang="en-US" sz="2215" b="1" dirty="0">
                  <a:solidFill>
                    <a:srgbClr val="3333FF"/>
                  </a:solidFill>
                  <a:latin typeface="Arial Narrow" pitchFamily="2" charset="0"/>
                </a:rPr>
                <a:t>2</a:t>
              </a:r>
            </a:p>
          </p:txBody>
        </p:sp>
        <p:sp>
          <p:nvSpPr>
            <p:cNvPr id="43" name="文本框 84009">
              <a:extLst>
                <a:ext uri="{FF2B5EF4-FFF2-40B4-BE49-F238E27FC236}">
                  <a16:creationId xmlns:a16="http://schemas.microsoft.com/office/drawing/2014/main" id="{779DF22B-4CFE-4440-A752-0DF29E387311}"/>
                </a:ext>
              </a:extLst>
            </p:cNvPr>
            <p:cNvSpPr txBox="1"/>
            <p:nvPr/>
          </p:nvSpPr>
          <p:spPr>
            <a:xfrm>
              <a:off x="2600" y="912"/>
              <a:ext cx="260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zh-CN" altLang="en-US" sz="2215" b="1" dirty="0">
                  <a:solidFill>
                    <a:srgbClr val="3333FF"/>
                  </a:solidFill>
                  <a:latin typeface="Arial Narrow" pitchFamily="2" charset="0"/>
                </a:rPr>
                <a:t>5</a:t>
              </a:r>
            </a:p>
          </p:txBody>
        </p:sp>
        <p:sp>
          <p:nvSpPr>
            <p:cNvPr id="44" name="文本框 84010">
              <a:extLst>
                <a:ext uri="{FF2B5EF4-FFF2-40B4-BE49-F238E27FC236}">
                  <a16:creationId xmlns:a16="http://schemas.microsoft.com/office/drawing/2014/main" id="{5AAE6DEA-D9A5-489B-BFC9-BB23B642567C}"/>
                </a:ext>
              </a:extLst>
            </p:cNvPr>
            <p:cNvSpPr txBox="1"/>
            <p:nvPr/>
          </p:nvSpPr>
          <p:spPr>
            <a:xfrm>
              <a:off x="2080" y="240"/>
              <a:ext cx="260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zh-CN" altLang="en-US" sz="2215" b="1" dirty="0">
                  <a:solidFill>
                    <a:srgbClr val="3333FF"/>
                  </a:solidFill>
                  <a:latin typeface="Arial Narrow" pitchFamily="2" charset="0"/>
                </a:rPr>
                <a:t>8</a:t>
              </a:r>
            </a:p>
          </p:txBody>
        </p:sp>
        <p:sp>
          <p:nvSpPr>
            <p:cNvPr id="45" name="文本框 84011">
              <a:extLst>
                <a:ext uri="{FF2B5EF4-FFF2-40B4-BE49-F238E27FC236}">
                  <a16:creationId xmlns:a16="http://schemas.microsoft.com/office/drawing/2014/main" id="{4A6D3AFE-3967-43C8-9A0A-68B7F5CF904A}"/>
                </a:ext>
              </a:extLst>
            </p:cNvPr>
            <p:cNvSpPr txBox="1"/>
            <p:nvPr/>
          </p:nvSpPr>
          <p:spPr>
            <a:xfrm>
              <a:off x="3493" y="545"/>
              <a:ext cx="260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zh-CN" altLang="en-US" sz="2215" b="1" dirty="0">
                  <a:solidFill>
                    <a:srgbClr val="3333FF"/>
                  </a:solidFill>
                  <a:latin typeface="Arial Narrow" pitchFamily="2" charset="0"/>
                </a:rPr>
                <a:t>3</a:t>
              </a: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7B90ADE1-C5C0-CFC3-9DAA-33279C569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52053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8A013AA-EE8A-49A2-85F7-1F0CBE13056E}"/>
              </a:ext>
            </a:extLst>
          </p:cNvPr>
          <p:cNvSpPr/>
          <p:nvPr/>
        </p:nvSpPr>
        <p:spPr>
          <a:xfrm>
            <a:off x="1662733" y="1832158"/>
            <a:ext cx="8466423" cy="2611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是非空集合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上的等价关系。定义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集合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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= {a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aA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为集合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关于等价关系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商集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8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记为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A/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。称</a:t>
            </a:r>
            <a:r>
              <a:rPr lang="en-US" altLang="zh-CN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A/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中元素的个数为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秩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668853-B1B1-4FF3-BFA9-AE0A013E0487}"/>
              </a:ext>
            </a:extLst>
          </p:cNvPr>
          <p:cNvSpPr/>
          <p:nvPr/>
        </p:nvSpPr>
        <p:spPr>
          <a:xfrm>
            <a:off x="1662733" y="79967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商集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B92E3D-4F70-4BD5-A7AA-3533519047F3}"/>
              </a:ext>
            </a:extLst>
          </p:cNvPr>
          <p:cNvSpPr/>
          <p:nvPr/>
        </p:nvSpPr>
        <p:spPr>
          <a:xfrm>
            <a:off x="5958051" y="2435591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注意：应去掉重复的类！</a:t>
            </a:r>
            <a:r>
              <a:rPr lang="en-US" altLang="zh-CN" dirty="0"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EB1625A5-DB7E-3899-7C6E-B137341ED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53652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91138">
            <a:extLst>
              <a:ext uri="{FF2B5EF4-FFF2-40B4-BE49-F238E27FC236}">
                <a16:creationId xmlns:a16="http://schemas.microsoft.com/office/drawing/2014/main" id="{C3C4CABF-FAA1-4443-AD9E-1D1045EDAB44}"/>
              </a:ext>
            </a:extLst>
          </p:cNvPr>
          <p:cNvSpPr txBox="1">
            <a:spLocks/>
          </p:cNvSpPr>
          <p:nvPr/>
        </p:nvSpPr>
        <p:spPr>
          <a:xfrm>
            <a:off x="1884716" y="1087084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示例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A={a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,…,a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},  I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=I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{&lt;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&gt;,&lt;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}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都是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上等价关系,  求对应的商集, 其中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A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ij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.  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解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: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A/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={ {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}, {a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},…, {a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}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    A/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U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={ {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,…,a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}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    A/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A/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{{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}} - {{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},{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}}.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70E2A38-1CB4-09D7-5AAB-F47185F0C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01237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F1F04B0-4ED8-439B-A115-FBE6E7F6CED5}"/>
              </a:ext>
            </a:extLst>
          </p:cNvPr>
          <p:cNvSpPr/>
          <p:nvPr/>
        </p:nvSpPr>
        <p:spPr>
          <a:xfrm>
            <a:off x="1571625" y="1963258"/>
            <a:ext cx="1010883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由等价关系可以产生一个分划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，由分划可以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产生一个等价关系；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分划与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等价关系是一一对应的。即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每个分划对应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一个等价关系，且每个等价关系对应一</a:t>
            </a:r>
            <a:r>
              <a:rPr lang="zh-CN" altLang="en-US" sz="2800" dirty="0">
                <a:latin typeface="等线" panose="02010600030101010101" pitchFamily="2" charset="-122"/>
                <a:sym typeface="Symbol" panose="05050102010706020507" pitchFamily="18" charset="2"/>
              </a:rPr>
              <a:t>个分划。</a:t>
            </a:r>
            <a:endParaRPr lang="zh-CN" altLang="en-US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66485E-9C98-FBF3-12FD-E91CA0FCA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673726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2C82B990-FA54-42F9-87F1-8C98A65CB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475" y="4578153"/>
            <a:ext cx="2349724" cy="22798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E92DD8-BC39-4572-AA88-F1B6D9BDB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495" y="1146021"/>
            <a:ext cx="8435575" cy="10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1"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是非空集合</a:t>
            </a:r>
            <a:r>
              <a:rPr kumimoji="1"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1"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上的等价关系，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的商集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A/R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的一个划分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，称之为由</a:t>
            </a:r>
            <a:r>
              <a:rPr kumimoji="1"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所导出的等价划分。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AEF6F-EF78-4CC7-8245-FBA22E5B0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579" y="2806909"/>
            <a:ext cx="11185125" cy="1574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给定集合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一个划分 </a:t>
            </a: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П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={A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},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则由该划分确定的关系</a:t>
            </a:r>
          </a:p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R=(A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)∪(A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×A</a:t>
            </a:r>
            <a:r>
              <a:rPr lang="en-US" altLang="zh-CN" sz="2800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)∪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∪(</a:t>
            </a:r>
            <a:r>
              <a:rPr lang="en-US" altLang="zh-CN" sz="28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25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×A</a:t>
            </a:r>
            <a:r>
              <a:rPr lang="en-US" altLang="zh-CN" sz="2800" baseline="-2500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上的等价关系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。我们称该关系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为由划分</a:t>
            </a:r>
            <a:r>
              <a:rPr kumimoji="0"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П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所导出的等价关系。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F1D4A23-A609-321A-A89D-4F398A9B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13230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93186">
            <a:extLst>
              <a:ext uri="{FF2B5EF4-FFF2-40B4-BE49-F238E27FC236}">
                <a16:creationId xmlns:a16="http://schemas.microsoft.com/office/drawing/2014/main" id="{5A7C9ECB-C4A2-44FB-A729-F0FD82C92D89}"/>
              </a:ext>
            </a:extLst>
          </p:cNvPr>
          <p:cNvSpPr txBox="1">
            <a:spLocks/>
          </p:cNvSpPr>
          <p:nvPr/>
        </p:nvSpPr>
        <p:spPr>
          <a:xfrm>
            <a:off x="1905000" y="865763"/>
            <a:ext cx="8382000" cy="425694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示例 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A={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</a:rPr>
              <a:t>a,b,c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}, 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求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上全体等价关系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解: 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上不同划分共有5种: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= U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, 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=I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{&lt;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b,c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&gt;&lt;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c,b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&gt;}, 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=I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{&lt;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a,c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&gt;&lt;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c,a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&gt;}, 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=I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{&lt;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a,b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&gt;&lt;</a:t>
            </a:r>
            <a:r>
              <a:rPr lang="en-US" altLang="x-none" dirty="0" err="1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b,a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&gt;},   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R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</a:rPr>
              <a:t>=I</a:t>
            </a:r>
            <a:r>
              <a:rPr lang="en-US" altLang="x-none" baseline="-25000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A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EA5B17E-CD5D-484F-A896-1436A44E0D89}"/>
              </a:ext>
            </a:extLst>
          </p:cNvPr>
          <p:cNvGrpSpPr/>
          <p:nvPr/>
        </p:nvGrpSpPr>
        <p:grpSpPr>
          <a:xfrm>
            <a:off x="6994895" y="2467771"/>
            <a:ext cx="4079875" cy="2654935"/>
            <a:chOff x="7514" y="5197"/>
            <a:chExt cx="6425" cy="4181"/>
          </a:xfrm>
        </p:grpSpPr>
        <p:sp>
          <p:nvSpPr>
            <p:cNvPr id="6" name="椭圆 93187">
              <a:extLst>
                <a:ext uri="{FF2B5EF4-FFF2-40B4-BE49-F238E27FC236}">
                  <a16:creationId xmlns:a16="http://schemas.microsoft.com/office/drawing/2014/main" id="{2CD1E91F-140F-4A18-875E-613CC31682F8}"/>
                </a:ext>
              </a:extLst>
            </p:cNvPr>
            <p:cNvSpPr/>
            <p:nvPr/>
          </p:nvSpPr>
          <p:spPr>
            <a:xfrm>
              <a:off x="7514" y="5197"/>
              <a:ext cx="1994" cy="17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93188">
              <a:extLst>
                <a:ext uri="{FF2B5EF4-FFF2-40B4-BE49-F238E27FC236}">
                  <a16:creationId xmlns:a16="http://schemas.microsoft.com/office/drawing/2014/main" id="{CC8E9E8C-7BE2-45F1-8091-55C132AAB5E5}"/>
                </a:ext>
              </a:extLst>
            </p:cNvPr>
            <p:cNvSpPr/>
            <p:nvPr/>
          </p:nvSpPr>
          <p:spPr>
            <a:xfrm>
              <a:off x="8289" y="5529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文本框 93189">
              <a:extLst>
                <a:ext uri="{FF2B5EF4-FFF2-40B4-BE49-F238E27FC236}">
                  <a16:creationId xmlns:a16="http://schemas.microsoft.com/office/drawing/2014/main" id="{6B7781A5-2858-4EE9-86D1-FFC2F19736DF}"/>
                </a:ext>
              </a:extLst>
            </p:cNvPr>
            <p:cNvSpPr txBox="1"/>
            <p:nvPr/>
          </p:nvSpPr>
          <p:spPr>
            <a:xfrm>
              <a:off x="8400" y="5308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a</a:t>
              </a:r>
            </a:p>
          </p:txBody>
        </p:sp>
        <p:sp>
          <p:nvSpPr>
            <p:cNvPr id="9" name="椭圆 93190">
              <a:extLst>
                <a:ext uri="{FF2B5EF4-FFF2-40B4-BE49-F238E27FC236}">
                  <a16:creationId xmlns:a16="http://schemas.microsoft.com/office/drawing/2014/main" id="{49C3E52E-2D31-4168-8DE9-AB83F9367489}"/>
                </a:ext>
              </a:extLst>
            </p:cNvPr>
            <p:cNvSpPr/>
            <p:nvPr/>
          </p:nvSpPr>
          <p:spPr>
            <a:xfrm>
              <a:off x="7846" y="6194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0" name="文本框 93191">
              <a:extLst>
                <a:ext uri="{FF2B5EF4-FFF2-40B4-BE49-F238E27FC236}">
                  <a16:creationId xmlns:a16="http://schemas.microsoft.com/office/drawing/2014/main" id="{05046AB8-CDDF-464B-AC4D-D87B7C185A4C}"/>
                </a:ext>
              </a:extLst>
            </p:cNvPr>
            <p:cNvSpPr txBox="1"/>
            <p:nvPr/>
          </p:nvSpPr>
          <p:spPr>
            <a:xfrm>
              <a:off x="7957" y="597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b</a:t>
              </a:r>
            </a:p>
          </p:txBody>
        </p:sp>
        <p:sp>
          <p:nvSpPr>
            <p:cNvPr id="11" name="椭圆 93192">
              <a:extLst>
                <a:ext uri="{FF2B5EF4-FFF2-40B4-BE49-F238E27FC236}">
                  <a16:creationId xmlns:a16="http://schemas.microsoft.com/office/drawing/2014/main" id="{6728F36B-E36D-48C2-964D-8709886B7A61}"/>
                </a:ext>
              </a:extLst>
            </p:cNvPr>
            <p:cNvSpPr/>
            <p:nvPr/>
          </p:nvSpPr>
          <p:spPr>
            <a:xfrm>
              <a:off x="8843" y="6194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文本框 93193">
              <a:extLst>
                <a:ext uri="{FF2B5EF4-FFF2-40B4-BE49-F238E27FC236}">
                  <a16:creationId xmlns:a16="http://schemas.microsoft.com/office/drawing/2014/main" id="{2B084864-B32D-4E02-9516-464217D442EE}"/>
                </a:ext>
              </a:extLst>
            </p:cNvPr>
            <p:cNvSpPr txBox="1"/>
            <p:nvPr/>
          </p:nvSpPr>
          <p:spPr>
            <a:xfrm>
              <a:off x="8954" y="597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c</a:t>
              </a:r>
            </a:p>
          </p:txBody>
        </p:sp>
        <p:sp>
          <p:nvSpPr>
            <p:cNvPr id="13" name="椭圆 93194">
              <a:extLst>
                <a:ext uri="{FF2B5EF4-FFF2-40B4-BE49-F238E27FC236}">
                  <a16:creationId xmlns:a16="http://schemas.microsoft.com/office/drawing/2014/main" id="{D0BA9B62-7741-4EE2-A740-E6B2671B14F1}"/>
                </a:ext>
              </a:extLst>
            </p:cNvPr>
            <p:cNvSpPr/>
            <p:nvPr/>
          </p:nvSpPr>
          <p:spPr>
            <a:xfrm>
              <a:off x="9729" y="5197"/>
              <a:ext cx="1994" cy="17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椭圆 93195">
              <a:extLst>
                <a:ext uri="{FF2B5EF4-FFF2-40B4-BE49-F238E27FC236}">
                  <a16:creationId xmlns:a16="http://schemas.microsoft.com/office/drawing/2014/main" id="{A4486057-BF71-44FC-8A1B-6D29BEE390BD}"/>
                </a:ext>
              </a:extLst>
            </p:cNvPr>
            <p:cNvSpPr/>
            <p:nvPr/>
          </p:nvSpPr>
          <p:spPr>
            <a:xfrm>
              <a:off x="10505" y="5529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文本框 93196">
              <a:extLst>
                <a:ext uri="{FF2B5EF4-FFF2-40B4-BE49-F238E27FC236}">
                  <a16:creationId xmlns:a16="http://schemas.microsoft.com/office/drawing/2014/main" id="{5AEA86E0-D971-4087-9259-EAAA4175DAFD}"/>
                </a:ext>
              </a:extLst>
            </p:cNvPr>
            <p:cNvSpPr txBox="1"/>
            <p:nvPr/>
          </p:nvSpPr>
          <p:spPr>
            <a:xfrm>
              <a:off x="10615" y="5308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a</a:t>
              </a:r>
            </a:p>
          </p:txBody>
        </p:sp>
        <p:sp>
          <p:nvSpPr>
            <p:cNvPr id="16" name="椭圆 93197">
              <a:extLst>
                <a:ext uri="{FF2B5EF4-FFF2-40B4-BE49-F238E27FC236}">
                  <a16:creationId xmlns:a16="http://schemas.microsoft.com/office/drawing/2014/main" id="{121A6B4A-87D0-4568-8DE2-1F3E06FA1AE4}"/>
                </a:ext>
              </a:extLst>
            </p:cNvPr>
            <p:cNvSpPr/>
            <p:nvPr/>
          </p:nvSpPr>
          <p:spPr>
            <a:xfrm>
              <a:off x="10062" y="6194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7" name="文本框 93198">
              <a:extLst>
                <a:ext uri="{FF2B5EF4-FFF2-40B4-BE49-F238E27FC236}">
                  <a16:creationId xmlns:a16="http://schemas.microsoft.com/office/drawing/2014/main" id="{6A4B870F-B94C-4B6D-B6A8-2EC73DFBA307}"/>
                </a:ext>
              </a:extLst>
            </p:cNvPr>
            <p:cNvSpPr txBox="1"/>
            <p:nvPr/>
          </p:nvSpPr>
          <p:spPr>
            <a:xfrm>
              <a:off x="10172" y="597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b</a:t>
              </a:r>
            </a:p>
          </p:txBody>
        </p:sp>
        <p:sp>
          <p:nvSpPr>
            <p:cNvPr id="18" name="椭圆 93199">
              <a:extLst>
                <a:ext uri="{FF2B5EF4-FFF2-40B4-BE49-F238E27FC236}">
                  <a16:creationId xmlns:a16="http://schemas.microsoft.com/office/drawing/2014/main" id="{B7E69F5E-709C-4A64-A8D1-1F9E8132999D}"/>
                </a:ext>
              </a:extLst>
            </p:cNvPr>
            <p:cNvSpPr/>
            <p:nvPr/>
          </p:nvSpPr>
          <p:spPr>
            <a:xfrm>
              <a:off x="11058" y="6194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9" name="文本框 93200">
              <a:extLst>
                <a:ext uri="{FF2B5EF4-FFF2-40B4-BE49-F238E27FC236}">
                  <a16:creationId xmlns:a16="http://schemas.microsoft.com/office/drawing/2014/main" id="{B18A52F2-96A9-45BF-BFBC-CCCF78EC791D}"/>
                </a:ext>
              </a:extLst>
            </p:cNvPr>
            <p:cNvSpPr txBox="1"/>
            <p:nvPr/>
          </p:nvSpPr>
          <p:spPr>
            <a:xfrm>
              <a:off x="11169" y="597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c</a:t>
              </a:r>
            </a:p>
          </p:txBody>
        </p:sp>
        <p:sp>
          <p:nvSpPr>
            <p:cNvPr id="20" name="椭圆 93201">
              <a:extLst>
                <a:ext uri="{FF2B5EF4-FFF2-40B4-BE49-F238E27FC236}">
                  <a16:creationId xmlns:a16="http://schemas.microsoft.com/office/drawing/2014/main" id="{E2C033D2-01C4-4B2E-93BB-97D8742B098E}"/>
                </a:ext>
              </a:extLst>
            </p:cNvPr>
            <p:cNvSpPr/>
            <p:nvPr/>
          </p:nvSpPr>
          <p:spPr>
            <a:xfrm>
              <a:off x="11945" y="5197"/>
              <a:ext cx="1994" cy="17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1" name="椭圆 93202">
              <a:extLst>
                <a:ext uri="{FF2B5EF4-FFF2-40B4-BE49-F238E27FC236}">
                  <a16:creationId xmlns:a16="http://schemas.microsoft.com/office/drawing/2014/main" id="{764CA1B2-F4A9-465C-8C24-FEA4411BA92D}"/>
                </a:ext>
              </a:extLst>
            </p:cNvPr>
            <p:cNvSpPr/>
            <p:nvPr/>
          </p:nvSpPr>
          <p:spPr>
            <a:xfrm>
              <a:off x="12720" y="5529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2" name="文本框 93203">
              <a:extLst>
                <a:ext uri="{FF2B5EF4-FFF2-40B4-BE49-F238E27FC236}">
                  <a16:creationId xmlns:a16="http://schemas.microsoft.com/office/drawing/2014/main" id="{73CF2CE6-AF03-4BD5-9488-982503D90001}"/>
                </a:ext>
              </a:extLst>
            </p:cNvPr>
            <p:cNvSpPr txBox="1"/>
            <p:nvPr/>
          </p:nvSpPr>
          <p:spPr>
            <a:xfrm>
              <a:off x="12831" y="5308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a</a:t>
              </a:r>
            </a:p>
          </p:txBody>
        </p:sp>
        <p:sp>
          <p:nvSpPr>
            <p:cNvPr id="23" name="椭圆 93204">
              <a:extLst>
                <a:ext uri="{FF2B5EF4-FFF2-40B4-BE49-F238E27FC236}">
                  <a16:creationId xmlns:a16="http://schemas.microsoft.com/office/drawing/2014/main" id="{6E8F64E2-62F5-43AA-B358-E5D82A1A1B3A}"/>
                </a:ext>
              </a:extLst>
            </p:cNvPr>
            <p:cNvSpPr/>
            <p:nvPr/>
          </p:nvSpPr>
          <p:spPr>
            <a:xfrm>
              <a:off x="12277" y="6194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4" name="文本框 93205">
              <a:extLst>
                <a:ext uri="{FF2B5EF4-FFF2-40B4-BE49-F238E27FC236}">
                  <a16:creationId xmlns:a16="http://schemas.microsoft.com/office/drawing/2014/main" id="{56F9BA55-D0F1-4887-83F4-8D8E914F0D2C}"/>
                </a:ext>
              </a:extLst>
            </p:cNvPr>
            <p:cNvSpPr txBox="1"/>
            <p:nvPr/>
          </p:nvSpPr>
          <p:spPr>
            <a:xfrm>
              <a:off x="12388" y="597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b</a:t>
              </a:r>
            </a:p>
          </p:txBody>
        </p:sp>
        <p:sp>
          <p:nvSpPr>
            <p:cNvPr id="25" name="椭圆 93206">
              <a:extLst>
                <a:ext uri="{FF2B5EF4-FFF2-40B4-BE49-F238E27FC236}">
                  <a16:creationId xmlns:a16="http://schemas.microsoft.com/office/drawing/2014/main" id="{92E52EC0-94E1-45C1-9752-982F14549711}"/>
                </a:ext>
              </a:extLst>
            </p:cNvPr>
            <p:cNvSpPr/>
            <p:nvPr/>
          </p:nvSpPr>
          <p:spPr>
            <a:xfrm>
              <a:off x="13274" y="6194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6" name="文本框 93207">
              <a:extLst>
                <a:ext uri="{FF2B5EF4-FFF2-40B4-BE49-F238E27FC236}">
                  <a16:creationId xmlns:a16="http://schemas.microsoft.com/office/drawing/2014/main" id="{EB9D408D-7BD6-4DE1-B158-1E43F11D1F94}"/>
                </a:ext>
              </a:extLst>
            </p:cNvPr>
            <p:cNvSpPr txBox="1"/>
            <p:nvPr/>
          </p:nvSpPr>
          <p:spPr>
            <a:xfrm>
              <a:off x="13385" y="597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c</a:t>
              </a:r>
            </a:p>
          </p:txBody>
        </p:sp>
        <p:sp>
          <p:nvSpPr>
            <p:cNvPr id="27" name="椭圆 93208">
              <a:extLst>
                <a:ext uri="{FF2B5EF4-FFF2-40B4-BE49-F238E27FC236}">
                  <a16:creationId xmlns:a16="http://schemas.microsoft.com/office/drawing/2014/main" id="{91F62B8A-747A-4A5B-9023-4F75A0A5B043}"/>
                </a:ext>
              </a:extLst>
            </p:cNvPr>
            <p:cNvSpPr/>
            <p:nvPr/>
          </p:nvSpPr>
          <p:spPr>
            <a:xfrm>
              <a:off x="8248" y="7606"/>
              <a:ext cx="1994" cy="17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8" name="椭圆 93209">
              <a:extLst>
                <a:ext uri="{FF2B5EF4-FFF2-40B4-BE49-F238E27FC236}">
                  <a16:creationId xmlns:a16="http://schemas.microsoft.com/office/drawing/2014/main" id="{09AE3996-0585-467D-BA09-78962C5BF84E}"/>
                </a:ext>
              </a:extLst>
            </p:cNvPr>
            <p:cNvSpPr/>
            <p:nvPr/>
          </p:nvSpPr>
          <p:spPr>
            <a:xfrm>
              <a:off x="9023" y="7938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9" name="文本框 93210">
              <a:extLst>
                <a:ext uri="{FF2B5EF4-FFF2-40B4-BE49-F238E27FC236}">
                  <a16:creationId xmlns:a16="http://schemas.microsoft.com/office/drawing/2014/main" id="{8E2A3D8A-FC3F-4587-B31A-179644A87C9B}"/>
                </a:ext>
              </a:extLst>
            </p:cNvPr>
            <p:cNvSpPr txBox="1"/>
            <p:nvPr/>
          </p:nvSpPr>
          <p:spPr>
            <a:xfrm>
              <a:off x="9134" y="7717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a</a:t>
              </a:r>
            </a:p>
          </p:txBody>
        </p:sp>
        <p:sp>
          <p:nvSpPr>
            <p:cNvPr id="30" name="椭圆 93211">
              <a:extLst>
                <a:ext uri="{FF2B5EF4-FFF2-40B4-BE49-F238E27FC236}">
                  <a16:creationId xmlns:a16="http://schemas.microsoft.com/office/drawing/2014/main" id="{716BC7F0-9731-48D3-B97E-4253672221DF}"/>
                </a:ext>
              </a:extLst>
            </p:cNvPr>
            <p:cNvSpPr/>
            <p:nvPr/>
          </p:nvSpPr>
          <p:spPr>
            <a:xfrm>
              <a:off x="8580" y="8603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1" name="文本框 93212">
              <a:extLst>
                <a:ext uri="{FF2B5EF4-FFF2-40B4-BE49-F238E27FC236}">
                  <a16:creationId xmlns:a16="http://schemas.microsoft.com/office/drawing/2014/main" id="{D5D25D74-FD20-4A92-A9F5-51CE0179B6E1}"/>
                </a:ext>
              </a:extLst>
            </p:cNvPr>
            <p:cNvSpPr txBox="1"/>
            <p:nvPr/>
          </p:nvSpPr>
          <p:spPr>
            <a:xfrm>
              <a:off x="8691" y="838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b</a:t>
              </a:r>
            </a:p>
          </p:txBody>
        </p:sp>
        <p:sp>
          <p:nvSpPr>
            <p:cNvPr id="32" name="椭圆 93213">
              <a:extLst>
                <a:ext uri="{FF2B5EF4-FFF2-40B4-BE49-F238E27FC236}">
                  <a16:creationId xmlns:a16="http://schemas.microsoft.com/office/drawing/2014/main" id="{0B978975-AEE9-49D9-8AB1-B9A9E91A92FF}"/>
                </a:ext>
              </a:extLst>
            </p:cNvPr>
            <p:cNvSpPr/>
            <p:nvPr/>
          </p:nvSpPr>
          <p:spPr>
            <a:xfrm>
              <a:off x="9577" y="8603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3" name="文本框 93214">
              <a:extLst>
                <a:ext uri="{FF2B5EF4-FFF2-40B4-BE49-F238E27FC236}">
                  <a16:creationId xmlns:a16="http://schemas.microsoft.com/office/drawing/2014/main" id="{17B78C7A-4904-4230-95CB-B3703EB4DF74}"/>
                </a:ext>
              </a:extLst>
            </p:cNvPr>
            <p:cNvSpPr txBox="1"/>
            <p:nvPr/>
          </p:nvSpPr>
          <p:spPr>
            <a:xfrm>
              <a:off x="9744" y="8616"/>
              <a:ext cx="653" cy="6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c</a:t>
              </a:r>
            </a:p>
          </p:txBody>
        </p:sp>
        <p:sp>
          <p:nvSpPr>
            <p:cNvPr id="34" name="椭圆 93215">
              <a:extLst>
                <a:ext uri="{FF2B5EF4-FFF2-40B4-BE49-F238E27FC236}">
                  <a16:creationId xmlns:a16="http://schemas.microsoft.com/office/drawing/2014/main" id="{1D444C27-1977-4D3D-B53C-06C78060D4A1}"/>
                </a:ext>
              </a:extLst>
            </p:cNvPr>
            <p:cNvSpPr/>
            <p:nvPr/>
          </p:nvSpPr>
          <p:spPr>
            <a:xfrm>
              <a:off x="11195" y="7606"/>
              <a:ext cx="1994" cy="177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5" name="椭圆 93216">
              <a:extLst>
                <a:ext uri="{FF2B5EF4-FFF2-40B4-BE49-F238E27FC236}">
                  <a16:creationId xmlns:a16="http://schemas.microsoft.com/office/drawing/2014/main" id="{ADD0CE4E-8186-45BE-B6E7-B94E7D16C64F}"/>
                </a:ext>
              </a:extLst>
            </p:cNvPr>
            <p:cNvSpPr/>
            <p:nvPr/>
          </p:nvSpPr>
          <p:spPr>
            <a:xfrm>
              <a:off x="11970" y="7938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6" name="文本框 93217">
              <a:extLst>
                <a:ext uri="{FF2B5EF4-FFF2-40B4-BE49-F238E27FC236}">
                  <a16:creationId xmlns:a16="http://schemas.microsoft.com/office/drawing/2014/main" id="{19A4BB1D-82D4-474F-95CD-1F60CF07E861}"/>
                </a:ext>
              </a:extLst>
            </p:cNvPr>
            <p:cNvSpPr txBox="1"/>
            <p:nvPr/>
          </p:nvSpPr>
          <p:spPr>
            <a:xfrm>
              <a:off x="12081" y="7717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a</a:t>
              </a:r>
            </a:p>
          </p:txBody>
        </p:sp>
        <p:sp>
          <p:nvSpPr>
            <p:cNvPr id="37" name="椭圆 93218">
              <a:extLst>
                <a:ext uri="{FF2B5EF4-FFF2-40B4-BE49-F238E27FC236}">
                  <a16:creationId xmlns:a16="http://schemas.microsoft.com/office/drawing/2014/main" id="{CE7C8493-F799-4DDE-9435-0ADE67D2AF97}"/>
                </a:ext>
              </a:extLst>
            </p:cNvPr>
            <p:cNvSpPr/>
            <p:nvPr/>
          </p:nvSpPr>
          <p:spPr>
            <a:xfrm>
              <a:off x="11527" y="8603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8" name="文本框 93219">
              <a:extLst>
                <a:ext uri="{FF2B5EF4-FFF2-40B4-BE49-F238E27FC236}">
                  <a16:creationId xmlns:a16="http://schemas.microsoft.com/office/drawing/2014/main" id="{ED6BF315-6096-410B-98D7-39BEBA27C79F}"/>
                </a:ext>
              </a:extLst>
            </p:cNvPr>
            <p:cNvSpPr txBox="1"/>
            <p:nvPr/>
          </p:nvSpPr>
          <p:spPr>
            <a:xfrm>
              <a:off x="11638" y="838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b</a:t>
              </a:r>
            </a:p>
          </p:txBody>
        </p:sp>
        <p:sp>
          <p:nvSpPr>
            <p:cNvPr id="39" name="椭圆 93220">
              <a:extLst>
                <a:ext uri="{FF2B5EF4-FFF2-40B4-BE49-F238E27FC236}">
                  <a16:creationId xmlns:a16="http://schemas.microsoft.com/office/drawing/2014/main" id="{3EAB9F32-7881-45C7-A9C9-F78E91982C9D}"/>
                </a:ext>
              </a:extLst>
            </p:cNvPr>
            <p:cNvSpPr/>
            <p:nvPr/>
          </p:nvSpPr>
          <p:spPr>
            <a:xfrm>
              <a:off x="12524" y="8603"/>
              <a:ext cx="222" cy="222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40" name="文本框 93221">
              <a:extLst>
                <a:ext uri="{FF2B5EF4-FFF2-40B4-BE49-F238E27FC236}">
                  <a16:creationId xmlns:a16="http://schemas.microsoft.com/office/drawing/2014/main" id="{65FD0579-9536-4FB3-A68F-4FDA4D8EE874}"/>
                </a:ext>
              </a:extLst>
            </p:cNvPr>
            <p:cNvSpPr txBox="1"/>
            <p:nvPr/>
          </p:nvSpPr>
          <p:spPr>
            <a:xfrm>
              <a:off x="12635" y="8382"/>
              <a:ext cx="554" cy="6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solidFill>
                    <a:srgbClr val="CC0000"/>
                  </a:solidFill>
                  <a:latin typeface="Arial Narrow" pitchFamily="2" charset="0"/>
                </a:rPr>
                <a:t>c</a:t>
              </a:r>
            </a:p>
          </p:txBody>
        </p:sp>
        <p:sp>
          <p:nvSpPr>
            <p:cNvPr id="41" name="未知">
              <a:extLst>
                <a:ext uri="{FF2B5EF4-FFF2-40B4-BE49-F238E27FC236}">
                  <a16:creationId xmlns:a16="http://schemas.microsoft.com/office/drawing/2014/main" id="{59C91C71-397F-4D9A-89CE-55CCD36ED946}"/>
                </a:ext>
              </a:extLst>
            </p:cNvPr>
            <p:cNvSpPr/>
            <p:nvPr/>
          </p:nvSpPr>
          <p:spPr>
            <a:xfrm>
              <a:off x="9840" y="5640"/>
              <a:ext cx="1772" cy="388"/>
            </a:xfrm>
            <a:custGeom>
              <a:avLst/>
              <a:gdLst/>
              <a:ahLst/>
              <a:cxnLst/>
              <a:rect l="0" t="0" r="0" b="0"/>
              <a:pathLst>
                <a:path w="768" h="168">
                  <a:moveTo>
                    <a:pt x="0" y="0"/>
                  </a:moveTo>
                  <a:cubicBezTo>
                    <a:pt x="120" y="60"/>
                    <a:pt x="240" y="120"/>
                    <a:pt x="336" y="144"/>
                  </a:cubicBezTo>
                  <a:cubicBezTo>
                    <a:pt x="432" y="168"/>
                    <a:pt x="504" y="160"/>
                    <a:pt x="576" y="144"/>
                  </a:cubicBezTo>
                  <a:cubicBezTo>
                    <a:pt x="648" y="128"/>
                    <a:pt x="720" y="48"/>
                    <a:pt x="768" y="4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42" name="未知">
              <a:extLst>
                <a:ext uri="{FF2B5EF4-FFF2-40B4-BE49-F238E27FC236}">
                  <a16:creationId xmlns:a16="http://schemas.microsoft.com/office/drawing/2014/main" id="{800E3F2B-11A7-4261-AE53-BD4EC90FFBF6}"/>
                </a:ext>
              </a:extLst>
            </p:cNvPr>
            <p:cNvSpPr/>
            <p:nvPr/>
          </p:nvSpPr>
          <p:spPr>
            <a:xfrm>
              <a:off x="11945" y="5862"/>
              <a:ext cx="1108" cy="1108"/>
            </a:xfrm>
            <a:custGeom>
              <a:avLst/>
              <a:gdLst/>
              <a:ahLst/>
              <a:cxnLst/>
              <a:rect l="0" t="0" r="0" b="0"/>
              <a:pathLst>
                <a:path w="480" h="480">
                  <a:moveTo>
                    <a:pt x="0" y="0"/>
                  </a:moveTo>
                  <a:cubicBezTo>
                    <a:pt x="108" y="8"/>
                    <a:pt x="216" y="16"/>
                    <a:pt x="288" y="48"/>
                  </a:cubicBezTo>
                  <a:cubicBezTo>
                    <a:pt x="360" y="80"/>
                    <a:pt x="400" y="120"/>
                    <a:pt x="432" y="192"/>
                  </a:cubicBezTo>
                  <a:cubicBezTo>
                    <a:pt x="464" y="264"/>
                    <a:pt x="472" y="372"/>
                    <a:pt x="480" y="48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43" name="未知">
              <a:extLst>
                <a:ext uri="{FF2B5EF4-FFF2-40B4-BE49-F238E27FC236}">
                  <a16:creationId xmlns:a16="http://schemas.microsoft.com/office/drawing/2014/main" id="{18E2FC4A-02AD-4714-925D-68DC19FD58F1}"/>
                </a:ext>
              </a:extLst>
            </p:cNvPr>
            <p:cNvSpPr/>
            <p:nvPr/>
          </p:nvSpPr>
          <p:spPr>
            <a:xfrm>
              <a:off x="9134" y="8326"/>
              <a:ext cx="1108" cy="1052"/>
            </a:xfrm>
            <a:custGeom>
              <a:avLst/>
              <a:gdLst/>
              <a:ahLst/>
              <a:cxnLst/>
              <a:rect l="0" t="0" r="0" b="0"/>
              <a:pathLst>
                <a:path w="480" h="456">
                  <a:moveTo>
                    <a:pt x="480" y="24"/>
                  </a:moveTo>
                  <a:cubicBezTo>
                    <a:pt x="372" y="12"/>
                    <a:pt x="264" y="0"/>
                    <a:pt x="192" y="24"/>
                  </a:cubicBezTo>
                  <a:cubicBezTo>
                    <a:pt x="120" y="48"/>
                    <a:pt x="80" y="96"/>
                    <a:pt x="48" y="168"/>
                  </a:cubicBezTo>
                  <a:cubicBezTo>
                    <a:pt x="16" y="240"/>
                    <a:pt x="8" y="348"/>
                    <a:pt x="0" y="45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44" name="未知">
              <a:extLst>
                <a:ext uri="{FF2B5EF4-FFF2-40B4-BE49-F238E27FC236}">
                  <a16:creationId xmlns:a16="http://schemas.microsoft.com/office/drawing/2014/main" id="{B2ED3E12-A1D9-455E-8609-261069BAD7A3}"/>
                </a:ext>
              </a:extLst>
            </p:cNvPr>
            <p:cNvSpPr/>
            <p:nvPr/>
          </p:nvSpPr>
          <p:spPr>
            <a:xfrm>
              <a:off x="11305" y="8160"/>
              <a:ext cx="1772" cy="388"/>
            </a:xfrm>
            <a:custGeom>
              <a:avLst/>
              <a:gdLst/>
              <a:ahLst/>
              <a:cxnLst/>
              <a:rect l="0" t="0" r="0" b="0"/>
              <a:pathLst>
                <a:path w="768" h="168">
                  <a:moveTo>
                    <a:pt x="0" y="0"/>
                  </a:moveTo>
                  <a:cubicBezTo>
                    <a:pt x="120" y="60"/>
                    <a:pt x="240" y="120"/>
                    <a:pt x="336" y="144"/>
                  </a:cubicBezTo>
                  <a:cubicBezTo>
                    <a:pt x="432" y="168"/>
                    <a:pt x="504" y="160"/>
                    <a:pt x="576" y="144"/>
                  </a:cubicBezTo>
                  <a:cubicBezTo>
                    <a:pt x="648" y="128"/>
                    <a:pt x="720" y="48"/>
                    <a:pt x="768" y="4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  <p:sp>
          <p:nvSpPr>
            <p:cNvPr id="45" name="未知">
              <a:extLst>
                <a:ext uri="{FF2B5EF4-FFF2-40B4-BE49-F238E27FC236}">
                  <a16:creationId xmlns:a16="http://schemas.microsoft.com/office/drawing/2014/main" id="{21824683-33B1-4CEF-B27B-76BF2A16F46C}"/>
                </a:ext>
              </a:extLst>
            </p:cNvPr>
            <p:cNvSpPr/>
            <p:nvPr/>
          </p:nvSpPr>
          <p:spPr>
            <a:xfrm>
              <a:off x="12192" y="8492"/>
              <a:ext cx="18" cy="886"/>
            </a:xfrm>
            <a:custGeom>
              <a:avLst/>
              <a:gdLst/>
              <a:ahLst/>
              <a:cxnLst/>
              <a:rect l="0" t="0" r="0" b="0"/>
              <a:pathLst>
                <a:path w="8" h="384">
                  <a:moveTo>
                    <a:pt x="0" y="0"/>
                  </a:moveTo>
                  <a:cubicBezTo>
                    <a:pt x="0" y="88"/>
                    <a:pt x="0" y="176"/>
                    <a:pt x="0" y="240"/>
                  </a:cubicBezTo>
                  <a:cubicBezTo>
                    <a:pt x="0" y="304"/>
                    <a:pt x="8" y="360"/>
                    <a:pt x="0" y="38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585"/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E834B469-0099-A0C6-EB66-67048056A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4454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3">
            <a:extLst>
              <a:ext uri="{FF2B5EF4-FFF2-40B4-BE49-F238E27FC236}">
                <a16:creationId xmlns:a16="http://schemas.microsoft.com/office/drawing/2014/main" id="{D4858EDB-7526-479B-9916-7500F651A9DD}"/>
              </a:ext>
            </a:extLst>
          </p:cNvPr>
          <p:cNvSpPr txBox="1">
            <a:spLocks noChangeArrowheads="1"/>
          </p:cNvSpPr>
          <p:nvPr/>
        </p:nvSpPr>
        <p:spPr>
          <a:xfrm>
            <a:off x="1488900" y="1037221"/>
            <a:ext cx="10571337" cy="3816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上的自反和传递关系，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上的关系，且满足：</a:t>
            </a:r>
            <a:r>
              <a:rPr lang="es-E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&lt;x,y&gt;∈S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s-E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(&lt;x,y&gt;∈R∧&lt;y,x&gt;∈R)</a:t>
            </a:r>
          </a:p>
          <a:p>
            <a:pPr marL="0" indent="0">
              <a:buNone/>
            </a:pPr>
            <a:r>
              <a:rPr lang="zh-CN" alt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上的等价关系。</a:t>
            </a:r>
          </a:p>
          <a:p>
            <a:pPr>
              <a:lnSpc>
                <a:spcPct val="100000"/>
              </a:lnSpc>
            </a:pP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48A4AE7E-5345-46E1-B8F2-ED321EE3D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861" y="3429000"/>
            <a:ext cx="9271045" cy="228780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a,b,c∈A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&gt;∈R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并且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&gt;∈R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&gt;∈R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上的循环关系。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试证明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上的一个等价关系的充要条件是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是循环关系和自反关系。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62D648F-1FB1-3E3D-D85D-5FFBB889D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74647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8891C25-971C-4FC8-A9A3-AF1CDB9344B6}"/>
              </a:ext>
            </a:extLst>
          </p:cNvPr>
          <p:cNvSpPr txBox="1">
            <a:spLocks noChangeArrowheads="1"/>
          </p:cNvSpPr>
          <p:nvPr/>
        </p:nvSpPr>
        <p:spPr>
          <a:xfrm>
            <a:off x="1348035" y="2034179"/>
            <a:ext cx="10015382" cy="33194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是非空集合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上的关系，如果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反自反和传递的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上的拟序关系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(Quasi-Order Relation)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拟序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，记为“＜”，读作“小于”，并将“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＜”记为“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。序偶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称为拟序集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(Quasi-Order Set)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FC44AC-D298-4357-8932-FA52B56490B7}"/>
              </a:ext>
            </a:extLst>
          </p:cNvPr>
          <p:cNvSpPr txBox="1"/>
          <p:nvPr/>
        </p:nvSpPr>
        <p:spPr>
          <a:xfrm>
            <a:off x="2284150" y="5079533"/>
            <a:ext cx="7623700" cy="54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>
                <a:tab pos="4749800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设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是集合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上的拟序关系，则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是反对称的。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C785-7898-4CDB-9BA2-3F956899287C}"/>
              </a:ext>
            </a:extLst>
          </p:cNvPr>
          <p:cNvSpPr txBox="1"/>
          <p:nvPr/>
        </p:nvSpPr>
        <p:spPr>
          <a:xfrm>
            <a:off x="1571625" y="1160183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拟序关系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3AA74D4-57A9-AA9E-BD9E-FF835295E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Specific Relations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35886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678F597-EA20-4510-961C-E94483931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1701926"/>
            <a:ext cx="8971996" cy="380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37978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136424B-71AA-4671-97BA-8A7AE73B9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1976486"/>
            <a:ext cx="9423633" cy="345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20082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3013</TotalTime>
  <Words>1803</Words>
  <Application>Microsoft Office PowerPoint</Application>
  <PresentationFormat>宽屏</PresentationFormat>
  <Paragraphs>214</Paragraphs>
  <Slides>24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等线</vt:lpstr>
      <vt:lpstr>等线 Light</vt:lpstr>
      <vt:lpstr>黑体</vt:lpstr>
      <vt:lpstr>KaiTi</vt:lpstr>
      <vt:lpstr>楷体_GB2312</vt:lpstr>
      <vt:lpstr>宋体</vt:lpstr>
      <vt:lpstr>Microsoft YaHei</vt:lpstr>
      <vt:lpstr>Microsoft YaHei Light</vt:lpstr>
      <vt:lpstr>Arial</vt:lpstr>
      <vt:lpstr>Arial Black</vt:lpstr>
      <vt:lpstr>Arial Narrow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32</cp:revision>
  <dcterms:created xsi:type="dcterms:W3CDTF">2021-11-05T13:12:46Z</dcterms:created>
  <dcterms:modified xsi:type="dcterms:W3CDTF">2025-11-18T12:07:36Z</dcterms:modified>
</cp:coreProperties>
</file>