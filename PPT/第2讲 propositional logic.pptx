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445" r:id="rId2"/>
    <p:sldId id="485" r:id="rId3"/>
    <p:sldId id="564" r:id="rId4"/>
    <p:sldId id="565" r:id="rId5"/>
    <p:sldId id="566" r:id="rId6"/>
    <p:sldId id="567" r:id="rId7"/>
    <p:sldId id="605" r:id="rId8"/>
    <p:sldId id="599" r:id="rId9"/>
    <p:sldId id="576" r:id="rId10"/>
    <p:sldId id="577" r:id="rId11"/>
    <p:sldId id="578" r:id="rId12"/>
    <p:sldId id="579" r:id="rId13"/>
    <p:sldId id="580" r:id="rId14"/>
    <p:sldId id="581" r:id="rId15"/>
    <p:sldId id="582" r:id="rId16"/>
    <p:sldId id="620" r:id="rId17"/>
    <p:sldId id="584" r:id="rId18"/>
    <p:sldId id="585" r:id="rId19"/>
    <p:sldId id="586" r:id="rId20"/>
    <p:sldId id="587" r:id="rId21"/>
    <p:sldId id="588" r:id="rId22"/>
    <p:sldId id="589" r:id="rId23"/>
    <p:sldId id="590" r:id="rId24"/>
    <p:sldId id="591" r:id="rId25"/>
    <p:sldId id="592" r:id="rId26"/>
    <p:sldId id="593" r:id="rId27"/>
    <p:sldId id="594" r:id="rId28"/>
    <p:sldId id="610" r:id="rId29"/>
    <p:sldId id="505" r:id="rId30"/>
    <p:sldId id="611" r:id="rId31"/>
    <p:sldId id="621" r:id="rId32"/>
    <p:sldId id="622" r:id="rId33"/>
    <p:sldId id="507" r:id="rId34"/>
    <p:sldId id="509" r:id="rId35"/>
    <p:sldId id="532" r:id="rId36"/>
    <p:sldId id="510" r:id="rId37"/>
    <p:sldId id="511" r:id="rId38"/>
    <p:sldId id="623" r:id="rId39"/>
    <p:sldId id="513" r:id="rId40"/>
    <p:sldId id="537" r:id="rId41"/>
    <p:sldId id="514" r:id="rId42"/>
    <p:sldId id="515" r:id="rId43"/>
    <p:sldId id="539" r:id="rId44"/>
    <p:sldId id="540" r:id="rId45"/>
    <p:sldId id="541" r:id="rId46"/>
    <p:sldId id="615" r:id="rId47"/>
    <p:sldId id="1161" r:id="rId48"/>
    <p:sldId id="595" r:id="rId49"/>
    <p:sldId id="598" r:id="rId50"/>
    <p:sldId id="667" r:id="rId51"/>
    <p:sldId id="635" r:id="rId52"/>
    <p:sldId id="1162" r:id="rId53"/>
    <p:sldId id="1163" r:id="rId54"/>
    <p:sldId id="1164" r:id="rId55"/>
    <p:sldId id="1165" r:id="rId56"/>
    <p:sldId id="583" r:id="rId57"/>
    <p:sldId id="1166" r:id="rId58"/>
    <p:sldId id="1167" r:id="rId59"/>
    <p:sldId id="1168" r:id="rId60"/>
    <p:sldId id="1169" r:id="rId6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3AE5B-2103-42CD-9DF1-815278D0261B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5B60B-4F0E-4965-9F76-D0AD83B6F1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987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48EFCBA1-A7E9-4FDA-BF25-F9B9DB298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5525849-9607-4614-8455-BBEFD3FED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149D7589-C6B5-4560-A2A2-9176D092A5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2DE769-E444-4A26-A21C-A6552BF1AB5B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583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20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516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B1D6E76F-D7AF-496D-AE0B-26722EB9AB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06785819-B626-4D3A-9B7B-507EAEFBC0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720638F7-78D8-4B8A-8A59-2A95354BAB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E5DD773-707E-4055-9641-D1EBF7E05A5C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91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827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id="{7BC8A11A-EC45-4E66-BBC1-FBD0F1EE6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id="{401D653D-E01F-48E9-BCEF-269609EF6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3B4C71B7-F4E5-4585-8473-D608CEA375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7B27957-0BFF-4E17-B2BF-28876AA6CC70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409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id="{7BC8A11A-EC45-4E66-BBC1-FBD0F1EE6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id="{401D653D-E01F-48E9-BCEF-269609EF6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3B4C71B7-F4E5-4585-8473-D608CEA375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7B27957-0BFF-4E17-B2BF-28876AA6CC70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05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>
            <a:extLst>
              <a:ext uri="{FF2B5EF4-FFF2-40B4-BE49-F238E27FC236}">
                <a16:creationId xmlns:a16="http://schemas.microsoft.com/office/drawing/2014/main" id="{B9548750-C79A-4D12-A13A-C90671BC84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备注占位符 2">
            <a:extLst>
              <a:ext uri="{FF2B5EF4-FFF2-40B4-BE49-F238E27FC236}">
                <a16:creationId xmlns:a16="http://schemas.microsoft.com/office/drawing/2014/main" id="{A47324B0-EC78-4A86-8778-E123C945E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8852" name="灯片编号占位符 3">
            <a:extLst>
              <a:ext uri="{FF2B5EF4-FFF2-40B4-BE49-F238E27FC236}">
                <a16:creationId xmlns:a16="http://schemas.microsoft.com/office/drawing/2014/main" id="{669FDBDE-9A3B-440F-A351-3AC76EF5EA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27EF7C4-EB75-457E-93CE-AAFF9A895908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446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>
            <a:extLst>
              <a:ext uri="{FF2B5EF4-FFF2-40B4-BE49-F238E27FC236}">
                <a16:creationId xmlns:a16="http://schemas.microsoft.com/office/drawing/2014/main" id="{8AB2615A-A321-463E-BBB8-E8A6F4BE24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备注占位符 2">
            <a:extLst>
              <a:ext uri="{FF2B5EF4-FFF2-40B4-BE49-F238E27FC236}">
                <a16:creationId xmlns:a16="http://schemas.microsoft.com/office/drawing/2014/main" id="{011E9D44-86D7-432A-9B27-7D5ED2E09B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1140" name="灯片编号占位符 3">
            <a:extLst>
              <a:ext uri="{FF2B5EF4-FFF2-40B4-BE49-F238E27FC236}">
                <a16:creationId xmlns:a16="http://schemas.microsoft.com/office/drawing/2014/main" id="{DC0ADD51-90D8-4996-BC39-CC439FC7C6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CC72249-B5E0-4D59-A788-233C7A01025B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814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>
            <a:extLst>
              <a:ext uri="{FF2B5EF4-FFF2-40B4-BE49-F238E27FC236}">
                <a16:creationId xmlns:a16="http://schemas.microsoft.com/office/drawing/2014/main" id="{2D0AD068-6385-452E-B9EA-891C820EC0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备注占位符 2">
            <a:extLst>
              <a:ext uri="{FF2B5EF4-FFF2-40B4-BE49-F238E27FC236}">
                <a16:creationId xmlns:a16="http://schemas.microsoft.com/office/drawing/2014/main" id="{835F9B43-BCAE-4CB0-92D9-705E6FDCF7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3188" name="灯片编号占位符 3">
            <a:extLst>
              <a:ext uri="{FF2B5EF4-FFF2-40B4-BE49-F238E27FC236}">
                <a16:creationId xmlns:a16="http://schemas.microsoft.com/office/drawing/2014/main" id="{5D9CC48C-702F-4287-AC88-F9DD2C2999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EC2F175-F1FC-4548-A860-AA3E51151208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160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>
            <a:extLst>
              <a:ext uri="{FF2B5EF4-FFF2-40B4-BE49-F238E27FC236}">
                <a16:creationId xmlns:a16="http://schemas.microsoft.com/office/drawing/2014/main" id="{01BBDCC1-2406-4D24-BDFE-BAA3D3876C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备注占位符 2">
            <a:extLst>
              <a:ext uri="{FF2B5EF4-FFF2-40B4-BE49-F238E27FC236}">
                <a16:creationId xmlns:a16="http://schemas.microsoft.com/office/drawing/2014/main" id="{BC807ECC-BF10-4309-9D1C-1B2B0A30E4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5236" name="灯片编号占位符 3">
            <a:extLst>
              <a:ext uri="{FF2B5EF4-FFF2-40B4-BE49-F238E27FC236}">
                <a16:creationId xmlns:a16="http://schemas.microsoft.com/office/drawing/2014/main" id="{AF93BBE7-8B5E-4A6B-962A-1EC24363EB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186DB6A-C900-425B-A1CC-5D275D23B518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444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130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>
            <a:extLst>
              <a:ext uri="{FF2B5EF4-FFF2-40B4-BE49-F238E27FC236}">
                <a16:creationId xmlns:a16="http://schemas.microsoft.com/office/drawing/2014/main" id="{049316C8-552D-458B-BE1C-0A8E2A8A0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备注占位符 2">
            <a:extLst>
              <a:ext uri="{FF2B5EF4-FFF2-40B4-BE49-F238E27FC236}">
                <a16:creationId xmlns:a16="http://schemas.microsoft.com/office/drawing/2014/main" id="{D92BD1A9-63B2-4891-B821-C694FD17F9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5236" name="灯片编号占位符 3">
            <a:extLst>
              <a:ext uri="{FF2B5EF4-FFF2-40B4-BE49-F238E27FC236}">
                <a16:creationId xmlns:a16="http://schemas.microsoft.com/office/drawing/2014/main" id="{76AFBDFE-6E66-4D2D-89A3-745295C50D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45FB33-DEBC-4B31-88AD-3D256ACF667C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8305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>
            <a:extLst>
              <a:ext uri="{FF2B5EF4-FFF2-40B4-BE49-F238E27FC236}">
                <a16:creationId xmlns:a16="http://schemas.microsoft.com/office/drawing/2014/main" id="{049316C8-552D-458B-BE1C-0A8E2A8A0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备注占位符 2">
            <a:extLst>
              <a:ext uri="{FF2B5EF4-FFF2-40B4-BE49-F238E27FC236}">
                <a16:creationId xmlns:a16="http://schemas.microsoft.com/office/drawing/2014/main" id="{D92BD1A9-63B2-4891-B821-C694FD17F9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5236" name="灯片编号占位符 3">
            <a:extLst>
              <a:ext uri="{FF2B5EF4-FFF2-40B4-BE49-F238E27FC236}">
                <a16:creationId xmlns:a16="http://schemas.microsoft.com/office/drawing/2014/main" id="{76AFBDFE-6E66-4D2D-89A3-745295C50D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45FB33-DEBC-4B31-88AD-3D256ACF667C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524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9566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879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4409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2918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437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96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175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245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0919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2632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5399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3313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9345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2708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3771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6020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8001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9282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6702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8817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7413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695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5725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925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7454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7767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7381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99853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1759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4966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1965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2318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79038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1054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05284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98513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880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74428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43824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0777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04494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36781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98826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33311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61452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047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0CB9E-90F4-44ED-B479-251C2D2C4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0D025C-825F-4E31-8545-06058A35D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65DE34-F190-4782-AB18-D850CB95E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195F3-4427-4F13-8A17-5E3E9972E1FF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A40151-62F9-471B-B064-1B553A2FB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7E767B-5799-4A52-901C-11CF64AD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54-15BD-4C36-9B5A-9C0B3F0F6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901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D0E133-AB0D-4D7A-AC21-F297922C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D34786-8118-449A-A9EF-7B63A6063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F94622-9F55-416B-979B-1DCAFD4DF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195F3-4427-4F13-8A17-5E3E9972E1FF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C5120C-649D-4A1B-AAB4-9CA52E937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AEF104-C9A7-4A17-AC95-6B4CC950E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54-15BD-4C36-9B5A-9C0B3F0F6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21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1B06A-A871-4019-B8FB-3DC07FDE4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9793EB-5566-4695-ACFC-080B648B9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53E018-B6CC-4A89-A58A-2F69B3C74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195F3-4427-4F13-8A17-5E3E9972E1FF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313A0C-103A-4C9C-AA66-B368ED25B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0EB2DC-5C50-4791-80AF-7F4012650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54-15BD-4C36-9B5A-9C0B3F0F6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30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D4D82-B596-4529-9743-26811C99B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659F0-BE8F-467C-84B5-30C6129261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0652F7-78C7-4352-9E3A-F5348ECAB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BC69D3-14CB-4CEE-95EE-3ECEEDF44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195F3-4427-4F13-8A17-5E3E9972E1FF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794BF-6303-4577-8BAF-EBA8FF52F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5B548E-6047-40DF-9D4C-9A5917142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54-15BD-4C36-9B5A-9C0B3F0F6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882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F2A88-B0C7-4353-9015-65B4FD19D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E7DCB2-9B0E-4FDB-BF06-CE529921A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4B7FCE-3B05-415B-BDA1-A96D556C4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69E2092-6942-44F0-8AD1-F48792B71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ABB4FE-DF21-4752-ABD0-B43E6675B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1CC56E-EC62-4A76-A5DE-FF0896B55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195F3-4427-4F13-8A17-5E3E9972E1FF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DB9B96-2322-452C-A398-08B60BB01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AA4A8F-118D-4DB7-B231-284433082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54-15BD-4C36-9B5A-9C0B3F0F6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001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148F7A-02E7-4A5A-9514-B739A8BEA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A4A8D3-B1DF-4DBD-BBB2-A6D2E2864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195F3-4427-4F13-8A17-5E3E9972E1FF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EE366C-5E79-47A9-8989-A499F385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3E5004-8F93-4427-AA93-4AFCE29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54-15BD-4C36-9B5A-9C0B3F0F6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761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DA8B28-69E2-4091-A8B7-DCB98731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195F3-4427-4F13-8A17-5E3E9972E1FF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622E18-7985-4F5B-BD0C-1946F1CE0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FA03E1-53E4-435D-AD11-A1B71F072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54-15BD-4C36-9B5A-9C0B3F0F6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32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28B3F-623E-4B5F-A922-D90053CC9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526BD9-98D8-4DE8-BE9E-E4AA5D06B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B560A0-4501-49CD-BE9C-C882BD396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D9783F-4CE5-4CDD-87A8-975F8B4E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195F3-4427-4F13-8A17-5E3E9972E1FF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11EE20-ADFB-4533-B372-8BC9740FB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136C18-B059-4214-BA68-2143880C8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54-15BD-4C36-9B5A-9C0B3F0F6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146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01AD0-983D-4828-A59A-976E08D6C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45FE73-40FA-43F2-AD83-D20C666D55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AF75F7-CD69-4D9D-A648-7236FAB93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13D5B0-3711-4CA6-80D6-71E794091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195F3-4427-4F13-8A17-5E3E9972E1FF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C095EA-54D5-4C5C-A0D7-BA2E8853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1F0854-2638-440A-8855-53F1584F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54-15BD-4C36-9B5A-9C0B3F0F6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21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E9E25-F1D2-4E1D-B3A6-086F18BA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AC62E9-AEB2-47BB-B5BB-B7B1F0760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CAB45-71F6-4A44-A106-5ACBA5C4F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195F3-4427-4F13-8A17-5E3E9972E1FF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D67922-7BB8-4C0D-B3A7-4A9B97210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49F5E7-409B-4717-812E-D244B744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54-15BD-4C36-9B5A-9C0B3F0F6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84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8DA366-554E-4736-8DC9-CA06BDAB7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524808-1AA9-4064-931D-7586CB7C2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36076B-1BDE-428B-A957-B5A29A3A8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195F3-4427-4F13-8A17-5E3E9972E1FF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F593D7-14C9-4862-A782-01AD79BD5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F458CE-F3BA-4078-A95B-BD84D223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E154-15BD-4C36-9B5A-9C0B3F0F6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205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839584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D34AD1-67ED-4501-9AAC-3AE021C65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FA5E14-B27F-439B-B1C0-6172ABF0A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7F5C3B-BC17-4273-AE7A-862332E80C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195F3-4427-4F13-8A17-5E3E9972E1FF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3E7D54-5FD5-42EF-B286-90F90A0D3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06F26E-2C39-4BE7-BC3D-450243317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0E154-15BD-4C36-9B5A-9C0B3F0F6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25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9F1D2898-42B2-499F-8FFF-210EA3D17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7EA50814-1F08-45AD-9A84-5CDA3742A72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8CCB2428-5005-4264-98D3-20072D93A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1180079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标题 5121">
            <a:extLst>
              <a:ext uri="{FF2B5EF4-FFF2-40B4-BE49-F238E27FC236}">
                <a16:creationId xmlns:a16="http://schemas.microsoft.com/office/drawing/2014/main" id="{BD3B8202-9B15-491A-A771-6A87576C0324}"/>
              </a:ext>
            </a:extLst>
          </p:cNvPr>
          <p:cNvSpPr txBox="1">
            <a:spLocks/>
          </p:cNvSpPr>
          <p:nvPr/>
        </p:nvSpPr>
        <p:spPr>
          <a:xfrm>
            <a:off x="1562100" y="2954338"/>
            <a:ext cx="8691563" cy="1136650"/>
          </a:xfrm>
          <a:prstGeom prst="rect">
            <a:avLst/>
          </a:prstGeom>
          <a:ln>
            <a:miter/>
          </a:ln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35000"/>
              </a:lnSpc>
              <a:spcAft>
                <a:spcPts val="0"/>
              </a:spcAft>
              <a:defRPr/>
            </a:pPr>
            <a:r>
              <a:rPr lang="zh-CN" altLang="en-US" sz="48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命题逻辑  </a:t>
            </a:r>
            <a:r>
              <a:rPr lang="en-US" altLang="zh-CN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Propositional Logic</a:t>
            </a:r>
            <a:br>
              <a:rPr lang="en-US" altLang="zh-CN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altLang="zh-CN" sz="4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9187025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34D92C-7560-4E70-8B69-615EED463B27}"/>
              </a:ext>
            </a:extLst>
          </p:cNvPr>
          <p:cNvSpPr txBox="1"/>
          <p:nvPr/>
        </p:nvSpPr>
        <p:spPr>
          <a:xfrm>
            <a:off x="1960402" y="2288631"/>
            <a:ext cx="90123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dirty="0">
                <a:solidFill>
                  <a:srgbClr val="002060"/>
                </a:solidFill>
                <a:latin typeface="Calisto MT" panose="02040603050505030304" pitchFamily="18" charset="0"/>
                <a:ea typeface="+mn-ea"/>
              </a:rPr>
              <a:t>命题：</a:t>
            </a:r>
            <a:endParaRPr lang="en-US" altLang="zh-CN" sz="4800" b="1" dirty="0">
              <a:solidFill>
                <a:srgbClr val="002060"/>
              </a:solidFill>
              <a:latin typeface="Calisto MT" panose="02040603050505030304" pitchFamily="18" charset="0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具有确切真值的陈述句叫做命题。</a:t>
            </a:r>
            <a:endParaRPr lang="zh-CN" altLang="en-US" sz="4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1230761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图片 4">
            <a:extLst>
              <a:ext uri="{FF2B5EF4-FFF2-40B4-BE49-F238E27FC236}">
                <a16:creationId xmlns:a16="http://schemas.microsoft.com/office/drawing/2014/main" id="{4DAA5C06-F5A8-4529-92E9-3BD9B667E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文本框 2">
            <a:extLst>
              <a:ext uri="{FF2B5EF4-FFF2-40B4-BE49-F238E27FC236}">
                <a16:creationId xmlns:a16="http://schemas.microsoft.com/office/drawing/2014/main" id="{0AB39A04-088A-4459-ADD1-9EFE8E561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32772" name="矩形 1">
            <a:extLst>
              <a:ext uri="{FF2B5EF4-FFF2-40B4-BE49-F238E27FC236}">
                <a16:creationId xmlns:a16="http://schemas.microsoft.com/office/drawing/2014/main" id="{ABBE2D04-5211-4825-A7BF-C714B384B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9127" y="1769268"/>
            <a:ext cx="759374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800" b="1" dirty="0">
                <a:solidFill>
                  <a:srgbClr val="002060"/>
                </a:solidFill>
                <a:latin typeface="Calisto MT" panose="02040603050505030304" pitchFamily="18" charset="0"/>
              </a:rPr>
              <a:t>原子命题：</a:t>
            </a:r>
            <a:r>
              <a:rPr lang="zh-CN" altLang="en-US" sz="4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指不能再分解为</a:t>
            </a:r>
            <a:endParaRPr lang="en-US" altLang="zh-CN" sz="4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更简单命题的命题。</a:t>
            </a:r>
            <a:endParaRPr lang="en-US" altLang="zh-CN" sz="4800" b="1" dirty="0">
              <a:solidFill>
                <a:srgbClr val="002060"/>
              </a:solidFill>
              <a:latin typeface="Calisto MT" panose="02040603050505030304" pitchFamily="18" charset="0"/>
            </a:endParaRPr>
          </a:p>
        </p:txBody>
      </p:sp>
      <p:sp>
        <p:nvSpPr>
          <p:cNvPr id="32774" name="矩形 6">
            <a:extLst>
              <a:ext uri="{FF2B5EF4-FFF2-40B4-BE49-F238E27FC236}">
                <a16:creationId xmlns:a16="http://schemas.microsoft.com/office/drawing/2014/main" id="{7371F739-BB9E-4417-8FEB-A27E9CFFF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9127" y="3768725"/>
            <a:ext cx="821250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F8320A"/>
              </a:buClr>
              <a:buSzPct val="80000"/>
              <a:buFontTx/>
              <a:buNone/>
            </a:pPr>
            <a:r>
              <a:rPr lang="zh-CN" altLang="en-US" sz="4800" b="1" dirty="0">
                <a:solidFill>
                  <a:srgbClr val="002060"/>
                </a:solidFill>
                <a:latin typeface="Calisto MT" panose="02040603050505030304" pitchFamily="18" charset="0"/>
              </a:rPr>
              <a:t>复合命题：</a:t>
            </a:r>
            <a:r>
              <a:rPr lang="zh-CN" altLang="en-US" sz="4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是指由若干命题用</a:t>
            </a:r>
            <a:endParaRPr lang="en-US" altLang="zh-CN" sz="4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F8320A"/>
              </a:buClr>
              <a:buSzPct val="80000"/>
              <a:buFontTx/>
              <a:buNone/>
            </a:pPr>
            <a:r>
              <a:rPr lang="zh-CN" altLang="en-US" sz="4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联结词组成的新命题。</a:t>
            </a:r>
          </a:p>
        </p:txBody>
      </p:sp>
    </p:spTree>
    <p:extLst>
      <p:ext uri="{BB962C8B-B14F-4D97-AF65-F5344CB8AC3E}">
        <p14:creationId xmlns:p14="http://schemas.microsoft.com/office/powerpoint/2010/main" val="3994703959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B7FA91-3E86-402D-8748-A4349870CC69}"/>
              </a:ext>
            </a:extLst>
          </p:cNvPr>
          <p:cNvSpPr/>
          <p:nvPr/>
        </p:nvSpPr>
        <p:spPr>
          <a:xfrm>
            <a:off x="2393950" y="911001"/>
            <a:ext cx="7404100" cy="1937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0000FF"/>
              </a:buClr>
              <a:defRPr/>
            </a:pPr>
            <a:r>
              <a:rPr lang="zh-CN" altLang="en-US" sz="4800" b="1" dirty="0">
                <a:latin typeface="+mn-ea"/>
              </a:rPr>
              <a:t>常值命题</a:t>
            </a:r>
            <a:r>
              <a:rPr lang="en-US" altLang="zh-CN" sz="4800" b="1" dirty="0">
                <a:latin typeface="+mn-ea"/>
              </a:rPr>
              <a:t>/</a:t>
            </a:r>
            <a:r>
              <a:rPr lang="zh-CN" altLang="en-US" sz="4800" b="1" dirty="0">
                <a:latin typeface="+mn-ea"/>
              </a:rPr>
              <a:t>命题变量</a:t>
            </a:r>
            <a:endParaRPr lang="en-US" altLang="zh-CN" sz="4800" b="1" dirty="0">
              <a:latin typeface="+mn-ea"/>
            </a:endParaRPr>
          </a:p>
          <a:p>
            <a:pPr>
              <a:lnSpc>
                <a:spcPct val="130000"/>
              </a:lnSpc>
              <a:buClr>
                <a:srgbClr val="0000FF"/>
              </a:buClr>
              <a:defRPr/>
            </a:pPr>
            <a:r>
              <a:rPr lang="zh-CN" altLang="en-US" sz="4800" b="1" dirty="0">
                <a:latin typeface="+mn-ea"/>
              </a:rPr>
              <a:t>真值确定与否的原子命题。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5EAA6A-C3CD-41BA-845F-567E954301CB}"/>
              </a:ext>
            </a:extLst>
          </p:cNvPr>
          <p:cNvSpPr/>
          <p:nvPr/>
        </p:nvSpPr>
        <p:spPr>
          <a:xfrm>
            <a:off x="2393950" y="3491840"/>
            <a:ext cx="6096000" cy="245515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lnSpc>
                <a:spcPct val="130000"/>
              </a:lnSpc>
              <a:spcAft>
                <a:spcPts val="0"/>
              </a:spcAft>
              <a:buFontTx/>
              <a:buNone/>
              <a:defRPr/>
            </a:pPr>
            <a:r>
              <a:rPr lang="zh-CN" altLang="en-US" sz="2400" b="1" dirty="0">
                <a:latin typeface="+mn-ea"/>
              </a:rPr>
              <a:t>如果命题</a:t>
            </a:r>
            <a:r>
              <a:rPr lang="zh-CN" altLang="en-US" sz="2400" b="1" dirty="0">
                <a:solidFill>
                  <a:srgbClr val="FF3300"/>
                </a:solidFill>
                <a:latin typeface="+mn-ea"/>
              </a:rPr>
              <a:t>符号</a:t>
            </a:r>
            <a:r>
              <a:rPr lang="en-US" altLang="zh-CN" sz="2400" b="1" dirty="0">
                <a:solidFill>
                  <a:srgbClr val="FF3300"/>
                </a:solidFill>
                <a:latin typeface="+mn-ea"/>
              </a:rPr>
              <a:t>P</a:t>
            </a:r>
            <a:r>
              <a:rPr lang="zh-CN" altLang="en-US" sz="2400" b="1" dirty="0">
                <a:latin typeface="+mn-ea"/>
              </a:rPr>
              <a:t>代表命题常元则意味它是某个具体命题的符号化，如果</a:t>
            </a:r>
            <a:r>
              <a:rPr lang="en-US" altLang="zh-CN" sz="2400" b="1" dirty="0">
                <a:latin typeface="+mn-ea"/>
              </a:rPr>
              <a:t>P</a:t>
            </a:r>
            <a:r>
              <a:rPr lang="zh-CN" altLang="en-US" sz="2400" b="1" dirty="0">
                <a:latin typeface="+mn-ea"/>
              </a:rPr>
              <a:t>代表命题变元则意味着它可指代任何具体命题。</a:t>
            </a:r>
            <a:endParaRPr lang="en-US" altLang="zh-CN" sz="2400" b="1" dirty="0">
              <a:latin typeface="+mn-ea"/>
            </a:endParaRPr>
          </a:p>
          <a:p>
            <a:pPr fontAlgn="auto">
              <a:lnSpc>
                <a:spcPct val="130000"/>
              </a:lnSpc>
              <a:spcAft>
                <a:spcPts val="0"/>
              </a:spcAft>
              <a:buFontTx/>
              <a:buNone/>
              <a:defRPr/>
            </a:pPr>
            <a:r>
              <a:rPr lang="zh-CN" altLang="en-US" sz="2400" b="1" dirty="0">
                <a:latin typeface="+mn-ea"/>
              </a:rPr>
              <a:t>   通常来说命题符号</a:t>
            </a:r>
            <a:r>
              <a:rPr lang="en-US" altLang="zh-CN" sz="2400" b="1" dirty="0">
                <a:latin typeface="+mn-ea"/>
              </a:rPr>
              <a:t>P</a:t>
            </a:r>
            <a:r>
              <a:rPr lang="zh-CN" altLang="en-US" sz="2400" b="1" dirty="0">
                <a:latin typeface="+mn-ea"/>
              </a:rPr>
              <a:t>是命题变元，即可指代任何命题。</a:t>
            </a:r>
          </a:p>
        </p:txBody>
      </p:sp>
    </p:spTree>
    <p:extLst>
      <p:ext uri="{BB962C8B-B14F-4D97-AF65-F5344CB8AC3E}">
        <p14:creationId xmlns:p14="http://schemas.microsoft.com/office/powerpoint/2010/main" val="575782836"/>
      </p:ext>
    </p:extLst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图片 4">
            <a:extLst>
              <a:ext uri="{FF2B5EF4-FFF2-40B4-BE49-F238E27FC236}">
                <a16:creationId xmlns:a16="http://schemas.microsoft.com/office/drawing/2014/main" id="{06BAE5E6-511F-4D63-9558-BB54BE843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文本框 2">
            <a:extLst>
              <a:ext uri="{FF2B5EF4-FFF2-40B4-BE49-F238E27FC236}">
                <a16:creationId xmlns:a16="http://schemas.microsoft.com/office/drawing/2014/main" id="{916352FC-2473-42BF-893E-41B8F2707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Propositional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0964" name="矩形 3">
            <a:extLst>
              <a:ext uri="{FF2B5EF4-FFF2-40B4-BE49-F238E27FC236}">
                <a16:creationId xmlns:a16="http://schemas.microsoft.com/office/drawing/2014/main" id="{E49FB3F4-87D4-4B06-879F-02C873C6E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1325" y="944563"/>
            <a:ext cx="63404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命题联结词（逻辑运算符）</a:t>
            </a:r>
            <a:endParaRPr lang="en-US" altLang="zh-CN" sz="4000" b="1" dirty="0">
              <a:solidFill>
                <a:srgbClr val="002060"/>
              </a:solidFill>
              <a:latin typeface="Calisto MT" panose="0204060305050503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C6D3AA-5A88-46BD-8002-04C4EC3F3AA6}"/>
              </a:ext>
            </a:extLst>
          </p:cNvPr>
          <p:cNvSpPr/>
          <p:nvPr/>
        </p:nvSpPr>
        <p:spPr>
          <a:xfrm>
            <a:off x="3028950" y="1858963"/>
            <a:ext cx="4405313" cy="8302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否定词“</a:t>
            </a:r>
            <a:r>
              <a:rPr lang="en-US" altLang="zh-CN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¬”</a:t>
            </a: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(Not)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AF9CE1-8A0F-45B9-8D79-49F7C3184409}"/>
              </a:ext>
            </a:extLst>
          </p:cNvPr>
          <p:cNvSpPr/>
          <p:nvPr/>
        </p:nvSpPr>
        <p:spPr>
          <a:xfrm>
            <a:off x="3028950" y="2574925"/>
            <a:ext cx="6637338" cy="8302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合取词“∧”</a:t>
            </a:r>
            <a:r>
              <a:rPr lang="en-US" altLang="zh-CN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(Conjunction)</a:t>
            </a:r>
            <a:endParaRPr lang="zh-CN" altLang="en-US" sz="4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C0FB44-89F4-44D2-982E-C42A84DCCD5F}"/>
              </a:ext>
            </a:extLst>
          </p:cNvPr>
          <p:cNvSpPr/>
          <p:nvPr/>
        </p:nvSpPr>
        <p:spPr>
          <a:xfrm>
            <a:off x="3028950" y="3328988"/>
            <a:ext cx="6375400" cy="8302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析取词“∨”</a:t>
            </a:r>
            <a:r>
              <a:rPr lang="en-US" altLang="zh-CN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(Disjunction)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5A0E46-5A5D-4B04-85CF-39AAC10F90FB}"/>
              </a:ext>
            </a:extLst>
          </p:cNvPr>
          <p:cNvSpPr/>
          <p:nvPr/>
        </p:nvSpPr>
        <p:spPr>
          <a:xfrm>
            <a:off x="3028950" y="4065588"/>
            <a:ext cx="6346825" cy="831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蕴含词“</a:t>
            </a:r>
            <a:r>
              <a:rPr lang="zh-CN" alt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(Implication)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DFE8698-63BD-4918-A64E-58E8BF4C44D7}"/>
              </a:ext>
            </a:extLst>
          </p:cNvPr>
          <p:cNvSpPr/>
          <p:nvPr/>
        </p:nvSpPr>
        <p:spPr>
          <a:xfrm>
            <a:off x="3028950" y="4830763"/>
            <a:ext cx="6929438" cy="8302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等价词“</a:t>
            </a:r>
            <a:r>
              <a:rPr lang="zh-CN" alt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zh-CN" alt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” </a:t>
            </a:r>
            <a:r>
              <a:rPr lang="en-US" altLang="zh-CN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(Equivalence)</a:t>
            </a:r>
          </a:p>
        </p:txBody>
      </p:sp>
    </p:spTree>
    <p:extLst>
      <p:ext uri="{BB962C8B-B14F-4D97-AF65-F5344CB8AC3E}">
        <p14:creationId xmlns:p14="http://schemas.microsoft.com/office/powerpoint/2010/main" val="835076094"/>
      </p:ext>
    </p:extLst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图片 4">
            <a:extLst>
              <a:ext uri="{FF2B5EF4-FFF2-40B4-BE49-F238E27FC236}">
                <a16:creationId xmlns:a16="http://schemas.microsoft.com/office/drawing/2014/main" id="{06BAE5E6-511F-4D63-9558-BB54BE843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文本框 2">
            <a:extLst>
              <a:ext uri="{FF2B5EF4-FFF2-40B4-BE49-F238E27FC236}">
                <a16:creationId xmlns:a16="http://schemas.microsoft.com/office/drawing/2014/main" id="{916352FC-2473-42BF-893E-41B8F2707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Propositional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0964" name="矩形 3">
            <a:extLst>
              <a:ext uri="{FF2B5EF4-FFF2-40B4-BE49-F238E27FC236}">
                <a16:creationId xmlns:a16="http://schemas.microsoft.com/office/drawing/2014/main" id="{E49FB3F4-87D4-4B06-879F-02C873C6E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1325" y="944563"/>
            <a:ext cx="63404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命题联结词（逻辑运算符）</a:t>
            </a:r>
            <a:endParaRPr lang="en-US" altLang="zh-CN" sz="4000" b="1" dirty="0">
              <a:solidFill>
                <a:srgbClr val="002060"/>
              </a:solidFill>
              <a:latin typeface="Calisto MT" panose="02040603050505030304" pitchFamily="18" charset="0"/>
            </a:endParaRPr>
          </a:p>
        </p:txBody>
      </p:sp>
      <p:graphicFrame>
        <p:nvGraphicFramePr>
          <p:cNvPr id="11" name="Group 49">
            <a:extLst>
              <a:ext uri="{FF2B5EF4-FFF2-40B4-BE49-F238E27FC236}">
                <a16:creationId xmlns:a16="http://schemas.microsoft.com/office/drawing/2014/main" id="{0D38B8D2-9727-42DE-BC6B-514A5E269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177140"/>
              </p:ext>
            </p:extLst>
          </p:nvPr>
        </p:nvGraphicFramePr>
        <p:xfrm>
          <a:off x="1571625" y="2452506"/>
          <a:ext cx="8135937" cy="2651760"/>
        </p:xfrm>
        <a:graphic>
          <a:graphicData uri="http://schemas.openxmlformats.org/drawingml/2006/table">
            <a:tbl>
              <a:tblPr/>
              <a:tblGrid>
                <a:gridCol w="1196975">
                  <a:extLst>
                    <a:ext uri="{9D8B030D-6E8A-4147-A177-3AD203B41FA5}">
                      <a16:colId xmlns:a16="http://schemas.microsoft.com/office/drawing/2014/main" val="1616554452"/>
                    </a:ext>
                  </a:extLst>
                </a:gridCol>
                <a:gridCol w="1195387">
                  <a:extLst>
                    <a:ext uri="{9D8B030D-6E8A-4147-A177-3AD203B41FA5}">
                      <a16:colId xmlns:a16="http://schemas.microsoft.com/office/drawing/2014/main" val="2074637083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418922829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4116245437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1735387834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268565430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  Q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3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¬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P∧Q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P∨Q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r>
                        <a:rPr lang="zh-CN" altLang="en-US" sz="28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255233"/>
                  </a:ext>
                </a:extLst>
              </a:tr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0  0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056279"/>
                  </a:ext>
                </a:extLst>
              </a:tr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0  1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986314"/>
                  </a:ext>
                </a:extLst>
              </a:tr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1  0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548479"/>
                  </a:ext>
                </a:extLst>
              </a:tr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1  1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744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060891"/>
      </p:ext>
    </p:extLst>
  </p:cSld>
  <p:clrMapOvr>
    <a:masterClrMapping/>
  </p:clrMapOvr>
  <p:transition spd="slow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图片 4">
            <a:extLst>
              <a:ext uri="{FF2B5EF4-FFF2-40B4-BE49-F238E27FC236}">
                <a16:creationId xmlns:a16="http://schemas.microsoft.com/office/drawing/2014/main" id="{D44B4CAD-E183-44DB-8A50-2F929B7FC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7" name="文本框 2">
            <a:extLst>
              <a:ext uri="{FF2B5EF4-FFF2-40B4-BE49-F238E27FC236}">
                <a16:creationId xmlns:a16="http://schemas.microsoft.com/office/drawing/2014/main" id="{18C2E758-DA52-4785-9298-D4B5EDAC7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02DF2F-58A8-4F62-8049-51AC29F362E8}"/>
              </a:ext>
            </a:extLst>
          </p:cNvPr>
          <p:cNvSpPr/>
          <p:nvPr/>
        </p:nvSpPr>
        <p:spPr>
          <a:xfrm>
            <a:off x="1571625" y="946150"/>
            <a:ext cx="377507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复合命题符号化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4584753-1E34-44E0-A9ED-5F38B59DAE8D}"/>
              </a:ext>
            </a:extLst>
          </p:cNvPr>
          <p:cNvSpPr>
            <a:spLocks/>
          </p:cNvSpPr>
          <p:nvPr/>
        </p:nvSpPr>
        <p:spPr bwMode="auto">
          <a:xfrm>
            <a:off x="1571625" y="1893887"/>
            <a:ext cx="8229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990600" indent="-5334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371600" indent="-4572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52600" indent="-3810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209800" indent="-381000" algn="just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667000" indent="-381000" algn="just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3124200" indent="-381000" algn="just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581400" indent="-381000" algn="just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4038600" indent="-381000" algn="just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将复合命题符号化的步骤：</a:t>
            </a:r>
          </a:p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⑴分析出原子命题，符号化</a:t>
            </a:r>
          </a:p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⑵用联结词联结原子命题</a:t>
            </a:r>
          </a:p>
        </p:txBody>
      </p:sp>
    </p:spTree>
    <p:extLst>
      <p:ext uri="{BB962C8B-B14F-4D97-AF65-F5344CB8AC3E}">
        <p14:creationId xmlns:p14="http://schemas.microsoft.com/office/powerpoint/2010/main" val="976551797"/>
      </p:ext>
    </p:extLst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图片 4">
            <a:extLst>
              <a:ext uri="{FF2B5EF4-FFF2-40B4-BE49-F238E27FC236}">
                <a16:creationId xmlns:a16="http://schemas.microsoft.com/office/drawing/2014/main" id="{8EB6B207-D96C-47A0-A7EA-39ECE442B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5" name="文本框 2">
            <a:extLst>
              <a:ext uri="{FF2B5EF4-FFF2-40B4-BE49-F238E27FC236}">
                <a16:creationId xmlns:a16="http://schemas.microsoft.com/office/drawing/2014/main" id="{42DE3100-38C4-4084-913E-C7CCC6CE7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3885EB-C848-45A3-A640-FA54D379AE2C}"/>
              </a:ext>
            </a:extLst>
          </p:cNvPr>
          <p:cNvSpPr txBox="1"/>
          <p:nvPr/>
        </p:nvSpPr>
        <p:spPr>
          <a:xfrm>
            <a:off x="1133475" y="5463817"/>
            <a:ext cx="8258175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</a:rPr>
              <a:t>）原子命题变元是最简单的命题公式，简称原子公式</a:t>
            </a:r>
            <a:endParaRPr lang="en-US" altLang="zh-CN" sz="2400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2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）命题公式不是命题。 每一个命题变元都被赋以确定的真值时，公式的真值才被确定，从而成为一个命题。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744B48-D58E-4B8F-867D-5E5C0C5F955F}"/>
              </a:ext>
            </a:extLst>
          </p:cNvPr>
          <p:cNvSpPr txBox="1"/>
          <p:nvPr/>
        </p:nvSpPr>
        <p:spPr>
          <a:xfrm>
            <a:off x="809625" y="2070221"/>
            <a:ext cx="730309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）命题变元是命题公式；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  <a:ea typeface="+mn-ea"/>
                <a:sym typeface="宋体" panose="02010600030101010101" pitchFamily="2" charset="-122"/>
              </a:rPr>
              <a:t>（</a:t>
            </a:r>
            <a:r>
              <a:rPr lang="en-US" altLang="zh-CN" sz="2400" dirty="0">
                <a:latin typeface="+mn-ea"/>
                <a:ea typeface="+mn-ea"/>
                <a:sym typeface="宋体" panose="02010600030101010101" pitchFamily="2" charset="-122"/>
              </a:rPr>
              <a:t>2</a:t>
            </a:r>
            <a:r>
              <a:rPr lang="zh-CN" altLang="en-US" sz="2400" dirty="0">
                <a:latin typeface="+mn-ea"/>
                <a:ea typeface="+mn-ea"/>
                <a:sym typeface="宋体" panose="02010600030101010101" pitchFamily="2" charset="-122"/>
              </a:rPr>
              <a:t>）如果</a:t>
            </a:r>
            <a:r>
              <a:rPr lang="en-US" altLang="zh-CN" sz="2400" dirty="0">
                <a:latin typeface="+mn-ea"/>
                <a:ea typeface="+mn-ea"/>
                <a:sym typeface="宋体" panose="02010600030101010101" pitchFamily="2" charset="-122"/>
              </a:rPr>
              <a:t>α</a:t>
            </a:r>
            <a:r>
              <a:rPr lang="zh-CN" altLang="en-US" sz="2400" dirty="0">
                <a:latin typeface="+mn-ea"/>
                <a:ea typeface="+mn-ea"/>
                <a:sym typeface="宋体" panose="02010600030101010101" pitchFamily="2" charset="-122"/>
              </a:rPr>
              <a:t>是命题公式，则</a:t>
            </a:r>
            <a:r>
              <a:rPr lang="zh-CN" altLang="en-US" sz="2400" dirty="0">
                <a:latin typeface="+mn-ea"/>
                <a:ea typeface="+mn-ea"/>
              </a:rPr>
              <a:t>┐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α</a:t>
            </a:r>
            <a:r>
              <a:rPr lang="zh-CN" altLang="en-US" sz="2400" dirty="0">
                <a:latin typeface="+mn-ea"/>
                <a:ea typeface="+mn-ea"/>
                <a:sym typeface="宋体" panose="02010600030101010101" pitchFamily="2" charset="-122"/>
              </a:rPr>
              <a:t>也是命题公式；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  <a:ea typeface="+mn-ea"/>
                <a:sym typeface="宋体" panose="02010600030101010101" pitchFamily="2" charset="-122"/>
              </a:rPr>
              <a:t>（</a:t>
            </a:r>
            <a:r>
              <a:rPr lang="en-US" altLang="zh-CN" sz="2400" dirty="0">
                <a:latin typeface="+mn-ea"/>
                <a:ea typeface="+mn-ea"/>
                <a:sym typeface="宋体" panose="02010600030101010101" pitchFamily="2" charset="-122"/>
              </a:rPr>
              <a:t>3</a:t>
            </a:r>
            <a:r>
              <a:rPr lang="zh-CN" altLang="en-US" sz="2400" dirty="0">
                <a:latin typeface="+mn-ea"/>
                <a:ea typeface="+mn-ea"/>
                <a:sym typeface="宋体" panose="02010600030101010101" pitchFamily="2" charset="-122"/>
              </a:rPr>
              <a:t>）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如果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α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β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是命题公式，则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α </a:t>
            </a:r>
            <a:r>
              <a:rPr lang="zh-CN" altLang="en-US" sz="2400" dirty="0">
                <a:latin typeface="+mn-ea"/>
                <a:ea typeface="+mn-ea"/>
              </a:rPr>
              <a:t>∨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 β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α </a:t>
            </a:r>
            <a:r>
              <a:rPr lang="zh-CN" altLang="en-US" sz="2400" dirty="0">
                <a:latin typeface="+mn-ea"/>
                <a:ea typeface="+mn-ea"/>
              </a:rPr>
              <a:t>∧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 β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α </a:t>
            </a:r>
            <a:r>
              <a:rPr lang="en-US" altLang="zh-CN" sz="2400" dirty="0">
                <a:latin typeface="+mn-ea"/>
                <a:ea typeface="+mn-ea"/>
              </a:rPr>
              <a:t>→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 β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α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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 β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均是命题公式； 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）只有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宋体" panose="02010600030101010101" pitchFamily="2" charset="-122"/>
              </a:rPr>
              <a:t>有限次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地利用（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）</a:t>
            </a:r>
            <a:r>
              <a:rPr lang="zh-CN" altLang="en-US" sz="2400" dirty="0">
                <a:latin typeface="+mn-ea"/>
                <a:ea typeface="+mn-ea"/>
                <a:sym typeface="宋体" panose="02010600030101010101" pitchFamily="2" charset="-122"/>
              </a:rPr>
              <a:t>～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宋体" panose="02010600030101010101" pitchFamily="2" charset="-122"/>
              </a:rPr>
              <a:t>）形成的符号串才是命题公式。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7E1BED-BF27-4DA1-A638-0C2E0C1BB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6383" y="2473589"/>
            <a:ext cx="19399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归纳定义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C6F35D-3E41-4675-B039-A63E1DFA2497}"/>
              </a:ext>
            </a:extLst>
          </p:cNvPr>
          <p:cNvSpPr txBox="1"/>
          <p:nvPr/>
        </p:nvSpPr>
        <p:spPr>
          <a:xfrm>
            <a:off x="8645371" y="3524376"/>
            <a:ext cx="3470275" cy="15696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α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、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sym typeface="宋体" panose="02010600030101010101" pitchFamily="2" charset="-122"/>
              </a:rPr>
              <a:t> β 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宋体" panose="02010600030101010101" pitchFamily="2" charset="-122"/>
              </a:rPr>
              <a:t>元语言符号</a:t>
            </a:r>
            <a:endParaRPr lang="en-US" altLang="zh-CN" sz="2400" dirty="0">
              <a:solidFill>
                <a:schemeClr val="accent2"/>
              </a:solidFill>
              <a:latin typeface="+mn-ea"/>
              <a:sym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400" dirty="0">
              <a:solidFill>
                <a:schemeClr val="accent2"/>
              </a:solidFill>
              <a:latin typeface="+mn-ea"/>
              <a:sym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（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 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</a:rPr>
              <a:t>P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 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Q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）</a:t>
            </a: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R 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对象语言符号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3" name="文本框 3">
            <a:extLst>
              <a:ext uri="{FF2B5EF4-FFF2-40B4-BE49-F238E27FC236}">
                <a16:creationId xmlns:a16="http://schemas.microsoft.com/office/drawing/2014/main" id="{A7C958A1-639E-1D06-B156-8FF3C5236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794018"/>
            <a:ext cx="887412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命题公式（</a:t>
            </a:r>
            <a:r>
              <a:rPr lang="en-US" altLang="zh-CN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propositional formula</a:t>
            </a: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）</a:t>
            </a:r>
            <a:r>
              <a:rPr lang="en-US" altLang="zh-CN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合式公式（</a:t>
            </a:r>
            <a:r>
              <a:rPr lang="en-US" altLang="zh-CN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well-formed formula, WFF</a:t>
            </a:r>
            <a:r>
              <a:rPr lang="zh-CN" altLang="en-US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）</a:t>
            </a:r>
            <a:endParaRPr lang="en-US" altLang="zh-CN" sz="4000" b="1" dirty="0">
              <a:solidFill>
                <a:srgbClr val="00206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429361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图片 4">
            <a:extLst>
              <a:ext uri="{FF2B5EF4-FFF2-40B4-BE49-F238E27FC236}">
                <a16:creationId xmlns:a16="http://schemas.microsoft.com/office/drawing/2014/main" id="{DFE619DC-7C12-44C9-8A7B-0F44AE739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3" name="文本框 2">
            <a:extLst>
              <a:ext uri="{FF2B5EF4-FFF2-40B4-BE49-F238E27FC236}">
                <a16:creationId xmlns:a16="http://schemas.microsoft.com/office/drawing/2014/main" id="{1EF38FDD-0EDD-4572-B5B9-2EFAD2C0A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C2A1E1-FB2C-486D-A8F7-14B2C5B98A5B}"/>
              </a:ext>
            </a:extLst>
          </p:cNvPr>
          <p:cNvSpPr/>
          <p:nvPr/>
        </p:nvSpPr>
        <p:spPr>
          <a:xfrm>
            <a:off x="2073593" y="1081415"/>
            <a:ext cx="86610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(P→Q)∧┐Q)</a:t>
            </a: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	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(P→Q</a:t>
            </a: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 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(┐P∨Q∨(R</a:t>
            </a: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   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P∨Q∨</a:t>
            </a:r>
            <a:endParaRPr lang="zh-CN" altLang="en-US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6281E6-655E-4E15-856E-91AD6809F174}"/>
              </a:ext>
            </a:extLst>
          </p:cNvPr>
          <p:cNvSpPr/>
          <p:nvPr/>
        </p:nvSpPr>
        <p:spPr>
          <a:xfrm>
            <a:off x="3530918" y="2255839"/>
            <a:ext cx="4374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((p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q)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p)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(q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r)))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091BC7-DFFE-43C3-838C-F0F32DFA9CB2}"/>
              </a:ext>
            </a:extLst>
          </p:cNvPr>
          <p:cNvSpPr/>
          <p:nvPr/>
        </p:nvSpPr>
        <p:spPr>
          <a:xfrm>
            <a:off x="3287713" y="3273425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是公式；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q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是公式；			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(p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是公式；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是公式；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是公式；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(q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是公式；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((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(q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是公式；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((p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(q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r)))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是公式。</a:t>
            </a:r>
          </a:p>
        </p:txBody>
      </p:sp>
    </p:spTree>
    <p:extLst>
      <p:ext uri="{BB962C8B-B14F-4D97-AF65-F5344CB8AC3E}">
        <p14:creationId xmlns:p14="http://schemas.microsoft.com/office/powerpoint/2010/main" val="94479613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图片 4">
            <a:extLst>
              <a:ext uri="{FF2B5EF4-FFF2-40B4-BE49-F238E27FC236}">
                <a16:creationId xmlns:a16="http://schemas.microsoft.com/office/drawing/2014/main" id="{B5236DFF-11BF-40F0-840C-26C3C32B2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1" name="文本框 2">
            <a:extLst>
              <a:ext uri="{FF2B5EF4-FFF2-40B4-BE49-F238E27FC236}">
                <a16:creationId xmlns:a16="http://schemas.microsoft.com/office/drawing/2014/main" id="{F47BE2DD-5FD8-45B1-8C55-769ACBE66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3D78B2-E9BE-4FEB-B4B3-5E5ABA0A8612}"/>
              </a:ext>
            </a:extLst>
          </p:cNvPr>
          <p:cNvSpPr txBox="1"/>
          <p:nvPr/>
        </p:nvSpPr>
        <p:spPr>
          <a:xfrm>
            <a:off x="1736724" y="810501"/>
            <a:ext cx="38893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命题公式的层次</a:t>
            </a:r>
          </a:p>
        </p:txBody>
      </p:sp>
      <p:sp>
        <p:nvSpPr>
          <p:cNvPr id="24" name="Line 3">
            <a:extLst>
              <a:ext uri="{FF2B5EF4-FFF2-40B4-BE49-F238E27FC236}">
                <a16:creationId xmlns:a16="http://schemas.microsoft.com/office/drawing/2014/main" id="{5143A995-AEFE-4AA5-B5EF-11F5B36339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81412" y="2241074"/>
            <a:ext cx="1671638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Line 4">
            <a:extLst>
              <a:ext uri="{FF2B5EF4-FFF2-40B4-BE49-F238E27FC236}">
                <a16:creationId xmlns:a16="http://schemas.microsoft.com/office/drawing/2014/main" id="{FB1012DF-CF2E-4474-8C0F-43B43A9C2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2912" y="2241074"/>
            <a:ext cx="1614488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Line 5">
            <a:extLst>
              <a:ext uri="{FF2B5EF4-FFF2-40B4-BE49-F238E27FC236}">
                <a16:creationId xmlns:a16="http://schemas.microsoft.com/office/drawing/2014/main" id="{5011FDD1-4656-4375-93D7-376947656E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8937" y="3345974"/>
            <a:ext cx="38100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Line 6">
            <a:extLst>
              <a:ext uri="{FF2B5EF4-FFF2-40B4-BE49-F238E27FC236}">
                <a16:creationId xmlns:a16="http://schemas.microsoft.com/office/drawing/2014/main" id="{AF118400-439E-47C7-927C-EE381E156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7425" y="3345974"/>
            <a:ext cx="963612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Line 7">
            <a:extLst>
              <a:ext uri="{FF2B5EF4-FFF2-40B4-BE49-F238E27FC236}">
                <a16:creationId xmlns:a16="http://schemas.microsoft.com/office/drawing/2014/main" id="{02B8378F-B9E3-4152-BA09-57FB149F66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53212" y="3345974"/>
            <a:ext cx="38100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Line 8">
            <a:extLst>
              <a:ext uri="{FF2B5EF4-FFF2-40B4-BE49-F238E27FC236}">
                <a16:creationId xmlns:a16="http://schemas.microsoft.com/office/drawing/2014/main" id="{16C81745-0690-4C46-AC41-88325B4AF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8987" y="3345974"/>
            <a:ext cx="1304925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0C8C0085-C2A4-4024-A0E3-658BC7B637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2900" y="4460399"/>
            <a:ext cx="38100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Line 10">
            <a:extLst>
              <a:ext uri="{FF2B5EF4-FFF2-40B4-BE49-F238E27FC236}">
                <a16:creationId xmlns:a16="http://schemas.microsoft.com/office/drawing/2014/main" id="{3F51E240-3312-4857-B92F-3A9F0B54AB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5" y="4446112"/>
            <a:ext cx="38100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11">
            <a:extLst>
              <a:ext uri="{FF2B5EF4-FFF2-40B4-BE49-F238E27FC236}">
                <a16:creationId xmlns:a16="http://schemas.microsoft.com/office/drawing/2014/main" id="{A320CE94-F7B4-40CE-A736-C36883194E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96250" y="4446112"/>
            <a:ext cx="38100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Line 12">
            <a:extLst>
              <a:ext uri="{FF2B5EF4-FFF2-40B4-BE49-F238E27FC236}">
                <a16:creationId xmlns:a16="http://schemas.microsoft.com/office/drawing/2014/main" id="{54E156A4-01B6-428E-B539-4EC219715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6312" y="4446112"/>
            <a:ext cx="38100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Line 13">
            <a:extLst>
              <a:ext uri="{FF2B5EF4-FFF2-40B4-BE49-F238E27FC236}">
                <a16:creationId xmlns:a16="http://schemas.microsoft.com/office/drawing/2014/main" id="{1B5440A4-065C-4BDE-A16C-8F0A8F0E07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77212" y="5527199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14">
            <a:extLst>
              <a:ext uri="{FF2B5EF4-FFF2-40B4-BE49-F238E27FC236}">
                <a16:creationId xmlns:a16="http://schemas.microsoft.com/office/drawing/2014/main" id="{77454733-7711-4940-9B1D-171B65DFC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1739424"/>
            <a:ext cx="7772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(P∧(Q∨R))→(Q∧(┐S∨R))</a:t>
            </a: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09EC7F55-467D-4958-92E3-AD266991F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7050" y="2928462"/>
            <a:ext cx="5815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P∧(Q∨R)                                  </a:t>
            </a:r>
            <a:r>
              <a:rPr kumimoji="1" lang="en-US" altLang="zh-CN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Q∧(┐S∨</a:t>
            </a:r>
            <a:r>
              <a:rPr kumimoji="1"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16">
            <a:extLst>
              <a:ext uri="{FF2B5EF4-FFF2-40B4-BE49-F238E27FC236}">
                <a16:creationId xmlns:a16="http://schemas.microsoft.com/office/drawing/2014/main" id="{F437B5F7-AFFC-47CE-ACA2-7BD831BF2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2" y="4031774"/>
            <a:ext cx="6705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  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Q∨R          </a:t>
            </a:r>
            <a:r>
              <a:rPr kumimoji="1" lang="en-US" altLang="zh-CN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                       ┐S∨R</a:t>
            </a: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17">
            <a:extLst>
              <a:ext uri="{FF2B5EF4-FFF2-40B4-BE49-F238E27FC236}">
                <a16:creationId xmlns:a16="http://schemas.microsoft.com/office/drawing/2014/main" id="{3859227D-4E77-4A33-AE41-13FDB157E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337" y="5066824"/>
            <a:ext cx="54641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  </a:t>
            </a:r>
            <a:r>
              <a:rPr kumimoji="1"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┐S           R</a:t>
            </a: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18">
            <a:extLst>
              <a:ext uri="{FF2B5EF4-FFF2-40B4-BE49-F238E27FC236}">
                <a16:creationId xmlns:a16="http://schemas.microsoft.com/office/drawing/2014/main" id="{5A225B0A-49E5-431F-B5FF-53B7F911F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0362" y="5987574"/>
            <a:ext cx="3000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en-US" b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en-US" altLang="en-US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584858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7BFF96F-15FC-4BC3-B6F4-FCA51BD2B34F}"/>
              </a:ext>
            </a:extLst>
          </p:cNvPr>
          <p:cNvSpPr txBox="1"/>
          <p:nvPr/>
        </p:nvSpPr>
        <p:spPr>
          <a:xfrm>
            <a:off x="1751013" y="1455738"/>
            <a:ext cx="67273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设</a:t>
            </a:r>
            <a:r>
              <a:rPr lang="en-US" altLang="zh-CN" sz="3200" dirty="0"/>
              <a:t>α</a:t>
            </a:r>
            <a:r>
              <a:rPr lang="zh-CN" altLang="en-US" sz="3200" dirty="0"/>
              <a:t>为命题公式，</a:t>
            </a:r>
            <a:r>
              <a:rPr lang="en-US" altLang="zh-CN" sz="3200" dirty="0"/>
              <a:t>β</a:t>
            </a:r>
            <a:r>
              <a:rPr lang="zh-CN" altLang="en-US" sz="3200" dirty="0"/>
              <a:t>为</a:t>
            </a:r>
            <a:r>
              <a:rPr lang="en-US" altLang="zh-CN" sz="3200" dirty="0"/>
              <a:t>α</a:t>
            </a:r>
            <a:r>
              <a:rPr lang="zh-CN" altLang="en-US" sz="3200" dirty="0"/>
              <a:t>中的一个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连续的符号串</a:t>
            </a:r>
            <a:r>
              <a:rPr lang="zh-CN" altLang="en-US" sz="3200" dirty="0"/>
              <a:t>，且</a:t>
            </a:r>
            <a:r>
              <a:rPr lang="en-US" altLang="zh-CN" sz="3200" dirty="0"/>
              <a:t>β</a:t>
            </a:r>
            <a:r>
              <a:rPr lang="zh-CN" altLang="en-US" sz="3200" dirty="0"/>
              <a:t>为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命题公式</a:t>
            </a:r>
            <a:r>
              <a:rPr lang="zh-CN" altLang="en-US" sz="3200" dirty="0"/>
              <a:t>，则称</a:t>
            </a:r>
            <a:r>
              <a:rPr lang="en-US" altLang="zh-CN" sz="3200" dirty="0"/>
              <a:t>β</a:t>
            </a:r>
            <a:r>
              <a:rPr lang="zh-CN" altLang="en-US" sz="3200" dirty="0"/>
              <a:t>为</a:t>
            </a:r>
            <a:r>
              <a:rPr lang="en-US" altLang="zh-CN" sz="3200" dirty="0"/>
              <a:t>α</a:t>
            </a:r>
            <a:r>
              <a:rPr lang="zh-CN" altLang="en-US" sz="3200" dirty="0"/>
              <a:t>的</a:t>
            </a:r>
            <a:r>
              <a:rPr lang="zh-CN" altLang="en-US" sz="3200" dirty="0">
                <a:solidFill>
                  <a:srgbClr val="FF0000"/>
                </a:solidFill>
              </a:rPr>
              <a:t>子公式</a:t>
            </a:r>
            <a:r>
              <a:rPr lang="zh-CN" altLang="en-US" sz="3200" dirty="0"/>
              <a:t>（</a:t>
            </a:r>
            <a:r>
              <a:rPr lang="en-US" altLang="zh-CN" sz="3200" dirty="0"/>
              <a:t>sub formula</a:t>
            </a:r>
            <a:r>
              <a:rPr lang="zh-CN" altLang="en-US" sz="3200" dirty="0"/>
              <a:t>）。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1F9CEF-27FA-49F8-84D1-CA3D15F54446}"/>
              </a:ext>
            </a:extLst>
          </p:cNvPr>
          <p:cNvSpPr txBox="1"/>
          <p:nvPr/>
        </p:nvSpPr>
        <p:spPr>
          <a:xfrm>
            <a:off x="1940768" y="3540215"/>
            <a:ext cx="61582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α=</a:t>
            </a:r>
            <a:r>
              <a:rPr lang="zh-CN" altLang="en-US" sz="3200" dirty="0"/>
              <a:t>（</a:t>
            </a:r>
            <a:r>
              <a:rPr lang="en-US" altLang="zh-CN" sz="3200" dirty="0"/>
              <a:t>P V Q</a:t>
            </a:r>
            <a:r>
              <a:rPr lang="zh-CN" altLang="en-US" sz="3200" dirty="0"/>
              <a:t>）→ （</a:t>
            </a:r>
            <a:r>
              <a:rPr lang="en-US" altLang="zh-CN" sz="3200" dirty="0"/>
              <a:t>P</a:t>
            </a:r>
            <a:r>
              <a:rPr lang="en-US" altLang="zh-CN" sz="3200" dirty="0">
                <a:latin typeface="+mn-ea"/>
                <a:sym typeface="Symbol" panose="05050102010706020507" pitchFamily="18" charset="2"/>
              </a:rPr>
              <a:t>  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（</a:t>
            </a:r>
            <a:r>
              <a:rPr lang="en-US" altLang="zh-CN" sz="3200" dirty="0">
                <a:latin typeface="+mn-ea"/>
                <a:sym typeface="Symbol" panose="05050102010706020507" pitchFamily="18" charset="2"/>
              </a:rPr>
              <a:t>Q V P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）</a:t>
            </a:r>
            <a:r>
              <a:rPr lang="zh-CN" altLang="en-US" sz="32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8834275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图片 4">
            <a:extLst>
              <a:ext uri="{FF2B5EF4-FFF2-40B4-BE49-F238E27FC236}">
                <a16:creationId xmlns:a16="http://schemas.microsoft.com/office/drawing/2014/main" id="{AD236439-7967-4536-B9D5-7EB485B2E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1" name="文本框 2">
            <a:extLst>
              <a:ext uri="{FF2B5EF4-FFF2-40B4-BE49-F238E27FC236}">
                <a16:creationId xmlns:a16="http://schemas.microsoft.com/office/drawing/2014/main" id="{3DBF2C16-B8D8-4044-9DDF-1711CE828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99FED1-37A0-4787-9C43-C8ADCFA82B1F}"/>
              </a:ext>
            </a:extLst>
          </p:cNvPr>
          <p:cNvSpPr txBox="1"/>
          <p:nvPr/>
        </p:nvSpPr>
        <p:spPr>
          <a:xfrm>
            <a:off x="1657706" y="797510"/>
            <a:ext cx="80461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dirty="0"/>
              <a:t>设</a:t>
            </a:r>
            <a:r>
              <a:rPr lang="en-US" altLang="zh-CN" sz="2800" dirty="0"/>
              <a:t>n</a:t>
            </a:r>
            <a:r>
              <a:rPr lang="zh-CN" altLang="en-US" sz="2800" dirty="0"/>
              <a:t>元命题公式</a:t>
            </a:r>
            <a:r>
              <a:rPr lang="en-US" altLang="zh-CN" sz="2800" dirty="0"/>
              <a:t>α</a:t>
            </a:r>
            <a:r>
              <a:rPr lang="zh-CN" altLang="en-US" sz="2800" dirty="0"/>
              <a:t>中所含有的不同命题变元为</a:t>
            </a:r>
            <a:endParaRPr lang="en-US" altLang="zh-CN" sz="2800" dirty="0"/>
          </a:p>
          <a:p>
            <a:pPr>
              <a:defRPr/>
            </a:pP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 P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 P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，</a:t>
            </a:r>
            <a:r>
              <a:rPr lang="en-US" altLang="zh-CN" sz="2800" dirty="0"/>
              <a:t>…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n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D205A8-E09D-4504-AE5C-BA4812886326}"/>
              </a:ext>
            </a:extLst>
          </p:cNvPr>
          <p:cNvSpPr/>
          <p:nvPr/>
        </p:nvSpPr>
        <p:spPr>
          <a:xfrm>
            <a:off x="1165225" y="1977876"/>
            <a:ext cx="755376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solidFill>
                  <a:prstClr val="black"/>
                </a:solidFill>
              </a:rPr>
              <a:t>变元组成的变元组（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3</a:t>
            </a:r>
            <a:r>
              <a:rPr lang="en-US" altLang="zh-CN" sz="2800" dirty="0">
                <a:solidFill>
                  <a:prstClr val="black"/>
                </a:solidFill>
              </a:rPr>
              <a:t> 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…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 err="1">
                <a:solidFill>
                  <a:prstClr val="black"/>
                </a:solidFill>
              </a:rPr>
              <a:t>P</a:t>
            </a:r>
            <a:r>
              <a:rPr lang="en-US" altLang="zh-CN" sz="2800" baseline="-25000" dirty="0" err="1">
                <a:solidFill>
                  <a:prstClr val="black"/>
                </a:solidFill>
              </a:rPr>
              <a:t>n</a:t>
            </a:r>
            <a:r>
              <a:rPr lang="en-US" altLang="zh-CN" sz="2800" dirty="0">
                <a:solidFill>
                  <a:prstClr val="black"/>
                </a:solidFill>
              </a:rPr>
              <a:t> </a:t>
            </a:r>
            <a:r>
              <a:rPr lang="zh-CN" altLang="en-US" sz="2800" dirty="0">
                <a:solidFill>
                  <a:prstClr val="black"/>
                </a:solidFill>
              </a:rPr>
              <a:t>）   称为</a:t>
            </a:r>
            <a:r>
              <a:rPr lang="en-US" altLang="zh-CN" sz="2800" dirty="0">
                <a:solidFill>
                  <a:srgbClr val="FF0000"/>
                </a:solidFill>
              </a:rPr>
              <a:t>α</a:t>
            </a:r>
            <a:r>
              <a:rPr lang="zh-CN" altLang="en-US" sz="2800" dirty="0">
                <a:solidFill>
                  <a:srgbClr val="FF0000"/>
                </a:solidFill>
              </a:rPr>
              <a:t>的变元组</a:t>
            </a:r>
            <a:r>
              <a:rPr lang="zh-CN" altLang="en-US" sz="2800" dirty="0">
                <a:solidFill>
                  <a:prstClr val="black"/>
                </a:solidFill>
              </a:rPr>
              <a:t>。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227A36-FDEB-47D4-89E2-E233FE9B60E5}"/>
              </a:ext>
            </a:extLst>
          </p:cNvPr>
          <p:cNvSpPr/>
          <p:nvPr/>
        </p:nvSpPr>
        <p:spPr>
          <a:xfrm>
            <a:off x="1319551" y="3158242"/>
            <a:ext cx="773747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α</a:t>
            </a:r>
            <a:r>
              <a:rPr lang="zh-CN" altLang="en-US" sz="2800" dirty="0">
                <a:solidFill>
                  <a:prstClr val="black"/>
                </a:solidFill>
              </a:rPr>
              <a:t>的变元组（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3 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…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 err="1">
                <a:solidFill>
                  <a:prstClr val="black"/>
                </a:solidFill>
              </a:rPr>
              <a:t>P</a:t>
            </a:r>
            <a:r>
              <a:rPr lang="en-US" altLang="zh-CN" sz="2800" baseline="-25000" dirty="0" err="1">
                <a:solidFill>
                  <a:prstClr val="black"/>
                </a:solidFill>
              </a:rPr>
              <a:t>n</a:t>
            </a:r>
            <a:r>
              <a:rPr lang="en-US" altLang="zh-CN" sz="2800" baseline="-25000" dirty="0">
                <a:solidFill>
                  <a:prstClr val="black"/>
                </a:solidFill>
              </a:rPr>
              <a:t> </a:t>
            </a:r>
            <a:r>
              <a:rPr lang="zh-CN" altLang="en-US" sz="2800" dirty="0">
                <a:solidFill>
                  <a:prstClr val="black"/>
                </a:solidFill>
              </a:rPr>
              <a:t>）的任意一组确定的值，称为该公式</a:t>
            </a:r>
            <a:r>
              <a:rPr lang="en-US" altLang="zh-CN" sz="2800" dirty="0">
                <a:solidFill>
                  <a:prstClr val="black"/>
                </a:solidFill>
              </a:rPr>
              <a:t>α</a:t>
            </a:r>
            <a:r>
              <a:rPr lang="zh-CN" altLang="en-US" sz="2800" dirty="0">
                <a:solidFill>
                  <a:prstClr val="black"/>
                </a:solidFill>
              </a:rPr>
              <a:t>关于该变元组（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3 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…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 err="1">
                <a:solidFill>
                  <a:prstClr val="black"/>
                </a:solidFill>
              </a:rPr>
              <a:t>P</a:t>
            </a:r>
            <a:r>
              <a:rPr lang="en-US" altLang="zh-CN" sz="2800" baseline="-25000" dirty="0" err="1">
                <a:solidFill>
                  <a:prstClr val="black"/>
                </a:solidFill>
              </a:rPr>
              <a:t>n</a:t>
            </a:r>
            <a:r>
              <a:rPr lang="en-US" altLang="zh-CN" sz="2800" baseline="-25000" dirty="0">
                <a:solidFill>
                  <a:prstClr val="black"/>
                </a:solidFill>
              </a:rPr>
              <a:t> </a:t>
            </a:r>
            <a:r>
              <a:rPr lang="zh-CN" altLang="en-US" sz="2800" dirty="0">
                <a:solidFill>
                  <a:prstClr val="black"/>
                </a:solidFill>
              </a:rPr>
              <a:t>）的</a:t>
            </a:r>
            <a:r>
              <a:rPr lang="zh-CN" altLang="en-US" sz="2800" dirty="0">
                <a:solidFill>
                  <a:srgbClr val="FF0000"/>
                </a:solidFill>
              </a:rPr>
              <a:t>完全指派</a:t>
            </a:r>
            <a:r>
              <a:rPr lang="zh-CN" altLang="en-US" sz="2800" dirty="0">
                <a:solidFill>
                  <a:prstClr val="black"/>
                </a:solidFill>
              </a:rPr>
              <a:t>。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52489C-4593-4DEA-8834-6B6A27F6F935}"/>
              </a:ext>
            </a:extLst>
          </p:cNvPr>
          <p:cNvSpPr/>
          <p:nvPr/>
        </p:nvSpPr>
        <p:spPr>
          <a:xfrm>
            <a:off x="1319551" y="4763792"/>
            <a:ext cx="804613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solidFill>
                  <a:prstClr val="black"/>
                </a:solidFill>
              </a:rPr>
              <a:t>如果仅对变元组中</a:t>
            </a:r>
            <a:r>
              <a:rPr lang="zh-CN" altLang="en-US" sz="2800" dirty="0">
                <a:solidFill>
                  <a:srgbClr val="44546A"/>
                </a:solidFill>
              </a:rPr>
              <a:t>部分</a:t>
            </a:r>
            <a:r>
              <a:rPr lang="zh-CN" altLang="en-US" sz="2800" dirty="0">
                <a:solidFill>
                  <a:prstClr val="black"/>
                </a:solidFill>
              </a:rPr>
              <a:t>变元赋以确定的值，其余变元</a:t>
            </a:r>
            <a:r>
              <a:rPr lang="zh-CN" altLang="en-US" sz="2800" dirty="0">
                <a:solidFill>
                  <a:srgbClr val="44546A"/>
                </a:solidFill>
              </a:rPr>
              <a:t>没</a:t>
            </a:r>
            <a:r>
              <a:rPr lang="zh-CN" altLang="en-US" sz="2800" dirty="0">
                <a:solidFill>
                  <a:prstClr val="black"/>
                </a:solidFill>
              </a:rPr>
              <a:t>有赋以确定的值，则这样的一组值称为该公式</a:t>
            </a:r>
            <a:r>
              <a:rPr lang="en-US" altLang="zh-CN" sz="2800" dirty="0">
                <a:solidFill>
                  <a:prstClr val="black"/>
                </a:solidFill>
              </a:rPr>
              <a:t>α</a:t>
            </a:r>
            <a:r>
              <a:rPr lang="zh-CN" altLang="en-US" sz="2800" dirty="0">
                <a:solidFill>
                  <a:prstClr val="black"/>
                </a:solidFill>
              </a:rPr>
              <a:t>关于该变元组（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3 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…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 err="1">
                <a:solidFill>
                  <a:prstClr val="black"/>
                </a:solidFill>
              </a:rPr>
              <a:t>P</a:t>
            </a:r>
            <a:r>
              <a:rPr lang="en-US" altLang="zh-CN" sz="2800" baseline="-25000" dirty="0" err="1">
                <a:solidFill>
                  <a:prstClr val="black"/>
                </a:solidFill>
              </a:rPr>
              <a:t>n</a:t>
            </a:r>
            <a:r>
              <a:rPr lang="en-US" altLang="zh-CN" sz="2800" baseline="-25000" dirty="0">
                <a:solidFill>
                  <a:prstClr val="black"/>
                </a:solidFill>
              </a:rPr>
              <a:t> </a:t>
            </a:r>
            <a:r>
              <a:rPr lang="zh-CN" altLang="en-US" sz="2800" dirty="0">
                <a:solidFill>
                  <a:prstClr val="black"/>
                </a:solidFill>
              </a:rPr>
              <a:t>）的</a:t>
            </a:r>
            <a:r>
              <a:rPr lang="zh-CN" altLang="en-US" sz="2800" dirty="0">
                <a:solidFill>
                  <a:srgbClr val="FF0000"/>
                </a:solidFill>
              </a:rPr>
              <a:t>部分指派</a:t>
            </a:r>
            <a:r>
              <a:rPr lang="zh-CN" altLang="en-US" sz="2800" dirty="0">
                <a:solidFill>
                  <a:prstClr val="black"/>
                </a:solidFill>
              </a:rPr>
              <a:t>。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12518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图片 4">
            <a:extLst>
              <a:ext uri="{FF2B5EF4-FFF2-40B4-BE49-F238E27FC236}">
                <a16:creationId xmlns:a16="http://schemas.microsoft.com/office/drawing/2014/main" id="{AD236439-7967-4536-B9D5-7EB485B2E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1" name="文本框 2">
            <a:extLst>
              <a:ext uri="{FF2B5EF4-FFF2-40B4-BE49-F238E27FC236}">
                <a16:creationId xmlns:a16="http://schemas.microsoft.com/office/drawing/2014/main" id="{3DBF2C16-B8D8-4044-9DDF-1711CE828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18C4E7-47BF-40AB-8171-82671980E992}"/>
              </a:ext>
            </a:extLst>
          </p:cNvPr>
          <p:cNvSpPr txBox="1"/>
          <p:nvPr/>
        </p:nvSpPr>
        <p:spPr>
          <a:xfrm>
            <a:off x="1875453" y="1567543"/>
            <a:ext cx="74085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α=</a:t>
            </a:r>
            <a:r>
              <a:rPr lang="zh-CN" altLang="en-US" sz="4400" dirty="0"/>
              <a:t>（</a:t>
            </a:r>
            <a:r>
              <a:rPr lang="en-US" altLang="zh-CN" sz="4400" dirty="0"/>
              <a:t>P</a:t>
            </a:r>
            <a:r>
              <a:rPr lang="en-US" altLang="zh-CN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Symbol" panose="05050102010706020507" pitchFamily="18" charset="2"/>
              </a:rPr>
              <a:t>  (Q  R)</a:t>
            </a:r>
            <a:r>
              <a:rPr lang="zh-CN" altLang="en-US" sz="4400" dirty="0"/>
              <a:t>）</a:t>
            </a:r>
            <a:r>
              <a:rPr lang="en-US" altLang="zh-CN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Symbol" panose="05050102010706020507" pitchFamily="18" charset="2"/>
              </a:rPr>
              <a:t> S</a:t>
            </a:r>
            <a:endParaRPr lang="zh-CN" altLang="en-US" sz="4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5A438B-8556-4836-A946-215BCE9F0BC1}"/>
              </a:ext>
            </a:extLst>
          </p:cNvPr>
          <p:cNvSpPr txBox="1"/>
          <p:nvPr/>
        </p:nvSpPr>
        <p:spPr>
          <a:xfrm>
            <a:off x="1875453" y="2625012"/>
            <a:ext cx="74085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(P, Q, R, S)=(1, 0, 1, 1)</a:t>
            </a:r>
            <a:endParaRPr lang="zh-CN" altLang="en-US" sz="4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D7A529-2D61-422E-91B8-9D9C2040B6EA}"/>
              </a:ext>
            </a:extLst>
          </p:cNvPr>
          <p:cNvSpPr txBox="1"/>
          <p:nvPr/>
        </p:nvSpPr>
        <p:spPr>
          <a:xfrm>
            <a:off x="1875453" y="3785118"/>
            <a:ext cx="74085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(P, Q, R, S)=(1, 0, 1, S)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866203963"/>
      </p:ext>
    </p:extLst>
  </p:cSld>
  <p:clrMapOvr>
    <a:masterClrMapping/>
  </p:clrMapOvr>
  <p:transition spd="slow" advTm="0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4A12A1-8179-4D8D-8416-0C163FF5C1BF}"/>
              </a:ext>
            </a:extLst>
          </p:cNvPr>
          <p:cNvSpPr/>
          <p:nvPr/>
        </p:nvSpPr>
        <p:spPr>
          <a:xfrm>
            <a:off x="1751013" y="1030288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成真指派</a:t>
            </a:r>
            <a:endParaRPr lang="en-US" altLang="zh-CN" sz="4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E18346-6669-497B-9B65-AABBAD6272A0}"/>
              </a:ext>
            </a:extLst>
          </p:cNvPr>
          <p:cNvSpPr txBox="1"/>
          <p:nvPr/>
        </p:nvSpPr>
        <p:spPr>
          <a:xfrm>
            <a:off x="1856792" y="1968759"/>
            <a:ext cx="7389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对于任一命题公式</a:t>
            </a:r>
            <a:r>
              <a:rPr lang="en-US" altLang="zh-CN" sz="3200" dirty="0"/>
              <a:t>α</a:t>
            </a:r>
            <a:r>
              <a:rPr lang="zh-CN" altLang="en-US" sz="3200" dirty="0"/>
              <a:t>，凡使得</a:t>
            </a:r>
            <a:r>
              <a:rPr lang="en-US" altLang="zh-CN" sz="3200" dirty="0"/>
              <a:t>α</a:t>
            </a:r>
            <a:r>
              <a:rPr lang="zh-CN" altLang="en-US" sz="3200" dirty="0"/>
              <a:t>为真的指派，不管是完全指派还是部分指派，都称为</a:t>
            </a:r>
            <a:r>
              <a:rPr lang="en-US" altLang="zh-CN" sz="3200" dirty="0"/>
              <a:t>α</a:t>
            </a:r>
            <a:r>
              <a:rPr lang="zh-CN" altLang="en-US" sz="3200" dirty="0"/>
              <a:t>的</a:t>
            </a:r>
            <a:r>
              <a:rPr lang="zh-CN" altLang="en-US" sz="3200" dirty="0">
                <a:solidFill>
                  <a:srgbClr val="FF0000"/>
                </a:solidFill>
              </a:rPr>
              <a:t>成真指派</a:t>
            </a:r>
            <a:r>
              <a:rPr lang="zh-CN" altLang="en-US" sz="3200" dirty="0"/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3CF30B-16EA-44E0-A62B-9F73BE30C7FD}"/>
              </a:ext>
            </a:extLst>
          </p:cNvPr>
          <p:cNvSpPr txBox="1"/>
          <p:nvPr/>
        </p:nvSpPr>
        <p:spPr>
          <a:xfrm>
            <a:off x="1856791" y="4227360"/>
            <a:ext cx="7389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对于任一命题公式</a:t>
            </a:r>
            <a:r>
              <a:rPr lang="en-US" altLang="zh-CN" sz="3200" dirty="0"/>
              <a:t>α</a:t>
            </a:r>
            <a:r>
              <a:rPr lang="zh-CN" altLang="en-US" sz="3200" dirty="0"/>
              <a:t>，凡使得</a:t>
            </a:r>
            <a:r>
              <a:rPr lang="en-US" altLang="zh-CN" sz="3200" dirty="0"/>
              <a:t>α</a:t>
            </a:r>
            <a:r>
              <a:rPr lang="zh-CN" altLang="en-US" sz="3200" dirty="0"/>
              <a:t>为假的指派，不管是完全指派还是部分指派，都称为</a:t>
            </a:r>
            <a:r>
              <a:rPr lang="en-US" altLang="zh-CN" sz="3200" dirty="0"/>
              <a:t>α</a:t>
            </a:r>
            <a:r>
              <a:rPr lang="zh-CN" altLang="en-US" sz="3200" dirty="0"/>
              <a:t>的</a:t>
            </a:r>
            <a:r>
              <a:rPr lang="zh-CN" altLang="en-US" sz="3200" dirty="0">
                <a:solidFill>
                  <a:srgbClr val="FF0000"/>
                </a:solidFill>
              </a:rPr>
              <a:t>成假指派</a:t>
            </a:r>
            <a:r>
              <a:rPr lang="zh-CN" altLang="en-US" sz="32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09202227"/>
      </p:ext>
    </p:extLst>
  </p:cSld>
  <p:clrMapOvr>
    <a:masterClrMapping/>
  </p:clrMapOvr>
  <p:transition spd="slow" advTm="0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4060C3-ACCD-4737-A3EE-B011BA0D7E06}"/>
              </a:ext>
            </a:extLst>
          </p:cNvPr>
          <p:cNvSpPr txBox="1"/>
          <p:nvPr/>
        </p:nvSpPr>
        <p:spPr>
          <a:xfrm>
            <a:off x="1751013" y="1455738"/>
            <a:ext cx="72063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对于命题公式中命题变元的每一种可能的完全指派，以及由它们确定出的公式真值所列成的表，称为该公式的真值表（</a:t>
            </a:r>
            <a:r>
              <a:rPr lang="en-US" altLang="zh-CN" sz="3200" dirty="0">
                <a:solidFill>
                  <a:srgbClr val="FF0000"/>
                </a:solidFill>
              </a:rPr>
              <a:t>truth table</a:t>
            </a:r>
            <a:r>
              <a:rPr lang="zh-CN" altLang="en-US" sz="3200" dirty="0"/>
              <a:t>）。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CC649C-65DC-45C8-B0B2-C672DD388403}"/>
              </a:ext>
            </a:extLst>
          </p:cNvPr>
          <p:cNvSpPr txBox="1"/>
          <p:nvPr/>
        </p:nvSpPr>
        <p:spPr>
          <a:xfrm>
            <a:off x="1686606" y="3712171"/>
            <a:ext cx="7716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n</a:t>
            </a:r>
            <a:r>
              <a:rPr lang="zh-CN" altLang="en-US" sz="2800" dirty="0"/>
              <a:t>个命题变元的公式     </a:t>
            </a:r>
            <a:r>
              <a:rPr lang="en-US" altLang="zh-CN" sz="2800" dirty="0"/>
              <a:t>2</a:t>
            </a:r>
            <a:r>
              <a:rPr lang="en-US" altLang="zh-CN" sz="2800" baseline="30000" dirty="0"/>
              <a:t>n</a:t>
            </a:r>
            <a:r>
              <a:rPr lang="zh-CN" altLang="en-US" sz="2800" dirty="0"/>
              <a:t>个完全指派    表有</a:t>
            </a:r>
            <a:r>
              <a:rPr lang="en-US" altLang="zh-CN" sz="2800" dirty="0"/>
              <a:t>2</a:t>
            </a:r>
            <a:r>
              <a:rPr lang="en-US" altLang="zh-CN" sz="2800" baseline="30000" dirty="0"/>
              <a:t>n</a:t>
            </a:r>
            <a:r>
              <a:rPr lang="zh-CN" altLang="en-US" sz="2800" dirty="0"/>
              <a:t>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4BE3BDB-E6B9-461B-B502-E7B4DCE9C3B5}"/>
              </a:ext>
            </a:extLst>
          </p:cNvPr>
          <p:cNvSpPr txBox="1"/>
          <p:nvPr/>
        </p:nvSpPr>
        <p:spPr>
          <a:xfrm>
            <a:off x="1950098" y="4521684"/>
            <a:ext cx="66807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400" dirty="0"/>
              <a:t>命题变元按英文字母顺序排列；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对每个指派，以二进制数从小到大或从大到小的顺序排列；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若公式较复杂，可先列出各子公式的真值（若有括号，则应从里层向外层展开），最后列出所求公式的真值。</a:t>
            </a:r>
          </a:p>
        </p:txBody>
      </p:sp>
    </p:spTree>
    <p:extLst>
      <p:ext uri="{BB962C8B-B14F-4D97-AF65-F5344CB8AC3E}">
        <p14:creationId xmlns:p14="http://schemas.microsoft.com/office/powerpoint/2010/main" val="425969638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Group 357">
            <a:extLst>
              <a:ext uri="{FF2B5EF4-FFF2-40B4-BE49-F238E27FC236}">
                <a16:creationId xmlns:a16="http://schemas.microsoft.com/office/drawing/2014/main" id="{F6C2D6C3-CE62-4DF1-A76E-AC4B82CE07E3}"/>
              </a:ext>
            </a:extLst>
          </p:cNvPr>
          <p:cNvGraphicFramePr>
            <a:graphicFrameLocks noGrp="1"/>
          </p:cNvGraphicFramePr>
          <p:nvPr/>
        </p:nvGraphicFramePr>
        <p:xfrm>
          <a:off x="2108719" y="2239509"/>
          <a:ext cx="7282834" cy="4159250"/>
        </p:xfrm>
        <a:graphic>
          <a:graphicData uri="http://schemas.openxmlformats.org/drawingml/2006/table">
            <a:tbl>
              <a:tblPr/>
              <a:tblGrid>
                <a:gridCol w="2520496">
                  <a:extLst>
                    <a:ext uri="{9D8B030D-6E8A-4147-A177-3AD203B41FA5}">
                      <a16:colId xmlns:a16="http://schemas.microsoft.com/office/drawing/2014/main" val="673426760"/>
                    </a:ext>
                  </a:extLst>
                </a:gridCol>
                <a:gridCol w="2170997">
                  <a:extLst>
                    <a:ext uri="{9D8B030D-6E8A-4147-A177-3AD203B41FA5}">
                      <a16:colId xmlns:a16="http://schemas.microsoft.com/office/drawing/2014/main" val="2882343701"/>
                    </a:ext>
                  </a:extLst>
                </a:gridCol>
                <a:gridCol w="2591341">
                  <a:extLst>
                    <a:ext uri="{9D8B030D-6E8A-4147-A177-3AD203B41FA5}">
                      <a16:colId xmlns:a16="http://schemas.microsoft.com/office/drawing/2014/main" val="2685977537"/>
                    </a:ext>
                  </a:extLst>
                </a:gridCol>
              </a:tblGrid>
              <a:tr h="50165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     Q     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(P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Q)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100704"/>
                  </a:ext>
                </a:extLst>
              </a:tr>
              <a:tr h="45085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0      0     0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631651"/>
                  </a:ext>
                </a:extLst>
              </a:tr>
              <a:tr h="449263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0      0     1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452999"/>
                  </a:ext>
                </a:extLst>
              </a:tr>
              <a:tr h="45085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0      1     0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519623"/>
                  </a:ext>
                </a:extLst>
              </a:tr>
              <a:tr h="45085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0      1     1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832174"/>
                  </a:ext>
                </a:extLst>
              </a:tr>
              <a:tr h="45085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1      0     0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84587"/>
                  </a:ext>
                </a:extLst>
              </a:tr>
              <a:tr h="449263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1      0     1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793508"/>
                  </a:ext>
                </a:extLst>
              </a:tr>
              <a:tr h="45085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1      1     0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897181"/>
                  </a:ext>
                </a:extLst>
              </a:tr>
              <a:tr h="45085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1      1     1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00703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503D129-485C-4E9C-B5DA-384429D2C0FF}"/>
              </a:ext>
            </a:extLst>
          </p:cNvPr>
          <p:cNvSpPr/>
          <p:nvPr/>
        </p:nvSpPr>
        <p:spPr>
          <a:xfrm>
            <a:off x="3532351" y="951885"/>
            <a:ext cx="344196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800" dirty="0">
                <a:latin typeface="Times New Roman" panose="02020603050405020304" pitchFamily="18" charset="0"/>
              </a:rPr>
              <a:t>α=(P</a:t>
            </a:r>
            <a:r>
              <a:rPr lang="en-US" altLang="zh-CN" sz="4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4800" dirty="0">
                <a:latin typeface="Times New Roman" panose="02020603050405020304" pitchFamily="18" charset="0"/>
              </a:rPr>
              <a:t>Q)</a:t>
            </a:r>
            <a:r>
              <a:rPr lang="en-US" altLang="zh-CN" sz="4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4800" dirty="0">
                <a:latin typeface="Times New Roman" panose="02020603050405020304" pitchFamily="18" charset="0"/>
              </a:rPr>
              <a:t>R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03849254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框 63492">
            <a:extLst>
              <a:ext uri="{FF2B5EF4-FFF2-40B4-BE49-F238E27FC236}">
                <a16:creationId xmlns:a16="http://schemas.microsoft.com/office/drawing/2014/main" id="{B203F3B7-1BE7-4E50-93CE-D8E8571B0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802" y="1870789"/>
            <a:ext cx="5311127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AutoNum type="arabicPlain"/>
            </a:pPr>
            <a:r>
              <a:rPr lang="zh-CN" altLang="en-US" sz="3200" b="0" dirty="0">
                <a:latin typeface="Arial" panose="020B0604020202020204" pitchFamily="34" charset="0"/>
              </a:rPr>
              <a:t> </a:t>
            </a:r>
            <a:r>
              <a:rPr lang="en-US" altLang="zh-CN" sz="3200" b="0" dirty="0">
                <a:latin typeface="Arial" panose="020B0604020202020204" pitchFamily="34" charset="0"/>
              </a:rPr>
              <a:t>(P</a:t>
            </a:r>
            <a:r>
              <a:rPr lang="en-US" altLang="zh-CN" sz="3200" b="0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200" b="0" dirty="0">
                <a:latin typeface="Arial" panose="020B0604020202020204" pitchFamily="34" charset="0"/>
              </a:rPr>
              <a:t>(Q</a:t>
            </a:r>
            <a:r>
              <a:rPr lang="en-US" altLang="zh-CN" sz="3200" b="0" dirty="0">
                <a:latin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3200" b="0" dirty="0">
                <a:latin typeface="Arial" panose="020B0604020202020204" pitchFamily="34" charset="0"/>
              </a:rPr>
              <a:t>P))</a:t>
            </a:r>
            <a:r>
              <a:rPr lang="en-US" altLang="zh-CN" sz="3200" b="0" dirty="0">
                <a:latin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3200" b="0" dirty="0">
                <a:latin typeface="Arial" panose="020B0604020202020204" pitchFamily="34" charset="0"/>
              </a:rPr>
              <a:t>R </a:t>
            </a:r>
          </a:p>
          <a:p>
            <a:pPr>
              <a:buFont typeface="Arial" panose="020B0604020202020204" pitchFamily="34" charset="0"/>
              <a:buAutoNum type="arabicPlain"/>
            </a:pPr>
            <a:endParaRPr lang="en-US" altLang="zh-CN" sz="3200" b="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AutoNum type="arabicPlain"/>
            </a:pPr>
            <a:r>
              <a:rPr lang="en-US" altLang="zh-CN" sz="3200" b="0" dirty="0">
                <a:latin typeface="Arial" panose="020B0604020202020204" pitchFamily="34" charset="0"/>
              </a:rPr>
              <a:t> ((</a:t>
            </a:r>
            <a:r>
              <a:rPr lang="en-US" altLang="zh-CN" sz="3200" b="0" dirty="0">
                <a:latin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altLang="zh-CN" sz="3200" b="0" dirty="0">
                <a:latin typeface="Arial" panose="020B0604020202020204" pitchFamily="34" charset="0"/>
              </a:rPr>
              <a:t>(P</a:t>
            </a:r>
            <a:r>
              <a:rPr lang="en-US" altLang="zh-CN" sz="3200" b="0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200" b="0" dirty="0">
                <a:latin typeface="Arial" panose="020B0604020202020204" pitchFamily="34" charset="0"/>
              </a:rPr>
              <a:t>Q))</a:t>
            </a:r>
            <a:r>
              <a:rPr lang="en-US" altLang="zh-CN" sz="3200" b="0" dirty="0">
                <a:latin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3200" b="0" dirty="0">
                <a:latin typeface="Arial" panose="020B0604020202020204" pitchFamily="34" charset="0"/>
              </a:rPr>
              <a:t>Q)</a:t>
            </a:r>
            <a:r>
              <a:rPr lang="en-US" altLang="zh-CN" sz="3200" b="0" dirty="0">
                <a:latin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3200" b="0" dirty="0">
                <a:latin typeface="Arial" panose="020B0604020202020204" pitchFamily="34" charset="0"/>
              </a:rPr>
              <a:t>R</a:t>
            </a:r>
          </a:p>
          <a:p>
            <a:pPr>
              <a:buFont typeface="Arial" panose="020B0604020202020204" pitchFamily="34" charset="0"/>
              <a:buAutoNum type="arabicPlain"/>
            </a:pPr>
            <a:endParaRPr lang="en-US" altLang="zh-CN" sz="3200" b="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AutoNum type="arabicPlain"/>
            </a:pPr>
            <a:r>
              <a:rPr lang="en-US" altLang="zh-CN" sz="3200" b="0" dirty="0">
                <a:latin typeface="Arial" panose="020B0604020202020204" pitchFamily="34" charset="0"/>
              </a:rPr>
              <a:t> (P</a:t>
            </a:r>
            <a:r>
              <a:rPr lang="en-US" altLang="zh-CN" sz="3200" b="0" dirty="0">
                <a:latin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3200" b="0" dirty="0">
                <a:latin typeface="Arial" panose="020B0604020202020204" pitchFamily="34" charset="0"/>
              </a:rPr>
              <a:t>Q)</a:t>
            </a:r>
            <a:r>
              <a:rPr lang="en-US" altLang="zh-CN" sz="3200" b="0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200" b="0" dirty="0">
                <a:latin typeface="Arial" panose="020B0604020202020204" pitchFamily="34" charset="0"/>
              </a:rPr>
              <a:t>(</a:t>
            </a:r>
            <a:r>
              <a:rPr lang="en-US" altLang="zh-CN" sz="3200" b="0" dirty="0">
                <a:latin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altLang="zh-CN" sz="3200" b="0" dirty="0">
                <a:latin typeface="Arial" panose="020B0604020202020204" pitchFamily="34" charset="0"/>
              </a:rPr>
              <a:t>P</a:t>
            </a:r>
            <a:r>
              <a:rPr lang="en-US" altLang="zh-CN" sz="3200" b="0" dirty="0">
                <a:latin typeface="Arial" panose="020B0604020202020204" pitchFamily="34" charset="0"/>
                <a:sym typeface="Symbol" panose="05050102010706020507" pitchFamily="18" charset="2"/>
              </a:rPr>
              <a:t></a:t>
            </a:r>
            <a:r>
              <a:rPr lang="en-US" altLang="zh-CN" sz="3200" b="0" dirty="0">
                <a:latin typeface="Arial" panose="020B0604020202020204" pitchFamily="34" charset="0"/>
              </a:rPr>
              <a:t>(Q</a:t>
            </a:r>
            <a:r>
              <a:rPr lang="en-US" altLang="zh-CN" sz="3200" b="0" dirty="0">
                <a:latin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3200" b="0" dirty="0">
                <a:latin typeface="Arial" panose="020B0604020202020204" pitchFamily="34" charset="0"/>
              </a:rPr>
              <a:t>R))</a:t>
            </a:r>
          </a:p>
        </p:txBody>
      </p:sp>
    </p:spTree>
    <p:extLst>
      <p:ext uri="{BB962C8B-B14F-4D97-AF65-F5344CB8AC3E}">
        <p14:creationId xmlns:p14="http://schemas.microsoft.com/office/powerpoint/2010/main" val="3001603528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内容占位符 64514">
            <a:extLst>
              <a:ext uri="{FF2B5EF4-FFF2-40B4-BE49-F238E27FC236}">
                <a16:creationId xmlns:a16="http://schemas.microsoft.com/office/drawing/2014/main" id="{1D135C85-E822-49AE-BCFF-35AA2A2A896C}"/>
              </a:ext>
            </a:extLst>
          </p:cNvPr>
          <p:cNvGraphicFramePr>
            <a:graphicFrameLocks/>
          </p:cNvGraphicFramePr>
          <p:nvPr/>
        </p:nvGraphicFramePr>
        <p:xfrm>
          <a:off x="2330904" y="2211355"/>
          <a:ext cx="7283450" cy="4114800"/>
        </p:xfrm>
        <a:graphic>
          <a:graphicData uri="http://schemas.openxmlformats.org/drawingml/2006/table">
            <a:tbl>
              <a:tblPr/>
              <a:tblGrid>
                <a:gridCol w="506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(Q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P)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(P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(Q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P))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8BF0DA0-CC19-4BA5-BD9E-801D3614B2A8}"/>
              </a:ext>
            </a:extLst>
          </p:cNvPr>
          <p:cNvSpPr/>
          <p:nvPr/>
        </p:nvSpPr>
        <p:spPr>
          <a:xfrm>
            <a:off x="4161448" y="1132572"/>
            <a:ext cx="32496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</a:rPr>
              <a:t>(P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latin typeface="Arial" panose="020B0604020202020204" pitchFamily="34" charset="0"/>
              </a:rPr>
              <a:t>(Q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3600" dirty="0">
                <a:latin typeface="Arial" panose="020B0604020202020204" pitchFamily="34" charset="0"/>
              </a:rPr>
              <a:t>P))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3600" dirty="0">
                <a:latin typeface="Arial" panose="020B0604020202020204" pitchFamily="34" charset="0"/>
              </a:rPr>
              <a:t>R </a:t>
            </a:r>
          </a:p>
        </p:txBody>
      </p:sp>
    </p:spTree>
    <p:extLst>
      <p:ext uri="{BB962C8B-B14F-4D97-AF65-F5344CB8AC3E}">
        <p14:creationId xmlns:p14="http://schemas.microsoft.com/office/powerpoint/2010/main" val="1152732108"/>
      </p:ext>
    </p:extLst>
  </p:cSld>
  <p:clrMapOvr>
    <a:masterClrMapping/>
  </p:clrMapOvr>
  <p:transition spd="slow" advTm="0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内容占位符 64514">
            <a:extLst>
              <a:ext uri="{FF2B5EF4-FFF2-40B4-BE49-F238E27FC236}">
                <a16:creationId xmlns:a16="http://schemas.microsoft.com/office/drawing/2014/main" id="{1D135C85-E822-49AE-BCFF-35AA2A2A896C}"/>
              </a:ext>
            </a:extLst>
          </p:cNvPr>
          <p:cNvGraphicFramePr>
            <a:graphicFrameLocks/>
          </p:cNvGraphicFramePr>
          <p:nvPr/>
        </p:nvGraphicFramePr>
        <p:xfrm>
          <a:off x="2330904" y="2211355"/>
          <a:ext cx="7283450" cy="4114800"/>
        </p:xfrm>
        <a:graphic>
          <a:graphicData uri="http://schemas.openxmlformats.org/drawingml/2006/table">
            <a:tbl>
              <a:tblPr/>
              <a:tblGrid>
                <a:gridCol w="506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(Q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P)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(P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(Q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P))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8BF0DA0-CC19-4BA5-BD9E-801D3614B2A8}"/>
              </a:ext>
            </a:extLst>
          </p:cNvPr>
          <p:cNvSpPr/>
          <p:nvPr/>
        </p:nvSpPr>
        <p:spPr>
          <a:xfrm>
            <a:off x="4268464" y="1132572"/>
            <a:ext cx="38021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x-none" sz="3600" b="1" dirty="0">
                <a:latin typeface="SimHei" panose="02010609060101010101" pitchFamily="2" charset="-122"/>
                <a:ea typeface="SimHei" panose="02010609060101010101" pitchFamily="2" charset="-122"/>
              </a:rPr>
              <a:t>(P</a:t>
            </a:r>
            <a:r>
              <a:rPr lang="en-US" altLang="x-none" sz="3600" b="1" dirty="0">
                <a:latin typeface="SimHei" panose="02010609060101010101" pitchFamily="2" charset="-122"/>
                <a:ea typeface="SimHei" panose="02010609060101010101" pitchFamily="2" charset="-122"/>
                <a:sym typeface="Symbol" panose="05050102010706020507" pitchFamily="2" charset="2"/>
              </a:rPr>
              <a:t></a:t>
            </a:r>
            <a:r>
              <a:rPr lang="en-US" altLang="x-none" sz="3600" b="1" dirty="0">
                <a:latin typeface="SimHei" panose="02010609060101010101" pitchFamily="2" charset="-122"/>
                <a:ea typeface="SimHei" panose="02010609060101010101" pitchFamily="2" charset="-122"/>
              </a:rPr>
              <a:t>(Q</a:t>
            </a:r>
            <a:r>
              <a:rPr lang="en-US" altLang="x-none" sz="3600" b="1" dirty="0">
                <a:latin typeface="SimHei" panose="02010609060101010101" pitchFamily="2" charset="-122"/>
                <a:ea typeface="SimHei" panose="02010609060101010101" pitchFamily="2" charset="-122"/>
                <a:sym typeface="Symbol" panose="05050102010706020507" pitchFamily="2" charset="2"/>
              </a:rPr>
              <a:t></a:t>
            </a:r>
            <a:r>
              <a:rPr lang="en-US" altLang="x-none" sz="3600" b="1" dirty="0">
                <a:latin typeface="SimHei" panose="02010609060101010101" pitchFamily="2" charset="-122"/>
                <a:ea typeface="SimHei" panose="02010609060101010101" pitchFamily="2" charset="-122"/>
              </a:rPr>
              <a:t>P))</a:t>
            </a:r>
            <a:r>
              <a:rPr lang="en-US" altLang="x-none" sz="3600" b="1" dirty="0">
                <a:latin typeface="SimHei" panose="02010609060101010101" pitchFamily="2" charset="-122"/>
                <a:ea typeface="SimHei" panose="02010609060101010101" pitchFamily="2" charset="-122"/>
                <a:sym typeface="Symbol" panose="05050102010706020507" pitchFamily="2" charset="2"/>
              </a:rPr>
              <a:t></a:t>
            </a:r>
            <a:r>
              <a:rPr lang="en-US" altLang="x-none" sz="3600" b="1" dirty="0">
                <a:latin typeface="SimHei" panose="02010609060101010101" pitchFamily="2" charset="-122"/>
                <a:ea typeface="SimHei" panose="02010609060101010101" pitchFamily="2" charset="-122"/>
              </a:rPr>
              <a:t>R</a:t>
            </a:r>
            <a:endParaRPr lang="en-US" altLang="x-none" sz="3600" b="1" dirty="0">
              <a:latin typeface="SimHei" panose="02010609060101010101" pitchFamily="2" charset="-122"/>
              <a:ea typeface="SimHei" panose="02010609060101010101" pitchFamily="2" charset="-122"/>
              <a:sym typeface="Symbol" panose="05050102010706020507" pitchFamily="2" charset="2"/>
            </a:endParaRPr>
          </a:p>
          <a:p>
            <a:r>
              <a:rPr lang="en-US" altLang="zh-CN" sz="3600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056692"/>
      </p:ext>
    </p:extLst>
  </p:cSld>
  <p:clrMapOvr>
    <a:masterClrMapping/>
  </p:clrMapOvr>
  <p:transition spd="slow" advTm="0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内容占位符 65538">
            <a:extLst>
              <a:ext uri="{FF2B5EF4-FFF2-40B4-BE49-F238E27FC236}">
                <a16:creationId xmlns:a16="http://schemas.microsoft.com/office/drawing/2014/main" id="{3AC7527E-1475-483B-9B2B-0EC86C7814C2}"/>
              </a:ext>
            </a:extLst>
          </p:cNvPr>
          <p:cNvGraphicFramePr>
            <a:graphicFrameLocks/>
          </p:cNvGraphicFramePr>
          <p:nvPr/>
        </p:nvGraphicFramePr>
        <p:xfrm>
          <a:off x="1991518" y="2146787"/>
          <a:ext cx="8208963" cy="4114800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0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(P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Q)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(P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Q))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endParaRPr lang="en-US" altLang="x-none" sz="20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((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(P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Q))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Q)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  <a:endParaRPr lang="en-US" altLang="x-none" sz="20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7D3034AB-8B59-43A5-8732-F92270FCBE51}"/>
              </a:ext>
            </a:extLst>
          </p:cNvPr>
          <p:cNvSpPr/>
          <p:nvPr/>
        </p:nvSpPr>
        <p:spPr>
          <a:xfrm>
            <a:off x="3682408" y="990245"/>
            <a:ext cx="39372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</a:rPr>
              <a:t> ((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Arial" panose="020B0604020202020204" pitchFamily="34" charset="0"/>
              </a:rPr>
              <a:t>(P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latin typeface="Arial" panose="020B0604020202020204" pitchFamily="34" charset="0"/>
              </a:rPr>
              <a:t>Q))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3600" dirty="0">
                <a:latin typeface="Arial" panose="020B0604020202020204" pitchFamily="34" charset="0"/>
              </a:rPr>
              <a:t>Q)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3600" dirty="0">
                <a:latin typeface="Arial" panose="020B0604020202020204" pitchFamily="34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247385236"/>
      </p:ext>
    </p:extLst>
  </p:cSld>
  <p:clrMapOvr>
    <a:masterClrMapping/>
  </p:clrMapOvr>
  <p:transition spd="slow" advTm="0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内容占位符 65538">
            <a:extLst>
              <a:ext uri="{FF2B5EF4-FFF2-40B4-BE49-F238E27FC236}">
                <a16:creationId xmlns:a16="http://schemas.microsoft.com/office/drawing/2014/main" id="{49000DB1-7DFB-437C-8075-53D2BA3D025C}"/>
              </a:ext>
            </a:extLst>
          </p:cNvPr>
          <p:cNvGraphicFramePr>
            <a:graphicFrameLocks/>
          </p:cNvGraphicFramePr>
          <p:nvPr/>
        </p:nvGraphicFramePr>
        <p:xfrm>
          <a:off x="1991518" y="2128125"/>
          <a:ext cx="8208963" cy="4114800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0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(P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Q)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(P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Q))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endParaRPr lang="en-US" altLang="x-none" sz="20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((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(P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Q))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Q)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  <a:endParaRPr lang="en-US" altLang="x-none" sz="20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CBF750F1-F4F5-4AEA-BA04-B5353226C3E1}"/>
              </a:ext>
            </a:extLst>
          </p:cNvPr>
          <p:cNvSpPr/>
          <p:nvPr/>
        </p:nvSpPr>
        <p:spPr>
          <a:xfrm>
            <a:off x="3708912" y="1109991"/>
            <a:ext cx="39372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</a:rPr>
              <a:t> ((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Arial" panose="020B0604020202020204" pitchFamily="34" charset="0"/>
              </a:rPr>
              <a:t>(P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latin typeface="Arial" panose="020B0604020202020204" pitchFamily="34" charset="0"/>
              </a:rPr>
              <a:t>Q))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3600" dirty="0">
                <a:latin typeface="Arial" panose="020B0604020202020204" pitchFamily="34" charset="0"/>
              </a:rPr>
              <a:t>Q)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3600" dirty="0">
                <a:latin typeface="Arial" panose="020B0604020202020204" pitchFamily="34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401248216"/>
      </p:ext>
    </p:extLst>
  </p:cSld>
  <p:clrMapOvr>
    <a:masterClrMapping/>
  </p:clrMapOvr>
  <p:transition spd="slow" advTm="0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内容占位符 66562">
            <a:extLst>
              <a:ext uri="{FF2B5EF4-FFF2-40B4-BE49-F238E27FC236}">
                <a16:creationId xmlns:a16="http://schemas.microsoft.com/office/drawing/2014/main" id="{FF7AD226-80CC-41E2-95FF-21E122EFF768}"/>
              </a:ext>
            </a:extLst>
          </p:cNvPr>
          <p:cNvGraphicFramePr>
            <a:graphicFrameLocks/>
          </p:cNvGraphicFramePr>
          <p:nvPr/>
        </p:nvGraphicFramePr>
        <p:xfrm>
          <a:off x="2022475" y="2071396"/>
          <a:ext cx="8147050" cy="4114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97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36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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  <a:endParaRPr lang="en-US" altLang="x-none" sz="20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(p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q)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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(q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r))</a:t>
                      </a:r>
                      <a:endParaRPr lang="en-US" altLang="x-none" sz="20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D1E5082F-4430-4ED0-853C-AD0C91BA2696}"/>
              </a:ext>
            </a:extLst>
          </p:cNvPr>
          <p:cNvSpPr/>
          <p:nvPr/>
        </p:nvSpPr>
        <p:spPr>
          <a:xfrm>
            <a:off x="3808848" y="1081626"/>
            <a:ext cx="41104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</a:rPr>
              <a:t>(</a:t>
            </a:r>
            <a:r>
              <a:rPr lang="en-US" altLang="zh-CN" sz="3600" dirty="0" err="1">
                <a:latin typeface="Arial" panose="020B0604020202020204" pitchFamily="34" charset="0"/>
              </a:rPr>
              <a:t>p</a:t>
            </a:r>
            <a:r>
              <a:rPr lang="en-US" altLang="zh-CN" sz="3600" dirty="0" err="1">
                <a:latin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3600" dirty="0" err="1">
                <a:latin typeface="Arial" panose="020B0604020202020204" pitchFamily="34" charset="0"/>
              </a:rPr>
              <a:t>q</a:t>
            </a:r>
            <a:r>
              <a:rPr lang="en-US" altLang="zh-CN" sz="3600" dirty="0">
                <a:latin typeface="Arial" panose="020B0604020202020204" pitchFamily="34" charset="0"/>
              </a:rPr>
              <a:t>)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latin typeface="Arial" panose="020B0604020202020204" pitchFamily="34" charset="0"/>
              </a:rPr>
              <a:t>(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Arial" panose="020B0604020202020204" pitchFamily="34" charset="0"/>
              </a:rPr>
              <a:t>p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</a:t>
            </a:r>
            <a:r>
              <a:rPr lang="en-US" altLang="zh-CN" sz="3600" dirty="0">
                <a:latin typeface="Arial" panose="020B0604020202020204" pitchFamily="34" charset="0"/>
              </a:rPr>
              <a:t>(</a:t>
            </a:r>
            <a:r>
              <a:rPr lang="en-US" altLang="zh-CN" sz="3600" dirty="0" err="1">
                <a:latin typeface="Arial" panose="020B0604020202020204" pitchFamily="34" charset="0"/>
              </a:rPr>
              <a:t>q</a:t>
            </a:r>
            <a:r>
              <a:rPr lang="en-US" altLang="zh-CN" sz="3600" dirty="0" err="1">
                <a:latin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3600" dirty="0" err="1">
                <a:latin typeface="Arial" panose="020B0604020202020204" pitchFamily="34" charset="0"/>
              </a:rPr>
              <a:t>r</a:t>
            </a:r>
            <a:r>
              <a:rPr lang="en-US" altLang="zh-CN" sz="3600" dirty="0">
                <a:latin typeface="Arial" panose="020B0604020202020204" pitchFamily="34" charset="0"/>
              </a:rPr>
              <a:t>))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222607679"/>
      </p:ext>
    </p:extLst>
  </p:cSld>
  <p:clrMapOvr>
    <a:masterClrMapping/>
  </p:clrMapOvr>
  <p:transition spd="slow" advTm="0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内容占位符 66562">
            <a:extLst>
              <a:ext uri="{FF2B5EF4-FFF2-40B4-BE49-F238E27FC236}">
                <a16:creationId xmlns:a16="http://schemas.microsoft.com/office/drawing/2014/main" id="{FF7AD226-80CC-41E2-95FF-21E122EFF768}"/>
              </a:ext>
            </a:extLst>
          </p:cNvPr>
          <p:cNvGraphicFramePr>
            <a:graphicFrameLocks/>
          </p:cNvGraphicFramePr>
          <p:nvPr/>
        </p:nvGraphicFramePr>
        <p:xfrm>
          <a:off x="2022475" y="2071396"/>
          <a:ext cx="8147050" cy="4114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97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36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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  <a:endParaRPr lang="en-US" altLang="x-none" sz="20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(P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Q)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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(Q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R))</a:t>
                      </a:r>
                      <a:endParaRPr lang="en-US" altLang="x-none" sz="20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D1E5082F-4430-4ED0-853C-AD0C91BA2696}"/>
              </a:ext>
            </a:extLst>
          </p:cNvPr>
          <p:cNvSpPr/>
          <p:nvPr/>
        </p:nvSpPr>
        <p:spPr>
          <a:xfrm>
            <a:off x="3808848" y="1081626"/>
            <a:ext cx="45977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</a:rPr>
              <a:t>(P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3600" dirty="0">
                <a:latin typeface="Arial" panose="020B0604020202020204" pitchFamily="34" charset="0"/>
              </a:rPr>
              <a:t>Q)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latin typeface="Arial" panose="020B0604020202020204" pitchFamily="34" charset="0"/>
              </a:rPr>
              <a:t>(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Arial" panose="020B0604020202020204" pitchFamily="34" charset="0"/>
              </a:rPr>
              <a:t>P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</a:t>
            </a:r>
            <a:r>
              <a:rPr lang="en-US" altLang="zh-CN" sz="3600" dirty="0">
                <a:latin typeface="Arial" panose="020B0604020202020204" pitchFamily="34" charset="0"/>
              </a:rPr>
              <a:t>(Q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3600" dirty="0">
                <a:latin typeface="Arial" panose="020B0604020202020204" pitchFamily="34" charset="0"/>
              </a:rPr>
              <a:t>R))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136369748"/>
      </p:ext>
    </p:extLst>
  </p:cSld>
  <p:clrMapOvr>
    <a:masterClrMapping/>
  </p:clrMapOvr>
  <p:transition spd="slow" advTm="0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内容占位符 65538">
            <a:extLst>
              <a:ext uri="{FF2B5EF4-FFF2-40B4-BE49-F238E27FC236}">
                <a16:creationId xmlns:a16="http://schemas.microsoft.com/office/drawing/2014/main" id="{49000DB1-7DFB-437C-8075-53D2BA3D025C}"/>
              </a:ext>
            </a:extLst>
          </p:cNvPr>
          <p:cNvGraphicFramePr>
            <a:graphicFrameLocks/>
          </p:cNvGraphicFramePr>
          <p:nvPr/>
        </p:nvGraphicFramePr>
        <p:xfrm>
          <a:off x="1991518" y="2128125"/>
          <a:ext cx="8208963" cy="4114800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0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(P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Q)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(P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Q))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endParaRPr lang="en-US" altLang="x-none" sz="20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((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(P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Q))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Q)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  <a:endParaRPr lang="en-US" altLang="x-none" sz="20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CBF750F1-F4F5-4AEA-BA04-B5353226C3E1}"/>
              </a:ext>
            </a:extLst>
          </p:cNvPr>
          <p:cNvSpPr/>
          <p:nvPr/>
        </p:nvSpPr>
        <p:spPr>
          <a:xfrm>
            <a:off x="3708912" y="1109991"/>
            <a:ext cx="39372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</a:rPr>
              <a:t> ((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Arial" panose="020B0604020202020204" pitchFamily="34" charset="0"/>
              </a:rPr>
              <a:t>(P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latin typeface="Arial" panose="020B0604020202020204" pitchFamily="34" charset="0"/>
              </a:rPr>
              <a:t>Q))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3600" dirty="0">
                <a:latin typeface="Arial" panose="020B0604020202020204" pitchFamily="34" charset="0"/>
              </a:rPr>
              <a:t>Q)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3600" dirty="0">
                <a:latin typeface="Arial" panose="020B0604020202020204" pitchFamily="34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032834374"/>
      </p:ext>
    </p:extLst>
  </p:cSld>
  <p:clrMapOvr>
    <a:masterClrMapping/>
  </p:clrMapOvr>
  <p:transition spd="slow" advTm="0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内容占位符 64514">
            <a:extLst>
              <a:ext uri="{FF2B5EF4-FFF2-40B4-BE49-F238E27FC236}">
                <a16:creationId xmlns:a16="http://schemas.microsoft.com/office/drawing/2014/main" id="{1D135C85-E822-49AE-BCFF-35AA2A2A896C}"/>
              </a:ext>
            </a:extLst>
          </p:cNvPr>
          <p:cNvGraphicFramePr>
            <a:graphicFrameLocks/>
          </p:cNvGraphicFramePr>
          <p:nvPr/>
        </p:nvGraphicFramePr>
        <p:xfrm>
          <a:off x="2330904" y="2211355"/>
          <a:ext cx="7283450" cy="4114800"/>
        </p:xfrm>
        <a:graphic>
          <a:graphicData uri="http://schemas.openxmlformats.org/drawingml/2006/table">
            <a:tbl>
              <a:tblPr/>
              <a:tblGrid>
                <a:gridCol w="506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(Q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P)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(P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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(Q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P))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R</a:t>
                      </a:r>
                      <a:endParaRPr lang="en-US" altLang="x-none" sz="2400" b="1" dirty="0">
                        <a:latin typeface="SimHei" panose="02010609060101010101" pitchFamily="2" charset="-122"/>
                        <a:ea typeface="SimHei" panose="02010609060101010101" pitchFamily="2" charset="-122"/>
                        <a:sym typeface="Symbol" panose="05050102010706020507" pitchFamily="2" charset="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8BF0DA0-CC19-4BA5-BD9E-801D3614B2A8}"/>
              </a:ext>
            </a:extLst>
          </p:cNvPr>
          <p:cNvSpPr/>
          <p:nvPr/>
        </p:nvSpPr>
        <p:spPr>
          <a:xfrm>
            <a:off x="4268464" y="1132572"/>
            <a:ext cx="38021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x-none" sz="3600" b="1" dirty="0">
                <a:latin typeface="SimHei" panose="02010609060101010101" pitchFamily="2" charset="-122"/>
                <a:ea typeface="SimHei" panose="02010609060101010101" pitchFamily="2" charset="-122"/>
              </a:rPr>
              <a:t>(P</a:t>
            </a:r>
            <a:r>
              <a:rPr lang="en-US" altLang="x-none" sz="3600" b="1" dirty="0">
                <a:latin typeface="SimHei" panose="02010609060101010101" pitchFamily="2" charset="-122"/>
                <a:ea typeface="SimHei" panose="02010609060101010101" pitchFamily="2" charset="-122"/>
                <a:sym typeface="Symbol" panose="05050102010706020507" pitchFamily="2" charset="2"/>
              </a:rPr>
              <a:t></a:t>
            </a:r>
            <a:r>
              <a:rPr lang="en-US" altLang="x-none" sz="3600" b="1" dirty="0">
                <a:latin typeface="SimHei" panose="02010609060101010101" pitchFamily="2" charset="-122"/>
                <a:ea typeface="SimHei" panose="02010609060101010101" pitchFamily="2" charset="-122"/>
              </a:rPr>
              <a:t>(Q</a:t>
            </a:r>
            <a:r>
              <a:rPr lang="en-US" altLang="x-none" sz="3600" b="1" dirty="0">
                <a:latin typeface="SimHei" panose="02010609060101010101" pitchFamily="2" charset="-122"/>
                <a:ea typeface="SimHei" panose="02010609060101010101" pitchFamily="2" charset="-122"/>
                <a:sym typeface="Symbol" panose="05050102010706020507" pitchFamily="2" charset="2"/>
              </a:rPr>
              <a:t></a:t>
            </a:r>
            <a:r>
              <a:rPr lang="en-US" altLang="x-none" sz="3600" b="1" dirty="0">
                <a:latin typeface="SimHei" panose="02010609060101010101" pitchFamily="2" charset="-122"/>
                <a:ea typeface="SimHei" panose="02010609060101010101" pitchFamily="2" charset="-122"/>
              </a:rPr>
              <a:t>P))</a:t>
            </a:r>
            <a:r>
              <a:rPr lang="en-US" altLang="x-none" sz="3600" b="1" dirty="0">
                <a:latin typeface="SimHei" panose="02010609060101010101" pitchFamily="2" charset="-122"/>
                <a:ea typeface="SimHei" panose="02010609060101010101" pitchFamily="2" charset="-122"/>
                <a:sym typeface="Symbol" panose="05050102010706020507" pitchFamily="2" charset="2"/>
              </a:rPr>
              <a:t></a:t>
            </a:r>
            <a:r>
              <a:rPr lang="en-US" altLang="x-none" sz="3600" b="1" dirty="0">
                <a:latin typeface="SimHei" panose="02010609060101010101" pitchFamily="2" charset="-122"/>
                <a:ea typeface="SimHei" panose="02010609060101010101" pitchFamily="2" charset="-122"/>
              </a:rPr>
              <a:t>R</a:t>
            </a:r>
            <a:endParaRPr lang="en-US" altLang="x-none" sz="3600" b="1" dirty="0">
              <a:latin typeface="SimHei" panose="02010609060101010101" pitchFamily="2" charset="-122"/>
              <a:ea typeface="SimHei" panose="02010609060101010101" pitchFamily="2" charset="-122"/>
              <a:sym typeface="Symbol" panose="05050102010706020507" pitchFamily="2" charset="2"/>
            </a:endParaRPr>
          </a:p>
          <a:p>
            <a:r>
              <a:rPr lang="en-US" altLang="zh-CN" sz="3600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0087068"/>
      </p:ext>
    </p:extLst>
  </p:cSld>
  <p:clrMapOvr>
    <a:masterClrMapping/>
  </p:clrMapOvr>
  <p:transition spd="slow" advTm="0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BBD5A8-6B0A-4B89-B5C2-A0CDAB95D31A}"/>
              </a:ext>
            </a:extLst>
          </p:cNvPr>
          <p:cNvSpPr txBox="1"/>
          <p:nvPr/>
        </p:nvSpPr>
        <p:spPr>
          <a:xfrm>
            <a:off x="1895913" y="998290"/>
            <a:ext cx="6392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设</a:t>
            </a:r>
            <a:r>
              <a:rPr lang="en-US" altLang="zh-CN" sz="3200" dirty="0"/>
              <a:t>α</a:t>
            </a:r>
            <a:r>
              <a:rPr lang="zh-CN" altLang="en-US" sz="3200" dirty="0"/>
              <a:t>为任一命题公式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B51BC2-B5F5-4F03-81D4-FE013A10E20A}"/>
              </a:ext>
            </a:extLst>
          </p:cNvPr>
          <p:cNvSpPr txBox="1"/>
          <p:nvPr/>
        </p:nvSpPr>
        <p:spPr>
          <a:xfrm>
            <a:off x="1895913" y="1843167"/>
            <a:ext cx="6996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若</a:t>
            </a:r>
            <a:r>
              <a:rPr lang="en-US" altLang="zh-CN" sz="3200" dirty="0"/>
              <a:t>α</a:t>
            </a:r>
            <a:r>
              <a:rPr lang="zh-CN" altLang="en-US" sz="3200" dirty="0"/>
              <a:t>的所有完全指派均是成真指派，则称</a:t>
            </a:r>
            <a:r>
              <a:rPr lang="en-US" altLang="zh-CN" sz="3200" dirty="0"/>
              <a:t>α</a:t>
            </a:r>
            <a:r>
              <a:rPr lang="zh-CN" altLang="en-US" sz="3200" dirty="0"/>
              <a:t>为</a:t>
            </a:r>
            <a:r>
              <a:rPr lang="zh-CN" altLang="en-US" sz="3200" dirty="0">
                <a:solidFill>
                  <a:srgbClr val="FF0000"/>
                </a:solidFill>
              </a:rPr>
              <a:t>重言式</a:t>
            </a:r>
            <a:r>
              <a:rPr lang="zh-CN" altLang="en-US" sz="3200" dirty="0"/>
              <a:t>或</a:t>
            </a:r>
            <a:r>
              <a:rPr lang="zh-CN" altLang="en-US" sz="3200" dirty="0">
                <a:solidFill>
                  <a:srgbClr val="FF0000"/>
                </a:solidFill>
              </a:rPr>
              <a:t>永真式（</a:t>
            </a:r>
            <a:r>
              <a:rPr lang="en-US" altLang="zh-CN" sz="3200" dirty="0">
                <a:solidFill>
                  <a:srgbClr val="FF0000"/>
                </a:solidFill>
              </a:rPr>
              <a:t>Tautology</a:t>
            </a:r>
            <a:r>
              <a:rPr lang="zh-CN" altLang="en-US" sz="3200" dirty="0">
                <a:solidFill>
                  <a:srgbClr val="FF0000"/>
                </a:solidFill>
              </a:rPr>
              <a:t>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81B12A-5E1F-466F-A690-584286AC3C24}"/>
              </a:ext>
            </a:extLst>
          </p:cNvPr>
          <p:cNvSpPr txBox="1"/>
          <p:nvPr/>
        </p:nvSpPr>
        <p:spPr>
          <a:xfrm>
            <a:off x="1895913" y="3180487"/>
            <a:ext cx="6996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若</a:t>
            </a:r>
            <a:r>
              <a:rPr lang="en-US" altLang="zh-CN" sz="3200" dirty="0"/>
              <a:t>α</a:t>
            </a:r>
            <a:r>
              <a:rPr lang="zh-CN" altLang="en-US" sz="3200" dirty="0"/>
              <a:t>的所有完全指派均是成假指派，则称</a:t>
            </a:r>
            <a:r>
              <a:rPr lang="en-US" altLang="zh-CN" sz="3200" dirty="0"/>
              <a:t>α</a:t>
            </a:r>
            <a:r>
              <a:rPr lang="zh-CN" altLang="en-US" sz="3200" dirty="0"/>
              <a:t>为</a:t>
            </a:r>
            <a:r>
              <a:rPr lang="zh-CN" altLang="en-US" sz="3200" dirty="0">
                <a:solidFill>
                  <a:srgbClr val="FF0000"/>
                </a:solidFill>
              </a:rPr>
              <a:t>矛盾式</a:t>
            </a:r>
            <a:r>
              <a:rPr lang="zh-CN" altLang="en-US" sz="3200" dirty="0"/>
              <a:t>或</a:t>
            </a:r>
            <a:r>
              <a:rPr lang="zh-CN" altLang="en-US" sz="3200" dirty="0">
                <a:solidFill>
                  <a:srgbClr val="FF0000"/>
                </a:solidFill>
              </a:rPr>
              <a:t>永假式（</a:t>
            </a:r>
            <a:r>
              <a:rPr lang="en-US" altLang="zh-CN" sz="3200" dirty="0">
                <a:solidFill>
                  <a:srgbClr val="FF0000"/>
                </a:solidFill>
              </a:rPr>
              <a:t>Absurdity</a:t>
            </a:r>
            <a:r>
              <a:rPr lang="zh-CN" altLang="en-US" sz="3200" dirty="0">
                <a:solidFill>
                  <a:srgbClr val="FF0000"/>
                </a:solidFill>
              </a:rPr>
              <a:t>）。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A668CE-E2B3-4985-AD3D-63A532BB814A}"/>
              </a:ext>
            </a:extLst>
          </p:cNvPr>
          <p:cNvSpPr txBox="1"/>
          <p:nvPr/>
        </p:nvSpPr>
        <p:spPr>
          <a:xfrm>
            <a:off x="1895913" y="4517807"/>
            <a:ext cx="6996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若</a:t>
            </a:r>
            <a:r>
              <a:rPr lang="en-US" altLang="zh-CN" sz="3200" dirty="0"/>
              <a:t>α</a:t>
            </a:r>
            <a:r>
              <a:rPr lang="zh-CN" altLang="en-US" sz="3200" dirty="0"/>
              <a:t>中有成真指派，则称</a:t>
            </a:r>
            <a:r>
              <a:rPr lang="en-US" altLang="zh-CN" sz="3200" dirty="0"/>
              <a:t>α</a:t>
            </a:r>
            <a:r>
              <a:rPr lang="zh-CN" altLang="en-US" sz="3200" dirty="0"/>
              <a:t>为</a:t>
            </a:r>
            <a:r>
              <a:rPr lang="zh-CN" altLang="en-US" sz="3200" dirty="0">
                <a:solidFill>
                  <a:srgbClr val="FF0000"/>
                </a:solidFill>
              </a:rPr>
              <a:t>可满足式（</a:t>
            </a:r>
            <a:r>
              <a:rPr lang="en-US" altLang="zh-CN" sz="3200" dirty="0">
                <a:solidFill>
                  <a:srgbClr val="FF0000"/>
                </a:solidFill>
              </a:rPr>
              <a:t>Contingency</a:t>
            </a:r>
            <a:r>
              <a:rPr lang="zh-CN" altLang="en-US" sz="3200" dirty="0">
                <a:solidFill>
                  <a:srgbClr val="FF0000"/>
                </a:solidFill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77347637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355D713-82DE-48F3-9659-00C5A5307780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288256"/>
            <a:ext cx="7515225" cy="585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 typeface="Wingdings" panose="05000000000000000000" pitchFamily="2" charset="2"/>
              <a:buNone/>
            </a:pPr>
            <a:r>
              <a:rPr lang="zh-CN" altLang="en-US" dirty="0"/>
              <a:t>从上述定义可知三种特殊公式之间的关系：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731E156-80F3-42AF-B0E5-0B3344A0B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312" y="2253774"/>
            <a:ext cx="9731375" cy="2479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rgbClr val="A50021"/>
              </a:buClr>
              <a:buFontTx/>
              <a:buAutoNum type="arabicParenR"/>
            </a:pPr>
            <a:r>
              <a:rPr kumimoji="1" lang="zh-CN" altLang="en-US" sz="2800" b="1" dirty="0">
                <a:latin typeface="黑体" panose="02010609060101010101" pitchFamily="49" charset="-122"/>
              </a:rPr>
              <a:t>永真式</a:t>
            </a:r>
            <a:r>
              <a:rPr kumimoji="1" lang="en-US" altLang="zh-CN" sz="2800" b="1" dirty="0">
                <a:latin typeface="黑体" panose="02010609060101010101" pitchFamily="49" charset="-122"/>
              </a:rPr>
              <a:t>G</a:t>
            </a:r>
            <a:r>
              <a:rPr kumimoji="1" lang="zh-CN" altLang="en-US" sz="2800" b="1" dirty="0">
                <a:latin typeface="黑体" panose="02010609060101010101" pitchFamily="49" charset="-122"/>
              </a:rPr>
              <a:t>的否定</a:t>
            </a:r>
            <a:r>
              <a:rPr kumimoji="1" lang="zh-CN" altLang="en-US" sz="2800" b="1" dirty="0">
                <a:latin typeface="黑体" panose="02010609060101010101" pitchFamily="49" charset="-122"/>
                <a:sym typeface="Symbol" panose="05050102010706020507" pitchFamily="18" charset="2"/>
              </a:rPr>
              <a:t></a:t>
            </a:r>
            <a:r>
              <a:rPr kumimoji="1" lang="en-US" altLang="zh-CN" sz="2800" b="1" dirty="0">
                <a:latin typeface="黑体" panose="02010609060101010101" pitchFamily="49" charset="-122"/>
                <a:sym typeface="Symbol" panose="05050102010706020507" pitchFamily="18" charset="2"/>
              </a:rPr>
              <a:t>G</a:t>
            </a:r>
            <a:r>
              <a:rPr kumimoji="1" lang="zh-CN" altLang="en-US" sz="2800" b="1" dirty="0">
                <a:latin typeface="黑体" panose="02010609060101010101" pitchFamily="49" charset="-122"/>
              </a:rPr>
              <a:t>是矛盾式；矛盾式</a:t>
            </a:r>
            <a:r>
              <a:rPr kumimoji="1" lang="en-US" altLang="zh-CN" sz="2800" b="1" dirty="0">
                <a:latin typeface="黑体" panose="02010609060101010101" pitchFamily="49" charset="-122"/>
              </a:rPr>
              <a:t>G</a:t>
            </a:r>
            <a:r>
              <a:rPr kumimoji="1" lang="zh-CN" altLang="en-US" sz="2800" b="1" dirty="0">
                <a:latin typeface="黑体" panose="02010609060101010101" pitchFamily="49" charset="-122"/>
              </a:rPr>
              <a:t>的否定</a:t>
            </a:r>
            <a:r>
              <a:rPr kumimoji="1" lang="zh-CN" altLang="en-US" sz="2800" b="1" dirty="0">
                <a:latin typeface="黑体" panose="02010609060101010101" pitchFamily="49" charset="-122"/>
                <a:sym typeface="Symbol" panose="05050102010706020507" pitchFamily="18" charset="2"/>
              </a:rPr>
              <a:t></a:t>
            </a:r>
            <a:r>
              <a:rPr kumimoji="1" lang="en-US" altLang="zh-CN" sz="2800" b="1" dirty="0">
                <a:latin typeface="黑体" panose="02010609060101010101" pitchFamily="49" charset="-122"/>
                <a:sym typeface="Symbol" panose="05050102010706020507" pitchFamily="18" charset="2"/>
              </a:rPr>
              <a:t>G</a:t>
            </a:r>
            <a:r>
              <a:rPr kumimoji="1" lang="zh-CN" altLang="en-US" sz="2800" b="1" dirty="0">
                <a:latin typeface="黑体" panose="02010609060101010101" pitchFamily="49" charset="-122"/>
              </a:rPr>
              <a:t>是永真式。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FontTx/>
              <a:buAutoNum type="arabicParenR"/>
            </a:pPr>
            <a:r>
              <a:rPr kumimoji="1" lang="zh-CN" altLang="en-US" sz="2800" b="1" dirty="0">
                <a:latin typeface="黑体" panose="02010609060101010101" pitchFamily="49" charset="-122"/>
              </a:rPr>
              <a:t>永真式一定是可满足式</a:t>
            </a:r>
            <a:r>
              <a:rPr kumimoji="1" lang="en-US" altLang="zh-CN" sz="2800" b="1" dirty="0">
                <a:latin typeface="黑体" panose="02010609060101010101" pitchFamily="49" charset="-122"/>
              </a:rPr>
              <a:t>,</a:t>
            </a:r>
            <a:r>
              <a:rPr kumimoji="1" lang="zh-CN" altLang="en-US" sz="2800" b="1" dirty="0">
                <a:latin typeface="黑体" panose="02010609060101010101" pitchFamily="49" charset="-122"/>
              </a:rPr>
              <a:t>可满足式不一定是永真式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FontTx/>
              <a:buAutoNum type="arabicParenR"/>
            </a:pPr>
            <a:r>
              <a:rPr kumimoji="1" lang="zh-CN" altLang="en-US" sz="2800" b="1" dirty="0">
                <a:latin typeface="黑体" panose="02010609060101010101" pitchFamily="49" charset="-122"/>
              </a:rPr>
              <a:t>可满足式的否定不一定为不可满足式</a:t>
            </a:r>
            <a:r>
              <a:rPr kumimoji="1" lang="en-US" altLang="zh-CN" sz="2800" b="1" dirty="0">
                <a:latin typeface="黑体" panose="02010609060101010101" pitchFamily="49" charset="-122"/>
              </a:rPr>
              <a:t>(</a:t>
            </a:r>
            <a:r>
              <a:rPr kumimoji="1" lang="zh-CN" altLang="en-US" sz="2800" b="1" dirty="0">
                <a:latin typeface="黑体" panose="02010609060101010101" pitchFamily="49" charset="-122"/>
              </a:rPr>
              <a:t>即矛盾式</a:t>
            </a:r>
            <a:r>
              <a:rPr kumimoji="1" lang="en-US" altLang="zh-CN" sz="2800" b="1" dirty="0">
                <a:latin typeface="黑体" panose="02010609060101010101" pitchFamily="49" charset="-122"/>
              </a:rPr>
              <a:t>)</a:t>
            </a:r>
            <a:endParaRPr kumimoji="1" lang="zh-CN" altLang="en-US" sz="2800" b="1" dirty="0">
              <a:latin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</a:pPr>
            <a:endParaRPr kumimoji="1" lang="zh-CN" altLang="en-US" sz="2800" b="1" dirty="0">
              <a:latin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671829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utoUpdateAnimBg="0"/>
      <p:bldP spid="13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BDC030-8B02-4AF7-A39B-054ED4086E8A}"/>
              </a:ext>
            </a:extLst>
          </p:cNvPr>
          <p:cNvSpPr/>
          <p:nvPr/>
        </p:nvSpPr>
        <p:spPr>
          <a:xfrm>
            <a:off x="1751013" y="1030288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等值演算</a:t>
            </a:r>
            <a:endParaRPr lang="en-US" altLang="zh-CN" sz="4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E94F48-820C-454D-830E-C85E4001FFD6}"/>
              </a:ext>
            </a:extLst>
          </p:cNvPr>
          <p:cNvSpPr txBox="1"/>
          <p:nvPr/>
        </p:nvSpPr>
        <p:spPr>
          <a:xfrm>
            <a:off x="1571625" y="1921565"/>
            <a:ext cx="822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</a:t>
            </a:r>
            <a:r>
              <a:rPr lang="en-US" altLang="zh-CN" sz="2800" dirty="0"/>
              <a:t>α</a:t>
            </a:r>
            <a:r>
              <a:rPr lang="zh-CN" altLang="en-US" sz="2800" dirty="0"/>
              <a:t>，</a:t>
            </a:r>
            <a:r>
              <a:rPr lang="en-US" altLang="zh-CN" sz="2800" dirty="0"/>
              <a:t>β</a:t>
            </a:r>
            <a:r>
              <a:rPr lang="zh-CN" altLang="en-US" sz="2800" dirty="0"/>
              <a:t>是两个命题公式，若</a:t>
            </a:r>
            <a:r>
              <a:rPr lang="en-US" altLang="zh-CN" sz="2800" dirty="0"/>
              <a:t>α</a:t>
            </a:r>
            <a:r>
              <a:rPr lang="zh-CN" altLang="en-US" sz="2800" dirty="0"/>
              <a:t>，</a:t>
            </a:r>
            <a:r>
              <a:rPr lang="en-US" altLang="zh-CN" sz="2800" dirty="0"/>
              <a:t>β</a:t>
            </a:r>
            <a:r>
              <a:rPr lang="zh-CN" altLang="en-US" sz="2800" dirty="0"/>
              <a:t>构成的等价式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sym typeface="宋体" panose="02010600030101010101" pitchFamily="2" charset="-122"/>
              </a:rPr>
              <a:t>α </a:t>
            </a:r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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sym typeface="宋体" panose="02010600030101010101" pitchFamily="2" charset="-122"/>
              </a:rPr>
              <a:t> β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sym typeface="宋体" panose="02010600030101010101" pitchFamily="2" charset="-122"/>
              </a:rPr>
              <a:t>为重言式，则称公式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sym typeface="宋体" panose="02010600030101010101" pitchFamily="2" charset="-122"/>
              </a:rPr>
              <a:t>α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sym typeface="宋体" panose="02010600030101010101" pitchFamily="2" charset="-122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sym typeface="宋体" panose="02010600030101010101" pitchFamily="2" charset="-122"/>
              </a:rPr>
              <a:t>β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sym typeface="宋体" panose="02010600030101010101" pitchFamily="2" charset="-122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sym typeface="宋体" panose="02010600030101010101" pitchFamily="2" charset="-122"/>
              </a:rPr>
              <a:t>等值的（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宋体" panose="02010600030101010101" pitchFamily="2" charset="-122"/>
              </a:rPr>
              <a:t>equivalent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sym typeface="宋体" panose="02010600030101010101" pitchFamily="2" charset="-122"/>
              </a:rPr>
              <a:t>）</a:t>
            </a:r>
            <a:r>
              <a:rPr lang="zh-CN" altLang="en-US" sz="2800" dirty="0">
                <a:latin typeface="+mn-ea"/>
                <a:sym typeface="宋体" panose="02010600030101010101" pitchFamily="2" charset="-122"/>
              </a:rPr>
              <a:t>，记作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宋体" panose="02010600030101010101" pitchFamily="2" charset="-122"/>
              </a:rPr>
              <a:t>α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β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。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59BD00-F56B-4EC3-BD12-2DE799EAFDCD}"/>
              </a:ext>
            </a:extLst>
          </p:cNvPr>
          <p:cNvSpPr txBox="1"/>
          <p:nvPr/>
        </p:nvSpPr>
        <p:spPr>
          <a:xfrm>
            <a:off x="3987523" y="3279914"/>
            <a:ext cx="7591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zh-CN" altLang="en-US" sz="4000" dirty="0">
                <a:latin typeface="+mn-ea"/>
                <a:sym typeface="Symbol" panose="05050102010706020507" pitchFamily="18" charset="2"/>
              </a:rPr>
              <a:t></a:t>
            </a:r>
            <a:endParaRPr lang="zh-CN" altLang="en-US" sz="4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4FECE9-55F4-4E05-8AB2-D5C6621922E7}"/>
              </a:ext>
            </a:extLst>
          </p:cNvPr>
          <p:cNvSpPr/>
          <p:nvPr/>
        </p:nvSpPr>
        <p:spPr>
          <a:xfrm>
            <a:off x="1896303" y="4308829"/>
            <a:ext cx="74862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32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</a:t>
            </a:r>
            <a:r>
              <a:rPr lang="zh-CN" altLang="en-US" sz="32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当且仅当</a:t>
            </a:r>
            <a:r>
              <a:rPr lang="zh-CN" altLang="en-US" sz="32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</a:t>
            </a:r>
            <a:r>
              <a:rPr lang="zh-CN" altLang="en-US" sz="32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为重言式</a:t>
            </a:r>
            <a:r>
              <a:rPr lang="zh-CN" altLang="en-US" sz="3200" dirty="0"/>
              <a:t> 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Tx/>
              <a:buNone/>
            </a:pPr>
            <a:r>
              <a:rPr lang="zh-CN" altLang="en-US" sz="32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：一种关系比较，自然语言中的符号</a:t>
            </a:r>
          </a:p>
          <a:p>
            <a:pPr>
              <a:buFontTx/>
              <a:buNone/>
            </a:pPr>
            <a:r>
              <a:rPr lang="zh-CN" altLang="en-US" sz="32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：运算符号，联结词</a:t>
            </a:r>
          </a:p>
        </p:txBody>
      </p:sp>
    </p:spTree>
    <p:extLst>
      <p:ext uri="{BB962C8B-B14F-4D97-AF65-F5344CB8AC3E}">
        <p14:creationId xmlns:p14="http://schemas.microsoft.com/office/powerpoint/2010/main" val="3360393953"/>
      </p:ext>
    </p:extLst>
  </p:cSld>
  <p:clrMapOvr>
    <a:masterClrMapping/>
  </p:clrMapOvr>
  <p:transition spd="slow" advTm="0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1991E60-318F-4C6E-B28F-34041D8F3D6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84212" y="1625600"/>
            <a:ext cx="11012487" cy="119448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36000" tIns="36000" rIns="36000" bIns="3600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证明公式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与公式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(P→Q)∧(Q→P)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之间是逻辑等价的。 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只需判定公式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((P→Q)∧(Q→P))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为重言式。</a:t>
            </a:r>
          </a:p>
        </p:txBody>
      </p:sp>
      <p:graphicFrame>
        <p:nvGraphicFramePr>
          <p:cNvPr id="9" name="Group 50">
            <a:extLst>
              <a:ext uri="{FF2B5EF4-FFF2-40B4-BE49-F238E27FC236}">
                <a16:creationId xmlns:a16="http://schemas.microsoft.com/office/drawing/2014/main" id="{F707F166-D49B-4749-B6CC-51F080C91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537946"/>
              </p:ext>
            </p:extLst>
          </p:nvPr>
        </p:nvGraphicFramePr>
        <p:xfrm>
          <a:off x="2367756" y="4125913"/>
          <a:ext cx="7456488" cy="2449514"/>
        </p:xfrm>
        <a:graphic>
          <a:graphicData uri="http://schemas.openxmlformats.org/drawingml/2006/table">
            <a:tbl>
              <a:tblPr/>
              <a:tblGrid>
                <a:gridCol w="1656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9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P    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     G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(P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Q)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((P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→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Q)∧(Q→P))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0    0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            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    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      1       1       1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0    1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            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0    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     1       0       0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1    0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            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0    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     0       0       1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              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      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    1       1       1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77110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3E74E6-33C0-431C-B254-E8087E68DED3}"/>
              </a:ext>
            </a:extLst>
          </p:cNvPr>
          <p:cNvSpPr txBox="1"/>
          <p:nvPr/>
        </p:nvSpPr>
        <p:spPr>
          <a:xfrm>
            <a:off x="1351722" y="1853670"/>
            <a:ext cx="7657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）双重否定律：</a:t>
            </a:r>
            <a:r>
              <a:rPr lang="en-US" altLang="zh-CN" sz="3600" dirty="0"/>
              <a:t>α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（  ）</a:t>
            </a:r>
            <a:endParaRPr lang="zh-CN" altLang="en-US" sz="36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0F8E45-69C9-46E0-BB73-C19C19E5444E}"/>
              </a:ext>
            </a:extLst>
          </p:cNvPr>
          <p:cNvSpPr txBox="1"/>
          <p:nvPr/>
        </p:nvSpPr>
        <p:spPr>
          <a:xfrm>
            <a:off x="1351721" y="2844649"/>
            <a:ext cx="8441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2</a:t>
            </a:r>
            <a:r>
              <a:rPr lang="zh-CN" altLang="en-US" sz="3600" dirty="0"/>
              <a:t>）等幂律：</a:t>
            </a:r>
            <a:r>
              <a:rPr lang="en-US" altLang="zh-CN" sz="3600" dirty="0"/>
              <a:t>α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sym typeface="Symbol" panose="05050102010706020507" pitchFamily="18" charset="2"/>
              </a:rPr>
              <a:t></a:t>
            </a:r>
            <a:r>
              <a:rPr lang="en-US" altLang="zh-CN" sz="3600" dirty="0">
                <a:sym typeface="Symbol" panose="05050102010706020507" pitchFamily="18" charset="2"/>
              </a:rPr>
              <a:t>  α</a:t>
            </a:r>
            <a:r>
              <a:rPr lang="zh-CN" altLang="en-US" sz="3600" dirty="0">
                <a:sym typeface="Symbol" panose="05050102010706020507" pitchFamily="18" charset="2"/>
              </a:rPr>
              <a:t>，</a:t>
            </a:r>
            <a:r>
              <a:rPr lang="en-US" altLang="zh-CN" sz="3600" dirty="0"/>
              <a:t> α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>
                <a:sym typeface="Symbol" panose="05050102010706020507" pitchFamily="18" charset="2"/>
              </a:rPr>
              <a:t>αα</a:t>
            </a:r>
            <a:endParaRPr lang="zh-CN" altLang="en-US" sz="3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1E4841-9119-4A66-AF16-F7FBC693F7D6}"/>
              </a:ext>
            </a:extLst>
          </p:cNvPr>
          <p:cNvSpPr txBox="1"/>
          <p:nvPr/>
        </p:nvSpPr>
        <p:spPr>
          <a:xfrm>
            <a:off x="1351721" y="3835628"/>
            <a:ext cx="8441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3</a:t>
            </a:r>
            <a:r>
              <a:rPr lang="zh-CN" altLang="en-US" sz="3600" dirty="0"/>
              <a:t>）交换律：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 β</a:t>
            </a:r>
            <a:r>
              <a:rPr lang="en-US" altLang="zh-CN" sz="3600" dirty="0"/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sym typeface="Symbol" panose="05050102010706020507" pitchFamily="18" charset="2"/>
              </a:rPr>
              <a:t>β  α</a:t>
            </a:r>
          </a:p>
          <a:p>
            <a:r>
              <a:rPr lang="en-US" altLang="zh-CN" sz="3600" dirty="0">
                <a:sym typeface="Symbol" panose="05050102010706020507" pitchFamily="18" charset="2"/>
              </a:rPr>
              <a:t>                        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 β</a:t>
            </a:r>
            <a:r>
              <a:rPr lang="en-US" altLang="zh-CN" sz="3600" dirty="0"/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sym typeface="Symbol" panose="05050102010706020507" pitchFamily="18" charset="2"/>
              </a:rPr>
              <a:t>β  α</a:t>
            </a:r>
            <a:endParaRPr lang="zh-CN" altLang="en-US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CE6F31-C675-43A3-A8E7-8F3FFA61DD11}"/>
              </a:ext>
            </a:extLst>
          </p:cNvPr>
          <p:cNvSpPr txBox="1"/>
          <p:nvPr/>
        </p:nvSpPr>
        <p:spPr>
          <a:xfrm>
            <a:off x="1351721" y="5257494"/>
            <a:ext cx="84416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4</a:t>
            </a:r>
            <a:r>
              <a:rPr lang="zh-CN" altLang="en-US" sz="3600" dirty="0"/>
              <a:t>）结合律：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 (β  γ</a:t>
            </a:r>
            <a:r>
              <a:rPr lang="en-US" altLang="zh-CN" sz="3600" dirty="0"/>
              <a:t> </a:t>
            </a:r>
            <a:r>
              <a:rPr lang="en-US" altLang="zh-CN" sz="3600" dirty="0">
                <a:sym typeface="Symbol" panose="05050102010706020507" pitchFamily="18" charset="2"/>
              </a:rPr>
              <a:t>)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600" dirty="0"/>
              <a:t> (α</a:t>
            </a:r>
            <a:r>
              <a:rPr lang="en-US" altLang="zh-CN" sz="3600" dirty="0">
                <a:sym typeface="Symbol" panose="05050102010706020507" pitchFamily="18" charset="2"/>
              </a:rPr>
              <a:t>  β)  γ</a:t>
            </a:r>
          </a:p>
          <a:p>
            <a:r>
              <a:rPr lang="en-US" altLang="zh-CN" sz="3600" dirty="0">
                <a:sym typeface="Symbol" panose="05050102010706020507" pitchFamily="18" charset="2"/>
              </a:rPr>
              <a:t>                        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 (β  γ</a:t>
            </a:r>
            <a:r>
              <a:rPr lang="en-US" altLang="zh-CN" sz="3600" dirty="0"/>
              <a:t> </a:t>
            </a:r>
            <a:r>
              <a:rPr lang="en-US" altLang="zh-CN" sz="3600" dirty="0">
                <a:sym typeface="Symbol" panose="05050102010706020507" pitchFamily="18" charset="2"/>
              </a:rPr>
              <a:t>)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600" dirty="0"/>
              <a:t> (α</a:t>
            </a:r>
            <a:r>
              <a:rPr lang="en-US" altLang="zh-CN" sz="3600" dirty="0">
                <a:sym typeface="Symbol" panose="05050102010706020507" pitchFamily="18" charset="2"/>
              </a:rPr>
              <a:t>  β)  γ</a:t>
            </a:r>
          </a:p>
          <a:p>
            <a:r>
              <a:rPr lang="en-US" altLang="zh-CN" sz="3600" dirty="0">
                <a:sym typeface="Symbol" panose="05050102010706020507" pitchFamily="18" charset="2"/>
              </a:rPr>
              <a:t> </a:t>
            </a:r>
            <a:endParaRPr lang="zh-CN" altLang="en-US" sz="36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B10E25A-CBF2-34DE-F630-D230EF50D68C}"/>
              </a:ext>
            </a:extLst>
          </p:cNvPr>
          <p:cNvSpPr txBox="1">
            <a:spLocks noChangeArrowheads="1"/>
          </p:cNvSpPr>
          <p:nvPr/>
        </p:nvSpPr>
        <p:spPr>
          <a:xfrm>
            <a:off x="1884363" y="867379"/>
            <a:ext cx="7848600" cy="5909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基本等值式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953758"/>
      </p:ext>
    </p:extLst>
  </p:cSld>
  <p:clrMapOvr>
    <a:masterClrMapping/>
  </p:clrMapOvr>
  <p:transition spd="slow" advTm="0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3E74E6-33C0-431C-B254-E8087E68DED3}"/>
              </a:ext>
            </a:extLst>
          </p:cNvPr>
          <p:cNvSpPr txBox="1"/>
          <p:nvPr/>
        </p:nvSpPr>
        <p:spPr>
          <a:xfrm>
            <a:off x="1351722" y="1455738"/>
            <a:ext cx="96343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5</a:t>
            </a:r>
            <a:r>
              <a:rPr lang="zh-CN" altLang="en-US" sz="3600" dirty="0"/>
              <a:t>）分配律：</a:t>
            </a:r>
            <a:r>
              <a:rPr lang="en-US" altLang="zh-CN" sz="3600" dirty="0"/>
              <a:t> α</a:t>
            </a:r>
            <a:r>
              <a:rPr lang="en-US" altLang="zh-CN" sz="3600" dirty="0">
                <a:sym typeface="Symbol" panose="05050102010706020507" pitchFamily="18" charset="2"/>
              </a:rPr>
              <a:t>  (β  γ</a:t>
            </a:r>
            <a:r>
              <a:rPr lang="en-US" altLang="zh-CN" sz="3600" dirty="0"/>
              <a:t> </a:t>
            </a:r>
            <a:r>
              <a:rPr lang="en-US" altLang="zh-CN" sz="3600" dirty="0">
                <a:sym typeface="Symbol" panose="05050102010706020507" pitchFamily="18" charset="2"/>
              </a:rPr>
              <a:t>)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600" dirty="0"/>
              <a:t> </a:t>
            </a:r>
          </a:p>
          <a:p>
            <a:r>
              <a:rPr lang="en-US" altLang="zh-CN" sz="3600" dirty="0"/>
              <a:t>                         (α</a:t>
            </a:r>
            <a:r>
              <a:rPr lang="en-US" altLang="zh-CN" sz="3600" dirty="0">
                <a:sym typeface="Symbol" panose="05050102010706020507" pitchFamily="18" charset="2"/>
              </a:rPr>
              <a:t>  β)  </a:t>
            </a:r>
            <a:r>
              <a:rPr lang="en-US" altLang="zh-CN" sz="3600" dirty="0"/>
              <a:t>(α</a:t>
            </a:r>
            <a:r>
              <a:rPr lang="en-US" altLang="zh-CN" sz="3600" dirty="0">
                <a:sym typeface="Symbol" panose="05050102010706020507" pitchFamily="18" charset="2"/>
              </a:rPr>
              <a:t>  γ)    </a:t>
            </a:r>
            <a:r>
              <a:rPr lang="zh-CN" altLang="en-US" sz="3600" dirty="0">
                <a:sym typeface="Symbol" panose="05050102010706020507" pitchFamily="18" charset="2"/>
              </a:rPr>
              <a:t>对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zh-CN" altLang="en-US" sz="3600" dirty="0">
                <a:sym typeface="Symbol" panose="05050102010706020507" pitchFamily="18" charset="2"/>
              </a:rPr>
              <a:t>的分配</a:t>
            </a:r>
            <a:endParaRPr lang="en-US" altLang="zh-CN" sz="3600" dirty="0">
              <a:sym typeface="Symbol" panose="05050102010706020507" pitchFamily="18" charset="2"/>
            </a:endParaRPr>
          </a:p>
          <a:p>
            <a:r>
              <a:rPr lang="en-US" altLang="zh-CN" sz="3600" dirty="0"/>
              <a:t>                         </a:t>
            </a:r>
          </a:p>
          <a:p>
            <a:r>
              <a:rPr lang="en-US" altLang="zh-CN" sz="3600" dirty="0"/>
              <a:t>                          α</a:t>
            </a:r>
            <a:r>
              <a:rPr lang="en-US" altLang="zh-CN" sz="3600" dirty="0">
                <a:sym typeface="Symbol" panose="05050102010706020507" pitchFamily="18" charset="2"/>
              </a:rPr>
              <a:t>  (β  γ</a:t>
            </a:r>
            <a:r>
              <a:rPr lang="en-US" altLang="zh-CN" sz="3600" dirty="0"/>
              <a:t> </a:t>
            </a:r>
            <a:r>
              <a:rPr lang="en-US" altLang="zh-CN" sz="3600" dirty="0">
                <a:sym typeface="Symbol" panose="05050102010706020507" pitchFamily="18" charset="2"/>
              </a:rPr>
              <a:t>)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600" dirty="0"/>
              <a:t> </a:t>
            </a:r>
          </a:p>
          <a:p>
            <a:r>
              <a:rPr lang="en-US" altLang="zh-CN" sz="3600" dirty="0"/>
              <a:t>                         (α</a:t>
            </a:r>
            <a:r>
              <a:rPr lang="en-US" altLang="zh-CN" sz="3600" dirty="0">
                <a:sym typeface="Symbol" panose="05050102010706020507" pitchFamily="18" charset="2"/>
              </a:rPr>
              <a:t>  β) </a:t>
            </a:r>
            <a:r>
              <a:rPr lang="en-US" altLang="zh-CN" sz="3600" dirty="0"/>
              <a:t>(α</a:t>
            </a:r>
            <a:r>
              <a:rPr lang="en-US" altLang="zh-CN" sz="3600" dirty="0">
                <a:sym typeface="Symbol" panose="05050102010706020507" pitchFamily="18" charset="2"/>
              </a:rPr>
              <a:t>  γ)     </a:t>
            </a:r>
            <a:r>
              <a:rPr lang="zh-CN" altLang="en-US" sz="3600" dirty="0">
                <a:sym typeface="Symbol" panose="05050102010706020507" pitchFamily="18" charset="2"/>
              </a:rPr>
              <a:t>对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zh-CN" altLang="en-US" sz="3600" dirty="0">
                <a:sym typeface="Symbol" panose="05050102010706020507" pitchFamily="18" charset="2"/>
              </a:rPr>
              <a:t>的分配</a:t>
            </a:r>
            <a:endParaRPr lang="en-US" altLang="zh-CN" sz="3600" dirty="0">
              <a:sym typeface="Symbol" panose="05050102010706020507" pitchFamily="18" charset="2"/>
            </a:endParaRPr>
          </a:p>
          <a:p>
            <a:endParaRPr lang="zh-CN" altLang="en-US" sz="3600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CE6F31-C675-43A3-A8E7-8F3FFA61DD11}"/>
              </a:ext>
            </a:extLst>
          </p:cNvPr>
          <p:cNvSpPr txBox="1"/>
          <p:nvPr/>
        </p:nvSpPr>
        <p:spPr>
          <a:xfrm>
            <a:off x="1351721" y="4859562"/>
            <a:ext cx="84416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6</a:t>
            </a:r>
            <a:r>
              <a:rPr lang="zh-CN" altLang="en-US" sz="3600" dirty="0"/>
              <a:t>）德摩根律：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 </a:t>
            </a:r>
            <a:r>
              <a:rPr lang="en-US" altLang="zh-CN" sz="3600" dirty="0"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 β)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600" dirty="0"/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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sym typeface="Symbol" panose="05050102010706020507" pitchFamily="18" charset="2"/>
              </a:rPr>
              <a:t>β</a:t>
            </a:r>
          </a:p>
          <a:p>
            <a:r>
              <a:rPr lang="en-US" altLang="zh-CN" sz="3600" dirty="0">
                <a:sym typeface="Symbol" panose="05050102010706020507" pitchFamily="18" charset="2"/>
              </a:rPr>
              <a:t>                            </a:t>
            </a:r>
            <a:r>
              <a:rPr lang="en-US" altLang="zh-CN" sz="3600" dirty="0"/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 β)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600" dirty="0"/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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sym typeface="Symbol" panose="05050102010706020507" pitchFamily="18" charset="2"/>
              </a:rPr>
              <a:t>β</a:t>
            </a:r>
          </a:p>
          <a:p>
            <a:r>
              <a:rPr lang="en-US" altLang="zh-CN" sz="3600" dirty="0">
                <a:sym typeface="Symbol" panose="05050102010706020507" pitchFamily="18" charset="2"/>
              </a:rPr>
              <a:t>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851004116"/>
      </p:ext>
    </p:extLst>
  </p:cSld>
  <p:clrMapOvr>
    <a:masterClrMapping/>
  </p:clrMapOvr>
  <p:transition spd="slow" advTm="0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7699BB-2697-4D9C-9917-72E6E251C9F0}"/>
              </a:ext>
            </a:extLst>
          </p:cNvPr>
          <p:cNvSpPr/>
          <p:nvPr/>
        </p:nvSpPr>
        <p:spPr>
          <a:xfrm>
            <a:off x="2014330" y="1096258"/>
            <a:ext cx="7593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(7)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吸收律 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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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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，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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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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B9FC63-E0F5-4713-AD35-B8562A26ABD4}"/>
              </a:ext>
            </a:extLst>
          </p:cNvPr>
          <p:cNvSpPr/>
          <p:nvPr/>
        </p:nvSpPr>
        <p:spPr>
          <a:xfrm>
            <a:off x="1908314" y="5153910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(11)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矛盾律 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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55EF37-E2CD-4B45-9C75-F30AF918A5B8}"/>
              </a:ext>
            </a:extLst>
          </p:cNvPr>
          <p:cNvSpPr/>
          <p:nvPr/>
        </p:nvSpPr>
        <p:spPr>
          <a:xfrm>
            <a:off x="2014330" y="2110671"/>
            <a:ext cx="54665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(8)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零一律 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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，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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64C93C-B0F9-49FE-96D0-71CB68EDF913}"/>
              </a:ext>
            </a:extLst>
          </p:cNvPr>
          <p:cNvSpPr/>
          <p:nvPr/>
        </p:nvSpPr>
        <p:spPr>
          <a:xfrm>
            <a:off x="2014330" y="3125084"/>
            <a:ext cx="54874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(9)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同一律	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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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，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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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88C91E-C30E-4EFB-ADF3-C01A2CADE851}"/>
              </a:ext>
            </a:extLst>
          </p:cNvPr>
          <p:cNvSpPr/>
          <p:nvPr/>
        </p:nvSpPr>
        <p:spPr>
          <a:xfrm>
            <a:off x="1908314" y="4142741"/>
            <a:ext cx="40174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(10)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排中律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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51938117"/>
      </p:ext>
    </p:extLst>
  </p:cSld>
  <p:clrMapOvr>
    <a:masterClrMapping/>
  </p:clrMapOvr>
  <p:transition spd="slow" advTm="0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E2F611-063B-40AE-8229-32D41D54727C}"/>
              </a:ext>
            </a:extLst>
          </p:cNvPr>
          <p:cNvSpPr/>
          <p:nvPr/>
        </p:nvSpPr>
        <p:spPr>
          <a:xfrm>
            <a:off x="9601830" y="5872763"/>
            <a:ext cx="19383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0000C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——</a:t>
            </a:r>
            <a:r>
              <a:rPr lang="zh-CN" altLang="en-US" sz="3200" dirty="0">
                <a:solidFill>
                  <a:srgbClr val="0000C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鲁迅 </a:t>
            </a:r>
            <a:endParaRPr lang="zh-CN" altLang="en-US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F4B0E7-69F8-4807-A0DA-8E98713073A8}"/>
              </a:ext>
            </a:extLst>
          </p:cNvPr>
          <p:cNvSpPr/>
          <p:nvPr/>
        </p:nvSpPr>
        <p:spPr>
          <a:xfrm>
            <a:off x="968545" y="738188"/>
            <a:ext cx="8467001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“一家人家生了一个男孩，合家高兴透顶了。满月的时候，抱出来给客人看，大概自然是想得一点好兆头。</a:t>
            </a:r>
          </a:p>
          <a:p>
            <a:r>
              <a:rPr lang="zh-CN" altLang="en-US" sz="2800" dirty="0"/>
              <a:t>“一个说：‘这孩子将来要发财的。’他于是得到一番感谢。</a:t>
            </a:r>
          </a:p>
          <a:p>
            <a:r>
              <a:rPr lang="zh-CN" altLang="en-US" sz="2800" dirty="0"/>
              <a:t>“一个说：这孩子将来要做官的。他于是收回几句恭维。</a:t>
            </a:r>
          </a:p>
          <a:p>
            <a:r>
              <a:rPr lang="zh-CN" altLang="en-US" sz="2800" dirty="0"/>
              <a:t>“一个说：‘这孩子将来是要死的。’他于是得到一顿大家合力的痛打。</a:t>
            </a:r>
          </a:p>
          <a:p>
            <a:r>
              <a:rPr lang="zh-CN" altLang="en-US" sz="2800" dirty="0"/>
              <a:t>“说要死的必然，说富贵的许谎。但说谎的得好报，说必然的遭打。你</a:t>
            </a:r>
            <a:r>
              <a:rPr lang="en-US" altLang="zh-CN" sz="2800" dirty="0"/>
              <a:t>……”</a:t>
            </a:r>
          </a:p>
          <a:p>
            <a:r>
              <a:rPr lang="en-US" altLang="zh-CN" sz="2800" dirty="0"/>
              <a:t>“</a:t>
            </a:r>
            <a:r>
              <a:rPr lang="zh-CN" altLang="en-US" sz="2800" dirty="0"/>
              <a:t>我愿意既不说谎，也不遭打。那么，老师，我得怎么说呢？”</a:t>
            </a:r>
          </a:p>
          <a:p>
            <a:r>
              <a:rPr lang="zh-CN" altLang="en-US" sz="2800" dirty="0"/>
              <a:t>“那么，你得说：‘啊呀！这孩子呵！您瞧！多么</a:t>
            </a:r>
            <a:r>
              <a:rPr lang="en-US" altLang="zh-CN" sz="2800" dirty="0"/>
              <a:t>……</a:t>
            </a:r>
            <a:r>
              <a:rPr lang="zh-CN" altLang="en-US" sz="2800" dirty="0"/>
              <a:t>。阿唷！哈哈！</a:t>
            </a:r>
            <a:r>
              <a:rPr lang="en-US" altLang="zh-CN" sz="2800" dirty="0"/>
              <a:t>Hehe</a:t>
            </a:r>
            <a:r>
              <a:rPr lang="zh-CN" altLang="en-US" sz="2800" dirty="0"/>
              <a:t>！</a:t>
            </a:r>
            <a:r>
              <a:rPr lang="en-US" altLang="zh-CN" sz="2800" dirty="0"/>
              <a:t>He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hehehehe</a:t>
            </a:r>
            <a:r>
              <a:rPr lang="zh-CN" altLang="en-US" sz="2800" dirty="0"/>
              <a:t>！</a:t>
            </a:r>
            <a:endParaRPr lang="en-US" altLang="zh-CN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4EFA233-D0B1-46F6-A44C-8814EC18EEF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3236" y="1455738"/>
            <a:ext cx="2038539" cy="20234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2247388-BA3B-4ACE-9472-71DCBD545D20}"/>
              </a:ext>
            </a:extLst>
          </p:cNvPr>
          <p:cNvSpPr txBox="1"/>
          <p:nvPr/>
        </p:nvSpPr>
        <p:spPr>
          <a:xfrm>
            <a:off x="9683236" y="3922643"/>
            <a:ext cx="2038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2">
                    <a:lumMod val="50000"/>
                  </a:schemeClr>
                </a:solidFill>
              </a:rPr>
              <a:t>这次确实是我说的</a:t>
            </a:r>
          </a:p>
        </p:txBody>
      </p:sp>
    </p:spTree>
    <p:extLst>
      <p:ext uri="{BB962C8B-B14F-4D97-AF65-F5344CB8AC3E}">
        <p14:creationId xmlns:p14="http://schemas.microsoft.com/office/powerpoint/2010/main" val="304666791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7699BB-2697-4D9C-9917-72E6E251C9F0}"/>
              </a:ext>
            </a:extLst>
          </p:cNvPr>
          <p:cNvSpPr/>
          <p:nvPr/>
        </p:nvSpPr>
        <p:spPr>
          <a:xfrm>
            <a:off x="2014330" y="1096258"/>
            <a:ext cx="7593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(12)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蕴含等值  </a:t>
            </a:r>
            <a:r>
              <a:rPr lang="zh-CN" altLang="en-US" sz="3200" dirty="0">
                <a:latin typeface="等线" panose="02010600030101010101" pitchFamily="2" charset="-122"/>
                <a:sym typeface="Symbol" panose="05050102010706020507" pitchFamily="18" charset="2"/>
              </a:rPr>
              <a:t></a:t>
            </a:r>
            <a:endParaRPr lang="en-US" altLang="zh-CN" sz="3200" dirty="0">
              <a:latin typeface="等线" panose="02010600030101010101" pitchFamily="2" charset="-122"/>
              <a:ea typeface="等线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1448AD-36DE-414F-BDB5-A30756BF46A9}"/>
              </a:ext>
            </a:extLst>
          </p:cNvPr>
          <p:cNvSpPr/>
          <p:nvPr/>
        </p:nvSpPr>
        <p:spPr>
          <a:xfrm>
            <a:off x="1751013" y="1868821"/>
            <a:ext cx="7750840" cy="6036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13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）假言易位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逆否律）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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94C7BB-898D-441E-BF0A-BD554F5FD5E2}"/>
              </a:ext>
            </a:extLst>
          </p:cNvPr>
          <p:cNvSpPr/>
          <p:nvPr/>
        </p:nvSpPr>
        <p:spPr>
          <a:xfrm>
            <a:off x="1751013" y="2737128"/>
            <a:ext cx="6096000" cy="16915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14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）等价等值式	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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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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， 		</a:t>
            </a:r>
            <a:r>
              <a:rPr lang="zh-CN" altLang="en-US" sz="3200" dirty="0">
                <a:latin typeface="等线" panose="02010600030101010101" pitchFamily="2" charset="-122"/>
                <a:sym typeface="Symbol" panose="05050102010706020507" pitchFamily="18" charset="2"/>
              </a:rPr>
              <a:t></a:t>
            </a:r>
            <a:r>
              <a:rPr lang="en-US" altLang="zh-CN" sz="3200" dirty="0">
                <a:latin typeface="等线" panose="02010600030101010101" pitchFamily="2" charset="-122"/>
              </a:rPr>
              <a:t>(</a:t>
            </a:r>
            <a:r>
              <a:rPr lang="en-US" altLang="zh-CN" sz="3200" dirty="0">
                <a:latin typeface="等线" panose="02010600030101010101" pitchFamily="2" charset="-122"/>
                <a:sym typeface="Symbol" panose="05050102010706020507" pitchFamily="18" charset="2"/>
              </a:rPr>
              <a:t></a:t>
            </a:r>
            <a:r>
              <a:rPr lang="en-US" altLang="zh-CN" sz="3200" dirty="0">
                <a:latin typeface="等线" panose="02010600030101010101" pitchFamily="2" charset="-122"/>
              </a:rPr>
              <a:t>)</a:t>
            </a:r>
            <a:r>
              <a:rPr lang="en-US" altLang="zh-CN" sz="3200" dirty="0">
                <a:latin typeface="等线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latin typeface="等线" panose="02010600030101010101" pitchFamily="2" charset="-122"/>
              </a:rPr>
              <a:t>(</a:t>
            </a:r>
            <a:r>
              <a:rPr lang="en-US" altLang="zh-CN" sz="3200" dirty="0">
                <a:latin typeface="等线" panose="02010600030101010101" pitchFamily="2" charset="-122"/>
                <a:sym typeface="Symbol" panose="05050102010706020507" pitchFamily="18" charset="2"/>
              </a:rPr>
              <a:t></a:t>
            </a:r>
            <a:r>
              <a:rPr lang="en-US" altLang="zh-CN" sz="3200" dirty="0">
                <a:latin typeface="等线" panose="02010600030101010101" pitchFamily="2" charset="-122"/>
              </a:rPr>
              <a:t>)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	</a:t>
            </a:r>
            <a:endParaRPr lang="en-US" altLang="zh-CN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0996B6-FC5D-4FD7-9895-06206CC287A4}"/>
              </a:ext>
            </a:extLst>
          </p:cNvPr>
          <p:cNvSpPr/>
          <p:nvPr/>
        </p:nvSpPr>
        <p:spPr>
          <a:xfrm>
            <a:off x="1751013" y="4616428"/>
            <a:ext cx="6491874" cy="1145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15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）等价否定等值式	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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C9160F-69C1-499B-B7C6-FDA0F93DB8E0}"/>
              </a:ext>
            </a:extLst>
          </p:cNvPr>
          <p:cNvSpPr/>
          <p:nvPr/>
        </p:nvSpPr>
        <p:spPr>
          <a:xfrm>
            <a:off x="1751013" y="5949489"/>
            <a:ext cx="7412607" cy="6036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16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）归谬论	      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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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</a:t>
            </a:r>
            <a:endParaRPr lang="zh-CN" altLang="en-US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3061062"/>
      </p:ext>
    </p:extLst>
  </p:cSld>
  <p:clrMapOvr>
    <a:masterClrMapping/>
  </p:clrMapOvr>
  <p:transition spd="slow" advTm="0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900906-1FE1-48AC-BF49-1BBB068F54BF}"/>
              </a:ext>
            </a:extLst>
          </p:cNvPr>
          <p:cNvSpPr txBox="1"/>
          <p:nvPr/>
        </p:nvSpPr>
        <p:spPr>
          <a:xfrm>
            <a:off x="2186608" y="1232452"/>
            <a:ext cx="7010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由已知的等值式推演出另外一些等值式的过程称为</a:t>
            </a:r>
            <a:r>
              <a:rPr lang="zh-CN" altLang="en-US" sz="4000" dirty="0">
                <a:solidFill>
                  <a:srgbClr val="FF0000"/>
                </a:solidFill>
              </a:rPr>
              <a:t>等值演算</a:t>
            </a:r>
            <a:r>
              <a:rPr lang="zh-CN" altLang="en-US" sz="4000" dirty="0"/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5F392E-2949-40DF-B17A-795F0EBEB572}"/>
              </a:ext>
            </a:extLst>
          </p:cNvPr>
          <p:cNvSpPr txBox="1"/>
          <p:nvPr/>
        </p:nvSpPr>
        <p:spPr>
          <a:xfrm>
            <a:off x="1571625" y="2834187"/>
            <a:ext cx="90313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是一个命题公式，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是其中出现的所有命题变元。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）用某些公式代换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中的某些命题变元；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）若用公式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代换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                                                                                    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则必须用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代换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中所有的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由此而得到的新公式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叫做公式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代换实例（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substitute instance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143401655"/>
      </p:ext>
    </p:extLst>
  </p:cSld>
  <p:clrMapOvr>
    <a:masterClrMapping/>
  </p:clrMapOvr>
  <p:transition spd="slow" advTm="0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DE7554-AC75-4B75-980B-CC57E6B3285B}"/>
              </a:ext>
            </a:extLst>
          </p:cNvPr>
          <p:cNvSpPr/>
          <p:nvPr/>
        </p:nvSpPr>
        <p:spPr>
          <a:xfrm>
            <a:off x="3367317" y="1018416"/>
            <a:ext cx="38021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G=</a:t>
            </a:r>
            <a:r>
              <a:rPr lang="en-US" altLang="x-non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altLang="x-none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</a:t>
            </a:r>
            <a:r>
              <a:rPr lang="en-US" altLang="x-non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</a:t>
            </a:r>
            <a:r>
              <a:rPr lang="en-US" altLang="x-none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</a:t>
            </a:r>
            <a:r>
              <a:rPr lang="en-US" altLang="x-non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P))</a:t>
            </a:r>
            <a:r>
              <a:rPr lang="en-US" altLang="x-none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</a:t>
            </a:r>
            <a:r>
              <a:rPr lang="en-US" altLang="x-non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x-none" sz="36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A1C375-187C-481F-A52E-3E0FDE31D9FC}"/>
              </a:ext>
            </a:extLst>
          </p:cNvPr>
          <p:cNvSpPr txBox="1"/>
          <p:nvPr/>
        </p:nvSpPr>
        <p:spPr>
          <a:xfrm>
            <a:off x="3472703" y="2266066"/>
            <a:ext cx="3379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x-none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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        P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2AC2D9-FD03-4065-A69A-2F1878071873}"/>
              </a:ext>
            </a:extLst>
          </p:cNvPr>
          <p:cNvSpPr/>
          <p:nvPr/>
        </p:nvSpPr>
        <p:spPr>
          <a:xfrm>
            <a:off x="3472702" y="3794746"/>
            <a:ext cx="62013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H=((Q </a:t>
            </a:r>
            <a:r>
              <a:rPr lang="en-US" altLang="x-none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</a:t>
            </a:r>
            <a:r>
              <a:rPr lang="en-US" altLang="zh-CN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S)</a:t>
            </a:r>
            <a:r>
              <a:rPr lang="en-US" altLang="x-none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</a:t>
            </a:r>
            <a:r>
              <a:rPr lang="en-US" altLang="x-none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(Q</a:t>
            </a:r>
            <a:r>
              <a:rPr lang="en-US" altLang="x-none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(Q </a:t>
            </a:r>
            <a:r>
              <a:rPr lang="en-US" altLang="x-none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</a:t>
            </a:r>
            <a:r>
              <a:rPr lang="en-US" altLang="x-none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S)</a:t>
            </a:r>
            <a:r>
              <a:rPr lang="en-US" altLang="x-none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))</a:t>
            </a:r>
            <a:r>
              <a:rPr lang="en-US" altLang="x-none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</a:t>
            </a:r>
            <a:r>
              <a:rPr lang="en-US" altLang="x-none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endParaRPr lang="en-US" altLang="x-none" sz="36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9943373"/>
      </p:ext>
    </p:extLst>
  </p:cSld>
  <p:clrMapOvr>
    <a:masterClrMapping/>
  </p:clrMapOvr>
  <p:transition spd="slow" advTm="0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B70DFA-4BB1-4293-B4E3-0693A1EEB6E5}"/>
              </a:ext>
            </a:extLst>
          </p:cNvPr>
          <p:cNvSpPr/>
          <p:nvPr/>
        </p:nvSpPr>
        <p:spPr>
          <a:xfrm>
            <a:off x="1751013" y="1030288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代入定理</a:t>
            </a:r>
            <a:endParaRPr lang="en-US" altLang="zh-CN" sz="4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7074AD-E0E3-4951-83C9-136165F15BD1}"/>
              </a:ext>
            </a:extLst>
          </p:cNvPr>
          <p:cNvSpPr txBox="1"/>
          <p:nvPr/>
        </p:nvSpPr>
        <p:spPr>
          <a:xfrm>
            <a:off x="2120348" y="2030274"/>
            <a:ext cx="83621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对于重言式中的任一命题变元出现的每一处均用同一命题公式代入，得到的仍然是重言式。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E8EFAE-6B39-45CC-B5E7-D325DC73637E}"/>
              </a:ext>
            </a:extLst>
          </p:cNvPr>
          <p:cNvSpPr/>
          <p:nvPr/>
        </p:nvSpPr>
        <p:spPr>
          <a:xfrm>
            <a:off x="1751013" y="3396566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置换定理</a:t>
            </a:r>
            <a:endParaRPr lang="en-US" altLang="zh-CN" sz="4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EB2D8E-2370-435C-B2B5-4DEBD0F937A5}"/>
              </a:ext>
            </a:extLst>
          </p:cNvPr>
          <p:cNvSpPr txBox="1"/>
          <p:nvPr/>
        </p:nvSpPr>
        <p:spPr>
          <a:xfrm>
            <a:off x="2120348" y="4393526"/>
            <a:ext cx="83621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设</a:t>
            </a:r>
            <a:r>
              <a:rPr lang="en-US" altLang="zh-CN" sz="3200" dirty="0"/>
              <a:t>P</a:t>
            </a:r>
            <a:r>
              <a:rPr lang="zh-CN" altLang="en-US" sz="3200" dirty="0"/>
              <a:t>是公式</a:t>
            </a:r>
            <a:r>
              <a:rPr lang="en-US" altLang="zh-CN" sz="3200" dirty="0"/>
              <a:t>α</a:t>
            </a:r>
            <a:r>
              <a:rPr lang="zh-CN" altLang="en-US" sz="3200" dirty="0"/>
              <a:t>的一个子公式且</a:t>
            </a:r>
            <a:r>
              <a:rPr lang="en-US" altLang="zh-CN" sz="3200" dirty="0"/>
              <a:t>P </a:t>
            </a:r>
            <a:r>
              <a:rPr lang="zh-CN" altLang="en-US" sz="3200" dirty="0">
                <a:sym typeface="Symbol" panose="05050102010706020507" pitchFamily="18" charset="2"/>
              </a:rPr>
              <a:t> </a:t>
            </a:r>
            <a:r>
              <a:rPr lang="en-US" altLang="zh-CN" sz="3200" dirty="0">
                <a:sym typeface="Symbol" panose="05050102010706020507" pitchFamily="18" charset="2"/>
              </a:rPr>
              <a:t>Q</a:t>
            </a:r>
            <a:r>
              <a:rPr lang="zh-CN" altLang="en-US" sz="3200" dirty="0">
                <a:sym typeface="Symbol" panose="05050102010706020507" pitchFamily="18" charset="2"/>
              </a:rPr>
              <a:t>，如果将公式</a:t>
            </a:r>
            <a:r>
              <a:rPr lang="en-US" altLang="zh-CN" sz="3200" dirty="0">
                <a:sym typeface="Symbol" panose="05050102010706020507" pitchFamily="18" charset="2"/>
              </a:rPr>
              <a:t>α</a:t>
            </a:r>
            <a:r>
              <a:rPr lang="zh-CN" altLang="en-US" sz="3200" dirty="0">
                <a:sym typeface="Symbol" panose="05050102010706020507" pitchFamily="18" charset="2"/>
              </a:rPr>
              <a:t>中的子公式</a:t>
            </a:r>
            <a:r>
              <a:rPr lang="en-US" altLang="zh-CN" sz="3200" dirty="0">
                <a:sym typeface="Symbol" panose="05050102010706020507" pitchFamily="18" charset="2"/>
              </a:rPr>
              <a:t>P</a:t>
            </a:r>
            <a:r>
              <a:rPr lang="zh-CN" altLang="en-US" sz="3200" dirty="0">
                <a:sym typeface="Symbol" panose="05050102010706020507" pitchFamily="18" charset="2"/>
              </a:rPr>
              <a:t>置换成公式</a:t>
            </a:r>
            <a:r>
              <a:rPr lang="en-US" altLang="zh-CN" sz="3200" dirty="0">
                <a:sym typeface="Symbol" panose="05050102010706020507" pitchFamily="18" charset="2"/>
              </a:rPr>
              <a:t>Q</a:t>
            </a:r>
            <a:r>
              <a:rPr lang="zh-CN" altLang="en-US" sz="3200" dirty="0">
                <a:sym typeface="Symbol" panose="05050102010706020507" pitchFamily="18" charset="2"/>
              </a:rPr>
              <a:t>后，得到的公式是</a:t>
            </a:r>
            <a:r>
              <a:rPr lang="en-US" altLang="zh-CN" sz="3200" dirty="0">
                <a:sym typeface="Symbol" panose="05050102010706020507" pitchFamily="18" charset="2"/>
              </a:rPr>
              <a:t>β</a:t>
            </a:r>
            <a:r>
              <a:rPr lang="zh-CN" altLang="en-US" sz="3200" dirty="0">
                <a:sym typeface="Symbol" panose="05050102010706020507" pitchFamily="18" charset="2"/>
              </a:rPr>
              <a:t>，则</a:t>
            </a:r>
            <a:r>
              <a:rPr lang="en-US" altLang="zh-CN" sz="3200" dirty="0">
                <a:sym typeface="Symbol" panose="05050102010706020507" pitchFamily="18" charset="2"/>
              </a:rPr>
              <a:t>α</a:t>
            </a:r>
            <a:r>
              <a:rPr lang="zh-CN" altLang="en-US" sz="3200" dirty="0">
                <a:sym typeface="Symbol" panose="05050102010706020507" pitchFamily="18" charset="2"/>
              </a:rPr>
              <a:t>  </a:t>
            </a:r>
            <a:r>
              <a:rPr lang="en-US" altLang="zh-CN" sz="3200" dirty="0">
                <a:sym typeface="Symbol" panose="05050102010706020507" pitchFamily="18" charset="2"/>
              </a:rPr>
              <a:t>β</a:t>
            </a:r>
            <a:r>
              <a:rPr lang="zh-CN" altLang="en-US" sz="32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66240595"/>
      </p:ext>
    </p:extLst>
  </p:cSld>
  <p:clrMapOvr>
    <a:masterClrMapping/>
  </p:clrMapOvr>
  <p:transition spd="slow" advTm="0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E91466-289B-437E-B2CD-C4C49A905FEB}"/>
              </a:ext>
            </a:extLst>
          </p:cNvPr>
          <p:cNvSpPr/>
          <p:nvPr/>
        </p:nvSpPr>
        <p:spPr>
          <a:xfrm>
            <a:off x="3391164" y="2636645"/>
            <a:ext cx="43341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x-none" sz="36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α</a:t>
            </a:r>
            <a:r>
              <a:rPr lang="en-US" altLang="x-none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2" charset="2"/>
              </a:rPr>
              <a:t></a:t>
            </a:r>
            <a:r>
              <a:rPr lang="en-US" altLang="x-none" sz="36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β</a:t>
            </a:r>
            <a:r>
              <a:rPr lang="en-US" altLang="x-none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2" charset="2"/>
              </a:rPr>
              <a:t>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2" charset="2"/>
              </a:rPr>
              <a:t>α</a:t>
            </a:r>
            <a:r>
              <a:rPr lang="en-US" altLang="x-none" sz="3600" dirty="0">
                <a:latin typeface="等线" panose="02010600030101010101" pitchFamily="2" charset="-122"/>
                <a:ea typeface="等线" panose="02010600030101010101" pitchFamily="2" charset="-122"/>
              </a:rPr>
              <a:t>))</a:t>
            </a:r>
            <a:r>
              <a:rPr lang="en-US" altLang="x-none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2" charset="2"/>
              </a:rPr>
              <a:t>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2" charset="2"/>
              </a:rPr>
              <a:t>γ</a:t>
            </a:r>
            <a:endParaRPr lang="en-US" altLang="x-none" sz="3600" dirty="0">
              <a:latin typeface="等线" panose="02010600030101010101" pitchFamily="2" charset="-122"/>
              <a:ea typeface="等线" panose="02010600030101010101" pitchFamily="2" charset="-122"/>
              <a:sym typeface="Symbol" panose="05050102010706020507" pitchFamily="2" charset="2"/>
            </a:endParaRPr>
          </a:p>
          <a:p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6B6904-ABDA-4DA9-9CBD-93CC8791655F}"/>
              </a:ext>
            </a:extLst>
          </p:cNvPr>
          <p:cNvSpPr/>
          <p:nvPr/>
        </p:nvSpPr>
        <p:spPr>
          <a:xfrm>
            <a:off x="3391164" y="1364251"/>
            <a:ext cx="32480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(P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(PQ))Q </a:t>
            </a:r>
            <a:endParaRPr lang="zh-CN" altLang="en-US" sz="3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80F65C-3982-4E07-A22B-F47C5BD12AF0}"/>
              </a:ext>
            </a:extLst>
          </p:cNvPr>
          <p:cNvSpPr/>
          <p:nvPr/>
        </p:nvSpPr>
        <p:spPr>
          <a:xfrm>
            <a:off x="3391163" y="3743201"/>
            <a:ext cx="65877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x-none" sz="36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en-US" sz="3600" dirty="0"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P </a:t>
            </a:r>
            <a:r>
              <a:rPr lang="en-US" altLang="x-none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2" charset="2"/>
              </a:rPr>
              <a:t>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 Q</a:t>
            </a:r>
            <a:r>
              <a:rPr lang="zh-CN" altLang="en-US" sz="3600" dirty="0"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x-none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2" charset="2"/>
              </a:rPr>
              <a:t></a:t>
            </a:r>
            <a:r>
              <a:rPr lang="en-US" altLang="x-none" sz="36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β</a:t>
            </a:r>
            <a:r>
              <a:rPr lang="en-US" altLang="x-none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2" charset="2"/>
              </a:rPr>
              <a:t></a:t>
            </a:r>
            <a:r>
              <a:rPr lang="zh-CN" altLang="en-US" sz="3600" dirty="0">
                <a:latin typeface="等线" panose="02010600030101010101" pitchFamily="2" charset="-122"/>
              </a:rPr>
              <a:t> （</a:t>
            </a:r>
            <a:r>
              <a:rPr lang="en-US" altLang="zh-CN" sz="3600" dirty="0">
                <a:latin typeface="等线" panose="02010600030101010101" pitchFamily="2" charset="-122"/>
              </a:rPr>
              <a:t>P </a:t>
            </a:r>
            <a:r>
              <a:rPr lang="en-US" altLang="x-none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2" charset="2"/>
              </a:rPr>
              <a:t></a:t>
            </a:r>
            <a:r>
              <a:rPr lang="en-US" altLang="zh-CN" sz="3600" dirty="0">
                <a:latin typeface="等线" panose="02010600030101010101" pitchFamily="2" charset="-122"/>
              </a:rPr>
              <a:t> Q</a:t>
            </a:r>
            <a:r>
              <a:rPr lang="zh-CN" altLang="en-US" sz="3600" dirty="0">
                <a:latin typeface="等线" panose="02010600030101010101" pitchFamily="2" charset="-122"/>
              </a:rPr>
              <a:t>）</a:t>
            </a:r>
            <a:r>
              <a:rPr lang="en-US" altLang="x-none" sz="3600" dirty="0">
                <a:latin typeface="等线" panose="02010600030101010101" pitchFamily="2" charset="-122"/>
                <a:ea typeface="等线" panose="02010600030101010101" pitchFamily="2" charset="-122"/>
              </a:rPr>
              <a:t>))</a:t>
            </a:r>
            <a:r>
              <a:rPr lang="en-US" altLang="x-none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2" charset="2"/>
              </a:rPr>
              <a:t>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2" charset="2"/>
              </a:rPr>
              <a:t>γ</a:t>
            </a:r>
            <a:endParaRPr lang="en-US" altLang="x-none" sz="3600" dirty="0">
              <a:latin typeface="等线" panose="02010600030101010101" pitchFamily="2" charset="-122"/>
              <a:ea typeface="等线" panose="02010600030101010101" pitchFamily="2" charset="-122"/>
              <a:sym typeface="Symbol" panose="05050102010706020507" pitchFamily="2" charset="2"/>
            </a:endParaRPr>
          </a:p>
          <a:p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739224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1CCA9041-4D86-4202-8BD1-23E2714B8A1C}"/>
              </a:ext>
            </a:extLst>
          </p:cNvPr>
          <p:cNvGraphicFramePr>
            <a:graphicFrameLocks noGrp="1"/>
          </p:cNvGraphicFramePr>
          <p:nvPr/>
        </p:nvGraphicFramePr>
        <p:xfrm>
          <a:off x="1901432" y="1243042"/>
          <a:ext cx="8532812" cy="5499354"/>
        </p:xfrm>
        <a:graphic>
          <a:graphicData uri="http://schemas.openxmlformats.org/drawingml/2006/table">
            <a:tbl>
              <a:tblPr/>
              <a:tblGrid>
                <a:gridCol w="1735137">
                  <a:extLst>
                    <a:ext uri="{9D8B030D-6E8A-4147-A177-3AD203B41FA5}">
                      <a16:colId xmlns:a16="http://schemas.microsoft.com/office/drawing/2014/main" val="1811326683"/>
                    </a:ext>
                  </a:extLst>
                </a:gridCol>
                <a:gridCol w="2665413">
                  <a:extLst>
                    <a:ext uri="{9D8B030D-6E8A-4147-A177-3AD203B41FA5}">
                      <a16:colId xmlns:a16="http://schemas.microsoft.com/office/drawing/2014/main" val="1225597406"/>
                    </a:ext>
                  </a:extLst>
                </a:gridCol>
                <a:gridCol w="4132262">
                  <a:extLst>
                    <a:ext uri="{9D8B030D-6E8A-4147-A177-3AD203B41FA5}">
                      <a16:colId xmlns:a16="http://schemas.microsoft.com/office/drawing/2014/main" val="2306268255"/>
                    </a:ext>
                  </a:extLst>
                </a:gridCol>
              </a:tblGrid>
              <a:tr h="322263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代入定理 </a:t>
                      </a: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置换定理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197031"/>
                  </a:ext>
                </a:extLst>
              </a:tr>
              <a:tr h="893763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使用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对象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任意恒真（假）式 </a:t>
                      </a:r>
                    </a:p>
                  </a:txBody>
                  <a:tcPr marL="18000" marR="18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任一命题公式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55678"/>
                  </a:ext>
                </a:extLst>
              </a:tr>
              <a:tr h="893763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代入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对象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任一命题变元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任一子公式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517090"/>
                  </a:ext>
                </a:extLst>
              </a:tr>
              <a:tr h="68580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代换物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任一命题公式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任一与代入对象等值的命题公式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2100"/>
                  </a:ext>
                </a:extLst>
              </a:tr>
              <a:tr h="893763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代入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方式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代换同一命题变元的所有出现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代换子公式的某些出现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718046"/>
                  </a:ext>
                </a:extLst>
              </a:tr>
              <a:tr h="893763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代入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结果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仍为恒真（假）式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与原公式等值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74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704268"/>
      </p:ext>
    </p:extLst>
  </p:cSld>
  <p:clrMapOvr>
    <a:masterClrMapping/>
  </p:clrMapOvr>
  <p:transition spd="slow" advTm="0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F42668-E1FE-4B36-AE17-62F992680B8A}"/>
              </a:ext>
            </a:extLst>
          </p:cNvPr>
          <p:cNvSpPr/>
          <p:nvPr/>
        </p:nvSpPr>
        <p:spPr>
          <a:xfrm>
            <a:off x="3391164" y="1364251"/>
            <a:ext cx="32480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PQ)R </a:t>
            </a:r>
            <a:endParaRPr lang="zh-CN" altLang="en-US" sz="3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D98C39-D6CA-41BF-8CDE-D77A9F3F86E4}"/>
              </a:ext>
            </a:extLst>
          </p:cNvPr>
          <p:cNvSpPr/>
          <p:nvPr/>
        </p:nvSpPr>
        <p:spPr>
          <a:xfrm>
            <a:off x="3312656" y="2636645"/>
            <a:ext cx="35784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</a:t>
            </a:r>
            <a:endParaRPr lang="zh-CN" altLang="en-US" sz="3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CD833C-EC93-44F2-88F8-0907FE90250B}"/>
              </a:ext>
            </a:extLst>
          </p:cNvPr>
          <p:cNvSpPr/>
          <p:nvPr/>
        </p:nvSpPr>
        <p:spPr>
          <a:xfrm>
            <a:off x="2842294" y="3703445"/>
            <a:ext cx="35784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zh-CN" altLang="en-US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Q      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endParaRPr lang="zh-CN" altLang="en-US" sz="3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19D859-44AD-4D30-83DD-1A685A4AC03B}"/>
              </a:ext>
            </a:extLst>
          </p:cNvPr>
          <p:cNvSpPr/>
          <p:nvPr/>
        </p:nvSpPr>
        <p:spPr>
          <a:xfrm>
            <a:off x="2623543" y="4983810"/>
            <a:ext cx="57610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等线" panose="02010600030101010101" pitchFamily="2" charset="-122"/>
              </a:rPr>
              <a:t>(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PQ)R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Q) 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R</a:t>
            </a:r>
            <a:endParaRPr lang="zh-CN" altLang="en-US" sz="3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616053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83192C-B623-48AF-92A5-A2E52B946AC6}"/>
              </a:ext>
            </a:extLst>
          </p:cNvPr>
          <p:cNvSpPr/>
          <p:nvPr/>
        </p:nvSpPr>
        <p:spPr>
          <a:xfrm>
            <a:off x="2557283" y="1132572"/>
            <a:ext cx="57610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等线" panose="02010600030101010101" pitchFamily="2" charset="-122"/>
              </a:rPr>
              <a:t>(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PQ)R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Q) 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R</a:t>
            </a:r>
            <a:endParaRPr lang="zh-CN" altLang="en-US" sz="3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4A4303-A6CA-432A-8F9D-8FD62FDE9CE5}"/>
              </a:ext>
            </a:extLst>
          </p:cNvPr>
          <p:cNvSpPr/>
          <p:nvPr/>
        </p:nvSpPr>
        <p:spPr>
          <a:xfrm>
            <a:off x="2431448" y="2198992"/>
            <a:ext cx="61361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                  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Q)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endParaRPr lang="zh-CN" altLang="en-US" sz="3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DC9653-413D-4C08-B3FF-4FBF183F4D88}"/>
              </a:ext>
            </a:extLst>
          </p:cNvPr>
          <p:cNvSpPr/>
          <p:nvPr/>
        </p:nvSpPr>
        <p:spPr>
          <a:xfrm>
            <a:off x="2314002" y="3265412"/>
            <a:ext cx="65867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                  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(P 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Q )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endParaRPr lang="zh-CN" altLang="en-US" sz="3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CFA6EB-4BBA-466F-A81D-8327FC5DDD1A}"/>
              </a:ext>
            </a:extLst>
          </p:cNvPr>
          <p:cNvSpPr/>
          <p:nvPr/>
        </p:nvSpPr>
        <p:spPr>
          <a:xfrm>
            <a:off x="2431448" y="4195994"/>
            <a:ext cx="8137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         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 （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）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zh-CN" altLang="en-US" sz="3600" dirty="0">
                <a:latin typeface="Arial" panose="020B0604020202020204" pitchFamily="34" charset="0"/>
                <a:sym typeface="Symbol" panose="05050102010706020507" pitchFamily="18" charset="2"/>
              </a:rPr>
              <a:t>（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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zh-CN" altLang="en-US" sz="3600" dirty="0">
                <a:latin typeface="Arial" panose="020B0604020202020204" pitchFamily="34" charset="0"/>
                <a:sym typeface="Symbol" panose="05050102010706020507" pitchFamily="18" charset="2"/>
              </a:rPr>
              <a:t>）</a:t>
            </a:r>
            <a:endParaRPr lang="zh-CN" altLang="en-US" sz="3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557834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16F2BA20-B8D3-476F-B505-CBE9F1DB2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19" y="893676"/>
            <a:ext cx="8208962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化简命题公式</a:t>
            </a:r>
            <a:r>
              <a:rPr lang="en-US" altLang="zh-CN" sz="2800"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R</a:t>
            </a:r>
            <a:r>
              <a:rPr lang="zh-CN" altLang="en-US" sz="2800" dirty="0">
                <a:latin typeface="Times New Roman" panose="02020603050405020304" pitchFamily="18" charset="0"/>
              </a:rPr>
              <a:t>））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PQ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使其最结果只含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2800" dirty="0">
                <a:latin typeface="Times New Roman" panose="02020603050405020304" pitchFamily="18" charset="0"/>
              </a:rPr>
              <a:t>表示。 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9BD8209E-E73D-4B89-A9DB-4CD286599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599" y="3231728"/>
            <a:ext cx="7993063" cy="3254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latin typeface="Times New Roman" panose="02020603050405020304" pitchFamily="18" charset="0"/>
              </a:rPr>
              <a:t>解</a:t>
            </a:r>
            <a:r>
              <a:rPr lang="zh-CN" altLang="pt-BR" sz="2800" dirty="0">
                <a:latin typeface="Times New Roman" panose="02020603050405020304" pitchFamily="18" charset="0"/>
              </a:rPr>
              <a:t>：（</a:t>
            </a:r>
            <a:r>
              <a:rPr lang="pt-BR" altLang="zh-CN" sz="28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pt-BR" sz="2800" dirty="0">
                <a:latin typeface="Times New Roman" panose="02020603050405020304" pitchFamily="18" charset="0"/>
              </a:rPr>
              <a:t>（</a:t>
            </a:r>
            <a:r>
              <a:rPr lang="pt-BR" altLang="zh-CN" sz="2800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pt-BR" altLang="zh-CN" sz="2800" dirty="0">
                <a:latin typeface="Times New Roman" panose="02020603050405020304" pitchFamily="18" charset="0"/>
              </a:rPr>
              <a:t>R</a:t>
            </a:r>
            <a:r>
              <a:rPr lang="zh-CN" altLang="pt-BR" sz="2800" dirty="0">
                <a:latin typeface="Times New Roman" panose="02020603050405020304" pitchFamily="18" charset="0"/>
              </a:rPr>
              <a:t>））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pt-BR" altLang="zh-CN" sz="28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pt-BR" altLang="zh-CN" sz="2800" dirty="0">
                <a:latin typeface="Times New Roman" panose="02020603050405020304" pitchFamily="18" charset="0"/>
              </a:rPr>
              <a:t>Q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sz="2800" dirty="0">
                <a:latin typeface="Times New Roman" panose="02020603050405020304" pitchFamily="18" charset="0"/>
              </a:rPr>
              <a:t>=</a:t>
            </a:r>
            <a:r>
              <a:rPr lang="zh-CN" altLang="pt-BR" sz="2800" dirty="0">
                <a:latin typeface="Times New Roman" panose="02020603050405020304" pitchFamily="18" charset="0"/>
              </a:rPr>
              <a:t>（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8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pt-BR" sz="2800" dirty="0">
                <a:latin typeface="Times New Roman" panose="02020603050405020304" pitchFamily="18" charset="0"/>
              </a:rPr>
              <a:t>（</a:t>
            </a:r>
            <a:r>
              <a:rPr lang="pt-BR" altLang="zh-CN" sz="2800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pt-BR" altLang="zh-CN" sz="2800" dirty="0">
                <a:latin typeface="Times New Roman" panose="02020603050405020304" pitchFamily="18" charset="0"/>
              </a:rPr>
              <a:t>R</a:t>
            </a:r>
            <a:r>
              <a:rPr lang="zh-CN" altLang="pt-BR" sz="2800" dirty="0">
                <a:latin typeface="Times New Roman" panose="02020603050405020304" pitchFamily="18" charset="0"/>
              </a:rPr>
              <a:t>））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pt-BR" altLang="zh-CN" sz="28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pt-BR" altLang="zh-CN" sz="2800" dirty="0">
                <a:latin typeface="Times New Roman" panose="02020603050405020304" pitchFamily="18" charset="0"/>
              </a:rPr>
              <a:t>Q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蕴含等值</a:t>
            </a:r>
            <a:endParaRPr lang="pt-BR" altLang="zh-CN" sz="2800" dirty="0"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sz="2800" dirty="0">
                <a:latin typeface="Times New Roman" panose="02020603050405020304" pitchFamily="18" charset="0"/>
              </a:rPr>
              <a:t>=</a:t>
            </a:r>
            <a:r>
              <a:rPr lang="zh-CN" altLang="pt-BR" sz="2800" dirty="0">
                <a:latin typeface="Times New Roman" panose="02020603050405020304" pitchFamily="18" charset="0"/>
              </a:rPr>
              <a:t>（（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8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pt-BR" sz="2800" dirty="0">
                <a:latin typeface="Times New Roman" panose="02020603050405020304" pitchFamily="18" charset="0"/>
              </a:rPr>
              <a:t>（</a:t>
            </a:r>
            <a:r>
              <a:rPr lang="pt-BR" altLang="zh-CN" sz="2800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pt-BR" altLang="zh-CN" sz="2800" dirty="0">
                <a:latin typeface="Times New Roman" panose="02020603050405020304" pitchFamily="18" charset="0"/>
              </a:rPr>
              <a:t>R</a:t>
            </a:r>
            <a:r>
              <a:rPr lang="zh-CN" altLang="pt-BR" sz="2800" dirty="0">
                <a:latin typeface="Times New Roman" panose="02020603050405020304" pitchFamily="18" charset="0"/>
              </a:rPr>
              <a:t>））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pt-BR" altLang="zh-CN" sz="2800" dirty="0">
                <a:latin typeface="Times New Roman" panose="02020603050405020304" pitchFamily="18" charset="0"/>
              </a:rPr>
              <a:t>P</a:t>
            </a:r>
            <a:r>
              <a:rPr lang="zh-CN" altLang="pt-BR" sz="2800" dirty="0">
                <a:latin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pt-BR" altLang="zh-CN" sz="2800" dirty="0">
                <a:latin typeface="Times New Roman" panose="02020603050405020304" pitchFamily="18" charset="0"/>
              </a:rPr>
              <a:t>Q     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</a:rPr>
              <a:t>Q                          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交换、吸收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800" dirty="0"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6532273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81797F21-E650-4AEA-B28A-4373E0196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031" y="1188586"/>
            <a:ext cx="813593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</a:rPr>
              <a:t>A,B,C</a:t>
            </a:r>
            <a:r>
              <a:rPr lang="zh-CN" altLang="en-US" sz="2800" dirty="0">
                <a:latin typeface="Times New Roman" panose="02020603050405020304" pitchFamily="18" charset="0"/>
              </a:rPr>
              <a:t>为任意命题公式</a:t>
            </a:r>
            <a:r>
              <a:rPr lang="en-US" altLang="zh-CN" sz="2800" dirty="0">
                <a:latin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</a:rPr>
              <a:t>试判断命题公式</a:t>
            </a:r>
            <a:r>
              <a:rPr lang="en-US" altLang="zh-CN" sz="2800" dirty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</a:rPr>
              <a:t>））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</a:rPr>
              <a:t>）的类型。</a:t>
            </a:r>
            <a:r>
              <a:rPr lang="zh-CN" altLang="en-US" dirty="0"/>
              <a:t> 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7BD61148-C357-4CBE-A91B-6C5626D4A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540" y="2639052"/>
            <a:ext cx="82819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解：（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</a:rPr>
              <a:t>））</a:t>
            </a:r>
          </a:p>
          <a:p>
            <a:r>
              <a:rPr lang="en-US" altLang="zh-CN" sz="2800" dirty="0">
                <a:latin typeface="Times New Roman" panose="02020603050405020304" pitchFamily="18" charset="0"/>
              </a:rPr>
              <a:t>= A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dirty="0"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</a:rPr>
              <a:t>）       蕴含等值</a:t>
            </a:r>
            <a:endParaRPr lang="zh-CN" altLang="pt-BR" sz="2800" dirty="0">
              <a:latin typeface="Times New Roman" panose="02020603050405020304" pitchFamily="18" charset="0"/>
            </a:endParaRPr>
          </a:p>
          <a:p>
            <a:r>
              <a:rPr lang="pt-BR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pt-BR" sz="2800" dirty="0">
                <a:latin typeface="Times New Roman" panose="02020603050405020304" pitchFamily="18" charset="0"/>
              </a:rPr>
              <a:t>（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800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pt-BR" altLang="zh-CN" sz="2800" dirty="0">
                <a:latin typeface="Times New Roman" panose="02020603050405020304" pitchFamily="18" charset="0"/>
              </a:rPr>
              <a:t>C</a:t>
            </a:r>
            <a:r>
              <a:rPr lang="zh-CN" altLang="pt-BR" sz="2800" dirty="0">
                <a:latin typeface="Times New Roman" panose="02020603050405020304" pitchFamily="18" charset="0"/>
              </a:rPr>
              <a:t>）       </a:t>
            </a:r>
            <a:r>
              <a:rPr lang="zh-CN" altLang="en-US" sz="2800" dirty="0">
                <a:latin typeface="Times New Roman" panose="02020603050405020304" pitchFamily="18" charset="0"/>
              </a:rPr>
              <a:t>蕴含等值</a:t>
            </a:r>
            <a:endParaRPr lang="zh-CN" altLang="pt-BR" sz="2800" dirty="0">
              <a:latin typeface="Times New Roman" panose="02020603050405020304" pitchFamily="18" charset="0"/>
            </a:endParaRPr>
          </a:p>
          <a:p>
            <a:r>
              <a:rPr lang="pt-BR" altLang="zh-CN" sz="2800" dirty="0">
                <a:latin typeface="Times New Roman" panose="02020603050405020304" pitchFamily="18" charset="0"/>
              </a:rPr>
              <a:t>=</a:t>
            </a:r>
            <a:r>
              <a:rPr lang="zh-CN" altLang="pt-BR" sz="2800" dirty="0">
                <a:latin typeface="Times New Roman" panose="02020603050405020304" pitchFamily="18" charset="0"/>
              </a:rPr>
              <a:t>（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pt-BR" altLang="zh-CN" sz="2800" dirty="0">
                <a:latin typeface="Times New Roman" panose="02020603050405020304" pitchFamily="18" charset="0"/>
              </a:rPr>
              <a:t>B</a:t>
            </a:r>
            <a:r>
              <a:rPr lang="zh-CN" altLang="pt-BR" sz="2800" dirty="0">
                <a:latin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pt-BR" altLang="zh-CN" sz="2800" dirty="0">
                <a:latin typeface="Times New Roman" panose="02020603050405020304" pitchFamily="18" charset="0"/>
              </a:rPr>
              <a:t>C       </a:t>
            </a:r>
            <a:r>
              <a:rPr lang="zh-CN" altLang="en-US" sz="2800" dirty="0">
                <a:latin typeface="Times New Roman" panose="02020603050405020304" pitchFamily="18" charset="0"/>
              </a:rPr>
              <a:t>结合</a:t>
            </a:r>
            <a:endParaRPr lang="pt-BR" altLang="zh-CN" sz="2800" dirty="0">
              <a:latin typeface="Times New Roman" panose="02020603050405020304" pitchFamily="18" charset="0"/>
            </a:endParaRPr>
          </a:p>
          <a:p>
            <a:r>
              <a:rPr lang="pt-BR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pt-BR" sz="2800" dirty="0">
                <a:latin typeface="Times New Roman" panose="02020603050405020304" pitchFamily="18" charset="0"/>
              </a:rPr>
              <a:t>（</a:t>
            </a:r>
            <a:r>
              <a:rPr lang="pt-BR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pt-BR" altLang="zh-CN" sz="2800" dirty="0">
                <a:latin typeface="Times New Roman" panose="02020603050405020304" pitchFamily="18" charset="0"/>
              </a:rPr>
              <a:t>B</a:t>
            </a:r>
            <a:r>
              <a:rPr lang="zh-CN" altLang="pt-BR" sz="2800" dirty="0">
                <a:latin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pt-BR" altLang="zh-CN" sz="2800" dirty="0">
                <a:latin typeface="Times New Roman" panose="02020603050405020304" pitchFamily="18" charset="0"/>
              </a:rPr>
              <a:t>C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德摩根</a:t>
            </a:r>
            <a:endParaRPr lang="pt-BR" altLang="zh-CN" sz="2800" dirty="0">
              <a:latin typeface="Times New Roman" panose="02020603050405020304" pitchFamily="18" charset="0"/>
            </a:endParaRPr>
          </a:p>
          <a:p>
            <a:r>
              <a:rPr lang="pt-BR" altLang="zh-CN" sz="2800" dirty="0">
                <a:latin typeface="Times New Roman" panose="02020603050405020304" pitchFamily="18" charset="0"/>
              </a:rPr>
              <a:t>=</a:t>
            </a:r>
            <a:r>
              <a:rPr lang="zh-CN" altLang="pt-BR" sz="2800" dirty="0">
                <a:latin typeface="Times New Roman" panose="02020603050405020304" pitchFamily="18" charset="0"/>
              </a:rPr>
              <a:t>（</a:t>
            </a:r>
            <a:r>
              <a:rPr lang="pt-BR" altLang="zh-CN" sz="2800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pt-BR" altLang="zh-CN" sz="2800" dirty="0">
                <a:latin typeface="Times New Roman" panose="02020603050405020304" pitchFamily="18" charset="0"/>
              </a:rPr>
              <a:t>B</a:t>
            </a:r>
            <a:r>
              <a:rPr lang="zh-CN" altLang="pt-BR" sz="2800" dirty="0">
                <a:latin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altLang="zh-CN" sz="2800" dirty="0">
                <a:latin typeface="Times New Roman" panose="02020603050405020304" pitchFamily="18" charset="0"/>
              </a:rPr>
              <a:t>C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蕴含等值</a:t>
            </a:r>
            <a:endParaRPr lang="pt-BR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C5325B-0AD1-4640-AFFF-D5E4EE73C483}"/>
              </a:ext>
            </a:extLst>
          </p:cNvPr>
          <p:cNvSpPr/>
          <p:nvPr/>
        </p:nvSpPr>
        <p:spPr>
          <a:xfrm>
            <a:off x="3044050" y="5844922"/>
            <a:ext cx="59490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800" dirty="0">
                <a:latin typeface="Times New Roman" panose="02020603050405020304" pitchFamily="18" charset="0"/>
              </a:rPr>
              <a:t>(A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altLang="zh-CN" sz="2800" dirty="0">
                <a:latin typeface="Times New Roman" panose="02020603050405020304" pitchFamily="18" charset="0"/>
              </a:rPr>
              <a:t>(B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altLang="zh-CN" sz="2800" dirty="0">
                <a:latin typeface="Times New Roman" panose="02020603050405020304" pitchFamily="18" charset="0"/>
              </a:rPr>
              <a:t>C))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pt-BR" altLang="zh-CN" sz="2800" dirty="0">
                <a:latin typeface="Times New Roman" panose="02020603050405020304" pitchFamily="18" charset="0"/>
              </a:rPr>
              <a:t>(A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pt-BR" altLang="zh-CN" sz="2800" dirty="0">
                <a:latin typeface="Times New Roman" panose="02020603050405020304" pitchFamily="18" charset="0"/>
              </a:rPr>
              <a:t>B)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altLang="zh-CN" sz="2800" dirty="0">
                <a:latin typeface="Times New Roman" panose="02020603050405020304" pitchFamily="18" charset="0"/>
              </a:rPr>
              <a:t>C)</a:t>
            </a:r>
            <a:r>
              <a:rPr lang="zh-CN" altLang="pt-BR" sz="2800" dirty="0">
                <a:latin typeface="Times New Roman" panose="02020603050405020304" pitchFamily="18" charset="0"/>
              </a:rPr>
              <a:t>是永真式。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38843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168EA18-5202-4C05-9043-C03ADA001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111" y="967581"/>
            <a:ext cx="76327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G=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</a:rPr>
              <a:t>），</a:t>
            </a:r>
            <a:r>
              <a:rPr lang="en-US" altLang="zh-CN" sz="2800" dirty="0">
                <a:latin typeface="Times New Roman" panose="02020603050405020304" pitchFamily="18" charset="0"/>
              </a:rPr>
              <a:t>H=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dirty="0"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试判定</a:t>
            </a:r>
            <a:r>
              <a:rPr lang="en-US" altLang="zh-CN" sz="2800" dirty="0">
                <a:latin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</a:rPr>
              <a:t>H</a:t>
            </a:r>
            <a:r>
              <a:rPr lang="zh-CN" altLang="en-US" sz="2800" dirty="0">
                <a:latin typeface="Times New Roman" panose="02020603050405020304" pitchFamily="18" charset="0"/>
              </a:rPr>
              <a:t>是否等值。 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CA7C066E-8326-4E59-B70A-35B90F22F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100" y="2366526"/>
            <a:ext cx="7488237" cy="4367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= (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8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Q) 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pt-BR" sz="2800" dirty="0">
                <a:latin typeface="Times New Roman" panose="02020603050405020304" pitchFamily="18" charset="0"/>
              </a:rPr>
              <a:t>（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800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pt-BR" altLang="zh-CN" sz="2800" dirty="0">
                <a:latin typeface="Times New Roman" panose="02020603050405020304" pitchFamily="18" charset="0"/>
              </a:rPr>
              <a:t>Q</a:t>
            </a:r>
            <a:r>
              <a:rPr lang="zh-CN" altLang="pt-BR" sz="2800" dirty="0">
                <a:latin typeface="Times New Roman" panose="02020603050405020304" pitchFamily="18" charset="0"/>
              </a:rPr>
              <a:t>）</a:t>
            </a:r>
          </a:p>
          <a:p>
            <a:pPr>
              <a:spcBef>
                <a:spcPct val="50000"/>
              </a:spcBef>
            </a:pPr>
            <a:r>
              <a:rPr lang="pt-BR" altLang="zh-CN" sz="2800" dirty="0">
                <a:latin typeface="Times New Roman" panose="02020603050405020304" pitchFamily="18" charset="0"/>
              </a:rPr>
              <a:t>= (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8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Q) 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800" dirty="0">
                <a:latin typeface="Times New Roman" panose="02020603050405020304" pitchFamily="18" charset="0"/>
              </a:rPr>
              <a:t>R )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 (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800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Q) 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pt-BR" altLang="zh-CN" sz="2800" dirty="0">
                <a:latin typeface="Times New Roman" panose="02020603050405020304" pitchFamily="18" charset="0"/>
              </a:rPr>
              <a:t>Q)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= (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800" dirty="0">
                <a:latin typeface="Times New Roman" panose="02020603050405020304" pitchFamily="18" charset="0"/>
              </a:rPr>
              <a:t>P 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800" dirty="0">
                <a:latin typeface="Times New Roman" panose="02020603050405020304" pitchFamily="18" charset="0"/>
              </a:rPr>
              <a:t>R )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 (Q 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800" dirty="0">
                <a:latin typeface="Times New Roman" panose="02020603050405020304" pitchFamily="18" charset="0"/>
              </a:rPr>
              <a:t>R)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pt-BR" altLang="zh-CN" sz="2800" dirty="0">
                <a:latin typeface="Times New Roman" panose="02020603050405020304" pitchFamily="18" charset="0"/>
              </a:rPr>
              <a:t>Q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800" dirty="0">
                <a:latin typeface="Times New Roman" panose="02020603050405020304" pitchFamily="18" charset="0"/>
              </a:rPr>
              <a:t>P 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pt-BR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Q) </a:t>
            </a:r>
            <a:endParaRPr lang="pt-BR" altLang="zh-CN" sz="28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pt-BR" altLang="zh-CN" sz="2800" dirty="0">
                <a:latin typeface="Times New Roman" panose="02020603050405020304" pitchFamily="18" charset="0"/>
              </a:rPr>
              <a:t>=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 (</a:t>
            </a:r>
            <a:r>
              <a:rPr lang="pt-BR" altLang="zh-CN" sz="2800" dirty="0">
                <a:latin typeface="Times New Roman" panose="02020603050405020304" pitchFamily="18" charset="0"/>
              </a:rPr>
              <a:t>P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pt-BR" altLang="zh-CN" sz="2800" dirty="0">
                <a:latin typeface="Times New Roman" panose="02020603050405020304" pitchFamily="18" charset="0"/>
              </a:rPr>
              <a:t>R)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pt-BR" altLang="zh-CN" sz="2800" dirty="0">
                <a:latin typeface="Times New Roman" panose="02020603050405020304" pitchFamily="18" charset="0"/>
              </a:rPr>
              <a:t>Q</a:t>
            </a:r>
          </a:p>
          <a:p>
            <a:pPr>
              <a:spcBef>
                <a:spcPct val="50000"/>
              </a:spcBef>
            </a:pPr>
            <a:r>
              <a:rPr lang="pt-BR" altLang="zh-CN" sz="2800" dirty="0">
                <a:latin typeface="Times New Roman" panose="02020603050405020304" pitchFamily="18" charset="0"/>
              </a:rPr>
              <a:t>=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pt-BR" altLang="zh-CN" sz="2800" dirty="0">
                <a:latin typeface="Times New Roman" panose="02020603050405020304" pitchFamily="18" charset="0"/>
              </a:rPr>
              <a:t>P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pt-BR" altLang="zh-CN" sz="2800" dirty="0">
                <a:latin typeface="Times New Roman" panose="02020603050405020304" pitchFamily="18" charset="0"/>
              </a:rPr>
              <a:t>R)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</a:rPr>
              <a:t>Q   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 ∴G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</a:rPr>
              <a:t>H</a:t>
            </a:r>
            <a:r>
              <a:rPr lang="zh-CN" altLang="en-US" sz="2800" dirty="0">
                <a:latin typeface="Times New Roman" panose="02020603050405020304" pitchFamily="18" charset="0"/>
              </a:rPr>
              <a:t>逻辑等值。</a:t>
            </a:r>
          </a:p>
        </p:txBody>
      </p:sp>
    </p:spTree>
    <p:extLst>
      <p:ext uri="{BB962C8B-B14F-4D97-AF65-F5344CB8AC3E}">
        <p14:creationId xmlns:p14="http://schemas.microsoft.com/office/powerpoint/2010/main" val="177664250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39790E5-5B95-4B7D-8D68-D49E4D621615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1007056"/>
            <a:ext cx="8064500" cy="57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/>
              <a:t>利用基本的等价关系，化简下列电路图 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70D51039-1F2C-4852-9899-3E9D9279B2BC}"/>
              </a:ext>
            </a:extLst>
          </p:cNvPr>
          <p:cNvGrpSpPr>
            <a:grpSpLocks/>
          </p:cNvGrpSpPr>
          <p:nvPr/>
        </p:nvGrpSpPr>
        <p:grpSpPr bwMode="auto">
          <a:xfrm>
            <a:off x="5205481" y="1967070"/>
            <a:ext cx="3967275" cy="2089150"/>
            <a:chOff x="2667" y="1162"/>
            <a:chExt cx="2320" cy="1179"/>
          </a:xfrm>
        </p:grpSpPr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9547B208-2933-4D44-B63F-C469931F8A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3" y="1295"/>
              <a:ext cx="2114" cy="979"/>
              <a:chOff x="5062" y="4410"/>
              <a:chExt cx="3574" cy="1560"/>
            </a:xfrm>
          </p:grpSpPr>
          <p:grpSp>
            <p:nvGrpSpPr>
              <p:cNvPr id="14" name="Group 6">
                <a:extLst>
                  <a:ext uri="{FF2B5EF4-FFF2-40B4-BE49-F238E27FC236}">
                    <a16:creationId xmlns:a16="http://schemas.microsoft.com/office/drawing/2014/main" id="{34DA5D6A-7096-43E7-88BE-2BA228229E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58" y="4410"/>
                <a:ext cx="2678" cy="1560"/>
                <a:chOff x="5958" y="1512"/>
                <a:chExt cx="2678" cy="1560"/>
              </a:xfrm>
            </p:grpSpPr>
            <p:grpSp>
              <p:nvGrpSpPr>
                <p:cNvPr id="32" name="Group 7">
                  <a:extLst>
                    <a:ext uri="{FF2B5EF4-FFF2-40B4-BE49-F238E27FC236}">
                      <a16:creationId xmlns:a16="http://schemas.microsoft.com/office/drawing/2014/main" id="{86066736-243A-406A-920D-BD24541FED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02" y="2163"/>
                  <a:ext cx="362" cy="142"/>
                  <a:chOff x="6502" y="2163"/>
                  <a:chExt cx="362" cy="142"/>
                </a:xfrm>
              </p:grpSpPr>
              <p:sp>
                <p:nvSpPr>
                  <p:cNvPr id="54" name="Line 8">
                    <a:extLst>
                      <a:ext uri="{FF2B5EF4-FFF2-40B4-BE49-F238E27FC236}">
                        <a16:creationId xmlns:a16="http://schemas.microsoft.com/office/drawing/2014/main" id="{D78C99A8-A31A-4993-8FEC-96937B09D9D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676" y="2164"/>
                    <a:ext cx="188" cy="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" name="Line 9">
                    <a:extLst>
                      <a:ext uri="{FF2B5EF4-FFF2-40B4-BE49-F238E27FC236}">
                        <a16:creationId xmlns:a16="http://schemas.microsoft.com/office/drawing/2014/main" id="{84946EE2-3F6C-4593-A9DE-FE85F4D997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6680" y="2163"/>
                    <a:ext cx="0" cy="137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56" name="Line 10">
                    <a:extLst>
                      <a:ext uri="{FF2B5EF4-FFF2-40B4-BE49-F238E27FC236}">
                        <a16:creationId xmlns:a16="http://schemas.microsoft.com/office/drawing/2014/main" id="{47C8754D-EFFC-4909-9C05-BFA9333041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502" y="2305"/>
                    <a:ext cx="18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3" name="Group 11">
                  <a:extLst>
                    <a:ext uri="{FF2B5EF4-FFF2-40B4-BE49-F238E27FC236}">
                      <a16:creationId xmlns:a16="http://schemas.microsoft.com/office/drawing/2014/main" id="{DAE49DAE-A902-4D20-A99A-B28CF5B691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958" y="1512"/>
                  <a:ext cx="2678" cy="1560"/>
                  <a:chOff x="5958" y="1546"/>
                  <a:chExt cx="2678" cy="1560"/>
                </a:xfrm>
              </p:grpSpPr>
              <p:sp>
                <p:nvSpPr>
                  <p:cNvPr id="34" name="Text Box 12">
                    <a:extLst>
                      <a:ext uri="{FF2B5EF4-FFF2-40B4-BE49-F238E27FC236}">
                        <a16:creationId xmlns:a16="http://schemas.microsoft.com/office/drawing/2014/main" id="{3171A37F-7444-4B87-A24C-072CF503929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962" y="2644"/>
                    <a:ext cx="540" cy="46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r" eaLnBrk="1" hangingPunct="1"/>
                    <a:endParaRPr lang="en-US" altLang="zh-CN" sz="1600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5" name="Text Box 13">
                    <a:extLst>
                      <a:ext uri="{FF2B5EF4-FFF2-40B4-BE49-F238E27FC236}">
                        <a16:creationId xmlns:a16="http://schemas.microsoft.com/office/drawing/2014/main" id="{39A0B9A6-2E73-4388-89D3-6BC47DC9BF2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958" y="1546"/>
                    <a:ext cx="540" cy="40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 eaLnBrk="1" hangingPunct="1"/>
                    <a:endParaRPr lang="en-US" altLang="zh-CN" sz="1600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6" name="Text Box 14">
                    <a:extLst>
                      <a:ext uri="{FF2B5EF4-FFF2-40B4-BE49-F238E27FC236}">
                        <a16:creationId xmlns:a16="http://schemas.microsoft.com/office/drawing/2014/main" id="{3AF39082-E4F3-4345-BF85-8235E743FB9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962" y="2042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r" eaLnBrk="1" hangingPunct="1"/>
                    <a:endParaRPr lang="en-US" altLang="zh-CN" sz="1600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7" name="Line 15">
                    <a:extLst>
                      <a:ext uri="{FF2B5EF4-FFF2-40B4-BE49-F238E27FC236}">
                        <a16:creationId xmlns:a16="http://schemas.microsoft.com/office/drawing/2014/main" id="{830209C5-9F28-4B74-9088-4C8F296509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504" y="1753"/>
                    <a:ext cx="18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" name="Line 16">
                    <a:extLst>
                      <a:ext uri="{FF2B5EF4-FFF2-40B4-BE49-F238E27FC236}">
                        <a16:creationId xmlns:a16="http://schemas.microsoft.com/office/drawing/2014/main" id="{82B0F5DC-D7D4-4BEF-BE55-060CE86D27E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686" y="1753"/>
                    <a:ext cx="0" cy="27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" name="Line 17">
                    <a:extLst>
                      <a:ext uri="{FF2B5EF4-FFF2-40B4-BE49-F238E27FC236}">
                        <a16:creationId xmlns:a16="http://schemas.microsoft.com/office/drawing/2014/main" id="{95A8B741-1D03-41C2-86B0-EBA8A43EF8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684" y="2032"/>
                    <a:ext cx="18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40" name="Group 18">
                    <a:extLst>
                      <a:ext uri="{FF2B5EF4-FFF2-40B4-BE49-F238E27FC236}">
                        <a16:creationId xmlns:a16="http://schemas.microsoft.com/office/drawing/2014/main" id="{55CE6EAC-EA17-42A1-9EF0-90ACCD6281E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504" y="1884"/>
                    <a:ext cx="2132" cy="967"/>
                    <a:chOff x="6504" y="1884"/>
                    <a:chExt cx="2132" cy="967"/>
                  </a:xfrm>
                </p:grpSpPr>
                <p:sp>
                  <p:nvSpPr>
                    <p:cNvPr id="41" name="Text Box 19">
                      <a:extLst>
                        <a:ext uri="{FF2B5EF4-FFF2-40B4-BE49-F238E27FC236}">
                          <a16:creationId xmlns:a16="http://schemas.microsoft.com/office/drawing/2014/main" id="{61F76F56-784B-45F5-BA1F-97C39C07D1D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864" y="1884"/>
                      <a:ext cx="540" cy="41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r" eaLnBrk="1" hangingPunct="1"/>
                      <a:endParaRPr lang="en-US" altLang="zh-CN" sz="1600" dirty="0">
                        <a:ea typeface="宋体" panose="02010600030101010101" pitchFamily="2" charset="-122"/>
                      </a:endParaRPr>
                    </a:p>
                  </p:txBody>
                </p:sp>
                <p:grpSp>
                  <p:nvGrpSpPr>
                    <p:cNvPr id="42" name="Group 20">
                      <a:extLst>
                        <a:ext uri="{FF2B5EF4-FFF2-40B4-BE49-F238E27FC236}">
                          <a16:creationId xmlns:a16="http://schemas.microsoft.com/office/drawing/2014/main" id="{845D6D2A-D723-4E58-B58B-C34C0CD4D26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504" y="2074"/>
                      <a:ext cx="2132" cy="777"/>
                      <a:chOff x="6504" y="2074"/>
                      <a:chExt cx="2132" cy="777"/>
                    </a:xfrm>
                  </p:grpSpPr>
                  <p:sp>
                    <p:nvSpPr>
                      <p:cNvPr id="43" name="Line 21">
                        <a:extLst>
                          <a:ext uri="{FF2B5EF4-FFF2-40B4-BE49-F238E27FC236}">
                            <a16:creationId xmlns:a16="http://schemas.microsoft.com/office/drawing/2014/main" id="{DBBF844A-2588-44D3-BE7B-E2151656BCE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504" y="2850"/>
                        <a:ext cx="1081" cy="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4" name="Line 22">
                        <a:extLst>
                          <a:ext uri="{FF2B5EF4-FFF2-40B4-BE49-F238E27FC236}">
                            <a16:creationId xmlns:a16="http://schemas.microsoft.com/office/drawing/2014/main" id="{600E2930-35B1-4A0B-9CA1-3F5B360C856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404" y="2077"/>
                        <a:ext cx="18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45" name="Group 23">
                        <a:extLst>
                          <a:ext uri="{FF2B5EF4-FFF2-40B4-BE49-F238E27FC236}">
                            <a16:creationId xmlns:a16="http://schemas.microsoft.com/office/drawing/2014/main" id="{949D3679-1387-400D-9C37-42C17966FB17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581" y="2074"/>
                        <a:ext cx="1055" cy="775"/>
                        <a:chOff x="7581" y="2075"/>
                        <a:chExt cx="1055" cy="775"/>
                      </a:xfrm>
                    </p:grpSpPr>
                    <p:sp>
                      <p:nvSpPr>
                        <p:cNvPr id="46" name="Line 24">
                          <a:extLst>
                            <a:ext uri="{FF2B5EF4-FFF2-40B4-BE49-F238E27FC236}">
                              <a16:creationId xmlns:a16="http://schemas.microsoft.com/office/drawing/2014/main" id="{E60FE90E-C1FF-4A3F-8ED3-0A9AB677259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7581" y="2075"/>
                          <a:ext cx="0" cy="258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grpSp>
                      <p:nvGrpSpPr>
                        <p:cNvPr id="47" name="Group 25">
                          <a:extLst>
                            <a:ext uri="{FF2B5EF4-FFF2-40B4-BE49-F238E27FC236}">
                              <a16:creationId xmlns:a16="http://schemas.microsoft.com/office/drawing/2014/main" id="{7AA688F9-2C60-4636-8918-23473353892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7584" y="2240"/>
                          <a:ext cx="1052" cy="450"/>
                          <a:chOff x="7584" y="2240"/>
                          <a:chExt cx="1052" cy="450"/>
                        </a:xfrm>
                      </p:grpSpPr>
                      <p:sp>
                        <p:nvSpPr>
                          <p:cNvPr id="49" name="Line 26">
                            <a:extLst>
                              <a:ext uri="{FF2B5EF4-FFF2-40B4-BE49-F238E27FC236}">
                                <a16:creationId xmlns:a16="http://schemas.microsoft.com/office/drawing/2014/main" id="{434323E5-E39E-4B98-8B27-E5E68125A145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7584" y="2581"/>
                            <a:ext cx="180" cy="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grpSp>
                        <p:nvGrpSpPr>
                          <p:cNvPr id="50" name="Group 27">
                            <a:extLst>
                              <a:ext uri="{FF2B5EF4-FFF2-40B4-BE49-F238E27FC236}">
                                <a16:creationId xmlns:a16="http://schemas.microsoft.com/office/drawing/2014/main" id="{0A7E377A-FC2E-48AB-9F60-5D996E9E962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7764" y="2240"/>
                            <a:ext cx="872" cy="450"/>
                            <a:chOff x="7764" y="2240"/>
                            <a:chExt cx="872" cy="450"/>
                          </a:xfrm>
                        </p:grpSpPr>
                        <p:sp>
                          <p:nvSpPr>
                            <p:cNvPr id="52" name="Text Box 28">
                              <a:extLst>
                                <a:ext uri="{FF2B5EF4-FFF2-40B4-BE49-F238E27FC236}">
                                  <a16:creationId xmlns:a16="http://schemas.microsoft.com/office/drawing/2014/main" id="{C686C5F4-7BC0-49B7-BF74-24CE6104FAF5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7764" y="2240"/>
                              <a:ext cx="512" cy="450"/>
                            </a:xfrm>
                            <a:prstGeom prst="rect">
                              <a:avLst/>
                            </a:prstGeom>
                            <a:solidFill>
                              <a:srgbClr val="FFFFFF"/>
                            </a:solidFill>
                            <a:ln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/>
                            <a:lstStyle>
                              <a:lvl1pPr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  <a:ea typeface="黑体" panose="02010609060101010101" pitchFamily="49" charset="-122"/>
                                </a:defRPr>
                              </a:lvl1pPr>
                              <a:lvl2pPr marL="742950" indent="-28575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  <a:ea typeface="黑体" panose="02010609060101010101" pitchFamily="49" charset="-122"/>
                                </a:defRPr>
                              </a:lvl2pPr>
                              <a:lvl3pPr marL="1143000" indent="-22860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  <a:ea typeface="黑体" panose="02010609060101010101" pitchFamily="49" charset="-122"/>
                                </a:defRPr>
                              </a:lvl3pPr>
                              <a:lvl4pPr marL="1600200" indent="-22860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  <a:ea typeface="黑体" panose="02010609060101010101" pitchFamily="49" charset="-122"/>
                                </a:defRPr>
                              </a:lvl4pPr>
                              <a:lvl5pPr marL="2057400" indent="-22860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  <a:ea typeface="黑体" panose="02010609060101010101" pitchFamily="49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  <a:ea typeface="黑体" panose="02010609060101010101" pitchFamily="49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  <a:ea typeface="黑体" panose="02010609060101010101" pitchFamily="49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  <a:ea typeface="黑体" panose="02010609060101010101" pitchFamily="49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  <a:ea typeface="黑体" panose="02010609060101010101" pitchFamily="49" charset="-122"/>
                                </a:defRPr>
                              </a:lvl9pPr>
                            </a:lstStyle>
                            <a:p>
                              <a:pPr algn="just" eaLnBrk="1" hangingPunct="1"/>
                              <a:endParaRPr lang="en-US" altLang="zh-CN" sz="1600" dirty="0"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endParaRPr>
                            </a:p>
                            <a:p>
                              <a:pPr algn="just" eaLnBrk="1" hangingPunct="1"/>
                              <a:endParaRPr lang="en-US" altLang="zh-CN" sz="1600" dirty="0"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endParaRPr>
                            </a:p>
                          </p:txBody>
                        </p:sp>
                        <p:sp>
                          <p:nvSpPr>
                            <p:cNvPr id="53" name="Line 29">
                              <a:extLst>
                                <a:ext uri="{FF2B5EF4-FFF2-40B4-BE49-F238E27FC236}">
                                  <a16:creationId xmlns:a16="http://schemas.microsoft.com/office/drawing/2014/main" id="{7A5B162A-CC83-4B0C-8042-5ACEBFCB9D1A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8276" y="2441"/>
                              <a:ext cx="360" cy="0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 type="triangle" w="med" len="med"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dirty="0"/>
                            </a:p>
                          </p:txBody>
                        </p:sp>
                      </p:grpSp>
                      <p:sp>
                        <p:nvSpPr>
                          <p:cNvPr id="51" name="Line 30">
                            <a:extLst>
                              <a:ext uri="{FF2B5EF4-FFF2-40B4-BE49-F238E27FC236}">
                                <a16:creationId xmlns:a16="http://schemas.microsoft.com/office/drawing/2014/main" id="{F62D7EB2-987D-4105-AEC7-F8F32F53E9DE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7584" y="2333"/>
                            <a:ext cx="180" cy="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  <p:sp>
                      <p:nvSpPr>
                        <p:cNvPr id="48" name="Line 31">
                          <a:extLst>
                            <a:ext uri="{FF2B5EF4-FFF2-40B4-BE49-F238E27FC236}">
                              <a16:creationId xmlns:a16="http://schemas.microsoft.com/office/drawing/2014/main" id="{A08DDEBF-1D0E-4DD8-AAE9-D7875210701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7584" y="2586"/>
                          <a:ext cx="0" cy="26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5" name="Group 32">
                <a:extLst>
                  <a:ext uri="{FF2B5EF4-FFF2-40B4-BE49-F238E27FC236}">
                    <a16:creationId xmlns:a16="http://schemas.microsoft.com/office/drawing/2014/main" id="{6CFFB1FC-2F24-48BB-96AF-863D902791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62" y="4461"/>
                <a:ext cx="900" cy="1449"/>
                <a:chOff x="5397" y="10057"/>
                <a:chExt cx="900" cy="1449"/>
              </a:xfrm>
            </p:grpSpPr>
            <p:grpSp>
              <p:nvGrpSpPr>
                <p:cNvPr id="16" name="Group 33">
                  <a:extLst>
                    <a:ext uri="{FF2B5EF4-FFF2-40B4-BE49-F238E27FC236}">
                      <a16:creationId xmlns:a16="http://schemas.microsoft.com/office/drawing/2014/main" id="{03FF4A04-ED81-44A8-BE70-266697DF65D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397" y="10057"/>
                  <a:ext cx="900" cy="1449"/>
                  <a:chOff x="5397" y="10071"/>
                  <a:chExt cx="900" cy="1449"/>
                </a:xfrm>
              </p:grpSpPr>
              <p:sp>
                <p:nvSpPr>
                  <p:cNvPr id="18" name="Line 34">
                    <a:extLst>
                      <a:ext uri="{FF2B5EF4-FFF2-40B4-BE49-F238E27FC236}">
                        <a16:creationId xmlns:a16="http://schemas.microsoft.com/office/drawing/2014/main" id="{A8926C7B-8D9B-4202-BB29-D9AC75E8A88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577" y="10076"/>
                    <a:ext cx="3" cy="113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9" name="Group 35">
                    <a:extLst>
                      <a:ext uri="{FF2B5EF4-FFF2-40B4-BE49-F238E27FC236}">
                        <a16:creationId xmlns:a16="http://schemas.microsoft.com/office/drawing/2014/main" id="{F41A46F1-1309-4160-A127-07D65F9EC7A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397" y="10071"/>
                    <a:ext cx="900" cy="1449"/>
                    <a:chOff x="5397" y="10059"/>
                    <a:chExt cx="900" cy="1449"/>
                  </a:xfrm>
                </p:grpSpPr>
                <p:sp>
                  <p:nvSpPr>
                    <p:cNvPr id="20" name="Line 36">
                      <a:extLst>
                        <a:ext uri="{FF2B5EF4-FFF2-40B4-BE49-F238E27FC236}">
                          <a16:creationId xmlns:a16="http://schemas.microsoft.com/office/drawing/2014/main" id="{297FAF7C-7FF3-4D03-91E3-8738EAC64F7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97" y="10216"/>
                      <a:ext cx="900" cy="1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" name="Line 37">
                      <a:extLst>
                        <a:ext uri="{FF2B5EF4-FFF2-40B4-BE49-F238E27FC236}">
                          <a16:creationId xmlns:a16="http://schemas.microsoft.com/office/drawing/2014/main" id="{D6B979DF-8850-481D-A7F3-8979E53E3D5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97" y="10386"/>
                      <a:ext cx="900" cy="1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2" name="Line 38">
                      <a:extLst>
                        <a:ext uri="{FF2B5EF4-FFF2-40B4-BE49-F238E27FC236}">
                          <a16:creationId xmlns:a16="http://schemas.microsoft.com/office/drawing/2014/main" id="{98C27ED1-2CA1-4CF3-9136-54C2DB9D911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97" y="10912"/>
                      <a:ext cx="900" cy="1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" name="Line 39">
                      <a:extLst>
                        <a:ext uri="{FF2B5EF4-FFF2-40B4-BE49-F238E27FC236}">
                          <a16:creationId xmlns:a16="http://schemas.microsoft.com/office/drawing/2014/main" id="{052C94B0-3C45-4621-9D94-FFA86208207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97" y="10059"/>
                      <a:ext cx="900" cy="1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4" name="Line 40">
                      <a:extLst>
                        <a:ext uri="{FF2B5EF4-FFF2-40B4-BE49-F238E27FC236}">
                          <a16:creationId xmlns:a16="http://schemas.microsoft.com/office/drawing/2014/main" id="{1F7DF623-DF76-4647-A043-084DAF7795C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575" y="11195"/>
                      <a:ext cx="720" cy="7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5" name="Line 41">
                      <a:extLst>
                        <a:ext uri="{FF2B5EF4-FFF2-40B4-BE49-F238E27FC236}">
                          <a16:creationId xmlns:a16="http://schemas.microsoft.com/office/drawing/2014/main" id="{B44EC8A4-A4F8-43E4-8DEB-D5BEA14CBA0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752" y="11370"/>
                      <a:ext cx="545" cy="1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" name="Line 42">
                      <a:extLst>
                        <a:ext uri="{FF2B5EF4-FFF2-40B4-BE49-F238E27FC236}">
                          <a16:creationId xmlns:a16="http://schemas.microsoft.com/office/drawing/2014/main" id="{162FE670-A1EA-44A5-839C-140998DFCB9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97" y="11507"/>
                      <a:ext cx="900" cy="1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7" name="Line 43">
                      <a:extLst>
                        <a:ext uri="{FF2B5EF4-FFF2-40B4-BE49-F238E27FC236}">
                          <a16:creationId xmlns:a16="http://schemas.microsoft.com/office/drawing/2014/main" id="{3C01E438-633B-4D72-AB7A-44C5B1BC831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5752" y="10912"/>
                      <a:ext cx="5" cy="45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" name="Line 44">
                      <a:extLst>
                        <a:ext uri="{FF2B5EF4-FFF2-40B4-BE49-F238E27FC236}">
                          <a16:creationId xmlns:a16="http://schemas.microsoft.com/office/drawing/2014/main" id="{C5E4D3AD-5D86-4C9C-9AF5-267B3DE6581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5756" y="10059"/>
                      <a:ext cx="1" cy="695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29" name="Group 45">
                      <a:extLst>
                        <a:ext uri="{FF2B5EF4-FFF2-40B4-BE49-F238E27FC236}">
                          <a16:creationId xmlns:a16="http://schemas.microsoft.com/office/drawing/2014/main" id="{FF3D97E9-C08B-4D86-910F-B000D479984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757" y="10642"/>
                      <a:ext cx="540" cy="113"/>
                      <a:chOff x="5757" y="10642"/>
                      <a:chExt cx="540" cy="113"/>
                    </a:xfrm>
                  </p:grpSpPr>
                  <p:sp>
                    <p:nvSpPr>
                      <p:cNvPr id="30" name="Line 46">
                        <a:extLst>
                          <a:ext uri="{FF2B5EF4-FFF2-40B4-BE49-F238E27FC236}">
                            <a16:creationId xmlns:a16="http://schemas.microsoft.com/office/drawing/2014/main" id="{3CF0383B-FBE1-4536-89A4-483FFE98542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57" y="10754"/>
                        <a:ext cx="540" cy="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" name="Line 47">
                        <a:extLst>
                          <a:ext uri="{FF2B5EF4-FFF2-40B4-BE49-F238E27FC236}">
                            <a16:creationId xmlns:a16="http://schemas.microsoft.com/office/drawing/2014/main" id="{D3B23005-43CD-4639-B769-DDB91C7DDCA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931" y="10642"/>
                        <a:ext cx="364" cy="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  <p:sp>
              <p:nvSpPr>
                <p:cNvPr id="17" name="Line 48">
                  <a:extLst>
                    <a:ext uri="{FF2B5EF4-FFF2-40B4-BE49-F238E27FC236}">
                      <a16:creationId xmlns:a16="http://schemas.microsoft.com/office/drawing/2014/main" id="{361E429C-D619-42AB-A58B-B8877D1AA2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933" y="10222"/>
                  <a:ext cx="0" cy="42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9" name="Text Box 49">
              <a:extLst>
                <a:ext uri="{FF2B5EF4-FFF2-40B4-BE49-F238E27FC236}">
                  <a16:creationId xmlns:a16="http://schemas.microsoft.com/office/drawing/2014/main" id="{54B179A3-0A70-40C3-977A-A2768D11E6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" y="2079"/>
              <a:ext cx="213" cy="2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0" name="Text Box 50">
              <a:extLst>
                <a:ext uri="{FF2B5EF4-FFF2-40B4-BE49-F238E27FC236}">
                  <a16:creationId xmlns:a16="http://schemas.microsoft.com/office/drawing/2014/main" id="{94FC096F-99AD-4CE3-B10C-BF29F0694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" y="1718"/>
              <a:ext cx="213" cy="2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 sz="1600" dirty="0">
                <a:ea typeface="宋体" panose="02010600030101010101" pitchFamily="2" charset="-122"/>
              </a:endParaRPr>
            </a:p>
          </p:txBody>
        </p:sp>
        <p:sp>
          <p:nvSpPr>
            <p:cNvPr id="11" name="Text Box 51">
              <a:extLst>
                <a:ext uri="{FF2B5EF4-FFF2-40B4-BE49-F238E27FC236}">
                  <a16:creationId xmlns:a16="http://schemas.microsoft.com/office/drawing/2014/main" id="{020CC63A-9C31-4A91-BB7C-B3637CC60F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" y="1491"/>
              <a:ext cx="213" cy="1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2" name="Text Box 52">
              <a:extLst>
                <a:ext uri="{FF2B5EF4-FFF2-40B4-BE49-F238E27FC236}">
                  <a16:creationId xmlns:a16="http://schemas.microsoft.com/office/drawing/2014/main" id="{FF2DA164-CD41-4776-A346-E71BBC884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" y="1298"/>
              <a:ext cx="213" cy="1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3" name="Text Box 53">
              <a:extLst>
                <a:ext uri="{FF2B5EF4-FFF2-40B4-BE49-F238E27FC236}">
                  <a16:creationId xmlns:a16="http://schemas.microsoft.com/office/drawing/2014/main" id="{81AC0415-C60A-44BE-B246-5CF117EE06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7" y="1162"/>
              <a:ext cx="182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sz="1600">
                <a:ea typeface="宋体" panose="02010600030101010101" pitchFamily="2" charset="-122"/>
              </a:endParaRPr>
            </a:p>
          </p:txBody>
        </p:sp>
      </p:grpSp>
      <p:grpSp>
        <p:nvGrpSpPr>
          <p:cNvPr id="57" name="Group 54">
            <a:extLst>
              <a:ext uri="{FF2B5EF4-FFF2-40B4-BE49-F238E27FC236}">
                <a16:creationId xmlns:a16="http://schemas.microsoft.com/office/drawing/2014/main" id="{D2635621-E51A-4FB7-BBFB-8AD32A0BEE0D}"/>
              </a:ext>
            </a:extLst>
          </p:cNvPr>
          <p:cNvGrpSpPr>
            <a:grpSpLocks/>
          </p:cNvGrpSpPr>
          <p:nvPr/>
        </p:nvGrpSpPr>
        <p:grpSpPr bwMode="auto">
          <a:xfrm>
            <a:off x="1665310" y="2428347"/>
            <a:ext cx="3474555" cy="1621357"/>
            <a:chOff x="1977" y="9750"/>
            <a:chExt cx="3190" cy="1405"/>
          </a:xfrm>
        </p:grpSpPr>
        <p:sp>
          <p:nvSpPr>
            <p:cNvPr id="58" name="Text Box 55">
              <a:extLst>
                <a:ext uri="{FF2B5EF4-FFF2-40B4-BE49-F238E27FC236}">
                  <a16:creationId xmlns:a16="http://schemas.microsoft.com/office/drawing/2014/main" id="{54BD4A36-3750-4447-8054-CA8F0736D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4" y="9860"/>
              <a:ext cx="249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1600">
                <a:ea typeface="宋体" panose="02010600030101010101" pitchFamily="2" charset="-122"/>
              </a:endParaRPr>
            </a:p>
          </p:txBody>
        </p:sp>
        <p:grpSp>
          <p:nvGrpSpPr>
            <p:cNvPr id="59" name="Group 56">
              <a:extLst>
                <a:ext uri="{FF2B5EF4-FFF2-40B4-BE49-F238E27FC236}">
                  <a16:creationId xmlns:a16="http://schemas.microsoft.com/office/drawing/2014/main" id="{A1AAD0AC-D5DC-494A-AF65-0A670B7C9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7" y="9750"/>
              <a:ext cx="3190" cy="1405"/>
              <a:chOff x="1977" y="9750"/>
              <a:chExt cx="3190" cy="1405"/>
            </a:xfrm>
          </p:grpSpPr>
          <p:sp>
            <p:nvSpPr>
              <p:cNvPr id="60" name="Text Box 57">
                <a:extLst>
                  <a:ext uri="{FF2B5EF4-FFF2-40B4-BE49-F238E27FC236}">
                    <a16:creationId xmlns:a16="http://schemas.microsoft.com/office/drawing/2014/main" id="{8F10E140-B3D9-47BD-BB14-F28DE1A154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2" y="9862"/>
                <a:ext cx="249" cy="46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 eaLnBrk="1" hangingPunct="1"/>
                <a:r>
                  <a:rPr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endParaRPr lang="en-US" altLang="zh-CN" sz="1600">
                  <a:ea typeface="宋体" panose="02010600030101010101" pitchFamily="2" charset="-122"/>
                </a:endParaRPr>
              </a:p>
            </p:txBody>
          </p:sp>
          <p:grpSp>
            <p:nvGrpSpPr>
              <p:cNvPr id="61" name="Group 58">
                <a:extLst>
                  <a:ext uri="{FF2B5EF4-FFF2-40B4-BE49-F238E27FC236}">
                    <a16:creationId xmlns:a16="http://schemas.microsoft.com/office/drawing/2014/main" id="{2D0D1C30-DBF3-4299-868F-94C0591D71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7" y="9750"/>
                <a:ext cx="3190" cy="1405"/>
                <a:chOff x="1977" y="9750"/>
                <a:chExt cx="3190" cy="1405"/>
              </a:xfrm>
            </p:grpSpPr>
            <p:grpSp>
              <p:nvGrpSpPr>
                <p:cNvPr id="62" name="Group 59">
                  <a:extLst>
                    <a:ext uri="{FF2B5EF4-FFF2-40B4-BE49-F238E27FC236}">
                      <a16:creationId xmlns:a16="http://schemas.microsoft.com/office/drawing/2014/main" id="{E8A183E8-66D3-4C74-BA60-940C655D06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44" y="10472"/>
                  <a:ext cx="1006" cy="482"/>
                  <a:chOff x="2344" y="10472"/>
                  <a:chExt cx="1006" cy="482"/>
                </a:xfrm>
              </p:grpSpPr>
              <p:sp>
                <p:nvSpPr>
                  <p:cNvPr id="114" name="Text Box 60">
                    <a:extLst>
                      <a:ext uri="{FF2B5EF4-FFF2-40B4-BE49-F238E27FC236}">
                        <a16:creationId xmlns:a16="http://schemas.microsoft.com/office/drawing/2014/main" id="{91826F12-D559-4FBD-9AF8-092AF6A0627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1" y="10486"/>
                    <a:ext cx="249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 eaLnBrk="1" hangingPunct="1"/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S</a:t>
                    </a:r>
                    <a:endParaRPr lang="en-US" altLang="zh-CN" sz="1600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5" name="Text Box 61">
                    <a:extLst>
                      <a:ext uri="{FF2B5EF4-FFF2-40B4-BE49-F238E27FC236}">
                        <a16:creationId xmlns:a16="http://schemas.microsoft.com/office/drawing/2014/main" id="{67390F55-C446-40F0-AA13-8E399FF340B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27" y="10472"/>
                    <a:ext cx="249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 eaLnBrk="1" hangingPunct="1"/>
                    <a:r>
                      <a:rPr lang="en-US" altLang="zh-CN" sz="160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Q</a:t>
                    </a:r>
                    <a:endParaRPr lang="en-US" altLang="zh-CN" sz="16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6" name="Text Box 62">
                    <a:extLst>
                      <a:ext uri="{FF2B5EF4-FFF2-40B4-BE49-F238E27FC236}">
                        <a16:creationId xmlns:a16="http://schemas.microsoft.com/office/drawing/2014/main" id="{3E56CC16-7357-48A2-9528-C4C9A2F0F14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44" y="10486"/>
                    <a:ext cx="249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 eaLnBrk="1" hangingPunct="1"/>
                    <a:r>
                      <a:rPr lang="en-US" altLang="zh-CN" sz="160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P</a:t>
                    </a:r>
                    <a:endParaRPr lang="en-US" altLang="zh-CN" sz="1600"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3" name="Group 63">
                  <a:extLst>
                    <a:ext uri="{FF2B5EF4-FFF2-40B4-BE49-F238E27FC236}">
                      <a16:creationId xmlns:a16="http://schemas.microsoft.com/office/drawing/2014/main" id="{6362A031-5E17-4B67-8DBA-274C55DF3C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7" y="9750"/>
                  <a:ext cx="3190" cy="1405"/>
                  <a:chOff x="1977" y="9750"/>
                  <a:chExt cx="3190" cy="1405"/>
                </a:xfrm>
              </p:grpSpPr>
              <p:sp>
                <p:nvSpPr>
                  <p:cNvPr id="64" name="Text Box 64">
                    <a:extLst>
                      <a:ext uri="{FF2B5EF4-FFF2-40B4-BE49-F238E27FC236}">
                        <a16:creationId xmlns:a16="http://schemas.microsoft.com/office/drawing/2014/main" id="{21AEC37D-0169-445C-8A38-B873926E349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3" y="10486"/>
                    <a:ext cx="249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 eaLnBrk="1" hangingPunct="1"/>
                    <a:r>
                      <a:rPr lang="en-US" altLang="zh-CN" sz="160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S</a:t>
                    </a:r>
                    <a:endParaRPr lang="en-US" altLang="zh-CN" sz="16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5" name="Text Box 65">
                    <a:extLst>
                      <a:ext uri="{FF2B5EF4-FFF2-40B4-BE49-F238E27FC236}">
                        <a16:creationId xmlns:a16="http://schemas.microsoft.com/office/drawing/2014/main" id="{FC7E2C97-465E-4C23-A8C0-CEEE2043BC2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71" y="10486"/>
                    <a:ext cx="249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 eaLnBrk="1" hangingPunct="1"/>
                    <a:r>
                      <a:rPr lang="en-US" altLang="zh-CN" sz="160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P</a:t>
                    </a:r>
                    <a:endParaRPr lang="en-US" altLang="zh-CN" sz="1600"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66" name="Group 66">
                    <a:extLst>
                      <a:ext uri="{FF2B5EF4-FFF2-40B4-BE49-F238E27FC236}">
                        <a16:creationId xmlns:a16="http://schemas.microsoft.com/office/drawing/2014/main" id="{0900A285-2B7C-4E90-BEA0-6D07E90A8FE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7" y="9750"/>
                    <a:ext cx="3190" cy="1405"/>
                    <a:chOff x="1977" y="9750"/>
                    <a:chExt cx="3190" cy="1405"/>
                  </a:xfrm>
                </p:grpSpPr>
                <p:grpSp>
                  <p:nvGrpSpPr>
                    <p:cNvPr id="67" name="Group 67">
                      <a:extLst>
                        <a:ext uri="{FF2B5EF4-FFF2-40B4-BE49-F238E27FC236}">
                          <a16:creationId xmlns:a16="http://schemas.microsoft.com/office/drawing/2014/main" id="{AAE2D308-A304-4034-8E98-20E7C8F11C2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347" y="9848"/>
                      <a:ext cx="1003" cy="468"/>
                      <a:chOff x="2347" y="9848"/>
                      <a:chExt cx="1003" cy="468"/>
                    </a:xfrm>
                  </p:grpSpPr>
                  <p:sp>
                    <p:nvSpPr>
                      <p:cNvPr id="111" name="Text Box 68">
                        <a:extLst>
                          <a:ext uri="{FF2B5EF4-FFF2-40B4-BE49-F238E27FC236}">
                            <a16:creationId xmlns:a16="http://schemas.microsoft.com/office/drawing/2014/main" id="{6AC99349-B70B-49D4-A069-7744C57ABC1B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727" y="9853"/>
                        <a:ext cx="249" cy="421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9pPr>
                      </a:lstStyle>
                      <a:p>
                        <a:pPr algn="just" eaLnBrk="1" hangingPunct="1"/>
                        <a:r>
                          <a:rPr lang="en-US" altLang="zh-CN" sz="16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Q</a:t>
                        </a:r>
                        <a:endParaRPr lang="en-US" altLang="zh-CN" sz="1600" dirty="0"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12" name="Text Box 69">
                        <a:extLst>
                          <a:ext uri="{FF2B5EF4-FFF2-40B4-BE49-F238E27FC236}">
                            <a16:creationId xmlns:a16="http://schemas.microsoft.com/office/drawing/2014/main" id="{5F1963B9-30AA-403F-A175-1A93D3F36C40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101" y="9848"/>
                        <a:ext cx="249" cy="46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9pPr>
                      </a:lstStyle>
                      <a:p>
                        <a:pPr algn="just" eaLnBrk="1" hangingPunct="1"/>
                        <a:r>
                          <a:rPr lang="en-US" altLang="zh-CN" sz="16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R</a:t>
                        </a:r>
                        <a:endParaRPr lang="en-US" altLang="zh-CN" sz="1600" dirty="0"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13" name="Text Box 70">
                        <a:extLst>
                          <a:ext uri="{FF2B5EF4-FFF2-40B4-BE49-F238E27FC236}">
                            <a16:creationId xmlns:a16="http://schemas.microsoft.com/office/drawing/2014/main" id="{0ED4B0FA-4FC4-4C56-BE1A-84C5982CCD9C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347" y="9854"/>
                        <a:ext cx="256" cy="364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9pPr>
                      </a:lstStyle>
                      <a:p>
                        <a:pPr algn="just" eaLnBrk="1" hangingPunct="1"/>
                        <a:r>
                          <a:rPr lang="en-US" altLang="zh-CN" sz="16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P</a:t>
                        </a:r>
                        <a:endParaRPr lang="en-US" altLang="zh-CN" sz="1600" dirty="0"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68" name="Group 71">
                      <a:extLst>
                        <a:ext uri="{FF2B5EF4-FFF2-40B4-BE49-F238E27FC236}">
                          <a16:creationId xmlns:a16="http://schemas.microsoft.com/office/drawing/2014/main" id="{0ACB0571-9AC9-48D0-A494-5E6330E1C0D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77" y="9750"/>
                      <a:ext cx="3190" cy="1405"/>
                      <a:chOff x="1977" y="9750"/>
                      <a:chExt cx="3190" cy="1405"/>
                    </a:xfrm>
                  </p:grpSpPr>
                  <p:sp>
                    <p:nvSpPr>
                      <p:cNvPr id="69" name="Line 72">
                        <a:extLst>
                          <a:ext uri="{FF2B5EF4-FFF2-40B4-BE49-F238E27FC236}">
                            <a16:creationId xmlns:a16="http://schemas.microsoft.com/office/drawing/2014/main" id="{01BD60B0-CD43-4F8C-A7BF-529FCC4DD3E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80" y="11153"/>
                        <a:ext cx="1611" cy="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70" name="Line 73">
                        <a:extLst>
                          <a:ext uri="{FF2B5EF4-FFF2-40B4-BE49-F238E27FC236}">
                            <a16:creationId xmlns:a16="http://schemas.microsoft.com/office/drawing/2014/main" id="{F5C4C008-EEA8-4A31-B436-1E4BDA5E7C0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5091" y="10218"/>
                        <a:ext cx="2" cy="378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71" name="Line 74">
                        <a:extLst>
                          <a:ext uri="{FF2B5EF4-FFF2-40B4-BE49-F238E27FC236}">
                            <a16:creationId xmlns:a16="http://schemas.microsoft.com/office/drawing/2014/main" id="{EDFD71F2-6EE6-46C7-9761-7D2147A18AF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998" y="9905"/>
                        <a:ext cx="23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73" name="Line 76">
                        <a:extLst>
                          <a:ext uri="{FF2B5EF4-FFF2-40B4-BE49-F238E27FC236}">
                            <a16:creationId xmlns:a16="http://schemas.microsoft.com/office/drawing/2014/main" id="{516B7F59-3E5C-4EE4-A6A9-33B52DB0FF0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226" y="10374"/>
                        <a:ext cx="124" cy="15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74" name="Line 77">
                        <a:extLst>
                          <a:ext uri="{FF2B5EF4-FFF2-40B4-BE49-F238E27FC236}">
                            <a16:creationId xmlns:a16="http://schemas.microsoft.com/office/drawing/2014/main" id="{053CEAFF-9616-4828-9F63-BA572BCFA83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225" y="9750"/>
                        <a:ext cx="124" cy="15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75" name="Group 78">
                        <a:extLst>
                          <a:ext uri="{FF2B5EF4-FFF2-40B4-BE49-F238E27FC236}">
                            <a16:creationId xmlns:a16="http://schemas.microsoft.com/office/drawing/2014/main" id="{339569B3-0FCC-47AA-A03D-BCEF65E4457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29" y="9750"/>
                        <a:ext cx="746" cy="781"/>
                        <a:chOff x="2157" y="9750"/>
                        <a:chExt cx="1079" cy="781"/>
                      </a:xfrm>
                    </p:grpSpPr>
                    <p:sp>
                      <p:nvSpPr>
                        <p:cNvPr id="102" name="Line 79">
                          <a:extLst>
                            <a:ext uri="{FF2B5EF4-FFF2-40B4-BE49-F238E27FC236}">
                              <a16:creationId xmlns:a16="http://schemas.microsoft.com/office/drawing/2014/main" id="{AF43C86F-9352-4E34-BB82-1D1096E890F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160" y="9905"/>
                          <a:ext cx="341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3" name="Line 80">
                          <a:extLst>
                            <a:ext uri="{FF2B5EF4-FFF2-40B4-BE49-F238E27FC236}">
                              <a16:creationId xmlns:a16="http://schemas.microsoft.com/office/drawing/2014/main" id="{4EFA6A40-5D6C-4147-985A-66FE9C61731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512" y="9750"/>
                          <a:ext cx="179" cy="15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4" name="Line 81">
                          <a:extLst>
                            <a:ext uri="{FF2B5EF4-FFF2-40B4-BE49-F238E27FC236}">
                              <a16:creationId xmlns:a16="http://schemas.microsoft.com/office/drawing/2014/main" id="{D2953F53-7256-4C1D-8467-4159EAC60DB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735" y="9905"/>
                          <a:ext cx="324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5" name="Line 82">
                          <a:extLst>
                            <a:ext uri="{FF2B5EF4-FFF2-40B4-BE49-F238E27FC236}">
                              <a16:creationId xmlns:a16="http://schemas.microsoft.com/office/drawing/2014/main" id="{9716E91F-48F4-43AC-A0C2-08CE5CDAF6F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157" y="10530"/>
                          <a:ext cx="360" cy="1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6" name="Line 83">
                          <a:extLst>
                            <a:ext uri="{FF2B5EF4-FFF2-40B4-BE49-F238E27FC236}">
                              <a16:creationId xmlns:a16="http://schemas.microsoft.com/office/drawing/2014/main" id="{99FA4825-2AE4-499A-9C47-13864CBE261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692" y="10530"/>
                          <a:ext cx="365" cy="1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7" name="Line 84">
                          <a:extLst>
                            <a:ext uri="{FF2B5EF4-FFF2-40B4-BE49-F238E27FC236}">
                              <a16:creationId xmlns:a16="http://schemas.microsoft.com/office/drawing/2014/main" id="{5036822A-A16C-4FB7-B103-7638E74EF99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517" y="10374"/>
                          <a:ext cx="179" cy="15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8" name="Line 85">
                          <a:extLst>
                            <a:ext uri="{FF2B5EF4-FFF2-40B4-BE49-F238E27FC236}">
                              <a16:creationId xmlns:a16="http://schemas.microsoft.com/office/drawing/2014/main" id="{17D5879B-F8AA-41A6-BDDB-FD9C44A346D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057" y="10374"/>
                          <a:ext cx="179" cy="15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9" name="Line 86">
                          <a:extLst>
                            <a:ext uri="{FF2B5EF4-FFF2-40B4-BE49-F238E27FC236}">
                              <a16:creationId xmlns:a16="http://schemas.microsoft.com/office/drawing/2014/main" id="{8F440EE1-B5B0-473E-83B0-A1CCBEF2C15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057" y="9750"/>
                          <a:ext cx="179" cy="15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10" name="Line 87">
                          <a:extLst>
                            <a:ext uri="{FF2B5EF4-FFF2-40B4-BE49-F238E27FC236}">
                              <a16:creationId xmlns:a16="http://schemas.microsoft.com/office/drawing/2014/main" id="{4205BA2D-4BDA-41FE-BF94-F7E0F44343C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157" y="9905"/>
                          <a:ext cx="0" cy="625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76" name="Line 88">
                        <a:extLst>
                          <a:ext uri="{FF2B5EF4-FFF2-40B4-BE49-F238E27FC236}">
                            <a16:creationId xmlns:a16="http://schemas.microsoft.com/office/drawing/2014/main" id="{41D84399-48B5-4CE6-9A16-86A83B04944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980" y="10218"/>
                        <a:ext cx="249" cy="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77" name="Line 89">
                        <a:extLst>
                          <a:ext uri="{FF2B5EF4-FFF2-40B4-BE49-F238E27FC236}">
                            <a16:creationId xmlns:a16="http://schemas.microsoft.com/office/drawing/2014/main" id="{03959453-0EE3-4AF5-AB75-4E421130878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980" y="11153"/>
                        <a:ext cx="1437" cy="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78" name="Group 90">
                        <a:extLst>
                          <a:ext uri="{FF2B5EF4-FFF2-40B4-BE49-F238E27FC236}">
                            <a16:creationId xmlns:a16="http://schemas.microsoft.com/office/drawing/2014/main" id="{23D50DA5-703D-4670-A25F-4F9A0207B46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351" y="9906"/>
                        <a:ext cx="499" cy="625"/>
                        <a:chOff x="3776" y="9906"/>
                        <a:chExt cx="721" cy="625"/>
                      </a:xfrm>
                    </p:grpSpPr>
                    <p:sp>
                      <p:nvSpPr>
                        <p:cNvPr id="98" name="Line 91">
                          <a:extLst>
                            <a:ext uri="{FF2B5EF4-FFF2-40B4-BE49-F238E27FC236}">
                              <a16:creationId xmlns:a16="http://schemas.microsoft.com/office/drawing/2014/main" id="{D34E8288-CBD3-4E49-B977-AF35B92FDCF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77" y="9906"/>
                          <a:ext cx="362" cy="1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99" name="Line 92">
                          <a:extLst>
                            <a:ext uri="{FF2B5EF4-FFF2-40B4-BE49-F238E27FC236}">
                              <a16:creationId xmlns:a16="http://schemas.microsoft.com/office/drawing/2014/main" id="{311E8A3C-BC3E-43AC-A651-1322E1828BE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76" y="10529"/>
                          <a:ext cx="361" cy="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0" name="Line 93">
                          <a:extLst>
                            <a:ext uri="{FF2B5EF4-FFF2-40B4-BE49-F238E27FC236}">
                              <a16:creationId xmlns:a16="http://schemas.microsoft.com/office/drawing/2014/main" id="{06FE7CF7-E8CF-49E8-9123-C9CEB122C78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137" y="9906"/>
                          <a:ext cx="0" cy="62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1" name="Line 94">
                          <a:extLst>
                            <a:ext uri="{FF2B5EF4-FFF2-40B4-BE49-F238E27FC236}">
                              <a16:creationId xmlns:a16="http://schemas.microsoft.com/office/drawing/2014/main" id="{2FB680A5-8F00-4D0F-86A8-2D102C410A5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137" y="10218"/>
                          <a:ext cx="360" cy="1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grpSp>
                    <p:nvGrpSpPr>
                      <p:cNvPr id="79" name="Group 95">
                        <a:extLst>
                          <a:ext uri="{FF2B5EF4-FFF2-40B4-BE49-F238E27FC236}">
                            <a16:creationId xmlns:a16="http://schemas.microsoft.com/office/drawing/2014/main" id="{E10A9B79-15CD-4607-A723-B52EEC098E7B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848" y="9750"/>
                        <a:ext cx="746" cy="781"/>
                        <a:chOff x="2157" y="9750"/>
                        <a:chExt cx="1079" cy="781"/>
                      </a:xfrm>
                    </p:grpSpPr>
                    <p:sp>
                      <p:nvSpPr>
                        <p:cNvPr id="89" name="Line 96">
                          <a:extLst>
                            <a:ext uri="{FF2B5EF4-FFF2-40B4-BE49-F238E27FC236}">
                              <a16:creationId xmlns:a16="http://schemas.microsoft.com/office/drawing/2014/main" id="{AC986A54-C72E-4464-9AC9-76651B9F286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157" y="9906"/>
                          <a:ext cx="326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90" name="Line 97">
                          <a:extLst>
                            <a:ext uri="{FF2B5EF4-FFF2-40B4-BE49-F238E27FC236}">
                              <a16:creationId xmlns:a16="http://schemas.microsoft.com/office/drawing/2014/main" id="{224E2279-BA50-4D48-AE47-AA17DC54919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518" y="9750"/>
                          <a:ext cx="179" cy="15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91" name="Line 98">
                          <a:extLst>
                            <a:ext uri="{FF2B5EF4-FFF2-40B4-BE49-F238E27FC236}">
                              <a16:creationId xmlns:a16="http://schemas.microsoft.com/office/drawing/2014/main" id="{CFAE183B-4412-4378-A101-A23D07F5F5F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697" y="9906"/>
                          <a:ext cx="360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92" name="Line 99">
                          <a:extLst>
                            <a:ext uri="{FF2B5EF4-FFF2-40B4-BE49-F238E27FC236}">
                              <a16:creationId xmlns:a16="http://schemas.microsoft.com/office/drawing/2014/main" id="{93DE29C8-DCAC-41C2-8BCC-381AE24B5C3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157" y="10530"/>
                          <a:ext cx="360" cy="1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93" name="Line 100">
                          <a:extLst>
                            <a:ext uri="{FF2B5EF4-FFF2-40B4-BE49-F238E27FC236}">
                              <a16:creationId xmlns:a16="http://schemas.microsoft.com/office/drawing/2014/main" id="{CC3CE68C-3B6A-4A91-B0AF-2C4F61F9E1B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661" y="10528"/>
                          <a:ext cx="396" cy="3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94" name="Line 101">
                          <a:extLst>
                            <a:ext uri="{FF2B5EF4-FFF2-40B4-BE49-F238E27FC236}">
                              <a16:creationId xmlns:a16="http://schemas.microsoft.com/office/drawing/2014/main" id="{B2387956-8D56-4C06-BD4E-8A898E738EE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517" y="10374"/>
                          <a:ext cx="179" cy="15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95" name="Line 102">
                          <a:extLst>
                            <a:ext uri="{FF2B5EF4-FFF2-40B4-BE49-F238E27FC236}">
                              <a16:creationId xmlns:a16="http://schemas.microsoft.com/office/drawing/2014/main" id="{1FC7A37E-E60E-444A-ABEB-3BC7D30544D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057" y="10374"/>
                          <a:ext cx="179" cy="15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96" name="Line 103">
                          <a:extLst>
                            <a:ext uri="{FF2B5EF4-FFF2-40B4-BE49-F238E27FC236}">
                              <a16:creationId xmlns:a16="http://schemas.microsoft.com/office/drawing/2014/main" id="{3F5D8CC1-B867-410B-8B5D-0C1B7D1D05D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057" y="9750"/>
                          <a:ext cx="179" cy="15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97" name="Line 104">
                          <a:extLst>
                            <a:ext uri="{FF2B5EF4-FFF2-40B4-BE49-F238E27FC236}">
                              <a16:creationId xmlns:a16="http://schemas.microsoft.com/office/drawing/2014/main" id="{087CCF35-3C90-49D6-B5E2-F38E09DFBD7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157" y="9906"/>
                          <a:ext cx="0" cy="62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grpSp>
                    <p:nvGrpSpPr>
                      <p:cNvPr id="80" name="Group 105">
                        <a:extLst>
                          <a:ext uri="{FF2B5EF4-FFF2-40B4-BE49-F238E27FC236}">
                            <a16:creationId xmlns:a16="http://schemas.microsoft.com/office/drawing/2014/main" id="{7552EF51-F195-4DD5-9B36-6279C4C8423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591" y="9906"/>
                        <a:ext cx="503" cy="625"/>
                        <a:chOff x="3770" y="9906"/>
                        <a:chExt cx="727" cy="625"/>
                      </a:xfrm>
                    </p:grpSpPr>
                    <p:sp>
                      <p:nvSpPr>
                        <p:cNvPr id="85" name="Line 106">
                          <a:extLst>
                            <a:ext uri="{FF2B5EF4-FFF2-40B4-BE49-F238E27FC236}">
                              <a16:creationId xmlns:a16="http://schemas.microsoft.com/office/drawing/2014/main" id="{C5EC90D4-6F6E-467C-9E88-B3254D7465B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83" y="9906"/>
                          <a:ext cx="357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86" name="Line 107">
                          <a:extLst>
                            <a:ext uri="{FF2B5EF4-FFF2-40B4-BE49-F238E27FC236}">
                              <a16:creationId xmlns:a16="http://schemas.microsoft.com/office/drawing/2014/main" id="{C86D8C63-8EEE-493E-9704-532279B9C78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70" y="10530"/>
                          <a:ext cx="367" cy="1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87" name="Line 108">
                          <a:extLst>
                            <a:ext uri="{FF2B5EF4-FFF2-40B4-BE49-F238E27FC236}">
                              <a16:creationId xmlns:a16="http://schemas.microsoft.com/office/drawing/2014/main" id="{66DA66D1-B684-422B-8F48-C5537E6BE19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137" y="9906"/>
                          <a:ext cx="0" cy="62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88" name="Line 109">
                          <a:extLst>
                            <a:ext uri="{FF2B5EF4-FFF2-40B4-BE49-F238E27FC236}">
                              <a16:creationId xmlns:a16="http://schemas.microsoft.com/office/drawing/2014/main" id="{32FA16D1-46DA-473B-8978-0232D56C543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137" y="10218"/>
                          <a:ext cx="360" cy="1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81" name="AutoShape 110">
                        <a:extLst>
                          <a:ext uri="{FF2B5EF4-FFF2-40B4-BE49-F238E27FC236}">
                            <a16:creationId xmlns:a16="http://schemas.microsoft.com/office/drawing/2014/main" id="{7C8D92BD-FF6E-45C2-AF64-A3DAFA1957C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11" y="10597"/>
                        <a:ext cx="156" cy="150"/>
                      </a:xfrm>
                      <a:prstGeom prst="flowChartSummingJunction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黑体" panose="02010609060101010101" pitchFamily="49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 sz="3200">
                          <a:solidFill>
                            <a:srgbClr val="FF0000"/>
                          </a:solidFill>
                          <a:latin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82" name="Line 111">
                        <a:extLst>
                          <a:ext uri="{FF2B5EF4-FFF2-40B4-BE49-F238E27FC236}">
                            <a16:creationId xmlns:a16="http://schemas.microsoft.com/office/drawing/2014/main" id="{B3BEBF10-FA08-4690-9C17-CB04C9236E0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091" y="10747"/>
                        <a:ext cx="2" cy="407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83" name="Line 112">
                        <a:extLst>
                          <a:ext uri="{FF2B5EF4-FFF2-40B4-BE49-F238E27FC236}">
                            <a16:creationId xmlns:a16="http://schemas.microsoft.com/office/drawing/2014/main" id="{13C3EC52-22E0-4215-8A26-6A87E3F14CE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977" y="10218"/>
                        <a:ext cx="1" cy="93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</p:grpSp>
        </p:grpSp>
      </p:grpSp>
      <p:sp>
        <p:nvSpPr>
          <p:cNvPr id="117" name="Rectangle 114">
            <a:extLst>
              <a:ext uri="{FF2B5EF4-FFF2-40B4-BE49-F238E27FC236}">
                <a16:creationId xmlns:a16="http://schemas.microsoft.com/office/drawing/2014/main" id="{98888FC7-50D9-4B0C-8540-93EE1DD748B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82136" y="4538976"/>
            <a:ext cx="8351838" cy="1525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解：</a:t>
            </a:r>
            <a:r>
              <a:rPr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</a:rPr>
              <a:t>上述电路图可描述为：</a:t>
            </a:r>
          </a:p>
          <a:p>
            <a:pPr eaLnBrk="1" hangingPunct="1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</a:rPr>
              <a:t>((P∧Q∧R)∨(P∧Q∧S))∧((P∧R)∨(P∧S))</a:t>
            </a:r>
            <a:endParaRPr lang="zh-CN" altLang="en-US" sz="2800" b="1" dirty="0">
              <a:solidFill>
                <a:srgbClr val="000000"/>
              </a:solidFill>
              <a:latin typeface="黑体" panose="02010609060101010101" pitchFamily="49" charset="-122"/>
            </a:endParaRPr>
          </a:p>
          <a:p>
            <a:pPr eaLnBrk="1" hangingPunct="1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</a:rPr>
              <a:t>((P∧Q∧R)∨(P∨Q∨S))∧(P∧S∧T)</a:t>
            </a:r>
            <a:endParaRPr lang="zh-CN" altLang="en-US" sz="2800" b="1" dirty="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sp>
        <p:nvSpPr>
          <p:cNvPr id="88112" name="Line 92">
            <a:extLst>
              <a:ext uri="{FF2B5EF4-FFF2-40B4-BE49-F238E27FC236}">
                <a16:creationId xmlns:a16="http://schemas.microsoft.com/office/drawing/2014/main" id="{B3790789-C557-F566-6556-9BAD649AD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6773" y="3329411"/>
            <a:ext cx="272132" cy="230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15A3D01-8C37-FBA4-D5B4-17581A0A93D2}"/>
              </a:ext>
            </a:extLst>
          </p:cNvPr>
          <p:cNvCxnSpPr>
            <a:cxnSpLocks/>
          </p:cNvCxnSpPr>
          <p:nvPr/>
        </p:nvCxnSpPr>
        <p:spPr>
          <a:xfrm>
            <a:off x="3302342" y="3982807"/>
            <a:ext cx="0" cy="1468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065" name="直接连接符 88064">
            <a:extLst>
              <a:ext uri="{FF2B5EF4-FFF2-40B4-BE49-F238E27FC236}">
                <a16:creationId xmlns:a16="http://schemas.microsoft.com/office/drawing/2014/main" id="{BD6F4ED4-432E-19E7-A557-686E4D249E57}"/>
              </a:ext>
            </a:extLst>
          </p:cNvPr>
          <p:cNvCxnSpPr>
            <a:cxnSpLocks/>
          </p:cNvCxnSpPr>
          <p:nvPr/>
        </p:nvCxnSpPr>
        <p:spPr>
          <a:xfrm>
            <a:off x="3233762" y="3907631"/>
            <a:ext cx="0" cy="2857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070" name="流程图: 接点 88069">
            <a:extLst>
              <a:ext uri="{FF2B5EF4-FFF2-40B4-BE49-F238E27FC236}">
                <a16:creationId xmlns:a16="http://schemas.microsoft.com/office/drawing/2014/main" id="{5B1D764E-4AD9-18A5-79BD-B285E9898A3B}"/>
              </a:ext>
            </a:extLst>
          </p:cNvPr>
          <p:cNvSpPr/>
          <p:nvPr/>
        </p:nvSpPr>
        <p:spPr>
          <a:xfrm>
            <a:off x="6088794" y="2410501"/>
            <a:ext cx="45719" cy="4571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071" name="流程图: 接点 88070">
            <a:extLst>
              <a:ext uri="{FF2B5EF4-FFF2-40B4-BE49-F238E27FC236}">
                <a16:creationId xmlns:a16="http://schemas.microsoft.com/office/drawing/2014/main" id="{22E79718-39A2-FB53-1D7F-D7DE727EC4C3}"/>
              </a:ext>
            </a:extLst>
          </p:cNvPr>
          <p:cNvSpPr/>
          <p:nvPr/>
        </p:nvSpPr>
        <p:spPr>
          <a:xfrm>
            <a:off x="5911024" y="2238200"/>
            <a:ext cx="45719" cy="4571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072" name="流程图: 接点 88071">
            <a:extLst>
              <a:ext uri="{FF2B5EF4-FFF2-40B4-BE49-F238E27FC236}">
                <a16:creationId xmlns:a16="http://schemas.microsoft.com/office/drawing/2014/main" id="{0F6E7372-0657-82EC-E71C-F8F7A93DD5EF}"/>
              </a:ext>
            </a:extLst>
          </p:cNvPr>
          <p:cNvSpPr/>
          <p:nvPr/>
        </p:nvSpPr>
        <p:spPr>
          <a:xfrm>
            <a:off x="5727462" y="2237878"/>
            <a:ext cx="45719" cy="4571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073" name="流程图: 接点 88072">
            <a:extLst>
              <a:ext uri="{FF2B5EF4-FFF2-40B4-BE49-F238E27FC236}">
                <a16:creationId xmlns:a16="http://schemas.microsoft.com/office/drawing/2014/main" id="{00B2799A-EFCB-C02B-DA3A-6970D90878F8}"/>
              </a:ext>
            </a:extLst>
          </p:cNvPr>
          <p:cNvSpPr/>
          <p:nvPr/>
        </p:nvSpPr>
        <p:spPr>
          <a:xfrm>
            <a:off x="5911024" y="3182965"/>
            <a:ext cx="45719" cy="4571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076" name="文本框 88075">
            <a:extLst>
              <a:ext uri="{FF2B5EF4-FFF2-40B4-BE49-F238E27FC236}">
                <a16:creationId xmlns:a16="http://schemas.microsoft.com/office/drawing/2014/main" id="{18A5A00A-E11A-BE11-E14A-F60BE1666968}"/>
              </a:ext>
            </a:extLst>
          </p:cNvPr>
          <p:cNvSpPr txBox="1"/>
          <p:nvPr/>
        </p:nvSpPr>
        <p:spPr>
          <a:xfrm>
            <a:off x="6577246" y="3476893"/>
            <a:ext cx="231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&amp;</a:t>
            </a:r>
          </a:p>
          <a:p>
            <a:endParaRPr lang="zh-CN" altLang="en-US" sz="1600" dirty="0"/>
          </a:p>
        </p:txBody>
      </p:sp>
      <p:sp>
        <p:nvSpPr>
          <p:cNvPr id="88077" name="文本框 88076">
            <a:extLst>
              <a:ext uri="{FF2B5EF4-FFF2-40B4-BE49-F238E27FC236}">
                <a16:creationId xmlns:a16="http://schemas.microsoft.com/office/drawing/2014/main" id="{944BA309-2512-46E7-8892-B1E32DAF44EA}"/>
              </a:ext>
            </a:extLst>
          </p:cNvPr>
          <p:cNvSpPr txBox="1"/>
          <p:nvPr/>
        </p:nvSpPr>
        <p:spPr>
          <a:xfrm>
            <a:off x="8387251" y="3026366"/>
            <a:ext cx="231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&amp;</a:t>
            </a:r>
          </a:p>
          <a:p>
            <a:endParaRPr lang="zh-CN" altLang="en-US" sz="1600" dirty="0"/>
          </a:p>
        </p:txBody>
      </p:sp>
      <p:sp>
        <p:nvSpPr>
          <p:cNvPr id="88078" name="文本框 88077">
            <a:extLst>
              <a:ext uri="{FF2B5EF4-FFF2-40B4-BE49-F238E27FC236}">
                <a16:creationId xmlns:a16="http://schemas.microsoft.com/office/drawing/2014/main" id="{A186D293-30C3-903C-15A0-6A1AA203911D}"/>
              </a:ext>
            </a:extLst>
          </p:cNvPr>
          <p:cNvSpPr txBox="1"/>
          <p:nvPr/>
        </p:nvSpPr>
        <p:spPr>
          <a:xfrm>
            <a:off x="6576699" y="2225468"/>
            <a:ext cx="231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&amp;</a:t>
            </a:r>
          </a:p>
          <a:p>
            <a:endParaRPr lang="zh-CN" altLang="en-US" sz="1600" dirty="0"/>
          </a:p>
        </p:txBody>
      </p:sp>
      <p:sp>
        <p:nvSpPr>
          <p:cNvPr id="88081" name="文本框 88080">
            <a:extLst>
              <a:ext uri="{FF2B5EF4-FFF2-40B4-BE49-F238E27FC236}">
                <a16:creationId xmlns:a16="http://schemas.microsoft.com/office/drawing/2014/main" id="{60198E64-FBD8-BEC3-7C56-D5C2EAAC29D6}"/>
              </a:ext>
            </a:extLst>
          </p:cNvPr>
          <p:cNvSpPr txBox="1"/>
          <p:nvPr/>
        </p:nvSpPr>
        <p:spPr>
          <a:xfrm>
            <a:off x="6571800" y="2825006"/>
            <a:ext cx="420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≥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600" dirty="0"/>
          </a:p>
        </p:txBody>
      </p:sp>
      <p:sp>
        <p:nvSpPr>
          <p:cNvPr id="88083" name="文本框 88082">
            <a:extLst>
              <a:ext uri="{FF2B5EF4-FFF2-40B4-BE49-F238E27FC236}">
                <a16:creationId xmlns:a16="http://schemas.microsoft.com/office/drawing/2014/main" id="{1DCE27AE-60E8-E1E9-F58B-3D2E6BF02870}"/>
              </a:ext>
            </a:extLst>
          </p:cNvPr>
          <p:cNvSpPr txBox="1"/>
          <p:nvPr/>
        </p:nvSpPr>
        <p:spPr>
          <a:xfrm>
            <a:off x="7477239" y="2601396"/>
            <a:ext cx="4588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≥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6666047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1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pic>
        <p:nvPicPr>
          <p:cNvPr id="4" name="图片 1">
            <a:extLst>
              <a:ext uri="{FF2B5EF4-FFF2-40B4-BE49-F238E27FC236}">
                <a16:creationId xmlns:a16="http://schemas.microsoft.com/office/drawing/2014/main" id="{F0F5A718-7D58-4CB0-A66E-86E6145D1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1734034"/>
            <a:ext cx="964531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内容占位符 80898">
            <a:extLst>
              <a:ext uri="{FF2B5EF4-FFF2-40B4-BE49-F238E27FC236}">
                <a16:creationId xmlns:a16="http://schemas.microsoft.com/office/drawing/2014/main" id="{BA33FDF0-FFE9-443D-82FF-CA327A21E8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25" y="4073249"/>
          <a:ext cx="71278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448160" imgH="942840" progId="PBrush">
                  <p:embed/>
                </p:oleObj>
              </mc:Choice>
              <mc:Fallback>
                <p:oleObj r:id="rId5" imgW="4448160" imgH="942840" progId="PBrush">
                  <p:embed/>
                  <p:pic>
                    <p:nvPicPr>
                      <p:cNvPr id="5" name="内容占位符 80898">
                        <a:extLst>
                          <a:ext uri="{FF2B5EF4-FFF2-40B4-BE49-F238E27FC236}">
                            <a16:creationId xmlns:a16="http://schemas.microsoft.com/office/drawing/2014/main" id="{BA33FDF0-FFE9-443D-82FF-CA327A21E825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4073249"/>
                        <a:ext cx="7127875" cy="9144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3587783"/>
      </p:ext>
    </p:extLst>
  </p:cSld>
  <p:clrMapOvr>
    <a:masterClrMapping/>
  </p:clrMapOvr>
  <p:transition spd="slow" advTm="0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3E74E6-33C0-431C-B254-E8087E68DED3}"/>
              </a:ext>
            </a:extLst>
          </p:cNvPr>
          <p:cNvSpPr txBox="1"/>
          <p:nvPr/>
        </p:nvSpPr>
        <p:spPr>
          <a:xfrm>
            <a:off x="1351722" y="1455738"/>
            <a:ext cx="96343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5</a:t>
            </a:r>
            <a:r>
              <a:rPr lang="zh-CN" altLang="en-US" sz="3600" dirty="0"/>
              <a:t>）分配律：</a:t>
            </a:r>
            <a:r>
              <a:rPr lang="en-US" altLang="zh-CN" sz="3600" dirty="0"/>
              <a:t> α</a:t>
            </a:r>
            <a:r>
              <a:rPr lang="en-US" altLang="zh-CN" sz="3600" dirty="0">
                <a:sym typeface="Symbol" panose="05050102010706020507" pitchFamily="18" charset="2"/>
              </a:rPr>
              <a:t>  (β  γ</a:t>
            </a:r>
            <a:r>
              <a:rPr lang="en-US" altLang="zh-CN" sz="3600" dirty="0"/>
              <a:t> </a:t>
            </a:r>
            <a:r>
              <a:rPr lang="en-US" altLang="zh-CN" sz="3600" dirty="0">
                <a:sym typeface="Symbol" panose="05050102010706020507" pitchFamily="18" charset="2"/>
              </a:rPr>
              <a:t>)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600" dirty="0"/>
              <a:t> </a:t>
            </a:r>
          </a:p>
          <a:p>
            <a:r>
              <a:rPr lang="en-US" altLang="zh-CN" sz="3600" dirty="0"/>
              <a:t>                         (α</a:t>
            </a:r>
            <a:r>
              <a:rPr lang="en-US" altLang="zh-CN" sz="3600" dirty="0">
                <a:sym typeface="Symbol" panose="05050102010706020507" pitchFamily="18" charset="2"/>
              </a:rPr>
              <a:t>  β)  </a:t>
            </a:r>
            <a:r>
              <a:rPr lang="en-US" altLang="zh-CN" sz="3600" dirty="0"/>
              <a:t>(α</a:t>
            </a:r>
            <a:r>
              <a:rPr lang="en-US" altLang="zh-CN" sz="3600" dirty="0">
                <a:sym typeface="Symbol" panose="05050102010706020507" pitchFamily="18" charset="2"/>
              </a:rPr>
              <a:t>  γ)    </a:t>
            </a:r>
            <a:r>
              <a:rPr lang="zh-CN" altLang="en-US" sz="3600" dirty="0">
                <a:sym typeface="Symbol" panose="05050102010706020507" pitchFamily="18" charset="2"/>
              </a:rPr>
              <a:t>对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zh-CN" altLang="en-US" sz="3600" dirty="0">
                <a:sym typeface="Symbol" panose="05050102010706020507" pitchFamily="18" charset="2"/>
              </a:rPr>
              <a:t>的分配</a:t>
            </a:r>
            <a:endParaRPr lang="en-US" altLang="zh-CN" sz="3600" dirty="0">
              <a:sym typeface="Symbol" panose="05050102010706020507" pitchFamily="18" charset="2"/>
            </a:endParaRPr>
          </a:p>
          <a:p>
            <a:r>
              <a:rPr lang="en-US" altLang="zh-CN" sz="3600" dirty="0"/>
              <a:t>                         </a:t>
            </a:r>
          </a:p>
          <a:p>
            <a:r>
              <a:rPr lang="en-US" altLang="zh-CN" sz="3600" dirty="0"/>
              <a:t>                          α</a:t>
            </a:r>
            <a:r>
              <a:rPr lang="en-US" altLang="zh-CN" sz="3600" dirty="0">
                <a:sym typeface="Symbol" panose="05050102010706020507" pitchFamily="18" charset="2"/>
              </a:rPr>
              <a:t>  (β  γ</a:t>
            </a:r>
            <a:r>
              <a:rPr lang="en-US" altLang="zh-CN" sz="3600" dirty="0"/>
              <a:t> </a:t>
            </a:r>
            <a:r>
              <a:rPr lang="en-US" altLang="zh-CN" sz="3600" dirty="0">
                <a:sym typeface="Symbol" panose="05050102010706020507" pitchFamily="18" charset="2"/>
              </a:rPr>
              <a:t>)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600" dirty="0"/>
              <a:t> </a:t>
            </a:r>
          </a:p>
          <a:p>
            <a:r>
              <a:rPr lang="en-US" altLang="zh-CN" sz="3600" dirty="0"/>
              <a:t>                         (α</a:t>
            </a:r>
            <a:r>
              <a:rPr lang="en-US" altLang="zh-CN" sz="3600" dirty="0">
                <a:sym typeface="Symbol" panose="05050102010706020507" pitchFamily="18" charset="2"/>
              </a:rPr>
              <a:t>  β) </a:t>
            </a:r>
            <a:r>
              <a:rPr lang="en-US" altLang="zh-CN" sz="3600" dirty="0"/>
              <a:t>(α</a:t>
            </a:r>
            <a:r>
              <a:rPr lang="en-US" altLang="zh-CN" sz="3600" dirty="0">
                <a:sym typeface="Symbol" panose="05050102010706020507" pitchFamily="18" charset="2"/>
              </a:rPr>
              <a:t>  γ)     </a:t>
            </a:r>
            <a:r>
              <a:rPr lang="zh-CN" altLang="en-US" sz="3600" dirty="0">
                <a:sym typeface="Symbol" panose="05050102010706020507" pitchFamily="18" charset="2"/>
              </a:rPr>
              <a:t>对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zh-CN" altLang="en-US" sz="3600" dirty="0">
                <a:sym typeface="Symbol" panose="05050102010706020507" pitchFamily="18" charset="2"/>
              </a:rPr>
              <a:t>的分配</a:t>
            </a:r>
            <a:endParaRPr lang="en-US" altLang="zh-CN" sz="3600" dirty="0">
              <a:sym typeface="Symbol" panose="05050102010706020507" pitchFamily="18" charset="2"/>
            </a:endParaRPr>
          </a:p>
          <a:p>
            <a:endParaRPr lang="zh-CN" altLang="en-US" sz="3600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CE6F31-C675-43A3-A8E7-8F3FFA61DD11}"/>
              </a:ext>
            </a:extLst>
          </p:cNvPr>
          <p:cNvSpPr txBox="1"/>
          <p:nvPr/>
        </p:nvSpPr>
        <p:spPr>
          <a:xfrm>
            <a:off x="1351721" y="4859562"/>
            <a:ext cx="84416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6</a:t>
            </a:r>
            <a:r>
              <a:rPr lang="zh-CN" altLang="en-US" sz="3600" dirty="0"/>
              <a:t>）德摩根律：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 </a:t>
            </a:r>
            <a:r>
              <a:rPr lang="en-US" altLang="zh-CN" sz="3600" dirty="0"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 β)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600" dirty="0"/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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sym typeface="Symbol" panose="05050102010706020507" pitchFamily="18" charset="2"/>
              </a:rPr>
              <a:t>β</a:t>
            </a:r>
          </a:p>
          <a:p>
            <a:r>
              <a:rPr lang="en-US" altLang="zh-CN" sz="3600" dirty="0">
                <a:sym typeface="Symbol" panose="05050102010706020507" pitchFamily="18" charset="2"/>
              </a:rPr>
              <a:t>                            </a:t>
            </a:r>
            <a:r>
              <a:rPr lang="en-US" altLang="zh-CN" sz="3600" dirty="0"/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 β)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600" dirty="0"/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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sym typeface="Symbol" panose="05050102010706020507" pitchFamily="18" charset="2"/>
              </a:rPr>
              <a:t>β</a:t>
            </a:r>
          </a:p>
          <a:p>
            <a:r>
              <a:rPr lang="en-US" altLang="zh-CN" sz="3600" dirty="0">
                <a:sym typeface="Symbol" panose="05050102010706020507" pitchFamily="18" charset="2"/>
              </a:rPr>
              <a:t>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076546084"/>
      </p:ext>
    </p:extLst>
  </p:cSld>
  <p:clrMapOvr>
    <a:masterClrMapping/>
  </p:clrMapOvr>
  <p:transition spd="slow" advTm="0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3E74E6-33C0-431C-B254-E8087E68DED3}"/>
              </a:ext>
            </a:extLst>
          </p:cNvPr>
          <p:cNvSpPr txBox="1"/>
          <p:nvPr/>
        </p:nvSpPr>
        <p:spPr>
          <a:xfrm>
            <a:off x="1351722" y="1455738"/>
            <a:ext cx="7657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）双重否定律：</a:t>
            </a:r>
            <a:r>
              <a:rPr lang="en-US" altLang="zh-CN" sz="3600" dirty="0"/>
              <a:t>α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（  ）</a:t>
            </a:r>
            <a:endParaRPr lang="zh-CN" altLang="en-US" sz="36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0F8E45-69C9-46E0-BB73-C19C19E5444E}"/>
              </a:ext>
            </a:extLst>
          </p:cNvPr>
          <p:cNvSpPr txBox="1"/>
          <p:nvPr/>
        </p:nvSpPr>
        <p:spPr>
          <a:xfrm>
            <a:off x="1351721" y="2446717"/>
            <a:ext cx="8441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2</a:t>
            </a:r>
            <a:r>
              <a:rPr lang="zh-CN" altLang="en-US" sz="3600" dirty="0"/>
              <a:t>）等幂律：</a:t>
            </a:r>
            <a:r>
              <a:rPr lang="en-US" altLang="zh-CN" sz="3600" dirty="0"/>
              <a:t>α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sym typeface="Symbol" panose="05050102010706020507" pitchFamily="18" charset="2"/>
              </a:rPr>
              <a:t></a:t>
            </a:r>
            <a:r>
              <a:rPr lang="en-US" altLang="zh-CN" sz="3600" dirty="0">
                <a:sym typeface="Symbol" panose="05050102010706020507" pitchFamily="18" charset="2"/>
              </a:rPr>
              <a:t>  α</a:t>
            </a:r>
            <a:r>
              <a:rPr lang="zh-CN" altLang="en-US" sz="3600" dirty="0">
                <a:sym typeface="Symbol" panose="05050102010706020507" pitchFamily="18" charset="2"/>
              </a:rPr>
              <a:t>，</a:t>
            </a:r>
            <a:r>
              <a:rPr lang="en-US" altLang="zh-CN" sz="3600" dirty="0"/>
              <a:t> α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>
                <a:sym typeface="Symbol" panose="05050102010706020507" pitchFamily="18" charset="2"/>
              </a:rPr>
              <a:t>αα</a:t>
            </a:r>
            <a:endParaRPr lang="zh-CN" altLang="en-US" sz="3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1E4841-9119-4A66-AF16-F7FBC693F7D6}"/>
              </a:ext>
            </a:extLst>
          </p:cNvPr>
          <p:cNvSpPr txBox="1"/>
          <p:nvPr/>
        </p:nvSpPr>
        <p:spPr>
          <a:xfrm>
            <a:off x="1351721" y="3437696"/>
            <a:ext cx="8441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3</a:t>
            </a:r>
            <a:r>
              <a:rPr lang="zh-CN" altLang="en-US" sz="3600" dirty="0"/>
              <a:t>）交换律：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 β</a:t>
            </a:r>
            <a:r>
              <a:rPr lang="en-US" altLang="zh-CN" sz="3600" dirty="0"/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sym typeface="Symbol" panose="05050102010706020507" pitchFamily="18" charset="2"/>
              </a:rPr>
              <a:t>β  α</a:t>
            </a:r>
          </a:p>
          <a:p>
            <a:r>
              <a:rPr lang="en-US" altLang="zh-CN" sz="3600" dirty="0">
                <a:sym typeface="Symbol" panose="05050102010706020507" pitchFamily="18" charset="2"/>
              </a:rPr>
              <a:t>                        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 β</a:t>
            </a:r>
            <a:r>
              <a:rPr lang="en-US" altLang="zh-CN" sz="3600" dirty="0"/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sym typeface="Symbol" panose="05050102010706020507" pitchFamily="18" charset="2"/>
              </a:rPr>
              <a:t>β  α</a:t>
            </a:r>
            <a:endParaRPr lang="zh-CN" altLang="en-US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CE6F31-C675-43A3-A8E7-8F3FFA61DD11}"/>
              </a:ext>
            </a:extLst>
          </p:cNvPr>
          <p:cNvSpPr txBox="1"/>
          <p:nvPr/>
        </p:nvSpPr>
        <p:spPr>
          <a:xfrm>
            <a:off x="1351721" y="4859562"/>
            <a:ext cx="84416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4</a:t>
            </a:r>
            <a:r>
              <a:rPr lang="zh-CN" altLang="en-US" sz="3600" dirty="0"/>
              <a:t>）结合律：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 (β  γ</a:t>
            </a:r>
            <a:r>
              <a:rPr lang="en-US" altLang="zh-CN" sz="3600" dirty="0"/>
              <a:t> </a:t>
            </a:r>
            <a:r>
              <a:rPr lang="en-US" altLang="zh-CN" sz="3600" dirty="0">
                <a:sym typeface="Symbol" panose="05050102010706020507" pitchFamily="18" charset="2"/>
              </a:rPr>
              <a:t>)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600" dirty="0"/>
              <a:t> (α</a:t>
            </a:r>
            <a:r>
              <a:rPr lang="en-US" altLang="zh-CN" sz="3600" dirty="0">
                <a:sym typeface="Symbol" panose="05050102010706020507" pitchFamily="18" charset="2"/>
              </a:rPr>
              <a:t>  β)  γ</a:t>
            </a:r>
          </a:p>
          <a:p>
            <a:r>
              <a:rPr lang="en-US" altLang="zh-CN" sz="3600" dirty="0">
                <a:sym typeface="Symbol" panose="05050102010706020507" pitchFamily="18" charset="2"/>
              </a:rPr>
              <a:t>                        </a:t>
            </a:r>
            <a:r>
              <a:rPr lang="en-US" altLang="zh-CN" sz="3600" dirty="0"/>
              <a:t>α</a:t>
            </a:r>
            <a:r>
              <a:rPr lang="en-US" altLang="zh-CN" sz="3600" dirty="0">
                <a:sym typeface="Symbol" panose="05050102010706020507" pitchFamily="18" charset="2"/>
              </a:rPr>
              <a:t>  (β  γ</a:t>
            </a:r>
            <a:r>
              <a:rPr lang="en-US" altLang="zh-CN" sz="3600" dirty="0"/>
              <a:t> </a:t>
            </a:r>
            <a:r>
              <a:rPr lang="en-US" altLang="zh-CN" sz="3600" dirty="0">
                <a:sym typeface="Symbol" panose="05050102010706020507" pitchFamily="18" charset="2"/>
              </a:rPr>
              <a:t>)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600" dirty="0"/>
              <a:t> (α</a:t>
            </a:r>
            <a:r>
              <a:rPr lang="en-US" altLang="zh-CN" sz="3600" dirty="0">
                <a:sym typeface="Symbol" panose="05050102010706020507" pitchFamily="18" charset="2"/>
              </a:rPr>
              <a:t>  β)  γ</a:t>
            </a:r>
          </a:p>
          <a:p>
            <a:r>
              <a:rPr lang="en-US" altLang="zh-CN" sz="3600" dirty="0">
                <a:sym typeface="Symbol" panose="05050102010706020507" pitchFamily="18" charset="2"/>
              </a:rPr>
              <a:t>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42885520"/>
      </p:ext>
    </p:extLst>
  </p:cSld>
  <p:clrMapOvr>
    <a:masterClrMapping/>
  </p:clrMapOvr>
  <p:transition spd="slow" advTm="0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7699BB-2697-4D9C-9917-72E6E251C9F0}"/>
              </a:ext>
            </a:extLst>
          </p:cNvPr>
          <p:cNvSpPr/>
          <p:nvPr/>
        </p:nvSpPr>
        <p:spPr>
          <a:xfrm>
            <a:off x="2014330" y="1096258"/>
            <a:ext cx="7593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(7)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吸收律 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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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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，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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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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B9FC63-E0F5-4713-AD35-B8562A26ABD4}"/>
              </a:ext>
            </a:extLst>
          </p:cNvPr>
          <p:cNvSpPr/>
          <p:nvPr/>
        </p:nvSpPr>
        <p:spPr>
          <a:xfrm>
            <a:off x="1908314" y="5153910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(11)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矛盾律 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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55EF37-E2CD-4B45-9C75-F30AF918A5B8}"/>
              </a:ext>
            </a:extLst>
          </p:cNvPr>
          <p:cNvSpPr/>
          <p:nvPr/>
        </p:nvSpPr>
        <p:spPr>
          <a:xfrm>
            <a:off x="2014330" y="2110671"/>
            <a:ext cx="54665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(8)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零一律 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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，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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64C93C-B0F9-49FE-96D0-71CB68EDF913}"/>
              </a:ext>
            </a:extLst>
          </p:cNvPr>
          <p:cNvSpPr/>
          <p:nvPr/>
        </p:nvSpPr>
        <p:spPr>
          <a:xfrm>
            <a:off x="2014330" y="3125084"/>
            <a:ext cx="54874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(9)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同一律	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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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，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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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88C91E-C30E-4EFB-ADF3-C01A2CADE851}"/>
              </a:ext>
            </a:extLst>
          </p:cNvPr>
          <p:cNvSpPr/>
          <p:nvPr/>
        </p:nvSpPr>
        <p:spPr>
          <a:xfrm>
            <a:off x="1908314" y="4142741"/>
            <a:ext cx="46586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(10) 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排中律	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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8322195"/>
      </p:ext>
    </p:extLst>
  </p:cSld>
  <p:clrMapOvr>
    <a:masterClrMapping/>
  </p:clrMapOvr>
  <p:transition spd="slow" advTm="0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22ABA8-42BE-40ED-89B0-7A340D4018C0}"/>
              </a:ext>
            </a:extLst>
          </p:cNvPr>
          <p:cNvSpPr txBox="1"/>
          <p:nvPr/>
        </p:nvSpPr>
        <p:spPr>
          <a:xfrm>
            <a:off x="1120494" y="1036064"/>
            <a:ext cx="10939743" cy="3686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命题变元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命题变元的否定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文字</a:t>
            </a:r>
          </a:p>
          <a:p>
            <a:pPr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）有限个文字的</a:t>
            </a:r>
            <a:r>
              <a:rPr lang="zh-CN" alt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析取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析取式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也称为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子句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）有限个文字的</a:t>
            </a:r>
            <a:r>
              <a:rPr lang="zh-CN" alt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合取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合取式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也称为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短语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互补对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EB9C2B-5EE4-4F21-8A90-F13FEA41CE7F}"/>
              </a:ext>
            </a:extLst>
          </p:cNvPr>
          <p:cNvSpPr txBox="1"/>
          <p:nvPr/>
        </p:nvSpPr>
        <p:spPr>
          <a:xfrm>
            <a:off x="1751013" y="5045367"/>
            <a:ext cx="8406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 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 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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R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1222F8-FE70-4100-B125-388665D108C2}"/>
              </a:ext>
            </a:extLst>
          </p:cNvPr>
          <p:cNvSpPr txBox="1"/>
          <p:nvPr/>
        </p:nvSpPr>
        <p:spPr>
          <a:xfrm>
            <a:off x="1751012" y="5691698"/>
            <a:ext cx="8406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 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70553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A0D124-C54C-4BD4-A0DC-F0040BE1BD0D}"/>
              </a:ext>
            </a:extLst>
          </p:cNvPr>
          <p:cNvSpPr txBox="1"/>
          <p:nvPr/>
        </p:nvSpPr>
        <p:spPr>
          <a:xfrm>
            <a:off x="2353235" y="1290918"/>
            <a:ext cx="74631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合取式为矛盾式的充要条件：它包含一个互补对 （某个命题及它的否定式）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C4B3BA-FF59-416F-A37B-7E88E018653B}"/>
              </a:ext>
            </a:extLst>
          </p:cNvPr>
          <p:cNvSpPr txBox="1"/>
          <p:nvPr/>
        </p:nvSpPr>
        <p:spPr>
          <a:xfrm>
            <a:off x="2353235" y="3281010"/>
            <a:ext cx="74631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析取式为重言式的充要条件：它包含一个互补对（某个命题及它的否定式）</a:t>
            </a:r>
          </a:p>
        </p:txBody>
      </p:sp>
    </p:spTree>
    <p:extLst>
      <p:ext uri="{BB962C8B-B14F-4D97-AF65-F5344CB8AC3E}">
        <p14:creationId xmlns:p14="http://schemas.microsoft.com/office/powerpoint/2010/main" val="4211059040"/>
      </p:ext>
    </p:extLst>
  </p:cSld>
  <p:clrMapOvr>
    <a:masterClrMapping/>
  </p:clrMapOvr>
  <p:transition spd="slow" advTm="0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DA594C-C08F-49B5-8F70-6C2E54995A07}"/>
              </a:ext>
            </a:extLst>
          </p:cNvPr>
          <p:cNvSpPr txBox="1"/>
          <p:nvPr/>
        </p:nvSpPr>
        <p:spPr>
          <a:xfrm>
            <a:off x="1990165" y="1250576"/>
            <a:ext cx="79019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有限个合取式的析取式称为</a:t>
            </a:r>
            <a:r>
              <a:rPr lang="zh-CN" altLang="en-US" sz="4800" dirty="0">
                <a:solidFill>
                  <a:srgbClr val="FF0000"/>
                </a:solidFill>
              </a:rPr>
              <a:t>析取范式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1AE6B3-778E-41A7-AE0D-0991D397766D}"/>
              </a:ext>
            </a:extLst>
          </p:cNvPr>
          <p:cNvSpPr/>
          <p:nvPr/>
        </p:nvSpPr>
        <p:spPr>
          <a:xfrm>
            <a:off x="2241176" y="3429000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zh-CN" altLang="en-US" sz="4800" dirty="0">
                <a:sym typeface="Symbol" panose="05050102010706020507" pitchFamily="18" charset="2"/>
              </a:rPr>
              <a:t></a:t>
            </a:r>
            <a:r>
              <a:rPr lang="en-US" altLang="zh-CN" sz="4800" baseline="-25000" dirty="0"/>
              <a:t>1</a:t>
            </a:r>
            <a:r>
              <a:rPr lang="en-US" altLang="zh-CN" sz="4800" dirty="0">
                <a:sym typeface="Symbol" panose="05050102010706020507" pitchFamily="18" charset="2"/>
              </a:rPr>
              <a:t></a:t>
            </a:r>
            <a:r>
              <a:rPr lang="en-US" altLang="zh-CN" sz="4800" baseline="-25000" dirty="0"/>
              <a:t>2</a:t>
            </a:r>
            <a:r>
              <a:rPr lang="en-US" altLang="zh-CN" sz="4800" dirty="0">
                <a:sym typeface="Symbol" panose="05050102010706020507" pitchFamily="18" charset="2"/>
              </a:rPr>
              <a:t></a:t>
            </a:r>
            <a:r>
              <a:rPr lang="en-US" altLang="zh-CN" sz="4800" dirty="0"/>
              <a:t>…</a:t>
            </a:r>
            <a:r>
              <a:rPr lang="en-US" altLang="zh-CN" sz="4800" dirty="0">
                <a:sym typeface="Symbol" panose="05050102010706020507" pitchFamily="18" charset="2"/>
              </a:rPr>
              <a:t></a:t>
            </a:r>
            <a:r>
              <a:rPr lang="en-US" altLang="zh-CN" sz="4800" baseline="-25000" dirty="0"/>
              <a:t>n</a:t>
            </a:r>
          </a:p>
          <a:p>
            <a:pPr>
              <a:buFontTx/>
              <a:buNone/>
            </a:pPr>
            <a:endParaRPr lang="en-US" altLang="zh-CN" sz="4800" baseline="-25000" dirty="0"/>
          </a:p>
          <a:p>
            <a:pPr>
              <a:buFontTx/>
              <a:buNone/>
            </a:pPr>
            <a:r>
              <a:rPr lang="en-US" altLang="zh-CN" sz="4800" dirty="0"/>
              <a:t> (P</a:t>
            </a:r>
            <a:r>
              <a:rPr lang="en-US" altLang="zh-CN" sz="4800" dirty="0">
                <a:sym typeface="Symbol" panose="05050102010706020507" pitchFamily="18" charset="2"/>
              </a:rPr>
              <a:t></a:t>
            </a:r>
            <a:r>
              <a:rPr lang="en-US" altLang="zh-CN" sz="4800" dirty="0"/>
              <a:t>Q)</a:t>
            </a:r>
            <a:r>
              <a:rPr lang="en-US" altLang="zh-CN" sz="4800" dirty="0">
                <a:sym typeface="Symbol" panose="05050102010706020507" pitchFamily="18" charset="2"/>
              </a:rPr>
              <a:t></a:t>
            </a:r>
            <a:r>
              <a:rPr lang="en-US" altLang="zh-CN" sz="4800" dirty="0"/>
              <a:t>(</a:t>
            </a:r>
            <a:r>
              <a:rPr lang="en-US" altLang="zh-CN" sz="4800" dirty="0">
                <a:sym typeface="Symbol" panose="05050102010706020507" pitchFamily="18" charset="2"/>
              </a:rPr>
              <a:t></a:t>
            </a:r>
            <a:r>
              <a:rPr lang="en-US" altLang="zh-CN" sz="4800" dirty="0"/>
              <a:t>P</a:t>
            </a:r>
            <a:r>
              <a:rPr lang="en-US" altLang="zh-CN" sz="4800" dirty="0">
                <a:sym typeface="Symbol" panose="05050102010706020507" pitchFamily="18" charset="2"/>
              </a:rPr>
              <a:t></a:t>
            </a:r>
            <a:r>
              <a:rPr lang="en-US" altLang="zh-CN" sz="4800" dirty="0"/>
              <a:t>Q)</a:t>
            </a:r>
            <a:r>
              <a:rPr lang="en-US" altLang="zh-CN" sz="4800" dirty="0">
                <a:sym typeface="Symbol" panose="05050102010706020507" pitchFamily="18" charset="2"/>
              </a:rPr>
              <a:t> …</a:t>
            </a:r>
            <a:endParaRPr lang="en-US" altLang="zh-CN" sz="4800" dirty="0"/>
          </a:p>
        </p:txBody>
      </p:sp>
    </p:spTree>
    <p:extLst>
      <p:ext uri="{BB962C8B-B14F-4D97-AF65-F5344CB8AC3E}">
        <p14:creationId xmlns:p14="http://schemas.microsoft.com/office/powerpoint/2010/main" val="323851676"/>
      </p:ext>
    </p:extLst>
  </p:cSld>
  <p:clrMapOvr>
    <a:masterClrMapping/>
  </p:clrMapOvr>
  <p:transition spd="slow" advTm="0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DA594C-C08F-49B5-8F70-6C2E54995A07}"/>
              </a:ext>
            </a:extLst>
          </p:cNvPr>
          <p:cNvSpPr txBox="1"/>
          <p:nvPr/>
        </p:nvSpPr>
        <p:spPr>
          <a:xfrm>
            <a:off x="1990165" y="1250576"/>
            <a:ext cx="76803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有限个析取式的合取式称为</a:t>
            </a:r>
            <a:r>
              <a:rPr lang="zh-CN" altLang="en-US" sz="4800" dirty="0">
                <a:solidFill>
                  <a:srgbClr val="FF0000"/>
                </a:solidFill>
              </a:rPr>
              <a:t>合取范式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1877B9-953D-45E5-9399-FC0E613A4B5A}"/>
              </a:ext>
            </a:extLst>
          </p:cNvPr>
          <p:cNvSpPr/>
          <p:nvPr/>
        </p:nvSpPr>
        <p:spPr>
          <a:xfrm>
            <a:off x="1990165" y="3429000"/>
            <a:ext cx="774998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4800" dirty="0">
                <a:sym typeface="Symbol" panose="05050102010706020507" pitchFamily="18" charset="2"/>
              </a:rPr>
              <a:t></a:t>
            </a:r>
            <a:r>
              <a:rPr lang="en-US" altLang="zh-CN" sz="4800" baseline="-25000" dirty="0"/>
              <a:t>1</a:t>
            </a:r>
            <a:r>
              <a:rPr lang="en-US" altLang="zh-CN" sz="4800" dirty="0">
                <a:sym typeface="Symbol" panose="05050102010706020507" pitchFamily="18" charset="2"/>
              </a:rPr>
              <a:t></a:t>
            </a:r>
            <a:r>
              <a:rPr lang="en-US" altLang="zh-CN" sz="4800" baseline="-25000" dirty="0"/>
              <a:t>2</a:t>
            </a:r>
            <a:r>
              <a:rPr lang="en-US" altLang="zh-CN" sz="4800" dirty="0">
                <a:sym typeface="Symbol" panose="05050102010706020507" pitchFamily="18" charset="2"/>
              </a:rPr>
              <a:t></a:t>
            </a:r>
            <a:r>
              <a:rPr lang="en-US" altLang="zh-CN" sz="4800" dirty="0"/>
              <a:t>…</a:t>
            </a:r>
            <a:r>
              <a:rPr lang="en-US" altLang="zh-CN" sz="4800" dirty="0">
                <a:sym typeface="Symbol" panose="05050102010706020507" pitchFamily="18" charset="2"/>
              </a:rPr>
              <a:t></a:t>
            </a:r>
            <a:r>
              <a:rPr lang="en-US" altLang="zh-CN" sz="4800" baseline="-25000" dirty="0"/>
              <a:t>n</a:t>
            </a:r>
          </a:p>
          <a:p>
            <a:pPr>
              <a:buFontTx/>
              <a:buNone/>
            </a:pPr>
            <a:r>
              <a:rPr lang="en-US" altLang="zh-CN" sz="4800" dirty="0"/>
              <a:t>	 (P</a:t>
            </a:r>
            <a:r>
              <a:rPr lang="en-US" altLang="zh-CN" sz="4800" dirty="0">
                <a:sym typeface="Symbol" panose="05050102010706020507" pitchFamily="18" charset="2"/>
              </a:rPr>
              <a:t></a:t>
            </a:r>
            <a:r>
              <a:rPr lang="en-US" altLang="zh-CN" sz="4800" dirty="0"/>
              <a:t>R)</a:t>
            </a:r>
            <a:r>
              <a:rPr lang="en-US" altLang="zh-CN" sz="4800" dirty="0">
                <a:sym typeface="Symbol" panose="05050102010706020507" pitchFamily="18" charset="2"/>
              </a:rPr>
              <a:t></a:t>
            </a:r>
            <a:r>
              <a:rPr lang="en-US" altLang="zh-CN" sz="4800" dirty="0"/>
              <a:t>(P</a:t>
            </a:r>
            <a:r>
              <a:rPr lang="en-US" altLang="zh-CN" sz="4800" dirty="0">
                <a:sym typeface="Symbol" panose="05050102010706020507" pitchFamily="18" charset="2"/>
              </a:rPr>
              <a:t></a:t>
            </a:r>
            <a:r>
              <a:rPr lang="en-US" altLang="zh-CN" sz="4800" dirty="0"/>
              <a:t>Q</a:t>
            </a:r>
            <a:r>
              <a:rPr lang="en-US" altLang="zh-CN" sz="4800" dirty="0">
                <a:sym typeface="Symbol" panose="05050102010706020507" pitchFamily="18" charset="2"/>
              </a:rPr>
              <a:t></a:t>
            </a:r>
            <a:r>
              <a:rPr lang="en-US" altLang="zh-CN" sz="4800" dirty="0"/>
              <a:t>R)</a:t>
            </a:r>
            <a:r>
              <a:rPr lang="en-US" altLang="zh-CN" sz="4800" dirty="0">
                <a:sym typeface="Symbol" panose="05050102010706020507" pitchFamily="18" charset="2"/>
              </a:rPr>
              <a:t></a:t>
            </a:r>
            <a:r>
              <a:rPr lang="en-US" altLang="zh-CN" sz="4800" dirty="0"/>
              <a:t>(</a:t>
            </a:r>
            <a:r>
              <a:rPr lang="en-US" altLang="zh-CN" sz="4800" dirty="0">
                <a:sym typeface="Symbol" panose="05050102010706020507" pitchFamily="18" charset="2"/>
              </a:rPr>
              <a:t></a:t>
            </a:r>
            <a:r>
              <a:rPr lang="en-US" altLang="zh-CN" sz="4800" dirty="0"/>
              <a:t>P</a:t>
            </a:r>
            <a:r>
              <a:rPr lang="en-US" altLang="zh-CN" sz="4800" dirty="0">
                <a:sym typeface="Symbol" panose="05050102010706020507" pitchFamily="18" charset="2"/>
              </a:rPr>
              <a:t></a:t>
            </a:r>
            <a:r>
              <a:rPr lang="en-US" altLang="zh-CN" sz="4800" dirty="0"/>
              <a:t>R)</a:t>
            </a:r>
          </a:p>
        </p:txBody>
      </p:sp>
    </p:spTree>
    <p:extLst>
      <p:ext uri="{BB962C8B-B14F-4D97-AF65-F5344CB8AC3E}">
        <p14:creationId xmlns:p14="http://schemas.microsoft.com/office/powerpoint/2010/main" val="2023604496"/>
      </p:ext>
    </p:extLst>
  </p:cSld>
  <p:clrMapOvr>
    <a:masterClrMapping/>
  </p:clrMapOvr>
  <p:transition spd="slow" advTm="0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1A7E89-1C01-4A50-8730-34C3FCB8A60B}"/>
              </a:ext>
            </a:extLst>
          </p:cNvPr>
          <p:cNvSpPr txBox="1"/>
          <p:nvPr/>
        </p:nvSpPr>
        <p:spPr>
          <a:xfrm>
            <a:off x="1819834" y="758732"/>
            <a:ext cx="95189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范式存在定理</a:t>
            </a:r>
            <a:r>
              <a:rPr lang="zh-CN" altLang="en-US" sz="4000" dirty="0"/>
              <a:t>：对于任意命题公式，都存在与其等价的析取范式和合取范式。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3B9254-6B43-4A2F-AFAA-3790CA796A64}"/>
              </a:ext>
            </a:extLst>
          </p:cNvPr>
          <p:cNvSpPr txBox="1"/>
          <p:nvPr/>
        </p:nvSpPr>
        <p:spPr>
          <a:xfrm>
            <a:off x="1819835" y="2110901"/>
            <a:ext cx="8736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 </a:t>
            </a:r>
            <a:r>
              <a:rPr lang="zh-CN" altLang="en-US" sz="3600" dirty="0"/>
              <a:t>利用蕴含等值式和等价等值式消去公式中的联结词“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zh-CN" altLang="en-US" sz="3600" dirty="0"/>
              <a:t>”“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zh-CN" altLang="en-US" sz="3600" dirty="0"/>
              <a:t>”</a:t>
            </a:r>
            <a:endParaRPr lang="en-US" altLang="zh-CN" sz="3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B03568-0B26-4129-B2CF-E11CC7D3DB99}"/>
              </a:ext>
            </a:extLst>
          </p:cNvPr>
          <p:cNvSpPr txBox="1"/>
          <p:nvPr/>
        </p:nvSpPr>
        <p:spPr>
          <a:xfrm>
            <a:off x="1819835" y="3646704"/>
            <a:ext cx="8736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2 </a:t>
            </a:r>
            <a:r>
              <a:rPr lang="zh-CN" altLang="en-US" sz="3600" dirty="0"/>
              <a:t>利用德摩根律和双重否定律将联结词“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</a:t>
            </a:r>
            <a:r>
              <a:rPr lang="zh-CN" altLang="en-US" sz="3600" dirty="0"/>
              <a:t>”向内深入，使之只作用于命题变元</a:t>
            </a:r>
            <a:endParaRPr lang="en-US" altLang="zh-CN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5B78AE-B708-45E0-9839-DFAB24F8E8B0}"/>
              </a:ext>
            </a:extLst>
          </p:cNvPr>
          <p:cNvSpPr txBox="1"/>
          <p:nvPr/>
        </p:nvSpPr>
        <p:spPr>
          <a:xfrm>
            <a:off x="1819834" y="5701918"/>
            <a:ext cx="9335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3 </a:t>
            </a:r>
            <a:r>
              <a:rPr lang="zh-CN" altLang="en-US" sz="3600" dirty="0"/>
              <a:t>重复利用分配率将公式化为所需要的范式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A6F501-0CAB-4619-A9D6-FE493D7AFF10}"/>
              </a:ext>
            </a:extLst>
          </p:cNvPr>
          <p:cNvSpPr/>
          <p:nvPr/>
        </p:nvSpPr>
        <p:spPr>
          <a:xfrm>
            <a:off x="1636059" y="3105834"/>
            <a:ext cx="95189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</a:t>
            </a:r>
            <a:r>
              <a:rPr lang="en-US" altLang="zh-CN" sz="3600" dirty="0">
                <a:latin typeface="等线" panose="02010600030101010101" pitchFamily="2" charset="-122"/>
              </a:rPr>
              <a:t>(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</a:t>
            </a:r>
            <a:r>
              <a:rPr lang="en-US" altLang="zh-CN" sz="3600" dirty="0">
                <a:latin typeface="等线" panose="02010600030101010101" pitchFamily="2" charset="-122"/>
              </a:rPr>
              <a:t>)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3600" dirty="0">
                <a:latin typeface="等线" panose="02010600030101010101" pitchFamily="2" charset="-122"/>
              </a:rPr>
              <a:t>(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</a:t>
            </a:r>
            <a:r>
              <a:rPr lang="en-US" altLang="zh-CN" sz="3600" dirty="0">
                <a:latin typeface="等线" panose="02010600030101010101" pitchFamily="2" charset="-122"/>
              </a:rPr>
              <a:t>)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</a:t>
            </a:r>
            <a:r>
              <a:rPr lang="en-US" altLang="zh-CN" sz="3600" dirty="0">
                <a:latin typeface="等线" panose="02010600030101010101" pitchFamily="2" charset="-122"/>
              </a:rPr>
              <a:t>(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</a:t>
            </a:r>
            <a:r>
              <a:rPr lang="en-US" altLang="zh-CN" sz="3600" dirty="0">
                <a:latin typeface="等线" panose="02010600030101010101" pitchFamily="2" charset="-122"/>
              </a:rPr>
              <a:t>)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600" dirty="0">
                <a:latin typeface="等线" panose="02010600030101010101" pitchFamily="2" charset="-122"/>
              </a:rPr>
              <a:t>(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</a:t>
            </a:r>
            <a:r>
              <a:rPr lang="en-US" altLang="zh-CN" sz="3600" dirty="0">
                <a:latin typeface="等线" panose="02010600030101010101" pitchFamily="2" charset="-122"/>
              </a:rPr>
              <a:t>) </a:t>
            </a:r>
            <a:endParaRPr lang="zh-CN" altLang="en-US" sz="3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263F64-6EAA-420B-9671-49C37AC3FFAE}"/>
              </a:ext>
            </a:extLst>
          </p:cNvPr>
          <p:cNvSpPr/>
          <p:nvPr/>
        </p:nvSpPr>
        <p:spPr>
          <a:xfrm>
            <a:off x="6566873" y="2643204"/>
            <a:ext cx="28184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</a:t>
            </a:r>
            <a:endParaRPr lang="zh-CN" altLang="en-US" sz="3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6729BB-A143-4688-ACA8-F4FCBF826F87}"/>
              </a:ext>
            </a:extLst>
          </p:cNvPr>
          <p:cNvSpPr/>
          <p:nvPr/>
        </p:nvSpPr>
        <p:spPr>
          <a:xfrm>
            <a:off x="6187888" y="4643898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3200" dirty="0"/>
              <a:t>α</a:t>
            </a:r>
            <a:r>
              <a:rPr lang="en-US" altLang="zh-CN" sz="3200" dirty="0">
                <a:sym typeface="Symbol" panose="05050102010706020507" pitchFamily="18" charset="2"/>
              </a:rPr>
              <a:t>  β)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200" dirty="0"/>
              <a:t> 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200" dirty="0"/>
              <a:t>α</a:t>
            </a:r>
            <a:r>
              <a:rPr lang="en-US" altLang="zh-CN" sz="3200" dirty="0">
                <a:sym typeface="Symbol" panose="05050102010706020507" pitchFamily="18" charset="2"/>
              </a:rPr>
              <a:t>  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200" dirty="0">
                <a:sym typeface="Symbol" panose="05050102010706020507" pitchFamily="18" charset="2"/>
              </a:rPr>
              <a:t>β</a:t>
            </a:r>
          </a:p>
          <a:p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3200" dirty="0"/>
              <a:t>α</a:t>
            </a:r>
            <a:r>
              <a:rPr lang="en-US" altLang="zh-CN" sz="3200" dirty="0">
                <a:sym typeface="Symbol" panose="05050102010706020507" pitchFamily="18" charset="2"/>
              </a:rPr>
              <a:t>  β)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200" dirty="0"/>
              <a:t> 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200" dirty="0"/>
              <a:t>α</a:t>
            </a:r>
            <a:r>
              <a:rPr lang="en-US" altLang="zh-CN" sz="3200" dirty="0">
                <a:sym typeface="Symbol" panose="05050102010706020507" pitchFamily="18" charset="2"/>
              </a:rPr>
              <a:t>  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200" dirty="0">
                <a:sym typeface="Symbol" panose="05050102010706020507" pitchFamily="18" charset="2"/>
              </a:rPr>
              <a:t>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A5CFAE-9142-4A4E-A65C-4B3D354ABC3E}"/>
              </a:ext>
            </a:extLst>
          </p:cNvPr>
          <p:cNvSpPr/>
          <p:nvPr/>
        </p:nvSpPr>
        <p:spPr>
          <a:xfrm>
            <a:off x="3139613" y="6190012"/>
            <a:ext cx="96729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α</a:t>
            </a:r>
            <a:r>
              <a:rPr lang="en-US" altLang="zh-CN" sz="3200" dirty="0">
                <a:sym typeface="Symbol" panose="05050102010706020507" pitchFamily="18" charset="2"/>
              </a:rPr>
              <a:t>  (β  γ</a:t>
            </a:r>
            <a:r>
              <a:rPr lang="en-US" altLang="zh-CN" sz="3200" dirty="0"/>
              <a:t> </a:t>
            </a:r>
            <a:r>
              <a:rPr lang="en-US" altLang="zh-CN" sz="3200" dirty="0">
                <a:sym typeface="Symbol" panose="05050102010706020507" pitchFamily="18" charset="2"/>
              </a:rPr>
              <a:t>)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200" dirty="0"/>
              <a:t> (α</a:t>
            </a:r>
            <a:r>
              <a:rPr lang="en-US" altLang="zh-CN" sz="3200" dirty="0">
                <a:sym typeface="Symbol" panose="05050102010706020507" pitchFamily="18" charset="2"/>
              </a:rPr>
              <a:t>  β)  </a:t>
            </a:r>
            <a:r>
              <a:rPr lang="en-US" altLang="zh-CN" sz="3200" dirty="0"/>
              <a:t>(α</a:t>
            </a:r>
            <a:r>
              <a:rPr lang="en-US" altLang="zh-CN" sz="3200" dirty="0">
                <a:sym typeface="Symbol" panose="05050102010706020507" pitchFamily="18" charset="2"/>
              </a:rPr>
              <a:t>  γ) 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9666781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4" grpId="0"/>
      <p:bldP spid="5" grpId="0"/>
      <p:bldP spid="9" grpId="0"/>
      <p:bldP spid="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926D52-F4FE-4485-B910-D81EB8731331}"/>
              </a:ext>
            </a:extLst>
          </p:cNvPr>
          <p:cNvSpPr txBox="1"/>
          <p:nvPr/>
        </p:nvSpPr>
        <p:spPr>
          <a:xfrm>
            <a:off x="2037696" y="826533"/>
            <a:ext cx="5187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((P </a:t>
            </a:r>
            <a:r>
              <a:rPr lang="en-US" altLang="zh-CN" sz="3600" dirty="0">
                <a:sym typeface="Symbol" panose="05050102010706020507" pitchFamily="18" charset="2"/>
              </a:rPr>
              <a:t> Q)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</a:t>
            </a:r>
            <a:endParaRPr lang="zh-CN" altLang="en-US" sz="3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A7483F-D7EE-4566-90E2-0338243E932A}"/>
              </a:ext>
            </a:extLst>
          </p:cNvPr>
          <p:cNvSpPr txBox="1"/>
          <p:nvPr/>
        </p:nvSpPr>
        <p:spPr>
          <a:xfrm>
            <a:off x="1987820" y="1825257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/>
              <a:t>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(P </a:t>
            </a:r>
            <a:r>
              <a:rPr lang="en-US" altLang="zh-CN" sz="3600" dirty="0">
                <a:sym typeface="Symbol" panose="05050102010706020507" pitchFamily="18" charset="2"/>
              </a:rPr>
              <a:t> Q) 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蕴含等值</a:t>
            </a:r>
            <a:endParaRPr lang="zh-CN" altLang="en-US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054190-4EAA-45D7-B9EC-2D8E0D3C84E4}"/>
              </a:ext>
            </a:extLst>
          </p:cNvPr>
          <p:cNvSpPr txBox="1"/>
          <p:nvPr/>
        </p:nvSpPr>
        <p:spPr>
          <a:xfrm>
            <a:off x="868034" y="1544083"/>
            <a:ext cx="1673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</a:rPr>
              <a:t>合取范式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615EDFA-08A1-41AF-BC78-4CD63054243D}"/>
              </a:ext>
            </a:extLst>
          </p:cNvPr>
          <p:cNvSpPr txBox="1"/>
          <p:nvPr/>
        </p:nvSpPr>
        <p:spPr>
          <a:xfrm>
            <a:off x="1987820" y="2538030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(P </a:t>
            </a:r>
            <a:r>
              <a:rPr lang="en-US" altLang="zh-CN" sz="3600" dirty="0">
                <a:sym typeface="Symbol" panose="05050102010706020507" pitchFamily="18" charset="2"/>
              </a:rPr>
              <a:t> Q) 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蕴含等值</a:t>
            </a:r>
            <a:endParaRPr lang="zh-CN" altLang="en-US" sz="3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C643C5-7D39-41AD-B4A4-FBB7FB32B6CB}"/>
              </a:ext>
            </a:extLst>
          </p:cNvPr>
          <p:cNvSpPr txBox="1"/>
          <p:nvPr/>
        </p:nvSpPr>
        <p:spPr>
          <a:xfrm>
            <a:off x="1938516" y="3255989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P </a:t>
            </a:r>
            <a:r>
              <a:rPr lang="en-US" altLang="zh-CN" sz="3600" dirty="0">
                <a:sym typeface="Symbol" panose="05050102010706020507" pitchFamily="18" charset="2"/>
              </a:rPr>
              <a:t>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sym typeface="Symbol" panose="05050102010706020507" pitchFamily="18" charset="2"/>
              </a:rPr>
              <a:t>Q) 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德摩根</a:t>
            </a:r>
            <a:endParaRPr lang="zh-CN" altLang="en-US" sz="3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EA21C0-D2C8-4C80-9903-0186D2236788}"/>
              </a:ext>
            </a:extLst>
          </p:cNvPr>
          <p:cNvSpPr txBox="1"/>
          <p:nvPr/>
        </p:nvSpPr>
        <p:spPr>
          <a:xfrm>
            <a:off x="1938516" y="3968762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3600" dirty="0"/>
              <a:t> ((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</a:t>
            </a:r>
            <a:r>
              <a:rPr lang="en-US" altLang="zh-CN" sz="3600" dirty="0"/>
              <a:t>P </a:t>
            </a:r>
            <a:r>
              <a:rPr lang="en-US" altLang="zh-CN" sz="3600" dirty="0">
                <a:sym typeface="Symbol" panose="05050102010706020507" pitchFamily="18" charset="2"/>
              </a:rPr>
              <a:t>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</a:t>
            </a:r>
            <a:r>
              <a:rPr lang="en-US" altLang="zh-CN" sz="3600" dirty="0">
                <a:sym typeface="Symbol" panose="05050102010706020507" pitchFamily="18" charset="2"/>
              </a:rPr>
              <a:t>Q) 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德摩根</a:t>
            </a:r>
            <a:endParaRPr lang="zh-CN" altLang="en-US" sz="36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3B5FD6-176E-47E6-8976-4C63B64CB8D4}"/>
              </a:ext>
            </a:extLst>
          </p:cNvPr>
          <p:cNvSpPr txBox="1"/>
          <p:nvPr/>
        </p:nvSpPr>
        <p:spPr>
          <a:xfrm>
            <a:off x="1938516" y="4681535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3600" dirty="0"/>
              <a:t> ((P </a:t>
            </a:r>
            <a:r>
              <a:rPr lang="en-US" altLang="zh-CN" sz="3600" dirty="0">
                <a:sym typeface="Symbol" panose="05050102010706020507" pitchFamily="18" charset="2"/>
              </a:rPr>
              <a:t> Q) 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双否</a:t>
            </a:r>
            <a:endParaRPr lang="zh-CN" altLang="en-US" sz="3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2892AB-EF2D-4E3D-A4AF-298C2C56263E}"/>
              </a:ext>
            </a:extLst>
          </p:cNvPr>
          <p:cNvSpPr txBox="1"/>
          <p:nvPr/>
        </p:nvSpPr>
        <p:spPr>
          <a:xfrm>
            <a:off x="1938516" y="5394308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/>
              <a:t>(P </a:t>
            </a:r>
            <a:r>
              <a:rPr lang="en-US" altLang="zh-CN" sz="3600" dirty="0">
                <a:sym typeface="Symbol" panose="05050102010706020507" pitchFamily="18" charset="2"/>
              </a:rPr>
              <a:t> Q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)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P)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分配</a:t>
            </a:r>
            <a:endParaRPr lang="zh-CN" altLang="en-US" sz="3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4146C50-FEF7-42E7-B9FA-A2D9C7D0F670}"/>
              </a:ext>
            </a:extLst>
          </p:cNvPr>
          <p:cNvSpPr txBox="1"/>
          <p:nvPr/>
        </p:nvSpPr>
        <p:spPr>
          <a:xfrm>
            <a:off x="1938516" y="6040639"/>
            <a:ext cx="9053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/>
              <a:t>(P </a:t>
            </a:r>
            <a:r>
              <a:rPr lang="en-US" altLang="zh-CN" sz="3600" dirty="0">
                <a:sym typeface="Symbol" panose="05050102010706020507" pitchFamily="18" charset="2"/>
              </a:rPr>
              <a:t> Q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P)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      交换、幂等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7329649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9F92D4-926A-481E-BD67-806C82D7FD68}"/>
              </a:ext>
            </a:extLst>
          </p:cNvPr>
          <p:cNvSpPr txBox="1"/>
          <p:nvPr/>
        </p:nvSpPr>
        <p:spPr>
          <a:xfrm>
            <a:off x="1446258" y="963555"/>
            <a:ext cx="1673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</a:rPr>
              <a:t>析取范式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3F70B4-6D8E-43FA-89E4-CFCFB9F2A958}"/>
              </a:ext>
            </a:extLst>
          </p:cNvPr>
          <p:cNvSpPr txBox="1"/>
          <p:nvPr/>
        </p:nvSpPr>
        <p:spPr>
          <a:xfrm>
            <a:off x="1885898" y="1486998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/>
              <a:t>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(P </a:t>
            </a:r>
            <a:r>
              <a:rPr lang="en-US" altLang="zh-CN" sz="3600" dirty="0">
                <a:sym typeface="Symbol" panose="05050102010706020507" pitchFamily="18" charset="2"/>
              </a:rPr>
              <a:t> Q) 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蕴含等值</a:t>
            </a:r>
            <a:endParaRPr lang="zh-CN" altLang="en-US" sz="3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783026-7BBA-4240-8FF8-11772C60A54F}"/>
              </a:ext>
            </a:extLst>
          </p:cNvPr>
          <p:cNvSpPr txBox="1"/>
          <p:nvPr/>
        </p:nvSpPr>
        <p:spPr>
          <a:xfrm>
            <a:off x="1885898" y="2199771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(P </a:t>
            </a:r>
            <a:r>
              <a:rPr lang="en-US" altLang="zh-CN" sz="3600" dirty="0">
                <a:sym typeface="Symbol" panose="05050102010706020507" pitchFamily="18" charset="2"/>
              </a:rPr>
              <a:t> Q) 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蕴含等值</a:t>
            </a:r>
            <a:endParaRPr lang="zh-CN" altLang="en-US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6DEB79-D086-40AD-992B-97FF0B3868B3}"/>
              </a:ext>
            </a:extLst>
          </p:cNvPr>
          <p:cNvSpPr txBox="1"/>
          <p:nvPr/>
        </p:nvSpPr>
        <p:spPr>
          <a:xfrm>
            <a:off x="1836594" y="2917730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P </a:t>
            </a:r>
            <a:r>
              <a:rPr lang="en-US" altLang="zh-CN" sz="3600" dirty="0">
                <a:sym typeface="Symbol" panose="05050102010706020507" pitchFamily="18" charset="2"/>
              </a:rPr>
              <a:t>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sym typeface="Symbol" panose="05050102010706020507" pitchFamily="18" charset="2"/>
              </a:rPr>
              <a:t>Q) 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德摩根</a:t>
            </a:r>
            <a:endParaRPr lang="zh-CN" altLang="en-US" sz="3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A8E8589-2314-4B92-A5F7-22DC1F02D38E}"/>
              </a:ext>
            </a:extLst>
          </p:cNvPr>
          <p:cNvSpPr txBox="1"/>
          <p:nvPr/>
        </p:nvSpPr>
        <p:spPr>
          <a:xfrm>
            <a:off x="1836594" y="3630503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3600" dirty="0"/>
              <a:t> ((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</a:t>
            </a:r>
            <a:r>
              <a:rPr lang="en-US" altLang="zh-CN" sz="3600" dirty="0"/>
              <a:t>P </a:t>
            </a:r>
            <a:r>
              <a:rPr lang="en-US" altLang="zh-CN" sz="3600" dirty="0">
                <a:sym typeface="Symbol" panose="05050102010706020507" pitchFamily="18" charset="2"/>
              </a:rPr>
              <a:t>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</a:t>
            </a:r>
            <a:r>
              <a:rPr lang="en-US" altLang="zh-CN" sz="3600" dirty="0">
                <a:sym typeface="Symbol" panose="05050102010706020507" pitchFamily="18" charset="2"/>
              </a:rPr>
              <a:t>Q) 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德摩根</a:t>
            </a:r>
            <a:endParaRPr lang="zh-CN" altLang="en-US" sz="3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F72C2E-7D4F-4386-966E-7F67E5084C21}"/>
              </a:ext>
            </a:extLst>
          </p:cNvPr>
          <p:cNvSpPr txBox="1"/>
          <p:nvPr/>
        </p:nvSpPr>
        <p:spPr>
          <a:xfrm>
            <a:off x="1836594" y="4343276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3600" dirty="0"/>
              <a:t> ((P </a:t>
            </a:r>
            <a:r>
              <a:rPr lang="en-US" altLang="zh-CN" sz="3600" dirty="0">
                <a:sym typeface="Symbol" panose="05050102010706020507" pitchFamily="18" charset="2"/>
              </a:rPr>
              <a:t> Q) 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双否</a:t>
            </a:r>
            <a:endParaRPr lang="zh-CN" altLang="en-US" sz="3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DA9330-13D1-4B40-8F5E-9B95B7DD0CD9}"/>
              </a:ext>
            </a:extLst>
          </p:cNvPr>
          <p:cNvSpPr txBox="1"/>
          <p:nvPr/>
        </p:nvSpPr>
        <p:spPr>
          <a:xfrm>
            <a:off x="1836594" y="5056049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olidFill>
                  <a:srgbClr val="FF0000"/>
                </a:solidFill>
              </a:rPr>
              <a:t>P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 </a:t>
            </a:r>
            <a:r>
              <a:rPr lang="zh-CN" altLang="en-US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R)</a:t>
            </a:r>
            <a:r>
              <a:rPr lang="zh-CN" altLang="en-US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 (Q </a:t>
            </a:r>
            <a:r>
              <a:rPr lang="zh-CN" altLang="en-US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R)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 </a:t>
            </a:r>
            <a:r>
              <a:rPr lang="en-US" altLang="zh-CN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P         </a:t>
            </a:r>
            <a:r>
              <a:rPr lang="zh-CN" altLang="en-US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分配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1D0583-CE42-4F6A-9385-6783C84FF5F2}"/>
              </a:ext>
            </a:extLst>
          </p:cNvPr>
          <p:cNvSpPr txBox="1"/>
          <p:nvPr/>
        </p:nvSpPr>
        <p:spPr>
          <a:xfrm>
            <a:off x="1836594" y="5702380"/>
            <a:ext cx="8880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r>
              <a:rPr lang="en-US" altLang="zh-CN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 (Q </a:t>
            </a:r>
            <a:r>
              <a:rPr lang="zh-CN" altLang="en-US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R)                      </a:t>
            </a:r>
            <a:r>
              <a:rPr lang="zh-CN" altLang="en-US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交换、吸收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76598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AE8F74-7871-4AD2-AE70-38BA47467015}"/>
              </a:ext>
            </a:extLst>
          </p:cNvPr>
          <p:cNvSpPr/>
          <p:nvPr/>
        </p:nvSpPr>
        <p:spPr>
          <a:xfrm>
            <a:off x="1751013" y="1455738"/>
            <a:ext cx="6096000" cy="49150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latin typeface="+mn-ea"/>
              </a:rPr>
              <a:t>(1).</a:t>
            </a:r>
            <a:r>
              <a:rPr lang="zh-CN" altLang="en-US" sz="4400" dirty="0">
                <a:latin typeface="+mn-ea"/>
              </a:rPr>
              <a:t>求</a:t>
            </a:r>
            <a:r>
              <a:rPr lang="en-US" altLang="zh-CN" sz="4400" dirty="0">
                <a:latin typeface="+mn-ea"/>
              </a:rPr>
              <a:t>(P</a:t>
            </a:r>
            <a:r>
              <a:rPr lang="en-US" altLang="zh-CN" sz="4400" dirty="0">
                <a:latin typeface="+mn-ea"/>
                <a:sym typeface="Symbol" panose="05050102010706020507" pitchFamily="18" charset="2"/>
              </a:rPr>
              <a:t>Q</a:t>
            </a:r>
            <a:r>
              <a:rPr lang="en-US" altLang="zh-CN" sz="4400" dirty="0">
                <a:latin typeface="+mn-ea"/>
              </a:rPr>
              <a:t>)</a:t>
            </a:r>
            <a:r>
              <a:rPr lang="en-US" altLang="zh-CN" sz="4400" dirty="0">
                <a:latin typeface="+mn-ea"/>
                <a:sym typeface="Symbol" panose="05050102010706020507" pitchFamily="18" charset="2"/>
              </a:rPr>
              <a:t></a:t>
            </a:r>
            <a:r>
              <a:rPr lang="en-US" altLang="zh-CN" sz="4400" dirty="0">
                <a:latin typeface="+mn-ea"/>
              </a:rPr>
              <a:t>(P</a:t>
            </a:r>
            <a:r>
              <a:rPr lang="en-US" altLang="zh-CN" sz="4400" dirty="0">
                <a:latin typeface="+mn-ea"/>
                <a:sym typeface="Symbol" panose="05050102010706020507" pitchFamily="18" charset="2"/>
              </a:rPr>
              <a:t>R</a:t>
            </a:r>
            <a:r>
              <a:rPr lang="en-US" altLang="zh-CN" sz="4400" dirty="0">
                <a:latin typeface="+mn-ea"/>
              </a:rPr>
              <a:t>)</a:t>
            </a:r>
            <a:r>
              <a:rPr lang="zh-CN" altLang="en-US" sz="4400" dirty="0">
                <a:latin typeface="+mn-ea"/>
              </a:rPr>
              <a:t>的析取范式和合取范式</a:t>
            </a:r>
          </a:p>
          <a:p>
            <a:pPr>
              <a:lnSpc>
                <a:spcPct val="120000"/>
              </a:lnSpc>
              <a:buFontTx/>
              <a:buNone/>
            </a:pPr>
            <a:endParaRPr lang="en-US" altLang="zh-CN" sz="4400" dirty="0">
              <a:latin typeface="+mn-ea"/>
            </a:endParaRP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4400" dirty="0">
                <a:latin typeface="+mn-ea"/>
              </a:rPr>
              <a:t>(2).</a:t>
            </a:r>
            <a:r>
              <a:rPr lang="zh-CN" altLang="en-US" sz="4400" dirty="0">
                <a:latin typeface="+mn-ea"/>
              </a:rPr>
              <a:t>求</a:t>
            </a:r>
            <a:r>
              <a:rPr lang="en-US" altLang="zh-CN" sz="4400" dirty="0">
                <a:latin typeface="+mn-ea"/>
              </a:rPr>
              <a:t>(</a:t>
            </a:r>
            <a:r>
              <a:rPr lang="en-US" altLang="zh-CN" sz="44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4400" dirty="0">
                <a:latin typeface="+mn-ea"/>
              </a:rPr>
              <a:t>P</a:t>
            </a:r>
            <a:r>
              <a:rPr lang="en-US" altLang="zh-CN" sz="4400" dirty="0">
                <a:latin typeface="+mn-ea"/>
                <a:sym typeface="Symbol" panose="05050102010706020507" pitchFamily="18" charset="2"/>
              </a:rPr>
              <a:t>Q</a:t>
            </a:r>
            <a:r>
              <a:rPr lang="en-US" altLang="zh-CN" sz="4400" dirty="0">
                <a:latin typeface="+mn-ea"/>
              </a:rPr>
              <a:t>)</a:t>
            </a:r>
            <a:r>
              <a:rPr lang="en-US" altLang="zh-CN" sz="4400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sz="4400" dirty="0">
                <a:latin typeface="+mn-ea"/>
              </a:rPr>
              <a:t>(P</a:t>
            </a:r>
            <a:r>
              <a:rPr lang="en-US" altLang="zh-CN" sz="4400" dirty="0">
                <a:latin typeface="+mn-ea"/>
                <a:sym typeface="Symbol" panose="05050102010706020507" pitchFamily="18" charset="2"/>
              </a:rPr>
              <a:t>R</a:t>
            </a:r>
            <a:r>
              <a:rPr lang="en-US" altLang="zh-CN" sz="4400" dirty="0">
                <a:latin typeface="+mn-ea"/>
              </a:rPr>
              <a:t>)</a:t>
            </a:r>
            <a:r>
              <a:rPr lang="zh-CN" altLang="en-US" sz="4400" dirty="0">
                <a:latin typeface="+mn-ea"/>
              </a:rPr>
              <a:t>的析取范式和合取范式</a:t>
            </a:r>
          </a:p>
          <a:p>
            <a:pPr>
              <a:lnSpc>
                <a:spcPct val="120000"/>
              </a:lnSpc>
              <a:buFontTx/>
              <a:buNone/>
            </a:pPr>
            <a:endParaRPr lang="zh-CN" altLang="en-US" sz="4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23494367"/>
      </p:ext>
    </p:extLst>
  </p:cSld>
  <p:clrMapOvr>
    <a:masterClrMapping/>
  </p:clrMapOvr>
  <p:transition spd="slow" advTm="0"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2B69F3-ADCE-425C-A32E-C2EBE97E96A4}"/>
              </a:ext>
            </a:extLst>
          </p:cNvPr>
          <p:cNvSpPr/>
          <p:nvPr/>
        </p:nvSpPr>
        <p:spPr>
          <a:xfrm>
            <a:off x="2590800" y="1172151"/>
            <a:ext cx="7239000" cy="4880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tx1"/>
              </a:buClr>
              <a:buFontTx/>
              <a:buNone/>
            </a:pPr>
            <a:r>
              <a:rPr lang="zh-CN" altLang="en-US" sz="3600" dirty="0"/>
              <a:t>求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</a:t>
            </a:r>
            <a:r>
              <a:rPr lang="en-US" altLang="zh-CN" sz="3600" dirty="0"/>
              <a:t>Q)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en-US" altLang="zh-CN" sz="3600" dirty="0"/>
              <a:t>R)</a:t>
            </a:r>
            <a:r>
              <a:rPr lang="zh-CN" altLang="en-US" sz="3600" dirty="0"/>
              <a:t>的合取范式：</a:t>
            </a:r>
          </a:p>
          <a:p>
            <a:pPr>
              <a:lnSpc>
                <a:spcPct val="125000"/>
              </a:lnSpc>
              <a:buClr>
                <a:schemeClr val="tx1"/>
              </a:buClr>
              <a:buFontTx/>
              <a:buNone/>
            </a:pPr>
            <a:r>
              <a:rPr lang="zh-CN" altLang="en-US" sz="3600" dirty="0"/>
              <a:t>	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</a:t>
            </a:r>
            <a:r>
              <a:rPr lang="en-US" altLang="zh-CN" sz="3600" dirty="0"/>
              <a:t>Q)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en-US" altLang="zh-CN" sz="3600" dirty="0"/>
              <a:t>R)</a:t>
            </a:r>
          </a:p>
          <a:p>
            <a:pPr>
              <a:lnSpc>
                <a:spcPct val="125000"/>
              </a:lnSpc>
              <a:buClr>
                <a:schemeClr val="tx1"/>
              </a:buClr>
              <a:buFontTx/>
              <a:buNone/>
            </a:pPr>
            <a:r>
              <a:rPr lang="en-US" altLang="zh-CN" sz="3600" dirty="0">
                <a:sym typeface="Symbol" panose="05050102010706020507" pitchFamily="18" charset="2"/>
              </a:rPr>
              <a:t>        </a:t>
            </a:r>
            <a:r>
              <a:rPr lang="en-US" altLang="zh-CN" sz="3600" dirty="0"/>
              <a:t>(</a:t>
            </a:r>
            <a:r>
              <a:rPr lang="en-US" altLang="zh-CN" sz="3600" dirty="0"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P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Q)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en-US" altLang="zh-CN" sz="3600" dirty="0"/>
              <a:t>R)</a:t>
            </a:r>
          </a:p>
          <a:p>
            <a:pPr>
              <a:lnSpc>
                <a:spcPct val="125000"/>
              </a:lnSpc>
              <a:buClr>
                <a:schemeClr val="tx1"/>
              </a:buClr>
              <a:buFontTx/>
              <a:buNone/>
            </a:pPr>
            <a:r>
              <a:rPr lang="en-US" altLang="zh-CN" sz="3600" dirty="0">
                <a:sym typeface="Symbol" panose="05050102010706020507" pitchFamily="18" charset="2"/>
              </a:rPr>
              <a:t>        </a:t>
            </a:r>
            <a:r>
              <a:rPr lang="en-US" altLang="zh-CN" sz="3600" dirty="0"/>
              <a:t> (</a:t>
            </a:r>
            <a:r>
              <a:rPr lang="en-US" altLang="zh-CN" sz="3600" dirty="0"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P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Q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P)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en-US" altLang="zh-CN" sz="3600" dirty="0"/>
              <a:t> (</a:t>
            </a:r>
            <a:r>
              <a:rPr lang="en-US" altLang="zh-CN" sz="3600" dirty="0"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P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Q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R)</a:t>
            </a:r>
          </a:p>
          <a:p>
            <a:pPr>
              <a:lnSpc>
                <a:spcPct val="125000"/>
              </a:lnSpc>
              <a:buClr>
                <a:schemeClr val="tx1"/>
              </a:buClr>
              <a:buFontTx/>
              <a:buNone/>
            </a:pPr>
            <a:r>
              <a:rPr lang="en-US" altLang="zh-CN" sz="3600" dirty="0"/>
              <a:t>        </a:t>
            </a:r>
            <a:r>
              <a:rPr lang="en-US" altLang="zh-CN" sz="3600" dirty="0">
                <a:sym typeface="Symbol" panose="05050102010706020507" pitchFamily="18" charset="2"/>
              </a:rPr>
              <a:t> </a:t>
            </a:r>
            <a:r>
              <a:rPr lang="en-US" altLang="zh-CN" sz="3600" dirty="0"/>
              <a:t>P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Q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R</a:t>
            </a:r>
          </a:p>
          <a:p>
            <a:pPr>
              <a:lnSpc>
                <a:spcPct val="125000"/>
              </a:lnSpc>
              <a:buClr>
                <a:schemeClr val="tx1"/>
              </a:buClr>
              <a:buFontTx/>
              <a:buNone/>
            </a:pPr>
            <a:r>
              <a:rPr lang="en-US" altLang="zh-CN" sz="3600" dirty="0"/>
              <a:t>	</a:t>
            </a:r>
            <a:r>
              <a:rPr lang="zh-CN" altLang="en-US" sz="3600" dirty="0"/>
              <a:t>显然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</a:t>
            </a:r>
            <a:r>
              <a:rPr lang="en-US" altLang="zh-CN" sz="3600" dirty="0"/>
              <a:t>Q)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en-US" altLang="zh-CN" sz="3600" dirty="0"/>
              <a:t>R)</a:t>
            </a:r>
            <a:r>
              <a:rPr lang="zh-CN" altLang="en-US" sz="3600" dirty="0"/>
              <a:t>的析取范式为</a:t>
            </a:r>
            <a:r>
              <a:rPr lang="en-US" altLang="zh-CN" sz="3600" dirty="0"/>
              <a:t>(</a:t>
            </a:r>
            <a:r>
              <a:rPr lang="en-US" altLang="zh-CN" sz="3600" dirty="0"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P)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Q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en-US" altLang="zh-CN" sz="3600" dirty="0"/>
              <a:t>R)</a:t>
            </a:r>
            <a:r>
              <a:rPr lang="zh-CN" altLang="en-US" sz="3600" dirty="0"/>
              <a:t>。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399971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434BAA-1C59-4D83-ADD5-5CFB60951A9E}"/>
              </a:ext>
            </a:extLst>
          </p:cNvPr>
          <p:cNvSpPr/>
          <p:nvPr/>
        </p:nvSpPr>
        <p:spPr>
          <a:xfrm>
            <a:off x="1571625" y="796711"/>
            <a:ext cx="10095846" cy="659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FontTx/>
              <a:buNone/>
            </a:pPr>
            <a:r>
              <a:rPr lang="zh-CN" altLang="en-US" sz="3200" dirty="0"/>
              <a:t>求</a:t>
            </a:r>
            <a:r>
              <a:rPr lang="en-US" altLang="zh-CN" sz="3200" dirty="0"/>
              <a:t>(</a:t>
            </a:r>
            <a:r>
              <a:rPr lang="en-US" altLang="zh-CN" sz="3200" dirty="0">
                <a:sym typeface="Symbol" panose="05050102010706020507" pitchFamily="18" charset="2"/>
              </a:rPr>
              <a:t></a:t>
            </a:r>
            <a:r>
              <a:rPr lang="en-US" altLang="zh-CN" sz="3200" dirty="0"/>
              <a:t>P</a:t>
            </a:r>
            <a:r>
              <a:rPr lang="en-US" altLang="zh-CN" sz="3200" dirty="0">
                <a:sym typeface="Symbol" panose="05050102010706020507" pitchFamily="18" charset="2"/>
              </a:rPr>
              <a:t></a:t>
            </a:r>
            <a:r>
              <a:rPr lang="en-US" altLang="zh-CN" sz="3200" dirty="0"/>
              <a:t>Q)</a:t>
            </a:r>
            <a:r>
              <a:rPr lang="en-US" altLang="zh-CN" sz="3200" dirty="0">
                <a:sym typeface="Symbol" panose="05050102010706020507" pitchFamily="18" charset="2"/>
              </a:rPr>
              <a:t></a:t>
            </a:r>
            <a:r>
              <a:rPr lang="en-US" altLang="zh-CN" sz="3200" dirty="0"/>
              <a:t>(P</a:t>
            </a:r>
            <a:r>
              <a:rPr lang="en-US" altLang="zh-CN" sz="3200" dirty="0">
                <a:sym typeface="Symbol" panose="05050102010706020507" pitchFamily="18" charset="2"/>
              </a:rPr>
              <a:t></a:t>
            </a:r>
            <a:r>
              <a:rPr lang="en-US" altLang="zh-CN" sz="3200" dirty="0"/>
              <a:t>R)</a:t>
            </a:r>
            <a:r>
              <a:rPr lang="zh-CN" altLang="en-US" sz="3200" dirty="0"/>
              <a:t>的析取范式：	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7E54F2-0C77-4353-8098-C53ECD6958FD}"/>
              </a:ext>
            </a:extLst>
          </p:cNvPr>
          <p:cNvSpPr txBox="1"/>
          <p:nvPr/>
        </p:nvSpPr>
        <p:spPr>
          <a:xfrm>
            <a:off x="1932138" y="1514261"/>
            <a:ext cx="9889724" cy="659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5000"/>
              </a:lnSpc>
              <a:buClr>
                <a:prstClr val="black"/>
              </a:buClr>
            </a:pPr>
            <a:r>
              <a:rPr lang="en-US" altLang="zh-CN" sz="3200" dirty="0">
                <a:solidFill>
                  <a:prstClr val="black"/>
                </a:solidFill>
              </a:rPr>
              <a:t>(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prstClr val="black"/>
                </a:solidFill>
              </a:rPr>
              <a:t>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solidFill>
                  <a:prstClr val="black"/>
                </a:solidFill>
              </a:rPr>
              <a:t>Q)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(P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solidFill>
                  <a:prstClr val="black"/>
                </a:solidFill>
              </a:rPr>
              <a:t>R)</a:t>
            </a:r>
            <a:r>
              <a:rPr lang="zh-CN" altLang="en-US" sz="3200" dirty="0">
                <a:solidFill>
                  <a:prstClr val="black"/>
                </a:solidFill>
              </a:rPr>
              <a:t>     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83EBBC-BFC4-49AD-BE35-0765D69F7E78}"/>
              </a:ext>
            </a:extLst>
          </p:cNvPr>
          <p:cNvSpPr/>
          <p:nvPr/>
        </p:nvSpPr>
        <p:spPr>
          <a:xfrm>
            <a:off x="1932138" y="2231811"/>
            <a:ext cx="9889724" cy="659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prstClr val="black"/>
              </a:buClr>
            </a:pP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solidFill>
                  <a:prstClr val="black"/>
                </a:solidFill>
              </a:rPr>
              <a:t>(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</a:t>
            </a:r>
            <a:r>
              <a:rPr lang="en-US" altLang="zh-CN" sz="3200" dirty="0">
                <a:solidFill>
                  <a:prstClr val="black"/>
                </a:solidFill>
              </a:rPr>
              <a:t>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Q)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(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prstClr val="black"/>
                </a:solidFill>
              </a:rPr>
              <a:t>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R)	</a:t>
            </a:r>
            <a:r>
              <a:rPr lang="zh-CN" altLang="en-US" sz="3200" dirty="0">
                <a:solidFill>
                  <a:prstClr val="black"/>
                </a:solidFill>
              </a:rPr>
              <a:t>                    </a:t>
            </a:r>
            <a:r>
              <a:rPr lang="en-US" altLang="zh-CN" sz="3200" dirty="0">
                <a:solidFill>
                  <a:prstClr val="black"/>
                </a:solidFill>
              </a:rPr>
              <a:t>// </a:t>
            </a:r>
            <a:r>
              <a:rPr lang="zh-CN" altLang="en-US" sz="3200" dirty="0">
                <a:solidFill>
                  <a:prstClr val="black"/>
                </a:solidFill>
              </a:rPr>
              <a:t>蕴涵等值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607E56-38DA-4C11-B1E9-95A99C119F6B}"/>
              </a:ext>
            </a:extLst>
          </p:cNvPr>
          <p:cNvSpPr/>
          <p:nvPr/>
        </p:nvSpPr>
        <p:spPr>
          <a:xfrm>
            <a:off x="1048077" y="2949361"/>
            <a:ext cx="10095845" cy="659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prstClr val="black"/>
              </a:buClr>
            </a:pPr>
            <a:r>
              <a:rPr lang="zh-CN" altLang="en-US" sz="3200" dirty="0">
                <a:solidFill>
                  <a:prstClr val="black"/>
                </a:solidFill>
              </a:rPr>
              <a:t>	</a:t>
            </a:r>
            <a:r>
              <a:rPr lang="zh-CN" altLang="en-US" sz="3200" dirty="0">
                <a:solidFill>
                  <a:prstClr val="black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solidFill>
                  <a:prstClr val="black"/>
                </a:solidFill>
              </a:rPr>
              <a:t>(P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Q)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(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prstClr val="black"/>
                </a:solidFill>
              </a:rPr>
              <a:t>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R) 			// </a:t>
            </a:r>
            <a:r>
              <a:rPr lang="zh-CN" altLang="en-US" sz="3200" dirty="0">
                <a:solidFill>
                  <a:prstClr val="black"/>
                </a:solidFill>
              </a:rPr>
              <a:t>双否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4C958C-ED52-4A7B-89F2-8A4645B79083}"/>
              </a:ext>
            </a:extLst>
          </p:cNvPr>
          <p:cNvSpPr/>
          <p:nvPr/>
        </p:nvSpPr>
        <p:spPr>
          <a:xfrm>
            <a:off x="1048077" y="3666911"/>
            <a:ext cx="9889723" cy="659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prstClr val="black"/>
              </a:buClr>
            </a:pPr>
            <a:r>
              <a:rPr lang="zh-CN" altLang="en-US" sz="3200" dirty="0">
                <a:solidFill>
                  <a:prstClr val="black"/>
                </a:solidFill>
              </a:rPr>
              <a:t>	</a:t>
            </a:r>
            <a:r>
              <a:rPr lang="zh-CN" altLang="en-US" sz="3200" dirty="0">
                <a:solidFill>
                  <a:prstClr val="black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solidFill>
                  <a:prstClr val="black"/>
                </a:solidFill>
              </a:rPr>
              <a:t>(P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</a:t>
            </a:r>
            <a:r>
              <a:rPr lang="en-US" altLang="zh-CN" sz="3200" dirty="0">
                <a:solidFill>
                  <a:prstClr val="black"/>
                </a:solidFill>
              </a:rPr>
              <a:t>P)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(P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R)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(Q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</a:t>
            </a:r>
            <a:r>
              <a:rPr lang="en-US" altLang="zh-CN" sz="3200" dirty="0">
                <a:solidFill>
                  <a:prstClr val="black"/>
                </a:solidFill>
              </a:rPr>
              <a:t>P)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(Q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R)	//</a:t>
            </a:r>
            <a:r>
              <a:rPr lang="zh-CN" altLang="en-US" sz="3200" dirty="0">
                <a:solidFill>
                  <a:prstClr val="black"/>
                </a:solidFill>
              </a:rPr>
              <a:t>分配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7B0711-E050-49D1-8451-7B842F346053}"/>
              </a:ext>
            </a:extLst>
          </p:cNvPr>
          <p:cNvSpPr/>
          <p:nvPr/>
        </p:nvSpPr>
        <p:spPr>
          <a:xfrm>
            <a:off x="1048077" y="4464721"/>
            <a:ext cx="10320230" cy="659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prstClr val="black"/>
              </a:buClr>
            </a:pPr>
            <a:r>
              <a:rPr lang="zh-CN" altLang="en-US" sz="3200" dirty="0">
                <a:solidFill>
                  <a:prstClr val="black"/>
                </a:solidFill>
              </a:rPr>
              <a:t>	</a:t>
            </a:r>
            <a:r>
              <a:rPr lang="zh-CN" altLang="en-US" sz="3200" dirty="0">
                <a:solidFill>
                  <a:prstClr val="black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solidFill>
                  <a:prstClr val="black"/>
                </a:solidFill>
              </a:rPr>
              <a:t>(P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R)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(Q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</a:t>
            </a:r>
            <a:r>
              <a:rPr lang="en-US" altLang="zh-CN" sz="3200" dirty="0">
                <a:solidFill>
                  <a:prstClr val="black"/>
                </a:solidFill>
              </a:rPr>
              <a:t>P)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(Q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R) 		//</a:t>
            </a:r>
            <a:r>
              <a:rPr lang="zh-CN" altLang="en-US" sz="3200" dirty="0">
                <a:solidFill>
                  <a:prstClr val="black"/>
                </a:solidFill>
              </a:rPr>
              <a:t>矛盾	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C3A6DE-A3E1-4852-AD81-51583DFF9C95}"/>
              </a:ext>
            </a:extLst>
          </p:cNvPr>
          <p:cNvSpPr/>
          <p:nvPr/>
        </p:nvSpPr>
        <p:spPr>
          <a:xfrm>
            <a:off x="1932138" y="5315046"/>
            <a:ext cx="87738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prstClr val="black"/>
                </a:solidFill>
              </a:rPr>
              <a:t>显然</a:t>
            </a:r>
            <a:r>
              <a:rPr lang="en-US" altLang="zh-CN" sz="3200" dirty="0">
                <a:solidFill>
                  <a:prstClr val="black"/>
                </a:solidFill>
              </a:rPr>
              <a:t>(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prstClr val="black"/>
                </a:solidFill>
              </a:rPr>
              <a:t>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solidFill>
                  <a:prstClr val="black"/>
                </a:solidFill>
              </a:rPr>
              <a:t>Q)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(P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solidFill>
                  <a:prstClr val="black"/>
                </a:solidFill>
              </a:rPr>
              <a:t>R)</a:t>
            </a:r>
            <a:r>
              <a:rPr lang="zh-CN" altLang="en-US" sz="3200" dirty="0">
                <a:solidFill>
                  <a:prstClr val="black"/>
                </a:solidFill>
              </a:rPr>
              <a:t>的合取范式为</a:t>
            </a:r>
            <a:r>
              <a:rPr lang="en-US" altLang="zh-CN" sz="3200" dirty="0">
                <a:solidFill>
                  <a:prstClr val="black"/>
                </a:solidFill>
              </a:rPr>
              <a:t>(P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Q)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(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prstClr val="black"/>
                </a:solidFill>
              </a:rPr>
              <a:t>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R)</a:t>
            </a:r>
            <a:r>
              <a:rPr lang="zh-CN" altLang="en-US" sz="3200" dirty="0">
                <a:solidFill>
                  <a:prstClr val="black"/>
                </a:solidFill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832816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10" grpId="0"/>
      <p:bldP spid="12" grpId="0"/>
      <p:bldP spid="14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4792</TotalTime>
  <Words>4648</Words>
  <Application>Microsoft Office PowerPoint</Application>
  <PresentationFormat>宽屏</PresentationFormat>
  <Paragraphs>901</Paragraphs>
  <Slides>60</Slides>
  <Notes>60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7" baseType="lpstr">
      <vt:lpstr>Microsoft YaHei Light</vt:lpstr>
      <vt:lpstr>等线</vt:lpstr>
      <vt:lpstr>等线 Light</vt:lpstr>
      <vt:lpstr>SimHei</vt:lpstr>
      <vt:lpstr>SimHei</vt:lpstr>
      <vt:lpstr>KaiTi</vt:lpstr>
      <vt:lpstr>宋体</vt:lpstr>
      <vt:lpstr>Arial</vt:lpstr>
      <vt:lpstr>Arial Black</vt:lpstr>
      <vt:lpstr>Calisto MT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PBrush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77</dc:creator>
  <cp:lastModifiedBy>y z</cp:lastModifiedBy>
  <cp:revision>52</cp:revision>
  <dcterms:created xsi:type="dcterms:W3CDTF">2019-03-06T14:28:51Z</dcterms:created>
  <dcterms:modified xsi:type="dcterms:W3CDTF">2025-09-29T15:31:05Z</dcterms:modified>
</cp:coreProperties>
</file>