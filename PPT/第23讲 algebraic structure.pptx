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45" r:id="rId2"/>
    <p:sldId id="1542" r:id="rId3"/>
    <p:sldId id="1491" r:id="rId4"/>
    <p:sldId id="1499" r:id="rId5"/>
    <p:sldId id="1501" r:id="rId6"/>
    <p:sldId id="1503" r:id="rId7"/>
    <p:sldId id="1509" r:id="rId8"/>
    <p:sldId id="1505" r:id="rId9"/>
    <p:sldId id="1507" r:id="rId10"/>
    <p:sldId id="1512" r:id="rId11"/>
    <p:sldId id="1516" r:id="rId12"/>
    <p:sldId id="1575" r:id="rId13"/>
    <p:sldId id="1577" r:id="rId14"/>
    <p:sldId id="1576" r:id="rId15"/>
    <p:sldId id="1578" r:id="rId16"/>
    <p:sldId id="2373" r:id="rId17"/>
    <p:sldId id="2383" r:id="rId18"/>
    <p:sldId id="2384" r:id="rId19"/>
    <p:sldId id="1538" r:id="rId20"/>
    <p:sldId id="2391" r:id="rId21"/>
    <p:sldId id="1565" r:id="rId22"/>
    <p:sldId id="1566" r:id="rId23"/>
    <p:sldId id="1567" r:id="rId24"/>
    <p:sldId id="2377" r:id="rId25"/>
    <p:sldId id="2378" r:id="rId26"/>
    <p:sldId id="2379" r:id="rId27"/>
    <p:sldId id="1623" r:id="rId28"/>
    <p:sldId id="1625" r:id="rId29"/>
    <p:sldId id="1629" r:id="rId30"/>
    <p:sldId id="1630" r:id="rId31"/>
    <p:sldId id="2399" r:id="rId32"/>
    <p:sldId id="2400" r:id="rId33"/>
    <p:sldId id="1559" r:id="rId34"/>
    <p:sldId id="1571" r:id="rId35"/>
    <p:sldId id="2401" r:id="rId36"/>
    <p:sldId id="1619" r:id="rId37"/>
    <p:sldId id="1563" r:id="rId38"/>
    <p:sldId id="1584" r:id="rId39"/>
    <p:sldId id="1564" r:id="rId40"/>
    <p:sldId id="2394" r:id="rId41"/>
    <p:sldId id="1572" r:id="rId42"/>
    <p:sldId id="1573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66" autoAdjust="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7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94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994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22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480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56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81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28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65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08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141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379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209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251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934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317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436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584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7838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382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8795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891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3255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4914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313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650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970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345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222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9222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585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7924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6348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5455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9346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6461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893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7445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8939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423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25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1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image" Target="../media/image1.png"/><Relationship Id="rId7" Type="http://schemas.openxmlformats.org/officeDocument/2006/relationships/image" Target="../media/image11.wmf"/><Relationship Id="rId12" Type="http://schemas.openxmlformats.org/officeDocument/2006/relationships/image" Target="../media/image13.wmf"/><Relationship Id="rId2" Type="http://schemas.openxmlformats.org/officeDocument/2006/relationships/notesSlide" Target="../notesSlides/notesSlide29.xml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oleObject" Target="../embeddings/oleObject15.bin"/><Relationship Id="rId18" Type="http://schemas.openxmlformats.org/officeDocument/2006/relationships/oleObject" Target="../embeddings/oleObject19.bin"/><Relationship Id="rId26" Type="http://schemas.openxmlformats.org/officeDocument/2006/relationships/oleObject" Target="../embeddings/oleObject23.bin"/><Relationship Id="rId3" Type="http://schemas.openxmlformats.org/officeDocument/2006/relationships/image" Target="../media/image1.png"/><Relationship Id="rId21" Type="http://schemas.openxmlformats.org/officeDocument/2006/relationships/image" Target="../media/image16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4.wmf"/><Relationship Id="rId25" Type="http://schemas.openxmlformats.org/officeDocument/2006/relationships/image" Target="../media/image18.wmf"/><Relationship Id="rId2" Type="http://schemas.openxmlformats.org/officeDocument/2006/relationships/notesSlide" Target="../notesSlides/notesSlide30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1.wmf"/><Relationship Id="rId24" Type="http://schemas.openxmlformats.org/officeDocument/2006/relationships/oleObject" Target="../embeddings/oleObject22.bin"/><Relationship Id="rId5" Type="http://schemas.openxmlformats.org/officeDocument/2006/relationships/image" Target="../media/image12.wmf"/><Relationship Id="rId15" Type="http://schemas.openxmlformats.org/officeDocument/2006/relationships/oleObject" Target="../embeddings/oleObject17.bin"/><Relationship Id="rId23" Type="http://schemas.openxmlformats.org/officeDocument/2006/relationships/image" Target="../media/image17.wmf"/><Relationship Id="rId28" Type="http://schemas.openxmlformats.org/officeDocument/2006/relationships/oleObject" Target="../embeddings/oleObject25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1.bin"/><Relationship Id="rId27" Type="http://schemas.openxmlformats.org/officeDocument/2006/relationships/oleObject" Target="../embeddings/oleObject2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oleObject" Target="../embeddings/oleObject31.bin"/><Relationship Id="rId3" Type="http://schemas.openxmlformats.org/officeDocument/2006/relationships/image" Target="../media/image1.png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30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11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3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33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34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35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3144711" y="2644170"/>
            <a:ext cx="590257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代数结构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Algebraic Structure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41377878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F63290-B538-4EE7-A8EB-882E59DA42B9}"/>
              </a:ext>
            </a:extLst>
          </p:cNvPr>
          <p:cNvSpPr/>
          <p:nvPr/>
        </p:nvSpPr>
        <p:spPr>
          <a:xfrm>
            <a:off x="1493495" y="1546337"/>
            <a:ext cx="9205009" cy="260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上的二元运算。则我们称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结合律 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交换律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E667BC-7983-44F7-B6BF-D99E3A53477F}"/>
              </a:ext>
            </a:extLst>
          </p:cNvPr>
          <p:cNvSpPr/>
          <p:nvPr/>
        </p:nvSpPr>
        <p:spPr>
          <a:xfrm>
            <a:off x="1751013" y="4408292"/>
            <a:ext cx="8310694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结合律改变的是运算的先后次序；交换律改变的是运算对象的位置顺序。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前者是对</a:t>
            </a:r>
            <a:r>
              <a:rPr lang="zh-CN" altLang="en-US" sz="2400" u="sng" dirty="0">
                <a:latin typeface="楷体_GB2312" pitchFamily="49" charset="-122"/>
                <a:ea typeface="楷体_GB2312" pitchFamily="49" charset="-122"/>
              </a:rPr>
              <a:t>运算符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而言；后者是对</a:t>
            </a:r>
            <a:r>
              <a:rPr lang="zh-CN" altLang="en-US" sz="2400" u="sng" dirty="0">
                <a:latin typeface="楷体_GB2312" pitchFamily="49" charset="-122"/>
                <a:ea typeface="楷体_GB2312" pitchFamily="49" charset="-122"/>
              </a:rPr>
              <a:t>运算对象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而言。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为此二元运算的结合律和交换律是两个根本不同的概念。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5DD494-E1EA-4B75-9519-D309BA82FEB3}"/>
              </a:ext>
            </a:extLst>
          </p:cNvPr>
          <p:cNvSpPr txBox="1"/>
          <p:nvPr/>
        </p:nvSpPr>
        <p:spPr>
          <a:xfrm>
            <a:off x="1686267" y="870963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运算性质</a:t>
            </a:r>
            <a:endParaRPr lang="en-US" altLang="zh-C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52166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972519-9D6B-42C0-978E-54083A7F34E9}"/>
              </a:ext>
            </a:extLst>
          </p:cNvPr>
          <p:cNvSpPr/>
          <p:nvPr/>
        </p:nvSpPr>
        <p:spPr>
          <a:xfrm>
            <a:off x="1675511" y="1014675"/>
            <a:ext cx="8508723" cy="3245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消去律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(cancellation law)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称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运算满足消去律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b) 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AF61C3-2083-41D3-BA4C-09721046A14A}"/>
              </a:ext>
            </a:extLst>
          </p:cNvPr>
          <p:cNvSpPr txBox="1"/>
          <p:nvPr/>
        </p:nvSpPr>
        <p:spPr>
          <a:xfrm>
            <a:off x="2470138" y="4744239"/>
            <a:ext cx="6143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x(y)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可消去元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422352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1D55F2-8F14-4644-8D00-9ED4CF89317A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29811"/>
            <a:ext cx="76200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分配律</a:t>
            </a:r>
            <a:r>
              <a:rPr lang="en-US" altLang="zh-CN" sz="2400" dirty="0">
                <a:solidFill>
                  <a:srgbClr val="C00000"/>
                </a:solidFill>
              </a:rPr>
              <a:t>(distributive law)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设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X,</a:t>
            </a:r>
            <a:r>
              <a:rPr lang="en-US" altLang="zh-CN" sz="2400" dirty="0">
                <a:latin typeface="宋体" panose="02010600030101010101" pitchFamily="2" charset="-122"/>
              </a:rPr>
              <a:t>*,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是代数系统，*和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en-US" altLang="zh-CN" sz="24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上的两个二元运算。</a:t>
            </a: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latin typeface="宋体" panose="02010600030101010101" pitchFamily="2" charset="-122"/>
              </a:rPr>
              <a:t>称*运算对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运算满足分配律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 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z </a:t>
            </a:r>
            <a:r>
              <a:rPr lang="en-US" altLang="zh-CN" sz="2400" dirty="0">
                <a:sym typeface="Symbol" panose="05050102010706020507" pitchFamily="18" charset="2"/>
              </a:rPr>
              <a:t>))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/>
              <a:t>          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Symbol" panose="05050102010706020507" pitchFamily="18" charset="2"/>
              </a:rPr>
              <a:t>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sym typeface="Symbol" panose="05050102010706020507" pitchFamily="18" charset="2"/>
              </a:rPr>
              <a:t>))</a:t>
            </a:r>
            <a:r>
              <a:rPr lang="zh-CN" altLang="en-US" sz="2400" dirty="0">
                <a:sym typeface="Symbol" panose="05050102010706020507" pitchFamily="18" charset="2"/>
              </a:rPr>
              <a:t>；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</a:rPr>
              <a:t>(2)</a:t>
            </a:r>
            <a:r>
              <a:rPr lang="zh-CN" altLang="en-US" sz="2400" dirty="0">
                <a:latin typeface="宋体" panose="02010600030101010101" pitchFamily="2" charset="-122"/>
              </a:rPr>
              <a:t>称运算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对运算*满足分配律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i="1" dirty="0">
                <a:sym typeface="Symbol" panose="05050102010706020507" pitchFamily="18" charset="2"/>
              </a:rPr>
              <a:t>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(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z </a:t>
            </a:r>
            <a:r>
              <a:rPr lang="en-US" altLang="zh-CN" sz="2400" dirty="0">
                <a:sym typeface="Symbol" panose="05050102010706020507" pitchFamily="18" charset="2"/>
              </a:rPr>
              <a:t>))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         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/>
              <a:t>            </a:t>
            </a:r>
            <a:r>
              <a:rPr lang="en-US" altLang="zh-CN" sz="2400" dirty="0"/>
              <a:t>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sym typeface="Symbol" panose="05050102010706020507" pitchFamily="18" charset="2"/>
              </a:rPr>
              <a:t> </a:t>
            </a:r>
            <a:r>
              <a:rPr lang="en-US" altLang="zh-CN" sz="2400" i="1" dirty="0">
                <a:sym typeface="Symbol" panose="05050102010706020507" pitchFamily="18" charset="2"/>
              </a:rPr>
              <a:t> 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(</a:t>
            </a:r>
            <a:r>
              <a:rPr lang="en-US" altLang="zh-CN" sz="2400" i="1" dirty="0">
                <a:sym typeface="Symbol" panose="05050102010706020507" pitchFamily="18" charset="2"/>
              </a:rPr>
              <a:t>z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sym typeface="Symbol" panose="05050102010706020507" pitchFamily="18" charset="2"/>
              </a:rPr>
              <a:t>))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38809241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7895F-7743-4B86-B2BD-7B2ED35EFF8C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29811"/>
            <a:ext cx="76200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吸收律</a:t>
            </a:r>
            <a:r>
              <a:rPr lang="en-US" altLang="zh-CN" sz="2400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设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X,</a:t>
            </a:r>
            <a:r>
              <a:rPr lang="en-US" altLang="zh-CN" sz="2400" dirty="0">
                <a:latin typeface="宋体" panose="02010600030101010101" pitchFamily="2" charset="-122"/>
              </a:rPr>
              <a:t>*,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是代数系统，*和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en-US" altLang="zh-CN" sz="24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上的两个二元运算。</a:t>
            </a: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latin typeface="宋体" panose="02010600030101010101" pitchFamily="2" charset="-122"/>
              </a:rPr>
              <a:t>称*运算对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运算满足吸收律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 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x)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/>
              <a:t>          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x)</a:t>
            </a:r>
            <a:r>
              <a:rPr lang="zh-CN" altLang="en-US" sz="2400" dirty="0">
                <a:sym typeface="Symbol" panose="05050102010706020507" pitchFamily="18" charset="2"/>
              </a:rPr>
              <a:t>；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</a:rPr>
              <a:t>(2)</a:t>
            </a:r>
            <a:r>
              <a:rPr lang="zh-CN" altLang="en-US" sz="2400" dirty="0">
                <a:latin typeface="宋体" panose="02010600030101010101" pitchFamily="2" charset="-122"/>
              </a:rPr>
              <a:t>称运算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对运算*满足吸收律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         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/>
              <a:t>            </a:t>
            </a:r>
            <a:r>
              <a:rPr lang="en-US" altLang="zh-CN" sz="2400" dirty="0"/>
              <a:t>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 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x)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16660490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7895F-7743-4B86-B2BD-7B2ED35EFF8C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29811"/>
            <a:ext cx="76200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幂等律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幂等元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</a:p>
          <a:p>
            <a:pPr marL="0" indent="0" fontAlgn="t">
              <a:buFont typeface="Wingdings" panose="05000000000000000000" pitchFamily="2" charset="2"/>
              <a:buNone/>
            </a:pP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(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x*x=x)</a:t>
            </a:r>
          </a:p>
          <a:p>
            <a:pPr marL="0" indent="0" fontAlgn="t">
              <a:buFont typeface="Wingdings" panose="05000000000000000000" pitchFamily="2" charset="2"/>
              <a:buNone/>
            </a:pP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如果某些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x*x=x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，称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为*运算的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幂等元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 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71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D93C95-009C-47BF-BDFD-345915A9213C}"/>
              </a:ext>
            </a:extLst>
          </p:cNvPr>
          <p:cNvSpPr txBox="1"/>
          <p:nvPr/>
        </p:nvSpPr>
        <p:spPr>
          <a:xfrm>
            <a:off x="1686267" y="1000016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特殊元素</a:t>
            </a:r>
            <a:endParaRPr lang="en-US" altLang="zh-C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19A07D-42EC-43EF-BCFB-E1148B293CF1}"/>
              </a:ext>
            </a:extLst>
          </p:cNvPr>
          <p:cNvSpPr/>
          <p:nvPr/>
        </p:nvSpPr>
        <p:spPr>
          <a:xfrm>
            <a:off x="1686267" y="1584791"/>
            <a:ext cx="9787157" cy="2801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单位元　零元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(identity element, zero element)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。则称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运算的零元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096497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347E5D-9986-42F6-9054-5F657865944B}"/>
              </a:ext>
            </a:extLst>
          </p:cNvPr>
          <p:cNvSpPr/>
          <p:nvPr/>
        </p:nvSpPr>
        <p:spPr>
          <a:xfrm>
            <a:off x="1571625" y="932518"/>
            <a:ext cx="68739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逆元　可逆性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(inverse element , invertibility)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8549A296-BCC4-43A4-9569-538EB434C2DB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4" y="1662859"/>
            <a:ext cx="9149505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,*,e)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是代数系统，*是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是关于*运算有单位元。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对于某一元素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存在着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某个元素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关于*运算的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逆元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，并称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关于*运算是可逆的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(invertible)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，同时称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是关于*运算的可逆元；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称：　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*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运算在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上是可逆的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 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=e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X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中的每个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元素都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是关于*运算的可逆元 。</a:t>
            </a:r>
          </a:p>
        </p:txBody>
      </p:sp>
    </p:spTree>
    <p:extLst>
      <p:ext uri="{BB962C8B-B14F-4D97-AF65-F5344CB8AC3E}">
        <p14:creationId xmlns:p14="http://schemas.microsoft.com/office/powerpoint/2010/main" val="350201870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B10485-6724-4BC9-A5E6-6E926232D63D}"/>
              </a:ext>
            </a:extLst>
          </p:cNvPr>
          <p:cNvSpPr/>
          <p:nvPr/>
        </p:nvSpPr>
        <p:spPr>
          <a:xfrm>
            <a:off x="1487647" y="851630"/>
            <a:ext cx="9527098" cy="4550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子代数系统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(subalgebra system)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是代数系统，其中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个运算，其元数分别为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。若有子集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S≠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中的每一个运算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有其子关系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也是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元运算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，从而使得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也构成一代数系统，则我们称此代数系统是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的子代数系统，记为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=(S, 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025959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64F9FE-9F63-4F8B-9447-729DFA46D5E4}"/>
              </a:ext>
            </a:extLst>
          </p:cNvPr>
          <p:cNvSpPr/>
          <p:nvPr/>
        </p:nvSpPr>
        <p:spPr>
          <a:xfrm>
            <a:off x="1571625" y="738188"/>
            <a:ext cx="9367707" cy="2505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遗传性定理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是代数系统，*是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的子代数系统。则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(1)*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上有结合律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上有结合律；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(2)*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上有交换律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上有交换律。</a:t>
            </a:r>
          </a:p>
          <a:p>
            <a:pPr>
              <a:lnSpc>
                <a:spcPct val="80000"/>
              </a:lnSpc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A4D942-9514-4F20-8A3D-1F9947F80450}"/>
              </a:ext>
            </a:extLst>
          </p:cNvPr>
          <p:cNvSpPr/>
          <p:nvPr/>
        </p:nvSpPr>
        <p:spPr>
          <a:xfrm>
            <a:off x="1986953" y="3776593"/>
            <a:ext cx="77654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其它许多性质，诸如消去律、分配律、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de </a:t>
            </a: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morgan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律等等，在其各自所在类的代数系统与其子代数系统间，都有遗传性定理成立！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22171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A25910-A178-49FC-AD23-E76B9F347F6F}"/>
              </a:ext>
            </a:extLst>
          </p:cNvPr>
          <p:cNvSpPr/>
          <p:nvPr/>
        </p:nvSpPr>
        <p:spPr>
          <a:xfrm>
            <a:off x="1571625" y="1021252"/>
            <a:ext cx="30524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同类型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(same type)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A9DB0-E9B5-4901-88A1-2DF960257F03}"/>
              </a:ext>
            </a:extLst>
          </p:cNvPr>
          <p:cNvSpPr/>
          <p:nvPr/>
        </p:nvSpPr>
        <p:spPr>
          <a:xfrm>
            <a:off x="1855165" y="1878916"/>
            <a:ext cx="9090869" cy="3251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称两个代数系统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,···,O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B=(Y,    ,     ,···,     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同类型的代数系统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m = 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运算和相对应的    运算的元数相同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···,m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Picture 1060">
            <a:extLst>
              <a:ext uri="{FF2B5EF4-FFF2-40B4-BE49-F238E27FC236}">
                <a16:creationId xmlns:a16="http://schemas.microsoft.com/office/drawing/2014/main" id="{03BCD37B-ABAA-4CD1-A7C0-BC9B9D048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968" y="2658507"/>
            <a:ext cx="41592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1061">
            <a:extLst>
              <a:ext uri="{FF2B5EF4-FFF2-40B4-BE49-F238E27FC236}">
                <a16:creationId xmlns:a16="http://schemas.microsoft.com/office/drawing/2014/main" id="{678CC513-D35B-4071-A8CC-BB1D34D6A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168" y="2658507"/>
            <a:ext cx="44450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1062">
            <a:extLst>
              <a:ext uri="{FF2B5EF4-FFF2-40B4-BE49-F238E27FC236}">
                <a16:creationId xmlns:a16="http://schemas.microsoft.com/office/drawing/2014/main" id="{896CA955-7177-4682-A271-2F33CAA29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168" y="2658507"/>
            <a:ext cx="471488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1063">
            <a:extLst>
              <a:ext uri="{FF2B5EF4-FFF2-40B4-BE49-F238E27FC236}">
                <a16:creationId xmlns:a16="http://schemas.microsoft.com/office/drawing/2014/main" id="{33890692-6FE4-4156-AC6A-C5EC80A91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173" y="4591873"/>
            <a:ext cx="417513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143514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5" name="Group 80">
            <a:extLst>
              <a:ext uri="{FF2B5EF4-FFF2-40B4-BE49-F238E27FC236}">
                <a16:creationId xmlns:a16="http://schemas.microsoft.com/office/drawing/2014/main" id="{59E4F394-7A87-4C80-9429-DD1358524EFA}"/>
              </a:ext>
            </a:extLst>
          </p:cNvPr>
          <p:cNvGrpSpPr>
            <a:grpSpLocks/>
          </p:cNvGrpSpPr>
          <p:nvPr/>
        </p:nvGrpSpPr>
        <p:grpSpPr bwMode="auto">
          <a:xfrm>
            <a:off x="2946196" y="2307074"/>
            <a:ext cx="6096000" cy="2378075"/>
            <a:chOff x="1344" y="816"/>
            <a:chExt cx="3840" cy="1498"/>
          </a:xfrm>
        </p:grpSpPr>
        <p:sp>
          <p:nvSpPr>
            <p:cNvPr id="6" name="Oval 24">
              <a:extLst>
                <a:ext uri="{FF2B5EF4-FFF2-40B4-BE49-F238E27FC236}">
                  <a16:creationId xmlns:a16="http://schemas.microsoft.com/office/drawing/2014/main" id="{D0573DE2-83C6-4A2A-ADED-23DE4F24A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816"/>
              <a:ext cx="1440" cy="110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25">
              <a:extLst>
                <a:ext uri="{FF2B5EF4-FFF2-40B4-BE49-F238E27FC236}">
                  <a16:creationId xmlns:a16="http://schemas.microsoft.com/office/drawing/2014/main" id="{BA698C3F-F0AE-4D1A-9B16-101D1F7BB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816"/>
              <a:ext cx="1488" cy="110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26">
              <a:extLst>
                <a:ext uri="{FF2B5EF4-FFF2-40B4-BE49-F238E27FC236}">
                  <a16:creationId xmlns:a16="http://schemas.microsoft.com/office/drawing/2014/main" id="{96F435BF-91DB-4CD3-9EB2-9A92E1064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92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  <p:sp>
          <p:nvSpPr>
            <p:cNvPr id="9" name="Text Box 27">
              <a:extLst>
                <a:ext uri="{FF2B5EF4-FFF2-40B4-BE49-F238E27FC236}">
                  <a16:creationId xmlns:a16="http://schemas.microsoft.com/office/drawing/2014/main" id="{CE9DCC44-3431-4A17-B232-CB03C6124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920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Y</a:t>
              </a:r>
            </a:p>
          </p:txBody>
        </p:sp>
        <p:sp>
          <p:nvSpPr>
            <p:cNvPr id="10" name="Oval 28">
              <a:extLst>
                <a:ext uri="{FF2B5EF4-FFF2-40B4-BE49-F238E27FC236}">
                  <a16:creationId xmlns:a16="http://schemas.microsoft.com/office/drawing/2014/main" id="{749340E5-43B6-4076-A78C-E7CE5A649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152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29">
              <a:extLst>
                <a:ext uri="{FF2B5EF4-FFF2-40B4-BE49-F238E27FC236}">
                  <a16:creationId xmlns:a16="http://schemas.microsoft.com/office/drawing/2014/main" id="{0B46BD83-5E57-4D49-B80A-DA57A5332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056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30">
              <a:extLst>
                <a:ext uri="{FF2B5EF4-FFF2-40B4-BE49-F238E27FC236}">
                  <a16:creationId xmlns:a16="http://schemas.microsoft.com/office/drawing/2014/main" id="{4460F9AC-904A-4A06-AC75-51493C762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00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31">
              <a:extLst>
                <a:ext uri="{FF2B5EF4-FFF2-40B4-BE49-F238E27FC236}">
                  <a16:creationId xmlns:a16="http://schemas.microsoft.com/office/drawing/2014/main" id="{C0B75C13-DFE5-45C1-8AE6-376B1D6F2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36"/>
              <a:ext cx="96" cy="96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32">
              <a:extLst>
                <a:ext uri="{FF2B5EF4-FFF2-40B4-BE49-F238E27FC236}">
                  <a16:creationId xmlns:a16="http://schemas.microsoft.com/office/drawing/2014/main" id="{4E906567-EDEA-43DF-BD14-92BC8A385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200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33">
              <a:extLst>
                <a:ext uri="{FF2B5EF4-FFF2-40B4-BE49-F238E27FC236}">
                  <a16:creationId xmlns:a16="http://schemas.microsoft.com/office/drawing/2014/main" id="{CCC1FEFF-9EF2-4218-9148-C8F468D8B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00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35">
              <a:extLst>
                <a:ext uri="{FF2B5EF4-FFF2-40B4-BE49-F238E27FC236}">
                  <a16:creationId xmlns:a16="http://schemas.microsoft.com/office/drawing/2014/main" id="{A2B93C83-7BD9-4097-A863-4DF1F88A6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104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36">
              <a:extLst>
                <a:ext uri="{FF2B5EF4-FFF2-40B4-BE49-F238E27FC236}">
                  <a16:creationId xmlns:a16="http://schemas.microsoft.com/office/drawing/2014/main" id="{E2DD0BBF-D2AC-464F-9A9E-F0A7849B6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584"/>
              <a:ext cx="96" cy="96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37">
              <a:extLst>
                <a:ext uri="{FF2B5EF4-FFF2-40B4-BE49-F238E27FC236}">
                  <a16:creationId xmlns:a16="http://schemas.microsoft.com/office/drawing/2014/main" id="{FDAD771D-57EB-443C-BA54-FB781E7F6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056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38">
              <a:extLst>
                <a:ext uri="{FF2B5EF4-FFF2-40B4-BE49-F238E27FC236}">
                  <a16:creationId xmlns:a16="http://schemas.microsoft.com/office/drawing/2014/main" id="{007BD51B-E446-40E1-A0AD-517AFBFAD0C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08" y="1056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39">
              <a:extLst>
                <a:ext uri="{FF2B5EF4-FFF2-40B4-BE49-F238E27FC236}">
                  <a16:creationId xmlns:a16="http://schemas.microsoft.com/office/drawing/2014/main" id="{81959F90-DB5C-4E50-8248-B2F75FAA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04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41">
              <a:extLst>
                <a:ext uri="{FF2B5EF4-FFF2-40B4-BE49-F238E27FC236}">
                  <a16:creationId xmlns:a16="http://schemas.microsoft.com/office/drawing/2014/main" id="{E76C4B4E-BE70-4395-BBD7-4814781D8A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16" y="1008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42">
              <a:extLst>
                <a:ext uri="{FF2B5EF4-FFF2-40B4-BE49-F238E27FC236}">
                  <a16:creationId xmlns:a16="http://schemas.microsoft.com/office/drawing/2014/main" id="{F87C2C3D-B631-41BC-9972-56878BA3908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60" y="1008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43">
              <a:extLst>
                <a:ext uri="{FF2B5EF4-FFF2-40B4-BE49-F238E27FC236}">
                  <a16:creationId xmlns:a16="http://schemas.microsoft.com/office/drawing/2014/main" id="{AAE3B9A0-425E-400F-B752-BB46EEF98F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704" y="1056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48">
              <a:extLst>
                <a:ext uri="{FF2B5EF4-FFF2-40B4-BE49-F238E27FC236}">
                  <a16:creationId xmlns:a16="http://schemas.microsoft.com/office/drawing/2014/main" id="{D4702481-1BA9-49DC-8FFD-73989A295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584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  <a:r>
                <a:rPr lang="en-US" altLang="zh-CN" baseline="-25000"/>
                <a:t>i</a:t>
              </a:r>
              <a:r>
                <a:rPr lang="en-US" altLang="zh-CN"/>
                <a:t>(a</a:t>
              </a:r>
              <a:r>
                <a:rPr lang="en-US" altLang="zh-CN" baseline="-25000"/>
                <a:t>1</a:t>
              </a:r>
              <a:r>
                <a:rPr lang="en-US" altLang="zh-CN"/>
                <a:t>, a</a:t>
              </a:r>
              <a:r>
                <a:rPr lang="en-US" altLang="zh-CN" baseline="-25000"/>
                <a:t>2</a:t>
              </a:r>
              <a:r>
                <a:rPr lang="en-US" altLang="zh-CN"/>
                <a:t>,</a:t>
              </a:r>
              <a:r>
                <a:rPr lang="en-US" altLang="zh-CN">
                  <a:sym typeface="Symbol" panose="05050102010706020507" pitchFamily="18" charset="2"/>
                </a:rPr>
                <a:t></a:t>
              </a:r>
              <a:r>
                <a:rPr lang="en-US" altLang="zh-CN"/>
                <a:t> ,a</a:t>
              </a:r>
              <a:r>
                <a:rPr lang="en-US" altLang="zh-CN" baseline="-25000"/>
                <a:t>pi</a:t>
              </a:r>
              <a:r>
                <a:rPr lang="en-US" altLang="zh-CN"/>
                <a:t>)</a:t>
              </a:r>
            </a:p>
          </p:txBody>
        </p:sp>
        <p:sp>
          <p:nvSpPr>
            <p:cNvPr id="25" name="Text Box 44">
              <a:extLst>
                <a:ext uri="{FF2B5EF4-FFF2-40B4-BE49-F238E27FC236}">
                  <a16:creationId xmlns:a16="http://schemas.microsoft.com/office/drawing/2014/main" id="{6E59ED60-3ACE-4103-8968-6E846786F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20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26" name="Text Box 45">
              <a:extLst>
                <a:ext uri="{FF2B5EF4-FFF2-40B4-BE49-F238E27FC236}">
                  <a16:creationId xmlns:a16="http://schemas.microsoft.com/office/drawing/2014/main" id="{49C87B75-7DD0-4DB6-935B-F49C59C2E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0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27" name="Text Box 47">
              <a:extLst>
                <a:ext uri="{FF2B5EF4-FFF2-40B4-BE49-F238E27FC236}">
                  <a16:creationId xmlns:a16="http://schemas.microsoft.com/office/drawing/2014/main" id="{93CE33A2-B6ED-4297-9CC5-696F63CD2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632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28" name="Text Box 46">
              <a:extLst>
                <a:ext uri="{FF2B5EF4-FFF2-40B4-BE49-F238E27FC236}">
                  <a16:creationId xmlns:a16="http://schemas.microsoft.com/office/drawing/2014/main" id="{44367F2D-16E1-457B-BEDB-D3C8B479C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4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pi</a:t>
              </a:r>
              <a:endParaRPr lang="en-US" altLang="zh-CN"/>
            </a:p>
          </p:txBody>
        </p:sp>
        <p:sp>
          <p:nvSpPr>
            <p:cNvPr id="29" name="Text Box 49">
              <a:extLst>
                <a:ext uri="{FF2B5EF4-FFF2-40B4-BE49-F238E27FC236}">
                  <a16:creationId xmlns:a16="http://schemas.microsoft.com/office/drawing/2014/main" id="{78BD7B0A-D158-4D5D-8DE3-531D3E4F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0" name="Text Box 52">
              <a:extLst>
                <a:ext uri="{FF2B5EF4-FFF2-40B4-BE49-F238E27FC236}">
                  <a16:creationId xmlns:a16="http://schemas.microsoft.com/office/drawing/2014/main" id="{30780AD9-9DAA-4795-919A-DC93582BC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632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(b</a:t>
              </a:r>
              <a:r>
                <a:rPr lang="en-US" altLang="zh-CN" baseline="-25000"/>
                <a:t>1</a:t>
              </a:r>
              <a:r>
                <a:rPr lang="en-US" altLang="zh-CN"/>
                <a:t>, b</a:t>
              </a:r>
              <a:r>
                <a:rPr lang="en-US" altLang="zh-CN" baseline="-25000"/>
                <a:t>2</a:t>
              </a:r>
              <a:r>
                <a:rPr lang="en-US" altLang="zh-CN"/>
                <a:t>,</a:t>
              </a:r>
              <a:r>
                <a:rPr lang="en-US" altLang="zh-CN">
                  <a:sym typeface="Symbol" panose="05050102010706020507" pitchFamily="18" charset="2"/>
                </a:rPr>
                <a:t></a:t>
              </a:r>
              <a:r>
                <a:rPr lang="en-US" altLang="zh-CN"/>
                <a:t> ,b</a:t>
              </a:r>
              <a:r>
                <a:rPr lang="en-US" altLang="zh-CN" baseline="-25000"/>
                <a:t>pi</a:t>
              </a:r>
              <a:r>
                <a:rPr lang="en-US" altLang="zh-CN"/>
                <a:t>)</a:t>
              </a:r>
            </a:p>
          </p:txBody>
        </p:sp>
        <p:sp>
          <p:nvSpPr>
            <p:cNvPr id="31" name="Text Box 50">
              <a:extLst>
                <a:ext uri="{FF2B5EF4-FFF2-40B4-BE49-F238E27FC236}">
                  <a16:creationId xmlns:a16="http://schemas.microsoft.com/office/drawing/2014/main" id="{71568A0D-4191-49E7-AF2C-DC368D25A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0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32" name="Text Box 51">
              <a:extLst>
                <a:ext uri="{FF2B5EF4-FFF2-40B4-BE49-F238E27FC236}">
                  <a16:creationId xmlns:a16="http://schemas.microsoft.com/office/drawing/2014/main" id="{59152D9D-B455-4C42-8EFB-E5B15CA1B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152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pi</a:t>
              </a:r>
              <a:endParaRPr lang="en-US" altLang="zh-CN"/>
            </a:p>
          </p:txBody>
        </p:sp>
        <p:pic>
          <p:nvPicPr>
            <p:cNvPr id="33" name="Picture 54">
              <a:extLst>
                <a:ext uri="{FF2B5EF4-FFF2-40B4-BE49-F238E27FC236}">
                  <a16:creationId xmlns:a16="http://schemas.microsoft.com/office/drawing/2014/main" id="{6C9936DC-7BC3-4234-B00F-D854CA4DB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1" y="1654"/>
              <a:ext cx="22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cxnSp>
          <p:nvCxnSpPr>
            <p:cNvPr id="34" name="AutoShape 56">
              <a:extLst>
                <a:ext uri="{FF2B5EF4-FFF2-40B4-BE49-F238E27FC236}">
                  <a16:creationId xmlns:a16="http://schemas.microsoft.com/office/drawing/2014/main" id="{CA824AE0-2D9B-49E9-8A57-6A4F335171B4}"/>
                </a:ext>
              </a:extLst>
            </p:cNvPr>
            <p:cNvCxnSpPr>
              <a:cxnSpLocks noChangeShapeType="1"/>
              <a:stCxn id="25" idx="0"/>
              <a:endCxn id="14" idx="0"/>
            </p:cNvCxnSpPr>
            <p:nvPr/>
          </p:nvCxnSpPr>
          <p:spPr bwMode="auto">
            <a:xfrm rot="5400000" flipV="1">
              <a:off x="2843" y="13"/>
              <a:ext cx="1" cy="2376"/>
            </a:xfrm>
            <a:prstGeom prst="curvedConnector3">
              <a:avLst>
                <a:gd name="adj1" fmla="val -67700005"/>
              </a:avLst>
            </a:prstGeom>
            <a:noFill/>
            <a:ln w="127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57">
              <a:extLst>
                <a:ext uri="{FF2B5EF4-FFF2-40B4-BE49-F238E27FC236}">
                  <a16:creationId xmlns:a16="http://schemas.microsoft.com/office/drawing/2014/main" id="{8CC7DDD0-9D6B-4D47-A55D-E938010AFB66}"/>
                </a:ext>
              </a:extLst>
            </p:cNvPr>
            <p:cNvCxnSpPr>
              <a:cxnSpLocks noChangeShapeType="1"/>
              <a:stCxn id="26" idx="0"/>
              <a:endCxn id="15" idx="0"/>
            </p:cNvCxnSpPr>
            <p:nvPr/>
          </p:nvCxnSpPr>
          <p:spPr bwMode="auto">
            <a:xfrm rot="16200000">
              <a:off x="3012" y="-108"/>
              <a:ext cx="96" cy="2328"/>
            </a:xfrm>
            <a:prstGeom prst="curvedConnector3">
              <a:avLst>
                <a:gd name="adj1" fmla="val 561454"/>
              </a:avLst>
            </a:prstGeom>
            <a:noFill/>
            <a:ln w="127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58">
              <a:extLst>
                <a:ext uri="{FF2B5EF4-FFF2-40B4-BE49-F238E27FC236}">
                  <a16:creationId xmlns:a16="http://schemas.microsoft.com/office/drawing/2014/main" id="{C7D03B3F-F5C5-45FB-810D-A5BFFCA7094C}"/>
                </a:ext>
              </a:extLst>
            </p:cNvPr>
            <p:cNvCxnSpPr>
              <a:cxnSpLocks noChangeShapeType="1"/>
              <a:stCxn id="28" idx="0"/>
              <a:endCxn id="16" idx="7"/>
            </p:cNvCxnSpPr>
            <p:nvPr/>
          </p:nvCxnSpPr>
          <p:spPr bwMode="auto">
            <a:xfrm rot="16200000">
              <a:off x="3660" y="26"/>
              <a:ext cx="130" cy="2314"/>
            </a:xfrm>
            <a:prstGeom prst="curvedConnector3">
              <a:avLst>
                <a:gd name="adj1" fmla="val 508458"/>
              </a:avLst>
            </a:prstGeom>
            <a:noFill/>
            <a:ln w="127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59">
              <a:extLst>
                <a:ext uri="{FF2B5EF4-FFF2-40B4-BE49-F238E27FC236}">
                  <a16:creationId xmlns:a16="http://schemas.microsoft.com/office/drawing/2014/main" id="{63E3D375-556E-4D06-820B-2A04782F58D2}"/>
                </a:ext>
              </a:extLst>
            </p:cNvPr>
            <p:cNvCxnSpPr>
              <a:cxnSpLocks noChangeShapeType="1"/>
              <a:stCxn id="13" idx="0"/>
              <a:endCxn id="17" idx="0"/>
            </p:cNvCxnSpPr>
            <p:nvPr/>
          </p:nvCxnSpPr>
          <p:spPr bwMode="auto">
            <a:xfrm rot="5400000" flipV="1">
              <a:off x="3216" y="384"/>
              <a:ext cx="48" cy="2352"/>
            </a:xfrm>
            <a:prstGeom prst="curvedConnector3">
              <a:avLst>
                <a:gd name="adj1" fmla="val -737505"/>
              </a:avLst>
            </a:prstGeom>
            <a:noFill/>
            <a:ln w="1270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" name="Text Box 60">
              <a:extLst>
                <a:ext uri="{FF2B5EF4-FFF2-40B4-BE49-F238E27FC236}">
                  <a16:creationId xmlns:a16="http://schemas.microsoft.com/office/drawing/2014/main" id="{F7F48482-BD20-43CD-8DFA-361C8D8DC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h</a:t>
              </a:r>
            </a:p>
          </p:txBody>
        </p:sp>
        <p:sp>
          <p:nvSpPr>
            <p:cNvPr id="39" name="Text Box 62">
              <a:extLst>
                <a:ext uri="{FF2B5EF4-FFF2-40B4-BE49-F238E27FC236}">
                  <a16:creationId xmlns:a16="http://schemas.microsoft.com/office/drawing/2014/main" id="{7A08A133-E94C-42AF-9562-2F53CC8F8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064"/>
              <a:ext cx="35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latin typeface="楷体_GB2312" pitchFamily="49" charset="-122"/>
                  <a:ea typeface="楷体_GB2312" pitchFamily="49" charset="-122"/>
                </a:rPr>
                <a:t>元素运算结果的象等于元素象的运算结果</a:t>
              </a:r>
            </a:p>
          </p:txBody>
        </p:sp>
        <p:sp>
          <p:nvSpPr>
            <p:cNvPr id="41" name="Freeform 75">
              <a:extLst>
                <a:ext uri="{FF2B5EF4-FFF2-40B4-BE49-F238E27FC236}">
                  <a16:creationId xmlns:a16="http://schemas.microsoft.com/office/drawing/2014/main" id="{E7823235-71E2-40C1-8EAA-EA7AE3207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1182"/>
              <a:ext cx="132" cy="318"/>
            </a:xfrm>
            <a:custGeom>
              <a:avLst/>
              <a:gdLst>
                <a:gd name="T0" fmla="*/ 0 w 132"/>
                <a:gd name="T1" fmla="*/ 0 h 318"/>
                <a:gd name="T2" fmla="*/ 132 w 132"/>
                <a:gd name="T3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2" h="318">
                  <a:moveTo>
                    <a:pt x="0" y="0"/>
                  </a:moveTo>
                  <a:lnTo>
                    <a:pt x="132" y="31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74">
              <a:extLst>
                <a:ext uri="{FF2B5EF4-FFF2-40B4-BE49-F238E27FC236}">
                  <a16:creationId xmlns:a16="http://schemas.microsoft.com/office/drawing/2014/main" id="{53121FE1-B876-4949-8094-745BAD27F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272"/>
              <a:ext cx="294" cy="270"/>
            </a:xfrm>
            <a:custGeom>
              <a:avLst/>
              <a:gdLst>
                <a:gd name="T0" fmla="*/ 0 w 294"/>
                <a:gd name="T1" fmla="*/ 0 h 270"/>
                <a:gd name="T2" fmla="*/ 294 w 294"/>
                <a:gd name="T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4" h="270">
                  <a:moveTo>
                    <a:pt x="0" y="0"/>
                  </a:moveTo>
                  <a:lnTo>
                    <a:pt x="294" y="270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76">
              <a:extLst>
                <a:ext uri="{FF2B5EF4-FFF2-40B4-BE49-F238E27FC236}">
                  <a16:creationId xmlns:a16="http://schemas.microsoft.com/office/drawing/2014/main" id="{B68D6DE0-B603-4AE8-927F-B50A2A7BD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1320"/>
              <a:ext cx="360" cy="228"/>
            </a:xfrm>
            <a:custGeom>
              <a:avLst/>
              <a:gdLst>
                <a:gd name="T0" fmla="*/ 360 w 360"/>
                <a:gd name="T1" fmla="*/ 0 h 228"/>
                <a:gd name="T2" fmla="*/ 0 w 360"/>
                <a:gd name="T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0" h="228">
                  <a:moveTo>
                    <a:pt x="360" y="0"/>
                  </a:moveTo>
                  <a:lnTo>
                    <a:pt x="0" y="22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8">
              <a:extLst>
                <a:ext uri="{FF2B5EF4-FFF2-40B4-BE49-F238E27FC236}">
                  <a16:creationId xmlns:a16="http://schemas.microsoft.com/office/drawing/2014/main" id="{0148C388-7570-40A5-BC3D-5DD7BB63B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" y="1146"/>
              <a:ext cx="150" cy="366"/>
            </a:xfrm>
            <a:custGeom>
              <a:avLst/>
              <a:gdLst>
                <a:gd name="T0" fmla="*/ 0 w 150"/>
                <a:gd name="T1" fmla="*/ 0 h 366"/>
                <a:gd name="T2" fmla="*/ 150 w 150"/>
                <a:gd name="T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" h="366">
                  <a:moveTo>
                    <a:pt x="0" y="0"/>
                  </a:moveTo>
                  <a:lnTo>
                    <a:pt x="150" y="366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7">
              <a:extLst>
                <a:ext uri="{FF2B5EF4-FFF2-40B4-BE49-F238E27FC236}">
                  <a16:creationId xmlns:a16="http://schemas.microsoft.com/office/drawing/2014/main" id="{41150331-01B3-48A0-852D-B5F393D47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1302"/>
              <a:ext cx="264" cy="288"/>
            </a:xfrm>
            <a:custGeom>
              <a:avLst/>
              <a:gdLst>
                <a:gd name="T0" fmla="*/ 0 w 264"/>
                <a:gd name="T1" fmla="*/ 0 h 288"/>
                <a:gd name="T2" fmla="*/ 264 w 264"/>
                <a:gd name="T3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4" h="288">
                  <a:moveTo>
                    <a:pt x="0" y="0"/>
                  </a:moveTo>
                  <a:lnTo>
                    <a:pt x="264" y="28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9">
              <a:extLst>
                <a:ext uri="{FF2B5EF4-FFF2-40B4-BE49-F238E27FC236}">
                  <a16:creationId xmlns:a16="http://schemas.microsoft.com/office/drawing/2014/main" id="{0E8E41A2-AFD3-4080-918A-D17BAA6FE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224"/>
              <a:ext cx="360" cy="348"/>
            </a:xfrm>
            <a:custGeom>
              <a:avLst/>
              <a:gdLst>
                <a:gd name="T0" fmla="*/ 360 w 360"/>
                <a:gd name="T1" fmla="*/ 0 h 348"/>
                <a:gd name="T2" fmla="*/ 0 w 360"/>
                <a:gd name="T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0" h="348">
                  <a:moveTo>
                    <a:pt x="360" y="0"/>
                  </a:moveTo>
                  <a:lnTo>
                    <a:pt x="0" y="34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AutoShape 3">
            <a:extLst>
              <a:ext uri="{FF2B5EF4-FFF2-40B4-BE49-F238E27FC236}">
                <a16:creationId xmlns:a16="http://schemas.microsoft.com/office/drawing/2014/main" id="{7A5D22D3-444A-4298-BAEE-31C32BC3448C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681993" y="898321"/>
            <a:ext cx="5424201" cy="557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同态和同构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400" b="1" dirty="0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000" dirty="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7417110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AAFBFAB-EC92-4443-9F88-D50D5907E32C}"/>
              </a:ext>
            </a:extLst>
          </p:cNvPr>
          <p:cNvSpPr txBox="1">
            <a:spLocks noChangeArrowheads="1"/>
          </p:cNvSpPr>
          <p:nvPr/>
        </p:nvSpPr>
        <p:spPr>
          <a:xfrm>
            <a:off x="1690382" y="738188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(homomorphism)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b="1" u="sng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1027">
            <a:extLst>
              <a:ext uri="{FF2B5EF4-FFF2-40B4-BE49-F238E27FC236}">
                <a16:creationId xmlns:a16="http://schemas.microsoft.com/office/drawing/2014/main" id="{011A83D6-BFE2-4100-B7F7-DD07F67AEE77}"/>
              </a:ext>
            </a:extLst>
          </p:cNvPr>
          <p:cNvSpPr txBox="1">
            <a:spLocks noChangeArrowheads="1"/>
          </p:cNvSpPr>
          <p:nvPr/>
        </p:nvSpPr>
        <p:spPr>
          <a:xfrm>
            <a:off x="481727" y="1384301"/>
            <a:ext cx="10717495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称两个同类型的代数系统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,···,O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 (Y,     ,     ,···,    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是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存在着一个函数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X→Y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对任何一对运算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···,m ) 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设其元数为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都满足如下的</a:t>
            </a:r>
            <a:r>
              <a:rPr lang="zh-CN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h (O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))=     (h(x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),…,h(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注：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称函数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是保持运算的；并称函数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为从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的同态函数，记为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；称两代数系统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同态，记为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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和     保持运算的含义是指在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的作用下，</a:t>
            </a:r>
            <a:r>
              <a:rPr lang="zh-CN" altLang="en-US" sz="2000" b="1" u="sng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元素运算结果的象等于元素象的运算结果。     </a:t>
            </a:r>
          </a:p>
        </p:txBody>
      </p:sp>
      <p:grpSp>
        <p:nvGrpSpPr>
          <p:cNvPr id="11" name="Group 1048">
            <a:extLst>
              <a:ext uri="{FF2B5EF4-FFF2-40B4-BE49-F238E27FC236}">
                <a16:creationId xmlns:a16="http://schemas.microsoft.com/office/drawing/2014/main" id="{1074802F-F5AA-4211-A6C3-61A9AC6BF034}"/>
              </a:ext>
            </a:extLst>
          </p:cNvPr>
          <p:cNvGrpSpPr>
            <a:grpSpLocks/>
          </p:cNvGrpSpPr>
          <p:nvPr/>
        </p:nvGrpSpPr>
        <p:grpSpPr bwMode="auto">
          <a:xfrm>
            <a:off x="1873579" y="2225248"/>
            <a:ext cx="6161092" cy="4206881"/>
            <a:chOff x="1793" y="1177"/>
            <a:chExt cx="3881" cy="2650"/>
          </a:xfrm>
        </p:grpSpPr>
        <p:pic>
          <p:nvPicPr>
            <p:cNvPr id="12" name="Picture 1039">
              <a:extLst>
                <a:ext uri="{FF2B5EF4-FFF2-40B4-BE49-F238E27FC236}">
                  <a16:creationId xmlns:a16="http://schemas.microsoft.com/office/drawing/2014/main" id="{B8BDDB9B-C9BD-42BE-80C5-D68D5917D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2" y="1177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3" name="Picture 1040">
              <a:extLst>
                <a:ext uri="{FF2B5EF4-FFF2-40B4-BE49-F238E27FC236}">
                  <a16:creationId xmlns:a16="http://schemas.microsoft.com/office/drawing/2014/main" id="{F38C23F4-8DEC-490A-9A0F-C550B08C7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" y="1177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4" name="Picture 1041">
              <a:extLst>
                <a:ext uri="{FF2B5EF4-FFF2-40B4-BE49-F238E27FC236}">
                  <a16:creationId xmlns:a16="http://schemas.microsoft.com/office/drawing/2014/main" id="{DA7E81CC-560E-40CF-A190-65654A2766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" y="1177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" name="Picture 1042">
              <a:extLst>
                <a:ext uri="{FF2B5EF4-FFF2-40B4-BE49-F238E27FC236}">
                  <a16:creationId xmlns:a16="http://schemas.microsoft.com/office/drawing/2014/main" id="{84B88FD2-E6D1-441F-9F9E-DEC86CA9A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0" y="1777"/>
              <a:ext cx="263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6" name="Picture 1043">
              <a:extLst>
                <a:ext uri="{FF2B5EF4-FFF2-40B4-BE49-F238E27FC236}">
                  <a16:creationId xmlns:a16="http://schemas.microsoft.com/office/drawing/2014/main" id="{E9F12E85-166D-4724-956B-FAFFCAB53C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0" y="2653"/>
              <a:ext cx="263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7" name="Picture 1044">
              <a:extLst>
                <a:ext uri="{FF2B5EF4-FFF2-40B4-BE49-F238E27FC236}">
                  <a16:creationId xmlns:a16="http://schemas.microsoft.com/office/drawing/2014/main" id="{545F7E6F-E619-4989-B9BD-23A50120E5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" y="3575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6467142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548021F5-2291-4053-88F7-1756C8254BC5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571625" y="1274762"/>
            <a:ext cx="75438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同态象  单同态   满同态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设代数系统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,···,O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同态于代数系统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 (Y,     ,     ,···,     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，其同态函数为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X→Y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下的象集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的所有运算一起组成的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 (h(X),     ,     ,···,     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同态象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是单射函数，则称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单同态函数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的单同态象；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是满射函数，则称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满同态函数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；并称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这时有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h(X)=Y ,C=B)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639E21-5324-4C2D-B52D-6DB8E18577FD}"/>
              </a:ext>
            </a:extLst>
          </p:cNvPr>
          <p:cNvGrpSpPr>
            <a:grpSpLocks/>
          </p:cNvGrpSpPr>
          <p:nvPr/>
        </p:nvGrpSpPr>
        <p:grpSpPr bwMode="auto">
          <a:xfrm>
            <a:off x="2045556" y="2020922"/>
            <a:ext cx="2924175" cy="1243013"/>
            <a:chOff x="1268" y="3090"/>
            <a:chExt cx="1842" cy="7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42568D9-68FB-413B-A0EC-195C470C1D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8" y="3090"/>
              <a:ext cx="1082" cy="297"/>
              <a:chOff x="1244" y="3030"/>
              <a:chExt cx="1082" cy="297"/>
            </a:xfrm>
          </p:grpSpPr>
          <p:pic>
            <p:nvPicPr>
              <p:cNvPr id="10" name="Picture 6">
                <a:extLst>
                  <a:ext uri="{FF2B5EF4-FFF2-40B4-BE49-F238E27FC236}">
                    <a16:creationId xmlns:a16="http://schemas.microsoft.com/office/drawing/2014/main" id="{7C07C2DF-B22B-4E1F-944E-1D71A5844C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4" y="3030"/>
                <a:ext cx="262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1" name="Picture 7">
                <a:extLst>
                  <a:ext uri="{FF2B5EF4-FFF2-40B4-BE49-F238E27FC236}">
                    <a16:creationId xmlns:a16="http://schemas.microsoft.com/office/drawing/2014/main" id="{5FC916E8-832C-411F-B951-CAE5C719B3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2" y="3030"/>
                <a:ext cx="280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8">
                <a:extLst>
                  <a:ext uri="{FF2B5EF4-FFF2-40B4-BE49-F238E27FC236}">
                    <a16:creationId xmlns:a16="http://schemas.microsoft.com/office/drawing/2014/main" id="{71923DC2-F143-476E-8463-5DABB74E58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2" y="3030"/>
                <a:ext cx="314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5CDDB1DF-8F76-4674-9AD2-ABE96A0D1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8" y="3576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6CBB92A6-394C-42F5-B696-7872CEB224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6" y="3576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" name="Picture 11">
              <a:extLst>
                <a:ext uri="{FF2B5EF4-FFF2-40B4-BE49-F238E27FC236}">
                  <a16:creationId xmlns:a16="http://schemas.microsoft.com/office/drawing/2014/main" id="{40CA01A8-CC60-4D71-BA7D-B194DCE017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6" y="3576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8384542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7934AECC-D4FF-4AFB-9EC6-BDB308286C02}"/>
              </a:ext>
            </a:extLst>
          </p:cNvPr>
          <p:cNvSpPr txBox="1">
            <a:spLocks noChangeArrowheads="1"/>
          </p:cNvSpPr>
          <p:nvPr/>
        </p:nvSpPr>
        <p:spPr>
          <a:xfrm>
            <a:off x="1631659" y="914400"/>
            <a:ext cx="768851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同构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0070C0"/>
                </a:solidFill>
              </a:rPr>
              <a:t>isomorphism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设代数系统</a:t>
            </a:r>
            <a:r>
              <a:rPr lang="en-US" altLang="zh-CN" sz="2400" dirty="0"/>
              <a:t>A=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/>
              <a:t>X,O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,O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···,O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同态于代数系统</a:t>
            </a:r>
            <a:r>
              <a:rPr lang="en-US" altLang="zh-CN" sz="2400" dirty="0"/>
              <a:t>B= 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/>
              <a:t>Y,     ,     ,</a:t>
            </a:r>
            <a:r>
              <a:rPr lang="en-US" altLang="zh-CN" sz="2400" dirty="0">
                <a:cs typeface="Times New Roman" panose="02020603050405020304" pitchFamily="18" charset="0"/>
              </a:rPr>
              <a:t>···,</a:t>
            </a:r>
            <a:r>
              <a:rPr lang="en-US" altLang="zh-CN" sz="2400" dirty="0"/>
              <a:t>     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，其同态</a:t>
            </a:r>
            <a:r>
              <a:rPr lang="zh-CN" altLang="en-US" sz="2400" dirty="0"/>
              <a:t>函数为 </a:t>
            </a:r>
            <a:r>
              <a:rPr lang="en-US" altLang="zh-CN" sz="2400" dirty="0"/>
              <a:t>h</a:t>
            </a:r>
            <a:r>
              <a:rPr lang="zh-CN" altLang="en-US" sz="2400" dirty="0"/>
              <a:t>：</a:t>
            </a:r>
            <a:r>
              <a:rPr lang="en-US" altLang="zh-CN" sz="2400" dirty="0"/>
              <a:t>X→Y </a:t>
            </a:r>
            <a:r>
              <a:rPr lang="zh-CN" altLang="en-US" sz="2400" dirty="0">
                <a:latin typeface="宋体" panose="02010600030101010101" pitchFamily="2" charset="-122"/>
              </a:rPr>
              <a:t>。若</a:t>
            </a:r>
            <a:r>
              <a:rPr lang="en-US" altLang="zh-CN" sz="2400" dirty="0"/>
              <a:t>h</a:t>
            </a:r>
            <a:r>
              <a:rPr lang="zh-CN" altLang="en-US" sz="2400" dirty="0"/>
              <a:t>还是双射函数，则称</a:t>
            </a:r>
            <a:r>
              <a:rPr lang="en-US" altLang="zh-CN" sz="2400" dirty="0"/>
              <a:t>h</a:t>
            </a:r>
            <a:r>
              <a:rPr lang="zh-CN" altLang="en-US" sz="2400" dirty="0"/>
              <a:t>是从</a:t>
            </a:r>
            <a:r>
              <a:rPr lang="en-US" altLang="zh-CN" sz="2400" dirty="0"/>
              <a:t>A</a:t>
            </a:r>
            <a:r>
              <a:rPr lang="zh-CN" altLang="en-US" sz="2400" dirty="0"/>
              <a:t>到</a:t>
            </a:r>
            <a:r>
              <a:rPr lang="en-US" altLang="zh-CN" sz="2400" dirty="0"/>
              <a:t>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00000"/>
                </a:solidFill>
              </a:rPr>
              <a:t>同构函数</a:t>
            </a:r>
            <a:r>
              <a:rPr lang="en-US" altLang="zh-CN" sz="2400" dirty="0"/>
              <a:t>,</a:t>
            </a:r>
            <a:r>
              <a:rPr lang="zh-CN" altLang="en-US" sz="2400" dirty="0"/>
              <a:t>记为</a:t>
            </a:r>
            <a:r>
              <a:rPr lang="en-US" altLang="zh-CN" sz="2400" dirty="0">
                <a:solidFill>
                  <a:srgbClr val="C00000"/>
                </a:solidFill>
              </a:rPr>
              <a:t>h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r>
              <a:rPr lang="en-US" altLang="zh-CN" sz="2400" dirty="0">
                <a:solidFill>
                  <a:srgbClr val="C00000"/>
                </a:solidFill>
              </a:rPr>
              <a:t>A   B </a:t>
            </a:r>
            <a:r>
              <a:rPr lang="zh-CN" altLang="en-US" sz="2400" dirty="0"/>
              <a:t>；并且这时我们称</a:t>
            </a:r>
            <a:r>
              <a:rPr lang="en-US" altLang="zh-CN" sz="2400" dirty="0">
                <a:solidFill>
                  <a:srgbClr val="C00000"/>
                </a:solidFill>
              </a:rPr>
              <a:t>A</a:t>
            </a:r>
            <a:r>
              <a:rPr lang="zh-CN" altLang="en-US" sz="2400" dirty="0">
                <a:solidFill>
                  <a:srgbClr val="C00000"/>
                </a:solidFill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r>
              <a:rPr lang="zh-CN" altLang="en-US" sz="2400" dirty="0">
                <a:solidFill>
                  <a:srgbClr val="C00000"/>
                </a:solidFill>
              </a:rPr>
              <a:t>同构</a:t>
            </a:r>
            <a:r>
              <a:rPr lang="en-US" altLang="zh-CN" sz="2400" dirty="0"/>
              <a:t>,</a:t>
            </a:r>
            <a:r>
              <a:rPr lang="zh-CN" altLang="en-US" sz="2400" dirty="0"/>
              <a:t>记为</a:t>
            </a:r>
            <a:r>
              <a:rPr lang="en-US" altLang="zh-CN" sz="2400" dirty="0">
                <a:solidFill>
                  <a:srgbClr val="C00000"/>
                </a:solidFill>
              </a:rPr>
              <a:t>A   B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1600" dirty="0"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同态和</a:t>
            </a:r>
            <a:r>
              <a:rPr lang="zh-CN" altLang="en-US" sz="2000" dirty="0">
                <a:ea typeface="楷体_GB2312" pitchFamily="49" charset="-122"/>
              </a:rPr>
              <a:t>同构概念要求两个代数系统必须是同类型的</a:t>
            </a:r>
            <a:endParaRPr lang="zh-CN" altLang="en-US" sz="20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楷体_GB2312" pitchFamily="49" charset="-122"/>
              </a:rPr>
              <a:t>     从定义可知，论及两个代数系统间的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同态和</a:t>
            </a:r>
            <a:r>
              <a:rPr lang="zh-CN" altLang="en-US" sz="2000" dirty="0">
                <a:ea typeface="楷体_GB2312" pitchFamily="49" charset="-122"/>
              </a:rPr>
              <a:t>同构，必须在两个同类型的代数系统之间讨论，即两个代数系统中运算的个数必须一样多，且对应的运算的元数也必须相同，否则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同态和</a:t>
            </a:r>
            <a:r>
              <a:rPr lang="zh-CN" altLang="en-US" sz="2000" dirty="0">
                <a:ea typeface="楷体_GB2312" pitchFamily="49" charset="-122"/>
              </a:rPr>
              <a:t>同构就无从谈起；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　  </a:t>
            </a:r>
            <a:r>
              <a:rPr lang="zh-CN" altLang="en-US" sz="2000" dirty="0">
                <a:ea typeface="楷体_GB2312" pitchFamily="49" charset="-122"/>
              </a:rPr>
              <a:t>同构概念要求两个集合必须是等势的</a:t>
            </a:r>
            <a:r>
              <a:rPr lang="en-US" altLang="zh-CN" sz="2000" dirty="0">
                <a:latin typeface="宋体" panose="02010600030101010101" pitchFamily="2" charset="-122"/>
              </a:rPr>
              <a:t>(</a:t>
            </a:r>
            <a:r>
              <a:rPr lang="zh-CN" altLang="en-US" sz="2000" dirty="0">
                <a:ea typeface="楷体_GB2312" pitchFamily="49" charset="-122"/>
              </a:rPr>
              <a:t>即　　　　　　 </a:t>
            </a:r>
            <a:r>
              <a:rPr lang="en-US" altLang="zh-CN" sz="2000" dirty="0">
                <a:latin typeface="宋体" panose="02010600030101010101" pitchFamily="2" charset="-122"/>
              </a:rPr>
              <a:t>)</a:t>
            </a:r>
            <a:endParaRPr lang="en-US" altLang="zh-CN" sz="20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ea typeface="楷体_GB2312" pitchFamily="49" charset="-122"/>
              </a:rPr>
              <a:t>　代数系统间的同构要求有一个双射函数存在，因此如果两个代数系统同构，那么这两个代数系统的集合的势是一样的，故有限代数系统绝对不会和无限代数系统同构。同时这个双射函数还要对每一对相应的运算满足同态公式，这样两个代数系统才能同构。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ea typeface="楷体_GB2312" pitchFamily="49" charset="-122"/>
            </a:endParaRPr>
          </a:p>
        </p:txBody>
      </p:sp>
      <p:grpSp>
        <p:nvGrpSpPr>
          <p:cNvPr id="5" name="Group 1043">
            <a:extLst>
              <a:ext uri="{FF2B5EF4-FFF2-40B4-BE49-F238E27FC236}">
                <a16:creationId xmlns:a16="http://schemas.microsoft.com/office/drawing/2014/main" id="{3CFBA410-464C-4970-93A3-F3F25F173F7D}"/>
              </a:ext>
            </a:extLst>
          </p:cNvPr>
          <p:cNvGrpSpPr>
            <a:grpSpLocks/>
          </p:cNvGrpSpPr>
          <p:nvPr/>
        </p:nvGrpSpPr>
        <p:grpSpPr bwMode="auto">
          <a:xfrm>
            <a:off x="2081503" y="1765167"/>
            <a:ext cx="1717675" cy="471488"/>
            <a:chOff x="1392" y="1152"/>
            <a:chExt cx="1082" cy="297"/>
          </a:xfrm>
        </p:grpSpPr>
        <p:pic>
          <p:nvPicPr>
            <p:cNvPr id="6" name="Picture 1039">
              <a:extLst>
                <a:ext uri="{FF2B5EF4-FFF2-40B4-BE49-F238E27FC236}">
                  <a16:creationId xmlns:a16="http://schemas.microsoft.com/office/drawing/2014/main" id="{33CBE3BE-33ED-44C3-9056-94CE9B4E08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1152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7" name="Picture 1040">
              <a:extLst>
                <a:ext uri="{FF2B5EF4-FFF2-40B4-BE49-F238E27FC236}">
                  <a16:creationId xmlns:a16="http://schemas.microsoft.com/office/drawing/2014/main" id="{640FD2E2-D644-46B2-8163-9D296BBD80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1152"/>
              <a:ext cx="279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8" name="Picture 1041">
              <a:extLst>
                <a:ext uri="{FF2B5EF4-FFF2-40B4-BE49-F238E27FC236}">
                  <a16:creationId xmlns:a16="http://schemas.microsoft.com/office/drawing/2014/main" id="{2A10AAB9-57C2-4351-B11F-57765E9DA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1152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1044">
            <a:extLst>
              <a:ext uri="{FF2B5EF4-FFF2-40B4-BE49-F238E27FC236}">
                <a16:creationId xmlns:a16="http://schemas.microsoft.com/office/drawing/2014/main" id="{741C7B3F-BD37-4B57-8583-59D3ED79E918}"/>
              </a:ext>
            </a:extLst>
          </p:cNvPr>
          <p:cNvGrpSpPr>
            <a:grpSpLocks/>
          </p:cNvGrpSpPr>
          <p:nvPr/>
        </p:nvGrpSpPr>
        <p:grpSpPr bwMode="auto">
          <a:xfrm>
            <a:off x="7916119" y="2262781"/>
            <a:ext cx="152400" cy="152400"/>
            <a:chOff x="2016" y="1837"/>
            <a:chExt cx="144" cy="131"/>
          </a:xfrm>
        </p:grpSpPr>
        <p:sp>
          <p:nvSpPr>
            <p:cNvPr id="10" name="Line 1045">
              <a:extLst>
                <a:ext uri="{FF2B5EF4-FFF2-40B4-BE49-F238E27FC236}">
                  <a16:creationId xmlns:a16="http://schemas.microsoft.com/office/drawing/2014/main" id="{0C4D5C38-5C0B-4621-822F-07DCEE1F6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68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046">
              <a:extLst>
                <a:ext uri="{FF2B5EF4-FFF2-40B4-BE49-F238E27FC236}">
                  <a16:creationId xmlns:a16="http://schemas.microsoft.com/office/drawing/2014/main" id="{FE997AA5-AF69-48C7-896C-8E5BE7483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1837"/>
              <a:ext cx="139" cy="28"/>
            </a:xfrm>
            <a:custGeom>
              <a:avLst/>
              <a:gdLst>
                <a:gd name="T0" fmla="*/ 0 w 278"/>
                <a:gd name="T1" fmla="*/ 60 h 69"/>
                <a:gd name="T2" fmla="*/ 94 w 278"/>
                <a:gd name="T3" fmla="*/ 1 h 69"/>
                <a:gd name="T4" fmla="*/ 202 w 278"/>
                <a:gd name="T5" fmla="*/ 68 h 69"/>
                <a:gd name="T6" fmla="*/ 278 w 278"/>
                <a:gd name="T7" fmla="*/ 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8" h="69">
                  <a:moveTo>
                    <a:pt x="0" y="60"/>
                  </a:moveTo>
                  <a:cubicBezTo>
                    <a:pt x="16" y="50"/>
                    <a:pt x="60" y="0"/>
                    <a:pt x="94" y="1"/>
                  </a:cubicBezTo>
                  <a:cubicBezTo>
                    <a:pt x="128" y="2"/>
                    <a:pt x="171" y="67"/>
                    <a:pt x="202" y="68"/>
                  </a:cubicBezTo>
                  <a:cubicBezTo>
                    <a:pt x="233" y="69"/>
                    <a:pt x="262" y="18"/>
                    <a:pt x="278" y="5"/>
                  </a:cubicBez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47">
              <a:extLst>
                <a:ext uri="{FF2B5EF4-FFF2-40B4-BE49-F238E27FC236}">
                  <a16:creationId xmlns:a16="http://schemas.microsoft.com/office/drawing/2014/main" id="{25C8BE36-AB99-4FB2-9C5A-EB608DF56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17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44">
            <a:extLst>
              <a:ext uri="{FF2B5EF4-FFF2-40B4-BE49-F238E27FC236}">
                <a16:creationId xmlns:a16="http://schemas.microsoft.com/office/drawing/2014/main" id="{4BE6BF00-E5AB-41D7-AD5E-65224527A1AE}"/>
              </a:ext>
            </a:extLst>
          </p:cNvPr>
          <p:cNvGrpSpPr>
            <a:grpSpLocks/>
          </p:cNvGrpSpPr>
          <p:nvPr/>
        </p:nvGrpSpPr>
        <p:grpSpPr bwMode="auto">
          <a:xfrm>
            <a:off x="5734982" y="2688711"/>
            <a:ext cx="152400" cy="152400"/>
            <a:chOff x="2016" y="1837"/>
            <a:chExt cx="144" cy="131"/>
          </a:xfrm>
        </p:grpSpPr>
        <p:sp>
          <p:nvSpPr>
            <p:cNvPr id="14" name="Line 1045">
              <a:extLst>
                <a:ext uri="{FF2B5EF4-FFF2-40B4-BE49-F238E27FC236}">
                  <a16:creationId xmlns:a16="http://schemas.microsoft.com/office/drawing/2014/main" id="{9D8BA468-CD48-4D27-B37B-43989215F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68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046">
              <a:extLst>
                <a:ext uri="{FF2B5EF4-FFF2-40B4-BE49-F238E27FC236}">
                  <a16:creationId xmlns:a16="http://schemas.microsoft.com/office/drawing/2014/main" id="{F7721070-3381-4B16-A2FE-493B943FE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1837"/>
              <a:ext cx="139" cy="28"/>
            </a:xfrm>
            <a:custGeom>
              <a:avLst/>
              <a:gdLst>
                <a:gd name="T0" fmla="*/ 0 w 278"/>
                <a:gd name="T1" fmla="*/ 60 h 69"/>
                <a:gd name="T2" fmla="*/ 94 w 278"/>
                <a:gd name="T3" fmla="*/ 1 h 69"/>
                <a:gd name="T4" fmla="*/ 202 w 278"/>
                <a:gd name="T5" fmla="*/ 68 h 69"/>
                <a:gd name="T6" fmla="*/ 278 w 278"/>
                <a:gd name="T7" fmla="*/ 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8" h="69">
                  <a:moveTo>
                    <a:pt x="0" y="60"/>
                  </a:moveTo>
                  <a:cubicBezTo>
                    <a:pt x="16" y="50"/>
                    <a:pt x="60" y="0"/>
                    <a:pt x="94" y="1"/>
                  </a:cubicBezTo>
                  <a:cubicBezTo>
                    <a:pt x="128" y="2"/>
                    <a:pt x="171" y="67"/>
                    <a:pt x="202" y="68"/>
                  </a:cubicBezTo>
                  <a:cubicBezTo>
                    <a:pt x="233" y="69"/>
                    <a:pt x="262" y="18"/>
                    <a:pt x="278" y="5"/>
                  </a:cubicBez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047">
              <a:extLst>
                <a:ext uri="{FF2B5EF4-FFF2-40B4-BE49-F238E27FC236}">
                  <a16:creationId xmlns:a16="http://schemas.microsoft.com/office/drawing/2014/main" id="{08ADEC89-22AE-4949-8571-969A06E57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17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7" name="Picture 1042">
            <a:extLst>
              <a:ext uri="{FF2B5EF4-FFF2-40B4-BE49-F238E27FC236}">
                <a16:creationId xmlns:a16="http://schemas.microsoft.com/office/drawing/2014/main" id="{A180A57B-FB4D-4B3A-8162-AA10712D1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4785283"/>
            <a:ext cx="16002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9559724"/>
      </p:ext>
    </p:extLst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AAFBFAB-EC92-4443-9F88-D50D5907E32C}"/>
              </a:ext>
            </a:extLst>
          </p:cNvPr>
          <p:cNvSpPr txBox="1">
            <a:spLocks noChangeArrowheads="1"/>
          </p:cNvSpPr>
          <p:nvPr/>
        </p:nvSpPr>
        <p:spPr>
          <a:xfrm>
            <a:off x="1690382" y="738188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(homomorphism)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b="1" u="sng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72BD6E6-C2C3-4B90-9C00-427190740E8E}"/>
              </a:ext>
            </a:extLst>
          </p:cNvPr>
          <p:cNvSpPr txBox="1">
            <a:spLocks noChangeArrowheads="1"/>
          </p:cNvSpPr>
          <p:nvPr/>
        </p:nvSpPr>
        <p:spPr>
          <a:xfrm>
            <a:off x="1267835" y="1108869"/>
            <a:ext cx="9425701" cy="489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为两个二元代数系统，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的映射。对任意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y∈A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，都有</a:t>
            </a:r>
          </a:p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ψ(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= ψ(x)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ψ(y)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同态映射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ψ(A)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同态象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，其中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ψ(A) = {ψ(x) |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x∈A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如果存在一个从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的同态映射，则称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同态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，记为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&gt;∽&lt;B,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= 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时，称其同态为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自同态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3984240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87443C86-A79D-47AD-A42E-CFBC4EB5F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304648"/>
            <a:ext cx="8064500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当同态映射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分别是单射、满射、双射时，分别称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单一同态映射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满同态映射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同构映射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如果存在一个从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的同构映射（单一同态映射、满同态映射），则称代数系统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单一同态、满同态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&gt;≌&lt;B,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B3F37B-0501-400E-8E83-A9E340F67309}"/>
              </a:ext>
            </a:extLst>
          </p:cNvPr>
          <p:cNvSpPr txBox="1"/>
          <p:nvPr/>
        </p:nvSpPr>
        <p:spPr>
          <a:xfrm>
            <a:off x="1751013" y="5242531"/>
            <a:ext cx="7212874" cy="1412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l-G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&lt;A, </a:t>
            </a:r>
            <a:r>
              <a:rPr lang="en-US" altLang="zh-CN" sz="3600" dirty="0">
                <a:sym typeface="Symbol" panose="05050102010706020507" pitchFamily="18" charset="2"/>
              </a:rPr>
              <a:t>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&lt;B, </a:t>
            </a:r>
            <a:r>
              <a:rPr lang="zh-CN" altLang="en-US" sz="2400" dirty="0">
                <a:sym typeface="Symbol" panose="05050102010706020507" pitchFamily="18" charset="2"/>
              </a:rPr>
              <a:t>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的同态映射，那么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l-G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ψ(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A), </a:t>
            </a:r>
            <a:r>
              <a:rPr lang="zh-CN" altLang="en-US" sz="2400" dirty="0">
                <a:sym typeface="Symbol" panose="05050102010706020507" pitchFamily="18" charset="2"/>
              </a:rPr>
              <a:t>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ym typeface="Symbol" panose="05050102010706020507" pitchFamily="18" charset="2"/>
              </a:rPr>
              <a:t> 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的子代数。</a:t>
            </a:r>
          </a:p>
        </p:txBody>
      </p:sp>
    </p:spTree>
    <p:extLst>
      <p:ext uri="{BB962C8B-B14F-4D97-AF65-F5344CB8AC3E}">
        <p14:creationId xmlns:p14="http://schemas.microsoft.com/office/powerpoint/2010/main" val="2263506380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CA8413-842D-44C1-9249-E70C2D48395E}"/>
              </a:ext>
            </a:extLst>
          </p:cNvPr>
          <p:cNvSpPr/>
          <p:nvPr/>
        </p:nvSpPr>
        <p:spPr>
          <a:xfrm>
            <a:off x="1751013" y="869234"/>
            <a:ext cx="83073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设代数系统</a:t>
            </a:r>
            <a:r>
              <a:rPr lang="en-US" altLang="zh-CN" sz="2800" b="1" dirty="0"/>
              <a:t>A=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X,O</a:t>
            </a:r>
            <a:r>
              <a:rPr lang="en-US" altLang="zh-CN" sz="2800" b="1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800" b="1" dirty="0"/>
              <a:t>,O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</a:t>
            </a:r>
            <a:r>
              <a:rPr lang="en-US" altLang="zh-CN" sz="2800" b="1" dirty="0">
                <a:cs typeface="Times New Roman" panose="02020603050405020304" pitchFamily="18" charset="0"/>
              </a:rPr>
              <a:t>···,O</a:t>
            </a:r>
            <a:r>
              <a:rPr lang="en-US" altLang="zh-CN" sz="2800" b="1" baseline="-25000" dirty="0"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/>
              <a:t>同态于代数系统</a:t>
            </a:r>
            <a:r>
              <a:rPr lang="en-US" altLang="zh-CN" sz="2800" b="1" dirty="0"/>
              <a:t>B= 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Y,     ,     ,</a:t>
            </a:r>
            <a:r>
              <a:rPr lang="en-US" altLang="zh-CN" sz="2800" b="1" dirty="0">
                <a:cs typeface="Times New Roman" panose="02020603050405020304" pitchFamily="18" charset="0"/>
              </a:rPr>
              <a:t>···,</a:t>
            </a:r>
            <a:r>
              <a:rPr lang="en-US" altLang="zh-CN" sz="2800" b="1" dirty="0"/>
              <a:t>     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，其同态</a:t>
            </a:r>
            <a:r>
              <a:rPr lang="zh-CN" altLang="en-US" sz="2800" b="1" dirty="0"/>
              <a:t>函数为 </a:t>
            </a:r>
            <a:r>
              <a:rPr lang="en-US" altLang="zh-CN" sz="2800" b="1" dirty="0"/>
              <a:t>h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X→Y </a:t>
            </a:r>
            <a:r>
              <a:rPr lang="zh-CN" altLang="en-US" sz="2800" b="1" dirty="0">
                <a:latin typeface="宋体" panose="02010600030101010101" pitchFamily="2" charset="-122"/>
              </a:rPr>
              <a:t>。则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的同态象</a:t>
            </a:r>
            <a:r>
              <a:rPr lang="en-US" altLang="zh-CN" sz="2800" b="1" dirty="0"/>
              <a:t>C= 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h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X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en-US" altLang="zh-CN" sz="2800" b="1" dirty="0"/>
              <a:t>,     ,     ,</a:t>
            </a:r>
            <a:r>
              <a:rPr lang="en-US" altLang="zh-CN" sz="2800" b="1" dirty="0">
                <a:cs typeface="Times New Roman" panose="02020603050405020304" pitchFamily="18" charset="0"/>
              </a:rPr>
              <a:t>···,</a:t>
            </a:r>
            <a:r>
              <a:rPr lang="en-US" altLang="zh-CN" sz="2800" b="1" dirty="0"/>
              <a:t>     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是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的子代数系统。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4FA6CA-86B6-48C2-9112-8B7CA68F86D8}"/>
              </a:ext>
            </a:extLst>
          </p:cNvPr>
          <p:cNvGrpSpPr>
            <a:grpSpLocks/>
          </p:cNvGrpSpPr>
          <p:nvPr/>
        </p:nvGrpSpPr>
        <p:grpSpPr bwMode="auto">
          <a:xfrm>
            <a:off x="2493587" y="1301829"/>
            <a:ext cx="1717675" cy="471487"/>
            <a:chOff x="1176" y="2883"/>
            <a:chExt cx="1082" cy="2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309533-08F8-4D66-9C0A-D2BD3BAD8C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" y="2883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F8EB88-1128-425A-AC8B-74B3A6013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4" y="2883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845221-D16A-4689-86FC-B61C87AAC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4" y="2883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B129285-9362-414F-8F7F-AD1A346AFEC3}"/>
              </a:ext>
            </a:extLst>
          </p:cNvPr>
          <p:cNvGrpSpPr>
            <a:grpSpLocks/>
          </p:cNvGrpSpPr>
          <p:nvPr/>
        </p:nvGrpSpPr>
        <p:grpSpPr bwMode="auto">
          <a:xfrm>
            <a:off x="4631531" y="1773316"/>
            <a:ext cx="1717675" cy="471488"/>
            <a:chOff x="2328" y="3171"/>
            <a:chExt cx="1082" cy="29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B5B8E7F-8E3D-4461-BD88-00EEEDA947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8" y="3171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C8FDA-848C-4C49-BA1D-C74F0D437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" y="3171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AD8DC6-5EC4-4164-8360-64CD7A047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6" y="3171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93E76A2B-BA46-4D5B-A96E-609E0C204A8E}"/>
              </a:ext>
            </a:extLst>
          </p:cNvPr>
          <p:cNvSpPr/>
          <p:nvPr/>
        </p:nvSpPr>
        <p:spPr>
          <a:xfrm>
            <a:off x="722315" y="2319642"/>
            <a:ext cx="10468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只须证</a:t>
            </a:r>
            <a:r>
              <a:rPr lang="en-US" altLang="zh-CN" sz="2400" dirty="0"/>
              <a:t>B</a:t>
            </a:r>
            <a:r>
              <a:rPr lang="zh-CN" altLang="en-US" sz="2400" dirty="0"/>
              <a:t>的每个运算　　　　　　 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</a:rPr>
              <a:t>设其元数为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i 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在</a:t>
            </a:r>
            <a:r>
              <a:rPr lang="en-US" altLang="zh-CN" sz="2400" dirty="0"/>
              <a:t>h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/>
              <a:t>X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上都是封闭的即可。</a:t>
            </a:r>
          </a:p>
        </p:txBody>
      </p:sp>
      <p:pic>
        <p:nvPicPr>
          <p:cNvPr id="14" name="Picture 12">
            <a:extLst>
              <a:ext uri="{FF2B5EF4-FFF2-40B4-BE49-F238E27FC236}">
                <a16:creationId xmlns:a16="http://schemas.microsoft.com/office/drawing/2014/main" id="{85905227-4061-4F7D-A4A0-2094CEFB0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981" y="2329067"/>
            <a:ext cx="177800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A1474EE-C7B8-47F7-8E3D-CB2BA95063AE}"/>
              </a:ext>
            </a:extLst>
          </p:cNvPr>
          <p:cNvSpPr/>
          <p:nvPr/>
        </p:nvSpPr>
        <p:spPr>
          <a:xfrm>
            <a:off x="2044514" y="2846720"/>
            <a:ext cx="9113392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对于任何元素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的象集，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故存在着其原象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,h(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 　  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      (h(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=h(O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(O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上是封闭的，故可设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所以　运算是封闭的；于是由子代数系统的定义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的同态象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的子代数系统。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09DFDE1F-6695-458A-9907-349CE6DC8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274" y="3965783"/>
            <a:ext cx="417513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4535D1AB-982A-43C2-8C39-FE9906B01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774" y="4331828"/>
            <a:ext cx="417513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320017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A90367-7CBF-4B8B-8DAA-B0CD24C695F0}"/>
              </a:ext>
            </a:extLst>
          </p:cNvPr>
          <p:cNvSpPr/>
          <p:nvPr/>
        </p:nvSpPr>
        <p:spPr>
          <a:xfrm>
            <a:off x="1856762" y="1035623"/>
            <a:ext cx="8679809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70C0"/>
                </a:solidFill>
              </a:rPr>
              <a:t>同态遗传定理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　设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/>
              <a:t>和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Y</a:t>
            </a:r>
            <a:r>
              <a:rPr lang="zh-CN" altLang="en-US" sz="2800" dirty="0"/>
              <a:t>，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en-US" altLang="zh-CN" sz="2800" dirty="0"/>
              <a:t> </a:t>
            </a:r>
            <a:r>
              <a:rPr lang="zh-CN" altLang="en-US" sz="2800" dirty="0"/>
              <a:t>是两个代数系统，</a:t>
            </a:r>
            <a:r>
              <a:rPr lang="zh-CN" altLang="en-US" sz="2800" dirty="0">
                <a:sym typeface="Symbol" panose="05050102010706020507" pitchFamily="18" charset="2"/>
              </a:rPr>
              <a:t></a:t>
            </a:r>
            <a:r>
              <a:rPr lang="zh-CN" altLang="en-US" sz="2800" dirty="0"/>
              <a:t> 和 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分别是</a:t>
            </a:r>
            <a:r>
              <a:rPr lang="en-US" altLang="zh-CN" sz="2800" dirty="0"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Y</a:t>
            </a:r>
            <a:r>
              <a:rPr lang="zh-CN" altLang="en-US" sz="2800" dirty="0">
                <a:sym typeface="Symbol" panose="05050102010706020507" pitchFamily="18" charset="2"/>
              </a:rPr>
              <a:t>上的二元运算，</a:t>
            </a:r>
            <a:r>
              <a:rPr lang="en-US" altLang="zh-CN" sz="2800" dirty="0">
                <a:sym typeface="Symbol" panose="05050102010706020507" pitchFamily="18" charset="2"/>
              </a:rPr>
              <a:t>h </a:t>
            </a:r>
            <a:r>
              <a:rPr lang="zh-CN" altLang="en-US" sz="2800" dirty="0">
                <a:sym typeface="Symbol" panose="05050102010706020507" pitchFamily="18" charset="2"/>
              </a:rPr>
              <a:t>是从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zh-CN" altLang="en-US" sz="2800" dirty="0"/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/>
              <a:t>到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Y</a:t>
            </a:r>
            <a:r>
              <a:rPr lang="zh-CN" altLang="en-US" sz="2800" dirty="0"/>
              <a:t>，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/>
              <a:t>的满同态函数，那么：</a:t>
            </a:r>
            <a:endParaRPr lang="en-US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69A146-2AA3-4E1B-90E3-A769DA8AFF02}"/>
              </a:ext>
            </a:extLst>
          </p:cNvPr>
          <p:cNvSpPr/>
          <p:nvPr/>
        </p:nvSpPr>
        <p:spPr>
          <a:xfrm>
            <a:off x="1596702" y="2803154"/>
            <a:ext cx="9199927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运算满足结合律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运算满足结合律；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h(e)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运算的零元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h(0)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运算的零元；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运算有逆元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运算的逆元是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]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607052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079519-3DCB-4C64-AB11-EE06BB96D42C}"/>
              </a:ext>
            </a:extLst>
          </p:cNvPr>
          <p:cNvSpPr/>
          <p:nvPr/>
        </p:nvSpPr>
        <p:spPr>
          <a:xfrm>
            <a:off x="1571625" y="1045177"/>
            <a:ext cx="101562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是代数结构，其中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为正整数集，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为正偶数集，*分别为一般的乘法运算，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的映射，对任意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x∈I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h(x)=2x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试证明：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的同构映射，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并证明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不同构。</a:t>
            </a:r>
          </a:p>
        </p:txBody>
      </p:sp>
    </p:spTree>
    <p:extLst>
      <p:ext uri="{BB962C8B-B14F-4D97-AF65-F5344CB8AC3E}">
        <p14:creationId xmlns:p14="http://schemas.microsoft.com/office/powerpoint/2010/main" val="2186300538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76801">
            <a:extLst>
              <a:ext uri="{FF2B5EF4-FFF2-40B4-BE49-F238E27FC236}">
                <a16:creationId xmlns:a16="http://schemas.microsoft.com/office/drawing/2014/main" id="{B56A92E5-1CFC-4C55-BBCB-35073929A20C}"/>
              </a:ext>
            </a:extLst>
          </p:cNvPr>
          <p:cNvSpPr txBox="1">
            <a:spLocks noChangeArrowheads="1"/>
          </p:cNvSpPr>
          <p:nvPr/>
        </p:nvSpPr>
        <p:spPr>
          <a:xfrm>
            <a:off x="1857375" y="981075"/>
            <a:ext cx="7697788" cy="4929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的双射，对任意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y∈I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h(x*y)=2xy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h(x)*h(y)=4xy,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h(x*y)≠h(x)*h(y)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的同构映射。</a:t>
            </a:r>
          </a:p>
          <a:p>
            <a:pPr>
              <a:lnSpc>
                <a:spcPct val="125000"/>
              </a:lnSpc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</a:t>
            </a:r>
            <a:r>
              <a:rPr lang="en-US" altLang="zh-CN" sz="240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&lt;E</a:t>
            </a:r>
            <a:r>
              <a:rPr lang="en-US" altLang="zh-CN" sz="240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的同构能说明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</a:t>
            </a:r>
            <a:r>
              <a:rPr lang="en-US" altLang="zh-CN" sz="240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&lt;E</a:t>
            </a:r>
            <a:r>
              <a:rPr lang="en-US" altLang="zh-CN" sz="240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+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就一定不同构吗？</a:t>
            </a:r>
          </a:p>
        </p:txBody>
      </p:sp>
    </p:spTree>
    <p:extLst>
      <p:ext uri="{BB962C8B-B14F-4D97-AF65-F5344CB8AC3E}">
        <p14:creationId xmlns:p14="http://schemas.microsoft.com/office/powerpoint/2010/main" val="302167310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79F1C4-37A9-4683-A4A6-DE4E608D57C9}"/>
              </a:ext>
            </a:extLst>
          </p:cNvPr>
          <p:cNvSpPr/>
          <p:nvPr/>
        </p:nvSpPr>
        <p:spPr>
          <a:xfrm>
            <a:off x="2192323" y="1292404"/>
            <a:ext cx="9023758" cy="3387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为代数结构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&lt;S′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的同态，并且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S′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中有单位元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e′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，那么称集合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{x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）＝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e′}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为同态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的核（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证明：如果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）≠ 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Ker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的子代数。</a:t>
            </a:r>
          </a:p>
          <a:p>
            <a:pPr>
              <a:lnSpc>
                <a:spcPct val="110000"/>
              </a:lnSpc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814400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101378">
            <a:extLst>
              <a:ext uri="{FF2B5EF4-FFF2-40B4-BE49-F238E27FC236}">
                <a16:creationId xmlns:a16="http://schemas.microsoft.com/office/drawing/2014/main" id="{4140AEA2-B79F-445D-8BC0-53386578A572}"/>
              </a:ext>
            </a:extLst>
          </p:cNvPr>
          <p:cNvSpPr txBox="1">
            <a:spLocks noChangeArrowheads="1"/>
          </p:cNvSpPr>
          <p:nvPr/>
        </p:nvSpPr>
        <p:spPr>
          <a:xfrm>
            <a:off x="2028669" y="1112293"/>
            <a:ext cx="8473867" cy="50403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1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设*是自然数集合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N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中的二元运算，并定义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x*y=x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。试证明*是可结合的，但不是可交换的。</a:t>
            </a:r>
          </a:p>
          <a:p>
            <a:pPr marL="0" indent="0">
              <a:lnSpc>
                <a:spcPct val="135000"/>
              </a:lnSpc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2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 &lt;A,*&gt;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为有单位元的代数结构，运算*满足结合律。证明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b=a</a:t>
            </a:r>
            <a:r>
              <a:rPr lang="en-US" altLang="zh-CN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的充分必要条件是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aba=a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ab</a:t>
            </a:r>
            <a:r>
              <a:rPr lang="en-US" altLang="zh-CN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2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a=e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。</a:t>
            </a:r>
          </a:p>
          <a:p>
            <a:pPr marL="0" indent="0">
              <a:lnSpc>
                <a:spcPct val="135000"/>
              </a:lnSpc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Comic Sans MS" panose="030F0702030302020204" pitchFamily="66" charset="0"/>
                <a:ea typeface="黑体" panose="02010609060101010101" pitchFamily="49" charset="-122"/>
              </a:rPr>
              <a:t>代数结构间的同构关系是等价关系。</a:t>
            </a:r>
          </a:p>
        </p:txBody>
      </p:sp>
    </p:spTree>
    <p:extLst>
      <p:ext uri="{BB962C8B-B14F-4D97-AF65-F5344CB8AC3E}">
        <p14:creationId xmlns:p14="http://schemas.microsoft.com/office/powerpoint/2010/main" val="533880402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104450">
            <a:extLst>
              <a:ext uri="{FF2B5EF4-FFF2-40B4-BE49-F238E27FC236}">
                <a16:creationId xmlns:a16="http://schemas.microsoft.com/office/drawing/2014/main" id="{D75E2772-A780-4E6F-B70C-AB54FA241653}"/>
              </a:ext>
            </a:extLst>
          </p:cNvPr>
          <p:cNvSpPr txBox="1">
            <a:spLocks noChangeArrowheads="1"/>
          </p:cNvSpPr>
          <p:nvPr/>
        </p:nvSpPr>
        <p:spPr>
          <a:xfrm>
            <a:off x="1479870" y="738188"/>
            <a:ext cx="10482831" cy="5876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(1)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自反性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：显然有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°〉≌〈X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°)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，即是自反的。   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(2)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对称性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：如果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°〉≌〈Y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；*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〉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则必存在一个双射 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g: X→Y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，使得若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x2∈X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，并有：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      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g(x1°x2)=g(x1)*g(x2)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根据双射的定义，必存在一个双射的逆映射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: Y→X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。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现要证对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: Y→X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，若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y1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y2∈Y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，必有：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      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(y1*y2)=g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(y1)°g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(y2)</a:t>
            </a:r>
            <a:b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设对任意的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y1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y2∈Y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必存在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x2∈X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，使得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g(x1)=y1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g(x2)=y2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，亦即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(y1)=x1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(y2)=x2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，故有：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  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(y1*y2)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= 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(g(x1)*g(x2)) =g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(g(x1°x2)) =x1°x2 </a:t>
            </a:r>
            <a:b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又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 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(y1)°g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(y2)=x1°x2</a:t>
            </a:r>
            <a:b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所以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 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(y1*y2)=g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(y1)°g</a:t>
            </a:r>
            <a:r>
              <a:rPr lang="en-US" altLang="zh-CN" sz="1800" b="1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(y2)</a:t>
            </a:r>
            <a:b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因此，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〈Y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；*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〉≌〈X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°〉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，所以≌是对称的。</a:t>
            </a:r>
          </a:p>
        </p:txBody>
      </p:sp>
    </p:spTree>
    <p:extLst>
      <p:ext uri="{BB962C8B-B14F-4D97-AF65-F5344CB8AC3E}">
        <p14:creationId xmlns:p14="http://schemas.microsoft.com/office/powerpoint/2010/main" val="1924555983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105474">
            <a:extLst>
              <a:ext uri="{FF2B5EF4-FFF2-40B4-BE49-F238E27FC236}">
                <a16:creationId xmlns:a16="http://schemas.microsoft.com/office/drawing/2014/main" id="{1FFD2FA5-101F-4E93-A6B1-DAE9B4538EA9}"/>
              </a:ext>
            </a:extLst>
          </p:cNvPr>
          <p:cNvSpPr txBox="1">
            <a:spLocks noChangeArrowheads="1"/>
          </p:cNvSpPr>
          <p:nvPr/>
        </p:nvSpPr>
        <p:spPr>
          <a:xfrm>
            <a:off x="1857375" y="981075"/>
            <a:ext cx="7848600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(3) </a:t>
            </a:r>
            <a:r>
              <a:rPr lang="zh-CN" altLang="en-US" sz="1800" b="1" dirty="0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传递性：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如果有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°〉≌〈Y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；*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〉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，且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〈Y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；*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〉≌〈Z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+〉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，要证明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°〉≌〈Z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+〉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。由条件亦即存在双射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g: X→Y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与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h: Y→Z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，使得对任意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x2∈X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y1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y2∈Y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，必有：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g(x1°x2)=g(x1)*g(x2)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 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h(y1*y2)=h(y1)+h(y2)</a:t>
            </a:r>
            <a:b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 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     下面证明存在一个双射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f: X→Z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，使得对任意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x1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x2∈X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，有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f(x1°x2)=f(x1)+f(x2)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  现令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f=</a:t>
            </a:r>
            <a:r>
              <a:rPr lang="en-US" altLang="zh-CN" sz="18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h·g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，即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h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与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的复合映射，由于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h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均是双射射，所以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f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亦是双射。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又 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f(x1°x2) =</a:t>
            </a:r>
            <a:r>
              <a:rPr lang="en-US" altLang="zh-CN" sz="18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h·g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(x1°x2)=h(g(x1)*g(x2))=h(g(x1))+h(g(x2))</a:t>
            </a:r>
            <a:b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                           =</a:t>
            </a:r>
            <a:r>
              <a:rPr lang="en-US" altLang="zh-CN" sz="18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h·g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(x1)+</a:t>
            </a:r>
            <a:r>
              <a:rPr lang="en-US" altLang="zh-CN" sz="18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h·g</a:t>
            </a: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(x2)=f(x1)+f(x2)</a:t>
            </a:r>
            <a:b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en-US" altLang="zh-CN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 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所以，≌是传递的。</a:t>
            </a:r>
            <a:b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    </a:t>
            </a:r>
            <a:r>
              <a:rPr lang="zh-CN" altLang="en-US" sz="1800" b="1" dirty="0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综上</a:t>
            </a: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，≌是等价关系，即代数结构间的同构关系是等价关系。</a:t>
            </a:r>
          </a:p>
          <a:p>
            <a:pPr marL="0" indent="0" algn="r">
              <a:lnSpc>
                <a:spcPct val="150000"/>
              </a:lnSpc>
              <a:buFontTx/>
              <a:buNone/>
            </a:pPr>
            <a:r>
              <a:rPr lang="zh-CN" altLang="en-US" sz="1800" b="1" dirty="0">
                <a:latin typeface="Comic Sans MS" panose="030F0702030302020204" pitchFamily="66" charset="0"/>
                <a:ea typeface="黑体" panose="02010609060101010101" pitchFamily="49" charset="-122"/>
              </a:rPr>
              <a:t>证毕</a:t>
            </a:r>
          </a:p>
          <a:p>
            <a:pPr marL="0" indent="0">
              <a:buFontTx/>
              <a:buNone/>
            </a:pPr>
            <a:endParaRPr lang="zh-CN" altLang="en-US" sz="18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1844801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1EC985-03BC-4166-A882-A19F33320234}"/>
              </a:ext>
            </a:extLst>
          </p:cNvPr>
          <p:cNvSpPr/>
          <p:nvPr/>
        </p:nvSpPr>
        <p:spPr>
          <a:xfrm>
            <a:off x="297125" y="1453352"/>
            <a:ext cx="11598953" cy="2604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设</a:t>
            </a:r>
            <a:r>
              <a:rPr lang="en-US" altLang="zh-CN" sz="2800" dirty="0">
                <a:latin typeface="宋体" panose="02010600030101010101" pitchFamily="2" charset="-12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</a:rPr>
              <a:t>是非空集合</a:t>
            </a:r>
            <a:r>
              <a:rPr lang="en-US" altLang="zh-CN" sz="2800" dirty="0"/>
              <a:t>A</a:t>
            </a:r>
            <a:r>
              <a:rPr lang="zh-CN" altLang="en-US" sz="2800" dirty="0">
                <a:latin typeface="宋体" panose="02010600030101010101" pitchFamily="2" charset="-122"/>
              </a:rPr>
              <a:t>上的等价关系。对任何元素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A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，由</a:t>
            </a:r>
            <a:r>
              <a:rPr lang="en-US" altLang="zh-CN" sz="2800" dirty="0"/>
              <a:t>a</a:t>
            </a:r>
            <a:r>
              <a:rPr lang="zh-CN" altLang="en-US" sz="2800" dirty="0">
                <a:latin typeface="宋体" panose="02010600030101010101" pitchFamily="2" charset="-122"/>
              </a:rPr>
              <a:t>生成的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或者说是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由</a:t>
            </a:r>
            <a:r>
              <a:rPr lang="en-US" altLang="zh-CN" sz="2800" dirty="0">
                <a:latin typeface="宋体" panose="02010600030101010101" pitchFamily="2" charset="-122"/>
              </a:rPr>
              <a:t>a</a:t>
            </a:r>
            <a:r>
              <a:rPr lang="zh-CN" altLang="en-US" sz="2800" dirty="0">
                <a:latin typeface="宋体" panose="02010600030101010101" pitchFamily="2" charset="-122"/>
              </a:rPr>
              <a:t>诱导出的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关于</a:t>
            </a:r>
            <a:r>
              <a:rPr lang="en-US" altLang="zh-CN" sz="2800" dirty="0"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等价类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定义为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　　　　　　　</a:t>
            </a:r>
            <a:r>
              <a:rPr lang="en-US" altLang="zh-CN" sz="2800" dirty="0">
                <a:sym typeface="Symbol" panose="05050102010706020507" pitchFamily="18" charset="2"/>
              </a:rPr>
              <a:t>{b </a:t>
            </a:r>
            <a:r>
              <a:rPr lang="en-US" altLang="zh-CN" sz="2800" b="1" dirty="0">
                <a:ea typeface="仿宋_GB2312" pitchFamily="49" charset="-122"/>
              </a:rPr>
              <a:t>:</a:t>
            </a:r>
            <a:r>
              <a:rPr lang="en-US" altLang="zh-CN" sz="2800" dirty="0" err="1">
                <a:ea typeface="仿宋_GB2312" pitchFamily="49" charset="-122"/>
              </a:rPr>
              <a:t>b</a:t>
            </a:r>
            <a:r>
              <a:rPr lang="en-US" altLang="zh-CN" sz="2800" dirty="0" err="1">
                <a:ea typeface="仿宋_GB2312" pitchFamily="49" charset="-122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ea typeface="仿宋_GB2312" pitchFamily="49" charset="-122"/>
                <a:sym typeface="Symbol" panose="05050102010706020507" pitchFamily="18" charset="2"/>
              </a:rPr>
              <a:t>(</a:t>
            </a:r>
            <a:r>
              <a:rPr lang="en-US" altLang="zh-CN" sz="2800" dirty="0" err="1"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,b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ea typeface="仿宋_GB2312" pitchFamily="49" charset="-122"/>
                <a:sym typeface="Symbol" panose="05050102010706020507" pitchFamily="18" charset="2"/>
              </a:rPr>
              <a:t> R</a:t>
            </a:r>
            <a:r>
              <a:rPr lang="en-US" altLang="zh-CN" sz="2800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记为</a:t>
            </a:r>
            <a:r>
              <a:rPr lang="zh-CN" altLang="en-US" sz="2800" dirty="0">
                <a:sym typeface="Symbol" panose="05050102010706020507" pitchFamily="18" charset="2"/>
              </a:rPr>
              <a:t></a:t>
            </a:r>
            <a:r>
              <a:rPr lang="en-US" altLang="zh-CN" sz="2800" dirty="0"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ea typeface="仿宋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latin typeface="宋体" panose="02010600030101010101" pitchFamily="2" charset="-122"/>
                <a:sym typeface="Symbol" panose="05050102010706020507" pitchFamily="18" charset="2"/>
              </a:rPr>
              <a:t>. </a:t>
            </a:r>
            <a:r>
              <a:rPr lang="en-US" altLang="zh-CN" sz="2800" dirty="0"/>
              <a:t>(</a:t>
            </a:r>
            <a:r>
              <a:rPr lang="zh-CN" altLang="en-US" sz="2800" dirty="0"/>
              <a:t>显然有</a:t>
            </a:r>
            <a:r>
              <a:rPr lang="zh-CN" altLang="en-US" sz="2800" dirty="0">
                <a:sym typeface="Symbol" panose="05050102010706020507" pitchFamily="18" charset="2"/>
              </a:rPr>
              <a:t></a:t>
            </a:r>
            <a:r>
              <a:rPr lang="en-US" altLang="zh-CN" sz="2800" dirty="0"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ea typeface="仿宋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A)</a:t>
            </a:r>
            <a:r>
              <a:rPr lang="en-US" altLang="zh-CN" sz="2800" baseline="-250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。同时称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为等价类</a:t>
            </a:r>
            <a:r>
              <a:rPr lang="zh-CN" altLang="en-US" sz="2800" dirty="0">
                <a:sym typeface="Symbol" panose="05050102010706020507" pitchFamily="18" charset="2"/>
              </a:rPr>
              <a:t></a:t>
            </a:r>
            <a:r>
              <a:rPr lang="en-US" altLang="zh-CN" sz="2800" dirty="0" err="1">
                <a:sym typeface="Symbol" panose="05050102010706020507" pitchFamily="18" charset="2"/>
              </a:rPr>
              <a:t>a</a:t>
            </a:r>
            <a:r>
              <a:rPr lang="en-US" altLang="zh-CN" sz="2800" baseline="-25000" dirty="0" err="1"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的代表元（生成元）。</a:t>
            </a: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862FF6-8726-4136-B476-9B79C99A534B}"/>
              </a:ext>
            </a:extLst>
          </p:cNvPr>
          <p:cNvSpPr/>
          <p:nvPr/>
        </p:nvSpPr>
        <p:spPr>
          <a:xfrm>
            <a:off x="1662733" y="799678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等价类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87D3D1-408B-42DA-9A05-3A93306CE255}"/>
              </a:ext>
            </a:extLst>
          </p:cNvPr>
          <p:cNvSpPr/>
          <p:nvPr/>
        </p:nvSpPr>
        <p:spPr>
          <a:xfrm>
            <a:off x="1857307" y="4188559"/>
            <a:ext cx="7931378" cy="1906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buClrTx/>
              <a:buNone/>
            </a:pPr>
            <a:r>
              <a:rPr lang="zh-CN" altLang="en-US" sz="2800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示例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 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设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A={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a,b,c,d,e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}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，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上的关系</a:t>
            </a:r>
          </a:p>
          <a:p>
            <a:pPr>
              <a:lnSpc>
                <a:spcPct val="145000"/>
              </a:lnSpc>
              <a:buClr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  <a:sym typeface="Symbol" panose="05050102010706020507" pitchFamily="2" charset="2"/>
              </a:rPr>
              <a:t>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={(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a,a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a,b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b,a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b,b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c,c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d,d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d,e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e,d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),(</a:t>
            </a:r>
            <a:r>
              <a:rPr lang="en-US" altLang="x-none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e,e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)}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，</a:t>
            </a:r>
          </a:p>
          <a:p>
            <a:pPr>
              <a:lnSpc>
                <a:spcPct val="145000"/>
              </a:lnSpc>
              <a:buClr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确定由集合</a:t>
            </a:r>
            <a:r>
              <a:rPr lang="en-US" altLang="x-none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2" charset="0"/>
              </a:rPr>
              <a:t>中的元素产生的等价类。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3665975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A013AA-EE8A-49A2-85F7-1F0CBE13056E}"/>
              </a:ext>
            </a:extLst>
          </p:cNvPr>
          <p:cNvSpPr/>
          <p:nvPr/>
        </p:nvSpPr>
        <p:spPr>
          <a:xfrm>
            <a:off x="1662733" y="1832158"/>
            <a:ext cx="8466423" cy="2611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设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R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是非空集合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上的等价关系。定义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集合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          </a:t>
            </a:r>
            <a:r>
              <a:rPr lang="en-US" altLang="zh-CN" sz="2800" baseline="-25000" dirty="0">
                <a:latin typeface="等线" panose="02010600030101010101" pitchFamily="2" charset="-122"/>
              </a:rPr>
              <a:t>R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 = {a</a:t>
            </a:r>
            <a:r>
              <a:rPr lang="en-US" altLang="zh-CN" sz="2800" baseline="-25000" dirty="0">
                <a:latin typeface="等线" panose="02010600030101010101" pitchFamily="2" charset="-122"/>
              </a:rPr>
              <a:t> R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为集合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关于等价关系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商集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记为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A/</a:t>
            </a:r>
            <a:r>
              <a:rPr lang="en-US" altLang="zh-CN" sz="2800" baseline="-25000" dirty="0">
                <a:solidFill>
                  <a:srgbClr val="FF0000"/>
                </a:solidFill>
                <a:latin typeface="等线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latin typeface="等线" panose="02010600030101010101" pitchFamily="2" charset="-122"/>
              </a:rPr>
              <a:t>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。称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A/</a:t>
            </a:r>
            <a:r>
              <a:rPr lang="en-US" altLang="zh-CN" sz="2800" dirty="0">
                <a:latin typeface="等线" panose="02010600030101010101" pitchFamily="2" charset="-122"/>
              </a:rPr>
              <a:t> R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中元素的个数为</a:t>
            </a:r>
            <a:r>
              <a:rPr lang="en-US" altLang="zh-CN" sz="2800" dirty="0">
                <a:latin typeface="等线" panose="02010600030101010101" pitchFamily="2" charset="-122"/>
              </a:rPr>
              <a:t>R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秩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668853-B1B1-4FF3-BFA9-AE0A013E0487}"/>
              </a:ext>
            </a:extLst>
          </p:cNvPr>
          <p:cNvSpPr/>
          <p:nvPr/>
        </p:nvSpPr>
        <p:spPr>
          <a:xfrm>
            <a:off x="1662733" y="79967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商集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B92E3D-4F70-4BD5-A7AA-3533519047F3}"/>
              </a:ext>
            </a:extLst>
          </p:cNvPr>
          <p:cNvSpPr/>
          <p:nvPr/>
        </p:nvSpPr>
        <p:spPr>
          <a:xfrm>
            <a:off x="5895944" y="2662093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注意：应去掉重复的类！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3666862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48003F-6AF5-46E3-AFDD-78F1AD06B69F}"/>
              </a:ext>
            </a:extLst>
          </p:cNvPr>
          <p:cNvSpPr/>
          <p:nvPr/>
        </p:nvSpPr>
        <p:spPr>
          <a:xfrm>
            <a:off x="1571625" y="923072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同余关系与商代数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51992CD-3950-4124-8C8C-C56B7232C3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7076" y="2008111"/>
          <a:ext cx="795907" cy="868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228600" progId="Equation.3">
                  <p:embed/>
                </p:oleObj>
              </mc:Choice>
              <mc:Fallback>
                <p:oleObj name="Equation" r:id="rId4" imgW="203040" imgH="228600" progId="Equation.3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551992CD-3950-4124-8C8C-C56B7232C3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076" y="2008111"/>
                        <a:ext cx="795907" cy="868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2FB4027B-B018-4F43-ACA4-5B7AD44805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1725" y="2036727"/>
          <a:ext cx="767434" cy="839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28600" progId="Equation.3">
                  <p:embed/>
                </p:oleObj>
              </mc:Choice>
              <mc:Fallback>
                <p:oleObj name="Equation" r:id="rId6" imgW="203040" imgH="228600" progId="Equation.3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2FB4027B-B018-4F43-ACA4-5B7AD44805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725" y="2036727"/>
                        <a:ext cx="767434" cy="839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" name="Group 19">
            <a:extLst>
              <a:ext uri="{FF2B5EF4-FFF2-40B4-BE49-F238E27FC236}">
                <a16:creationId xmlns:a16="http://schemas.microsoft.com/office/drawing/2014/main" id="{858743BE-7D80-411F-B532-1A5414FF56AE}"/>
              </a:ext>
            </a:extLst>
          </p:cNvPr>
          <p:cNvGrpSpPr>
            <a:grpSpLocks/>
          </p:cNvGrpSpPr>
          <p:nvPr/>
        </p:nvGrpSpPr>
        <p:grpSpPr bwMode="auto">
          <a:xfrm>
            <a:off x="1863055" y="4086138"/>
            <a:ext cx="6934200" cy="609600"/>
            <a:chOff x="288" y="0"/>
            <a:chExt cx="4368" cy="384"/>
          </a:xfrm>
        </p:grpSpPr>
        <p:grpSp>
          <p:nvGrpSpPr>
            <p:cNvPr id="77" name="Group 20">
              <a:extLst>
                <a:ext uri="{FF2B5EF4-FFF2-40B4-BE49-F238E27FC236}">
                  <a16:creationId xmlns:a16="http://schemas.microsoft.com/office/drawing/2014/main" id="{C64B451C-E332-4BBC-A16E-7182A2A44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0"/>
              <a:ext cx="3989" cy="384"/>
              <a:chOff x="576" y="2976"/>
              <a:chExt cx="3989" cy="384"/>
            </a:xfrm>
          </p:grpSpPr>
          <p:graphicFrame>
            <p:nvGraphicFramePr>
              <p:cNvPr id="79" name="Object 21">
                <a:extLst>
                  <a:ext uri="{FF2B5EF4-FFF2-40B4-BE49-F238E27FC236}">
                    <a16:creationId xmlns:a16="http://schemas.microsoft.com/office/drawing/2014/main" id="{EBEA86B3-11A2-4770-9D06-BB808BA54F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6" y="3024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26720" imgH="228600" progId="Equation.3">
                      <p:embed/>
                    </p:oleObj>
                  </mc:Choice>
                  <mc:Fallback>
                    <p:oleObj name="Equation" r:id="rId8" imgW="126720" imgH="228600" progId="Equation.3">
                      <p:embed/>
                      <p:pic>
                        <p:nvPicPr>
                          <p:cNvPr id="79" name="Object 21">
                            <a:extLst>
                              <a:ext uri="{FF2B5EF4-FFF2-40B4-BE49-F238E27FC236}">
                                <a16:creationId xmlns:a16="http://schemas.microsoft.com/office/drawing/2014/main" id="{EBEA86B3-11A2-4770-9D06-BB808BA54F6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6" y="3024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0" name="Object 22">
                <a:extLst>
                  <a:ext uri="{FF2B5EF4-FFF2-40B4-BE49-F238E27FC236}">
                    <a16:creationId xmlns:a16="http://schemas.microsoft.com/office/drawing/2014/main" id="{90F217A2-5F91-4851-BF6A-DAB8D1EF18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60" y="2976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3040" imgH="228600" progId="Equation.3">
                      <p:embed/>
                    </p:oleObj>
                  </mc:Choice>
                  <mc:Fallback>
                    <p:oleObj name="Equation" r:id="rId10" imgW="203040" imgH="228600" progId="Equation.3">
                      <p:embed/>
                      <p:pic>
                        <p:nvPicPr>
                          <p:cNvPr id="80" name="Object 22">
                            <a:extLst>
                              <a:ext uri="{FF2B5EF4-FFF2-40B4-BE49-F238E27FC236}">
                                <a16:creationId xmlns:a16="http://schemas.microsoft.com/office/drawing/2014/main" id="{90F217A2-5F91-4851-BF6A-DAB8D1EF181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976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" name="Object 23">
                <a:extLst>
                  <a:ext uri="{FF2B5EF4-FFF2-40B4-BE49-F238E27FC236}">
                    <a16:creationId xmlns:a16="http://schemas.microsoft.com/office/drawing/2014/main" id="{951B52F1-71B4-4993-BC40-980A2199960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2976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14120" imgH="228600" progId="Equation.3">
                      <p:embed/>
                    </p:oleObj>
                  </mc:Choice>
                  <mc:Fallback>
                    <p:oleObj name="Equation" r:id="rId11" imgW="114120" imgH="228600" progId="Equation.3">
                      <p:embed/>
                      <p:pic>
                        <p:nvPicPr>
                          <p:cNvPr id="81" name="Object 23">
                            <a:extLst>
                              <a:ext uri="{FF2B5EF4-FFF2-40B4-BE49-F238E27FC236}">
                                <a16:creationId xmlns:a16="http://schemas.microsoft.com/office/drawing/2014/main" id="{951B52F1-71B4-4993-BC40-980A2199960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976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" name="Object 24">
                <a:extLst>
                  <a:ext uri="{FF2B5EF4-FFF2-40B4-BE49-F238E27FC236}">
                    <a16:creationId xmlns:a16="http://schemas.microsoft.com/office/drawing/2014/main" id="{B3874C50-F010-4328-BC78-E95A2B1C941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24" y="2976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03040" imgH="228600" progId="Equation.3">
                      <p:embed/>
                    </p:oleObj>
                  </mc:Choice>
                  <mc:Fallback>
                    <p:oleObj name="Equation" r:id="rId13" imgW="203040" imgH="228600" progId="Equation.3">
                      <p:embed/>
                      <p:pic>
                        <p:nvPicPr>
                          <p:cNvPr id="82" name="Object 24">
                            <a:extLst>
                              <a:ext uri="{FF2B5EF4-FFF2-40B4-BE49-F238E27FC236}">
                                <a16:creationId xmlns:a16="http://schemas.microsoft.com/office/drawing/2014/main" id="{B3874C50-F010-4328-BC78-E95A2B1C941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4" y="2976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3" name="Object 25">
                <a:extLst>
                  <a:ext uri="{FF2B5EF4-FFF2-40B4-BE49-F238E27FC236}">
                    <a16:creationId xmlns:a16="http://schemas.microsoft.com/office/drawing/2014/main" id="{7407D838-3B23-4564-A0D9-8DB03B520A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24" y="2976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03040" imgH="228600" progId="Equation.3">
                      <p:embed/>
                    </p:oleObj>
                  </mc:Choice>
                  <mc:Fallback>
                    <p:oleObj name="Equation" r:id="rId13" imgW="203040" imgH="228600" progId="Equation.3">
                      <p:embed/>
                      <p:pic>
                        <p:nvPicPr>
                          <p:cNvPr id="83" name="Object 25">
                            <a:extLst>
                              <a:ext uri="{FF2B5EF4-FFF2-40B4-BE49-F238E27FC236}">
                                <a16:creationId xmlns:a16="http://schemas.microsoft.com/office/drawing/2014/main" id="{7407D838-3B23-4564-A0D9-8DB03B520A0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2976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" name="Object 26">
                <a:extLst>
                  <a:ext uri="{FF2B5EF4-FFF2-40B4-BE49-F238E27FC236}">
                    <a16:creationId xmlns:a16="http://schemas.microsoft.com/office/drawing/2014/main" id="{3DB1E05F-F33A-4BDE-BBA5-E3CDC749A46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96" y="2976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03040" imgH="228600" progId="Equation.3">
                      <p:embed/>
                    </p:oleObj>
                  </mc:Choice>
                  <mc:Fallback>
                    <p:oleObj name="Equation" r:id="rId14" imgW="203040" imgH="228600" progId="Equation.3">
                      <p:embed/>
                      <p:pic>
                        <p:nvPicPr>
                          <p:cNvPr id="84" name="Object 26">
                            <a:extLst>
                              <a:ext uri="{FF2B5EF4-FFF2-40B4-BE49-F238E27FC236}">
                                <a16:creationId xmlns:a16="http://schemas.microsoft.com/office/drawing/2014/main" id="{3DB1E05F-F33A-4BDE-BBA5-E3CDC749A46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6" y="2976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5" name="Object 27">
                <a:extLst>
                  <a:ext uri="{FF2B5EF4-FFF2-40B4-BE49-F238E27FC236}">
                    <a16:creationId xmlns:a16="http://schemas.microsoft.com/office/drawing/2014/main" id="{B8E4A860-EA46-403E-8CF4-22BE513C56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88" y="3024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6720" imgH="228600" progId="Equation.3">
                      <p:embed/>
                    </p:oleObj>
                  </mc:Choice>
                  <mc:Fallback>
                    <p:oleObj name="Equation" r:id="rId15" imgW="126720" imgH="228600" progId="Equation.3">
                      <p:embed/>
                      <p:pic>
                        <p:nvPicPr>
                          <p:cNvPr id="85" name="Object 27">
                            <a:extLst>
                              <a:ext uri="{FF2B5EF4-FFF2-40B4-BE49-F238E27FC236}">
                                <a16:creationId xmlns:a16="http://schemas.microsoft.com/office/drawing/2014/main" id="{B8E4A860-EA46-403E-8CF4-22BE513C568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8" y="3024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6" name="Object 28">
                <a:extLst>
                  <a:ext uri="{FF2B5EF4-FFF2-40B4-BE49-F238E27FC236}">
                    <a16:creationId xmlns:a16="http://schemas.microsoft.com/office/drawing/2014/main" id="{74E6E01D-BAA8-426E-9515-4307683F42C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72" y="2976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14120" imgH="228600" progId="Equation.3">
                      <p:embed/>
                    </p:oleObj>
                  </mc:Choice>
                  <mc:Fallback>
                    <p:oleObj name="Equation" r:id="rId16" imgW="114120" imgH="228600" progId="Equation.3">
                      <p:embed/>
                      <p:pic>
                        <p:nvPicPr>
                          <p:cNvPr id="86" name="Object 28">
                            <a:extLst>
                              <a:ext uri="{FF2B5EF4-FFF2-40B4-BE49-F238E27FC236}">
                                <a16:creationId xmlns:a16="http://schemas.microsoft.com/office/drawing/2014/main" id="{74E6E01D-BAA8-426E-9515-4307683F42C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2976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9B294ABB-5DFE-4C4A-9E7D-F35A03063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0"/>
              <a:ext cx="4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      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＝         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＋     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＝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＋       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0790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48003F-6AF5-46E3-AFDD-78F1AD06B69F}"/>
              </a:ext>
            </a:extLst>
          </p:cNvPr>
          <p:cNvSpPr/>
          <p:nvPr/>
        </p:nvSpPr>
        <p:spPr>
          <a:xfrm>
            <a:off x="1571625" y="923072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同余关系与商代数</a:t>
            </a: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B244636F-FE51-4C02-90DA-3A98E46530B3}"/>
              </a:ext>
            </a:extLst>
          </p:cNvPr>
          <p:cNvGrpSpPr>
            <a:grpSpLocks/>
          </p:cNvGrpSpPr>
          <p:nvPr/>
        </p:nvGrpSpPr>
        <p:grpSpPr bwMode="auto">
          <a:xfrm>
            <a:off x="2745297" y="1749105"/>
            <a:ext cx="4419600" cy="2133600"/>
            <a:chOff x="2016" y="336"/>
            <a:chExt cx="2784" cy="1344"/>
          </a:xfrm>
        </p:grpSpPr>
        <p:grpSp>
          <p:nvGrpSpPr>
            <p:cNvPr id="20" name="Group 4">
              <a:extLst>
                <a:ext uri="{FF2B5EF4-FFF2-40B4-BE49-F238E27FC236}">
                  <a16:creationId xmlns:a16="http://schemas.microsoft.com/office/drawing/2014/main" id="{559D50A4-BE86-41CA-BB1A-9CC746831F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336"/>
              <a:ext cx="2784" cy="1344"/>
              <a:chOff x="2016" y="336"/>
              <a:chExt cx="2784" cy="1344"/>
            </a:xfrm>
          </p:grpSpPr>
          <p:sp>
            <p:nvSpPr>
              <p:cNvPr id="22" name="Rectangle 5">
                <a:extLst>
                  <a:ext uri="{FF2B5EF4-FFF2-40B4-BE49-F238E27FC236}">
                    <a16:creationId xmlns:a16="http://schemas.microsoft.com/office/drawing/2014/main" id="{39F3D023-C699-45E3-853C-5D0E41300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336"/>
                <a:ext cx="2736" cy="134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6">
                <a:extLst>
                  <a:ext uri="{FF2B5EF4-FFF2-40B4-BE49-F238E27FC236}">
                    <a16:creationId xmlns:a16="http://schemas.microsoft.com/office/drawing/2014/main" id="{73842F3C-142F-473C-BCBB-7DA619826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336"/>
                <a:ext cx="0" cy="13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7">
                <a:extLst>
                  <a:ext uri="{FF2B5EF4-FFF2-40B4-BE49-F238E27FC236}">
                    <a16:creationId xmlns:a16="http://schemas.microsoft.com/office/drawing/2014/main" id="{D510CD99-1A08-4498-974E-5E752183A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336"/>
                <a:ext cx="0" cy="13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8">
                <a:extLst>
                  <a:ext uri="{FF2B5EF4-FFF2-40B4-BE49-F238E27FC236}">
                    <a16:creationId xmlns:a16="http://schemas.microsoft.com/office/drawing/2014/main" id="{9DB299DC-0266-4F1F-B85C-7B9EF21A4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36"/>
                <a:ext cx="0" cy="13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" name="Object 9">
                <a:extLst>
                  <a:ext uri="{FF2B5EF4-FFF2-40B4-BE49-F238E27FC236}">
                    <a16:creationId xmlns:a16="http://schemas.microsoft.com/office/drawing/2014/main" id="{BEA7CA77-9E00-47FF-8E6C-8CFD7F4A9E7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12" y="768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26720" imgH="228600" progId="Equation.3">
                      <p:embed/>
                    </p:oleObj>
                  </mc:Choice>
                  <mc:Fallback>
                    <p:oleObj name="Equation" r:id="rId4" imgW="126720" imgH="228600" progId="Equation.3">
                      <p:embed/>
                      <p:pic>
                        <p:nvPicPr>
                          <p:cNvPr id="26" name="Object 9">
                            <a:extLst>
                              <a:ext uri="{FF2B5EF4-FFF2-40B4-BE49-F238E27FC236}">
                                <a16:creationId xmlns:a16="http://schemas.microsoft.com/office/drawing/2014/main" id="{BEA7CA77-9E00-47FF-8E6C-8CFD7F4A9E7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768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10">
                <a:extLst>
                  <a:ext uri="{FF2B5EF4-FFF2-40B4-BE49-F238E27FC236}">
                    <a16:creationId xmlns:a16="http://schemas.microsoft.com/office/drawing/2014/main" id="{C40DB998-3C03-4960-816B-10105FEE257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16" y="1200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03040" imgH="228600" progId="Equation.3">
                      <p:embed/>
                    </p:oleObj>
                  </mc:Choice>
                  <mc:Fallback>
                    <p:oleObj name="Equation" r:id="rId6" imgW="203040" imgH="228600" progId="Equation.3">
                      <p:embed/>
                      <p:pic>
                        <p:nvPicPr>
                          <p:cNvPr id="27" name="Object 10">
                            <a:extLst>
                              <a:ext uri="{FF2B5EF4-FFF2-40B4-BE49-F238E27FC236}">
                                <a16:creationId xmlns:a16="http://schemas.microsoft.com/office/drawing/2014/main" id="{C40DB998-3C03-4960-816B-10105FEE257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1200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11">
                <a:extLst>
                  <a:ext uri="{FF2B5EF4-FFF2-40B4-BE49-F238E27FC236}">
                    <a16:creationId xmlns:a16="http://schemas.microsoft.com/office/drawing/2014/main" id="{6762B690-C5D5-4C91-AECF-9DCDC22E339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88" y="768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14120" imgH="228600" progId="Equation.3">
                      <p:embed/>
                    </p:oleObj>
                  </mc:Choice>
                  <mc:Fallback>
                    <p:oleObj name="Equation" r:id="rId8" imgW="114120" imgH="228600" progId="Equation.3">
                      <p:embed/>
                      <p:pic>
                        <p:nvPicPr>
                          <p:cNvPr id="28" name="Object 11">
                            <a:extLst>
                              <a:ext uri="{FF2B5EF4-FFF2-40B4-BE49-F238E27FC236}">
                                <a16:creationId xmlns:a16="http://schemas.microsoft.com/office/drawing/2014/main" id="{6762B690-C5D5-4C91-AECF-9DCDC22E339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8" y="768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12">
                <a:extLst>
                  <a:ext uri="{FF2B5EF4-FFF2-40B4-BE49-F238E27FC236}">
                    <a16:creationId xmlns:a16="http://schemas.microsoft.com/office/drawing/2014/main" id="{35EAA83E-046E-45B5-904D-B0231626DF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40" y="1200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3040" imgH="228600" progId="Equation.3">
                      <p:embed/>
                    </p:oleObj>
                  </mc:Choice>
                  <mc:Fallback>
                    <p:oleObj name="Equation" r:id="rId10" imgW="203040" imgH="228600" progId="Equation.3">
                      <p:embed/>
                      <p:pic>
                        <p:nvPicPr>
                          <p:cNvPr id="29" name="Object 12">
                            <a:extLst>
                              <a:ext uri="{FF2B5EF4-FFF2-40B4-BE49-F238E27FC236}">
                                <a16:creationId xmlns:a16="http://schemas.microsoft.com/office/drawing/2014/main" id="{35EAA83E-046E-45B5-904D-B0231626DF2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1200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13">
                <a:extLst>
                  <a:ext uri="{FF2B5EF4-FFF2-40B4-BE49-F238E27FC236}">
                    <a16:creationId xmlns:a16="http://schemas.microsoft.com/office/drawing/2014/main" id="{08105B18-49B7-43AA-8B30-FCEA7A2868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08" y="672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26720" imgH="228600" progId="Equation.3">
                      <p:embed/>
                    </p:oleObj>
                  </mc:Choice>
                  <mc:Fallback>
                    <p:oleObj name="Equation" r:id="rId12" imgW="126720" imgH="228600" progId="Equation.3">
                      <p:embed/>
                      <p:pic>
                        <p:nvPicPr>
                          <p:cNvPr id="30" name="Object 13">
                            <a:extLst>
                              <a:ext uri="{FF2B5EF4-FFF2-40B4-BE49-F238E27FC236}">
                                <a16:creationId xmlns:a16="http://schemas.microsoft.com/office/drawing/2014/main" id="{08105B18-49B7-43AA-8B30-FCEA7A2868C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672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14">
                <a:extLst>
                  <a:ext uri="{FF2B5EF4-FFF2-40B4-BE49-F238E27FC236}">
                    <a16:creationId xmlns:a16="http://schemas.microsoft.com/office/drawing/2014/main" id="{9233BB0E-7588-453E-B5AA-A136904D4D7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4" y="672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14120" imgH="228600" progId="Equation.3">
                      <p:embed/>
                    </p:oleObj>
                  </mc:Choice>
                  <mc:Fallback>
                    <p:oleObj name="Equation" r:id="rId13" imgW="114120" imgH="228600" progId="Equation.3">
                      <p:embed/>
                      <p:pic>
                        <p:nvPicPr>
                          <p:cNvPr id="31" name="Object 14">
                            <a:extLst>
                              <a:ext uri="{FF2B5EF4-FFF2-40B4-BE49-F238E27FC236}">
                                <a16:creationId xmlns:a16="http://schemas.microsoft.com/office/drawing/2014/main" id="{9233BB0E-7588-453E-B5AA-A136904D4D7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672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15">
                <a:extLst>
                  <a:ext uri="{FF2B5EF4-FFF2-40B4-BE49-F238E27FC236}">
                    <a16:creationId xmlns:a16="http://schemas.microsoft.com/office/drawing/2014/main" id="{011CE2B2-E11B-4715-8250-CD193B4FD0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92" y="1008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03040" imgH="228600" progId="Equation.3">
                      <p:embed/>
                    </p:oleObj>
                  </mc:Choice>
                  <mc:Fallback>
                    <p:oleObj name="Equation" r:id="rId14" imgW="203040" imgH="228600" progId="Equation.3">
                      <p:embed/>
                      <p:pic>
                        <p:nvPicPr>
                          <p:cNvPr id="32" name="Object 15">
                            <a:extLst>
                              <a:ext uri="{FF2B5EF4-FFF2-40B4-BE49-F238E27FC236}">
                                <a16:creationId xmlns:a16="http://schemas.microsoft.com/office/drawing/2014/main" id="{011CE2B2-E11B-4715-8250-CD193B4FD00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008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16">
                <a:extLst>
                  <a:ext uri="{FF2B5EF4-FFF2-40B4-BE49-F238E27FC236}">
                    <a16:creationId xmlns:a16="http://schemas.microsoft.com/office/drawing/2014/main" id="{3417AEFD-FD5C-4888-8EF2-12015F1E21E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4" y="1008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03040" imgH="228600" progId="Equation.3">
                      <p:embed/>
                    </p:oleObj>
                  </mc:Choice>
                  <mc:Fallback>
                    <p:oleObj name="Equation" r:id="rId15" imgW="203040" imgH="228600" progId="Equation.3">
                      <p:embed/>
                      <p:pic>
                        <p:nvPicPr>
                          <p:cNvPr id="33" name="Object 16">
                            <a:extLst>
                              <a:ext uri="{FF2B5EF4-FFF2-40B4-BE49-F238E27FC236}">
                                <a16:creationId xmlns:a16="http://schemas.microsoft.com/office/drawing/2014/main" id="{3417AEFD-FD5C-4888-8EF2-12015F1E21E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4" y="1008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17">
                <a:extLst>
                  <a:ext uri="{FF2B5EF4-FFF2-40B4-BE49-F238E27FC236}">
                    <a16:creationId xmlns:a16="http://schemas.microsoft.com/office/drawing/2014/main" id="{386EE55C-2F6B-4722-80F4-3603FF04E7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91" y="384"/>
              <a:ext cx="212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90440" imgH="228600" progId="Equation.3">
                      <p:embed/>
                    </p:oleObj>
                  </mc:Choice>
                  <mc:Fallback>
                    <p:oleObj name="Equation" r:id="rId16" imgW="190440" imgH="228600" progId="Equation.3">
                      <p:embed/>
                      <p:pic>
                        <p:nvPicPr>
                          <p:cNvPr id="34" name="Object 17">
                            <a:extLst>
                              <a:ext uri="{FF2B5EF4-FFF2-40B4-BE49-F238E27FC236}">
                                <a16:creationId xmlns:a16="http://schemas.microsoft.com/office/drawing/2014/main" id="{386EE55C-2F6B-4722-80F4-3603FF04E75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1" y="384"/>
                            <a:ext cx="212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18">
                <a:extLst>
                  <a:ext uri="{FF2B5EF4-FFF2-40B4-BE49-F238E27FC236}">
                    <a16:creationId xmlns:a16="http://schemas.microsoft.com/office/drawing/2014/main" id="{F7992B0F-DB6B-4C1B-A02D-84A5223107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84" y="384"/>
              <a:ext cx="24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90440" imgH="228600" progId="Equation.3">
                      <p:embed/>
                    </p:oleObj>
                  </mc:Choice>
                  <mc:Fallback>
                    <p:oleObj name="Equation" r:id="rId18" imgW="190440" imgH="228600" progId="Equation.3">
                      <p:embed/>
                      <p:pic>
                        <p:nvPicPr>
                          <p:cNvPr id="35" name="Object 18">
                            <a:extLst>
                              <a:ext uri="{FF2B5EF4-FFF2-40B4-BE49-F238E27FC236}">
                                <a16:creationId xmlns:a16="http://schemas.microsoft.com/office/drawing/2014/main" id="{F7992B0F-DB6B-4C1B-A02D-84A52231076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84"/>
                            <a:ext cx="240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19">
                <a:extLst>
                  <a:ext uri="{FF2B5EF4-FFF2-40B4-BE49-F238E27FC236}">
                    <a16:creationId xmlns:a16="http://schemas.microsoft.com/office/drawing/2014/main" id="{B31488CF-A687-4EB4-AB86-EC98B1BE85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0" y="384"/>
              <a:ext cx="24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90440" imgH="228600" progId="Equation.3">
                      <p:embed/>
                    </p:oleObj>
                  </mc:Choice>
                  <mc:Fallback>
                    <p:oleObj name="Equation" r:id="rId20" imgW="190440" imgH="228600" progId="Equation.3">
                      <p:embed/>
                      <p:pic>
                        <p:nvPicPr>
                          <p:cNvPr id="36" name="Object 19">
                            <a:extLst>
                              <a:ext uri="{FF2B5EF4-FFF2-40B4-BE49-F238E27FC236}">
                                <a16:creationId xmlns:a16="http://schemas.microsoft.com/office/drawing/2014/main" id="{B31488CF-A687-4EB4-AB86-EC98B1BE854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384"/>
                            <a:ext cx="240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Text Box 20">
                <a:extLst>
                  <a:ext uri="{FF2B5EF4-FFF2-40B4-BE49-F238E27FC236}">
                    <a16:creationId xmlns:a16="http://schemas.microsoft.com/office/drawing/2014/main" id="{7B4699A0-A495-4CBC-B0A6-0D77E82517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72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＋</a:t>
                </a:r>
              </a:p>
            </p:txBody>
          </p:sp>
          <p:sp>
            <p:nvSpPr>
              <p:cNvPr id="38" name="Text Box 21">
                <a:extLst>
                  <a:ext uri="{FF2B5EF4-FFF2-40B4-BE49-F238E27FC236}">
                    <a16:creationId xmlns:a16="http://schemas.microsoft.com/office/drawing/2014/main" id="{3CBA8A10-DE8F-4215-B400-CDA5C1FE3E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105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＋</a:t>
                </a:r>
              </a:p>
            </p:txBody>
          </p:sp>
          <p:graphicFrame>
            <p:nvGraphicFramePr>
              <p:cNvPr id="39" name="Object 22">
                <a:extLst>
                  <a:ext uri="{FF2B5EF4-FFF2-40B4-BE49-F238E27FC236}">
                    <a16:creationId xmlns:a16="http://schemas.microsoft.com/office/drawing/2014/main" id="{E6F3561B-25E8-4134-A822-DF2E420CB9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768"/>
              <a:ext cx="20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26720" imgH="228600" progId="Equation.3">
                      <p:embed/>
                    </p:oleObj>
                  </mc:Choice>
                  <mc:Fallback>
                    <p:oleObj name="Equation" r:id="rId22" imgW="126720" imgH="228600" progId="Equation.3">
                      <p:embed/>
                      <p:pic>
                        <p:nvPicPr>
                          <p:cNvPr id="39" name="Object 22">
                            <a:extLst>
                              <a:ext uri="{FF2B5EF4-FFF2-40B4-BE49-F238E27FC236}">
                                <a16:creationId xmlns:a16="http://schemas.microsoft.com/office/drawing/2014/main" id="{E6F3561B-25E8-4134-A822-DF2E420CB9D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768"/>
                            <a:ext cx="200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Object 23">
                <a:extLst>
                  <a:ext uri="{FF2B5EF4-FFF2-40B4-BE49-F238E27FC236}">
                    <a16:creationId xmlns:a16="http://schemas.microsoft.com/office/drawing/2014/main" id="{149746BE-5BCB-4565-A593-8536E20E2B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76" y="768"/>
              <a:ext cx="20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26720" imgH="228600" progId="Equation.3">
                      <p:embed/>
                    </p:oleObj>
                  </mc:Choice>
                  <mc:Fallback>
                    <p:oleObj name="Equation" r:id="rId24" imgW="126720" imgH="228600" progId="Equation.3">
                      <p:embed/>
                      <p:pic>
                        <p:nvPicPr>
                          <p:cNvPr id="40" name="Object 23">
                            <a:extLst>
                              <a:ext uri="{FF2B5EF4-FFF2-40B4-BE49-F238E27FC236}">
                                <a16:creationId xmlns:a16="http://schemas.microsoft.com/office/drawing/2014/main" id="{149746BE-5BCB-4565-A593-8536E20E2B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768"/>
                            <a:ext cx="200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Text Box 24">
                <a:extLst>
                  <a:ext uri="{FF2B5EF4-FFF2-40B4-BE49-F238E27FC236}">
                    <a16:creationId xmlns:a16="http://schemas.microsoft.com/office/drawing/2014/main" id="{51C375BE-44CC-4E09-BB67-646937A6A9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2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2" name="Text Box 25">
                <a:extLst>
                  <a:ext uri="{FF2B5EF4-FFF2-40B4-BE49-F238E27FC236}">
                    <a16:creationId xmlns:a16="http://schemas.microsoft.com/office/drawing/2014/main" id="{B28E6FFA-0E18-4441-A7FB-7EBF8AF6F8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12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3" name="Text Box 26">
                <a:extLst>
                  <a:ext uri="{FF2B5EF4-FFF2-40B4-BE49-F238E27FC236}">
                    <a16:creationId xmlns:a16="http://schemas.microsoft.com/office/drawing/2014/main" id="{0B500EFF-7137-453E-9D00-BB80C5A27A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134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…</a:t>
                </a:r>
              </a:p>
            </p:txBody>
          </p:sp>
        </p:grp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5FEE4B60-C31B-4DB1-ABCF-E9D4679AD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86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…</a:t>
              </a:r>
            </a:p>
          </p:txBody>
        </p:sp>
      </p:grpSp>
      <p:grpSp>
        <p:nvGrpSpPr>
          <p:cNvPr id="44" name="Group 49">
            <a:extLst>
              <a:ext uri="{FF2B5EF4-FFF2-40B4-BE49-F238E27FC236}">
                <a16:creationId xmlns:a16="http://schemas.microsoft.com/office/drawing/2014/main" id="{4B607CBB-7AA9-45A5-BD32-B4CDA253404B}"/>
              </a:ext>
            </a:extLst>
          </p:cNvPr>
          <p:cNvGrpSpPr>
            <a:grpSpLocks/>
          </p:cNvGrpSpPr>
          <p:nvPr/>
        </p:nvGrpSpPr>
        <p:grpSpPr bwMode="auto">
          <a:xfrm>
            <a:off x="1909631" y="5219398"/>
            <a:ext cx="7086600" cy="533400"/>
            <a:chOff x="240" y="2976"/>
            <a:chExt cx="4464" cy="336"/>
          </a:xfrm>
        </p:grpSpPr>
        <p:graphicFrame>
          <p:nvGraphicFramePr>
            <p:cNvPr id="45" name="Object 50">
              <a:extLst>
                <a:ext uri="{FF2B5EF4-FFF2-40B4-BE49-F238E27FC236}">
                  <a16:creationId xmlns:a16="http://schemas.microsoft.com/office/drawing/2014/main" id="{1D713BF6-D791-4117-8DAA-00DBE49FBE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6" y="3024"/>
            <a:ext cx="2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90440" imgH="228600" progId="Equation.3">
                    <p:embed/>
                  </p:oleObj>
                </mc:Choice>
                <mc:Fallback>
                  <p:oleObj name="Equation" r:id="rId26" imgW="190440" imgH="228600" progId="Equation.3">
                    <p:embed/>
                    <p:pic>
                      <p:nvPicPr>
                        <p:cNvPr id="45" name="Object 50">
                          <a:extLst>
                            <a:ext uri="{FF2B5EF4-FFF2-40B4-BE49-F238E27FC236}">
                              <a16:creationId xmlns:a16="http://schemas.microsoft.com/office/drawing/2014/main" id="{1D713BF6-D791-4117-8DAA-00DBE49FBE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024"/>
                          <a:ext cx="21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51">
              <a:extLst>
                <a:ext uri="{FF2B5EF4-FFF2-40B4-BE49-F238E27FC236}">
                  <a16:creationId xmlns:a16="http://schemas.microsoft.com/office/drawing/2014/main" id="{246D8B52-E3BB-4FF1-82EC-060F87F9C5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3024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90440" imgH="228600" progId="Equation.3">
                    <p:embed/>
                  </p:oleObj>
                </mc:Choice>
                <mc:Fallback>
                  <p:oleObj name="Equation" r:id="rId27" imgW="190440" imgH="228600" progId="Equation.3">
                    <p:embed/>
                    <p:pic>
                      <p:nvPicPr>
                        <p:cNvPr id="46" name="Object 51">
                          <a:extLst>
                            <a:ext uri="{FF2B5EF4-FFF2-40B4-BE49-F238E27FC236}">
                              <a16:creationId xmlns:a16="http://schemas.microsoft.com/office/drawing/2014/main" id="{246D8B52-E3BB-4FF1-82EC-060F87F9C5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024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52">
              <a:extLst>
                <a:ext uri="{FF2B5EF4-FFF2-40B4-BE49-F238E27FC236}">
                  <a16:creationId xmlns:a16="http://schemas.microsoft.com/office/drawing/2014/main" id="{9AEFB00D-7C36-4035-90BF-63D9256D0F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2976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90440" imgH="228600" progId="Equation.3">
                    <p:embed/>
                  </p:oleObj>
                </mc:Choice>
                <mc:Fallback>
                  <p:oleObj name="Equation" r:id="rId28" imgW="190440" imgH="228600" progId="Equation.3">
                    <p:embed/>
                    <p:pic>
                      <p:nvPicPr>
                        <p:cNvPr id="47" name="Object 52">
                          <a:extLst>
                            <a:ext uri="{FF2B5EF4-FFF2-40B4-BE49-F238E27FC236}">
                              <a16:creationId xmlns:a16="http://schemas.microsoft.com/office/drawing/2014/main" id="{9AEFB00D-7C36-4035-90BF-63D9256D0F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976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53">
              <a:extLst>
                <a:ext uri="{FF2B5EF4-FFF2-40B4-BE49-F238E27FC236}">
                  <a16:creationId xmlns:a16="http://schemas.microsoft.com/office/drawing/2014/main" id="{009A525D-ECBC-4655-8A52-EE75A5DF4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976"/>
              <a:ext cx="44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实际上，任取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x∈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，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y∈      ,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都有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x+y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∈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141159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CB5919E6-E702-4C1A-B61C-4FA76A93D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737" y="901117"/>
            <a:ext cx="7772400" cy="27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代换性质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：代数系统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&lt;X,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上的二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元运算，设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上的等价关系，对任何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∈X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有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 </a:t>
            </a:r>
            <a:r>
              <a:rPr lang="en-US" altLang="zh-CN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)R( 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则称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等价关系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对于运算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具有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代换性质。</a:t>
            </a:r>
          </a:p>
          <a:p>
            <a:pPr>
              <a:spcBef>
                <a:spcPct val="20000"/>
              </a:spcBef>
            </a:pPr>
            <a:endParaRPr lang="zh-CN" altLang="en-US" sz="2800" dirty="0"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zh-CN" altLang="en-US" sz="2800" dirty="0"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4" name="Group 3">
            <a:extLst>
              <a:ext uri="{FF2B5EF4-FFF2-40B4-BE49-F238E27FC236}">
                <a16:creationId xmlns:a16="http://schemas.microsoft.com/office/drawing/2014/main" id="{84E42BEE-75A5-4CAD-AD05-F239AE6057B6}"/>
              </a:ext>
            </a:extLst>
          </p:cNvPr>
          <p:cNvGrpSpPr>
            <a:grpSpLocks/>
          </p:cNvGrpSpPr>
          <p:nvPr/>
        </p:nvGrpSpPr>
        <p:grpSpPr bwMode="auto">
          <a:xfrm>
            <a:off x="1815517" y="3429000"/>
            <a:ext cx="6858000" cy="609600"/>
            <a:chOff x="768" y="1824"/>
            <a:chExt cx="4320" cy="384"/>
          </a:xfrm>
        </p:grpSpPr>
        <p:grpSp>
          <p:nvGrpSpPr>
            <p:cNvPr id="95" name="Group 4">
              <a:extLst>
                <a:ext uri="{FF2B5EF4-FFF2-40B4-BE49-F238E27FC236}">
                  <a16:creationId xmlns:a16="http://schemas.microsoft.com/office/drawing/2014/main" id="{BCEFC173-C92F-484F-815A-C844824F3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824"/>
              <a:ext cx="3989" cy="384"/>
              <a:chOff x="576" y="2976"/>
              <a:chExt cx="3989" cy="384"/>
            </a:xfrm>
          </p:grpSpPr>
          <p:graphicFrame>
            <p:nvGraphicFramePr>
              <p:cNvPr id="97" name="Object 5">
                <a:extLst>
                  <a:ext uri="{FF2B5EF4-FFF2-40B4-BE49-F238E27FC236}">
                    <a16:creationId xmlns:a16="http://schemas.microsoft.com/office/drawing/2014/main" id="{9CCB4DEB-5F14-41B9-9E49-C07709A1318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6" y="3024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26720" imgH="228600" progId="Equation.3">
                      <p:embed/>
                    </p:oleObj>
                  </mc:Choice>
                  <mc:Fallback>
                    <p:oleObj name="Equation" r:id="rId4" imgW="126720" imgH="228600" progId="Equation.3">
                      <p:embed/>
                      <p:pic>
                        <p:nvPicPr>
                          <p:cNvPr id="97" name="Object 5">
                            <a:extLst>
                              <a:ext uri="{FF2B5EF4-FFF2-40B4-BE49-F238E27FC236}">
                                <a16:creationId xmlns:a16="http://schemas.microsoft.com/office/drawing/2014/main" id="{9CCB4DEB-5F14-41B9-9E49-C07709A1318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6" y="3024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8" name="Object 6">
                <a:extLst>
                  <a:ext uri="{FF2B5EF4-FFF2-40B4-BE49-F238E27FC236}">
                    <a16:creationId xmlns:a16="http://schemas.microsoft.com/office/drawing/2014/main" id="{06F9CF73-FA6B-416D-86C4-AFDACB3F9B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60" y="2976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03040" imgH="228600" progId="Equation.3">
                      <p:embed/>
                    </p:oleObj>
                  </mc:Choice>
                  <mc:Fallback>
                    <p:oleObj name="Equation" r:id="rId6" imgW="203040" imgH="228600" progId="Equation.3">
                      <p:embed/>
                      <p:pic>
                        <p:nvPicPr>
                          <p:cNvPr id="98" name="Object 6">
                            <a:extLst>
                              <a:ext uri="{FF2B5EF4-FFF2-40B4-BE49-F238E27FC236}">
                                <a16:creationId xmlns:a16="http://schemas.microsoft.com/office/drawing/2014/main" id="{06F9CF73-FA6B-416D-86C4-AFDACB3F9B2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976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" name="Object 7">
                <a:extLst>
                  <a:ext uri="{FF2B5EF4-FFF2-40B4-BE49-F238E27FC236}">
                    <a16:creationId xmlns:a16="http://schemas.microsoft.com/office/drawing/2014/main" id="{9BCAAE5E-70A2-47BA-901D-C22E5A34419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2976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14120" imgH="228600" progId="Equation.3">
                      <p:embed/>
                    </p:oleObj>
                  </mc:Choice>
                  <mc:Fallback>
                    <p:oleObj name="Equation" r:id="rId8" imgW="114120" imgH="228600" progId="Equation.3">
                      <p:embed/>
                      <p:pic>
                        <p:nvPicPr>
                          <p:cNvPr id="99" name="Object 7">
                            <a:extLst>
                              <a:ext uri="{FF2B5EF4-FFF2-40B4-BE49-F238E27FC236}">
                                <a16:creationId xmlns:a16="http://schemas.microsoft.com/office/drawing/2014/main" id="{9BCAAE5E-70A2-47BA-901D-C22E5A34419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976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0" name="Object 8">
                <a:extLst>
                  <a:ext uri="{FF2B5EF4-FFF2-40B4-BE49-F238E27FC236}">
                    <a16:creationId xmlns:a16="http://schemas.microsoft.com/office/drawing/2014/main" id="{5CD3325B-2EEA-488F-BBF7-8C3D0B55F3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24" y="2976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3040" imgH="228600" progId="Equation.3">
                      <p:embed/>
                    </p:oleObj>
                  </mc:Choice>
                  <mc:Fallback>
                    <p:oleObj name="Equation" r:id="rId10" imgW="203040" imgH="228600" progId="Equation.3">
                      <p:embed/>
                      <p:pic>
                        <p:nvPicPr>
                          <p:cNvPr id="100" name="Object 8">
                            <a:extLst>
                              <a:ext uri="{FF2B5EF4-FFF2-40B4-BE49-F238E27FC236}">
                                <a16:creationId xmlns:a16="http://schemas.microsoft.com/office/drawing/2014/main" id="{5CD3325B-2EEA-488F-BBF7-8C3D0B55F3E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4" y="2976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" name="Object 9">
                <a:extLst>
                  <a:ext uri="{FF2B5EF4-FFF2-40B4-BE49-F238E27FC236}">
                    <a16:creationId xmlns:a16="http://schemas.microsoft.com/office/drawing/2014/main" id="{E25C3ABD-6C6B-4E51-AA22-D15FF39A2A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24" y="2976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3040" imgH="228600" progId="Equation.3">
                      <p:embed/>
                    </p:oleObj>
                  </mc:Choice>
                  <mc:Fallback>
                    <p:oleObj name="Equation" r:id="rId10" imgW="203040" imgH="228600" progId="Equation.3">
                      <p:embed/>
                      <p:pic>
                        <p:nvPicPr>
                          <p:cNvPr id="101" name="Object 9">
                            <a:extLst>
                              <a:ext uri="{FF2B5EF4-FFF2-40B4-BE49-F238E27FC236}">
                                <a16:creationId xmlns:a16="http://schemas.microsoft.com/office/drawing/2014/main" id="{E25C3ABD-6C6B-4E51-AA22-D15FF39A2AB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2976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" name="Object 10">
                <a:extLst>
                  <a:ext uri="{FF2B5EF4-FFF2-40B4-BE49-F238E27FC236}">
                    <a16:creationId xmlns:a16="http://schemas.microsoft.com/office/drawing/2014/main" id="{2C2C32F2-F70A-4D69-BC8F-5613D1D3A6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96" y="2976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03040" imgH="228600" progId="Equation.3">
                      <p:embed/>
                    </p:oleObj>
                  </mc:Choice>
                  <mc:Fallback>
                    <p:oleObj name="Equation" r:id="rId12" imgW="203040" imgH="228600" progId="Equation.3">
                      <p:embed/>
                      <p:pic>
                        <p:nvPicPr>
                          <p:cNvPr id="102" name="Object 10">
                            <a:extLst>
                              <a:ext uri="{FF2B5EF4-FFF2-40B4-BE49-F238E27FC236}">
                                <a16:creationId xmlns:a16="http://schemas.microsoft.com/office/drawing/2014/main" id="{2C2C32F2-F70A-4D69-BC8F-5613D1D3A6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6" y="2976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" name="Object 11">
                <a:extLst>
                  <a:ext uri="{FF2B5EF4-FFF2-40B4-BE49-F238E27FC236}">
                    <a16:creationId xmlns:a16="http://schemas.microsoft.com/office/drawing/2014/main" id="{0E67C375-3842-43E2-94F4-BE6612B998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88" y="3024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26720" imgH="228600" progId="Equation.3">
                      <p:embed/>
                    </p:oleObj>
                  </mc:Choice>
                  <mc:Fallback>
                    <p:oleObj name="Equation" r:id="rId13" imgW="126720" imgH="228600" progId="Equation.3">
                      <p:embed/>
                      <p:pic>
                        <p:nvPicPr>
                          <p:cNvPr id="103" name="Object 11">
                            <a:extLst>
                              <a:ext uri="{FF2B5EF4-FFF2-40B4-BE49-F238E27FC236}">
                                <a16:creationId xmlns:a16="http://schemas.microsoft.com/office/drawing/2014/main" id="{0E67C375-3842-43E2-94F4-BE6612B9982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8" y="3024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" name="Object 12">
                <a:extLst>
                  <a:ext uri="{FF2B5EF4-FFF2-40B4-BE49-F238E27FC236}">
                    <a16:creationId xmlns:a16="http://schemas.microsoft.com/office/drawing/2014/main" id="{106CF1B2-F5AC-4D64-BC99-E85BCB32E7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72" y="2976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14120" imgH="228600" progId="Equation.3">
                      <p:embed/>
                    </p:oleObj>
                  </mc:Choice>
                  <mc:Fallback>
                    <p:oleObj name="Equation" r:id="rId14" imgW="114120" imgH="228600" progId="Equation.3">
                      <p:embed/>
                      <p:pic>
                        <p:nvPicPr>
                          <p:cNvPr id="104" name="Object 12">
                            <a:extLst>
                              <a:ext uri="{FF2B5EF4-FFF2-40B4-BE49-F238E27FC236}">
                                <a16:creationId xmlns:a16="http://schemas.microsoft.com/office/drawing/2014/main" id="{106CF1B2-F5AC-4D64-BC99-E85BCB32E7D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2976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" name="Text Box 13">
              <a:extLst>
                <a:ext uri="{FF2B5EF4-FFF2-40B4-BE49-F238E27FC236}">
                  <a16:creationId xmlns:a16="http://schemas.microsoft.com/office/drawing/2014/main" id="{45524247-52AD-46B5-B2DE-0D53FAD75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872"/>
              <a:ext cx="4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＝ 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＋    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＝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＋      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154B629-8ABB-45B5-BE85-5384B7127388}"/>
              </a:ext>
            </a:extLst>
          </p:cNvPr>
          <p:cNvSpPr/>
          <p:nvPr/>
        </p:nvSpPr>
        <p:spPr>
          <a:xfrm>
            <a:off x="1521392" y="4071909"/>
            <a:ext cx="8897224" cy="13849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同余关系：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&lt;X,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是个代数系统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上的二元运算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中的等价关系，如果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对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满足置换性质，则称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是代数系统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中关于运算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同余关系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。 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886D7C-49CC-4600-B190-1DD174D14505}"/>
              </a:ext>
            </a:extLst>
          </p:cNvPr>
          <p:cNvSpPr/>
          <p:nvPr/>
        </p:nvSpPr>
        <p:spPr>
          <a:xfrm>
            <a:off x="1572433" y="5661380"/>
            <a:ext cx="6149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商集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X/R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中的等价类，称之为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同余类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26124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E3C3B5FA-6346-4274-8A92-B3CC122F7E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1013" y="1192548"/>
          <a:ext cx="7810500" cy="497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599549" imgH="2289322" progId="Word.Document.8">
                  <p:embed/>
                </p:oleObj>
              </mc:Choice>
              <mc:Fallback>
                <p:oleObj name="Document" r:id="rId4" imgW="3599549" imgH="2289322" progId="Word.Document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E3C3B5FA-6346-4274-8A92-B3CC122F7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1192548"/>
                        <a:ext cx="7810500" cy="497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3872656"/>
      </p:ext>
    </p:extLst>
  </p:cSld>
  <p:clrMapOvr>
    <a:masterClrMapping/>
  </p:clrMapOvr>
  <p:transition spd="slow" advTm="0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DC06D4-B46B-42ED-83C4-A87FC8844DDF}"/>
              </a:ext>
            </a:extLst>
          </p:cNvPr>
          <p:cNvSpPr txBox="1">
            <a:spLocks noChangeArrowheads="1"/>
          </p:cNvSpPr>
          <p:nvPr/>
        </p:nvSpPr>
        <p:spPr>
          <a:xfrm>
            <a:off x="2040730" y="1292404"/>
            <a:ext cx="8834415" cy="4038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设代数系统</a:t>
            </a:r>
            <a:r>
              <a:rPr lang="en-US" altLang="zh-CN" dirty="0"/>
              <a:t>V=&lt;A, 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,-,</a:t>
            </a:r>
            <a:r>
              <a:rPr lang="en-US" altLang="zh-CN" dirty="0">
                <a:sym typeface="Symbol" panose="05050102010706020507" pitchFamily="18" charset="2"/>
              </a:rPr>
              <a:t></a:t>
            </a:r>
            <a:r>
              <a:rPr lang="en-US" altLang="zh-CN" dirty="0"/>
              <a:t>&gt;,</a:t>
            </a:r>
            <a:r>
              <a:rPr lang="zh-CN" altLang="en-US" dirty="0"/>
              <a:t>其中</a:t>
            </a:r>
            <a:r>
              <a:rPr lang="en-US" altLang="zh-CN" dirty="0"/>
              <a:t>A={a/b |a,b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0</a:t>
            </a:r>
            <a:r>
              <a:rPr lang="en-US" altLang="zh-CN" dirty="0"/>
              <a:t>},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zh-CN" altLang="en-US" dirty="0">
                <a:sym typeface="Symbol" panose="05050102010706020507" pitchFamily="18" charset="2"/>
              </a:rPr>
              <a:t>为普通乘法，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为求相反数，且</a:t>
            </a:r>
            <a:r>
              <a:rPr lang="en-US" altLang="zh-CN" dirty="0">
                <a:sym typeface="Symbol" panose="05050102010706020507" pitchFamily="18" charset="2"/>
              </a:rPr>
              <a:t>a/b=a/b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，在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上定义等价关系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，任意</a:t>
            </a:r>
            <a:r>
              <a:rPr lang="en-US" altLang="zh-CN" dirty="0">
                <a:sym typeface="Symbol" panose="05050102010706020507" pitchFamily="18" charset="2"/>
              </a:rPr>
              <a:t>a/</a:t>
            </a:r>
            <a:r>
              <a:rPr lang="en-US" altLang="zh-CN" dirty="0" err="1">
                <a:sym typeface="Symbol" panose="05050102010706020507" pitchFamily="18" charset="2"/>
              </a:rPr>
              <a:t>b,c</a:t>
            </a:r>
            <a:r>
              <a:rPr lang="en-US" altLang="zh-CN" dirty="0">
                <a:sym typeface="Symbol" panose="05050102010706020507" pitchFamily="18" charset="2"/>
              </a:rPr>
              <a:t>/d A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a/b R c/</a:t>
            </a:r>
            <a:r>
              <a:rPr lang="en-US" altLang="zh-CN" dirty="0" err="1">
                <a:sym typeface="Symbol" panose="05050102010706020507" pitchFamily="18" charset="2"/>
              </a:rPr>
              <a:t>dad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dirty="0" err="1">
                <a:sym typeface="Symbol" panose="05050102010706020507" pitchFamily="18" charset="2"/>
              </a:rPr>
              <a:t>bc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检查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对</a:t>
            </a:r>
            <a:r>
              <a:rPr lang="en-US" altLang="zh-CN" dirty="0">
                <a:sym typeface="Symbol" panose="05050102010706020507" pitchFamily="18" charset="2"/>
              </a:rPr>
              <a:t>V</a:t>
            </a:r>
            <a:r>
              <a:rPr lang="zh-CN" altLang="en-US" dirty="0">
                <a:sym typeface="Symbol" panose="05050102010706020507" pitchFamily="18" charset="2"/>
              </a:rPr>
              <a:t>中运算是否具有代换性质。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77102372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89090">
            <a:extLst>
              <a:ext uri="{FF2B5EF4-FFF2-40B4-BE49-F238E27FC236}">
                <a16:creationId xmlns:a16="http://schemas.microsoft.com/office/drawing/2014/main" id="{215D75FA-1E5A-4486-8F48-58270CEF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028" y="1154624"/>
            <a:ext cx="7489825" cy="219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175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1 </a:t>
            </a:r>
            <a:r>
              <a:rPr lang="zh-CN" altLang="en-US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命题逻辑公式的等值关系是逻辑代数上的同余关系吗？</a:t>
            </a:r>
            <a:endParaRPr lang="zh-CN" altLang="en-US" sz="2800" baseline="30000" dirty="0"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2 </a:t>
            </a:r>
            <a:r>
              <a:rPr lang="zh-CN" altLang="en-US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恒等关系是集合代数上的同余关系吗？</a:t>
            </a:r>
          </a:p>
          <a:p>
            <a:pPr>
              <a:lnSpc>
                <a:spcPct val="125000"/>
              </a:lnSpc>
            </a:pPr>
            <a:r>
              <a:rPr lang="en-US" altLang="zh-CN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3 &lt;Z;+&gt;, R={(x, y)|x/y=2</a:t>
            </a:r>
            <a:r>
              <a:rPr lang="en-US" altLang="zh-CN" sz="2800" baseline="30000" dirty="0">
                <a:latin typeface="Comic Sans MS" panose="030F0702030302020204" pitchFamily="66" charset="0"/>
                <a:ea typeface="黑体" panose="02010609060101010101" pitchFamily="49" charset="-122"/>
              </a:rPr>
              <a:t>m</a:t>
            </a:r>
            <a:r>
              <a:rPr lang="en-US" altLang="zh-CN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, </a:t>
            </a:r>
            <a:r>
              <a:rPr lang="en-US" altLang="zh-CN" sz="2800" dirty="0" err="1">
                <a:latin typeface="Comic Sans MS" panose="030F0702030302020204" pitchFamily="66" charset="0"/>
                <a:ea typeface="黑体" panose="02010609060101010101" pitchFamily="49" charset="-122"/>
              </a:rPr>
              <a:t>m∈Z</a:t>
            </a:r>
            <a:r>
              <a:rPr lang="en-US" altLang="zh-CN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1598376"/>
      </p:ext>
    </p:extLst>
  </p:cSld>
  <p:clrMapOvr>
    <a:masterClrMapping/>
  </p:clrMapOvr>
  <p:transition spd="slow" advTm="0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E33F37-52F3-4A0A-A8CC-67504CF1ED55}"/>
              </a:ext>
            </a:extLst>
          </p:cNvPr>
          <p:cNvSpPr/>
          <p:nvPr/>
        </p:nvSpPr>
        <p:spPr>
          <a:xfrm>
            <a:off x="3785853" y="933017"/>
            <a:ext cx="231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V=&lt;Z</a:t>
            </a:r>
            <a:r>
              <a:rPr lang="en-US" altLang="zh-CN" sz="2800" kern="1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6B0E4A-047A-4978-93CD-88C88B7C5CA3}"/>
              </a:ext>
            </a:extLst>
          </p:cNvPr>
          <p:cNvSpPr txBox="1"/>
          <p:nvPr/>
        </p:nvSpPr>
        <p:spPr>
          <a:xfrm>
            <a:off x="1929468" y="1761688"/>
            <a:ext cx="770948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{0},{1,2,3}  {1},{0,2,3}    {2},{1,3,0}   {3},{1,2,0}     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{0,1},{2,3}  {0,3},{1,2}   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{0},{1},{2,3}     {0},{2},{1,3}   {0},{3},{1,2}   {1},{2},{0,3} 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{1},{3},{0,2}     {2},{3},{0,1} </a:t>
            </a:r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A29D9A-8B7E-481B-901F-5D7E2344C72E}"/>
              </a:ext>
            </a:extLst>
          </p:cNvPr>
          <p:cNvSpPr/>
          <p:nvPr/>
        </p:nvSpPr>
        <p:spPr>
          <a:xfrm>
            <a:off x="1113818" y="4849182"/>
            <a:ext cx="8588570" cy="3452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608965"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8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{0},{1},{2},{3}   {0,1,2,3}     {0,2},{1,3}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75DAAA-CBF3-41AE-BC4D-7C78EDED8324}"/>
              </a:ext>
            </a:extLst>
          </p:cNvPr>
          <p:cNvSpPr/>
          <p:nvPr/>
        </p:nvSpPr>
        <p:spPr>
          <a:xfrm>
            <a:off x="2125211" y="578192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恒等关系与</a:t>
            </a:r>
            <a:r>
              <a:rPr lang="zh-CN" altLang="en-US" sz="2800" b="1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普遍</a:t>
            </a:r>
            <a:r>
              <a:rPr lang="zh-CN" altLang="zh-CN" sz="2800" b="1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关系都是同余关系，任何代数系统都存在同余关系。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4149521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D4C3F2-681E-4E1D-849C-92ACDF1545F0}"/>
              </a:ext>
            </a:extLst>
          </p:cNvPr>
          <p:cNvSpPr/>
          <p:nvPr/>
        </p:nvSpPr>
        <p:spPr>
          <a:xfrm>
            <a:off x="1638649" y="799223"/>
            <a:ext cx="8914701" cy="2124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是代数结构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，*为二元运算，对于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[b]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S/R,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 o[b]=[a*b]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S/R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二元运算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同余关系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787517230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95233">
            <a:extLst>
              <a:ext uri="{FF2B5EF4-FFF2-40B4-BE49-F238E27FC236}">
                <a16:creationId xmlns:a16="http://schemas.microsoft.com/office/drawing/2014/main" id="{9AF0F302-34AB-4CCF-80D5-D2373F713CF7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836613"/>
            <a:ext cx="9326999" cy="6192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Tx/>
              <a:buNone/>
            </a:pPr>
            <a:r>
              <a:rPr lang="zh-CN" altLang="en-US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zh-CN" altLang="en-US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必要性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上二元运算。对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c, 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[a]=[b],[c]=[d],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[a] o[c]=[b] o[d], </a:t>
            </a: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[a] o[c]=[a*c], [b] o[d]=[b*d]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。从而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[a*c]=[b*d]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。故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上同余关系。</a:t>
            </a:r>
          </a:p>
          <a:p>
            <a:pPr marL="0" indent="0">
              <a:lnSpc>
                <a:spcPct val="125000"/>
              </a:lnSpc>
              <a:buFontTx/>
              <a:buNone/>
            </a:pPr>
            <a:endParaRPr lang="zh-CN" altLang="en-US" dirty="0">
              <a:solidFill>
                <a:srgbClr val="99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7609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9442AE-2CCF-4078-8E7A-259E6FA965BD}"/>
              </a:ext>
            </a:extLst>
          </p:cNvPr>
          <p:cNvSpPr/>
          <p:nvPr/>
        </p:nvSpPr>
        <p:spPr>
          <a:xfrm>
            <a:off x="1865153" y="1050040"/>
            <a:ext cx="8575834" cy="344549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充分性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设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上同余关系，任意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[a],[b]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 显然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 o[b]=[a*b]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上满足封闭性，还需证对任意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[a],[b]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 o[b]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值唯一。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注意到，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 o[b]=[a*b]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a*b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值是惟一的，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[a*b]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是惟一的。因此，需要证明若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取其它代表元，如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a′,b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，其值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[a′*b′]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[a*b]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是否相等。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a′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[a], b′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[b],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a′Ra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b′Rb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a′*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b′Ra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*b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。于是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[a′] o[b′]=[a′*b′] =[a*b]=[a] o[b]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。这说明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 o[b]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的运算结果与等价类的代表元无关，值是唯一的。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综上，命题得证。</a:t>
            </a:r>
          </a:p>
        </p:txBody>
      </p:sp>
    </p:spTree>
    <p:extLst>
      <p:ext uri="{BB962C8B-B14F-4D97-AF65-F5344CB8AC3E}">
        <p14:creationId xmlns:p14="http://schemas.microsoft.com/office/powerpoint/2010/main" val="269522266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占位符 93185">
            <a:extLst>
              <a:ext uri="{FF2B5EF4-FFF2-40B4-BE49-F238E27FC236}">
                <a16:creationId xmlns:a16="http://schemas.microsoft.com/office/drawing/2014/main" id="{35C1EE25-7A38-4055-B1F6-65E3FFF8B2BD}"/>
              </a:ext>
            </a:extLst>
          </p:cNvPr>
          <p:cNvSpPr txBox="1">
            <a:spLocks noChangeArrowheads="1"/>
          </p:cNvSpPr>
          <p:nvPr/>
        </p:nvSpPr>
        <p:spPr>
          <a:xfrm>
            <a:off x="1966432" y="1016179"/>
            <a:ext cx="7697788" cy="552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</a:rPr>
              <a:t>同余关系</a:t>
            </a:r>
            <a:r>
              <a:rPr lang="zh-CN" altLang="en-US" b="1">
                <a:solidFill>
                  <a:srgbClr val="660066"/>
                </a:solidFill>
                <a:sym typeface="Wingdings" panose="05000000000000000000" pitchFamily="2" charset="2"/>
              </a:rPr>
              <a:t></a:t>
            </a:r>
            <a:r>
              <a:rPr lang="zh-CN" altLang="en-US" b="1">
                <a:solidFill>
                  <a:srgbClr val="0000FF"/>
                </a:solidFill>
              </a:rPr>
              <a:t>商代数</a:t>
            </a:r>
            <a:r>
              <a:rPr lang="en-US" altLang="zh-CN" b="1"/>
              <a:t>(Quotient algebra)</a:t>
            </a:r>
            <a:r>
              <a:rPr lang="en-US" altLang="zh-CN"/>
              <a:t> </a:t>
            </a:r>
            <a:endParaRPr lang="en-US" altLang="zh-CN" dirty="0"/>
          </a:p>
        </p:txBody>
      </p:sp>
      <p:sp>
        <p:nvSpPr>
          <p:cNvPr id="7" name="文本框 93186">
            <a:extLst>
              <a:ext uri="{FF2B5EF4-FFF2-40B4-BE49-F238E27FC236}">
                <a16:creationId xmlns:a16="http://schemas.microsoft.com/office/drawing/2014/main" id="{164B61BD-ABB3-482C-AEDA-26190ADC3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295" y="1879779"/>
            <a:ext cx="3452812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代数结构：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V=&lt;S; o&gt; </a:t>
            </a:r>
          </a:p>
          <a:p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</a:t>
            </a:r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为一元运算）</a:t>
            </a:r>
          </a:p>
          <a:p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V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上同余关系：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R</a:t>
            </a:r>
          </a:p>
          <a:p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8C24CA-D7B5-4864-9CF5-8493C14D5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707" y="1686104"/>
            <a:ext cx="3760788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商代数：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V/R=&lt;S/</a:t>
            </a:r>
            <a:r>
              <a:rPr lang="en-US" altLang="zh-CN" sz="24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R;o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’&gt;</a:t>
            </a:r>
          </a:p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运算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o’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的定义？ </a:t>
            </a:r>
          </a:p>
          <a:p>
            <a:pPr algn="r"/>
            <a:r>
              <a:rPr lang="zh-CN" altLang="en-US" sz="2400" b="1" dirty="0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   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o’([x])=[o(x)]</a:t>
            </a:r>
          </a:p>
          <a:p>
            <a:pPr algn="r"/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9" name="右箭头 93188">
            <a:extLst>
              <a:ext uri="{FF2B5EF4-FFF2-40B4-BE49-F238E27FC236}">
                <a16:creationId xmlns:a16="http://schemas.microsoft.com/office/drawing/2014/main" id="{714697E5-8FAD-4386-A009-09D75EB71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107" y="2311579"/>
            <a:ext cx="858838" cy="431800"/>
          </a:xfrm>
          <a:prstGeom prst="rightArrow">
            <a:avLst>
              <a:gd name="adj1" fmla="val 50000"/>
              <a:gd name="adj2" fmla="val 496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MS PGothic" panose="020B0600070205080204" pitchFamily="34" charset="-128"/>
            </a:endParaRPr>
          </a:p>
        </p:txBody>
      </p:sp>
      <p:sp>
        <p:nvSpPr>
          <p:cNvPr id="10" name="文本框 93189">
            <a:extLst>
              <a:ext uri="{FF2B5EF4-FFF2-40B4-BE49-F238E27FC236}">
                <a16:creationId xmlns:a16="http://schemas.microsoft.com/office/drawing/2014/main" id="{C4A52108-10F0-4E32-B085-9C6B559E3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295" y="4040367"/>
            <a:ext cx="3452812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代数结构：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V=&lt;S; o&gt; </a:t>
            </a:r>
          </a:p>
          <a:p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</a:t>
            </a:r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为二元运算）</a:t>
            </a:r>
          </a:p>
          <a:p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V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上同余关系：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R</a:t>
            </a:r>
          </a:p>
          <a:p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978302-F98A-41FE-A204-A5EC33464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1732" y="3899079"/>
            <a:ext cx="3687763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商代数：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V/R=&lt;S/R;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 *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&gt;</a:t>
            </a:r>
          </a:p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运算</a:t>
            </a:r>
            <a:r>
              <a:rPr lang="zh-CN" altLang="en-US" b="1" dirty="0">
                <a:latin typeface="Comic Sans MS" panose="030F0702030302020204" pitchFamily="66" charset="0"/>
                <a:ea typeface="黑体" panose="02010609060101010101" pitchFamily="49" charset="-122"/>
              </a:rPr>
              <a:t>*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的定义？ </a:t>
            </a:r>
          </a:p>
          <a:p>
            <a:pPr algn="r"/>
            <a:r>
              <a:rPr lang="zh-CN" altLang="en-US" sz="2400" b="1" dirty="0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   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[x] 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*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[y]=[</a:t>
            </a:r>
            <a:r>
              <a:rPr lang="en-US" altLang="zh-CN" sz="24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xoy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]</a:t>
            </a:r>
          </a:p>
          <a:p>
            <a:pPr algn="r"/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12" name="右箭头 93191">
            <a:extLst>
              <a:ext uri="{FF2B5EF4-FFF2-40B4-BE49-F238E27FC236}">
                <a16:creationId xmlns:a16="http://schemas.microsoft.com/office/drawing/2014/main" id="{7999B39A-C30F-4F8F-841B-EE9ED7A28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107" y="4543604"/>
            <a:ext cx="930275" cy="431800"/>
          </a:xfrm>
          <a:prstGeom prst="rightArrow">
            <a:avLst>
              <a:gd name="adj1" fmla="val 50000"/>
              <a:gd name="adj2" fmla="val 538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274662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F9EE171A-5461-4EBA-B026-16625F58E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1292404"/>
          <a:ext cx="7734300" cy="466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290970" imgH="1982296" progId="Word.Document.8">
                  <p:embed/>
                </p:oleObj>
              </mc:Choice>
              <mc:Fallback>
                <p:oleObj name="文档" r:id="rId4" imgW="3290970" imgH="1982296" progId="Word.Document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F9EE171A-5461-4EBA-B026-16625F58E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1292404"/>
                        <a:ext cx="7734300" cy="466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14636"/>
      </p:ext>
    </p:extLst>
  </p:cSld>
  <p:clrMapOvr>
    <a:masterClrMapping/>
  </p:clrMapOvr>
  <p:transition spd="slow" advTm="0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8F3FD055-46BC-48DB-A843-72EAEF964F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0038" y="1098550"/>
          <a:ext cx="7794625" cy="547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66524" imgH="2290762" progId="Word.Document.8">
                  <p:embed/>
                </p:oleObj>
              </mc:Choice>
              <mc:Fallback>
                <p:oleObj name="Document" r:id="rId4" imgW="3266524" imgH="2290762" progId="Word.Document.8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8F3FD055-46BC-48DB-A843-72EAEF964F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1098550"/>
                        <a:ext cx="7794625" cy="547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5630780"/>
      </p:ext>
    </p:extLst>
  </p:cSld>
  <p:clrMapOvr>
    <a:masterClrMapping/>
  </p:clrMapOvr>
  <p:transition spd="slow" advTm="0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DA305C-2FBC-453F-B9AD-1F407EF38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956" y="772243"/>
            <a:ext cx="8110538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宋体" panose="02010600030101010101" pitchFamily="2" charset="-122"/>
              </a:rPr>
              <a:t>设代数系统</a:t>
            </a:r>
            <a:r>
              <a:rPr lang="en-US" altLang="zh-CN" sz="2800" b="1" dirty="0">
                <a:latin typeface="宋体" panose="02010600030101010101" pitchFamily="2" charset="-122"/>
              </a:rPr>
              <a:t>V,R</a:t>
            </a:r>
            <a:r>
              <a:rPr lang="zh-CN" altLang="en-US" sz="2800" b="1" dirty="0">
                <a:latin typeface="宋体" panose="02010600030101010101" pitchFamily="2" charset="-122"/>
              </a:rPr>
              <a:t>是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上的同余关系，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关于</a:t>
            </a:r>
            <a:r>
              <a:rPr lang="en-US" altLang="zh-CN" sz="2800" b="1" dirty="0">
                <a:latin typeface="宋体" panose="02010600030101010101" pitchFamily="2" charset="-122"/>
              </a:rPr>
              <a:t>R</a:t>
            </a:r>
            <a:r>
              <a:rPr lang="zh-CN" altLang="en-US" sz="2800" b="1" dirty="0">
                <a:latin typeface="宋体" panose="02010600030101010101" pitchFamily="2" charset="-122"/>
              </a:rPr>
              <a:t>的商代数</a:t>
            </a:r>
            <a:r>
              <a:rPr lang="en-US" altLang="zh-CN" sz="2800" b="1" dirty="0">
                <a:latin typeface="宋体" panose="02010600030101010101" pitchFamily="2" charset="-122"/>
              </a:rPr>
              <a:t>V/R</a:t>
            </a:r>
            <a:r>
              <a:rPr lang="zh-CN" altLang="en-US" sz="2800" b="1" dirty="0">
                <a:latin typeface="宋体" panose="02010600030101010101" pitchFamily="2" charset="-122"/>
              </a:rPr>
              <a:t>，那么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(1) V/R </a:t>
            </a:r>
            <a:r>
              <a:rPr lang="zh-CN" altLang="en-US" sz="2800" b="1" dirty="0">
                <a:latin typeface="宋体" panose="02010600030101010101" pitchFamily="2" charset="-122"/>
              </a:rPr>
              <a:t>保持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的下述性质：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宋体" panose="02010600030101010101" pitchFamily="2" charset="-122"/>
              </a:rPr>
              <a:t>交换、结合、幂等、分配、吸收律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(2) V/R</a:t>
            </a:r>
            <a:r>
              <a:rPr lang="zh-CN" altLang="en-US" sz="2800" b="1" dirty="0">
                <a:latin typeface="宋体" panose="02010600030101010101" pitchFamily="2" charset="-122"/>
              </a:rPr>
              <a:t>保持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的单位元、零元、逆元，即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宋体" panose="02010600030101010101" pitchFamily="2" charset="-122"/>
              </a:rPr>
              <a:t>[e]</a:t>
            </a:r>
            <a:r>
              <a:rPr lang="zh-CN" altLang="en-US" sz="2800" b="1" dirty="0">
                <a:latin typeface="宋体" panose="02010600030101010101" pitchFamily="2" charset="-122"/>
              </a:rPr>
              <a:t>是商代数的单位元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latin typeface="宋体" panose="02010600030101010101" pitchFamily="2" charset="-122"/>
              </a:rPr>
              <a:t>]</a:t>
            </a:r>
            <a:r>
              <a:rPr lang="zh-CN" altLang="en-US" sz="2800" b="1" dirty="0">
                <a:latin typeface="宋体" panose="02010600030101010101" pitchFamily="2" charset="-122"/>
              </a:rPr>
              <a:t>是商代数的零元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的逆元为</a:t>
            </a:r>
            <a:r>
              <a:rPr lang="en-US" altLang="zh-CN" sz="2800" b="1" dirty="0">
                <a:latin typeface="宋体" panose="02010600030101010101" pitchFamily="2" charset="-122"/>
              </a:rPr>
              <a:t>a</a:t>
            </a:r>
            <a:r>
              <a:rPr lang="en-US" altLang="zh-CN" sz="2800" b="1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则</a:t>
            </a:r>
            <a:r>
              <a:rPr lang="en-US" altLang="zh-CN" sz="2800" b="1" dirty="0">
                <a:latin typeface="宋体" panose="02010600030101010101" pitchFamily="2" charset="-122"/>
              </a:rPr>
              <a:t>[a]</a:t>
            </a:r>
            <a:r>
              <a:rPr lang="zh-CN" altLang="en-US" sz="2800" b="1" dirty="0">
                <a:latin typeface="宋体" panose="02010600030101010101" pitchFamily="2" charset="-122"/>
              </a:rPr>
              <a:t>的逆元为</a:t>
            </a:r>
            <a:r>
              <a:rPr lang="en-US" altLang="zh-CN" sz="2800" b="1" dirty="0">
                <a:latin typeface="宋体" panose="02010600030101010101" pitchFamily="2" charset="-122"/>
              </a:rPr>
              <a:t>[a</a:t>
            </a:r>
            <a:r>
              <a:rPr lang="en-US" altLang="zh-CN" sz="2800" b="1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b="1" dirty="0">
                <a:latin typeface="宋体" panose="02010600030101010101" pitchFamily="2" charset="-122"/>
              </a:rPr>
              <a:t>]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(3) </a:t>
            </a:r>
            <a:r>
              <a:rPr lang="zh-CN" altLang="en-US" sz="2800" b="1" dirty="0">
                <a:latin typeface="宋体" panose="02010600030101010101" pitchFamily="2" charset="-122"/>
              </a:rPr>
              <a:t>消去律不一定保持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22848512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12456</TotalTime>
  <Words>4825</Words>
  <Application>Microsoft Office PowerPoint</Application>
  <PresentationFormat>宽屏</PresentationFormat>
  <Paragraphs>343</Paragraphs>
  <Slides>42</Slides>
  <Notes>42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64" baseType="lpstr">
      <vt:lpstr>MS PGothic</vt:lpstr>
      <vt:lpstr>等线</vt:lpstr>
      <vt:lpstr>等线 Light</vt:lpstr>
      <vt:lpstr>仿宋_GB2312</vt:lpstr>
      <vt:lpstr>KaiTi</vt:lpstr>
      <vt:lpstr>楷体_GB2312</vt:lpstr>
      <vt:lpstr>宋体</vt:lpstr>
      <vt:lpstr>微软雅黑</vt:lpstr>
      <vt:lpstr>Microsoft YaHei Light</vt:lpstr>
      <vt:lpstr>Arial</vt:lpstr>
      <vt:lpstr>Arial Black</vt:lpstr>
      <vt:lpstr>Comic Sans MS</vt:lpstr>
      <vt:lpstr>Lucida Handwriting</vt:lpstr>
      <vt:lpstr>Segoe UI Semibold</vt:lpstr>
      <vt:lpstr>Symbol</vt:lpstr>
      <vt:lpstr>Times New Roman</vt:lpstr>
      <vt:lpstr>Verdana</vt:lpstr>
      <vt:lpstr>Wingdings</vt:lpstr>
      <vt:lpstr>Office 主题​​</vt:lpstr>
      <vt:lpstr>Equation</vt:lpstr>
      <vt:lpstr>Document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103</cp:revision>
  <dcterms:created xsi:type="dcterms:W3CDTF">2021-11-05T13:12:46Z</dcterms:created>
  <dcterms:modified xsi:type="dcterms:W3CDTF">2025-12-29T02:00:21Z</dcterms:modified>
</cp:coreProperties>
</file>