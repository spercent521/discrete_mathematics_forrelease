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445" r:id="rId2"/>
    <p:sldId id="485" r:id="rId3"/>
    <p:sldId id="1215" r:id="rId4"/>
    <p:sldId id="1171" r:id="rId5"/>
    <p:sldId id="1178" r:id="rId6"/>
    <p:sldId id="1179" r:id="rId7"/>
    <p:sldId id="1185" r:id="rId8"/>
    <p:sldId id="1203" r:id="rId9"/>
    <p:sldId id="1192" r:id="rId10"/>
    <p:sldId id="1249" r:id="rId11"/>
    <p:sldId id="1250" r:id="rId12"/>
    <p:sldId id="1251" r:id="rId13"/>
    <p:sldId id="1252" r:id="rId14"/>
    <p:sldId id="1220" r:id="rId15"/>
    <p:sldId id="1221" r:id="rId16"/>
    <p:sldId id="1222" r:id="rId17"/>
    <p:sldId id="1223" r:id="rId18"/>
    <p:sldId id="1224" r:id="rId19"/>
    <p:sldId id="1225" r:id="rId20"/>
    <p:sldId id="1226" r:id="rId21"/>
    <p:sldId id="1227" r:id="rId22"/>
    <p:sldId id="1228" r:id="rId23"/>
    <p:sldId id="1229" r:id="rId24"/>
    <p:sldId id="1230" r:id="rId25"/>
    <p:sldId id="1231" r:id="rId26"/>
    <p:sldId id="1232" r:id="rId27"/>
    <p:sldId id="1233" r:id="rId28"/>
    <p:sldId id="1341" r:id="rId29"/>
    <p:sldId id="1342" r:id="rId30"/>
    <p:sldId id="1343" r:id="rId31"/>
    <p:sldId id="1344" r:id="rId32"/>
    <p:sldId id="1345" r:id="rId33"/>
    <p:sldId id="1346" r:id="rId34"/>
    <p:sldId id="1347" r:id="rId35"/>
    <p:sldId id="1348" r:id="rId36"/>
    <p:sldId id="1349" r:id="rId37"/>
    <p:sldId id="1350" r:id="rId38"/>
    <p:sldId id="1351" r:id="rId39"/>
    <p:sldId id="1352" r:id="rId40"/>
    <p:sldId id="1353" r:id="rId41"/>
    <p:sldId id="1354" r:id="rId42"/>
    <p:sldId id="1355" r:id="rId43"/>
    <p:sldId id="1356" r:id="rId44"/>
    <p:sldId id="1357" r:id="rId45"/>
    <p:sldId id="1358" r:id="rId46"/>
    <p:sldId id="1359" r:id="rId4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696" y="7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858CD0-EFD1-4D27-A427-70167095FD10}" type="datetimeFigureOut">
              <a:rPr lang="zh-CN" altLang="en-US" smtClean="0"/>
              <a:t>2025/11/1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D1D47A-F619-4A5B-A8DF-B8BE879F94E6}" type="slidenum">
              <a:rPr lang="zh-CN" altLang="en-US" smtClean="0"/>
              <a:t>‹#›</a:t>
            </a:fld>
            <a:endParaRPr lang="zh-CN" altLang="en-US"/>
          </a:p>
        </p:txBody>
      </p:sp>
    </p:spTree>
    <p:extLst>
      <p:ext uri="{BB962C8B-B14F-4D97-AF65-F5344CB8AC3E}">
        <p14:creationId xmlns:p14="http://schemas.microsoft.com/office/powerpoint/2010/main" val="1629767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幻灯片图像占位符 1">
            <a:extLst>
              <a:ext uri="{FF2B5EF4-FFF2-40B4-BE49-F238E27FC236}">
                <a16:creationId xmlns:a16="http://schemas.microsoft.com/office/drawing/2014/main" id="{2214FF63-7E78-4CEA-B78B-294BDB7C414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备注占位符 2">
            <a:extLst>
              <a:ext uri="{FF2B5EF4-FFF2-40B4-BE49-F238E27FC236}">
                <a16:creationId xmlns:a16="http://schemas.microsoft.com/office/drawing/2014/main" id="{999858BC-515F-4514-A470-A99FA05D134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5124" name="灯片编号占位符 3">
            <a:extLst>
              <a:ext uri="{FF2B5EF4-FFF2-40B4-BE49-F238E27FC236}">
                <a16:creationId xmlns:a16="http://schemas.microsoft.com/office/drawing/2014/main" id="{DB2CFB14-3F96-47B7-9206-1409F9E89C1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B222AA93-F3F5-44B4-89DC-39F3993E7439}" type="slidenum">
              <a:rPr lang="zh-CN" altLang="en-US" smtClean="0"/>
              <a:pPr fontAlgn="base">
                <a:spcBef>
                  <a:spcPct val="0"/>
                </a:spcBef>
                <a:spcAft>
                  <a:spcPct val="0"/>
                </a:spcAft>
              </a:pPr>
              <a:t>1</a:t>
            </a:fld>
            <a:endParaRPr lang="zh-CN" altLang="en-US"/>
          </a:p>
        </p:txBody>
      </p:sp>
    </p:spTree>
    <p:extLst>
      <p:ext uri="{BB962C8B-B14F-4D97-AF65-F5344CB8AC3E}">
        <p14:creationId xmlns:p14="http://schemas.microsoft.com/office/powerpoint/2010/main" val="2684479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a:t>
            </a:fld>
            <a:endParaRPr lang="zh-CN" altLang="en-US"/>
          </a:p>
        </p:txBody>
      </p:sp>
    </p:spTree>
    <p:extLst>
      <p:ext uri="{BB962C8B-B14F-4D97-AF65-F5344CB8AC3E}">
        <p14:creationId xmlns:p14="http://schemas.microsoft.com/office/powerpoint/2010/main" val="2448861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a:t>
            </a:fld>
            <a:endParaRPr lang="zh-CN" altLang="en-US"/>
          </a:p>
        </p:txBody>
      </p:sp>
    </p:spTree>
    <p:extLst>
      <p:ext uri="{BB962C8B-B14F-4D97-AF65-F5344CB8AC3E}">
        <p14:creationId xmlns:p14="http://schemas.microsoft.com/office/powerpoint/2010/main" val="2618253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4</a:t>
            </a:fld>
            <a:endParaRPr lang="zh-CN" altLang="en-US"/>
          </a:p>
        </p:txBody>
      </p:sp>
    </p:spTree>
    <p:extLst>
      <p:ext uri="{BB962C8B-B14F-4D97-AF65-F5344CB8AC3E}">
        <p14:creationId xmlns:p14="http://schemas.microsoft.com/office/powerpoint/2010/main" val="16474716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5</a:t>
            </a:fld>
            <a:endParaRPr lang="zh-CN" altLang="en-US"/>
          </a:p>
        </p:txBody>
      </p:sp>
    </p:spTree>
    <p:extLst>
      <p:ext uri="{BB962C8B-B14F-4D97-AF65-F5344CB8AC3E}">
        <p14:creationId xmlns:p14="http://schemas.microsoft.com/office/powerpoint/2010/main" val="33772398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6</a:t>
            </a:fld>
            <a:endParaRPr lang="zh-CN" altLang="en-US"/>
          </a:p>
        </p:txBody>
      </p:sp>
    </p:spTree>
    <p:extLst>
      <p:ext uri="{BB962C8B-B14F-4D97-AF65-F5344CB8AC3E}">
        <p14:creationId xmlns:p14="http://schemas.microsoft.com/office/powerpoint/2010/main" val="16565554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7</a:t>
            </a:fld>
            <a:endParaRPr lang="zh-CN" altLang="en-US"/>
          </a:p>
        </p:txBody>
      </p:sp>
    </p:spTree>
    <p:extLst>
      <p:ext uri="{BB962C8B-B14F-4D97-AF65-F5344CB8AC3E}">
        <p14:creationId xmlns:p14="http://schemas.microsoft.com/office/powerpoint/2010/main" val="42284043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8</a:t>
            </a:fld>
            <a:endParaRPr lang="zh-CN" altLang="en-US"/>
          </a:p>
        </p:txBody>
      </p:sp>
    </p:spTree>
    <p:extLst>
      <p:ext uri="{BB962C8B-B14F-4D97-AF65-F5344CB8AC3E}">
        <p14:creationId xmlns:p14="http://schemas.microsoft.com/office/powerpoint/2010/main" val="7412332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9</a:t>
            </a:fld>
            <a:endParaRPr lang="zh-CN" altLang="en-US"/>
          </a:p>
        </p:txBody>
      </p:sp>
    </p:spTree>
    <p:extLst>
      <p:ext uri="{BB962C8B-B14F-4D97-AF65-F5344CB8AC3E}">
        <p14:creationId xmlns:p14="http://schemas.microsoft.com/office/powerpoint/2010/main" val="28827760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10</a:t>
            </a:fld>
            <a:endParaRPr lang="zh-CN" altLang="en-US"/>
          </a:p>
        </p:txBody>
      </p:sp>
    </p:spTree>
    <p:extLst>
      <p:ext uri="{BB962C8B-B14F-4D97-AF65-F5344CB8AC3E}">
        <p14:creationId xmlns:p14="http://schemas.microsoft.com/office/powerpoint/2010/main" val="39490846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11</a:t>
            </a:fld>
            <a:endParaRPr lang="zh-CN" altLang="en-US"/>
          </a:p>
        </p:txBody>
      </p:sp>
    </p:spTree>
    <p:extLst>
      <p:ext uri="{BB962C8B-B14F-4D97-AF65-F5344CB8AC3E}">
        <p14:creationId xmlns:p14="http://schemas.microsoft.com/office/powerpoint/2010/main" val="29239345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12</a:t>
            </a:fld>
            <a:endParaRPr lang="zh-CN" altLang="en-US"/>
          </a:p>
        </p:txBody>
      </p:sp>
    </p:spTree>
    <p:extLst>
      <p:ext uri="{BB962C8B-B14F-4D97-AF65-F5344CB8AC3E}">
        <p14:creationId xmlns:p14="http://schemas.microsoft.com/office/powerpoint/2010/main" val="9199526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13</a:t>
            </a:fld>
            <a:endParaRPr lang="zh-CN" altLang="en-US"/>
          </a:p>
        </p:txBody>
      </p:sp>
    </p:spTree>
    <p:extLst>
      <p:ext uri="{BB962C8B-B14F-4D97-AF65-F5344CB8AC3E}">
        <p14:creationId xmlns:p14="http://schemas.microsoft.com/office/powerpoint/2010/main" val="2971701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14</a:t>
            </a:fld>
            <a:endParaRPr lang="zh-CN" altLang="en-US"/>
          </a:p>
        </p:txBody>
      </p:sp>
    </p:spTree>
    <p:extLst>
      <p:ext uri="{BB962C8B-B14F-4D97-AF65-F5344CB8AC3E}">
        <p14:creationId xmlns:p14="http://schemas.microsoft.com/office/powerpoint/2010/main" val="3391292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15</a:t>
            </a:fld>
            <a:endParaRPr lang="zh-CN" altLang="en-US"/>
          </a:p>
        </p:txBody>
      </p:sp>
    </p:spTree>
    <p:extLst>
      <p:ext uri="{BB962C8B-B14F-4D97-AF65-F5344CB8AC3E}">
        <p14:creationId xmlns:p14="http://schemas.microsoft.com/office/powerpoint/2010/main" val="26994927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16</a:t>
            </a:fld>
            <a:endParaRPr lang="zh-CN" altLang="en-US"/>
          </a:p>
        </p:txBody>
      </p:sp>
    </p:spTree>
    <p:extLst>
      <p:ext uri="{BB962C8B-B14F-4D97-AF65-F5344CB8AC3E}">
        <p14:creationId xmlns:p14="http://schemas.microsoft.com/office/powerpoint/2010/main" val="16299996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17</a:t>
            </a:fld>
            <a:endParaRPr lang="zh-CN" altLang="en-US"/>
          </a:p>
        </p:txBody>
      </p:sp>
    </p:spTree>
    <p:extLst>
      <p:ext uri="{BB962C8B-B14F-4D97-AF65-F5344CB8AC3E}">
        <p14:creationId xmlns:p14="http://schemas.microsoft.com/office/powerpoint/2010/main" val="37465888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18</a:t>
            </a:fld>
            <a:endParaRPr lang="zh-CN" altLang="en-US"/>
          </a:p>
        </p:txBody>
      </p:sp>
    </p:spTree>
    <p:extLst>
      <p:ext uri="{BB962C8B-B14F-4D97-AF65-F5344CB8AC3E}">
        <p14:creationId xmlns:p14="http://schemas.microsoft.com/office/powerpoint/2010/main" val="26101507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19</a:t>
            </a:fld>
            <a:endParaRPr lang="zh-CN" altLang="en-US"/>
          </a:p>
        </p:txBody>
      </p:sp>
    </p:spTree>
    <p:extLst>
      <p:ext uri="{BB962C8B-B14F-4D97-AF65-F5344CB8AC3E}">
        <p14:creationId xmlns:p14="http://schemas.microsoft.com/office/powerpoint/2010/main" val="5793547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20</a:t>
            </a:fld>
            <a:endParaRPr lang="zh-CN" altLang="en-US"/>
          </a:p>
        </p:txBody>
      </p:sp>
    </p:spTree>
    <p:extLst>
      <p:ext uri="{BB962C8B-B14F-4D97-AF65-F5344CB8AC3E}">
        <p14:creationId xmlns:p14="http://schemas.microsoft.com/office/powerpoint/2010/main" val="33230337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21</a:t>
            </a:fld>
            <a:endParaRPr lang="zh-CN" altLang="en-US"/>
          </a:p>
        </p:txBody>
      </p:sp>
    </p:spTree>
    <p:extLst>
      <p:ext uri="{BB962C8B-B14F-4D97-AF65-F5344CB8AC3E}">
        <p14:creationId xmlns:p14="http://schemas.microsoft.com/office/powerpoint/2010/main" val="29009431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22</a:t>
            </a:fld>
            <a:endParaRPr lang="zh-CN" altLang="en-US"/>
          </a:p>
        </p:txBody>
      </p:sp>
    </p:spTree>
    <p:extLst>
      <p:ext uri="{BB962C8B-B14F-4D97-AF65-F5344CB8AC3E}">
        <p14:creationId xmlns:p14="http://schemas.microsoft.com/office/powerpoint/2010/main" val="17862731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23</a:t>
            </a:fld>
            <a:endParaRPr lang="zh-CN" altLang="en-US"/>
          </a:p>
        </p:txBody>
      </p:sp>
    </p:spTree>
    <p:extLst>
      <p:ext uri="{BB962C8B-B14F-4D97-AF65-F5344CB8AC3E}">
        <p14:creationId xmlns:p14="http://schemas.microsoft.com/office/powerpoint/2010/main" val="1032699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24</a:t>
            </a:fld>
            <a:endParaRPr lang="zh-CN" altLang="en-US"/>
          </a:p>
        </p:txBody>
      </p:sp>
    </p:spTree>
    <p:extLst>
      <p:ext uri="{BB962C8B-B14F-4D97-AF65-F5344CB8AC3E}">
        <p14:creationId xmlns:p14="http://schemas.microsoft.com/office/powerpoint/2010/main" val="17363431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25</a:t>
            </a:fld>
            <a:endParaRPr lang="zh-CN" altLang="en-US"/>
          </a:p>
        </p:txBody>
      </p:sp>
    </p:spTree>
    <p:extLst>
      <p:ext uri="{BB962C8B-B14F-4D97-AF65-F5344CB8AC3E}">
        <p14:creationId xmlns:p14="http://schemas.microsoft.com/office/powerpoint/2010/main" val="37074345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26</a:t>
            </a:fld>
            <a:endParaRPr lang="zh-CN" altLang="en-US"/>
          </a:p>
        </p:txBody>
      </p:sp>
    </p:spTree>
    <p:extLst>
      <p:ext uri="{BB962C8B-B14F-4D97-AF65-F5344CB8AC3E}">
        <p14:creationId xmlns:p14="http://schemas.microsoft.com/office/powerpoint/2010/main" val="5515219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27</a:t>
            </a:fld>
            <a:endParaRPr lang="zh-CN" altLang="en-US"/>
          </a:p>
        </p:txBody>
      </p:sp>
    </p:spTree>
    <p:extLst>
      <p:ext uri="{BB962C8B-B14F-4D97-AF65-F5344CB8AC3E}">
        <p14:creationId xmlns:p14="http://schemas.microsoft.com/office/powerpoint/2010/main" val="14173839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28</a:t>
            </a:fld>
            <a:endParaRPr lang="zh-CN" altLang="en-US"/>
          </a:p>
        </p:txBody>
      </p:sp>
    </p:spTree>
    <p:extLst>
      <p:ext uri="{BB962C8B-B14F-4D97-AF65-F5344CB8AC3E}">
        <p14:creationId xmlns:p14="http://schemas.microsoft.com/office/powerpoint/2010/main" val="9911347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29</a:t>
            </a:fld>
            <a:endParaRPr lang="zh-CN" altLang="en-US"/>
          </a:p>
        </p:txBody>
      </p:sp>
    </p:spTree>
    <p:extLst>
      <p:ext uri="{BB962C8B-B14F-4D97-AF65-F5344CB8AC3E}">
        <p14:creationId xmlns:p14="http://schemas.microsoft.com/office/powerpoint/2010/main" val="17853094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30</a:t>
            </a:fld>
            <a:endParaRPr lang="zh-CN" altLang="en-US"/>
          </a:p>
        </p:txBody>
      </p:sp>
    </p:spTree>
    <p:extLst>
      <p:ext uri="{BB962C8B-B14F-4D97-AF65-F5344CB8AC3E}">
        <p14:creationId xmlns:p14="http://schemas.microsoft.com/office/powerpoint/2010/main" val="33109024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31</a:t>
            </a:fld>
            <a:endParaRPr lang="zh-CN" altLang="en-US"/>
          </a:p>
        </p:txBody>
      </p:sp>
    </p:spTree>
    <p:extLst>
      <p:ext uri="{BB962C8B-B14F-4D97-AF65-F5344CB8AC3E}">
        <p14:creationId xmlns:p14="http://schemas.microsoft.com/office/powerpoint/2010/main" val="22303546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32</a:t>
            </a:fld>
            <a:endParaRPr lang="zh-CN" altLang="en-US"/>
          </a:p>
        </p:txBody>
      </p:sp>
    </p:spTree>
    <p:extLst>
      <p:ext uri="{BB962C8B-B14F-4D97-AF65-F5344CB8AC3E}">
        <p14:creationId xmlns:p14="http://schemas.microsoft.com/office/powerpoint/2010/main" val="40316122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33</a:t>
            </a:fld>
            <a:endParaRPr lang="zh-CN" altLang="en-US"/>
          </a:p>
        </p:txBody>
      </p:sp>
    </p:spTree>
    <p:extLst>
      <p:ext uri="{BB962C8B-B14F-4D97-AF65-F5344CB8AC3E}">
        <p14:creationId xmlns:p14="http://schemas.microsoft.com/office/powerpoint/2010/main" val="352379425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34</a:t>
            </a:fld>
            <a:endParaRPr lang="zh-CN" altLang="en-US"/>
          </a:p>
        </p:txBody>
      </p:sp>
    </p:spTree>
    <p:extLst>
      <p:ext uri="{BB962C8B-B14F-4D97-AF65-F5344CB8AC3E}">
        <p14:creationId xmlns:p14="http://schemas.microsoft.com/office/powerpoint/2010/main" val="7132102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35</a:t>
            </a:fld>
            <a:endParaRPr lang="zh-CN" altLang="en-US"/>
          </a:p>
        </p:txBody>
      </p:sp>
    </p:spTree>
    <p:extLst>
      <p:ext uri="{BB962C8B-B14F-4D97-AF65-F5344CB8AC3E}">
        <p14:creationId xmlns:p14="http://schemas.microsoft.com/office/powerpoint/2010/main" val="1208158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36</a:t>
            </a:fld>
            <a:endParaRPr lang="zh-CN" altLang="en-US"/>
          </a:p>
        </p:txBody>
      </p:sp>
    </p:spTree>
    <p:extLst>
      <p:ext uri="{BB962C8B-B14F-4D97-AF65-F5344CB8AC3E}">
        <p14:creationId xmlns:p14="http://schemas.microsoft.com/office/powerpoint/2010/main" val="8098150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37</a:t>
            </a:fld>
            <a:endParaRPr lang="zh-CN" altLang="en-US"/>
          </a:p>
        </p:txBody>
      </p:sp>
    </p:spTree>
    <p:extLst>
      <p:ext uri="{BB962C8B-B14F-4D97-AF65-F5344CB8AC3E}">
        <p14:creationId xmlns:p14="http://schemas.microsoft.com/office/powerpoint/2010/main" val="38358190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38</a:t>
            </a:fld>
            <a:endParaRPr lang="zh-CN" altLang="en-US"/>
          </a:p>
        </p:txBody>
      </p:sp>
    </p:spTree>
    <p:extLst>
      <p:ext uri="{BB962C8B-B14F-4D97-AF65-F5344CB8AC3E}">
        <p14:creationId xmlns:p14="http://schemas.microsoft.com/office/powerpoint/2010/main" val="191493346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39</a:t>
            </a:fld>
            <a:endParaRPr lang="zh-CN" altLang="en-US"/>
          </a:p>
        </p:txBody>
      </p:sp>
    </p:spTree>
    <p:extLst>
      <p:ext uri="{BB962C8B-B14F-4D97-AF65-F5344CB8AC3E}">
        <p14:creationId xmlns:p14="http://schemas.microsoft.com/office/powerpoint/2010/main" val="42562525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40</a:t>
            </a:fld>
            <a:endParaRPr lang="zh-CN" altLang="en-US"/>
          </a:p>
        </p:txBody>
      </p:sp>
    </p:spTree>
    <p:extLst>
      <p:ext uri="{BB962C8B-B14F-4D97-AF65-F5344CB8AC3E}">
        <p14:creationId xmlns:p14="http://schemas.microsoft.com/office/powerpoint/2010/main" val="18270434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41</a:t>
            </a:fld>
            <a:endParaRPr lang="zh-CN" altLang="en-US"/>
          </a:p>
        </p:txBody>
      </p:sp>
    </p:spTree>
    <p:extLst>
      <p:ext uri="{BB962C8B-B14F-4D97-AF65-F5344CB8AC3E}">
        <p14:creationId xmlns:p14="http://schemas.microsoft.com/office/powerpoint/2010/main" val="20697547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42</a:t>
            </a:fld>
            <a:endParaRPr lang="zh-CN" altLang="en-US"/>
          </a:p>
        </p:txBody>
      </p:sp>
    </p:spTree>
    <p:extLst>
      <p:ext uri="{BB962C8B-B14F-4D97-AF65-F5344CB8AC3E}">
        <p14:creationId xmlns:p14="http://schemas.microsoft.com/office/powerpoint/2010/main" val="11905976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43</a:t>
            </a:fld>
            <a:endParaRPr lang="zh-CN" altLang="en-US"/>
          </a:p>
        </p:txBody>
      </p:sp>
    </p:spTree>
    <p:extLst>
      <p:ext uri="{BB962C8B-B14F-4D97-AF65-F5344CB8AC3E}">
        <p14:creationId xmlns:p14="http://schemas.microsoft.com/office/powerpoint/2010/main" val="18313834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44</a:t>
            </a:fld>
            <a:endParaRPr lang="zh-CN" altLang="en-US"/>
          </a:p>
        </p:txBody>
      </p:sp>
    </p:spTree>
    <p:extLst>
      <p:ext uri="{BB962C8B-B14F-4D97-AF65-F5344CB8AC3E}">
        <p14:creationId xmlns:p14="http://schemas.microsoft.com/office/powerpoint/2010/main" val="27789944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45</a:t>
            </a:fld>
            <a:endParaRPr lang="zh-CN" altLang="en-US"/>
          </a:p>
        </p:txBody>
      </p:sp>
    </p:spTree>
    <p:extLst>
      <p:ext uri="{BB962C8B-B14F-4D97-AF65-F5344CB8AC3E}">
        <p14:creationId xmlns:p14="http://schemas.microsoft.com/office/powerpoint/2010/main" val="12442768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a:extLst>
              <a:ext uri="{FF2B5EF4-FFF2-40B4-BE49-F238E27FC236}">
                <a16:creationId xmlns:a16="http://schemas.microsoft.com/office/drawing/2014/main" id="{CA5DA2B3-38D2-4748-8473-790E61130B1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a:extLst>
              <a:ext uri="{FF2B5EF4-FFF2-40B4-BE49-F238E27FC236}">
                <a16:creationId xmlns:a16="http://schemas.microsoft.com/office/drawing/2014/main" id="{0B1EB64A-E4E7-4D09-9858-8FB37AB345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89092" name="灯片编号占位符 3">
            <a:extLst>
              <a:ext uri="{FF2B5EF4-FFF2-40B4-BE49-F238E27FC236}">
                <a16:creationId xmlns:a16="http://schemas.microsoft.com/office/drawing/2014/main" id="{B135E436-A821-44A2-92FF-51373B88509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856A0C-5D22-4C56-9029-F651762B2DA6}" type="slidenum">
              <a:rPr lang="zh-CN" altLang="en-US" smtClean="0"/>
              <a:pPr fontAlgn="base">
                <a:spcBef>
                  <a:spcPct val="0"/>
                </a:spcBef>
                <a:spcAft>
                  <a:spcPct val="0"/>
                </a:spcAft>
              </a:pPr>
              <a:t>46</a:t>
            </a:fld>
            <a:endParaRPr lang="zh-CN" altLang="en-US"/>
          </a:p>
        </p:txBody>
      </p:sp>
    </p:spTree>
    <p:extLst>
      <p:ext uri="{BB962C8B-B14F-4D97-AF65-F5344CB8AC3E}">
        <p14:creationId xmlns:p14="http://schemas.microsoft.com/office/powerpoint/2010/main" val="397765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76E42D-8E1F-4161-92FC-798002BD6E7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C38D7EA-6BDB-4E64-B964-80168CE379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BB6C0B8-A32B-4878-B781-603CA3775F0C}"/>
              </a:ext>
            </a:extLst>
          </p:cNvPr>
          <p:cNvSpPr>
            <a:spLocks noGrp="1"/>
          </p:cNvSpPr>
          <p:nvPr>
            <p:ph type="dt" sz="half" idx="10"/>
          </p:nvPr>
        </p:nvSpPr>
        <p:spPr/>
        <p:txBody>
          <a:bodyPr/>
          <a:lstStyle/>
          <a:p>
            <a:fld id="{7D1A7D63-D7B8-4F0E-B9CF-2A3E3830BAA8}" type="datetimeFigureOut">
              <a:rPr lang="zh-CN" altLang="en-US" smtClean="0"/>
              <a:t>2025/11/1</a:t>
            </a:fld>
            <a:endParaRPr lang="zh-CN" altLang="en-US"/>
          </a:p>
        </p:txBody>
      </p:sp>
      <p:sp>
        <p:nvSpPr>
          <p:cNvPr id="5" name="页脚占位符 4">
            <a:extLst>
              <a:ext uri="{FF2B5EF4-FFF2-40B4-BE49-F238E27FC236}">
                <a16:creationId xmlns:a16="http://schemas.microsoft.com/office/drawing/2014/main" id="{EA6034E1-D035-43F7-B64D-29398828EB1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25B4D6F-9FE4-4AD6-8337-0FE1B65802E2}"/>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3373337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EB075D-15DC-42AC-93A2-6A06B06ECCC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834E679-C3AD-4C33-B06C-91BDD767EBE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9EB38F1-C445-4800-90A5-8F3ED061B3F1}"/>
              </a:ext>
            </a:extLst>
          </p:cNvPr>
          <p:cNvSpPr>
            <a:spLocks noGrp="1"/>
          </p:cNvSpPr>
          <p:nvPr>
            <p:ph type="dt" sz="half" idx="10"/>
          </p:nvPr>
        </p:nvSpPr>
        <p:spPr/>
        <p:txBody>
          <a:bodyPr/>
          <a:lstStyle/>
          <a:p>
            <a:fld id="{7D1A7D63-D7B8-4F0E-B9CF-2A3E3830BAA8}" type="datetimeFigureOut">
              <a:rPr lang="zh-CN" altLang="en-US" smtClean="0"/>
              <a:t>2025/11/1</a:t>
            </a:fld>
            <a:endParaRPr lang="zh-CN" altLang="en-US"/>
          </a:p>
        </p:txBody>
      </p:sp>
      <p:sp>
        <p:nvSpPr>
          <p:cNvPr id="5" name="页脚占位符 4">
            <a:extLst>
              <a:ext uri="{FF2B5EF4-FFF2-40B4-BE49-F238E27FC236}">
                <a16:creationId xmlns:a16="http://schemas.microsoft.com/office/drawing/2014/main" id="{4D01018E-22E1-4D4F-A56D-10C1E62E91B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90D2562-0CCF-4227-85A9-AFD35B0ECB6C}"/>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3718779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5192B2-AC57-485E-9E3F-B7B8C905592A}"/>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E58D281-194B-468B-ADBA-76A4E23855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BE9BCE0-002E-42ED-B7C2-261D43E96E73}"/>
              </a:ext>
            </a:extLst>
          </p:cNvPr>
          <p:cNvSpPr>
            <a:spLocks noGrp="1"/>
          </p:cNvSpPr>
          <p:nvPr>
            <p:ph type="dt" sz="half" idx="10"/>
          </p:nvPr>
        </p:nvSpPr>
        <p:spPr/>
        <p:txBody>
          <a:bodyPr/>
          <a:lstStyle/>
          <a:p>
            <a:fld id="{7D1A7D63-D7B8-4F0E-B9CF-2A3E3830BAA8}" type="datetimeFigureOut">
              <a:rPr lang="zh-CN" altLang="en-US" smtClean="0"/>
              <a:t>2025/11/1</a:t>
            </a:fld>
            <a:endParaRPr lang="zh-CN" altLang="en-US"/>
          </a:p>
        </p:txBody>
      </p:sp>
      <p:sp>
        <p:nvSpPr>
          <p:cNvPr id="5" name="页脚占位符 4">
            <a:extLst>
              <a:ext uri="{FF2B5EF4-FFF2-40B4-BE49-F238E27FC236}">
                <a16:creationId xmlns:a16="http://schemas.microsoft.com/office/drawing/2014/main" id="{55BEF642-B6DE-4777-8064-A39FFF8F868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B4A94A4-38F0-4C2B-ADFE-D02E2B1A08AF}"/>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1399768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DB952-D4D5-4F3B-830A-67B71D6EAD8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0357EF1-6F7D-43F5-BE79-67D16A90BD9F}"/>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1181AE9-5B3A-45EC-8869-29C393E4F252}"/>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075487C-7666-44DE-80EE-2902D9B436FF}"/>
              </a:ext>
            </a:extLst>
          </p:cNvPr>
          <p:cNvSpPr>
            <a:spLocks noGrp="1"/>
          </p:cNvSpPr>
          <p:nvPr>
            <p:ph type="dt" sz="half" idx="10"/>
          </p:nvPr>
        </p:nvSpPr>
        <p:spPr/>
        <p:txBody>
          <a:bodyPr/>
          <a:lstStyle/>
          <a:p>
            <a:fld id="{7D1A7D63-D7B8-4F0E-B9CF-2A3E3830BAA8}" type="datetimeFigureOut">
              <a:rPr lang="zh-CN" altLang="en-US" smtClean="0"/>
              <a:t>2025/11/1</a:t>
            </a:fld>
            <a:endParaRPr lang="zh-CN" altLang="en-US"/>
          </a:p>
        </p:txBody>
      </p:sp>
      <p:sp>
        <p:nvSpPr>
          <p:cNvPr id="6" name="页脚占位符 5">
            <a:extLst>
              <a:ext uri="{FF2B5EF4-FFF2-40B4-BE49-F238E27FC236}">
                <a16:creationId xmlns:a16="http://schemas.microsoft.com/office/drawing/2014/main" id="{59E3EDC2-3316-4B5C-A95A-0A39BECDFB9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553D2A1-3261-49CC-BA76-3E398676A322}"/>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3062045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6F3126-81EA-4C17-9D21-7D9EFAC38EF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255D8D7-9261-44FB-96B7-5B9D93CC5A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081393F-A933-46B1-B8AE-5B752A52361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46D282E-4854-4A45-9EBC-6D406339DD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44A79BF-2110-4A4A-A27C-3064D7DEA04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997EF3B-A447-4A59-B47E-60D3E1B944CB}"/>
              </a:ext>
            </a:extLst>
          </p:cNvPr>
          <p:cNvSpPr>
            <a:spLocks noGrp="1"/>
          </p:cNvSpPr>
          <p:nvPr>
            <p:ph type="dt" sz="half" idx="10"/>
          </p:nvPr>
        </p:nvSpPr>
        <p:spPr/>
        <p:txBody>
          <a:bodyPr/>
          <a:lstStyle/>
          <a:p>
            <a:fld id="{7D1A7D63-D7B8-4F0E-B9CF-2A3E3830BAA8}" type="datetimeFigureOut">
              <a:rPr lang="zh-CN" altLang="en-US" smtClean="0"/>
              <a:t>2025/11/1</a:t>
            </a:fld>
            <a:endParaRPr lang="zh-CN" altLang="en-US"/>
          </a:p>
        </p:txBody>
      </p:sp>
      <p:sp>
        <p:nvSpPr>
          <p:cNvPr id="8" name="页脚占位符 7">
            <a:extLst>
              <a:ext uri="{FF2B5EF4-FFF2-40B4-BE49-F238E27FC236}">
                <a16:creationId xmlns:a16="http://schemas.microsoft.com/office/drawing/2014/main" id="{51260F99-31D5-491C-8D88-3FBFBEFACB6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708E84E-BD81-4EE1-BFDF-4680C8F047F0}"/>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1670971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F80B8-CAFF-4186-813A-E935D303A7A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0707CB1-D86D-4955-AA11-EC4336999FD3}"/>
              </a:ext>
            </a:extLst>
          </p:cNvPr>
          <p:cNvSpPr>
            <a:spLocks noGrp="1"/>
          </p:cNvSpPr>
          <p:nvPr>
            <p:ph type="dt" sz="half" idx="10"/>
          </p:nvPr>
        </p:nvSpPr>
        <p:spPr/>
        <p:txBody>
          <a:bodyPr/>
          <a:lstStyle/>
          <a:p>
            <a:fld id="{7D1A7D63-D7B8-4F0E-B9CF-2A3E3830BAA8}" type="datetimeFigureOut">
              <a:rPr lang="zh-CN" altLang="en-US" smtClean="0"/>
              <a:t>2025/11/1</a:t>
            </a:fld>
            <a:endParaRPr lang="zh-CN" altLang="en-US"/>
          </a:p>
        </p:txBody>
      </p:sp>
      <p:sp>
        <p:nvSpPr>
          <p:cNvPr id="4" name="页脚占位符 3">
            <a:extLst>
              <a:ext uri="{FF2B5EF4-FFF2-40B4-BE49-F238E27FC236}">
                <a16:creationId xmlns:a16="http://schemas.microsoft.com/office/drawing/2014/main" id="{783060BF-8F34-4402-8824-20704BA5ACD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C20C4CC-E83E-4E13-AAC4-6236B53BBA8F}"/>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1615764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E7E5E81-960E-452B-BEEC-237A765874D8}"/>
              </a:ext>
            </a:extLst>
          </p:cNvPr>
          <p:cNvSpPr>
            <a:spLocks noGrp="1"/>
          </p:cNvSpPr>
          <p:nvPr>
            <p:ph type="dt" sz="half" idx="10"/>
          </p:nvPr>
        </p:nvSpPr>
        <p:spPr/>
        <p:txBody>
          <a:bodyPr/>
          <a:lstStyle/>
          <a:p>
            <a:fld id="{7D1A7D63-D7B8-4F0E-B9CF-2A3E3830BAA8}" type="datetimeFigureOut">
              <a:rPr lang="zh-CN" altLang="en-US" smtClean="0"/>
              <a:t>2025/11/1</a:t>
            </a:fld>
            <a:endParaRPr lang="zh-CN" altLang="en-US"/>
          </a:p>
        </p:txBody>
      </p:sp>
      <p:sp>
        <p:nvSpPr>
          <p:cNvPr id="3" name="页脚占位符 2">
            <a:extLst>
              <a:ext uri="{FF2B5EF4-FFF2-40B4-BE49-F238E27FC236}">
                <a16:creationId xmlns:a16="http://schemas.microsoft.com/office/drawing/2014/main" id="{8A28A7DE-E2FD-4DCD-88D4-9461A95F7AB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CD45A2C-4D06-4ADE-A257-8FD5039596C1}"/>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497530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4F57E0-C81E-4CD1-AD98-8E486CB6837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2B00199-6F84-4A59-8899-E8B2E6DE5B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4090C66-7379-460F-9033-E6814CA817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2EF1194-1784-48F1-B41C-D7101B2E408B}"/>
              </a:ext>
            </a:extLst>
          </p:cNvPr>
          <p:cNvSpPr>
            <a:spLocks noGrp="1"/>
          </p:cNvSpPr>
          <p:nvPr>
            <p:ph type="dt" sz="half" idx="10"/>
          </p:nvPr>
        </p:nvSpPr>
        <p:spPr/>
        <p:txBody>
          <a:bodyPr/>
          <a:lstStyle/>
          <a:p>
            <a:fld id="{7D1A7D63-D7B8-4F0E-B9CF-2A3E3830BAA8}" type="datetimeFigureOut">
              <a:rPr lang="zh-CN" altLang="en-US" smtClean="0"/>
              <a:t>2025/11/1</a:t>
            </a:fld>
            <a:endParaRPr lang="zh-CN" altLang="en-US"/>
          </a:p>
        </p:txBody>
      </p:sp>
      <p:sp>
        <p:nvSpPr>
          <p:cNvPr id="6" name="页脚占位符 5">
            <a:extLst>
              <a:ext uri="{FF2B5EF4-FFF2-40B4-BE49-F238E27FC236}">
                <a16:creationId xmlns:a16="http://schemas.microsoft.com/office/drawing/2014/main" id="{51ECE248-CB85-4EB4-8EAB-B63C1C9FA39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8F506F9-F269-4A99-9F79-36580B8418F9}"/>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1384178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4A2D68-F164-431A-B045-FF32FD8F4F4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188AEBE-7DD1-4AB2-88CB-65DD42C062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E5E8435-B02C-45D8-8560-2C62BF6819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36AF48E-D282-434B-B1B1-A60EEBEE8CE8}"/>
              </a:ext>
            </a:extLst>
          </p:cNvPr>
          <p:cNvSpPr>
            <a:spLocks noGrp="1"/>
          </p:cNvSpPr>
          <p:nvPr>
            <p:ph type="dt" sz="half" idx="10"/>
          </p:nvPr>
        </p:nvSpPr>
        <p:spPr/>
        <p:txBody>
          <a:bodyPr/>
          <a:lstStyle/>
          <a:p>
            <a:fld id="{7D1A7D63-D7B8-4F0E-B9CF-2A3E3830BAA8}" type="datetimeFigureOut">
              <a:rPr lang="zh-CN" altLang="en-US" smtClean="0"/>
              <a:t>2025/11/1</a:t>
            </a:fld>
            <a:endParaRPr lang="zh-CN" altLang="en-US"/>
          </a:p>
        </p:txBody>
      </p:sp>
      <p:sp>
        <p:nvSpPr>
          <p:cNvPr id="6" name="页脚占位符 5">
            <a:extLst>
              <a:ext uri="{FF2B5EF4-FFF2-40B4-BE49-F238E27FC236}">
                <a16:creationId xmlns:a16="http://schemas.microsoft.com/office/drawing/2014/main" id="{7C2310E0-45D2-4D33-B87B-87A037DAA35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73DB1FD-3803-4744-81A6-2E12760C56F7}"/>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4045541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31C7E0-3A75-4623-9D79-2EC44EB9D3D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D79C279-1369-407F-963C-3FDABB3B3F94}"/>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AEAB553-602F-4D34-9454-6212EA2F82FE}"/>
              </a:ext>
            </a:extLst>
          </p:cNvPr>
          <p:cNvSpPr>
            <a:spLocks noGrp="1"/>
          </p:cNvSpPr>
          <p:nvPr>
            <p:ph type="dt" sz="half" idx="10"/>
          </p:nvPr>
        </p:nvSpPr>
        <p:spPr/>
        <p:txBody>
          <a:bodyPr/>
          <a:lstStyle/>
          <a:p>
            <a:fld id="{7D1A7D63-D7B8-4F0E-B9CF-2A3E3830BAA8}" type="datetimeFigureOut">
              <a:rPr lang="zh-CN" altLang="en-US" smtClean="0"/>
              <a:t>2025/11/1</a:t>
            </a:fld>
            <a:endParaRPr lang="zh-CN" altLang="en-US"/>
          </a:p>
        </p:txBody>
      </p:sp>
      <p:sp>
        <p:nvSpPr>
          <p:cNvPr id="5" name="页脚占位符 4">
            <a:extLst>
              <a:ext uri="{FF2B5EF4-FFF2-40B4-BE49-F238E27FC236}">
                <a16:creationId xmlns:a16="http://schemas.microsoft.com/office/drawing/2014/main" id="{BF12D560-2717-478A-957B-EFA01113A96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7F9566A-D4B7-4359-930C-6E605905AB11}"/>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2320887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80FD482-6518-4B73-B8B4-737A92FE8BD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4189D8D-031B-4157-A964-2327951224E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351B225-C513-4598-8A7C-52A744ECB9FC}"/>
              </a:ext>
            </a:extLst>
          </p:cNvPr>
          <p:cNvSpPr>
            <a:spLocks noGrp="1"/>
          </p:cNvSpPr>
          <p:nvPr>
            <p:ph type="dt" sz="half" idx="10"/>
          </p:nvPr>
        </p:nvSpPr>
        <p:spPr/>
        <p:txBody>
          <a:bodyPr/>
          <a:lstStyle/>
          <a:p>
            <a:fld id="{7D1A7D63-D7B8-4F0E-B9CF-2A3E3830BAA8}" type="datetimeFigureOut">
              <a:rPr lang="zh-CN" altLang="en-US" smtClean="0"/>
              <a:t>2025/11/1</a:t>
            </a:fld>
            <a:endParaRPr lang="zh-CN" altLang="en-US"/>
          </a:p>
        </p:txBody>
      </p:sp>
      <p:sp>
        <p:nvSpPr>
          <p:cNvPr id="5" name="页脚占位符 4">
            <a:extLst>
              <a:ext uri="{FF2B5EF4-FFF2-40B4-BE49-F238E27FC236}">
                <a16:creationId xmlns:a16="http://schemas.microsoft.com/office/drawing/2014/main" id="{33343814-5EB6-47BE-BCA3-2B92BA01585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FAC6707-C37E-4D0E-B58E-FFC34946997A}"/>
              </a:ext>
            </a:extLst>
          </p:cNvPr>
          <p:cNvSpPr>
            <a:spLocks noGrp="1"/>
          </p:cNvSpPr>
          <p:nvPr>
            <p:ph type="sldNum" sz="quarter" idx="12"/>
          </p:nvPr>
        </p:nvSpPr>
        <p:spPr/>
        <p:txBody>
          <a:body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26544236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D73D5CAC-F429-4F2F-9F7B-6223C359040B}"/>
              </a:ext>
            </a:extLst>
          </p:cNvPr>
          <p:cNvSpPr txBox="1"/>
          <p:nvPr userDrawn="1"/>
        </p:nvSpPr>
        <p:spPr>
          <a:xfrm>
            <a:off x="76200" y="117475"/>
            <a:ext cx="1701800" cy="676275"/>
          </a:xfrm>
          <a:prstGeom prst="rect">
            <a:avLst/>
          </a:prstGeom>
          <a:noFill/>
        </p:spPr>
        <p:txBody>
          <a:bodyPr lIns="121900" tIns="60949" rIns="121900" bIns="60949">
            <a:spAutoFit/>
          </a:bodyPr>
          <a:lstStyle/>
          <a:p>
            <a:pPr eaLnBrk="1" fontAlgn="auto" hangingPunct="1">
              <a:spcBef>
                <a:spcPts val="0"/>
              </a:spcBef>
              <a:spcAft>
                <a:spcPts val="0"/>
              </a:spcAft>
              <a:defRPr/>
            </a:pPr>
            <a:r>
              <a:rPr lang="en-US" altLang="zh-CN" sz="3598" b="1" spc="-150" dirty="0">
                <a:solidFill>
                  <a:schemeClr val="accent1"/>
                </a:solidFill>
                <a:latin typeface="Arial Black" panose="020B0A04020102020204" pitchFamily="34" charset="0"/>
                <a:ea typeface="微软雅黑" panose="020B0503020204020204" pitchFamily="34" charset="-122"/>
              </a:rPr>
              <a:t>LOGO</a:t>
            </a:r>
            <a:endParaRPr lang="zh-CN" altLang="en-US" sz="3598" b="1" spc="-150" dirty="0">
              <a:solidFill>
                <a:schemeClr val="accent1"/>
              </a:solidFill>
              <a:latin typeface="Arial Black" panose="020B0A04020102020204" pitchFamily="34" charset="0"/>
              <a:ea typeface="微软雅黑" panose="020B0503020204020204" pitchFamily="34" charset="-122"/>
            </a:endParaRPr>
          </a:p>
        </p:txBody>
      </p:sp>
      <p:cxnSp>
        <p:nvCxnSpPr>
          <p:cNvPr id="3" name="直接连接符 2">
            <a:extLst>
              <a:ext uri="{FF2B5EF4-FFF2-40B4-BE49-F238E27FC236}">
                <a16:creationId xmlns:a16="http://schemas.microsoft.com/office/drawing/2014/main" id="{244DE135-33BF-4676-B43F-8AA62673A58B}"/>
              </a:ext>
            </a:extLst>
          </p:cNvPr>
          <p:cNvCxnSpPr/>
          <p:nvPr userDrawn="1"/>
        </p:nvCxnSpPr>
        <p:spPr>
          <a:xfrm>
            <a:off x="1562100" y="693738"/>
            <a:ext cx="10629900"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9053564"/>
      </p:ext>
    </p:extLst>
  </p:cSld>
  <p:clrMapOvr>
    <a:masterClrMapping/>
  </p:clrMapOvr>
  <p:transition spd="slow" advTm="0">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0F79C98-3199-4C9B-9161-434E02C133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01E81D8-ADFF-4204-A1B1-03575868F6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D05A6F5-C2B7-426F-8FB9-A73AD3EFA7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1A7D63-D7B8-4F0E-B9CF-2A3E3830BAA8}" type="datetimeFigureOut">
              <a:rPr lang="zh-CN" altLang="en-US" smtClean="0"/>
              <a:t>2025/11/1</a:t>
            </a:fld>
            <a:endParaRPr lang="zh-CN" altLang="en-US"/>
          </a:p>
        </p:txBody>
      </p:sp>
      <p:sp>
        <p:nvSpPr>
          <p:cNvPr id="5" name="页脚占位符 4">
            <a:extLst>
              <a:ext uri="{FF2B5EF4-FFF2-40B4-BE49-F238E27FC236}">
                <a16:creationId xmlns:a16="http://schemas.microsoft.com/office/drawing/2014/main" id="{052A0E02-245B-4209-85B4-765107BCA0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0B4894D-1E88-4F89-8FD8-4C353DC3EE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BAB54C-22A2-4F79-A496-0875D9C88CE4}" type="slidenum">
              <a:rPr lang="zh-CN" altLang="en-US" smtClean="0"/>
              <a:t>‹#›</a:t>
            </a:fld>
            <a:endParaRPr lang="zh-CN" altLang="en-US"/>
          </a:p>
        </p:txBody>
      </p:sp>
    </p:spTree>
    <p:extLst>
      <p:ext uri="{BB962C8B-B14F-4D97-AF65-F5344CB8AC3E}">
        <p14:creationId xmlns:p14="http://schemas.microsoft.com/office/powerpoint/2010/main" val="15721498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图片 4">
            <a:extLst>
              <a:ext uri="{FF2B5EF4-FFF2-40B4-BE49-F238E27FC236}">
                <a16:creationId xmlns:a16="http://schemas.microsoft.com/office/drawing/2014/main" id="{13E189C7-8218-4052-85AE-E01EC1124E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3073">
            <a:extLst>
              <a:ext uri="{FF2B5EF4-FFF2-40B4-BE49-F238E27FC236}">
                <a16:creationId xmlns:a16="http://schemas.microsoft.com/office/drawing/2014/main" id="{F7D2571E-1D87-457C-8CCC-C3C98F94D652}"/>
              </a:ext>
            </a:extLst>
          </p:cNvPr>
          <p:cNvSpPr>
            <a:spLocks noGrp="1"/>
          </p:cNvSpPr>
          <p:nvPr/>
        </p:nvSpPr>
        <p:spPr>
          <a:xfrm>
            <a:off x="2390775" y="3140075"/>
            <a:ext cx="7772400" cy="950913"/>
          </a:xfrm>
          <a:prstGeom prst="rect">
            <a:avLst/>
          </a:prstGeom>
          <a:noFill/>
          <a:ln w="9525">
            <a:noFill/>
          </a:ln>
        </p:spPr>
        <p:txBody>
          <a:bodyPr anchor="ctr"/>
          <a:lstStyle/>
          <a:p>
            <a:pPr algn="ctr" fontAlgn="auto">
              <a:spcBef>
                <a:spcPts val="0"/>
              </a:spcBef>
              <a:spcAft>
                <a:spcPts val="0"/>
              </a:spcAft>
              <a:defRPr/>
            </a:pPr>
            <a:r>
              <a:rPr lang="zh-CN" altLang="en-US" sz="5400" noProof="1">
                <a:solidFill>
                  <a:srgbClr val="0066FF"/>
                </a:solidFill>
                <a:effectLst>
                  <a:outerShdw blurRad="38100" dist="38100" dir="2700000" algn="tl">
                    <a:srgbClr val="000000">
                      <a:alpha val="43137"/>
                    </a:srgbClr>
                  </a:outerShdw>
                </a:effectLst>
                <a:latin typeface="KaiTi" panose="02010609060101010101" charset="-122"/>
                <a:ea typeface="KaiTi" panose="02010609060101010101" charset="-122"/>
                <a:cs typeface="Times New Roman" panose="02020603050405020304" pitchFamily="2" charset="0"/>
              </a:rPr>
              <a:t>离散数学</a:t>
            </a:r>
          </a:p>
          <a:p>
            <a:pPr algn="ctr" fontAlgn="auto">
              <a:spcBef>
                <a:spcPts val="0"/>
              </a:spcBef>
              <a:spcAft>
                <a:spcPts val="0"/>
              </a:spcAft>
              <a:defRPr/>
            </a:pPr>
            <a:r>
              <a:rPr lang="en-US" altLang="zh-CN" sz="4400" noProof="1">
                <a:solidFill>
                  <a:srgbClr val="0066FF"/>
                </a:solidFill>
                <a:latin typeface="Arial Black" panose="020B0A04020102020204" charset="0"/>
                <a:ea typeface="+mn-ea"/>
                <a:cs typeface="Times New Roman" panose="02020603050405020304" pitchFamily="2" charset="0"/>
              </a:rPr>
              <a:t>Discrete Mathematics</a:t>
            </a:r>
          </a:p>
        </p:txBody>
      </p:sp>
      <p:sp>
        <p:nvSpPr>
          <p:cNvPr id="4100" name="矩形 3074">
            <a:extLst>
              <a:ext uri="{FF2B5EF4-FFF2-40B4-BE49-F238E27FC236}">
                <a16:creationId xmlns:a16="http://schemas.microsoft.com/office/drawing/2014/main" id="{AA238628-3C73-45C1-88BF-CA2DFF4F68C6}"/>
              </a:ext>
            </a:extLst>
          </p:cNvPr>
          <p:cNvSpPr>
            <a:spLocks noGrp="1" noChangeArrowheads="1"/>
          </p:cNvSpPr>
          <p:nvPr/>
        </p:nvSpPr>
        <p:spPr bwMode="auto">
          <a:xfrm>
            <a:off x="1485900" y="4337050"/>
            <a:ext cx="9104313" cy="233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gn="ctr">
              <a:lnSpc>
                <a:spcPct val="100000"/>
              </a:lnSpc>
              <a:spcBef>
                <a:spcPct val="20000"/>
              </a:spcBef>
              <a:buFontTx/>
              <a:buNone/>
            </a:pPr>
            <a:endParaRPr lang="zh-CN" altLang="en-US" sz="2400">
              <a:solidFill>
                <a:srgbClr val="0066FF"/>
              </a:solidFill>
              <a:latin typeface="Segoe UI Semibold" panose="020B0702040204020203" pitchFamily="34" charset="0"/>
              <a:ea typeface="宋体" panose="02010600030101010101" pitchFamily="2" charset="-122"/>
            </a:endParaRPr>
          </a:p>
          <a:p>
            <a:pPr algn="ctr">
              <a:lnSpc>
                <a:spcPct val="100000"/>
              </a:lnSpc>
              <a:spcBef>
                <a:spcPct val="20000"/>
              </a:spcBef>
              <a:buFontTx/>
              <a:buNone/>
            </a:pPr>
            <a:endParaRPr lang="zh-CN" altLang="en-US" sz="2400">
              <a:solidFill>
                <a:srgbClr val="0066FF"/>
              </a:solidFill>
              <a:latin typeface="Segoe UI Semibold" panose="020B0702040204020203" pitchFamily="34" charset="0"/>
              <a:ea typeface="宋体" panose="02010600030101010101" pitchFamily="2" charset="-122"/>
            </a:endParaRPr>
          </a:p>
          <a:p>
            <a:pPr algn="ctr">
              <a:lnSpc>
                <a:spcPct val="100000"/>
              </a:lnSpc>
              <a:spcBef>
                <a:spcPct val="20000"/>
              </a:spcBef>
              <a:buFontTx/>
              <a:buNone/>
            </a:pPr>
            <a:r>
              <a:rPr lang="zh-CN" altLang="en-US" sz="2400" b="1">
                <a:solidFill>
                  <a:srgbClr val="A50021"/>
                </a:solidFill>
                <a:latin typeface="Microsoft YaHei Light" panose="020B0502040204020203" pitchFamily="34" charset="-122"/>
                <a:ea typeface="Microsoft YaHei Light" panose="020B0502040204020203" pitchFamily="34" charset="-122"/>
              </a:rPr>
              <a:t>计算机学院 </a:t>
            </a:r>
          </a:p>
          <a:p>
            <a:pPr algn="ctr">
              <a:lnSpc>
                <a:spcPct val="100000"/>
              </a:lnSpc>
              <a:spcBef>
                <a:spcPct val="20000"/>
              </a:spcBef>
              <a:buFontTx/>
              <a:buNone/>
            </a:pPr>
            <a:r>
              <a:rPr lang="zh-CN" altLang="en-US" sz="2400" b="1">
                <a:solidFill>
                  <a:srgbClr val="A50021"/>
                </a:solidFill>
                <a:latin typeface="Microsoft YaHei Light" panose="020B0502040204020203" pitchFamily="34" charset="-122"/>
                <a:ea typeface="Microsoft YaHei Light" panose="020B0502040204020203" pitchFamily="34" charset="-122"/>
              </a:rPr>
              <a:t>吴亦奇  </a:t>
            </a:r>
            <a:r>
              <a:rPr lang="en-US" altLang="zh-CN" sz="2400">
                <a:solidFill>
                  <a:srgbClr val="A50021"/>
                </a:solidFill>
                <a:latin typeface="Segoe UI Semibold" panose="020B0702040204020203" pitchFamily="34" charset="0"/>
                <a:ea typeface="宋体" panose="02010600030101010101" pitchFamily="2" charset="-122"/>
              </a:rPr>
              <a:t>wuyq</a:t>
            </a:r>
            <a:r>
              <a:rPr lang="zh-CN" altLang="en-US" sz="2400">
                <a:solidFill>
                  <a:srgbClr val="A50021"/>
                </a:solidFill>
                <a:latin typeface="Segoe UI Semibold" panose="020B0702040204020203" pitchFamily="34" charset="0"/>
                <a:ea typeface="宋体" panose="02010600030101010101" pitchFamily="2" charset="-122"/>
              </a:rPr>
              <a:t>@cug.edu.cn</a:t>
            </a:r>
            <a:endParaRPr lang="zh-CN" altLang="en-US" sz="320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101" name="内容占位符 3076">
            <a:extLst>
              <a:ext uri="{FF2B5EF4-FFF2-40B4-BE49-F238E27FC236}">
                <a16:creationId xmlns:a16="http://schemas.microsoft.com/office/drawing/2014/main" id="{31156996-2154-42A9-9D69-9E3C40E3A5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3225" y="1052513"/>
            <a:ext cx="9137650" cy="168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6821093"/>
      </p:ext>
    </p:extLst>
  </p:cSld>
  <p:clrMapOvr>
    <a:masterClrMapping/>
  </p:clrMapOvr>
  <p:transition spd="slow" advTm="0">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标题 5121">
            <a:extLst>
              <a:ext uri="{FF2B5EF4-FFF2-40B4-BE49-F238E27FC236}">
                <a16:creationId xmlns:a16="http://schemas.microsoft.com/office/drawing/2014/main" id="{BD3B8202-9B15-491A-A771-6A87576C0324}"/>
              </a:ext>
            </a:extLst>
          </p:cNvPr>
          <p:cNvSpPr txBox="1">
            <a:spLocks/>
          </p:cNvSpPr>
          <p:nvPr/>
        </p:nvSpPr>
        <p:spPr>
          <a:xfrm>
            <a:off x="1562100" y="2954338"/>
            <a:ext cx="8691563" cy="1136650"/>
          </a:xfrm>
          <a:prstGeom prst="rect">
            <a:avLst/>
          </a:prstGeom>
          <a:ln>
            <a:miter/>
          </a:ln>
        </p:spPr>
        <p:txBody>
          <a:bodyPr anchor="ct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fontAlgn="auto">
              <a:lnSpc>
                <a:spcPct val="135000"/>
              </a:lnSpc>
              <a:spcAft>
                <a:spcPts val="0"/>
              </a:spcAft>
              <a:defRPr/>
            </a:pPr>
            <a:r>
              <a:rPr lang="zh-CN" altLang="en-US" sz="4800" b="1" dirty="0">
                <a:solidFill>
                  <a:srgbClr val="CC3300"/>
                </a:solidFill>
                <a:effectLst>
                  <a:outerShdw blurRad="38100" dist="38100" dir="2700000" algn="tl">
                    <a:srgbClr val="C0C0C0"/>
                  </a:outerShdw>
                </a:effectLst>
                <a:ea typeface="黑体" panose="02010609060101010101" pitchFamily="49" charset="-122"/>
              </a:rPr>
              <a:t> </a:t>
            </a:r>
            <a:endParaRPr lang="en-US" altLang="zh-CN" sz="4800" b="1" dirty="0">
              <a:effectLst>
                <a:outerShdw blurRad="38100" dist="38100" dir="2700000" algn="tl">
                  <a:srgbClr val="C0C0C0"/>
                </a:outerShdw>
              </a:effectLst>
            </a:endParaRPr>
          </a:p>
          <a:p>
            <a:pPr fontAlgn="auto">
              <a:lnSpc>
                <a:spcPct val="135000"/>
              </a:lnSpc>
              <a:spcAft>
                <a:spcPts val="0"/>
              </a:spcAft>
              <a:defRPr/>
            </a:pPr>
            <a:r>
              <a:rPr lang="zh-CN" altLang="en-US" sz="5400" b="1" dirty="0">
                <a:solidFill>
                  <a:srgbClr val="CC3300"/>
                </a:solidFill>
                <a:effectLst>
                  <a:outerShdw blurRad="38100" dist="38100" dir="2700000" algn="tl">
                    <a:srgbClr val="C0C0C0"/>
                  </a:outerShdw>
                </a:effectLst>
                <a:ea typeface="黑体" panose="02010609060101010101" pitchFamily="49" charset="-122"/>
              </a:rPr>
              <a:t>谓词逻辑  </a:t>
            </a:r>
            <a:r>
              <a:rPr lang="en-US" altLang="zh-CN" sz="4800" b="1" dirty="0">
                <a:effectLst>
                  <a:outerShdw blurRad="38100" dist="38100" dir="2700000" algn="tl">
                    <a:srgbClr val="C0C0C0"/>
                  </a:outerShdw>
                </a:effectLst>
              </a:rPr>
              <a:t>Predicate Logic</a:t>
            </a:r>
            <a:br>
              <a:rPr lang="en-US" altLang="zh-CN" sz="4800" b="1" dirty="0">
                <a:effectLst>
                  <a:outerShdw blurRad="38100" dist="38100" dir="2700000" algn="tl">
                    <a:srgbClr val="C0C0C0"/>
                  </a:outerShdw>
                </a:effectLst>
              </a:rPr>
            </a:br>
            <a:endParaRPr lang="en-US" altLang="zh-CN" sz="4800" b="1" dirty="0">
              <a:effectLst>
                <a:outerShdw blurRad="38100" dist="38100" dir="2700000" algn="tl">
                  <a:srgbClr val="C0C0C0"/>
                </a:outerShdw>
              </a:effectLst>
            </a:endParaRPr>
          </a:p>
        </p:txBody>
      </p:sp>
    </p:spTree>
    <p:extLst>
      <p:ext uri="{BB962C8B-B14F-4D97-AF65-F5344CB8AC3E}">
        <p14:creationId xmlns:p14="http://schemas.microsoft.com/office/powerpoint/2010/main" val="1229187025"/>
      </p:ext>
    </p:extLst>
  </p:cSld>
  <p:clrMapOvr>
    <a:masterClrMapping/>
  </p:clrMapOvr>
  <p:transition spd="slow" advTm="0">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9F392F5F-D6B6-4999-88E0-3B42D56F1396}"/>
              </a:ext>
            </a:extLst>
          </p:cNvPr>
          <p:cNvSpPr/>
          <p:nvPr/>
        </p:nvSpPr>
        <p:spPr>
          <a:xfrm>
            <a:off x="1965511" y="2359795"/>
            <a:ext cx="8260978" cy="2971904"/>
          </a:xfrm>
          <a:prstGeom prst="rect">
            <a:avLst/>
          </a:prstGeom>
        </p:spPr>
        <p:txBody>
          <a:bodyPr wrap="square">
            <a:spAutoFit/>
          </a:bodyPr>
          <a:lstStyle/>
          <a:p>
            <a:pPr algn="just">
              <a:lnSpc>
                <a:spcPct val="150000"/>
              </a:lnSpc>
              <a:buFont typeface="Wingdings" panose="05000000000000000000" pitchFamily="2" charset="2"/>
              <a:buNone/>
              <a:defRPr/>
            </a:pPr>
            <a:r>
              <a:rPr lang="zh-CN" altLang="en-US" sz="3200" dirty="0">
                <a:latin typeface="Times New Roman" panose="02020603050405020304" pitchFamily="18" charset="0"/>
                <a:cs typeface="Times New Roman" panose="02020603050405020304" pitchFamily="18" charset="0"/>
              </a:rPr>
              <a:t>设</a:t>
            </a:r>
            <a:r>
              <a:rPr lang="en-US" altLang="zh-CN" sz="3200" dirty="0">
                <a:latin typeface="Times New Roman" panose="02020603050405020304" pitchFamily="18" charset="0"/>
                <a:cs typeface="Times New Roman" panose="02020603050405020304" pitchFamily="18" charset="0"/>
              </a:rPr>
              <a:t>A</a:t>
            </a:r>
            <a:r>
              <a:rPr lang="zh-CN" altLang="en-US" sz="3200" dirty="0">
                <a:latin typeface="Times New Roman" panose="02020603050405020304" pitchFamily="18" charset="0"/>
                <a:cs typeface="Times New Roman" panose="02020603050405020304" pitchFamily="18" charset="0"/>
              </a:rPr>
              <a:t>为一个一阶逻辑公式，若</a:t>
            </a:r>
            <a:r>
              <a:rPr lang="en-US" altLang="zh-CN" sz="3200" dirty="0">
                <a:latin typeface="Times New Roman" panose="02020603050405020304" pitchFamily="18" charset="0"/>
                <a:cs typeface="Times New Roman" panose="02020603050405020304" pitchFamily="18" charset="0"/>
              </a:rPr>
              <a:t>A</a:t>
            </a:r>
            <a:r>
              <a:rPr lang="zh-CN" altLang="en-US" sz="3200" dirty="0">
                <a:latin typeface="Times New Roman" panose="02020603050405020304" pitchFamily="18" charset="0"/>
                <a:cs typeface="Times New Roman" panose="02020603050405020304" pitchFamily="18" charset="0"/>
              </a:rPr>
              <a:t>具有如下形式</a:t>
            </a:r>
          </a:p>
          <a:p>
            <a:pPr algn="just">
              <a:lnSpc>
                <a:spcPct val="150000"/>
              </a:lnSpc>
              <a:buFont typeface="Wingdings" panose="05000000000000000000" pitchFamily="2" charset="2"/>
              <a:buNone/>
              <a:defRPr/>
            </a:pPr>
            <a:r>
              <a:rPr lang="zh-CN" altLang="en-US"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rPr>
              <a:t>Q</a:t>
            </a:r>
            <a:r>
              <a:rPr lang="en-US" altLang="zh-CN" sz="3200" baseline="-25000" dirty="0">
                <a:latin typeface="Times New Roman" panose="02020603050405020304" pitchFamily="18" charset="0"/>
                <a:cs typeface="Times New Roman" panose="02020603050405020304" pitchFamily="18" charset="0"/>
              </a:rPr>
              <a:t>1</a:t>
            </a:r>
            <a:r>
              <a:rPr lang="en-US" altLang="zh-CN" sz="3200" dirty="0">
                <a:latin typeface="Times New Roman" panose="02020603050405020304" pitchFamily="18" charset="0"/>
                <a:cs typeface="Times New Roman" panose="02020603050405020304" pitchFamily="18" charset="0"/>
              </a:rPr>
              <a:t>x</a:t>
            </a:r>
            <a:r>
              <a:rPr lang="en-US" altLang="zh-CN" sz="3200" baseline="-25000" dirty="0">
                <a:latin typeface="Times New Roman" panose="02020603050405020304" pitchFamily="18" charset="0"/>
                <a:cs typeface="Times New Roman" panose="02020603050405020304" pitchFamily="18" charset="0"/>
              </a:rPr>
              <a:t>1</a:t>
            </a:r>
            <a:r>
              <a:rPr lang="en-US" altLang="zh-CN" sz="3200" dirty="0">
                <a:latin typeface="Times New Roman" panose="02020603050405020304" pitchFamily="18" charset="0"/>
                <a:cs typeface="Times New Roman" panose="02020603050405020304" pitchFamily="18" charset="0"/>
              </a:rPr>
              <a:t>Q</a:t>
            </a:r>
            <a:r>
              <a:rPr lang="en-US" altLang="zh-CN" sz="3200" baseline="-25000" dirty="0">
                <a:latin typeface="Times New Roman" panose="02020603050405020304" pitchFamily="18" charset="0"/>
                <a:cs typeface="Times New Roman" panose="02020603050405020304" pitchFamily="18" charset="0"/>
              </a:rPr>
              <a:t>2</a:t>
            </a:r>
            <a:r>
              <a:rPr lang="en-US" altLang="zh-CN" sz="3200" dirty="0">
                <a:latin typeface="Times New Roman" panose="02020603050405020304" pitchFamily="18" charset="0"/>
                <a:cs typeface="Times New Roman" panose="02020603050405020304" pitchFamily="18" charset="0"/>
              </a:rPr>
              <a:t>x</a:t>
            </a:r>
            <a:r>
              <a:rPr lang="en-US" altLang="zh-CN" sz="3200" baseline="-25000" dirty="0">
                <a:latin typeface="Times New Roman" panose="02020603050405020304" pitchFamily="18" charset="0"/>
                <a:cs typeface="Times New Roman" panose="02020603050405020304" pitchFamily="18" charset="0"/>
              </a:rPr>
              <a:t>2 </a:t>
            </a:r>
            <a:r>
              <a:rPr lang="en-US" altLang="zh-CN" sz="3200" dirty="0">
                <a:latin typeface="Times New Roman" panose="02020603050405020304" pitchFamily="18" charset="0"/>
                <a:cs typeface="Times New Roman" panose="02020603050405020304" pitchFamily="18" charset="0"/>
              </a:rPr>
              <a:t>… </a:t>
            </a:r>
            <a:r>
              <a:rPr lang="en-US" altLang="zh-CN" sz="3200" dirty="0" err="1">
                <a:latin typeface="Times New Roman" panose="02020603050405020304" pitchFamily="18" charset="0"/>
                <a:cs typeface="Times New Roman" panose="02020603050405020304" pitchFamily="18" charset="0"/>
              </a:rPr>
              <a:t>Q</a:t>
            </a:r>
            <a:r>
              <a:rPr lang="en-US" altLang="zh-CN" sz="3200" baseline="-25000" dirty="0" err="1">
                <a:latin typeface="Times New Roman" panose="02020603050405020304" pitchFamily="18" charset="0"/>
                <a:cs typeface="Times New Roman" panose="02020603050405020304" pitchFamily="18" charset="0"/>
              </a:rPr>
              <a:t>k</a:t>
            </a:r>
            <a:r>
              <a:rPr lang="en-US" altLang="zh-CN" sz="3200" dirty="0" err="1">
                <a:latin typeface="Times New Roman" panose="02020603050405020304" pitchFamily="18" charset="0"/>
                <a:cs typeface="Times New Roman" panose="02020603050405020304" pitchFamily="18" charset="0"/>
              </a:rPr>
              <a:t>x</a:t>
            </a:r>
            <a:r>
              <a:rPr lang="en-US" altLang="zh-CN" sz="3200" baseline="-25000" dirty="0" err="1">
                <a:latin typeface="Times New Roman" panose="02020603050405020304" pitchFamily="18" charset="0"/>
                <a:cs typeface="Times New Roman" panose="02020603050405020304" pitchFamily="18" charset="0"/>
              </a:rPr>
              <a:t>k</a:t>
            </a:r>
            <a:r>
              <a:rPr lang="en-US" altLang="zh-CN" sz="3200" dirty="0" err="1">
                <a:latin typeface="Times New Roman" panose="02020603050405020304" pitchFamily="18" charset="0"/>
                <a:cs typeface="Times New Roman" panose="02020603050405020304" pitchFamily="18" charset="0"/>
              </a:rPr>
              <a:t>B</a:t>
            </a:r>
            <a:endParaRPr lang="en-US" altLang="zh-CN" sz="32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None/>
              <a:defRPr/>
            </a:pPr>
            <a:r>
              <a:rPr lang="zh-CN" altLang="en-US" sz="3200" dirty="0">
                <a:latin typeface="Times New Roman" panose="02020603050405020304" pitchFamily="18" charset="0"/>
                <a:cs typeface="Times New Roman" panose="02020603050405020304" pitchFamily="18" charset="0"/>
              </a:rPr>
              <a:t>则称</a:t>
            </a:r>
            <a:r>
              <a:rPr lang="en-US" altLang="zh-CN" sz="3200" dirty="0">
                <a:latin typeface="Times New Roman" panose="02020603050405020304" pitchFamily="18" charset="0"/>
                <a:cs typeface="Times New Roman" panose="02020603050405020304" pitchFamily="18" charset="0"/>
              </a:rPr>
              <a:t>A</a:t>
            </a:r>
            <a:r>
              <a:rPr lang="zh-CN" altLang="en-US" sz="3200" dirty="0">
                <a:latin typeface="Times New Roman" panose="02020603050405020304" pitchFamily="18" charset="0"/>
                <a:cs typeface="Times New Roman" panose="02020603050405020304" pitchFamily="18" charset="0"/>
              </a:rPr>
              <a:t>为</a:t>
            </a:r>
            <a:r>
              <a:rPr lang="zh-CN" altLang="en-US" sz="3200" dirty="0">
                <a:solidFill>
                  <a:schemeClr val="hlink"/>
                </a:solidFill>
                <a:latin typeface="Times New Roman" panose="02020603050405020304" pitchFamily="18" charset="0"/>
                <a:cs typeface="Times New Roman" panose="02020603050405020304" pitchFamily="18" charset="0"/>
              </a:rPr>
              <a:t>前束范式</a:t>
            </a:r>
            <a:r>
              <a:rPr lang="zh-CN" altLang="en-US" sz="3200" dirty="0">
                <a:latin typeface="Times New Roman" panose="02020603050405020304" pitchFamily="18" charset="0"/>
                <a:cs typeface="Times New Roman" panose="02020603050405020304" pitchFamily="18" charset="0"/>
              </a:rPr>
              <a:t>，其中</a:t>
            </a:r>
            <a:r>
              <a:rPr lang="en-US" altLang="zh-CN" sz="3200" dirty="0">
                <a:latin typeface="Times New Roman" panose="02020603050405020304" pitchFamily="18" charset="0"/>
                <a:cs typeface="Times New Roman" panose="02020603050405020304" pitchFamily="18" charset="0"/>
              </a:rPr>
              <a:t>Q</a:t>
            </a:r>
            <a:r>
              <a:rPr lang="en-US" altLang="zh-CN" sz="3200" baseline="-25000" dirty="0">
                <a:latin typeface="Times New Roman" panose="02020603050405020304" pitchFamily="18" charset="0"/>
                <a:cs typeface="Times New Roman" panose="02020603050405020304" pitchFamily="18" charset="0"/>
              </a:rPr>
              <a:t>i</a:t>
            </a:r>
            <a:r>
              <a:rPr lang="en-US" altLang="zh-CN" sz="3200" dirty="0">
                <a:latin typeface="Times New Roman" panose="02020603050405020304" pitchFamily="18" charset="0"/>
                <a:cs typeface="Times New Roman" panose="02020603050405020304" pitchFamily="18" charset="0"/>
              </a:rPr>
              <a:t>(1≤i≤k)</a:t>
            </a:r>
            <a:r>
              <a:rPr lang="zh-CN" altLang="en-US" sz="3200" dirty="0">
                <a:latin typeface="Times New Roman" panose="02020603050405020304" pitchFamily="18" charset="0"/>
                <a:cs typeface="Times New Roman" panose="02020603050405020304" pitchFamily="18" charset="0"/>
              </a:rPr>
              <a:t>为</a:t>
            </a:r>
            <a:r>
              <a:rPr lang="zh-CN" altLang="en-US" sz="3200" dirty="0">
                <a:latin typeface="Times New Roman" panose="02020603050405020304" pitchFamily="18" charset="0"/>
                <a:cs typeface="Times New Roman" panose="02020603050405020304" pitchFamily="18" charset="0"/>
                <a:sym typeface="Symbol" pitchFamily="18" charset="2"/>
              </a:rPr>
              <a:t></a:t>
            </a:r>
            <a:r>
              <a:rPr lang="zh-CN" altLang="en-US" sz="3200" dirty="0">
                <a:latin typeface="Times New Roman" panose="02020603050405020304" pitchFamily="18" charset="0"/>
                <a:cs typeface="Times New Roman" panose="02020603050405020304" pitchFamily="18" charset="0"/>
              </a:rPr>
              <a:t>或</a:t>
            </a:r>
            <a:r>
              <a:rPr lang="zh-CN" altLang="en-US" sz="3200" dirty="0">
                <a:latin typeface="Times New Roman" panose="02020603050405020304" pitchFamily="18" charset="0"/>
                <a:cs typeface="Times New Roman" panose="02020603050405020304" pitchFamily="18" charset="0"/>
                <a:sym typeface="Symbol" pitchFamily="18" charset="2"/>
              </a:rPr>
              <a:t>，</a:t>
            </a:r>
            <a:r>
              <a:rPr lang="en-US" altLang="zh-CN" sz="3200" dirty="0">
                <a:latin typeface="Times New Roman" panose="02020603050405020304" pitchFamily="18" charset="0"/>
                <a:cs typeface="Times New Roman" panose="02020603050405020304" pitchFamily="18" charset="0"/>
              </a:rPr>
              <a:t>B</a:t>
            </a:r>
            <a:r>
              <a:rPr lang="zh-CN" altLang="en-US" sz="3200" dirty="0">
                <a:latin typeface="Times New Roman" panose="02020603050405020304" pitchFamily="18" charset="0"/>
                <a:cs typeface="Times New Roman" panose="02020603050405020304" pitchFamily="18" charset="0"/>
              </a:rPr>
              <a:t>为不含量词的公式</a:t>
            </a:r>
            <a:r>
              <a:rPr lang="en-US" altLang="zh-CN" sz="3200" dirty="0">
                <a:latin typeface="Times New Roman" panose="02020603050405020304" pitchFamily="18" charset="0"/>
                <a:cs typeface="Times New Roman" panose="02020603050405020304" pitchFamily="18" charset="0"/>
              </a:rPr>
              <a:t>(</a:t>
            </a:r>
            <a:r>
              <a:rPr lang="zh-CN" altLang="en-US" sz="3200" dirty="0">
                <a:latin typeface="Times New Roman" panose="02020603050405020304" pitchFamily="18" charset="0"/>
                <a:cs typeface="Times New Roman" panose="02020603050405020304" pitchFamily="18" charset="0"/>
              </a:rPr>
              <a:t>母式、基式</a:t>
            </a:r>
            <a:r>
              <a:rPr lang="en-US" altLang="zh-CN" sz="3200" dirty="0">
                <a:latin typeface="Times New Roman" panose="02020603050405020304" pitchFamily="18" charset="0"/>
                <a:cs typeface="Times New Roman" panose="02020603050405020304" pitchFamily="18" charset="0"/>
              </a:rPr>
              <a:t>)</a:t>
            </a:r>
            <a:r>
              <a:rPr lang="zh-CN" altLang="en-US" sz="3200" dirty="0">
                <a:latin typeface="Times New Roman" panose="02020603050405020304" pitchFamily="18" charset="0"/>
                <a:cs typeface="Times New Roman" panose="02020603050405020304" pitchFamily="18" charset="0"/>
              </a:rPr>
              <a:t>。</a:t>
            </a:r>
            <a:endParaRPr lang="en-US" altLang="zh-CN" sz="3200" dirty="0">
              <a:latin typeface="Times New Roman" panose="02020603050405020304" pitchFamily="18" charset="0"/>
              <a:cs typeface="Times New Roman" panose="02020603050405020304" pitchFamily="18" charset="0"/>
            </a:endParaRPr>
          </a:p>
        </p:txBody>
      </p:sp>
      <p:sp>
        <p:nvSpPr>
          <p:cNvPr id="3" name="矩形 2">
            <a:extLst>
              <a:ext uri="{FF2B5EF4-FFF2-40B4-BE49-F238E27FC236}">
                <a16:creationId xmlns:a16="http://schemas.microsoft.com/office/drawing/2014/main" id="{99CC1A08-7824-4470-8720-C8B3A9EC4893}"/>
              </a:ext>
            </a:extLst>
          </p:cNvPr>
          <p:cNvSpPr/>
          <p:nvPr/>
        </p:nvSpPr>
        <p:spPr>
          <a:xfrm>
            <a:off x="1965512" y="5581712"/>
            <a:ext cx="8260977" cy="867930"/>
          </a:xfrm>
          <a:prstGeom prst="rect">
            <a:avLst/>
          </a:prstGeom>
        </p:spPr>
        <p:txBody>
          <a:bodyPr wrap="square">
            <a:spAutoFit/>
          </a:bodyPr>
          <a:lstStyle/>
          <a:p>
            <a:pPr>
              <a:lnSpc>
                <a:spcPct val="90000"/>
              </a:lnSpc>
              <a:defRPr/>
            </a:pPr>
            <a:r>
              <a:rPr lang="en-US" altLang="zh-CN" sz="2800" dirty="0"/>
              <a:t>A</a:t>
            </a:r>
            <a:r>
              <a:rPr lang="zh-CN" altLang="en-US" sz="2800" dirty="0"/>
              <a:t>中的一切量词都位于该公式的</a:t>
            </a:r>
            <a:r>
              <a:rPr lang="zh-CN" altLang="en-US" sz="2800" dirty="0">
                <a:solidFill>
                  <a:schemeClr val="hlink"/>
                </a:solidFill>
              </a:rPr>
              <a:t>最前端</a:t>
            </a:r>
            <a:r>
              <a:rPr lang="en-US" altLang="zh-CN" sz="2800" dirty="0"/>
              <a:t>(</a:t>
            </a:r>
            <a:r>
              <a:rPr lang="zh-CN" altLang="en-US" sz="2800" dirty="0"/>
              <a:t>不含否定词</a:t>
            </a:r>
            <a:r>
              <a:rPr lang="en-US" altLang="zh-CN" sz="2800" dirty="0"/>
              <a:t>)</a:t>
            </a:r>
            <a:r>
              <a:rPr lang="zh-CN" altLang="en-US" sz="2800" dirty="0"/>
              <a:t>且这些量词的</a:t>
            </a:r>
            <a:r>
              <a:rPr lang="zh-CN" altLang="en-US" sz="2800" dirty="0">
                <a:solidFill>
                  <a:schemeClr val="hlink"/>
                </a:solidFill>
              </a:rPr>
              <a:t>辖域都延伸到公式的末端</a:t>
            </a:r>
            <a:r>
              <a:rPr lang="zh-CN" altLang="en-US" sz="2800" dirty="0"/>
              <a:t>。</a:t>
            </a:r>
          </a:p>
        </p:txBody>
      </p:sp>
      <p:sp>
        <p:nvSpPr>
          <p:cNvPr id="6" name="文本框 3">
            <a:extLst>
              <a:ext uri="{FF2B5EF4-FFF2-40B4-BE49-F238E27FC236}">
                <a16:creationId xmlns:a16="http://schemas.microsoft.com/office/drawing/2014/main" id="{F85D5332-92CE-4274-92BC-C80239AE892D}"/>
              </a:ext>
            </a:extLst>
          </p:cNvPr>
          <p:cNvSpPr txBox="1"/>
          <p:nvPr/>
        </p:nvSpPr>
        <p:spPr>
          <a:xfrm>
            <a:off x="2096947" y="1163350"/>
            <a:ext cx="4555658"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dirty="0">
                <a:solidFill>
                  <a:schemeClr val="accent1">
                    <a:lumMod val="50000"/>
                  </a:schemeClr>
                </a:solidFill>
              </a:rPr>
              <a:t>前束范式</a:t>
            </a:r>
          </a:p>
        </p:txBody>
      </p:sp>
    </p:spTree>
    <p:extLst>
      <p:ext uri="{BB962C8B-B14F-4D97-AF65-F5344CB8AC3E}">
        <p14:creationId xmlns:p14="http://schemas.microsoft.com/office/powerpoint/2010/main" val="1469265983"/>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C9F37D45-C95D-4E95-96BC-908200001192}"/>
              </a:ext>
            </a:extLst>
          </p:cNvPr>
          <p:cNvSpPr/>
          <p:nvPr/>
        </p:nvSpPr>
        <p:spPr>
          <a:xfrm>
            <a:off x="1845142" y="864454"/>
            <a:ext cx="8193741" cy="645113"/>
          </a:xfrm>
          <a:prstGeom prst="rect">
            <a:avLst/>
          </a:prstGeom>
        </p:spPr>
        <p:txBody>
          <a:bodyPr wrap="square">
            <a:spAutoFit/>
          </a:bodyPr>
          <a:lstStyle/>
          <a:p>
            <a:pPr marL="342900" lvl="0" indent="-342900" algn="just" eaLnBrk="0" fontAlgn="base" hangingPunct="0">
              <a:lnSpc>
                <a:spcPct val="120000"/>
              </a:lnSpc>
              <a:spcBef>
                <a:spcPct val="20000"/>
              </a:spcBef>
              <a:spcAft>
                <a:spcPct val="0"/>
              </a:spcAft>
              <a:buClr>
                <a:srgbClr val="000000"/>
              </a:buClr>
              <a:buSzPct val="100000"/>
            </a:pPr>
            <a:r>
              <a:rPr lang="zh-CN" altLang="en-US" sz="3200" dirty="0">
                <a:solidFill>
                  <a:srgbClr val="CC3300"/>
                </a:solidFill>
                <a:latin typeface="+mn-ea"/>
                <a:cs typeface="Times New Roman" panose="02020603050405020304" pitchFamily="18" charset="0"/>
              </a:rPr>
              <a:t>证明</a:t>
            </a:r>
            <a:r>
              <a:rPr lang="en-US" altLang="zh-CN" sz="3200" dirty="0">
                <a:solidFill>
                  <a:srgbClr val="CC3300"/>
                </a:solidFill>
                <a:latin typeface="+mn-ea"/>
                <a:cs typeface="Times New Roman" panose="02020603050405020304" pitchFamily="18" charset="0"/>
              </a:rPr>
              <a:t>/</a:t>
            </a:r>
            <a:r>
              <a:rPr lang="zh-CN" altLang="en-US" sz="3200" dirty="0">
                <a:solidFill>
                  <a:srgbClr val="CC3300"/>
                </a:solidFill>
                <a:latin typeface="+mn-ea"/>
                <a:cs typeface="Times New Roman" panose="02020603050405020304" pitchFamily="18" charset="0"/>
              </a:rPr>
              <a:t>如何求解前束范式？</a:t>
            </a:r>
            <a:r>
              <a:rPr lang="zh-CN" altLang="en-US" sz="3200" dirty="0">
                <a:solidFill>
                  <a:srgbClr val="000000"/>
                </a:solidFill>
                <a:latin typeface="+mn-ea"/>
                <a:cs typeface="Times New Roman" panose="02020603050405020304" pitchFamily="18" charset="0"/>
              </a:rPr>
              <a:t>  </a:t>
            </a:r>
          </a:p>
        </p:txBody>
      </p:sp>
      <p:sp>
        <p:nvSpPr>
          <p:cNvPr id="4" name="矩形 3">
            <a:extLst>
              <a:ext uri="{FF2B5EF4-FFF2-40B4-BE49-F238E27FC236}">
                <a16:creationId xmlns:a16="http://schemas.microsoft.com/office/drawing/2014/main" id="{A58BBA26-4A62-4CDA-9914-42260BEBE872}"/>
              </a:ext>
            </a:extLst>
          </p:cNvPr>
          <p:cNvSpPr/>
          <p:nvPr/>
        </p:nvSpPr>
        <p:spPr>
          <a:xfrm>
            <a:off x="1571625" y="6050648"/>
            <a:ext cx="10355916" cy="523220"/>
          </a:xfrm>
          <a:prstGeom prst="rect">
            <a:avLst/>
          </a:prstGeom>
        </p:spPr>
        <p:txBody>
          <a:bodyPr wrap="square">
            <a:spAutoFit/>
          </a:bodyPr>
          <a:lstStyle/>
          <a:p>
            <a:pPr>
              <a:spcBef>
                <a:spcPct val="0"/>
              </a:spcBef>
              <a:buClr>
                <a:schemeClr val="bg2"/>
              </a:buClr>
            </a:pPr>
            <a:r>
              <a:rPr lang="zh-CN" altLang="en-US" sz="2800" dirty="0">
                <a:solidFill>
                  <a:srgbClr val="C00000"/>
                </a:solidFill>
                <a:latin typeface="+mn-ea"/>
              </a:rPr>
              <a:t>制造量词辖域可以扩大的条件，进行量词辖域扩大。</a:t>
            </a:r>
          </a:p>
        </p:txBody>
      </p:sp>
      <p:sp>
        <p:nvSpPr>
          <p:cNvPr id="3" name="矩形 2">
            <a:extLst>
              <a:ext uri="{FF2B5EF4-FFF2-40B4-BE49-F238E27FC236}">
                <a16:creationId xmlns:a16="http://schemas.microsoft.com/office/drawing/2014/main" id="{FEDA41A3-018A-444D-B466-D28EB45CE31C}"/>
              </a:ext>
            </a:extLst>
          </p:cNvPr>
          <p:cNvSpPr/>
          <p:nvPr/>
        </p:nvSpPr>
        <p:spPr>
          <a:xfrm>
            <a:off x="1571625" y="1710744"/>
            <a:ext cx="9167999" cy="4120102"/>
          </a:xfrm>
          <a:prstGeom prst="rect">
            <a:avLst/>
          </a:prstGeom>
        </p:spPr>
        <p:txBody>
          <a:bodyPr wrap="square">
            <a:spAutoFit/>
          </a:bodyPr>
          <a:lstStyle/>
          <a:p>
            <a:pPr>
              <a:lnSpc>
                <a:spcPct val="150000"/>
              </a:lnSpc>
              <a:spcBef>
                <a:spcPct val="50000"/>
              </a:spcBef>
              <a:buFont typeface="Wingdings" panose="05000000000000000000" pitchFamily="2" charset="2"/>
              <a:buNone/>
            </a:pPr>
            <a:r>
              <a:rPr lang="en-US" altLang="zh-CN" sz="2800" dirty="0">
                <a:latin typeface="+mn-ea"/>
              </a:rPr>
              <a:t>1.</a:t>
            </a:r>
            <a:r>
              <a:rPr lang="zh-CN" altLang="en-US" sz="2800" dirty="0">
                <a:latin typeface="+mn-ea"/>
              </a:rPr>
              <a:t>利用量词转化公式，把否定符号深入到指导变元的后面。 </a:t>
            </a:r>
            <a:br>
              <a:rPr lang="zh-CN" altLang="en-US" sz="2800" dirty="0">
                <a:latin typeface="+mn-ea"/>
              </a:rPr>
            </a:br>
            <a:r>
              <a:rPr lang="zh-CN" altLang="en-US" sz="2800" dirty="0">
                <a:latin typeface="+mn-ea"/>
              </a:rPr>
              <a:t>	┐</a:t>
            </a:r>
            <a:r>
              <a:rPr lang="zh-CN" altLang="en-US" sz="2800" dirty="0">
                <a:latin typeface="+mn-ea"/>
                <a:sym typeface="Symbol" panose="05050102010706020507" pitchFamily="18" charset="2"/>
              </a:rPr>
              <a:t></a:t>
            </a:r>
            <a:r>
              <a:rPr lang="en-US" altLang="zh-CN" sz="2800" dirty="0" err="1">
                <a:latin typeface="+mn-ea"/>
              </a:rPr>
              <a:t>xA</a:t>
            </a:r>
            <a:r>
              <a:rPr lang="en-US" altLang="zh-CN" sz="2800" dirty="0">
                <a:latin typeface="+mn-ea"/>
              </a:rPr>
              <a:t>(x) </a:t>
            </a:r>
            <a:r>
              <a:rPr lang="en-US" altLang="zh-CN" sz="2800" dirty="0">
                <a:latin typeface="+mn-ea"/>
                <a:sym typeface="Symbol" panose="05050102010706020507" pitchFamily="18" charset="2"/>
              </a:rPr>
              <a:t> </a:t>
            </a:r>
            <a:r>
              <a:rPr lang="en-US" altLang="zh-CN" sz="2800" dirty="0" err="1">
                <a:latin typeface="+mn-ea"/>
              </a:rPr>
              <a:t>x┐A</a:t>
            </a:r>
            <a:r>
              <a:rPr lang="en-US" altLang="zh-CN" sz="2800" dirty="0">
                <a:latin typeface="+mn-ea"/>
              </a:rPr>
              <a:t>(x)</a:t>
            </a:r>
            <a:br>
              <a:rPr lang="en-US" altLang="zh-CN" sz="2800" dirty="0">
                <a:latin typeface="+mn-ea"/>
              </a:rPr>
            </a:br>
            <a:r>
              <a:rPr lang="en-US" altLang="zh-CN" sz="2800" dirty="0">
                <a:latin typeface="+mn-ea"/>
              </a:rPr>
              <a:t>	┐</a:t>
            </a:r>
            <a:r>
              <a:rPr lang="en-US" altLang="zh-CN" sz="2800" dirty="0">
                <a:latin typeface="+mn-ea"/>
                <a:sym typeface="Symbol" panose="05050102010706020507" pitchFamily="18" charset="2"/>
              </a:rPr>
              <a:t></a:t>
            </a:r>
            <a:r>
              <a:rPr lang="en-US" altLang="zh-CN" sz="2800" dirty="0" err="1">
                <a:latin typeface="+mn-ea"/>
              </a:rPr>
              <a:t>xA</a:t>
            </a:r>
            <a:r>
              <a:rPr lang="en-US" altLang="zh-CN" sz="2800" dirty="0">
                <a:latin typeface="+mn-ea"/>
              </a:rPr>
              <a:t>(x) </a:t>
            </a:r>
            <a:r>
              <a:rPr lang="en-US" altLang="zh-CN" sz="2800" dirty="0">
                <a:latin typeface="+mn-ea"/>
                <a:sym typeface="Symbol" panose="05050102010706020507" pitchFamily="18" charset="2"/>
              </a:rPr>
              <a:t> </a:t>
            </a:r>
            <a:r>
              <a:rPr lang="en-US" altLang="zh-CN" sz="2800" dirty="0" err="1">
                <a:latin typeface="+mn-ea"/>
              </a:rPr>
              <a:t>x┐A</a:t>
            </a:r>
            <a:r>
              <a:rPr lang="en-US" altLang="zh-CN" sz="2800" dirty="0">
                <a:latin typeface="+mn-ea"/>
              </a:rPr>
              <a:t>(x)</a:t>
            </a:r>
          </a:p>
          <a:p>
            <a:pPr>
              <a:lnSpc>
                <a:spcPct val="150000"/>
              </a:lnSpc>
              <a:spcBef>
                <a:spcPct val="50000"/>
              </a:spcBef>
              <a:buFont typeface="Wingdings" panose="05000000000000000000" pitchFamily="2" charset="2"/>
              <a:buNone/>
            </a:pPr>
            <a:r>
              <a:rPr lang="en-US" altLang="zh-CN" sz="2800" dirty="0">
                <a:latin typeface="+mn-ea"/>
              </a:rPr>
              <a:t>2.</a:t>
            </a:r>
            <a:r>
              <a:rPr lang="zh-CN" altLang="en-US" sz="2800" dirty="0">
                <a:latin typeface="+mn-ea"/>
              </a:rPr>
              <a:t>如果必要的话，将约束变量改名。</a:t>
            </a:r>
          </a:p>
          <a:p>
            <a:pPr>
              <a:lnSpc>
                <a:spcPct val="150000"/>
              </a:lnSpc>
              <a:buFont typeface="Wingdings" panose="05000000000000000000" pitchFamily="2" charset="2"/>
              <a:buNone/>
            </a:pPr>
            <a:r>
              <a:rPr lang="en-US" altLang="zh-CN" sz="2800" dirty="0">
                <a:latin typeface="+mn-ea"/>
              </a:rPr>
              <a:t>3.</a:t>
            </a:r>
            <a:r>
              <a:rPr lang="zh-CN" altLang="en-US" sz="2800" dirty="0">
                <a:latin typeface="+mn-ea"/>
              </a:rPr>
              <a:t>利用量词辖域收缩、扩张等值式把量词移到全式的最前面，这样便得到与公式等价的前束范式。 </a:t>
            </a:r>
          </a:p>
        </p:txBody>
      </p:sp>
    </p:spTree>
    <p:extLst>
      <p:ext uri="{BB962C8B-B14F-4D97-AF65-F5344CB8AC3E}">
        <p14:creationId xmlns:p14="http://schemas.microsoft.com/office/powerpoint/2010/main" val="3146307149"/>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文本框 3">
            <a:extLst>
              <a:ext uri="{FF2B5EF4-FFF2-40B4-BE49-F238E27FC236}">
                <a16:creationId xmlns:a16="http://schemas.microsoft.com/office/drawing/2014/main" id="{F85D5332-92CE-4274-92BC-C80239AE892D}"/>
              </a:ext>
            </a:extLst>
          </p:cNvPr>
          <p:cNvSpPr txBox="1"/>
          <p:nvPr/>
        </p:nvSpPr>
        <p:spPr>
          <a:xfrm>
            <a:off x="1751013" y="1068363"/>
            <a:ext cx="4555658" cy="584775"/>
          </a:xfrm>
          <a:prstGeom prst="rect">
            <a:avLst/>
          </a:prstGeom>
          <a:noFill/>
        </p:spPr>
        <p:txBody>
          <a:bodyPr wrap="square" rtlCol="0">
            <a:spAutoFit/>
          </a:bodyPr>
          <a:lstStyle/>
          <a:p>
            <a:r>
              <a:rPr lang="zh-CN" altLang="en-US" sz="3200" dirty="0">
                <a:solidFill>
                  <a:schemeClr val="accent1">
                    <a:lumMod val="50000"/>
                  </a:schemeClr>
                </a:solidFill>
              </a:rPr>
              <a:t>前束析取</a:t>
            </a:r>
            <a:r>
              <a:rPr lang="en-US" altLang="zh-CN" sz="3200" dirty="0">
                <a:solidFill>
                  <a:schemeClr val="accent1">
                    <a:lumMod val="50000"/>
                  </a:schemeClr>
                </a:solidFill>
              </a:rPr>
              <a:t>/</a:t>
            </a:r>
            <a:r>
              <a:rPr lang="zh-CN" altLang="en-US" sz="3200" dirty="0">
                <a:solidFill>
                  <a:schemeClr val="accent1">
                    <a:lumMod val="50000"/>
                  </a:schemeClr>
                </a:solidFill>
              </a:rPr>
              <a:t>合取范式</a:t>
            </a:r>
          </a:p>
        </p:txBody>
      </p:sp>
      <p:sp>
        <p:nvSpPr>
          <p:cNvPr id="5" name="矩形 4">
            <a:extLst>
              <a:ext uri="{FF2B5EF4-FFF2-40B4-BE49-F238E27FC236}">
                <a16:creationId xmlns:a16="http://schemas.microsoft.com/office/drawing/2014/main" id="{86C84B53-8E4D-4215-98A2-88216D56EC6A}"/>
              </a:ext>
            </a:extLst>
          </p:cNvPr>
          <p:cNvSpPr/>
          <p:nvPr/>
        </p:nvSpPr>
        <p:spPr>
          <a:xfrm>
            <a:off x="1571625" y="1785913"/>
            <a:ext cx="8260978" cy="1958421"/>
          </a:xfrm>
          <a:prstGeom prst="rect">
            <a:avLst/>
          </a:prstGeom>
        </p:spPr>
        <p:txBody>
          <a:bodyPr wrap="square">
            <a:spAutoFit/>
          </a:bodyPr>
          <a:lstStyle/>
          <a:p>
            <a:pPr algn="just">
              <a:lnSpc>
                <a:spcPct val="150000"/>
              </a:lnSpc>
              <a:buFont typeface="Wingdings" panose="05000000000000000000" pitchFamily="2" charset="2"/>
              <a:buNone/>
              <a:defRPr/>
            </a:pPr>
            <a:r>
              <a:rPr lang="zh-CN" altLang="en-US" sz="2800" dirty="0">
                <a:latin typeface="Times New Roman" panose="02020603050405020304" pitchFamily="18" charset="0"/>
                <a:cs typeface="Times New Roman" panose="02020603050405020304" pitchFamily="18" charset="0"/>
              </a:rPr>
              <a:t>设</a:t>
            </a:r>
            <a:r>
              <a:rPr lang="en-US" altLang="zh-CN" sz="2800" dirty="0">
                <a:latin typeface="Times New Roman" panose="02020603050405020304" pitchFamily="18" charset="0"/>
                <a:cs typeface="Times New Roman" panose="02020603050405020304" pitchFamily="18" charset="0"/>
              </a:rPr>
              <a:t>A</a:t>
            </a:r>
            <a:r>
              <a:rPr lang="zh-CN" altLang="en-US" sz="2800" dirty="0">
                <a:latin typeface="Times New Roman" panose="02020603050405020304" pitchFamily="18" charset="0"/>
                <a:cs typeface="Times New Roman" panose="02020603050405020304" pitchFamily="18" charset="0"/>
              </a:rPr>
              <a:t>为一个一阶逻辑公式，若</a:t>
            </a:r>
            <a:r>
              <a:rPr lang="en-US" altLang="zh-CN" sz="2800" dirty="0">
                <a:latin typeface="Times New Roman" panose="02020603050405020304" pitchFamily="18" charset="0"/>
                <a:cs typeface="Times New Roman" panose="02020603050405020304" pitchFamily="18" charset="0"/>
              </a:rPr>
              <a:t>A</a:t>
            </a:r>
            <a:r>
              <a:rPr lang="zh-CN" altLang="en-US" sz="2800" dirty="0">
                <a:latin typeface="Times New Roman" panose="02020603050405020304" pitchFamily="18" charset="0"/>
                <a:cs typeface="Times New Roman" panose="02020603050405020304" pitchFamily="18" charset="0"/>
              </a:rPr>
              <a:t>具有如下形式</a:t>
            </a:r>
          </a:p>
          <a:p>
            <a:pPr algn="just">
              <a:lnSpc>
                <a:spcPct val="150000"/>
              </a:lnSpc>
              <a:buFont typeface="Wingdings" panose="05000000000000000000" pitchFamily="2" charset="2"/>
              <a:buNone/>
              <a:defRPr/>
            </a:pPr>
            <a:r>
              <a:rPr lang="en-US" altLang="zh-CN" sz="2800" dirty="0">
                <a:latin typeface="Times New Roman" panose="02020603050405020304" pitchFamily="18" charset="0"/>
                <a:cs typeface="Times New Roman" panose="02020603050405020304" pitchFamily="18" charset="0"/>
              </a:rPr>
              <a:t>Q</a:t>
            </a:r>
            <a:r>
              <a:rPr lang="en-US" altLang="zh-CN" sz="2800" baseline="-25000" dirty="0">
                <a:latin typeface="Times New Roman" panose="02020603050405020304" pitchFamily="18" charset="0"/>
                <a:cs typeface="Times New Roman" panose="02020603050405020304" pitchFamily="18" charset="0"/>
              </a:rPr>
              <a:t>1</a:t>
            </a:r>
            <a:r>
              <a:rPr lang="en-US" altLang="zh-CN" sz="2800" dirty="0">
                <a:latin typeface="Times New Roman" panose="02020603050405020304" pitchFamily="18" charset="0"/>
                <a:cs typeface="Times New Roman" panose="02020603050405020304" pitchFamily="18" charset="0"/>
              </a:rPr>
              <a:t>x</a:t>
            </a:r>
            <a:r>
              <a:rPr lang="en-US" altLang="zh-CN" sz="2800" baseline="-25000" dirty="0">
                <a:latin typeface="Times New Roman" panose="02020603050405020304" pitchFamily="18" charset="0"/>
                <a:cs typeface="Times New Roman" panose="02020603050405020304" pitchFamily="18" charset="0"/>
              </a:rPr>
              <a:t>1</a:t>
            </a:r>
            <a:r>
              <a:rPr lang="en-US" altLang="zh-CN" sz="2800" dirty="0">
                <a:latin typeface="Times New Roman" panose="02020603050405020304" pitchFamily="18" charset="0"/>
                <a:cs typeface="Times New Roman" panose="02020603050405020304" pitchFamily="18" charset="0"/>
              </a:rPr>
              <a:t>Q</a:t>
            </a:r>
            <a:r>
              <a:rPr lang="en-US" altLang="zh-CN" sz="2800" baseline="-25000" dirty="0">
                <a:latin typeface="Times New Roman" panose="02020603050405020304" pitchFamily="18" charset="0"/>
                <a:cs typeface="Times New Roman" panose="02020603050405020304" pitchFamily="18" charset="0"/>
              </a:rPr>
              <a:t>2</a:t>
            </a:r>
            <a:r>
              <a:rPr lang="en-US" altLang="zh-CN" sz="2800" dirty="0">
                <a:latin typeface="Times New Roman" panose="02020603050405020304" pitchFamily="18" charset="0"/>
                <a:cs typeface="Times New Roman" panose="02020603050405020304" pitchFamily="18" charset="0"/>
              </a:rPr>
              <a:t>x</a:t>
            </a:r>
            <a:r>
              <a:rPr lang="en-US" altLang="zh-CN" sz="2800" baseline="-25000" dirty="0">
                <a:latin typeface="Times New Roman" panose="02020603050405020304" pitchFamily="18" charset="0"/>
                <a:cs typeface="Times New Roman" panose="02020603050405020304" pitchFamily="18" charset="0"/>
              </a:rPr>
              <a:t>2 </a:t>
            </a:r>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Q</a:t>
            </a:r>
            <a:r>
              <a:rPr lang="en-US" altLang="zh-CN" sz="2800" baseline="-25000" dirty="0" err="1">
                <a:latin typeface="Times New Roman" panose="02020603050405020304" pitchFamily="18" charset="0"/>
                <a:cs typeface="Times New Roman" panose="02020603050405020304" pitchFamily="18" charset="0"/>
              </a:rPr>
              <a:t>k</a:t>
            </a:r>
            <a:r>
              <a:rPr lang="en-US" altLang="zh-CN" sz="2800" dirty="0" err="1">
                <a:latin typeface="Times New Roman" panose="02020603050405020304" pitchFamily="18" charset="0"/>
                <a:cs typeface="Times New Roman" panose="02020603050405020304" pitchFamily="18" charset="0"/>
              </a:rPr>
              <a:t>x</a:t>
            </a:r>
            <a:r>
              <a:rPr lang="en-US" altLang="zh-CN" sz="2800" baseline="-25000" dirty="0" err="1">
                <a:latin typeface="Times New Roman" panose="02020603050405020304" pitchFamily="18" charset="0"/>
                <a:cs typeface="Times New Roman" panose="02020603050405020304" pitchFamily="18" charset="0"/>
              </a:rPr>
              <a:t>k</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α</a:t>
            </a:r>
            <a:r>
              <a:rPr lang="en-US" altLang="zh-CN" sz="2800" baseline="-25000" dirty="0">
                <a:latin typeface="Times New Roman" panose="02020603050405020304" pitchFamily="18" charset="0"/>
                <a:cs typeface="Times New Roman" panose="02020603050405020304" pitchFamily="18" charset="0"/>
              </a:rPr>
              <a:t>11</a:t>
            </a:r>
            <a:r>
              <a:rPr lang="en-US" altLang="zh-CN" sz="2800" dirty="0"/>
              <a:t>∨</a:t>
            </a:r>
            <a:r>
              <a:rPr lang="en-US" altLang="zh-CN" sz="2800" dirty="0">
                <a:latin typeface="Times New Roman" panose="02020603050405020304" pitchFamily="18" charset="0"/>
                <a:cs typeface="Times New Roman" panose="02020603050405020304" pitchFamily="18" charset="0"/>
              </a:rPr>
              <a:t> α</a:t>
            </a:r>
            <a:r>
              <a:rPr lang="en-US" altLang="zh-CN" sz="2800" baseline="-25000" dirty="0">
                <a:latin typeface="Times New Roman" panose="02020603050405020304" pitchFamily="18" charset="0"/>
                <a:cs typeface="Times New Roman" panose="02020603050405020304" pitchFamily="18" charset="0"/>
              </a:rPr>
              <a:t>12 </a:t>
            </a:r>
            <a:r>
              <a:rPr lang="en-US" altLang="zh-CN" sz="2800" dirty="0"/>
              <a:t>∨ … ∨</a:t>
            </a:r>
            <a:r>
              <a:rPr lang="en-US" altLang="zh-CN" sz="2800" dirty="0">
                <a:latin typeface="Times New Roman" panose="02020603050405020304" pitchFamily="18" charset="0"/>
                <a:cs typeface="Times New Roman" panose="02020603050405020304" pitchFamily="18" charset="0"/>
              </a:rPr>
              <a:t> α</a:t>
            </a:r>
            <a:r>
              <a:rPr lang="en-US" altLang="zh-CN" sz="2800" baseline="-25000" dirty="0">
                <a:latin typeface="Times New Roman" panose="02020603050405020304" pitchFamily="18" charset="0"/>
                <a:cs typeface="Times New Roman" panose="02020603050405020304" pitchFamily="18" charset="0"/>
              </a:rPr>
              <a:t>1n</a:t>
            </a:r>
            <a:r>
              <a:rPr lang="en-US" altLang="zh-CN" sz="2800" dirty="0"/>
              <a:t> </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α</a:t>
            </a:r>
            <a:r>
              <a:rPr lang="en-US" altLang="zh-CN" sz="2800" baseline="-25000" dirty="0">
                <a:latin typeface="Times New Roman" panose="02020603050405020304" pitchFamily="18" charset="0"/>
                <a:cs typeface="Times New Roman" panose="02020603050405020304" pitchFamily="18" charset="0"/>
              </a:rPr>
              <a:t>21</a:t>
            </a:r>
            <a:r>
              <a:rPr lang="en-US" altLang="zh-CN" sz="2800" dirty="0"/>
              <a:t>∨</a:t>
            </a:r>
            <a:r>
              <a:rPr lang="en-US" altLang="zh-CN" sz="2800" dirty="0">
                <a:latin typeface="Times New Roman" panose="02020603050405020304" pitchFamily="18" charset="0"/>
                <a:cs typeface="Times New Roman" panose="02020603050405020304" pitchFamily="18" charset="0"/>
              </a:rPr>
              <a:t> α</a:t>
            </a:r>
            <a:r>
              <a:rPr lang="en-US" altLang="zh-CN" sz="2800" baseline="-25000" dirty="0">
                <a:latin typeface="Times New Roman" panose="02020603050405020304" pitchFamily="18" charset="0"/>
                <a:cs typeface="Times New Roman" panose="02020603050405020304" pitchFamily="18" charset="0"/>
              </a:rPr>
              <a:t>22 </a:t>
            </a:r>
            <a:r>
              <a:rPr lang="en-US" altLang="zh-CN" sz="2800" dirty="0"/>
              <a:t>∨ … ∨</a:t>
            </a:r>
            <a:r>
              <a:rPr lang="en-US" altLang="zh-CN" sz="2800" dirty="0">
                <a:latin typeface="Times New Roman" panose="02020603050405020304" pitchFamily="18" charset="0"/>
                <a:cs typeface="Times New Roman" panose="02020603050405020304" pitchFamily="18" charset="0"/>
              </a:rPr>
              <a:t> α</a:t>
            </a:r>
            <a:r>
              <a:rPr lang="en-US" altLang="zh-CN" sz="2800" baseline="-25000" dirty="0">
                <a:latin typeface="Times New Roman" panose="02020603050405020304" pitchFamily="18" charset="0"/>
                <a:cs typeface="Times New Roman" panose="02020603050405020304" pitchFamily="18" charset="0"/>
              </a:rPr>
              <a:t>2n</a:t>
            </a:r>
            <a:r>
              <a:rPr lang="en-US" altLang="zh-CN" sz="2800" dirty="0"/>
              <a:t> </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 ∧ </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α</a:t>
            </a:r>
            <a:r>
              <a:rPr lang="en-US" altLang="zh-CN" sz="2800" baseline="-25000" dirty="0">
                <a:latin typeface="Times New Roman" panose="02020603050405020304" pitchFamily="18" charset="0"/>
                <a:cs typeface="Times New Roman" panose="02020603050405020304" pitchFamily="18" charset="0"/>
              </a:rPr>
              <a:t>m1</a:t>
            </a:r>
            <a:r>
              <a:rPr lang="en-US" altLang="zh-CN" sz="2800" dirty="0"/>
              <a:t>∨</a:t>
            </a:r>
            <a:r>
              <a:rPr lang="en-US" altLang="zh-CN" sz="2800" dirty="0">
                <a:latin typeface="Times New Roman" panose="02020603050405020304" pitchFamily="18" charset="0"/>
                <a:cs typeface="Times New Roman" panose="02020603050405020304" pitchFamily="18" charset="0"/>
              </a:rPr>
              <a:t> α</a:t>
            </a:r>
            <a:r>
              <a:rPr lang="en-US" altLang="zh-CN" sz="2800" baseline="-25000" dirty="0">
                <a:latin typeface="Times New Roman" panose="02020603050405020304" pitchFamily="18" charset="0"/>
                <a:cs typeface="Times New Roman" panose="02020603050405020304" pitchFamily="18" charset="0"/>
              </a:rPr>
              <a:t>12 </a:t>
            </a:r>
            <a:r>
              <a:rPr lang="en-US" altLang="zh-CN" sz="2800" dirty="0"/>
              <a:t>∨ … ∨</a:t>
            </a:r>
            <a:r>
              <a:rPr lang="en-US" altLang="zh-CN" sz="2800" dirty="0">
                <a:latin typeface="Times New Roman" panose="02020603050405020304" pitchFamily="18" charset="0"/>
                <a:cs typeface="Times New Roman" panose="02020603050405020304" pitchFamily="18" charset="0"/>
              </a:rPr>
              <a:t> α</a:t>
            </a:r>
            <a:r>
              <a:rPr lang="en-US" altLang="zh-CN" sz="2800" baseline="-25000" dirty="0" err="1">
                <a:latin typeface="Times New Roman" panose="02020603050405020304" pitchFamily="18" charset="0"/>
                <a:cs typeface="Times New Roman" panose="02020603050405020304" pitchFamily="18" charset="0"/>
              </a:rPr>
              <a:t>mn</a:t>
            </a:r>
            <a:r>
              <a:rPr lang="en-US" altLang="zh-CN" sz="2800" dirty="0"/>
              <a:t> </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endParaRPr lang="en-US" altLang="zh-CN" sz="2800" dirty="0">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C37A24E4-1658-4E8F-BAE6-F132235765F4}"/>
              </a:ext>
            </a:extLst>
          </p:cNvPr>
          <p:cNvSpPr/>
          <p:nvPr/>
        </p:nvSpPr>
        <p:spPr>
          <a:xfrm>
            <a:off x="1571625" y="4224313"/>
            <a:ext cx="8701928" cy="1958421"/>
          </a:xfrm>
          <a:prstGeom prst="rect">
            <a:avLst/>
          </a:prstGeom>
        </p:spPr>
        <p:txBody>
          <a:bodyPr wrap="square">
            <a:spAutoFit/>
          </a:bodyPr>
          <a:lstStyle/>
          <a:p>
            <a:pPr algn="just">
              <a:lnSpc>
                <a:spcPct val="150000"/>
              </a:lnSpc>
              <a:buFont typeface="Wingdings" panose="05000000000000000000" pitchFamily="2" charset="2"/>
              <a:buNone/>
              <a:defRPr/>
            </a:pPr>
            <a:r>
              <a:rPr lang="zh-CN" altLang="en-US" sz="2800" dirty="0">
                <a:latin typeface="Times New Roman" panose="02020603050405020304" pitchFamily="18" charset="0"/>
                <a:cs typeface="Times New Roman" panose="02020603050405020304" pitchFamily="18" charset="0"/>
              </a:rPr>
              <a:t>设</a:t>
            </a:r>
            <a:r>
              <a:rPr lang="en-US" altLang="zh-CN" sz="2800" dirty="0">
                <a:latin typeface="Times New Roman" panose="02020603050405020304" pitchFamily="18" charset="0"/>
                <a:cs typeface="Times New Roman" panose="02020603050405020304" pitchFamily="18" charset="0"/>
              </a:rPr>
              <a:t>A</a:t>
            </a:r>
            <a:r>
              <a:rPr lang="zh-CN" altLang="en-US" sz="2800" dirty="0">
                <a:latin typeface="Times New Roman" panose="02020603050405020304" pitchFamily="18" charset="0"/>
                <a:cs typeface="Times New Roman" panose="02020603050405020304" pitchFamily="18" charset="0"/>
              </a:rPr>
              <a:t>为一个一阶逻辑公式，若</a:t>
            </a:r>
            <a:r>
              <a:rPr lang="en-US" altLang="zh-CN" sz="2800" dirty="0">
                <a:latin typeface="Times New Roman" panose="02020603050405020304" pitchFamily="18" charset="0"/>
                <a:cs typeface="Times New Roman" panose="02020603050405020304" pitchFamily="18" charset="0"/>
              </a:rPr>
              <a:t>A</a:t>
            </a:r>
            <a:r>
              <a:rPr lang="zh-CN" altLang="en-US" sz="2800" dirty="0">
                <a:latin typeface="Times New Roman" panose="02020603050405020304" pitchFamily="18" charset="0"/>
                <a:cs typeface="Times New Roman" panose="02020603050405020304" pitchFamily="18" charset="0"/>
              </a:rPr>
              <a:t>具有如下形式</a:t>
            </a:r>
          </a:p>
          <a:p>
            <a:pPr algn="just">
              <a:lnSpc>
                <a:spcPct val="150000"/>
              </a:lnSpc>
              <a:buFont typeface="Wingdings" panose="05000000000000000000" pitchFamily="2" charset="2"/>
              <a:buNone/>
              <a:defRPr/>
            </a:pPr>
            <a:r>
              <a:rPr lang="en-US" altLang="zh-CN" sz="2800" dirty="0">
                <a:latin typeface="Times New Roman" panose="02020603050405020304" pitchFamily="18" charset="0"/>
                <a:cs typeface="Times New Roman" panose="02020603050405020304" pitchFamily="18" charset="0"/>
              </a:rPr>
              <a:t>Q</a:t>
            </a:r>
            <a:r>
              <a:rPr lang="en-US" altLang="zh-CN" sz="2800" baseline="-25000" dirty="0">
                <a:latin typeface="Times New Roman" panose="02020603050405020304" pitchFamily="18" charset="0"/>
                <a:cs typeface="Times New Roman" panose="02020603050405020304" pitchFamily="18" charset="0"/>
              </a:rPr>
              <a:t>1</a:t>
            </a:r>
            <a:r>
              <a:rPr lang="en-US" altLang="zh-CN" sz="2800" dirty="0">
                <a:latin typeface="Times New Roman" panose="02020603050405020304" pitchFamily="18" charset="0"/>
                <a:cs typeface="Times New Roman" panose="02020603050405020304" pitchFamily="18" charset="0"/>
              </a:rPr>
              <a:t>x</a:t>
            </a:r>
            <a:r>
              <a:rPr lang="en-US" altLang="zh-CN" sz="2800" baseline="-25000" dirty="0">
                <a:latin typeface="Times New Roman" panose="02020603050405020304" pitchFamily="18" charset="0"/>
                <a:cs typeface="Times New Roman" panose="02020603050405020304" pitchFamily="18" charset="0"/>
              </a:rPr>
              <a:t>1</a:t>
            </a:r>
            <a:r>
              <a:rPr lang="en-US" altLang="zh-CN" sz="2800" dirty="0">
                <a:latin typeface="Times New Roman" panose="02020603050405020304" pitchFamily="18" charset="0"/>
                <a:cs typeface="Times New Roman" panose="02020603050405020304" pitchFamily="18" charset="0"/>
              </a:rPr>
              <a:t>Q</a:t>
            </a:r>
            <a:r>
              <a:rPr lang="en-US" altLang="zh-CN" sz="2800" baseline="-25000" dirty="0">
                <a:latin typeface="Times New Roman" panose="02020603050405020304" pitchFamily="18" charset="0"/>
                <a:cs typeface="Times New Roman" panose="02020603050405020304" pitchFamily="18" charset="0"/>
              </a:rPr>
              <a:t>2</a:t>
            </a:r>
            <a:r>
              <a:rPr lang="en-US" altLang="zh-CN" sz="2800" dirty="0">
                <a:latin typeface="Times New Roman" panose="02020603050405020304" pitchFamily="18" charset="0"/>
                <a:cs typeface="Times New Roman" panose="02020603050405020304" pitchFamily="18" charset="0"/>
              </a:rPr>
              <a:t>x</a:t>
            </a:r>
            <a:r>
              <a:rPr lang="en-US" altLang="zh-CN" sz="2800" baseline="-25000" dirty="0">
                <a:latin typeface="Times New Roman" panose="02020603050405020304" pitchFamily="18" charset="0"/>
                <a:cs typeface="Times New Roman" panose="02020603050405020304" pitchFamily="18" charset="0"/>
              </a:rPr>
              <a:t>2 </a:t>
            </a:r>
            <a:r>
              <a:rPr lang="en-US" altLang="zh-CN" sz="2800" dirty="0">
                <a:latin typeface="Times New Roman" panose="02020603050405020304" pitchFamily="18" charset="0"/>
                <a:cs typeface="Times New Roman" panose="02020603050405020304" pitchFamily="18" charset="0"/>
              </a:rPr>
              <a:t>… </a:t>
            </a:r>
            <a:r>
              <a:rPr lang="en-US" altLang="zh-CN" sz="2800" dirty="0" err="1">
                <a:latin typeface="Times New Roman" panose="02020603050405020304" pitchFamily="18" charset="0"/>
                <a:cs typeface="Times New Roman" panose="02020603050405020304" pitchFamily="18" charset="0"/>
              </a:rPr>
              <a:t>Q</a:t>
            </a:r>
            <a:r>
              <a:rPr lang="en-US" altLang="zh-CN" sz="2800" baseline="-25000" dirty="0" err="1">
                <a:latin typeface="Times New Roman" panose="02020603050405020304" pitchFamily="18" charset="0"/>
                <a:cs typeface="Times New Roman" panose="02020603050405020304" pitchFamily="18" charset="0"/>
              </a:rPr>
              <a:t>k</a:t>
            </a:r>
            <a:r>
              <a:rPr lang="en-US" altLang="zh-CN" sz="2800" dirty="0" err="1">
                <a:latin typeface="Times New Roman" panose="02020603050405020304" pitchFamily="18" charset="0"/>
                <a:cs typeface="Times New Roman" panose="02020603050405020304" pitchFamily="18" charset="0"/>
              </a:rPr>
              <a:t>x</a:t>
            </a:r>
            <a:r>
              <a:rPr lang="en-US" altLang="zh-CN" sz="2800" baseline="-25000" dirty="0" err="1">
                <a:latin typeface="Times New Roman" panose="02020603050405020304" pitchFamily="18" charset="0"/>
                <a:cs typeface="Times New Roman" panose="02020603050405020304" pitchFamily="18" charset="0"/>
              </a:rPr>
              <a:t>k</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α</a:t>
            </a:r>
            <a:r>
              <a:rPr lang="en-US" altLang="zh-CN" sz="2800" baseline="-25000" dirty="0">
                <a:latin typeface="Times New Roman" panose="02020603050405020304" pitchFamily="18" charset="0"/>
                <a:cs typeface="Times New Roman" panose="02020603050405020304" pitchFamily="18" charset="0"/>
              </a:rPr>
              <a:t>11</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cs typeface="Times New Roman" panose="02020603050405020304" pitchFamily="18" charset="0"/>
              </a:rPr>
              <a:t> α</a:t>
            </a:r>
            <a:r>
              <a:rPr lang="en-US" altLang="zh-CN" sz="2800" baseline="-25000" dirty="0">
                <a:latin typeface="Times New Roman" panose="02020603050405020304" pitchFamily="18" charset="0"/>
                <a:cs typeface="Times New Roman" panose="02020603050405020304" pitchFamily="18" charset="0"/>
              </a:rPr>
              <a:t>12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t> …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rPr>
              <a:t> α</a:t>
            </a:r>
            <a:r>
              <a:rPr lang="en-US" altLang="zh-CN" sz="2800" baseline="-25000" dirty="0">
                <a:latin typeface="Times New Roman" panose="02020603050405020304" pitchFamily="18" charset="0"/>
                <a:cs typeface="Times New Roman" panose="02020603050405020304" pitchFamily="18" charset="0"/>
              </a:rPr>
              <a:t>1n</a:t>
            </a:r>
            <a:r>
              <a:rPr lang="en-US" altLang="zh-CN" sz="2800" dirty="0"/>
              <a:t> </a:t>
            </a:r>
            <a:r>
              <a:rPr lang="zh-CN" altLang="en-US" sz="2800" dirty="0">
                <a:latin typeface="Times New Roman" panose="02020603050405020304" pitchFamily="18" charset="0"/>
                <a:cs typeface="Times New Roman" panose="02020603050405020304" pitchFamily="18" charset="0"/>
              </a:rPr>
              <a:t>）</a:t>
            </a:r>
            <a:r>
              <a:rPr lang="en-US" altLang="zh-CN" sz="2800" dirty="0"/>
              <a:t> ∨</a:t>
            </a:r>
            <a:r>
              <a:rPr lang="zh-CN" altLang="en-US"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α</a:t>
            </a:r>
            <a:r>
              <a:rPr lang="en-US" altLang="zh-CN" sz="2800" baseline="-25000" dirty="0">
                <a:latin typeface="Times New Roman" panose="02020603050405020304" pitchFamily="18" charset="0"/>
                <a:cs typeface="Times New Roman" panose="02020603050405020304" pitchFamily="18" charset="0"/>
              </a:rPr>
              <a:t>21</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 </a:t>
            </a:r>
            <a:r>
              <a:rPr lang="en-US" altLang="zh-CN" sz="2800" dirty="0">
                <a:latin typeface="Times New Roman" panose="02020603050405020304" pitchFamily="18" charset="0"/>
                <a:cs typeface="Times New Roman" panose="02020603050405020304" pitchFamily="18" charset="0"/>
              </a:rPr>
              <a:t>α</a:t>
            </a:r>
            <a:r>
              <a:rPr lang="en-US" altLang="zh-CN" sz="2800" baseline="-25000" dirty="0">
                <a:latin typeface="Times New Roman" panose="02020603050405020304" pitchFamily="18" charset="0"/>
                <a:cs typeface="Times New Roman" panose="02020603050405020304" pitchFamily="18" charset="0"/>
              </a:rPr>
              <a:t>22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t> …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rPr>
              <a:t> α</a:t>
            </a:r>
            <a:r>
              <a:rPr lang="en-US" altLang="zh-CN" sz="2800" baseline="-25000" dirty="0">
                <a:latin typeface="Times New Roman" panose="02020603050405020304" pitchFamily="18" charset="0"/>
                <a:cs typeface="Times New Roman" panose="02020603050405020304" pitchFamily="18" charset="0"/>
              </a:rPr>
              <a:t>2n</a:t>
            </a:r>
            <a:r>
              <a:rPr lang="en-US" altLang="zh-CN" sz="2800" dirty="0"/>
              <a:t> </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t>∨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t>∨</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α</a:t>
            </a:r>
            <a:r>
              <a:rPr lang="en-US" altLang="zh-CN" sz="2800" baseline="-25000" dirty="0">
                <a:latin typeface="Times New Roman" panose="02020603050405020304" pitchFamily="18" charset="0"/>
                <a:cs typeface="Times New Roman" panose="02020603050405020304" pitchFamily="18" charset="0"/>
              </a:rPr>
              <a:t>m1</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800" dirty="0">
                <a:latin typeface="Times New Roman" panose="02020603050405020304" pitchFamily="18" charset="0"/>
                <a:cs typeface="Times New Roman" panose="02020603050405020304" pitchFamily="18" charset="0"/>
              </a:rPr>
              <a:t> α</a:t>
            </a:r>
            <a:r>
              <a:rPr lang="en-US" altLang="zh-CN" sz="2800" baseline="-25000" dirty="0">
                <a:latin typeface="Times New Roman" panose="02020603050405020304" pitchFamily="18" charset="0"/>
                <a:cs typeface="Times New Roman" panose="02020603050405020304" pitchFamily="18" charset="0"/>
              </a:rPr>
              <a:t>12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t> …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rPr>
              <a:t> α</a:t>
            </a:r>
            <a:r>
              <a:rPr lang="en-US" altLang="zh-CN" sz="2800" baseline="-25000" dirty="0" err="1">
                <a:latin typeface="Times New Roman" panose="02020603050405020304" pitchFamily="18" charset="0"/>
                <a:cs typeface="Times New Roman" panose="02020603050405020304" pitchFamily="18" charset="0"/>
              </a:rPr>
              <a:t>mn</a:t>
            </a:r>
            <a:r>
              <a:rPr lang="en-US" altLang="zh-CN" sz="2800" dirty="0"/>
              <a:t> </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 </a:t>
            </a:r>
            <a:endParaRPr lang="en-US" altLang="zh-C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3232161"/>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0C403081-038C-4FC8-84C5-B040DECDCE63}"/>
              </a:ext>
            </a:extLst>
          </p:cNvPr>
          <p:cNvSpPr/>
          <p:nvPr/>
        </p:nvSpPr>
        <p:spPr>
          <a:xfrm>
            <a:off x="1751013" y="738188"/>
            <a:ext cx="8966293" cy="4626395"/>
          </a:xfrm>
          <a:prstGeom prst="rect">
            <a:avLst/>
          </a:prstGeom>
        </p:spPr>
        <p:txBody>
          <a:bodyPr wrap="square">
            <a:spAutoFit/>
          </a:bodyPr>
          <a:lstStyle/>
          <a:p>
            <a:pPr marL="342900" indent="-342900" algn="just" eaLnBrk="0" fontAlgn="base" hangingPunct="0">
              <a:lnSpc>
                <a:spcPct val="120000"/>
              </a:lnSpc>
              <a:spcBef>
                <a:spcPct val="20000"/>
              </a:spcBef>
              <a:spcAft>
                <a:spcPct val="0"/>
              </a:spcAft>
              <a:buClr>
                <a:srgbClr val="000000"/>
              </a:buClr>
              <a:buSzPct val="100000"/>
            </a:pPr>
            <a:r>
              <a:rPr lang="zh-CN" altLang="en-US" sz="2800" dirty="0">
                <a:solidFill>
                  <a:srgbClr val="CC3300"/>
                </a:solidFill>
                <a:latin typeface="+mn-ea"/>
                <a:cs typeface="Times New Roman" panose="02020603050405020304" pitchFamily="18" charset="0"/>
              </a:rPr>
              <a:t>如何求解前束合取</a:t>
            </a:r>
            <a:r>
              <a:rPr lang="en-US" altLang="zh-CN" sz="2800" dirty="0">
                <a:solidFill>
                  <a:srgbClr val="CC3300"/>
                </a:solidFill>
                <a:latin typeface="+mn-ea"/>
                <a:cs typeface="Times New Roman" panose="02020603050405020304" pitchFamily="18" charset="0"/>
              </a:rPr>
              <a:t>/</a:t>
            </a:r>
            <a:r>
              <a:rPr lang="zh-CN" altLang="en-US" sz="2800" dirty="0">
                <a:solidFill>
                  <a:srgbClr val="CC3300"/>
                </a:solidFill>
                <a:latin typeface="+mn-ea"/>
                <a:cs typeface="Times New Roman" panose="02020603050405020304" pitchFamily="18" charset="0"/>
              </a:rPr>
              <a:t>析取范式？</a:t>
            </a:r>
          </a:p>
          <a:p>
            <a:pPr marL="342900" lvl="0" indent="-342900" algn="just" eaLnBrk="0" fontAlgn="base" hangingPunct="0">
              <a:lnSpc>
                <a:spcPct val="120000"/>
              </a:lnSpc>
              <a:spcBef>
                <a:spcPct val="20000"/>
              </a:spcBef>
              <a:spcAft>
                <a:spcPct val="0"/>
              </a:spcAft>
              <a:buClr>
                <a:srgbClr val="000000"/>
              </a:buClr>
              <a:buSzPct val="100000"/>
            </a:pPr>
            <a:r>
              <a:rPr lang="en-US" altLang="zh-CN" sz="2800" dirty="0">
                <a:solidFill>
                  <a:srgbClr val="000000"/>
                </a:solidFill>
                <a:latin typeface="+mn-ea"/>
                <a:cs typeface="Times New Roman" panose="02020603050405020304" pitchFamily="18" charset="0"/>
              </a:rPr>
              <a:t>  (1)</a:t>
            </a:r>
            <a:r>
              <a:rPr lang="zh-CN" altLang="en-US" sz="2800" dirty="0">
                <a:solidFill>
                  <a:srgbClr val="0033CC"/>
                </a:solidFill>
                <a:latin typeface="+mn-ea"/>
                <a:cs typeface="Times New Roman" panose="02020603050405020304" pitchFamily="18" charset="0"/>
              </a:rPr>
              <a:t>消</a:t>
            </a:r>
            <a:r>
              <a:rPr lang="zh-CN" altLang="en-US" sz="2800" dirty="0">
                <a:solidFill>
                  <a:srgbClr val="000000"/>
                </a:solidFill>
                <a:latin typeface="+mn-ea"/>
                <a:cs typeface="Times New Roman" panose="02020603050405020304" pitchFamily="18" charset="0"/>
              </a:rPr>
              <a:t>去联结词→，</a:t>
            </a:r>
            <a:r>
              <a:rPr lang="zh-CN" altLang="en-US" sz="2800" dirty="0">
                <a:solidFill>
                  <a:srgbClr val="000000"/>
                </a:solidFill>
                <a:latin typeface="+mn-ea"/>
                <a:cs typeface="Times New Roman" panose="02020603050405020304" pitchFamily="18" charset="0"/>
                <a:sym typeface="Symbol" panose="05050102010706020507" pitchFamily="18" charset="2"/>
              </a:rPr>
              <a:t></a:t>
            </a:r>
            <a:r>
              <a:rPr lang="zh-CN" altLang="en-US" sz="2800" dirty="0">
                <a:solidFill>
                  <a:srgbClr val="000000"/>
                </a:solidFill>
                <a:latin typeface="+mn-ea"/>
                <a:cs typeface="Times New Roman" panose="02020603050405020304" pitchFamily="18" charset="0"/>
              </a:rPr>
              <a:t>及多余的量词；</a:t>
            </a:r>
          </a:p>
          <a:p>
            <a:pPr marL="342900" lvl="0" indent="-342900" algn="just" eaLnBrk="0" fontAlgn="base" hangingPunct="0">
              <a:lnSpc>
                <a:spcPct val="120000"/>
              </a:lnSpc>
              <a:spcBef>
                <a:spcPct val="20000"/>
              </a:spcBef>
              <a:spcAft>
                <a:spcPct val="0"/>
              </a:spcAft>
              <a:buClr>
                <a:srgbClr val="000000"/>
              </a:buClr>
              <a:buSzPct val="100000"/>
            </a:pPr>
            <a:r>
              <a:rPr lang="zh-CN" altLang="en-US" sz="2800" dirty="0">
                <a:solidFill>
                  <a:srgbClr val="000000"/>
                </a:solidFill>
                <a:latin typeface="+mn-ea"/>
                <a:cs typeface="Times New Roman" panose="02020603050405020304" pitchFamily="18" charset="0"/>
              </a:rPr>
              <a:t>  </a:t>
            </a:r>
            <a:r>
              <a:rPr lang="en-US" altLang="zh-CN" sz="2800" dirty="0">
                <a:solidFill>
                  <a:srgbClr val="000000"/>
                </a:solidFill>
                <a:latin typeface="+mn-ea"/>
                <a:cs typeface="Times New Roman" panose="02020603050405020304" pitchFamily="18" charset="0"/>
              </a:rPr>
              <a:t>(2)</a:t>
            </a:r>
            <a:r>
              <a:rPr lang="zh-CN" altLang="en-US" sz="2800" dirty="0">
                <a:solidFill>
                  <a:srgbClr val="000000"/>
                </a:solidFill>
                <a:latin typeface="+mn-ea"/>
                <a:cs typeface="Times New Roman" panose="02020603050405020304" pitchFamily="18" charset="0"/>
              </a:rPr>
              <a:t>将联结词</a:t>
            </a:r>
            <a:r>
              <a:rPr lang="zh-CN" altLang="en-US" sz="2800" dirty="0">
                <a:solidFill>
                  <a:srgbClr val="0033CC"/>
                </a:solidFill>
                <a:latin typeface="+mn-ea"/>
                <a:cs typeface="Times New Roman" panose="02020603050405020304" pitchFamily="18" charset="0"/>
                <a:sym typeface="Symbol" panose="05050102010706020507" pitchFamily="18" charset="2"/>
              </a:rPr>
              <a:t></a:t>
            </a:r>
            <a:r>
              <a:rPr lang="zh-CN" altLang="en-US" sz="2800" dirty="0">
                <a:solidFill>
                  <a:srgbClr val="000000"/>
                </a:solidFill>
                <a:latin typeface="+mn-ea"/>
                <a:cs typeface="Times New Roman" panose="02020603050405020304" pitchFamily="18" charset="0"/>
              </a:rPr>
              <a:t>向内深入，使之只作用于原子谓词公式；</a:t>
            </a:r>
          </a:p>
          <a:p>
            <a:pPr marL="342900" lvl="0" indent="-342900" algn="just" eaLnBrk="0" fontAlgn="base" hangingPunct="0">
              <a:lnSpc>
                <a:spcPct val="120000"/>
              </a:lnSpc>
              <a:spcBef>
                <a:spcPct val="20000"/>
              </a:spcBef>
              <a:spcAft>
                <a:spcPct val="0"/>
              </a:spcAft>
              <a:buClr>
                <a:srgbClr val="000000"/>
              </a:buClr>
              <a:buSzPct val="100000"/>
            </a:pPr>
            <a:r>
              <a:rPr lang="zh-CN" altLang="en-US" sz="2800" dirty="0">
                <a:solidFill>
                  <a:srgbClr val="000000"/>
                </a:solidFill>
                <a:latin typeface="+mn-ea"/>
                <a:cs typeface="Times New Roman" panose="02020603050405020304" pitchFamily="18" charset="0"/>
              </a:rPr>
              <a:t>  </a:t>
            </a:r>
            <a:r>
              <a:rPr lang="en-US" altLang="zh-CN" sz="2800" dirty="0">
                <a:solidFill>
                  <a:srgbClr val="000000"/>
                </a:solidFill>
                <a:latin typeface="+mn-ea"/>
                <a:cs typeface="Times New Roman" panose="02020603050405020304" pitchFamily="18" charset="0"/>
              </a:rPr>
              <a:t>(3)</a:t>
            </a:r>
            <a:r>
              <a:rPr lang="zh-CN" altLang="en-US" sz="2800" dirty="0">
                <a:solidFill>
                  <a:srgbClr val="000000"/>
                </a:solidFill>
                <a:latin typeface="+mn-ea"/>
                <a:cs typeface="Times New Roman" panose="02020603050405020304" pitchFamily="18" charset="0"/>
              </a:rPr>
              <a:t>利用</a:t>
            </a:r>
            <a:r>
              <a:rPr lang="zh-CN" altLang="en-US" sz="2800" dirty="0">
                <a:solidFill>
                  <a:srgbClr val="0033CC"/>
                </a:solidFill>
                <a:latin typeface="+mn-ea"/>
                <a:cs typeface="Times New Roman" panose="02020603050405020304" pitchFamily="18" charset="0"/>
              </a:rPr>
              <a:t>改名或代入</a:t>
            </a:r>
            <a:r>
              <a:rPr lang="zh-CN" altLang="en-US" sz="2800" dirty="0">
                <a:solidFill>
                  <a:srgbClr val="000000"/>
                </a:solidFill>
                <a:latin typeface="+mn-ea"/>
                <a:cs typeface="Times New Roman" panose="02020603050405020304" pitchFamily="18" charset="0"/>
              </a:rPr>
              <a:t>规则使所有约束变元的符号均不同，并且自由变元与约束变元的符号也不同；</a:t>
            </a:r>
          </a:p>
          <a:p>
            <a:pPr marL="342900" lvl="0" indent="-342900" eaLnBrk="0" fontAlgn="base" hangingPunct="0">
              <a:lnSpc>
                <a:spcPct val="120000"/>
              </a:lnSpc>
              <a:spcBef>
                <a:spcPct val="20000"/>
              </a:spcBef>
              <a:spcAft>
                <a:spcPct val="0"/>
              </a:spcAft>
              <a:buClr>
                <a:srgbClr val="000000"/>
              </a:buClr>
              <a:buSzPct val="100000"/>
            </a:pPr>
            <a:r>
              <a:rPr lang="zh-CN" altLang="en-US" sz="2800" dirty="0">
                <a:solidFill>
                  <a:srgbClr val="000000"/>
                </a:solidFill>
                <a:latin typeface="+mn-ea"/>
                <a:cs typeface="Times New Roman" panose="02020603050405020304" pitchFamily="18" charset="0"/>
              </a:rPr>
              <a:t>  </a:t>
            </a:r>
            <a:r>
              <a:rPr lang="en-US" altLang="zh-CN" sz="2800" dirty="0">
                <a:solidFill>
                  <a:srgbClr val="000000"/>
                </a:solidFill>
                <a:latin typeface="+mn-ea"/>
                <a:cs typeface="Times New Roman" panose="02020603050405020304" pitchFamily="18" charset="0"/>
              </a:rPr>
              <a:t>(4)</a:t>
            </a:r>
            <a:r>
              <a:rPr lang="zh-CN" altLang="en-US" sz="2800" dirty="0">
                <a:solidFill>
                  <a:srgbClr val="000000"/>
                </a:solidFill>
                <a:latin typeface="+mn-ea"/>
                <a:cs typeface="Times New Roman" panose="02020603050405020304" pitchFamily="18" charset="0"/>
              </a:rPr>
              <a:t>利用</a:t>
            </a:r>
            <a:r>
              <a:rPr lang="zh-CN" altLang="en-US" sz="2800" u="sng" dirty="0">
                <a:solidFill>
                  <a:srgbClr val="FF0000"/>
                </a:solidFill>
                <a:latin typeface="+mn-ea"/>
                <a:cs typeface="Times New Roman" panose="02020603050405020304" pitchFamily="18" charset="0"/>
              </a:rPr>
              <a:t>量词辖域的</a:t>
            </a:r>
            <a:r>
              <a:rPr lang="zh-CN" altLang="en-US" sz="2800" u="sng" dirty="0">
                <a:solidFill>
                  <a:srgbClr val="0033CC"/>
                </a:solidFill>
                <a:latin typeface="+mn-ea"/>
                <a:cs typeface="Times New Roman" panose="02020603050405020304" pitchFamily="18" charset="0"/>
              </a:rPr>
              <a:t>扩张与收缩律</a:t>
            </a:r>
            <a:r>
              <a:rPr lang="zh-CN" altLang="en-US" sz="2800" dirty="0">
                <a:solidFill>
                  <a:srgbClr val="000000"/>
                </a:solidFill>
                <a:latin typeface="+mn-ea"/>
                <a:cs typeface="Times New Roman" panose="02020603050405020304" pitchFamily="18" charset="0"/>
              </a:rPr>
              <a:t>，扩大量词的辖域至整个公式。</a:t>
            </a:r>
            <a:endParaRPr lang="en-US" altLang="zh-CN" sz="2800" dirty="0">
              <a:solidFill>
                <a:srgbClr val="000000"/>
              </a:solidFill>
              <a:latin typeface="+mn-ea"/>
              <a:cs typeface="Times New Roman" panose="02020603050405020304" pitchFamily="18" charset="0"/>
            </a:endParaRPr>
          </a:p>
          <a:p>
            <a:pPr marL="342900" lvl="0" indent="-342900" eaLnBrk="0" fontAlgn="base" hangingPunct="0">
              <a:lnSpc>
                <a:spcPct val="120000"/>
              </a:lnSpc>
              <a:spcBef>
                <a:spcPct val="20000"/>
              </a:spcBef>
              <a:spcAft>
                <a:spcPct val="0"/>
              </a:spcAft>
              <a:buClr>
                <a:srgbClr val="000000"/>
              </a:buClr>
              <a:buSzPct val="100000"/>
            </a:pPr>
            <a:r>
              <a:rPr lang="zh-CN" altLang="en-US" sz="2800" dirty="0">
                <a:solidFill>
                  <a:srgbClr val="000000"/>
                </a:solidFill>
                <a:latin typeface="+mn-ea"/>
                <a:cs typeface="Times New Roman" panose="02020603050405020304" pitchFamily="18" charset="0"/>
              </a:rPr>
              <a:t>（</a:t>
            </a:r>
            <a:r>
              <a:rPr lang="en-US" altLang="zh-CN" sz="2800" dirty="0">
                <a:solidFill>
                  <a:srgbClr val="000000"/>
                </a:solidFill>
                <a:latin typeface="+mn-ea"/>
                <a:cs typeface="Times New Roman" panose="02020603050405020304" pitchFamily="18" charset="0"/>
              </a:rPr>
              <a:t>5</a:t>
            </a:r>
            <a:r>
              <a:rPr lang="zh-CN" altLang="en-US" sz="2800" dirty="0">
                <a:solidFill>
                  <a:srgbClr val="000000"/>
                </a:solidFill>
                <a:latin typeface="+mn-ea"/>
                <a:cs typeface="Times New Roman" panose="02020603050405020304" pitchFamily="18" charset="0"/>
              </a:rPr>
              <a:t>）利用分配率将公式化为前束合取</a:t>
            </a:r>
            <a:r>
              <a:rPr lang="en-US" altLang="zh-CN" sz="2800" dirty="0">
                <a:solidFill>
                  <a:srgbClr val="000000"/>
                </a:solidFill>
                <a:latin typeface="+mn-ea"/>
                <a:cs typeface="Times New Roman" panose="02020603050405020304" pitchFamily="18" charset="0"/>
              </a:rPr>
              <a:t>/</a:t>
            </a:r>
            <a:r>
              <a:rPr lang="zh-CN" altLang="en-US" sz="2800" dirty="0">
                <a:solidFill>
                  <a:srgbClr val="000000"/>
                </a:solidFill>
                <a:latin typeface="+mn-ea"/>
                <a:cs typeface="Times New Roman" panose="02020603050405020304" pitchFamily="18" charset="0"/>
              </a:rPr>
              <a:t>析取范式</a:t>
            </a:r>
          </a:p>
        </p:txBody>
      </p:sp>
    </p:spTree>
    <p:extLst>
      <p:ext uri="{BB962C8B-B14F-4D97-AF65-F5344CB8AC3E}">
        <p14:creationId xmlns:p14="http://schemas.microsoft.com/office/powerpoint/2010/main" val="683747827"/>
      </p:ext>
    </p:extLst>
  </p:cSld>
  <p:clrMapOvr>
    <a:masterClrMapping/>
  </p:clrMapOvr>
  <p:transition spd="slow" advTm="0">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矩形 3">
            <a:extLst>
              <a:ext uri="{FF2B5EF4-FFF2-40B4-BE49-F238E27FC236}">
                <a16:creationId xmlns:a16="http://schemas.microsoft.com/office/drawing/2014/main" id="{F48697BF-C258-4142-894B-5AD8B74C4F82}"/>
              </a:ext>
            </a:extLst>
          </p:cNvPr>
          <p:cNvSpPr txBox="1">
            <a:spLocks noChangeArrowheads="1"/>
          </p:cNvSpPr>
          <p:nvPr/>
        </p:nvSpPr>
        <p:spPr>
          <a:xfrm>
            <a:off x="1571625" y="919630"/>
            <a:ext cx="10309224" cy="53276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200" dirty="0"/>
              <a:t>一阶逻辑公式的只含有全称量词的前束范式，称为该公式的 </a:t>
            </a:r>
            <a:r>
              <a:rPr lang="en-US" altLang="zh-CN" sz="3200" dirty="0" err="1"/>
              <a:t>Skolem</a:t>
            </a:r>
            <a:r>
              <a:rPr lang="en-US" altLang="zh-CN" sz="3200" dirty="0"/>
              <a:t> </a:t>
            </a:r>
            <a:r>
              <a:rPr lang="zh-CN" altLang="en-US" sz="3200" dirty="0"/>
              <a:t>范式。</a:t>
            </a:r>
          </a:p>
        </p:txBody>
      </p:sp>
      <p:sp>
        <p:nvSpPr>
          <p:cNvPr id="2" name="矩形 1">
            <a:extLst>
              <a:ext uri="{FF2B5EF4-FFF2-40B4-BE49-F238E27FC236}">
                <a16:creationId xmlns:a16="http://schemas.microsoft.com/office/drawing/2014/main" id="{DC3BC9F5-F2DA-4CFB-842C-8AFE8C7756C7}"/>
              </a:ext>
            </a:extLst>
          </p:cNvPr>
          <p:cNvSpPr/>
          <p:nvPr/>
        </p:nvSpPr>
        <p:spPr>
          <a:xfrm>
            <a:off x="921590" y="1902542"/>
            <a:ext cx="11138647" cy="4863383"/>
          </a:xfrm>
          <a:prstGeom prst="rect">
            <a:avLst/>
          </a:prstGeom>
        </p:spPr>
        <p:txBody>
          <a:bodyPr wrap="square">
            <a:spAutoFit/>
          </a:bodyPr>
          <a:lstStyle/>
          <a:p>
            <a:pPr>
              <a:lnSpc>
                <a:spcPct val="140000"/>
              </a:lnSpc>
              <a:buClr>
                <a:schemeClr val="tx1"/>
              </a:buClr>
              <a:buFontTx/>
              <a:buNone/>
            </a:pPr>
            <a:r>
              <a:rPr lang="en-US" altLang="zh-CN" sz="2800" dirty="0">
                <a:latin typeface="+mn-ea"/>
              </a:rPr>
              <a:t>1  </a:t>
            </a:r>
            <a:r>
              <a:rPr lang="zh-CN" altLang="en-US" sz="2800" dirty="0">
                <a:latin typeface="+mn-ea"/>
              </a:rPr>
              <a:t>化成前束合取范式； </a:t>
            </a:r>
          </a:p>
          <a:p>
            <a:pPr>
              <a:lnSpc>
                <a:spcPct val="140000"/>
              </a:lnSpc>
              <a:buClr>
                <a:schemeClr val="tx1"/>
              </a:buClr>
              <a:buFontTx/>
              <a:buNone/>
            </a:pPr>
            <a:r>
              <a:rPr lang="en-US" altLang="zh-CN" sz="2800" dirty="0">
                <a:latin typeface="+mn-ea"/>
              </a:rPr>
              <a:t>2  </a:t>
            </a:r>
            <a:r>
              <a:rPr lang="zh-CN" altLang="en-US" sz="2800" dirty="0">
                <a:latin typeface="+mn-ea"/>
              </a:rPr>
              <a:t>化成</a:t>
            </a:r>
            <a:r>
              <a:rPr lang="en-US" altLang="zh-CN" sz="2800" dirty="0" err="1">
                <a:latin typeface="+mn-ea"/>
              </a:rPr>
              <a:t>Skolem</a:t>
            </a:r>
            <a:r>
              <a:rPr lang="zh-CN" altLang="en-US" sz="2800" dirty="0">
                <a:latin typeface="+mn-ea"/>
              </a:rPr>
              <a:t>标准型：</a:t>
            </a:r>
            <a:br>
              <a:rPr lang="zh-CN" altLang="en-US" sz="2800" dirty="0">
                <a:latin typeface="+mn-ea"/>
              </a:rPr>
            </a:br>
            <a:r>
              <a:rPr lang="zh-CN" altLang="en-US" sz="2800" dirty="0">
                <a:latin typeface="+mn-ea"/>
              </a:rPr>
              <a:t>消去存在量词时，需要进行变元替换。变元替换分两种情况：</a:t>
            </a:r>
            <a:br>
              <a:rPr lang="zh-CN" altLang="en-US" sz="2800" dirty="0">
                <a:latin typeface="+mn-ea"/>
              </a:rPr>
            </a:br>
            <a:r>
              <a:rPr lang="zh-CN" altLang="en-US" sz="2800" dirty="0">
                <a:latin typeface="+mn-ea"/>
              </a:rPr>
              <a:t>①若该存在量词在某些全称量词的辖域内，则用这些全称量词指导变元的一个函数代替该存在量词辖域中的相应约束变元，这样的函数称为</a:t>
            </a:r>
            <a:r>
              <a:rPr lang="en-US" altLang="zh-CN" sz="2800" dirty="0" err="1">
                <a:latin typeface="+mn-ea"/>
              </a:rPr>
              <a:t>Skolem</a:t>
            </a:r>
            <a:r>
              <a:rPr lang="zh-CN" altLang="en-US" sz="2800" dirty="0">
                <a:latin typeface="+mn-ea"/>
              </a:rPr>
              <a:t>函数；</a:t>
            </a:r>
            <a:br>
              <a:rPr lang="zh-CN" altLang="en-US" sz="2800" dirty="0">
                <a:latin typeface="+mn-ea"/>
              </a:rPr>
            </a:br>
            <a:r>
              <a:rPr lang="zh-CN" altLang="en-US" sz="2800" dirty="0">
                <a:latin typeface="+mn-ea"/>
              </a:rPr>
              <a:t>②若该存在量词不在任何全称量词的辖域内，则用一个常量符号代替该存在量词辖域中相应约束变元，这样的常量符号称为</a:t>
            </a:r>
            <a:r>
              <a:rPr lang="en-US" altLang="zh-CN" sz="2800" dirty="0" err="1">
                <a:latin typeface="+mn-ea"/>
              </a:rPr>
              <a:t>Skolem</a:t>
            </a:r>
            <a:r>
              <a:rPr lang="zh-CN" altLang="en-US" sz="2800" dirty="0">
                <a:latin typeface="+mn-ea"/>
              </a:rPr>
              <a:t>常量 </a:t>
            </a:r>
          </a:p>
        </p:txBody>
      </p:sp>
    </p:spTree>
    <p:extLst>
      <p:ext uri="{BB962C8B-B14F-4D97-AF65-F5344CB8AC3E}">
        <p14:creationId xmlns:p14="http://schemas.microsoft.com/office/powerpoint/2010/main" val="2331121808"/>
      </p:ext>
    </p:extLst>
  </p:cSld>
  <p:clrMapOvr>
    <a:masterClrMapping/>
  </p:clrMapOvr>
  <p:transition spd="slow" advTm="0">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矩形 3">
            <a:extLst>
              <a:ext uri="{FF2B5EF4-FFF2-40B4-BE49-F238E27FC236}">
                <a16:creationId xmlns:a16="http://schemas.microsoft.com/office/drawing/2014/main" id="{EF2DD5A4-962B-4E8B-A915-CB4015C27152}"/>
              </a:ext>
            </a:extLst>
          </p:cNvPr>
          <p:cNvSpPr txBox="1">
            <a:spLocks noChangeArrowheads="1"/>
          </p:cNvSpPr>
          <p:nvPr/>
        </p:nvSpPr>
        <p:spPr>
          <a:xfrm>
            <a:off x="1751013" y="1828800"/>
            <a:ext cx="8686800" cy="5257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在一阶逻辑中，从前提</a:t>
            </a:r>
            <a:r>
              <a:rPr lang="en-US" altLang="zh-CN" dirty="0"/>
              <a:t>A</a:t>
            </a:r>
            <a:r>
              <a:rPr lang="en-US" altLang="zh-CN" baseline="-25000" dirty="0"/>
              <a:t>1</a:t>
            </a:r>
            <a:r>
              <a:rPr lang="en-US" altLang="zh-CN" dirty="0"/>
              <a:t>,A</a:t>
            </a:r>
            <a:r>
              <a:rPr lang="en-US" altLang="zh-CN" baseline="-25000" dirty="0"/>
              <a:t>2</a:t>
            </a:r>
            <a:r>
              <a:rPr lang="en-US" altLang="zh-CN" dirty="0"/>
              <a:t>,</a:t>
            </a:r>
            <a:r>
              <a:rPr lang="en-US" altLang="zh-CN" dirty="0">
                <a:latin typeface="Times New Roman" panose="02020603050405020304" pitchFamily="18" charset="0"/>
              </a:rPr>
              <a:t>…</a:t>
            </a:r>
            <a:r>
              <a:rPr lang="en-US" altLang="zh-CN" dirty="0"/>
              <a:t>A</a:t>
            </a:r>
            <a:r>
              <a:rPr lang="en-US" altLang="zh-CN" baseline="-25000" dirty="0"/>
              <a:t>k</a:t>
            </a:r>
            <a:r>
              <a:rPr lang="zh-CN" altLang="en-US" dirty="0"/>
              <a:t>出发得出结论</a:t>
            </a:r>
            <a:r>
              <a:rPr lang="en-US" altLang="zh-CN" dirty="0"/>
              <a:t>B</a:t>
            </a:r>
            <a:r>
              <a:rPr lang="zh-CN" altLang="en-US" dirty="0"/>
              <a:t>的推理形式结构，依然采用如下的蕴涵式形式</a:t>
            </a:r>
          </a:p>
          <a:p>
            <a:pPr>
              <a:buFont typeface="Wingdings" panose="05000000000000000000" pitchFamily="2" charset="2"/>
              <a:buNone/>
            </a:pPr>
            <a:r>
              <a:rPr lang="zh-CN" altLang="en-US" dirty="0"/>
              <a:t>		</a:t>
            </a:r>
            <a:r>
              <a:rPr lang="en-US" altLang="zh-CN" dirty="0"/>
              <a:t>A</a:t>
            </a:r>
            <a:r>
              <a:rPr lang="en-US" altLang="zh-CN" baseline="-25000" dirty="0"/>
              <a:t>1 </a:t>
            </a:r>
            <a:r>
              <a:rPr lang="en-US" altLang="zh-CN" dirty="0"/>
              <a:t>,A</a:t>
            </a:r>
            <a:r>
              <a:rPr lang="en-US" altLang="zh-CN" baseline="-25000" dirty="0"/>
              <a:t>2 </a:t>
            </a:r>
            <a:r>
              <a:rPr lang="en-US" altLang="zh-CN" dirty="0"/>
              <a:t>,</a:t>
            </a:r>
            <a:r>
              <a:rPr lang="en-US" altLang="zh-CN" dirty="0">
                <a:latin typeface="Times New Roman" panose="02020603050405020304" pitchFamily="18" charset="0"/>
              </a:rPr>
              <a:t>…</a:t>
            </a:r>
            <a:r>
              <a:rPr lang="en-US" altLang="zh-CN" dirty="0"/>
              <a:t> ,A</a:t>
            </a:r>
            <a:r>
              <a:rPr lang="en-US" altLang="zh-CN" baseline="-25000" dirty="0"/>
              <a:t>k </a:t>
            </a:r>
            <a:r>
              <a:rPr lang="en-US" altLang="zh-CN" dirty="0"/>
              <a:t>→ B 			</a:t>
            </a:r>
          </a:p>
          <a:p>
            <a:pPr>
              <a:buFont typeface="Wingdings" panose="05000000000000000000" pitchFamily="2" charset="2"/>
              <a:buNone/>
            </a:pPr>
            <a:r>
              <a:rPr lang="zh-CN" altLang="en-US" dirty="0">
                <a:solidFill>
                  <a:schemeClr val="hlink"/>
                </a:solidFill>
              </a:rPr>
              <a:t>	</a:t>
            </a:r>
            <a:r>
              <a:rPr lang="zh-CN" altLang="en-US" dirty="0"/>
              <a:t>若为</a:t>
            </a:r>
            <a:r>
              <a:rPr lang="en-US" altLang="zh-CN" dirty="0"/>
              <a:t>A</a:t>
            </a:r>
            <a:r>
              <a:rPr lang="en-US" altLang="zh-CN" baseline="-25000" dirty="0"/>
              <a:t>1 </a:t>
            </a:r>
            <a:r>
              <a:rPr lang="en-US" altLang="zh-CN" dirty="0">
                <a:solidFill>
                  <a:srgbClr val="333300"/>
                </a:solidFill>
                <a:latin typeface="等线" panose="02010600030101010101" pitchFamily="2" charset="-122"/>
                <a:sym typeface="Symbol" panose="05050102010706020507" pitchFamily="18" charset="2"/>
              </a:rPr>
              <a:t> </a:t>
            </a:r>
            <a:r>
              <a:rPr lang="en-US" altLang="zh-CN" dirty="0"/>
              <a:t>A</a:t>
            </a:r>
            <a:r>
              <a:rPr lang="en-US" altLang="zh-CN" baseline="-25000" dirty="0"/>
              <a:t>2 </a:t>
            </a:r>
            <a:r>
              <a:rPr lang="en-US" altLang="zh-CN" dirty="0">
                <a:solidFill>
                  <a:srgbClr val="333300"/>
                </a:solidFill>
                <a:latin typeface="等线" panose="02010600030101010101" pitchFamily="2" charset="-122"/>
                <a:sym typeface="Symbol" panose="05050102010706020507" pitchFamily="18" charset="2"/>
              </a:rPr>
              <a:t> </a:t>
            </a:r>
            <a:r>
              <a:rPr lang="en-US" altLang="zh-CN" dirty="0">
                <a:latin typeface="Times New Roman" panose="02020603050405020304" pitchFamily="18" charset="0"/>
              </a:rPr>
              <a:t>…</a:t>
            </a:r>
            <a:r>
              <a:rPr lang="en-US" altLang="zh-CN" dirty="0"/>
              <a:t> </a:t>
            </a:r>
            <a:r>
              <a:rPr lang="en-US" altLang="zh-CN" dirty="0">
                <a:solidFill>
                  <a:srgbClr val="333300"/>
                </a:solidFill>
                <a:latin typeface="等线" panose="02010600030101010101" pitchFamily="2" charset="-122"/>
                <a:sym typeface="Symbol" panose="05050102010706020507" pitchFamily="18" charset="2"/>
              </a:rPr>
              <a:t> </a:t>
            </a:r>
            <a:r>
              <a:rPr lang="en-US" altLang="zh-CN" dirty="0"/>
              <a:t>A</a:t>
            </a:r>
            <a:r>
              <a:rPr lang="en-US" altLang="zh-CN" baseline="-25000" dirty="0"/>
              <a:t>k </a:t>
            </a:r>
            <a:r>
              <a:rPr lang="en-US" altLang="zh-CN" dirty="0"/>
              <a:t>→ B</a:t>
            </a:r>
            <a:r>
              <a:rPr lang="zh-CN" altLang="en-US" dirty="0"/>
              <a:t>为永真式，则称</a:t>
            </a:r>
            <a:r>
              <a:rPr lang="zh-CN" altLang="en-US" dirty="0">
                <a:solidFill>
                  <a:schemeClr val="hlink"/>
                </a:solidFill>
              </a:rPr>
              <a:t>推理正确</a:t>
            </a:r>
            <a:r>
              <a:rPr lang="zh-CN" altLang="en-US" dirty="0"/>
              <a:t>，否则称推理不正确。</a:t>
            </a:r>
          </a:p>
          <a:p>
            <a:r>
              <a:rPr lang="zh-CN" altLang="en-US" dirty="0"/>
              <a:t>于是，在一阶逻辑中判断推理是否正确也归结为判断</a:t>
            </a:r>
            <a:r>
              <a:rPr lang="en-US" altLang="zh-CN" dirty="0"/>
              <a:t>A</a:t>
            </a:r>
            <a:r>
              <a:rPr lang="en-US" altLang="zh-CN" baseline="-25000" dirty="0"/>
              <a:t>1 </a:t>
            </a:r>
            <a:r>
              <a:rPr lang="en-US" altLang="zh-CN" dirty="0">
                <a:solidFill>
                  <a:srgbClr val="333300"/>
                </a:solidFill>
                <a:latin typeface="等线" panose="02010600030101010101" pitchFamily="2" charset="-122"/>
                <a:sym typeface="Symbol" panose="05050102010706020507" pitchFamily="18" charset="2"/>
              </a:rPr>
              <a:t> </a:t>
            </a:r>
            <a:r>
              <a:rPr lang="en-US" altLang="zh-CN" dirty="0"/>
              <a:t>A</a:t>
            </a:r>
            <a:r>
              <a:rPr lang="en-US" altLang="zh-CN" baseline="-25000" dirty="0"/>
              <a:t>2 </a:t>
            </a:r>
            <a:r>
              <a:rPr lang="en-US" altLang="zh-CN" dirty="0">
                <a:solidFill>
                  <a:srgbClr val="333300"/>
                </a:solidFill>
                <a:latin typeface="等线" panose="02010600030101010101" pitchFamily="2" charset="-122"/>
                <a:sym typeface="Symbol" panose="05050102010706020507" pitchFamily="18" charset="2"/>
              </a:rPr>
              <a:t> </a:t>
            </a:r>
            <a:r>
              <a:rPr lang="en-US" altLang="zh-CN" dirty="0">
                <a:latin typeface="Times New Roman" panose="02020603050405020304" pitchFamily="18" charset="0"/>
              </a:rPr>
              <a:t>…</a:t>
            </a:r>
            <a:r>
              <a:rPr lang="en-US" altLang="zh-CN" dirty="0"/>
              <a:t> </a:t>
            </a:r>
            <a:r>
              <a:rPr lang="en-US" altLang="zh-CN" dirty="0">
                <a:solidFill>
                  <a:srgbClr val="333300"/>
                </a:solidFill>
                <a:latin typeface="等线" panose="02010600030101010101" pitchFamily="2" charset="-122"/>
                <a:sym typeface="Symbol" panose="05050102010706020507" pitchFamily="18" charset="2"/>
              </a:rPr>
              <a:t> </a:t>
            </a:r>
            <a:r>
              <a:rPr lang="en-US" altLang="zh-CN" dirty="0"/>
              <a:t>A</a:t>
            </a:r>
            <a:r>
              <a:rPr lang="en-US" altLang="zh-CN" baseline="-25000" dirty="0"/>
              <a:t>k </a:t>
            </a:r>
            <a:r>
              <a:rPr lang="en-US" altLang="zh-CN" dirty="0"/>
              <a:t>→ B</a:t>
            </a:r>
            <a:r>
              <a:rPr lang="zh-CN" altLang="en-US" dirty="0"/>
              <a:t>是否为永真式了。</a:t>
            </a:r>
          </a:p>
          <a:p>
            <a:r>
              <a:rPr lang="zh-CN" altLang="en-US" dirty="0"/>
              <a:t>在一阶逻辑中称永真式的蕴涵式为</a:t>
            </a:r>
            <a:r>
              <a:rPr lang="zh-CN" altLang="en-US" dirty="0">
                <a:solidFill>
                  <a:schemeClr val="hlink"/>
                </a:solidFill>
              </a:rPr>
              <a:t>推理定律</a:t>
            </a:r>
            <a:r>
              <a:rPr lang="zh-CN" altLang="en-US" dirty="0"/>
              <a:t>，若一个推理的形式结构正是某条推理定律，则这个推理显然是正确的。</a:t>
            </a:r>
          </a:p>
        </p:txBody>
      </p:sp>
      <p:sp>
        <p:nvSpPr>
          <p:cNvPr id="5" name="文本框 4">
            <a:extLst>
              <a:ext uri="{FF2B5EF4-FFF2-40B4-BE49-F238E27FC236}">
                <a16:creationId xmlns:a16="http://schemas.microsoft.com/office/drawing/2014/main" id="{B323DDC6-CF45-4BB0-AED3-536C9937F666}"/>
              </a:ext>
            </a:extLst>
          </p:cNvPr>
          <p:cNvSpPr txBox="1"/>
          <p:nvPr/>
        </p:nvSpPr>
        <p:spPr>
          <a:xfrm>
            <a:off x="1751013" y="870963"/>
            <a:ext cx="4555658"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dirty="0">
                <a:solidFill>
                  <a:schemeClr val="accent1">
                    <a:lumMod val="50000"/>
                  </a:schemeClr>
                </a:solidFill>
              </a:rPr>
              <a:t>谓词逻辑的推理演算</a:t>
            </a:r>
          </a:p>
        </p:txBody>
      </p:sp>
    </p:spTree>
    <p:extLst>
      <p:ext uri="{BB962C8B-B14F-4D97-AF65-F5344CB8AC3E}">
        <p14:creationId xmlns:p14="http://schemas.microsoft.com/office/powerpoint/2010/main" val="1979267224"/>
      </p:ext>
    </p:extLst>
  </p:cSld>
  <p:clrMapOvr>
    <a:masterClrMapping/>
  </p:clrMapOvr>
  <p:transition spd="slow" advTm="0">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5" name="矩形 3">
            <a:extLst>
              <a:ext uri="{FF2B5EF4-FFF2-40B4-BE49-F238E27FC236}">
                <a16:creationId xmlns:a16="http://schemas.microsoft.com/office/drawing/2014/main" id="{1C1B9694-43C2-4E60-B3E1-887378D14075}"/>
              </a:ext>
            </a:extLst>
          </p:cNvPr>
          <p:cNvSpPr txBox="1">
            <a:spLocks noChangeArrowheads="1"/>
          </p:cNvSpPr>
          <p:nvPr/>
        </p:nvSpPr>
        <p:spPr>
          <a:xfrm>
            <a:off x="1751013" y="1116660"/>
            <a:ext cx="8915400" cy="54102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dirty="0">
                <a:latin typeface="Times New Roman" panose="02020603050405020304" pitchFamily="18" charset="0"/>
              </a:rPr>
              <a:t>证明谓词公式间的等价和蕴涵一般很少用到真值表法。</a:t>
            </a:r>
          </a:p>
          <a:p>
            <a:pPr>
              <a:buFont typeface="Wingdings" panose="05000000000000000000" pitchFamily="2" charset="2"/>
              <a:buNone/>
            </a:pPr>
            <a:r>
              <a:rPr lang="zh-CN" altLang="en-US" dirty="0">
                <a:latin typeface="Times New Roman" panose="02020603050405020304" pitchFamily="18" charset="0"/>
              </a:rPr>
              <a:t>对于谓词公式</a:t>
            </a:r>
            <a:r>
              <a:rPr lang="en-US" altLang="zh-CN" dirty="0">
                <a:latin typeface="Times New Roman" panose="02020603050405020304" pitchFamily="18" charset="0"/>
              </a:rPr>
              <a:t>A</a:t>
            </a:r>
            <a:r>
              <a:rPr lang="zh-CN" altLang="en-US" dirty="0">
                <a:latin typeface="Times New Roman" panose="02020603050405020304" pitchFamily="18" charset="0"/>
              </a:rPr>
              <a:t>，</a:t>
            </a:r>
            <a:r>
              <a:rPr lang="en-US" altLang="zh-CN" dirty="0">
                <a:latin typeface="Times New Roman" panose="02020603050405020304" pitchFamily="18" charset="0"/>
              </a:rPr>
              <a:t>B</a:t>
            </a:r>
            <a:r>
              <a:rPr lang="zh-CN" altLang="en-US" dirty="0">
                <a:latin typeface="Times New Roman" panose="02020603050405020304" pitchFamily="18" charset="0"/>
              </a:rPr>
              <a:t>，一般有如下证明</a:t>
            </a:r>
            <a:r>
              <a:rPr lang="en-US" altLang="zh-CN" dirty="0">
                <a:latin typeface="Times New Roman" panose="02020603050405020304" pitchFamily="18" charset="0"/>
              </a:rPr>
              <a:t>A</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B</a:t>
            </a:r>
            <a:r>
              <a:rPr lang="zh-CN" altLang="en-US" dirty="0">
                <a:latin typeface="Times New Roman" panose="02020603050405020304" pitchFamily="18" charset="0"/>
              </a:rPr>
              <a:t>的方法：</a:t>
            </a:r>
          </a:p>
          <a:p>
            <a:pPr>
              <a:buFont typeface="Wingdings" panose="05000000000000000000" pitchFamily="2" charset="2"/>
              <a:buNone/>
            </a:pPr>
            <a:r>
              <a:rPr lang="zh-CN" altLang="en-US" dirty="0">
                <a:solidFill>
                  <a:srgbClr val="C00000"/>
                </a:solidFill>
                <a:latin typeface="Times New Roman" panose="02020603050405020304" pitchFamily="18" charset="0"/>
              </a:rPr>
              <a:t>方法一</a:t>
            </a:r>
            <a:r>
              <a:rPr lang="en-US" altLang="zh-CN" dirty="0">
                <a:solidFill>
                  <a:srgbClr val="C00000"/>
                </a:solidFill>
                <a:latin typeface="Times New Roman" panose="02020603050405020304" pitchFamily="18" charset="0"/>
              </a:rPr>
              <a:t>. </a:t>
            </a:r>
            <a:r>
              <a:rPr lang="zh-CN" altLang="en-US" dirty="0">
                <a:solidFill>
                  <a:srgbClr val="C00000"/>
                </a:solidFill>
                <a:latin typeface="Times New Roman" panose="02020603050405020304" pitchFamily="18" charset="0"/>
              </a:rPr>
              <a:t>证明</a:t>
            </a:r>
            <a:r>
              <a:rPr lang="en-US" altLang="zh-CN" dirty="0">
                <a:solidFill>
                  <a:srgbClr val="C00000"/>
                </a:solidFill>
                <a:latin typeface="Times New Roman" panose="02020603050405020304" pitchFamily="18" charset="0"/>
              </a:rPr>
              <a:t>A</a:t>
            </a:r>
            <a:r>
              <a:rPr lang="en-US" altLang="zh-CN" dirty="0">
                <a:solidFill>
                  <a:srgbClr val="C00000"/>
                </a:solidFill>
                <a:latin typeface="Times New Roman" panose="02020603050405020304" pitchFamily="18" charset="0"/>
                <a:sym typeface="Symbol" panose="05050102010706020507" pitchFamily="18" charset="2"/>
              </a:rPr>
              <a:t></a:t>
            </a:r>
            <a:r>
              <a:rPr lang="en-US" altLang="zh-CN" dirty="0">
                <a:solidFill>
                  <a:srgbClr val="C00000"/>
                </a:solidFill>
                <a:latin typeface="Times New Roman" panose="02020603050405020304" pitchFamily="18" charset="0"/>
              </a:rPr>
              <a:t>B</a:t>
            </a:r>
            <a:r>
              <a:rPr lang="zh-CN" altLang="en-US" dirty="0">
                <a:solidFill>
                  <a:srgbClr val="C00000"/>
                </a:solidFill>
                <a:latin typeface="Times New Roman" panose="02020603050405020304" pitchFamily="18" charset="0"/>
              </a:rPr>
              <a:t>是恒真公式。</a:t>
            </a:r>
          </a:p>
          <a:p>
            <a:pPr>
              <a:buFont typeface="Wingdings" panose="05000000000000000000" pitchFamily="2" charset="2"/>
              <a:buNone/>
            </a:pPr>
            <a:r>
              <a:rPr lang="zh-CN" altLang="en-US" dirty="0">
                <a:solidFill>
                  <a:srgbClr val="C00000"/>
                </a:solidFill>
                <a:latin typeface="Times New Roman" panose="02020603050405020304" pitchFamily="18" charset="0"/>
              </a:rPr>
              <a:t>方法二</a:t>
            </a:r>
            <a:r>
              <a:rPr lang="en-US" altLang="zh-CN" dirty="0">
                <a:solidFill>
                  <a:srgbClr val="C00000"/>
                </a:solidFill>
                <a:latin typeface="Times New Roman" panose="02020603050405020304" pitchFamily="18" charset="0"/>
              </a:rPr>
              <a:t>. </a:t>
            </a:r>
            <a:r>
              <a:rPr lang="zh-CN" altLang="en-US" dirty="0">
                <a:solidFill>
                  <a:srgbClr val="C00000"/>
                </a:solidFill>
                <a:latin typeface="Times New Roman" panose="02020603050405020304" pitchFamily="18" charset="0"/>
              </a:rPr>
              <a:t>由基本等价式和基本蕴涵式推导出</a:t>
            </a:r>
            <a:r>
              <a:rPr lang="en-US" altLang="zh-CN" dirty="0">
                <a:solidFill>
                  <a:srgbClr val="C00000"/>
                </a:solidFill>
                <a:latin typeface="Times New Roman" panose="02020603050405020304" pitchFamily="18" charset="0"/>
              </a:rPr>
              <a:t>A</a:t>
            </a:r>
            <a:r>
              <a:rPr lang="en-US" altLang="zh-CN" dirty="0">
                <a:solidFill>
                  <a:srgbClr val="C00000"/>
                </a:solidFill>
                <a:latin typeface="Times New Roman" panose="02020603050405020304" pitchFamily="18" charset="0"/>
                <a:sym typeface="Symbol" panose="05050102010706020507" pitchFamily="18" charset="2"/>
              </a:rPr>
              <a:t></a:t>
            </a:r>
            <a:r>
              <a:rPr lang="en-US" altLang="zh-CN" dirty="0">
                <a:solidFill>
                  <a:srgbClr val="C00000"/>
                </a:solidFill>
                <a:latin typeface="Times New Roman" panose="02020603050405020304" pitchFamily="18" charset="0"/>
              </a:rPr>
              <a:t>B</a:t>
            </a:r>
            <a:r>
              <a:rPr lang="zh-CN" altLang="en-US" dirty="0">
                <a:solidFill>
                  <a:srgbClr val="C00000"/>
                </a:solidFill>
                <a:latin typeface="Times New Roman" panose="02020603050405020304" pitchFamily="18" charset="0"/>
              </a:rPr>
              <a:t>。</a:t>
            </a:r>
          </a:p>
          <a:p>
            <a:pPr>
              <a:buFont typeface="Wingdings" panose="05000000000000000000" pitchFamily="2" charset="2"/>
              <a:buNone/>
            </a:pPr>
            <a:r>
              <a:rPr lang="zh-CN" altLang="en-US" dirty="0">
                <a:solidFill>
                  <a:srgbClr val="C00000"/>
                </a:solidFill>
                <a:latin typeface="Times New Roman" panose="02020603050405020304" pitchFamily="18" charset="0"/>
              </a:rPr>
              <a:t>方法三</a:t>
            </a:r>
            <a:r>
              <a:rPr lang="en-US" altLang="zh-CN" dirty="0">
                <a:solidFill>
                  <a:srgbClr val="C00000"/>
                </a:solidFill>
                <a:latin typeface="Times New Roman" panose="02020603050405020304" pitchFamily="18" charset="0"/>
              </a:rPr>
              <a:t>. </a:t>
            </a:r>
            <a:r>
              <a:rPr lang="zh-CN" altLang="en-US" dirty="0">
                <a:solidFill>
                  <a:srgbClr val="C00000"/>
                </a:solidFill>
                <a:latin typeface="Times New Roman" panose="02020603050405020304" pitchFamily="18" charset="0"/>
              </a:rPr>
              <a:t>任取解释 </a:t>
            </a:r>
            <a:r>
              <a:rPr lang="en-US" altLang="zh-CN" dirty="0">
                <a:solidFill>
                  <a:srgbClr val="C00000"/>
                </a:solidFill>
                <a:latin typeface="Times New Roman" panose="02020603050405020304" pitchFamily="18" charset="0"/>
              </a:rPr>
              <a:t>I</a:t>
            </a:r>
            <a:r>
              <a:rPr lang="zh-CN" altLang="en-US" dirty="0">
                <a:solidFill>
                  <a:srgbClr val="C00000"/>
                </a:solidFill>
                <a:latin typeface="Times New Roman" panose="02020603050405020304" pitchFamily="18" charset="0"/>
              </a:rPr>
              <a:t>，若 </a:t>
            </a:r>
            <a:r>
              <a:rPr lang="en-US" altLang="zh-CN" dirty="0">
                <a:solidFill>
                  <a:srgbClr val="C00000"/>
                </a:solidFill>
                <a:latin typeface="Times New Roman" panose="02020603050405020304" pitchFamily="18" charset="0"/>
              </a:rPr>
              <a:t>I </a:t>
            </a:r>
            <a:r>
              <a:rPr lang="zh-CN" altLang="en-US" dirty="0">
                <a:solidFill>
                  <a:srgbClr val="C00000"/>
                </a:solidFill>
                <a:latin typeface="Times New Roman" panose="02020603050405020304" pitchFamily="18" charset="0"/>
              </a:rPr>
              <a:t>满足</a:t>
            </a:r>
            <a:r>
              <a:rPr lang="en-US" altLang="zh-CN" dirty="0">
                <a:solidFill>
                  <a:srgbClr val="C00000"/>
                </a:solidFill>
                <a:latin typeface="Times New Roman" panose="02020603050405020304" pitchFamily="18" charset="0"/>
              </a:rPr>
              <a:t>A</a:t>
            </a:r>
            <a:r>
              <a:rPr lang="zh-CN" altLang="en-US" dirty="0">
                <a:solidFill>
                  <a:srgbClr val="C00000"/>
                </a:solidFill>
                <a:latin typeface="Times New Roman" panose="02020603050405020304" pitchFamily="18" charset="0"/>
              </a:rPr>
              <a:t>，证 </a:t>
            </a:r>
            <a:r>
              <a:rPr lang="en-US" altLang="zh-CN" dirty="0">
                <a:solidFill>
                  <a:srgbClr val="C00000"/>
                </a:solidFill>
                <a:latin typeface="Times New Roman" panose="02020603050405020304" pitchFamily="18" charset="0"/>
              </a:rPr>
              <a:t>I </a:t>
            </a:r>
            <a:r>
              <a:rPr lang="zh-CN" altLang="en-US" dirty="0">
                <a:solidFill>
                  <a:srgbClr val="C00000"/>
                </a:solidFill>
                <a:latin typeface="Times New Roman" panose="02020603050405020304" pitchFamily="18" charset="0"/>
              </a:rPr>
              <a:t>满足</a:t>
            </a:r>
            <a:r>
              <a:rPr lang="en-US" altLang="zh-CN" dirty="0">
                <a:solidFill>
                  <a:srgbClr val="C00000"/>
                </a:solidFill>
                <a:latin typeface="Times New Roman" panose="02020603050405020304" pitchFamily="18" charset="0"/>
              </a:rPr>
              <a:t>B</a:t>
            </a:r>
            <a:r>
              <a:rPr lang="zh-CN" altLang="en-US" dirty="0">
                <a:solidFill>
                  <a:srgbClr val="C00000"/>
                </a:solidFill>
                <a:latin typeface="Times New Roman" panose="02020603050405020304" pitchFamily="18" charset="0"/>
              </a:rPr>
              <a:t>。</a:t>
            </a:r>
          </a:p>
          <a:p>
            <a:pPr>
              <a:buFont typeface="Wingdings" panose="05000000000000000000" pitchFamily="2" charset="2"/>
              <a:buNone/>
            </a:pPr>
            <a:r>
              <a:rPr lang="zh-CN" altLang="en-US" dirty="0">
                <a:solidFill>
                  <a:srgbClr val="C00000"/>
                </a:solidFill>
                <a:latin typeface="Times New Roman" panose="02020603050405020304" pitchFamily="18" charset="0"/>
              </a:rPr>
              <a:t>方法四</a:t>
            </a:r>
            <a:r>
              <a:rPr lang="en-US" altLang="zh-CN" dirty="0">
                <a:solidFill>
                  <a:srgbClr val="C00000"/>
                </a:solidFill>
                <a:latin typeface="Times New Roman" panose="02020603050405020304" pitchFamily="18" charset="0"/>
              </a:rPr>
              <a:t>. </a:t>
            </a:r>
            <a:r>
              <a:rPr lang="zh-CN" altLang="en-US" dirty="0">
                <a:solidFill>
                  <a:srgbClr val="C00000"/>
                </a:solidFill>
                <a:latin typeface="Times New Roman" panose="02020603050405020304" pitchFamily="18" charset="0"/>
              </a:rPr>
              <a:t>反证法，设结论假，证前提假。</a:t>
            </a:r>
          </a:p>
        </p:txBody>
      </p:sp>
    </p:spTree>
    <p:extLst>
      <p:ext uri="{BB962C8B-B14F-4D97-AF65-F5344CB8AC3E}">
        <p14:creationId xmlns:p14="http://schemas.microsoft.com/office/powerpoint/2010/main" val="1468335830"/>
      </p:ext>
    </p:extLst>
  </p:cSld>
  <p:clrMapOvr>
    <a:masterClrMapping/>
  </p:clrMapOvr>
  <p:transition spd="slow" advTm="0">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矩形 2">
            <a:extLst>
              <a:ext uri="{FF2B5EF4-FFF2-40B4-BE49-F238E27FC236}">
                <a16:creationId xmlns:a16="http://schemas.microsoft.com/office/drawing/2014/main" id="{BC21E5E8-015A-42F1-90C8-A8D13071F680}"/>
              </a:ext>
            </a:extLst>
          </p:cNvPr>
          <p:cNvSpPr txBox="1">
            <a:spLocks noChangeArrowheads="1"/>
          </p:cNvSpPr>
          <p:nvPr/>
        </p:nvSpPr>
        <p:spPr>
          <a:xfrm>
            <a:off x="1751013" y="1074738"/>
            <a:ext cx="8229600" cy="762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a:latin typeface="+mn-ea"/>
                <a:ea typeface="+mn-ea"/>
              </a:rPr>
              <a:t>命题逻辑推理定律的代换实例</a:t>
            </a:r>
            <a:endParaRPr lang="zh-CN" altLang="en-US" sz="3200" dirty="0">
              <a:latin typeface="+mn-ea"/>
              <a:ea typeface="+mn-ea"/>
            </a:endParaRPr>
          </a:p>
        </p:txBody>
      </p:sp>
      <p:sp>
        <p:nvSpPr>
          <p:cNvPr id="5" name="矩形 3">
            <a:extLst>
              <a:ext uri="{FF2B5EF4-FFF2-40B4-BE49-F238E27FC236}">
                <a16:creationId xmlns:a16="http://schemas.microsoft.com/office/drawing/2014/main" id="{80FC080C-FEFE-49F6-9F0A-9D625F91BD2F}"/>
              </a:ext>
            </a:extLst>
          </p:cNvPr>
          <p:cNvSpPr txBox="1">
            <a:spLocks noChangeArrowheads="1"/>
          </p:cNvSpPr>
          <p:nvPr/>
        </p:nvSpPr>
        <p:spPr>
          <a:xfrm>
            <a:off x="2057400" y="2463553"/>
            <a:ext cx="8077200" cy="2133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sym typeface="Symbol" panose="05050102010706020507" pitchFamily="18" charset="2"/>
              </a:rPr>
              <a:t></a:t>
            </a:r>
            <a:r>
              <a:rPr lang="en-US" altLang="zh-CN" dirty="0" err="1">
                <a:sym typeface="Symbol" panose="05050102010706020507" pitchFamily="18" charset="2"/>
              </a:rPr>
              <a:t>xF</a:t>
            </a:r>
            <a:r>
              <a:rPr lang="en-US" altLang="zh-CN" dirty="0">
                <a:sym typeface="Symbol" panose="05050102010706020507" pitchFamily="18" charset="2"/>
              </a:rPr>
              <a:t>(x)∧</a:t>
            </a:r>
            <a:r>
              <a:rPr lang="en-US" altLang="zh-CN" dirty="0" err="1">
                <a:sym typeface="Symbol" panose="05050102010706020507" pitchFamily="18" charset="2"/>
              </a:rPr>
              <a:t>yG</a:t>
            </a:r>
            <a:r>
              <a:rPr lang="en-US" altLang="zh-CN" dirty="0">
                <a:sym typeface="Symbol" panose="05050102010706020507" pitchFamily="18" charset="2"/>
              </a:rPr>
              <a:t>(y)  </a:t>
            </a:r>
            <a:r>
              <a:rPr lang="en-US" altLang="zh-CN" dirty="0" err="1">
                <a:sym typeface="Symbol" panose="05050102010706020507" pitchFamily="18" charset="2"/>
              </a:rPr>
              <a:t>xF</a:t>
            </a:r>
            <a:r>
              <a:rPr lang="en-US" altLang="zh-CN" dirty="0">
                <a:sym typeface="Symbol" panose="05050102010706020507" pitchFamily="18" charset="2"/>
              </a:rPr>
              <a:t>(x)	</a:t>
            </a:r>
            <a:r>
              <a:rPr lang="zh-CN" altLang="en-US" dirty="0">
                <a:sym typeface="Symbol" panose="05050102010706020507" pitchFamily="18" charset="2"/>
              </a:rPr>
              <a:t>（化简律的代换实例）</a:t>
            </a:r>
          </a:p>
          <a:p>
            <a:r>
              <a:rPr lang="zh-CN" altLang="en-US" dirty="0">
                <a:sym typeface="Symbol" panose="05050102010706020507" pitchFamily="18" charset="2"/>
              </a:rPr>
              <a:t></a:t>
            </a:r>
            <a:r>
              <a:rPr lang="en-US" altLang="zh-CN" dirty="0" err="1">
                <a:sym typeface="Symbol" panose="05050102010706020507" pitchFamily="18" charset="2"/>
              </a:rPr>
              <a:t>xF</a:t>
            </a:r>
            <a:r>
              <a:rPr lang="en-US" altLang="zh-CN" dirty="0">
                <a:sym typeface="Symbol" panose="05050102010706020507" pitchFamily="18" charset="2"/>
              </a:rPr>
              <a:t>(x)  </a:t>
            </a:r>
            <a:r>
              <a:rPr lang="en-US" altLang="zh-CN" dirty="0" err="1">
                <a:sym typeface="Symbol" panose="05050102010706020507" pitchFamily="18" charset="2"/>
              </a:rPr>
              <a:t>xF</a:t>
            </a:r>
            <a:r>
              <a:rPr lang="en-US" altLang="zh-CN" dirty="0">
                <a:sym typeface="Symbol" panose="05050102010706020507" pitchFamily="18" charset="2"/>
              </a:rPr>
              <a:t>(x) ∨ </a:t>
            </a:r>
            <a:r>
              <a:rPr lang="en-US" altLang="zh-CN" dirty="0" err="1">
                <a:sym typeface="Symbol" panose="05050102010706020507" pitchFamily="18" charset="2"/>
              </a:rPr>
              <a:t>yG</a:t>
            </a:r>
            <a:r>
              <a:rPr lang="en-US" altLang="zh-CN" dirty="0">
                <a:sym typeface="Symbol" panose="05050102010706020507" pitchFamily="18" charset="2"/>
              </a:rPr>
              <a:t>(y) </a:t>
            </a:r>
            <a:r>
              <a:rPr lang="zh-CN" altLang="en-US" dirty="0">
                <a:sym typeface="Symbol" panose="05050102010706020507" pitchFamily="18" charset="2"/>
              </a:rPr>
              <a:t>（附加律的代换实例）</a:t>
            </a:r>
          </a:p>
          <a:p>
            <a:r>
              <a:rPr lang="en-US" altLang="zh-CN" dirty="0">
                <a:latin typeface="Times New Roman" panose="02020603050405020304" pitchFamily="18" charset="0"/>
                <a:sym typeface="Symbol" panose="05050102010706020507" pitchFamily="18" charset="2"/>
              </a:rPr>
              <a:t>……</a:t>
            </a:r>
            <a:r>
              <a:rPr lang="en-US" altLang="zh-CN" dirty="0">
                <a:sym typeface="Symbol" panose="05050102010706020507" pitchFamily="18" charset="2"/>
              </a:rPr>
              <a:t> </a:t>
            </a:r>
            <a:r>
              <a:rPr lang="en-US" altLang="zh-CN" dirty="0">
                <a:latin typeface="Times New Roman" panose="02020603050405020304" pitchFamily="18" charset="0"/>
                <a:sym typeface="Symbol" panose="05050102010706020507" pitchFamily="18" charset="2"/>
              </a:rPr>
              <a:t>……</a:t>
            </a:r>
            <a:endParaRPr lang="en-US" altLang="zh-CN" dirty="0"/>
          </a:p>
        </p:txBody>
      </p:sp>
    </p:spTree>
    <p:extLst>
      <p:ext uri="{BB962C8B-B14F-4D97-AF65-F5344CB8AC3E}">
        <p14:creationId xmlns:p14="http://schemas.microsoft.com/office/powerpoint/2010/main" val="1757897948"/>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6" name="矩形 2">
            <a:extLst>
              <a:ext uri="{FF2B5EF4-FFF2-40B4-BE49-F238E27FC236}">
                <a16:creationId xmlns:a16="http://schemas.microsoft.com/office/drawing/2014/main" id="{3A864816-04AA-4A23-91D1-39D6E9D5ADD0}"/>
              </a:ext>
            </a:extLst>
          </p:cNvPr>
          <p:cNvSpPr txBox="1">
            <a:spLocks noChangeArrowheads="1"/>
          </p:cNvSpPr>
          <p:nvPr/>
        </p:nvSpPr>
        <p:spPr>
          <a:xfrm>
            <a:off x="1917854" y="1074738"/>
            <a:ext cx="8229600" cy="762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latin typeface="+mn-ea"/>
                <a:ea typeface="+mn-ea"/>
              </a:rPr>
              <a:t>由基本等值式生成的推理定律</a:t>
            </a:r>
          </a:p>
        </p:txBody>
      </p:sp>
      <p:sp>
        <p:nvSpPr>
          <p:cNvPr id="7" name="矩形 3">
            <a:extLst>
              <a:ext uri="{FF2B5EF4-FFF2-40B4-BE49-F238E27FC236}">
                <a16:creationId xmlns:a16="http://schemas.microsoft.com/office/drawing/2014/main" id="{81DDA78D-3282-466F-A1DC-F69AE010EF1F}"/>
              </a:ext>
            </a:extLst>
          </p:cNvPr>
          <p:cNvSpPr txBox="1">
            <a:spLocks noChangeArrowheads="1"/>
          </p:cNvSpPr>
          <p:nvPr/>
        </p:nvSpPr>
        <p:spPr>
          <a:xfrm>
            <a:off x="3072413" y="2173288"/>
            <a:ext cx="8153400" cy="4724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sym typeface="Symbol" panose="05050102010706020507" pitchFamily="18" charset="2"/>
              </a:rPr>
              <a:t></a:t>
            </a:r>
            <a:r>
              <a:rPr lang="en-US" altLang="zh-CN" dirty="0" err="1"/>
              <a:t>xF</a:t>
            </a:r>
            <a:r>
              <a:rPr lang="en-US" altLang="zh-CN" dirty="0"/>
              <a:t>(x) </a:t>
            </a:r>
            <a:r>
              <a:rPr lang="en-US" altLang="zh-CN" dirty="0">
                <a:sym typeface="Symbol" panose="05050102010706020507" pitchFamily="18" charset="2"/>
              </a:rPr>
              <a:t></a:t>
            </a:r>
            <a:r>
              <a:rPr lang="en-US" altLang="zh-CN" dirty="0"/>
              <a:t> ┐┐</a:t>
            </a:r>
            <a:r>
              <a:rPr lang="en-US" altLang="zh-CN" dirty="0">
                <a:sym typeface="Symbol" panose="05050102010706020507" pitchFamily="18" charset="2"/>
              </a:rPr>
              <a:t></a:t>
            </a:r>
            <a:r>
              <a:rPr lang="en-US" altLang="zh-CN" dirty="0" err="1"/>
              <a:t>xF</a:t>
            </a:r>
            <a:r>
              <a:rPr lang="en-US" altLang="zh-CN" dirty="0"/>
              <a:t>(x) </a:t>
            </a:r>
          </a:p>
          <a:p>
            <a:r>
              <a:rPr lang="en-US" altLang="zh-CN" dirty="0"/>
              <a:t>┐┐</a:t>
            </a:r>
            <a:r>
              <a:rPr lang="en-US" altLang="zh-CN" dirty="0">
                <a:sym typeface="Symbol" panose="05050102010706020507" pitchFamily="18" charset="2"/>
              </a:rPr>
              <a:t></a:t>
            </a:r>
            <a:r>
              <a:rPr lang="en-US" altLang="zh-CN" dirty="0" err="1"/>
              <a:t>xF</a:t>
            </a:r>
            <a:r>
              <a:rPr lang="en-US" altLang="zh-CN" dirty="0"/>
              <a:t>(x) </a:t>
            </a:r>
            <a:r>
              <a:rPr lang="en-US" altLang="zh-CN" dirty="0">
                <a:sym typeface="Symbol" panose="05050102010706020507" pitchFamily="18" charset="2"/>
              </a:rPr>
              <a:t></a:t>
            </a:r>
            <a:r>
              <a:rPr lang="en-US" altLang="zh-CN" dirty="0"/>
              <a:t> </a:t>
            </a:r>
            <a:r>
              <a:rPr lang="en-US" altLang="zh-CN" dirty="0">
                <a:sym typeface="Symbol" panose="05050102010706020507" pitchFamily="18" charset="2"/>
              </a:rPr>
              <a:t></a:t>
            </a:r>
            <a:r>
              <a:rPr lang="en-US" altLang="zh-CN" dirty="0" err="1"/>
              <a:t>xF</a:t>
            </a:r>
            <a:r>
              <a:rPr lang="en-US" altLang="zh-CN" dirty="0"/>
              <a:t>(x)</a:t>
            </a:r>
          </a:p>
          <a:p>
            <a:r>
              <a:rPr lang="en-US" altLang="zh-CN" dirty="0"/>
              <a:t>┐</a:t>
            </a:r>
            <a:r>
              <a:rPr lang="en-US" altLang="zh-CN" dirty="0">
                <a:sym typeface="Symbol" panose="05050102010706020507" pitchFamily="18" charset="2"/>
              </a:rPr>
              <a:t></a:t>
            </a:r>
            <a:r>
              <a:rPr lang="en-US" altLang="zh-CN" dirty="0" err="1"/>
              <a:t>xF</a:t>
            </a:r>
            <a:r>
              <a:rPr lang="en-US" altLang="zh-CN" dirty="0"/>
              <a:t>(x) </a:t>
            </a:r>
            <a:r>
              <a:rPr lang="en-US" altLang="zh-CN" dirty="0">
                <a:sym typeface="Symbol" panose="05050102010706020507" pitchFamily="18" charset="2"/>
              </a:rPr>
              <a:t></a:t>
            </a:r>
            <a:r>
              <a:rPr lang="en-US" altLang="zh-CN" dirty="0"/>
              <a:t> </a:t>
            </a:r>
            <a:r>
              <a:rPr lang="en-US" altLang="zh-CN" dirty="0">
                <a:sym typeface="Symbol" panose="05050102010706020507" pitchFamily="18" charset="2"/>
              </a:rPr>
              <a:t></a:t>
            </a:r>
            <a:r>
              <a:rPr lang="en-US" altLang="zh-CN" dirty="0" err="1"/>
              <a:t>x┐F</a:t>
            </a:r>
            <a:r>
              <a:rPr lang="en-US" altLang="zh-CN" dirty="0"/>
              <a:t>(x)</a:t>
            </a:r>
          </a:p>
          <a:p>
            <a:r>
              <a:rPr lang="en-US" altLang="zh-CN" dirty="0">
                <a:sym typeface="Symbol" panose="05050102010706020507" pitchFamily="18" charset="2"/>
              </a:rPr>
              <a:t></a:t>
            </a:r>
            <a:r>
              <a:rPr lang="en-US" altLang="zh-CN" dirty="0" err="1"/>
              <a:t>x┐F</a:t>
            </a:r>
            <a:r>
              <a:rPr lang="en-US" altLang="zh-CN" dirty="0"/>
              <a:t>(x) </a:t>
            </a:r>
            <a:r>
              <a:rPr lang="en-US" altLang="zh-CN" dirty="0">
                <a:sym typeface="Symbol" panose="05050102010706020507" pitchFamily="18" charset="2"/>
              </a:rPr>
              <a:t></a:t>
            </a:r>
            <a:r>
              <a:rPr lang="en-US" altLang="zh-CN" dirty="0"/>
              <a:t> ┐</a:t>
            </a:r>
            <a:r>
              <a:rPr lang="en-US" altLang="zh-CN" dirty="0">
                <a:sym typeface="Symbol" panose="05050102010706020507" pitchFamily="18" charset="2"/>
              </a:rPr>
              <a:t></a:t>
            </a:r>
            <a:r>
              <a:rPr lang="en-US" altLang="zh-CN" dirty="0" err="1"/>
              <a:t>xF</a:t>
            </a:r>
            <a:r>
              <a:rPr lang="en-US" altLang="zh-CN" dirty="0"/>
              <a:t>(x) </a:t>
            </a:r>
          </a:p>
          <a:p>
            <a:r>
              <a:rPr lang="en-US" altLang="zh-CN" dirty="0">
                <a:latin typeface="Times New Roman" panose="02020603050405020304" pitchFamily="18" charset="0"/>
              </a:rPr>
              <a:t>……</a:t>
            </a:r>
            <a:r>
              <a:rPr lang="en-US" altLang="zh-CN" dirty="0"/>
              <a:t> </a:t>
            </a:r>
            <a:r>
              <a:rPr lang="en-US" altLang="zh-CN" dirty="0">
                <a:latin typeface="Times New Roman" panose="02020603050405020304" pitchFamily="18" charset="0"/>
              </a:rPr>
              <a:t>……</a:t>
            </a:r>
            <a:endParaRPr lang="en-US" altLang="zh-CN" dirty="0"/>
          </a:p>
          <a:p>
            <a:pPr algn="just">
              <a:buFont typeface="Wingdings" panose="05000000000000000000" pitchFamily="2" charset="2"/>
              <a:buNone/>
            </a:pPr>
            <a:endParaRPr lang="en-US" altLang="zh-CN" dirty="0">
              <a:sym typeface="Symbol" panose="05050102010706020507" pitchFamily="18" charset="2"/>
            </a:endParaRPr>
          </a:p>
        </p:txBody>
      </p:sp>
    </p:spTree>
    <p:extLst>
      <p:ext uri="{BB962C8B-B14F-4D97-AF65-F5344CB8AC3E}">
        <p14:creationId xmlns:p14="http://schemas.microsoft.com/office/powerpoint/2010/main" val="146057780"/>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8" name="Rectangle 3">
            <a:extLst>
              <a:ext uri="{FF2B5EF4-FFF2-40B4-BE49-F238E27FC236}">
                <a16:creationId xmlns:a16="http://schemas.microsoft.com/office/drawing/2014/main" id="{68CC10A4-F4AA-460E-9298-754267693470}"/>
              </a:ext>
            </a:extLst>
          </p:cNvPr>
          <p:cNvSpPr txBox="1">
            <a:spLocks noChangeArrowheads="1"/>
          </p:cNvSpPr>
          <p:nvPr/>
        </p:nvSpPr>
        <p:spPr bwMode="auto">
          <a:xfrm>
            <a:off x="1847850" y="2058777"/>
            <a:ext cx="8496300" cy="3529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fontAlgn="base">
              <a:lnSpc>
                <a:spcPct val="120000"/>
              </a:lnSpc>
              <a:spcBef>
                <a:spcPct val="20000"/>
              </a:spcBef>
              <a:spcAft>
                <a:spcPct val="0"/>
              </a:spcAft>
              <a:buClr>
                <a:srgbClr val="FF3300"/>
              </a:buClr>
              <a:buFont typeface="Wingdings" panose="05000000000000000000" pitchFamily="2" charset="2"/>
              <a:defRPr sz="2800" b="1" kern="1200">
                <a:solidFill>
                  <a:srgbClr val="000000"/>
                </a:solidFill>
                <a:latin typeface="+mn-lt"/>
                <a:ea typeface="+mn-ea"/>
                <a:cs typeface="+mn-cs"/>
              </a:defRPr>
            </a:lvl1pPr>
            <a:lvl2pPr marL="742950" indent="-285750" algn="l" rtl="0" fontAlgn="base">
              <a:lnSpc>
                <a:spcPct val="120000"/>
              </a:lnSpc>
              <a:spcBef>
                <a:spcPct val="20000"/>
              </a:spcBef>
              <a:spcAft>
                <a:spcPct val="0"/>
              </a:spcAft>
              <a:buClr>
                <a:srgbClr val="FF3300"/>
              </a:buClr>
              <a:buFont typeface="Wingdings" panose="05000000000000000000" pitchFamily="2" charset="2"/>
              <a:defRPr sz="2400" b="1" kern="1200">
                <a:solidFill>
                  <a:srgbClr val="333300"/>
                </a:solidFill>
                <a:latin typeface="+mn-lt"/>
                <a:ea typeface="宋体" panose="02010600030101010101" pitchFamily="2" charset="-122"/>
                <a:cs typeface="+mn-cs"/>
              </a:defRPr>
            </a:lvl2pPr>
            <a:lvl3pPr marL="1143000" indent="-228600" algn="l" rtl="0" fontAlgn="base">
              <a:lnSpc>
                <a:spcPct val="120000"/>
              </a:lnSpc>
              <a:spcBef>
                <a:spcPct val="20000"/>
              </a:spcBef>
              <a:spcAft>
                <a:spcPct val="0"/>
              </a:spcAft>
              <a:buClr>
                <a:srgbClr val="FF3300"/>
              </a:buClr>
              <a:buFont typeface="Wingdings" panose="05000000000000000000" pitchFamily="2" charset="2"/>
              <a:defRPr sz="2000" b="1" kern="1200">
                <a:solidFill>
                  <a:srgbClr val="333300"/>
                </a:solidFill>
                <a:latin typeface="+mn-lt"/>
                <a:ea typeface="宋体" panose="02010600030101010101" pitchFamily="2" charset="-122"/>
                <a:cs typeface="+mn-cs"/>
              </a:defRPr>
            </a:lvl3pPr>
            <a:lvl4pPr marL="1600200" indent="-228600" algn="l" rtl="0" fontAlgn="base">
              <a:lnSpc>
                <a:spcPct val="120000"/>
              </a:lnSpc>
              <a:spcBef>
                <a:spcPct val="20000"/>
              </a:spcBef>
              <a:spcAft>
                <a:spcPct val="0"/>
              </a:spcAft>
              <a:buClr>
                <a:srgbClr val="FF3300"/>
              </a:buClr>
              <a:defRPr b="1" kern="1200">
                <a:solidFill>
                  <a:srgbClr val="333300"/>
                </a:solidFill>
                <a:latin typeface="+mn-lt"/>
                <a:ea typeface="宋体" panose="02010600030101010101" pitchFamily="2" charset="-122"/>
                <a:cs typeface="+mn-cs"/>
              </a:defRPr>
            </a:lvl4pPr>
            <a:lvl5pPr marL="2057400" indent="-228600" algn="l" rtl="0" fontAlgn="base">
              <a:lnSpc>
                <a:spcPct val="120000"/>
              </a:lnSpc>
              <a:spcBef>
                <a:spcPct val="20000"/>
              </a:spcBef>
              <a:spcAft>
                <a:spcPct val="0"/>
              </a:spcAft>
              <a:buClr>
                <a:srgbClr val="FF3300"/>
              </a:buClr>
              <a:defRPr sz="1600" b="1" kern="1200">
                <a:solidFill>
                  <a:srgbClr val="333300"/>
                </a:solidFill>
                <a:latin typeface="+mn-lt"/>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r>
              <a:rPr lang="zh-CN" altLang="zh-CN" b="0" dirty="0">
                <a:solidFill>
                  <a:schemeClr val="tx1"/>
                </a:solidFill>
                <a:latin typeface="Times New Roman" panose="02020603050405020304" pitchFamily="18" charset="0"/>
                <a:cs typeface="Times New Roman" panose="02020603050405020304" pitchFamily="18" charset="0"/>
              </a:rPr>
              <a:t>（</a:t>
            </a:r>
            <a:r>
              <a:rPr lang="en-US" altLang="zh-CN" b="0" dirty="0">
                <a:solidFill>
                  <a:schemeClr val="tx1"/>
                </a:solidFill>
                <a:latin typeface="Times New Roman" panose="02020603050405020304" pitchFamily="18" charset="0"/>
                <a:cs typeface="Times New Roman" panose="02020603050405020304" pitchFamily="18" charset="0"/>
              </a:rPr>
              <a:t>1</a:t>
            </a:r>
            <a:r>
              <a:rPr lang="zh-CN" altLang="en-US" b="0" dirty="0">
                <a:solidFill>
                  <a:schemeClr val="tx1"/>
                </a:solidFill>
                <a:latin typeface="Times New Roman" panose="02020603050405020304" pitchFamily="18" charset="0"/>
                <a:cs typeface="Times New Roman" panose="02020603050405020304" pitchFamily="18" charset="0"/>
              </a:rPr>
              <a:t>）</a:t>
            </a:r>
            <a:r>
              <a:rPr lang="en-US" altLang="zh-CN" b="0" dirty="0">
                <a:solidFill>
                  <a:schemeClr val="tx1"/>
                </a:solidFill>
                <a:latin typeface="Times New Roman" panose="02020603050405020304" pitchFamily="18" charset="0"/>
                <a:cs typeface="Times New Roman" panose="02020603050405020304" pitchFamily="18" charset="0"/>
              </a:rPr>
              <a:t> </a:t>
            </a:r>
            <a:r>
              <a:rPr lang="en-US" altLang="zh-CN"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err="1">
                <a:solidFill>
                  <a:schemeClr val="tx1"/>
                </a:solidFill>
                <a:latin typeface="Times New Roman" panose="02020603050405020304" pitchFamily="18" charset="0"/>
                <a:cs typeface="Times New Roman" panose="02020603050405020304" pitchFamily="18" charset="0"/>
              </a:rPr>
              <a:t>xG</a:t>
            </a:r>
            <a:r>
              <a:rPr lang="en-US" altLang="zh-CN" b="0" dirty="0">
                <a:solidFill>
                  <a:schemeClr val="tx1"/>
                </a:solidFill>
                <a:latin typeface="Times New Roman" panose="02020603050405020304" pitchFamily="18" charset="0"/>
                <a:cs typeface="Times New Roman" panose="02020603050405020304" pitchFamily="18" charset="0"/>
              </a:rPr>
              <a:t>(x) </a:t>
            </a:r>
            <a:r>
              <a:rPr lang="en-US" altLang="en-US" b="0" noProof="1">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err="1">
                <a:solidFill>
                  <a:schemeClr val="tx1"/>
                </a:solidFill>
                <a:latin typeface="Times New Roman" panose="02020603050405020304" pitchFamily="18" charset="0"/>
                <a:cs typeface="Times New Roman" panose="02020603050405020304" pitchFamily="18" charset="0"/>
              </a:rPr>
              <a:t>xG</a:t>
            </a:r>
            <a:r>
              <a:rPr lang="en-US" altLang="zh-CN" b="0" dirty="0">
                <a:solidFill>
                  <a:schemeClr val="tx1"/>
                </a:solidFill>
                <a:latin typeface="Times New Roman" panose="02020603050405020304" pitchFamily="18" charset="0"/>
                <a:cs typeface="Times New Roman" panose="02020603050405020304" pitchFamily="18" charset="0"/>
              </a:rPr>
              <a:t>(x)</a:t>
            </a:r>
            <a:r>
              <a:rPr lang="zh-CN" altLang="en-US" b="0" dirty="0">
                <a:solidFill>
                  <a:schemeClr val="tx1"/>
                </a:solidFill>
                <a:latin typeface="Times New Roman" panose="02020603050405020304" pitchFamily="18" charset="0"/>
                <a:cs typeface="Times New Roman" panose="02020603050405020304" pitchFamily="18" charset="0"/>
              </a:rPr>
              <a:t>；</a:t>
            </a:r>
          </a:p>
          <a:p>
            <a:pPr marL="457200" indent="-457200"/>
            <a:r>
              <a:rPr lang="zh-CN" altLang="en-US" b="0" dirty="0">
                <a:solidFill>
                  <a:schemeClr val="tx1"/>
                </a:solidFill>
                <a:latin typeface="Times New Roman" panose="02020603050405020304" pitchFamily="18" charset="0"/>
                <a:cs typeface="Times New Roman" panose="02020603050405020304" pitchFamily="18" charset="0"/>
              </a:rPr>
              <a:t>（</a:t>
            </a:r>
            <a:r>
              <a:rPr lang="en-US" altLang="zh-CN" b="0" dirty="0">
                <a:solidFill>
                  <a:schemeClr val="tx1"/>
                </a:solidFill>
                <a:latin typeface="Times New Roman" panose="02020603050405020304" pitchFamily="18" charset="0"/>
                <a:cs typeface="Times New Roman" panose="02020603050405020304" pitchFamily="18" charset="0"/>
              </a:rPr>
              <a:t>2</a:t>
            </a:r>
            <a:r>
              <a:rPr lang="zh-CN" altLang="en-US" b="0" dirty="0">
                <a:solidFill>
                  <a:schemeClr val="tx1"/>
                </a:solidFill>
                <a:latin typeface="Times New Roman" panose="02020603050405020304" pitchFamily="18" charset="0"/>
                <a:cs typeface="Times New Roman" panose="02020603050405020304" pitchFamily="18" charset="0"/>
              </a:rPr>
              <a:t>）</a:t>
            </a:r>
            <a:r>
              <a:rPr lang="en-US" altLang="zh-CN" b="0" dirty="0">
                <a:solidFill>
                  <a:schemeClr val="tx1"/>
                </a:solidFill>
                <a:latin typeface="Times New Roman" panose="02020603050405020304" pitchFamily="18" charset="0"/>
                <a:cs typeface="Times New Roman" panose="02020603050405020304" pitchFamily="18" charset="0"/>
              </a:rPr>
              <a:t> </a:t>
            </a:r>
            <a:r>
              <a:rPr lang="en-US" altLang="zh-CN"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err="1">
                <a:solidFill>
                  <a:schemeClr val="tx1"/>
                </a:solidFill>
                <a:latin typeface="Times New Roman" panose="02020603050405020304" pitchFamily="18" charset="0"/>
                <a:cs typeface="Times New Roman" panose="02020603050405020304" pitchFamily="18" charset="0"/>
              </a:rPr>
              <a:t>xG</a:t>
            </a:r>
            <a:r>
              <a:rPr lang="en-US" altLang="zh-CN" b="0" dirty="0">
                <a:solidFill>
                  <a:schemeClr val="tx1"/>
                </a:solidFill>
                <a:latin typeface="Times New Roman" panose="02020603050405020304" pitchFamily="18" charset="0"/>
                <a:cs typeface="Times New Roman" panose="02020603050405020304" pitchFamily="18" charset="0"/>
              </a:rPr>
              <a:t>(x)∨</a:t>
            </a:r>
            <a:r>
              <a:rPr lang="en-US" altLang="zh-CN"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err="1">
                <a:solidFill>
                  <a:schemeClr val="tx1"/>
                </a:solidFill>
                <a:latin typeface="Times New Roman" panose="02020603050405020304" pitchFamily="18" charset="0"/>
                <a:cs typeface="Times New Roman" panose="02020603050405020304" pitchFamily="18" charset="0"/>
              </a:rPr>
              <a:t>xH</a:t>
            </a:r>
            <a:r>
              <a:rPr lang="en-US" altLang="zh-CN" b="0" dirty="0">
                <a:solidFill>
                  <a:schemeClr val="tx1"/>
                </a:solidFill>
                <a:latin typeface="Times New Roman" panose="02020603050405020304" pitchFamily="18" charset="0"/>
                <a:cs typeface="Times New Roman" panose="02020603050405020304" pitchFamily="18" charset="0"/>
              </a:rPr>
              <a:t>(x) </a:t>
            </a:r>
            <a:r>
              <a:rPr lang="en-US" altLang="en-US" b="0" noProof="1">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a:solidFill>
                  <a:schemeClr val="tx1"/>
                </a:solidFill>
                <a:latin typeface="Times New Roman" panose="02020603050405020304" pitchFamily="18" charset="0"/>
                <a:cs typeface="Times New Roman" panose="02020603050405020304" pitchFamily="18" charset="0"/>
              </a:rPr>
              <a:t>x (G(x)∨H(x))</a:t>
            </a:r>
            <a:endParaRPr lang="zh-CN" altLang="en-US" b="0" dirty="0">
              <a:solidFill>
                <a:schemeClr val="tx1"/>
              </a:solidFill>
              <a:latin typeface="Times New Roman" panose="02020603050405020304" pitchFamily="18" charset="0"/>
              <a:cs typeface="Times New Roman" panose="02020603050405020304" pitchFamily="18" charset="0"/>
            </a:endParaRPr>
          </a:p>
          <a:p>
            <a:pPr marL="457200" indent="-457200"/>
            <a:r>
              <a:rPr lang="en-US" altLang="zh-CN" b="0" dirty="0">
                <a:solidFill>
                  <a:schemeClr val="tx1"/>
                </a:solidFill>
                <a:latin typeface="Times New Roman" panose="02020603050405020304" pitchFamily="18" charset="0"/>
                <a:cs typeface="Times New Roman" panose="02020603050405020304" pitchFamily="18" charset="0"/>
              </a:rPr>
              <a:t>           </a:t>
            </a:r>
            <a:r>
              <a:rPr lang="en-US" altLang="zh-CN"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a:solidFill>
                  <a:schemeClr val="tx1"/>
                </a:solidFill>
                <a:latin typeface="Times New Roman" panose="02020603050405020304" pitchFamily="18" charset="0"/>
                <a:cs typeface="Times New Roman" panose="02020603050405020304" pitchFamily="18" charset="0"/>
              </a:rPr>
              <a:t>x(G(x)∧H(x))</a:t>
            </a:r>
            <a:r>
              <a:rPr lang="en-US" altLang="en-US" b="0" noProof="1">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err="1">
                <a:solidFill>
                  <a:schemeClr val="tx1"/>
                </a:solidFill>
                <a:latin typeface="Times New Roman" panose="02020603050405020304" pitchFamily="18" charset="0"/>
                <a:cs typeface="Times New Roman" panose="02020603050405020304" pitchFamily="18" charset="0"/>
              </a:rPr>
              <a:t>xG</a:t>
            </a:r>
            <a:r>
              <a:rPr lang="en-US" altLang="zh-CN" b="0" dirty="0">
                <a:solidFill>
                  <a:schemeClr val="tx1"/>
                </a:solidFill>
                <a:latin typeface="Times New Roman" panose="02020603050405020304" pitchFamily="18" charset="0"/>
                <a:cs typeface="Times New Roman" panose="02020603050405020304" pitchFamily="18" charset="0"/>
              </a:rPr>
              <a:t>(x)∧</a:t>
            </a:r>
            <a:r>
              <a:rPr lang="en-US" altLang="zh-CN"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err="1">
                <a:solidFill>
                  <a:schemeClr val="tx1"/>
                </a:solidFill>
                <a:latin typeface="Times New Roman" panose="02020603050405020304" pitchFamily="18" charset="0"/>
                <a:cs typeface="Times New Roman" panose="02020603050405020304" pitchFamily="18" charset="0"/>
              </a:rPr>
              <a:t>xH</a:t>
            </a:r>
            <a:r>
              <a:rPr lang="en-US" altLang="zh-CN" b="0" dirty="0">
                <a:solidFill>
                  <a:schemeClr val="tx1"/>
                </a:solidFill>
                <a:latin typeface="Times New Roman" panose="02020603050405020304" pitchFamily="18" charset="0"/>
                <a:cs typeface="Times New Roman" panose="02020603050405020304" pitchFamily="18" charset="0"/>
              </a:rPr>
              <a:t>(x)</a:t>
            </a:r>
            <a:endParaRPr lang="zh-CN" altLang="en-US" b="0" dirty="0">
              <a:solidFill>
                <a:schemeClr val="tx1"/>
              </a:solidFill>
              <a:latin typeface="Times New Roman" panose="02020603050405020304" pitchFamily="18" charset="0"/>
              <a:cs typeface="Times New Roman" panose="02020603050405020304" pitchFamily="18" charset="0"/>
            </a:endParaRPr>
          </a:p>
          <a:p>
            <a:pPr marL="457200" indent="-457200"/>
            <a:r>
              <a:rPr lang="zh-CN" altLang="en-US" b="0" dirty="0">
                <a:solidFill>
                  <a:schemeClr val="tx1"/>
                </a:solidFill>
                <a:latin typeface="Times New Roman" panose="02020603050405020304" pitchFamily="18" charset="0"/>
                <a:cs typeface="Times New Roman" panose="02020603050405020304" pitchFamily="18" charset="0"/>
              </a:rPr>
              <a:t>（</a:t>
            </a:r>
            <a:r>
              <a:rPr lang="en-US" altLang="zh-CN" b="0" dirty="0">
                <a:solidFill>
                  <a:schemeClr val="tx1"/>
                </a:solidFill>
                <a:latin typeface="Times New Roman" panose="02020603050405020304" pitchFamily="18" charset="0"/>
                <a:cs typeface="Times New Roman" panose="02020603050405020304" pitchFamily="18" charset="0"/>
              </a:rPr>
              <a:t>3</a:t>
            </a:r>
            <a:r>
              <a:rPr lang="zh-CN" altLang="en-US" b="0" dirty="0">
                <a:solidFill>
                  <a:schemeClr val="tx1"/>
                </a:solidFill>
                <a:latin typeface="Times New Roman" panose="02020603050405020304" pitchFamily="18" charset="0"/>
                <a:cs typeface="Times New Roman" panose="02020603050405020304" pitchFamily="18" charset="0"/>
              </a:rPr>
              <a:t>）</a:t>
            </a:r>
            <a:r>
              <a:rPr lang="en-US" altLang="zh-CN" b="0" dirty="0">
                <a:solidFill>
                  <a:schemeClr val="tx1"/>
                </a:solidFill>
                <a:latin typeface="Times New Roman" panose="02020603050405020304" pitchFamily="18" charset="0"/>
                <a:cs typeface="Times New Roman" panose="02020603050405020304" pitchFamily="18" charset="0"/>
              </a:rPr>
              <a:t> </a:t>
            </a:r>
            <a:r>
              <a:rPr lang="en-US" altLang="zh-CN"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a:solidFill>
                  <a:schemeClr val="tx1"/>
                </a:solidFill>
                <a:latin typeface="Times New Roman" panose="02020603050405020304" pitchFamily="18" charset="0"/>
                <a:cs typeface="Times New Roman" panose="02020603050405020304" pitchFamily="18" charset="0"/>
              </a:rPr>
              <a:t>x(G(x)→H(x))</a:t>
            </a:r>
            <a:r>
              <a:rPr lang="en-US" altLang="en-US" b="0" noProof="1">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err="1">
                <a:solidFill>
                  <a:schemeClr val="tx1"/>
                </a:solidFill>
                <a:latin typeface="Times New Roman" panose="02020603050405020304" pitchFamily="18" charset="0"/>
                <a:cs typeface="Times New Roman" panose="02020603050405020304" pitchFamily="18" charset="0"/>
              </a:rPr>
              <a:t>xG</a:t>
            </a:r>
            <a:r>
              <a:rPr lang="en-US" altLang="zh-CN" b="0" dirty="0">
                <a:solidFill>
                  <a:schemeClr val="tx1"/>
                </a:solidFill>
                <a:latin typeface="Times New Roman" panose="02020603050405020304" pitchFamily="18" charset="0"/>
                <a:cs typeface="Times New Roman" panose="02020603050405020304" pitchFamily="18" charset="0"/>
              </a:rPr>
              <a:t>(x)→</a:t>
            </a:r>
            <a:r>
              <a:rPr lang="en-US" altLang="zh-CN"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err="1">
                <a:solidFill>
                  <a:schemeClr val="tx1"/>
                </a:solidFill>
                <a:latin typeface="Times New Roman" panose="02020603050405020304" pitchFamily="18" charset="0"/>
                <a:cs typeface="Times New Roman" panose="02020603050405020304" pitchFamily="18" charset="0"/>
              </a:rPr>
              <a:t>xH</a:t>
            </a:r>
            <a:r>
              <a:rPr lang="en-US" altLang="zh-CN" b="0" dirty="0">
                <a:solidFill>
                  <a:schemeClr val="tx1"/>
                </a:solidFill>
                <a:latin typeface="Times New Roman" panose="02020603050405020304" pitchFamily="18" charset="0"/>
                <a:cs typeface="Times New Roman" panose="02020603050405020304" pitchFamily="18" charset="0"/>
              </a:rPr>
              <a:t>(x) </a:t>
            </a:r>
          </a:p>
          <a:p>
            <a:pPr marL="457200" indent="-457200"/>
            <a:r>
              <a:rPr lang="en-US" altLang="zh-CN" b="0" dirty="0">
                <a:solidFill>
                  <a:schemeClr val="tx1"/>
                </a:solidFill>
                <a:latin typeface="Times New Roman" panose="02020603050405020304" pitchFamily="18" charset="0"/>
                <a:cs typeface="Times New Roman" panose="02020603050405020304" pitchFamily="18" charset="0"/>
              </a:rPr>
              <a:t>           </a:t>
            </a:r>
            <a:r>
              <a:rPr lang="en-US" altLang="zh-CN"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a:solidFill>
                  <a:schemeClr val="tx1"/>
                </a:solidFill>
                <a:latin typeface="Times New Roman" panose="02020603050405020304" pitchFamily="18" charset="0"/>
                <a:cs typeface="Times New Roman" panose="02020603050405020304" pitchFamily="18" charset="0"/>
              </a:rPr>
              <a:t>x(G(x)→H(x))</a:t>
            </a:r>
            <a:r>
              <a:rPr lang="en-US" altLang="en-US" b="0" noProof="1">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err="1">
                <a:solidFill>
                  <a:schemeClr val="tx1"/>
                </a:solidFill>
                <a:latin typeface="Times New Roman" panose="02020603050405020304" pitchFamily="18" charset="0"/>
                <a:cs typeface="Times New Roman" panose="02020603050405020304" pitchFamily="18" charset="0"/>
              </a:rPr>
              <a:t>xG</a:t>
            </a:r>
            <a:r>
              <a:rPr lang="en-US" altLang="zh-CN" b="0" dirty="0">
                <a:solidFill>
                  <a:schemeClr val="tx1"/>
                </a:solidFill>
                <a:latin typeface="Times New Roman" panose="02020603050405020304" pitchFamily="18" charset="0"/>
                <a:cs typeface="Times New Roman" panose="02020603050405020304" pitchFamily="18" charset="0"/>
              </a:rPr>
              <a:t>(x)→</a:t>
            </a:r>
            <a:r>
              <a:rPr lang="en-US" altLang="zh-CN" b="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b="0" dirty="0" err="1">
                <a:solidFill>
                  <a:schemeClr val="tx1"/>
                </a:solidFill>
                <a:latin typeface="Times New Roman" panose="02020603050405020304" pitchFamily="18" charset="0"/>
                <a:cs typeface="Times New Roman" panose="02020603050405020304" pitchFamily="18" charset="0"/>
              </a:rPr>
              <a:t>xH</a:t>
            </a:r>
            <a:r>
              <a:rPr lang="en-US" altLang="zh-CN" b="0" dirty="0">
                <a:solidFill>
                  <a:schemeClr val="tx1"/>
                </a:solidFill>
                <a:latin typeface="Times New Roman" panose="02020603050405020304" pitchFamily="18" charset="0"/>
                <a:cs typeface="Times New Roman" panose="02020603050405020304" pitchFamily="18" charset="0"/>
              </a:rPr>
              <a:t>(x)                                         </a:t>
            </a:r>
            <a:endParaRPr lang="zh-CN" altLang="en-US" b="0" dirty="0">
              <a:solidFill>
                <a:schemeClr val="tx1"/>
              </a:solidFill>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A89E5DD6-E9A5-49E1-ADDC-96665F5AAC6B}"/>
              </a:ext>
            </a:extLst>
          </p:cNvPr>
          <p:cNvSpPr/>
          <p:nvPr/>
        </p:nvSpPr>
        <p:spPr>
          <a:xfrm>
            <a:off x="1847850" y="870963"/>
            <a:ext cx="4698722" cy="584775"/>
          </a:xfrm>
          <a:prstGeom prst="rect">
            <a:avLst/>
          </a:prstGeom>
        </p:spPr>
        <p:txBody>
          <a:bodyPr wrap="none">
            <a:spAutoFit/>
          </a:bodyPr>
          <a:lstStyle/>
          <a:p>
            <a:r>
              <a:rPr lang="zh-CN" altLang="en-US" sz="3200" dirty="0">
                <a:latin typeface="+mn-ea"/>
              </a:rPr>
              <a:t>谓词逻辑特有的推理定律</a:t>
            </a:r>
          </a:p>
        </p:txBody>
      </p:sp>
    </p:spTree>
    <p:extLst>
      <p:ext uri="{BB962C8B-B14F-4D97-AF65-F5344CB8AC3E}">
        <p14:creationId xmlns:p14="http://schemas.microsoft.com/office/powerpoint/2010/main" val="2344526433"/>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slide(fromBottom)">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slide(fromBottom)">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slide(fromBottom)">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slide(fromBottom)">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slide(fromBottom)">
                                      <p:cBhvr>
                                        <p:cTn id="27"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6" name="文本占位符 95234">
            <a:extLst>
              <a:ext uri="{FF2B5EF4-FFF2-40B4-BE49-F238E27FC236}">
                <a16:creationId xmlns:a16="http://schemas.microsoft.com/office/drawing/2014/main" id="{103FA444-2F5A-46E8-AA9B-A1CF13AE869D}"/>
              </a:ext>
            </a:extLst>
          </p:cNvPr>
          <p:cNvSpPr txBox="1">
            <a:spLocks noChangeArrowheads="1"/>
          </p:cNvSpPr>
          <p:nvPr/>
        </p:nvSpPr>
        <p:spPr>
          <a:xfrm>
            <a:off x="1637025" y="579568"/>
            <a:ext cx="10116104" cy="44640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Clr>
                <a:schemeClr val="tx1"/>
              </a:buClr>
              <a:buFontTx/>
              <a:buNone/>
            </a:pPr>
            <a:r>
              <a:rPr lang="zh-CN" altLang="en-US" dirty="0">
                <a:solidFill>
                  <a:srgbClr val="FF0000"/>
                </a:solidFill>
                <a:latin typeface="Times New Roman" panose="02020603050405020304" pitchFamily="18" charset="0"/>
                <a:cs typeface="Times New Roman" panose="02020603050405020304" pitchFamily="18" charset="0"/>
              </a:rPr>
              <a:t>多个量词的谓词公式的推理？</a:t>
            </a:r>
          </a:p>
          <a:p>
            <a:pPr>
              <a:lnSpc>
                <a:spcPct val="120000"/>
              </a:lnSpc>
              <a:buClr>
                <a:schemeClr val="tx1"/>
              </a:buClr>
              <a:buFontTx/>
              <a:buNone/>
            </a:pPr>
            <a:r>
              <a:rPr lang="en-US" altLang="zh-CN" dirty="0">
                <a:latin typeface="Times New Roman" panose="02020603050405020304" pitchFamily="18" charset="0"/>
                <a:cs typeface="Times New Roman" panose="02020603050405020304" pitchFamily="18" charset="0"/>
              </a:rPr>
              <a:t>(1).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p>
          <a:p>
            <a:pPr>
              <a:lnSpc>
                <a:spcPct val="120000"/>
              </a:lnSpc>
              <a:buClr>
                <a:schemeClr val="tx1"/>
              </a:buClr>
              <a:buNone/>
            </a:pPr>
            <a:r>
              <a:rPr lang="en-US" altLang="zh-CN" dirty="0">
                <a:latin typeface="Times New Roman" panose="02020603050405020304" pitchFamily="18" charset="0"/>
                <a:cs typeface="Times New Roman" panose="02020603050405020304" pitchFamily="18" charset="0"/>
              </a:rPr>
              <a:t>(2).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a:t>
            </a:r>
          </a:p>
          <a:p>
            <a:pPr>
              <a:lnSpc>
                <a:spcPct val="120000"/>
              </a:lnSpc>
              <a:buClr>
                <a:schemeClr val="tx1"/>
              </a:buClr>
              <a:buNone/>
            </a:pPr>
            <a:r>
              <a:rPr lang="en-US" altLang="zh-CN" dirty="0">
                <a:latin typeface="Times New Roman" panose="02020603050405020304" pitchFamily="18" charset="0"/>
                <a:cs typeface="Times New Roman" panose="02020603050405020304" pitchFamily="18" charset="0"/>
              </a:rPr>
              <a:t>(3).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a:t>
            </a:r>
          </a:p>
          <a:p>
            <a:pPr>
              <a:lnSpc>
                <a:spcPct val="120000"/>
              </a:lnSpc>
              <a:buClr>
                <a:schemeClr val="tx1"/>
              </a:buClr>
              <a:buNone/>
            </a:pPr>
            <a:r>
              <a:rPr lang="en-US" altLang="zh-CN" dirty="0">
                <a:latin typeface="Times New Roman" panose="02020603050405020304" pitchFamily="18" charset="0"/>
                <a:cs typeface="Times New Roman" panose="02020603050405020304" pitchFamily="18" charset="0"/>
              </a:rPr>
              <a:t>(4).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a:t>
            </a:r>
          </a:p>
          <a:p>
            <a:pPr>
              <a:lnSpc>
                <a:spcPct val="120000"/>
              </a:lnSpc>
              <a:buClr>
                <a:schemeClr val="tx1"/>
              </a:buClr>
              <a:buNone/>
            </a:pPr>
            <a:r>
              <a:rPr lang="en-US" altLang="zh-CN" dirty="0">
                <a:latin typeface="Times New Roman" panose="02020603050405020304" pitchFamily="18" charset="0"/>
                <a:cs typeface="Times New Roman" panose="02020603050405020304" pitchFamily="18" charset="0"/>
              </a:rPr>
              <a:t>(5).</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endParaRPr lang="zh-CN" altLang="en-US" dirty="0">
              <a:solidFill>
                <a:srgbClr val="FF0000"/>
              </a:solidFill>
              <a:latin typeface="Times New Roman" panose="02020603050405020304" pitchFamily="18" charset="0"/>
              <a:cs typeface="Times New Roman" panose="02020603050405020304" pitchFamily="18" charset="0"/>
            </a:endParaRPr>
          </a:p>
          <a:p>
            <a:pPr>
              <a:lnSpc>
                <a:spcPct val="120000"/>
              </a:lnSpc>
              <a:buClr>
                <a:schemeClr val="tx1"/>
              </a:buClr>
              <a:buFontTx/>
              <a:buNone/>
            </a:pPr>
            <a:r>
              <a:rPr lang="en-US" altLang="zh-CN" dirty="0">
                <a:latin typeface="Times New Roman" panose="02020603050405020304" pitchFamily="18" charset="0"/>
                <a:cs typeface="Times New Roman" panose="02020603050405020304" pitchFamily="18" charset="0"/>
              </a:rPr>
              <a:t>(6).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p>
          <a:p>
            <a:pPr>
              <a:lnSpc>
                <a:spcPct val="120000"/>
              </a:lnSpc>
              <a:buClr>
                <a:schemeClr val="tx1"/>
              </a:buClr>
              <a:buFontTx/>
              <a:buNone/>
            </a:pPr>
            <a:r>
              <a:rPr lang="en-US" altLang="zh-CN" dirty="0">
                <a:latin typeface="Times New Roman" panose="02020603050405020304" pitchFamily="18" charset="0"/>
                <a:cs typeface="Times New Roman" panose="02020603050405020304" pitchFamily="18" charset="0"/>
              </a:rPr>
              <a:t>(7).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yx</a:t>
            </a:r>
            <a:r>
              <a:rPr lang="en-US" altLang="zh-CN" dirty="0" err="1">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xy</a:t>
            </a:r>
            <a:r>
              <a:rPr lang="en-US" altLang="zh-CN" dirty="0" err="1">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xy</a:t>
            </a:r>
            <a:r>
              <a:rPr lang="en-US" altLang="zh-CN" dirty="0" err="1">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yx</a:t>
            </a:r>
            <a:r>
              <a:rPr lang="en-US" altLang="zh-CN" dirty="0" err="1">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(x, y) </a:t>
            </a:r>
          </a:p>
          <a:p>
            <a:pPr>
              <a:lnSpc>
                <a:spcPct val="120000"/>
              </a:lnSpc>
              <a:buClr>
                <a:schemeClr val="tx1"/>
              </a:buClr>
              <a:buFontTx/>
              <a:buNone/>
            </a:pPr>
            <a:r>
              <a:rPr lang="en-US" altLang="zh-CN" dirty="0">
                <a:latin typeface="Times New Roman" panose="02020603050405020304" pitchFamily="18" charset="0"/>
                <a:cs typeface="Times New Roman" panose="02020603050405020304" pitchFamily="18" charset="0"/>
              </a:rPr>
              <a:t>(8).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p>
          <a:p>
            <a:pPr>
              <a:lnSpc>
                <a:spcPct val="120000"/>
              </a:lnSpc>
              <a:buClr>
                <a:schemeClr val="tx1"/>
              </a:buClr>
              <a:buNone/>
            </a:pPr>
            <a:r>
              <a:rPr lang="en-US" altLang="zh-CN" dirty="0">
                <a:latin typeface="Times New Roman" panose="02020603050405020304" pitchFamily="18" charset="0"/>
                <a:cs typeface="Times New Roman" panose="02020603050405020304" pitchFamily="18" charset="0"/>
              </a:rPr>
              <a:t>(9).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xy</a:t>
            </a:r>
            <a:r>
              <a:rPr lang="en-US" altLang="zh-CN" dirty="0" err="1">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xy</a:t>
            </a:r>
            <a:r>
              <a:rPr lang="en-US" altLang="zh-CN" dirty="0" err="1">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a:t>
            </a:r>
          </a:p>
          <a:p>
            <a:pPr>
              <a:lnSpc>
                <a:spcPct val="120000"/>
              </a:lnSpc>
              <a:buClr>
                <a:schemeClr val="tx1"/>
              </a:buClr>
              <a:buFontTx/>
              <a:buNone/>
            </a:pPr>
            <a:endParaRPr lang="en-US" altLang="zh-CN" dirty="0">
              <a:latin typeface="Times New Roman" panose="02020603050405020304" pitchFamily="18" charset="0"/>
              <a:cs typeface="Times New Roman" panose="02020603050405020304" pitchFamily="18" charset="0"/>
            </a:endParaRPr>
          </a:p>
          <a:p>
            <a:pPr>
              <a:lnSpc>
                <a:spcPct val="120000"/>
              </a:lnSpc>
              <a:buClr>
                <a:schemeClr val="tx1"/>
              </a:buClr>
              <a:buFontTx/>
              <a:buNone/>
            </a:pPr>
            <a:endParaRPr lang="zh-CN" altLang="en-US" sz="2000" dirty="0">
              <a:solidFill>
                <a:srgbClr val="FF33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1289332"/>
      </p:ext>
    </p:extLst>
  </p:cSld>
  <p:clrMapOvr>
    <a:masterClrMapping/>
  </p:clrMapOvr>
  <p:transition spd="slow" advTm="0">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内容占位符 96258">
            <a:extLst>
              <a:ext uri="{FF2B5EF4-FFF2-40B4-BE49-F238E27FC236}">
                <a16:creationId xmlns:a16="http://schemas.microsoft.com/office/drawing/2014/main" id="{F32A3A2C-70AE-4EA9-A4DC-9E898DD92ACA}"/>
              </a:ext>
            </a:extLst>
          </p:cNvPr>
          <p:cNvSpPr txBox="1">
            <a:spLocks noChangeArrowheads="1"/>
          </p:cNvSpPr>
          <p:nvPr/>
        </p:nvSpPr>
        <p:spPr>
          <a:xfrm>
            <a:off x="1571625" y="675197"/>
            <a:ext cx="8229600" cy="47513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Clr>
                <a:schemeClr val="tx1"/>
              </a:buClr>
              <a:buFontTx/>
              <a:buNone/>
            </a:pPr>
            <a:r>
              <a:rPr lang="zh-CN" altLang="en-US" sz="2400" dirty="0">
                <a:solidFill>
                  <a:srgbClr val="FF0000"/>
                </a:solidFill>
                <a:latin typeface="+mn-ea"/>
              </a:rPr>
              <a:t>推理规则</a:t>
            </a:r>
          </a:p>
          <a:p>
            <a:pPr>
              <a:lnSpc>
                <a:spcPct val="100000"/>
              </a:lnSpc>
              <a:buClr>
                <a:srgbClr val="0033CC"/>
              </a:buClr>
              <a:buFont typeface="Wingdings" panose="05000000000000000000" pitchFamily="2" charset="2"/>
              <a:buChar char="l"/>
            </a:pPr>
            <a:r>
              <a:rPr lang="zh-CN" altLang="en-US" dirty="0">
                <a:latin typeface="+mn-ea"/>
              </a:rPr>
              <a:t>命题逻辑中的推理规则 </a:t>
            </a:r>
          </a:p>
          <a:p>
            <a:pPr>
              <a:lnSpc>
                <a:spcPct val="100000"/>
              </a:lnSpc>
              <a:buClr>
                <a:srgbClr val="0033CC"/>
              </a:buClr>
              <a:buFont typeface="Wingdings" panose="05000000000000000000" pitchFamily="2" charset="2"/>
              <a:buChar char="l"/>
            </a:pPr>
            <a:r>
              <a:rPr lang="zh-CN" altLang="en-US" dirty="0">
                <a:latin typeface="+mn-ea"/>
              </a:rPr>
              <a:t>谓词逻辑中特有的规则</a:t>
            </a:r>
          </a:p>
          <a:p>
            <a:pPr lvl="1">
              <a:lnSpc>
                <a:spcPct val="100000"/>
              </a:lnSpc>
              <a:buClr>
                <a:srgbClr val="FF0000"/>
              </a:buClr>
              <a:buFontTx/>
              <a:buNone/>
            </a:pPr>
            <a:r>
              <a:rPr lang="en-US" altLang="zh-CN" sz="2800" dirty="0">
                <a:solidFill>
                  <a:srgbClr val="0033CC"/>
                </a:solidFill>
                <a:latin typeface="+mn-ea"/>
              </a:rPr>
              <a:t>1. </a:t>
            </a:r>
            <a:r>
              <a:rPr lang="zh-CN" altLang="en-US" sz="2800" dirty="0">
                <a:solidFill>
                  <a:srgbClr val="0033CC"/>
                </a:solidFill>
                <a:latin typeface="+mn-ea"/>
              </a:rPr>
              <a:t>全称量词消去规则</a:t>
            </a:r>
            <a:r>
              <a:rPr lang="zh-CN" altLang="en-US" sz="2800" dirty="0">
                <a:latin typeface="+mn-ea"/>
              </a:rPr>
              <a:t>（</a:t>
            </a:r>
            <a:r>
              <a:rPr lang="en-US" altLang="zh-CN" sz="2800" dirty="0">
                <a:latin typeface="+mn-ea"/>
              </a:rPr>
              <a:t>US</a:t>
            </a:r>
            <a:r>
              <a:rPr lang="zh-CN" altLang="en-US" sz="2800" dirty="0">
                <a:latin typeface="+mn-ea"/>
              </a:rPr>
              <a:t>）</a:t>
            </a:r>
          </a:p>
          <a:p>
            <a:pPr lvl="1" algn="just">
              <a:lnSpc>
                <a:spcPct val="100000"/>
              </a:lnSpc>
              <a:buClr>
                <a:srgbClr val="FF0000"/>
              </a:buClr>
              <a:buFontTx/>
              <a:buNone/>
            </a:pPr>
            <a:r>
              <a:rPr lang="zh-CN" altLang="en-US" sz="2800" dirty="0">
                <a:latin typeface="+mn-ea"/>
              </a:rPr>
              <a:t>（</a:t>
            </a:r>
            <a:r>
              <a:rPr lang="en-US" altLang="zh-CN" sz="2800" dirty="0" err="1">
                <a:latin typeface="+mn-ea"/>
              </a:rPr>
              <a:t>i</a:t>
            </a:r>
            <a:r>
              <a:rPr lang="zh-CN" altLang="en-US" sz="2800" dirty="0">
                <a:latin typeface="+mn-ea"/>
              </a:rPr>
              <a:t>）</a:t>
            </a:r>
            <a:r>
              <a:rPr lang="zh-CN" altLang="en-US" sz="2800" dirty="0">
                <a:latin typeface="+mn-ea"/>
                <a:sym typeface="Symbol" panose="05050102010706020507" pitchFamily="18" charset="2"/>
              </a:rPr>
              <a:t></a:t>
            </a:r>
            <a:r>
              <a:rPr lang="en-US" altLang="zh-CN" sz="2800" dirty="0" err="1">
                <a:latin typeface="+mn-ea"/>
              </a:rPr>
              <a:t>xA</a:t>
            </a:r>
            <a:r>
              <a:rPr lang="en-US" altLang="zh-CN" sz="2800" dirty="0">
                <a:latin typeface="+mn-ea"/>
              </a:rPr>
              <a:t>(x)</a:t>
            </a:r>
            <a:r>
              <a:rPr lang="en-US" altLang="zh-CN" sz="2800" dirty="0">
                <a:latin typeface="+mn-ea"/>
                <a:sym typeface="Symbol" panose="05050102010706020507" pitchFamily="18" charset="2"/>
              </a:rPr>
              <a:t></a:t>
            </a:r>
            <a:r>
              <a:rPr lang="en-US" altLang="zh-CN" sz="2800" dirty="0">
                <a:latin typeface="+mn-ea"/>
              </a:rPr>
              <a:t>A(y) </a:t>
            </a:r>
            <a:r>
              <a:rPr lang="zh-CN" altLang="en-US" sz="2800" dirty="0">
                <a:latin typeface="+mn-ea"/>
              </a:rPr>
              <a:t>或</a:t>
            </a:r>
          </a:p>
          <a:p>
            <a:pPr lvl="1" algn="just">
              <a:lnSpc>
                <a:spcPct val="100000"/>
              </a:lnSpc>
              <a:buClr>
                <a:srgbClr val="FF0000"/>
              </a:buClr>
              <a:buFontTx/>
              <a:buNone/>
            </a:pPr>
            <a:r>
              <a:rPr lang="zh-CN" altLang="en-US" sz="2800" dirty="0">
                <a:latin typeface="+mn-ea"/>
              </a:rPr>
              <a:t>（</a:t>
            </a:r>
            <a:r>
              <a:rPr lang="en-US" altLang="zh-CN" sz="2800" dirty="0">
                <a:latin typeface="+mn-ea"/>
              </a:rPr>
              <a:t>ii</a:t>
            </a:r>
            <a:r>
              <a:rPr lang="zh-CN" altLang="en-US" sz="2800" dirty="0">
                <a:latin typeface="+mn-ea"/>
              </a:rPr>
              <a:t>）</a:t>
            </a:r>
            <a:r>
              <a:rPr lang="zh-CN" altLang="en-US" sz="2800" dirty="0">
                <a:latin typeface="+mn-ea"/>
                <a:sym typeface="Symbol" panose="05050102010706020507" pitchFamily="18" charset="2"/>
              </a:rPr>
              <a:t></a:t>
            </a:r>
            <a:r>
              <a:rPr lang="en-US" altLang="zh-CN" sz="2800" dirty="0" err="1">
                <a:latin typeface="+mn-ea"/>
              </a:rPr>
              <a:t>xA</a:t>
            </a:r>
            <a:r>
              <a:rPr lang="en-US" altLang="zh-CN" sz="2800" dirty="0">
                <a:latin typeface="+mn-ea"/>
              </a:rPr>
              <a:t>(x)</a:t>
            </a:r>
            <a:r>
              <a:rPr lang="en-US" altLang="zh-CN" sz="2800" dirty="0">
                <a:latin typeface="+mn-ea"/>
                <a:sym typeface="Symbol" panose="05050102010706020507" pitchFamily="18" charset="2"/>
              </a:rPr>
              <a:t></a:t>
            </a:r>
            <a:r>
              <a:rPr lang="en-US" altLang="zh-CN" sz="2800" dirty="0">
                <a:latin typeface="+mn-ea"/>
              </a:rPr>
              <a:t>A(c)</a:t>
            </a:r>
          </a:p>
          <a:p>
            <a:pPr lvl="1" algn="just">
              <a:lnSpc>
                <a:spcPct val="100000"/>
              </a:lnSpc>
              <a:buClr>
                <a:srgbClr val="FF0000"/>
              </a:buClr>
              <a:buFontTx/>
              <a:buNone/>
            </a:pPr>
            <a:r>
              <a:rPr lang="en-US" altLang="zh-CN" sz="2800" dirty="0">
                <a:solidFill>
                  <a:srgbClr val="0033CC"/>
                </a:solidFill>
                <a:latin typeface="+mn-ea"/>
              </a:rPr>
              <a:t>2. </a:t>
            </a:r>
            <a:r>
              <a:rPr lang="zh-CN" altLang="en-US" sz="2800" dirty="0">
                <a:solidFill>
                  <a:srgbClr val="0033CC"/>
                </a:solidFill>
                <a:latin typeface="+mn-ea"/>
              </a:rPr>
              <a:t>全称量词引入规则</a:t>
            </a:r>
            <a:r>
              <a:rPr lang="zh-CN" altLang="en-US" sz="2800" dirty="0">
                <a:latin typeface="+mn-ea"/>
              </a:rPr>
              <a:t>（</a:t>
            </a:r>
            <a:r>
              <a:rPr lang="en-US" altLang="zh-CN" sz="2800" dirty="0">
                <a:latin typeface="+mn-ea"/>
              </a:rPr>
              <a:t>UG</a:t>
            </a:r>
            <a:r>
              <a:rPr lang="zh-CN" altLang="en-US" sz="2800" dirty="0">
                <a:latin typeface="+mn-ea"/>
              </a:rPr>
              <a:t>）</a:t>
            </a:r>
          </a:p>
          <a:p>
            <a:pPr lvl="1" algn="just">
              <a:lnSpc>
                <a:spcPct val="100000"/>
              </a:lnSpc>
              <a:buClr>
                <a:srgbClr val="FF0000"/>
              </a:buClr>
              <a:buFontTx/>
              <a:buNone/>
            </a:pPr>
            <a:r>
              <a:rPr lang="zh-CN" altLang="en-US" sz="2800" dirty="0">
                <a:latin typeface="+mn-ea"/>
              </a:rPr>
              <a:t>     </a:t>
            </a:r>
            <a:r>
              <a:rPr lang="en-US" altLang="zh-CN" sz="2800" dirty="0">
                <a:latin typeface="+mn-ea"/>
              </a:rPr>
              <a:t>A(y)</a:t>
            </a:r>
            <a:r>
              <a:rPr lang="en-US" altLang="zh-CN" sz="2800" dirty="0">
                <a:latin typeface="+mn-ea"/>
                <a:sym typeface="Symbol" panose="05050102010706020507" pitchFamily="18" charset="2"/>
              </a:rPr>
              <a:t></a:t>
            </a:r>
            <a:r>
              <a:rPr lang="en-US" altLang="zh-CN" sz="2800" dirty="0" err="1">
                <a:latin typeface="+mn-ea"/>
              </a:rPr>
              <a:t>xA</a:t>
            </a:r>
            <a:r>
              <a:rPr lang="en-US" altLang="zh-CN" sz="2800" dirty="0">
                <a:latin typeface="+mn-ea"/>
              </a:rPr>
              <a:t>(x)</a:t>
            </a:r>
          </a:p>
          <a:p>
            <a:pPr lvl="1" algn="just">
              <a:lnSpc>
                <a:spcPct val="100000"/>
              </a:lnSpc>
              <a:buClr>
                <a:srgbClr val="FF0000"/>
              </a:buClr>
              <a:buFontTx/>
              <a:buNone/>
            </a:pPr>
            <a:r>
              <a:rPr lang="en-US" altLang="zh-CN" sz="2800" dirty="0">
                <a:solidFill>
                  <a:srgbClr val="0033CC"/>
                </a:solidFill>
                <a:latin typeface="+mn-ea"/>
              </a:rPr>
              <a:t>3. </a:t>
            </a:r>
            <a:r>
              <a:rPr lang="zh-CN" altLang="en-US" sz="2800" dirty="0">
                <a:solidFill>
                  <a:srgbClr val="0033CC"/>
                </a:solidFill>
                <a:latin typeface="+mn-ea"/>
              </a:rPr>
              <a:t>存在量词消去规则</a:t>
            </a:r>
            <a:r>
              <a:rPr lang="zh-CN" altLang="en-US" sz="2800" dirty="0">
                <a:latin typeface="+mn-ea"/>
              </a:rPr>
              <a:t>（</a:t>
            </a:r>
            <a:r>
              <a:rPr lang="en-US" altLang="zh-CN" sz="2800" dirty="0">
                <a:latin typeface="+mn-ea"/>
              </a:rPr>
              <a:t>ES</a:t>
            </a:r>
            <a:r>
              <a:rPr lang="zh-CN" altLang="en-US" sz="2800" dirty="0">
                <a:latin typeface="+mn-ea"/>
              </a:rPr>
              <a:t>）</a:t>
            </a:r>
          </a:p>
          <a:p>
            <a:pPr lvl="1">
              <a:lnSpc>
                <a:spcPct val="100000"/>
              </a:lnSpc>
              <a:buClr>
                <a:srgbClr val="FF0000"/>
              </a:buClr>
              <a:buFontTx/>
              <a:buNone/>
            </a:pPr>
            <a:r>
              <a:rPr lang="zh-CN" altLang="en-US" sz="2800" dirty="0">
                <a:latin typeface="+mn-ea"/>
                <a:sym typeface="Symbol" panose="05050102010706020507" pitchFamily="18" charset="2"/>
              </a:rPr>
              <a:t>     </a:t>
            </a:r>
            <a:r>
              <a:rPr lang="en-US" altLang="zh-CN" sz="2800" dirty="0" err="1">
                <a:latin typeface="+mn-ea"/>
              </a:rPr>
              <a:t>xA</a:t>
            </a:r>
            <a:r>
              <a:rPr lang="en-US" altLang="zh-CN" sz="2800" dirty="0">
                <a:latin typeface="+mn-ea"/>
              </a:rPr>
              <a:t>(x)</a:t>
            </a:r>
            <a:r>
              <a:rPr lang="en-US" altLang="zh-CN" sz="2800" dirty="0">
                <a:latin typeface="+mn-ea"/>
                <a:sym typeface="Symbol" panose="05050102010706020507" pitchFamily="18" charset="2"/>
              </a:rPr>
              <a:t></a:t>
            </a:r>
            <a:r>
              <a:rPr lang="en-US" altLang="zh-CN" sz="2800" dirty="0">
                <a:latin typeface="+mn-ea"/>
              </a:rPr>
              <a:t>A(c) </a:t>
            </a:r>
          </a:p>
          <a:p>
            <a:pPr lvl="1" algn="just">
              <a:lnSpc>
                <a:spcPct val="100000"/>
              </a:lnSpc>
              <a:buClr>
                <a:srgbClr val="FF0000"/>
              </a:buClr>
              <a:buFontTx/>
              <a:buNone/>
            </a:pPr>
            <a:r>
              <a:rPr lang="en-US" altLang="zh-CN" sz="2800" dirty="0">
                <a:solidFill>
                  <a:srgbClr val="0033CC"/>
                </a:solidFill>
                <a:latin typeface="+mn-ea"/>
              </a:rPr>
              <a:t>4. </a:t>
            </a:r>
            <a:r>
              <a:rPr lang="zh-CN" altLang="en-US" sz="2800" dirty="0">
                <a:solidFill>
                  <a:srgbClr val="0033CC"/>
                </a:solidFill>
                <a:latin typeface="+mn-ea"/>
              </a:rPr>
              <a:t>存在量词引入规则</a:t>
            </a:r>
            <a:r>
              <a:rPr lang="zh-CN" altLang="en-US" sz="2800" dirty="0">
                <a:latin typeface="+mn-ea"/>
              </a:rPr>
              <a:t>（</a:t>
            </a:r>
            <a:r>
              <a:rPr lang="en-US" altLang="zh-CN" sz="2800" dirty="0">
                <a:latin typeface="+mn-ea"/>
              </a:rPr>
              <a:t>EG</a:t>
            </a:r>
            <a:r>
              <a:rPr lang="zh-CN" altLang="en-US" sz="2800" dirty="0">
                <a:latin typeface="+mn-ea"/>
              </a:rPr>
              <a:t>）</a:t>
            </a:r>
          </a:p>
          <a:p>
            <a:pPr lvl="1">
              <a:lnSpc>
                <a:spcPct val="100000"/>
              </a:lnSpc>
              <a:buClr>
                <a:srgbClr val="FF0000"/>
              </a:buClr>
              <a:buFontTx/>
              <a:buNone/>
            </a:pPr>
            <a:r>
              <a:rPr lang="zh-CN" altLang="en-US" sz="2800" dirty="0">
                <a:latin typeface="+mn-ea"/>
              </a:rPr>
              <a:t>     </a:t>
            </a:r>
            <a:r>
              <a:rPr lang="en-US" altLang="zh-CN" sz="2800" dirty="0">
                <a:latin typeface="+mn-ea"/>
              </a:rPr>
              <a:t>A(c)</a:t>
            </a:r>
            <a:r>
              <a:rPr lang="en-US" altLang="zh-CN" sz="2800" dirty="0">
                <a:latin typeface="+mn-ea"/>
                <a:sym typeface="Symbol" panose="05050102010706020507" pitchFamily="18" charset="2"/>
              </a:rPr>
              <a:t></a:t>
            </a:r>
            <a:r>
              <a:rPr lang="en-US" altLang="zh-CN" sz="2800" dirty="0" err="1">
                <a:latin typeface="+mn-ea"/>
              </a:rPr>
              <a:t>xA</a:t>
            </a:r>
            <a:r>
              <a:rPr lang="en-US" altLang="zh-CN" sz="2800" dirty="0">
                <a:latin typeface="+mn-ea"/>
              </a:rPr>
              <a:t>(x) </a:t>
            </a:r>
          </a:p>
        </p:txBody>
      </p:sp>
      <p:sp>
        <p:nvSpPr>
          <p:cNvPr id="5" name="文本框 4">
            <a:extLst>
              <a:ext uri="{FF2B5EF4-FFF2-40B4-BE49-F238E27FC236}">
                <a16:creationId xmlns:a16="http://schemas.microsoft.com/office/drawing/2014/main" id="{7891B7FF-DC13-4708-B7E7-4DB72A3D6D39}"/>
              </a:ext>
            </a:extLst>
          </p:cNvPr>
          <p:cNvSpPr txBox="1">
            <a:spLocks noChangeArrowheads="1"/>
          </p:cNvSpPr>
          <p:nvPr/>
        </p:nvSpPr>
        <p:spPr bwMode="auto">
          <a:xfrm>
            <a:off x="6536523" y="1937907"/>
            <a:ext cx="4964113" cy="138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宋体" panose="02010600030101010101" pitchFamily="2" charset="-122"/>
              </a:defRPr>
            </a:lvl1pPr>
            <a:lvl2pPr>
              <a:defRPr sz="2800" b="1">
                <a:solidFill>
                  <a:schemeClr val="tx1"/>
                </a:solidFill>
                <a:latin typeface="Times New Roman" panose="02020603050405020304" pitchFamily="18" charset="0"/>
                <a:ea typeface="宋体" panose="02010600030101010101" pitchFamily="2" charset="-122"/>
              </a:defRPr>
            </a:lvl2pPr>
            <a:lvl3pPr>
              <a:defRPr sz="2800" b="1">
                <a:solidFill>
                  <a:schemeClr val="tx1"/>
                </a:solidFill>
                <a:latin typeface="Times New Roman" panose="02020603050405020304" pitchFamily="18" charset="0"/>
                <a:ea typeface="宋体" panose="02010600030101010101" pitchFamily="2" charset="-122"/>
              </a:defRPr>
            </a:lvl3pPr>
            <a:lvl4pPr>
              <a:defRPr sz="2800" b="1">
                <a:solidFill>
                  <a:schemeClr val="tx1"/>
                </a:solidFill>
                <a:latin typeface="Times New Roman" panose="02020603050405020304" pitchFamily="18" charset="0"/>
                <a:ea typeface="宋体" panose="02010600030101010101" pitchFamily="2" charset="-122"/>
              </a:defRPr>
            </a:lvl4pPr>
            <a:lvl5pPr>
              <a:defRPr sz="28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r>
              <a:rPr lang="zh-CN" altLang="en-US" b="0" dirty="0">
                <a:latin typeface="Microsoft JhengHei" panose="020B0604030504040204" pitchFamily="34" charset="-120"/>
                <a:ea typeface="Microsoft JhengHei" panose="020B0604030504040204" pitchFamily="34" charset="-120"/>
              </a:rPr>
              <a:t>universal instantiation, also called </a:t>
            </a:r>
            <a:r>
              <a:rPr lang="zh-CN" altLang="en-US" b="0" dirty="0">
                <a:solidFill>
                  <a:srgbClr val="FF0000"/>
                </a:solidFill>
                <a:latin typeface="Microsoft JhengHei" panose="020B0604030504040204" pitchFamily="34" charset="-120"/>
                <a:ea typeface="Microsoft JhengHei" panose="020B0604030504040204" pitchFamily="34" charset="-120"/>
              </a:rPr>
              <a:t>u</a:t>
            </a:r>
            <a:r>
              <a:rPr lang="zh-CN" altLang="en-US" b="0" dirty="0">
                <a:latin typeface="Microsoft JhengHei" panose="020B0604030504040204" pitchFamily="34" charset="-120"/>
                <a:ea typeface="Microsoft JhengHei" panose="020B0604030504040204" pitchFamily="34" charset="-120"/>
              </a:rPr>
              <a:t>niversal </a:t>
            </a:r>
            <a:r>
              <a:rPr lang="zh-CN" altLang="en-US" b="0" dirty="0">
                <a:solidFill>
                  <a:srgbClr val="FF0000"/>
                </a:solidFill>
                <a:latin typeface="Microsoft JhengHei" panose="020B0604030504040204" pitchFamily="34" charset="-120"/>
                <a:ea typeface="Microsoft JhengHei" panose="020B0604030504040204" pitchFamily="34" charset="-120"/>
              </a:rPr>
              <a:t>s</a:t>
            </a:r>
            <a:r>
              <a:rPr lang="zh-CN" altLang="en-US" b="0" dirty="0">
                <a:latin typeface="Microsoft JhengHei" panose="020B0604030504040204" pitchFamily="34" charset="-120"/>
                <a:ea typeface="Microsoft JhengHei" panose="020B0604030504040204" pitchFamily="34" charset="-120"/>
              </a:rPr>
              <a:t>pecification or universal elimination</a:t>
            </a:r>
          </a:p>
        </p:txBody>
      </p:sp>
      <p:sp>
        <p:nvSpPr>
          <p:cNvPr id="6" name="文本框 5">
            <a:extLst>
              <a:ext uri="{FF2B5EF4-FFF2-40B4-BE49-F238E27FC236}">
                <a16:creationId xmlns:a16="http://schemas.microsoft.com/office/drawing/2014/main" id="{BC763A7A-87D8-4F35-9E26-3143D8C8B744}"/>
              </a:ext>
            </a:extLst>
          </p:cNvPr>
          <p:cNvSpPr txBox="1">
            <a:spLocks noChangeArrowheads="1"/>
          </p:cNvSpPr>
          <p:nvPr/>
        </p:nvSpPr>
        <p:spPr bwMode="auto">
          <a:xfrm>
            <a:off x="6536523" y="4354913"/>
            <a:ext cx="468312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宋体" panose="02010600030101010101" pitchFamily="2" charset="-122"/>
              </a:defRPr>
            </a:lvl1pPr>
            <a:lvl2pPr>
              <a:defRPr sz="2800" b="1">
                <a:solidFill>
                  <a:schemeClr val="tx1"/>
                </a:solidFill>
                <a:latin typeface="Times New Roman" panose="02020603050405020304" pitchFamily="18" charset="0"/>
                <a:ea typeface="宋体" panose="02010600030101010101" pitchFamily="2" charset="-122"/>
              </a:defRPr>
            </a:lvl2pPr>
            <a:lvl3pPr>
              <a:defRPr sz="2800" b="1">
                <a:solidFill>
                  <a:schemeClr val="tx1"/>
                </a:solidFill>
                <a:latin typeface="Times New Roman" panose="02020603050405020304" pitchFamily="18" charset="0"/>
                <a:ea typeface="宋体" panose="02010600030101010101" pitchFamily="2" charset="-122"/>
              </a:defRPr>
            </a:lvl3pPr>
            <a:lvl4pPr>
              <a:defRPr sz="2800" b="1">
                <a:solidFill>
                  <a:schemeClr val="tx1"/>
                </a:solidFill>
                <a:latin typeface="Times New Roman" panose="02020603050405020304" pitchFamily="18" charset="0"/>
                <a:ea typeface="宋体" panose="02010600030101010101" pitchFamily="2" charset="-122"/>
              </a:defRPr>
            </a:lvl4pPr>
            <a:lvl5pPr>
              <a:defRPr sz="28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r>
              <a:rPr lang="zh-CN" altLang="en-US" b="0" dirty="0">
                <a:solidFill>
                  <a:srgbClr val="FF0000"/>
                </a:solidFill>
                <a:latin typeface="Microsoft JhengHei" panose="020B0604030504040204" pitchFamily="34" charset="-120"/>
                <a:ea typeface="Microsoft JhengHei" panose="020B0604030504040204" pitchFamily="34" charset="-120"/>
              </a:rPr>
              <a:t>u</a:t>
            </a:r>
            <a:r>
              <a:rPr lang="zh-CN" altLang="en-US" b="0" dirty="0">
                <a:latin typeface="Microsoft JhengHei" panose="020B0604030504040204" pitchFamily="34" charset="-120"/>
                <a:ea typeface="Microsoft JhengHei" panose="020B0604030504040204" pitchFamily="34" charset="-120"/>
              </a:rPr>
              <a:t>niversal </a:t>
            </a:r>
            <a:r>
              <a:rPr lang="zh-CN" altLang="en-US" b="0" dirty="0">
                <a:solidFill>
                  <a:srgbClr val="FF0000"/>
                </a:solidFill>
                <a:latin typeface="Microsoft JhengHei" panose="020B0604030504040204" pitchFamily="34" charset="-120"/>
                <a:ea typeface="Microsoft JhengHei" panose="020B0604030504040204" pitchFamily="34" charset="-120"/>
              </a:rPr>
              <a:t>g</a:t>
            </a:r>
            <a:r>
              <a:rPr lang="zh-CN" altLang="en-US" b="0" dirty="0">
                <a:latin typeface="Microsoft JhengHei" panose="020B0604030504040204" pitchFamily="34" charset="-120"/>
                <a:ea typeface="Microsoft JhengHei" panose="020B0604030504040204" pitchFamily="34" charset="-120"/>
              </a:rPr>
              <a:t>eneralization or universal introduction</a:t>
            </a:r>
          </a:p>
        </p:txBody>
      </p:sp>
    </p:spTree>
    <p:extLst>
      <p:ext uri="{BB962C8B-B14F-4D97-AF65-F5344CB8AC3E}">
        <p14:creationId xmlns:p14="http://schemas.microsoft.com/office/powerpoint/2010/main" val="1004907253"/>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文本占位符 97282">
            <a:extLst>
              <a:ext uri="{FF2B5EF4-FFF2-40B4-BE49-F238E27FC236}">
                <a16:creationId xmlns:a16="http://schemas.microsoft.com/office/drawing/2014/main" id="{74013E80-0583-4FBD-9258-E4E0D91A3A97}"/>
              </a:ext>
            </a:extLst>
          </p:cNvPr>
          <p:cNvSpPr txBox="1">
            <a:spLocks noChangeArrowheads="1"/>
          </p:cNvSpPr>
          <p:nvPr/>
        </p:nvSpPr>
        <p:spPr>
          <a:xfrm>
            <a:off x="1751013" y="1285640"/>
            <a:ext cx="8229600" cy="46799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tx1"/>
              </a:buClr>
              <a:buFontTx/>
              <a:buNone/>
            </a:pPr>
            <a:r>
              <a:rPr lang="en-US" altLang="zh-CN" dirty="0">
                <a:solidFill>
                  <a:srgbClr val="0033CC"/>
                </a:solidFill>
                <a:latin typeface="Times New Roman" panose="02020603050405020304" pitchFamily="18" charset="0"/>
                <a:cs typeface="Times New Roman" panose="02020603050405020304" pitchFamily="18" charset="0"/>
              </a:rPr>
              <a:t>1.	</a:t>
            </a:r>
            <a:r>
              <a:rPr lang="zh-CN" altLang="en-US" dirty="0">
                <a:solidFill>
                  <a:srgbClr val="0033CC"/>
                </a:solidFill>
                <a:latin typeface="Times New Roman" panose="02020603050405020304" pitchFamily="18" charset="0"/>
                <a:cs typeface="Times New Roman" panose="02020603050405020304" pitchFamily="18" charset="0"/>
              </a:rPr>
              <a:t>全称量词消除规则（</a:t>
            </a:r>
            <a:r>
              <a:rPr lang="en-US" altLang="zh-CN" dirty="0">
                <a:solidFill>
                  <a:srgbClr val="0033CC"/>
                </a:solidFill>
                <a:latin typeface="Times New Roman" panose="02020603050405020304" pitchFamily="18" charset="0"/>
                <a:cs typeface="Times New Roman" panose="02020603050405020304" pitchFamily="18" charset="0"/>
              </a:rPr>
              <a:t>US</a:t>
            </a:r>
            <a:r>
              <a:rPr lang="zh-CN" altLang="en-US" dirty="0">
                <a:solidFill>
                  <a:srgbClr val="0033CC"/>
                </a:solidFill>
                <a:latin typeface="Times New Roman" panose="02020603050405020304" pitchFamily="18" charset="0"/>
                <a:cs typeface="Times New Roman" panose="02020603050405020304" pitchFamily="18" charset="0"/>
              </a:rPr>
              <a:t>规则）</a:t>
            </a:r>
          </a:p>
          <a:p>
            <a:pPr>
              <a:lnSpc>
                <a:spcPct val="120000"/>
              </a:lnSpc>
              <a:buClr>
                <a:schemeClr val="tx1"/>
              </a:buClr>
              <a:buFontTx/>
              <a:buNone/>
            </a:pPr>
            <a:r>
              <a:rPr lang="zh-CN" altLang="en-US" sz="18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i="1" dirty="0" err="1">
                <a:latin typeface="Times New Roman" panose="02020603050405020304" pitchFamily="18" charset="0"/>
                <a:cs typeface="Times New Roman" panose="02020603050405020304" pitchFamily="18" charset="0"/>
              </a:rPr>
              <a:t>x</a:t>
            </a:r>
            <a:r>
              <a:rPr lang="en-US" altLang="zh-CN" sz="2400" dirty="0" err="1">
                <a:latin typeface="Times New Roman" panose="02020603050405020304" pitchFamily="18" charset="0"/>
                <a:cs typeface="Times New Roman" panose="02020603050405020304" pitchFamily="18" charset="0"/>
              </a:rPr>
              <a:t>A</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x</a:t>
            </a:r>
            <a:r>
              <a:rPr lang="en-US" altLang="zh-CN"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rPr>
              <a:t> A(</a:t>
            </a:r>
            <a:r>
              <a:rPr lang="en-US" altLang="zh-CN" sz="2400" i="1" dirty="0">
                <a:latin typeface="Times New Roman" panose="02020603050405020304" pitchFamily="18" charset="0"/>
                <a:cs typeface="Times New Roman" panose="02020603050405020304" pitchFamily="18" charset="0"/>
              </a:rPr>
              <a:t>y</a:t>
            </a:r>
            <a:r>
              <a:rPr lang="en-US" altLang="zh-CN" sz="2400" dirty="0">
                <a:latin typeface="Times New Roman" panose="02020603050405020304" pitchFamily="18" charset="0"/>
                <a:cs typeface="Times New Roman" panose="02020603050405020304" pitchFamily="18" charset="0"/>
              </a:rPr>
              <a:t>)</a:t>
            </a:r>
          </a:p>
          <a:p>
            <a:pPr>
              <a:lnSpc>
                <a:spcPct val="120000"/>
              </a:lnSpc>
              <a:buClr>
                <a:schemeClr val="tx1"/>
              </a:buClr>
              <a:buFontTx/>
              <a:buNone/>
            </a:pPr>
            <a:r>
              <a:rPr lang="en-US" altLang="zh-CN" sz="2400" dirty="0">
                <a:latin typeface="Times New Roman" panose="02020603050405020304" pitchFamily="18" charset="0"/>
                <a:cs typeface="Times New Roman" panose="02020603050405020304" pitchFamily="18" charset="0"/>
              </a:rPr>
              <a:t>	(ii).</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i="1" dirty="0" err="1">
                <a:latin typeface="Times New Roman" panose="02020603050405020304" pitchFamily="18" charset="0"/>
                <a:cs typeface="Times New Roman" panose="02020603050405020304" pitchFamily="18" charset="0"/>
              </a:rPr>
              <a:t>x</a:t>
            </a:r>
            <a:r>
              <a:rPr lang="en-US" altLang="zh-CN" sz="2400" dirty="0" err="1">
                <a:latin typeface="Times New Roman" panose="02020603050405020304" pitchFamily="18" charset="0"/>
                <a:cs typeface="Times New Roman" panose="02020603050405020304" pitchFamily="18" charset="0"/>
              </a:rPr>
              <a:t>A</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x</a:t>
            </a:r>
            <a:r>
              <a:rPr lang="en-US" altLang="zh-CN"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rPr>
              <a:t> A(</a:t>
            </a:r>
            <a:r>
              <a:rPr lang="en-US" altLang="zh-CN" sz="2400" i="1" dirty="0">
                <a:latin typeface="Times New Roman" panose="02020603050405020304" pitchFamily="18" charset="0"/>
                <a:cs typeface="Times New Roman" panose="02020603050405020304" pitchFamily="18" charset="0"/>
              </a:rPr>
              <a:t>c</a:t>
            </a:r>
            <a:r>
              <a:rPr lang="en-US" altLang="zh-CN" sz="2400" dirty="0">
                <a:latin typeface="Times New Roman" panose="02020603050405020304" pitchFamily="18" charset="0"/>
                <a:cs typeface="Times New Roman" panose="02020603050405020304" pitchFamily="18" charset="0"/>
              </a:rPr>
              <a:t>)</a:t>
            </a:r>
          </a:p>
          <a:p>
            <a:pPr>
              <a:lnSpc>
                <a:spcPct val="120000"/>
              </a:lnSpc>
              <a:buClr>
                <a:schemeClr val="tx1"/>
              </a:buClr>
              <a:buFontTx/>
              <a:buNone/>
            </a:pP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成立的条件是：</a:t>
            </a:r>
          </a:p>
          <a:p>
            <a:pPr>
              <a:lnSpc>
                <a:spcPct val="120000"/>
              </a:lnSpc>
              <a:buClr>
                <a:schemeClr val="tx1"/>
              </a:buClr>
              <a:buFontTx/>
              <a:buNone/>
            </a:pP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(1).	</a:t>
            </a:r>
            <a:r>
              <a:rPr lang="en-US" altLang="zh-CN" sz="2400" i="1" dirty="0">
                <a:latin typeface="Times New Roman" panose="02020603050405020304" pitchFamily="18" charset="0"/>
                <a:cs typeface="Times New Roman" panose="02020603050405020304" pitchFamily="18" charset="0"/>
              </a:rPr>
              <a:t>x</a:t>
            </a:r>
            <a:r>
              <a:rPr lang="zh-CN" altLang="en-US" sz="2400" dirty="0">
                <a:latin typeface="Times New Roman" panose="02020603050405020304" pitchFamily="18" charset="0"/>
                <a:cs typeface="Times New Roman" panose="02020603050405020304" pitchFamily="18" charset="0"/>
              </a:rPr>
              <a:t>是</a:t>
            </a:r>
            <a:r>
              <a:rPr lang="en-US" altLang="zh-CN" sz="2400" dirty="0">
                <a:latin typeface="Times New Roman" panose="02020603050405020304" pitchFamily="18" charset="0"/>
                <a:cs typeface="Times New Roman" panose="02020603050405020304" pitchFamily="18" charset="0"/>
              </a:rPr>
              <a:t>A(</a:t>
            </a:r>
            <a:r>
              <a:rPr lang="en-US" altLang="zh-CN" sz="2400" i="1" dirty="0">
                <a:latin typeface="Times New Roman" panose="02020603050405020304" pitchFamily="18" charset="0"/>
                <a:cs typeface="Times New Roman" panose="02020603050405020304" pitchFamily="18" charset="0"/>
              </a:rPr>
              <a:t>x</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的自由变元；</a:t>
            </a:r>
          </a:p>
          <a:p>
            <a:pPr>
              <a:lnSpc>
                <a:spcPct val="120000"/>
              </a:lnSpc>
              <a:buClr>
                <a:schemeClr val="tx1"/>
              </a:buClr>
              <a:buFontTx/>
              <a:buNone/>
            </a:pP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(2).	</a:t>
            </a:r>
            <a:r>
              <a:rPr lang="zh-CN" altLang="en-US" sz="2400" dirty="0">
                <a:latin typeface="Times New Roman" panose="02020603050405020304" pitchFamily="18" charset="0"/>
                <a:cs typeface="Times New Roman" panose="02020603050405020304" pitchFamily="18" charset="0"/>
              </a:rPr>
              <a:t>在</a:t>
            </a:r>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中，</a:t>
            </a:r>
            <a:r>
              <a:rPr lang="en-US" altLang="zh-CN" sz="2400" i="1" dirty="0">
                <a:latin typeface="Times New Roman" panose="02020603050405020304" pitchFamily="18" charset="0"/>
                <a:cs typeface="Times New Roman" panose="02020603050405020304" pitchFamily="18" charset="0"/>
              </a:rPr>
              <a:t>y</a:t>
            </a:r>
            <a:r>
              <a:rPr lang="zh-CN" altLang="en-US" sz="2400" dirty="0">
                <a:latin typeface="Times New Roman" panose="02020603050405020304" pitchFamily="18" charset="0"/>
                <a:cs typeface="Times New Roman" panose="02020603050405020304" pitchFamily="18" charset="0"/>
              </a:rPr>
              <a:t>为不在</a:t>
            </a:r>
            <a:r>
              <a:rPr lang="en-US" altLang="zh-CN" sz="2400" dirty="0">
                <a:latin typeface="Times New Roman" panose="02020603050405020304" pitchFamily="18" charset="0"/>
                <a:cs typeface="Times New Roman" panose="02020603050405020304" pitchFamily="18" charset="0"/>
              </a:rPr>
              <a:t>A(</a:t>
            </a:r>
            <a:r>
              <a:rPr lang="en-US" altLang="zh-CN" sz="2400" i="1" dirty="0">
                <a:latin typeface="Times New Roman" panose="02020603050405020304" pitchFamily="18" charset="0"/>
                <a:cs typeface="Times New Roman" panose="02020603050405020304" pitchFamily="18" charset="0"/>
              </a:rPr>
              <a:t>x</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中约束出现的变元，</a:t>
            </a:r>
            <a:r>
              <a:rPr lang="en-US" altLang="zh-CN" sz="2400" i="1" dirty="0">
                <a:latin typeface="Times New Roman" panose="02020603050405020304" pitchFamily="18" charset="0"/>
                <a:cs typeface="Times New Roman" panose="02020603050405020304" pitchFamily="18" charset="0"/>
              </a:rPr>
              <a:t>y</a:t>
            </a:r>
            <a:r>
              <a:rPr lang="zh-CN" altLang="en-US" sz="2400" dirty="0">
                <a:latin typeface="Times New Roman" panose="02020603050405020304" pitchFamily="18" charset="0"/>
                <a:cs typeface="Times New Roman" panose="02020603050405020304" pitchFamily="18" charset="0"/>
              </a:rPr>
              <a:t>可以在</a:t>
            </a:r>
            <a:r>
              <a:rPr lang="en-US" altLang="zh-CN" sz="2400" dirty="0">
                <a:latin typeface="Times New Roman" panose="02020603050405020304" pitchFamily="18" charset="0"/>
                <a:cs typeface="Times New Roman" panose="02020603050405020304" pitchFamily="18" charset="0"/>
              </a:rPr>
              <a:t>A(</a:t>
            </a:r>
            <a:r>
              <a:rPr lang="en-US" altLang="zh-CN" sz="2400" i="1" dirty="0">
                <a:latin typeface="Times New Roman" panose="02020603050405020304" pitchFamily="18" charset="0"/>
                <a:cs typeface="Times New Roman" panose="02020603050405020304" pitchFamily="18" charset="0"/>
              </a:rPr>
              <a:t>x</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中自由出现，也可在证明序列中前面的公式中出现。</a:t>
            </a:r>
          </a:p>
          <a:p>
            <a:pPr>
              <a:lnSpc>
                <a:spcPct val="120000"/>
              </a:lnSpc>
              <a:buClr>
                <a:schemeClr val="tx1"/>
              </a:buClr>
              <a:buFontTx/>
              <a:buNone/>
            </a:pP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(3).	</a:t>
            </a:r>
            <a:r>
              <a:rPr lang="zh-CN" altLang="en-US" sz="2400" dirty="0">
                <a:latin typeface="Times New Roman" panose="02020603050405020304" pitchFamily="18" charset="0"/>
                <a:cs typeface="Times New Roman" panose="02020603050405020304" pitchFamily="18" charset="0"/>
              </a:rPr>
              <a:t>在</a:t>
            </a:r>
            <a:r>
              <a:rPr lang="en-US" altLang="zh-CN" sz="2400" dirty="0">
                <a:latin typeface="Times New Roman" panose="02020603050405020304" pitchFamily="18" charset="0"/>
                <a:cs typeface="Times New Roman" panose="02020603050405020304" pitchFamily="18" charset="0"/>
              </a:rPr>
              <a:t>(ii)</a:t>
            </a:r>
            <a:r>
              <a:rPr lang="zh-CN" altLang="en-US" sz="2400" dirty="0">
                <a:latin typeface="Times New Roman" panose="02020603050405020304" pitchFamily="18" charset="0"/>
                <a:cs typeface="Times New Roman" panose="02020603050405020304" pitchFamily="18" charset="0"/>
              </a:rPr>
              <a:t>中，</a:t>
            </a:r>
            <a:r>
              <a:rPr lang="en-US" altLang="zh-CN" sz="2400" i="1" dirty="0">
                <a:latin typeface="Times New Roman" panose="02020603050405020304" pitchFamily="18" charset="0"/>
                <a:cs typeface="Times New Roman" panose="02020603050405020304" pitchFamily="18" charset="0"/>
              </a:rPr>
              <a:t>c</a:t>
            </a:r>
            <a:r>
              <a:rPr lang="zh-CN" altLang="en-US" sz="2400" dirty="0">
                <a:latin typeface="Times New Roman" panose="02020603050405020304" pitchFamily="18" charset="0"/>
                <a:cs typeface="Times New Roman" panose="02020603050405020304" pitchFamily="18" charset="0"/>
              </a:rPr>
              <a:t>任意的个体常量，可以是证明序列中前面公式所指定的个体常量。</a:t>
            </a:r>
          </a:p>
          <a:p>
            <a:pPr>
              <a:buClr>
                <a:schemeClr val="tx1"/>
              </a:buClr>
              <a:buFontTx/>
              <a:buNone/>
            </a:pPr>
            <a:endParaRPr lang="zh-CN" altLang="en-US" sz="1800" dirty="0">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23ECFC77-D424-48B9-86DE-EA1002184164}"/>
              </a:ext>
            </a:extLst>
          </p:cNvPr>
          <p:cNvSpPr>
            <a:spLocks noChangeArrowheads="1"/>
          </p:cNvSpPr>
          <p:nvPr/>
        </p:nvSpPr>
        <p:spPr bwMode="auto">
          <a:xfrm>
            <a:off x="8530084" y="1253952"/>
            <a:ext cx="3241706" cy="2246769"/>
          </a:xfrm>
          <a:prstGeom prst="rect">
            <a:avLst/>
          </a:prstGeom>
          <a:solidFill>
            <a:srgbClr val="DFEFFD"/>
          </a:solidFill>
          <a:ln w="9525">
            <a:solidFill>
              <a:srgbClr val="FF0000"/>
            </a:solidFill>
            <a:prstDash val="lgDash"/>
            <a:miter lim="800000"/>
            <a:headEnd/>
            <a:tailEnd/>
          </a:ln>
        </p:spPr>
        <p:txBody>
          <a:bodyPr wrap="square" anchor="ctr">
            <a:spAutoFit/>
          </a:bodyPr>
          <a:lstStyle>
            <a:lvl1pPr>
              <a:defRPr sz="2800" b="1">
                <a:solidFill>
                  <a:schemeClr val="tx1"/>
                </a:solidFill>
                <a:latin typeface="Times New Roman" panose="02020603050405020304" pitchFamily="18" charset="0"/>
                <a:ea typeface="宋体" panose="02010600030101010101" pitchFamily="2" charset="-122"/>
              </a:defRPr>
            </a:lvl1pPr>
            <a:lvl2pPr>
              <a:defRPr sz="2800" b="1">
                <a:solidFill>
                  <a:schemeClr val="tx1"/>
                </a:solidFill>
                <a:latin typeface="Times New Roman" panose="02020603050405020304" pitchFamily="18" charset="0"/>
                <a:ea typeface="宋体" panose="02010600030101010101" pitchFamily="2" charset="-122"/>
              </a:defRPr>
            </a:lvl2pPr>
            <a:lvl3pPr>
              <a:defRPr sz="2800" b="1">
                <a:solidFill>
                  <a:schemeClr val="tx1"/>
                </a:solidFill>
                <a:latin typeface="Times New Roman" panose="02020603050405020304" pitchFamily="18" charset="0"/>
                <a:ea typeface="宋体" panose="02010600030101010101" pitchFamily="2" charset="-122"/>
              </a:defRPr>
            </a:lvl3pPr>
            <a:lvl4pPr>
              <a:defRPr sz="2800" b="1">
                <a:solidFill>
                  <a:schemeClr val="tx1"/>
                </a:solidFill>
                <a:latin typeface="Times New Roman" panose="02020603050405020304" pitchFamily="18" charset="0"/>
                <a:ea typeface="宋体" panose="02010600030101010101" pitchFamily="2" charset="-122"/>
              </a:defRPr>
            </a:lvl4pPr>
            <a:lvl5pPr>
              <a:defRPr sz="28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r>
              <a:rPr lang="en-US" altLang="zh-CN" b="0" dirty="0">
                <a:cs typeface="Times New Roman" panose="02020603050405020304" pitchFamily="18" charset="0"/>
                <a:sym typeface="Symbol" panose="05050102010706020507" pitchFamily="18" charset="2"/>
              </a:rPr>
              <a:t></a:t>
            </a:r>
            <a:r>
              <a:rPr lang="en-US" altLang="zh-CN" b="0" dirty="0">
                <a:cs typeface="Times New Roman" panose="02020603050405020304" pitchFamily="18" charset="0"/>
              </a:rPr>
              <a:t>x(</a:t>
            </a:r>
            <a:r>
              <a:rPr lang="en-US" altLang="zh-CN" b="0" dirty="0">
                <a:cs typeface="Times New Roman" panose="02020603050405020304" pitchFamily="18" charset="0"/>
                <a:sym typeface="Symbol" panose="05050102010706020507" pitchFamily="18" charset="2"/>
              </a:rPr>
              <a:t></a:t>
            </a:r>
            <a:r>
              <a:rPr lang="en-US" altLang="zh-CN" b="0" dirty="0" err="1">
                <a:cs typeface="Times New Roman" panose="02020603050405020304" pitchFamily="18" charset="0"/>
                <a:sym typeface="Symbol" panose="05050102010706020507" pitchFamily="18" charset="2"/>
              </a:rPr>
              <a:t>xP</a:t>
            </a:r>
            <a:r>
              <a:rPr lang="en-US" altLang="zh-CN" b="0" dirty="0">
                <a:cs typeface="Times New Roman" panose="02020603050405020304" pitchFamily="18" charset="0"/>
                <a:sym typeface="Symbol" panose="05050102010706020507" pitchFamily="18" charset="2"/>
              </a:rPr>
              <a:t>(x)</a:t>
            </a:r>
            <a:r>
              <a:rPr lang="en-US" altLang="zh-CN" dirty="0">
                <a:ea typeface="黑体" panose="02010609060101010101" pitchFamily="49" charset="-122"/>
                <a:cs typeface="Times New Roman" panose="02020603050405020304" pitchFamily="18" charset="0"/>
                <a:sym typeface="Symbol" panose="05050102010706020507" pitchFamily="18" charset="2"/>
              </a:rPr>
              <a:t>  </a:t>
            </a:r>
            <a:r>
              <a:rPr lang="en-US" altLang="zh-CN" b="0" dirty="0">
                <a:cs typeface="Times New Roman" panose="02020603050405020304" pitchFamily="18" charset="0"/>
                <a:sym typeface="Symbol" panose="05050102010706020507" pitchFamily="18" charset="2"/>
              </a:rPr>
              <a:t>Q(x))</a:t>
            </a:r>
          </a:p>
          <a:p>
            <a:endParaRPr lang="en-US" altLang="zh-CN" b="0" dirty="0">
              <a:cs typeface="Times New Roman" panose="02020603050405020304" pitchFamily="18" charset="0"/>
            </a:endParaRPr>
          </a:p>
          <a:p>
            <a:endParaRPr lang="zh-CN" altLang="en-US" b="0" dirty="0">
              <a:ea typeface="黑体" panose="02010609060101010101" pitchFamily="49" charset="-122"/>
              <a:cs typeface="Times New Roman" panose="02020603050405020304" pitchFamily="18" charset="0"/>
            </a:endParaRPr>
          </a:p>
          <a:p>
            <a:r>
              <a:rPr lang="en-US" altLang="zh-CN" b="0" dirty="0">
                <a:solidFill>
                  <a:srgbClr val="FF0000"/>
                </a:solidFill>
                <a:cs typeface="Times New Roman" panose="02020603050405020304" pitchFamily="18" charset="0"/>
                <a:sym typeface="Symbol" panose="05050102010706020507" pitchFamily="18" charset="2"/>
              </a:rPr>
              <a:t></a:t>
            </a:r>
            <a:r>
              <a:rPr lang="en-US" altLang="zh-CN" b="0" dirty="0" err="1">
                <a:solidFill>
                  <a:srgbClr val="FF0000"/>
                </a:solidFill>
                <a:ea typeface="黑体" panose="02010609060101010101" pitchFamily="49" charset="-122"/>
                <a:cs typeface="Times New Roman" panose="02020603050405020304" pitchFamily="18" charset="0"/>
              </a:rPr>
              <a:t>x</a:t>
            </a:r>
            <a:r>
              <a:rPr lang="en-US" altLang="zh-CN" b="0" dirty="0" err="1">
                <a:cs typeface="Times New Roman" panose="02020603050405020304" pitchFamily="18" charset="0"/>
                <a:sym typeface="Symbol" panose="05050102010706020507" pitchFamily="18" charset="2"/>
              </a:rPr>
              <a:t></a:t>
            </a:r>
            <a:r>
              <a:rPr lang="en-US" altLang="zh-CN" b="0" dirty="0" err="1">
                <a:ea typeface="黑体" panose="02010609060101010101" pitchFamily="49" charset="-122"/>
                <a:cs typeface="Times New Roman" panose="02020603050405020304" pitchFamily="18" charset="0"/>
              </a:rPr>
              <a:t>y</a:t>
            </a:r>
            <a:r>
              <a:rPr lang="en-US" altLang="zh-CN" b="0" dirty="0">
                <a:ea typeface="黑体" panose="02010609060101010101" pitchFamily="49" charset="-122"/>
                <a:cs typeface="Times New Roman" panose="02020603050405020304" pitchFamily="18" charset="0"/>
              </a:rPr>
              <a:t>(</a:t>
            </a:r>
            <a:r>
              <a:rPr lang="en-US" altLang="zh-CN" b="0" dirty="0">
                <a:solidFill>
                  <a:srgbClr val="FF0000"/>
                </a:solidFill>
                <a:ea typeface="黑体" panose="02010609060101010101" pitchFamily="49" charset="-122"/>
                <a:cs typeface="Times New Roman" panose="02020603050405020304" pitchFamily="18" charset="0"/>
              </a:rPr>
              <a:t>x</a:t>
            </a:r>
            <a:r>
              <a:rPr lang="en-US" altLang="zh-CN" b="0" dirty="0">
                <a:ea typeface="黑体" panose="02010609060101010101" pitchFamily="49" charset="-122"/>
                <a:cs typeface="Times New Roman" panose="02020603050405020304" pitchFamily="18" charset="0"/>
              </a:rPr>
              <a:t>&gt;y)</a:t>
            </a:r>
          </a:p>
          <a:p>
            <a:r>
              <a:rPr lang="en-US" altLang="zh-CN" b="0" dirty="0">
                <a:cs typeface="Times New Roman" panose="02020603050405020304" pitchFamily="18" charset="0"/>
                <a:sym typeface="Symbol" panose="05050102010706020507" pitchFamily="18" charset="2"/>
              </a:rPr>
              <a:t></a:t>
            </a:r>
            <a:r>
              <a:rPr lang="en-US" altLang="zh-CN" b="0" dirty="0">
                <a:ea typeface="黑体" panose="02010609060101010101" pitchFamily="49" charset="-122"/>
                <a:cs typeface="Times New Roman" panose="02020603050405020304" pitchFamily="18" charset="0"/>
              </a:rPr>
              <a:t>y(</a:t>
            </a:r>
            <a:r>
              <a:rPr lang="en-US" altLang="zh-CN" b="0" dirty="0">
                <a:solidFill>
                  <a:srgbClr val="FF0000"/>
                </a:solidFill>
                <a:ea typeface="黑体" panose="02010609060101010101" pitchFamily="49" charset="-122"/>
                <a:cs typeface="Times New Roman" panose="02020603050405020304" pitchFamily="18" charset="0"/>
              </a:rPr>
              <a:t>y</a:t>
            </a:r>
            <a:r>
              <a:rPr lang="en-US" altLang="zh-CN" b="0" dirty="0">
                <a:ea typeface="黑体" panose="02010609060101010101" pitchFamily="49" charset="-122"/>
                <a:cs typeface="Times New Roman" panose="02020603050405020304" pitchFamily="18" charset="0"/>
              </a:rPr>
              <a:t>&gt;y)</a:t>
            </a:r>
          </a:p>
        </p:txBody>
      </p:sp>
      <p:sp>
        <p:nvSpPr>
          <p:cNvPr id="2" name="矩形 1">
            <a:extLst>
              <a:ext uri="{FF2B5EF4-FFF2-40B4-BE49-F238E27FC236}">
                <a16:creationId xmlns:a16="http://schemas.microsoft.com/office/drawing/2014/main" id="{70398241-AF84-4D65-B2AC-133FAA256530}"/>
              </a:ext>
            </a:extLst>
          </p:cNvPr>
          <p:cNvSpPr/>
          <p:nvPr/>
        </p:nvSpPr>
        <p:spPr>
          <a:xfrm>
            <a:off x="1982677" y="5965590"/>
            <a:ext cx="8229599" cy="830997"/>
          </a:xfrm>
          <a:prstGeom prst="rect">
            <a:avLst/>
          </a:prstGeom>
        </p:spPr>
        <p:txBody>
          <a:bodyPr wrap="square">
            <a:spAutoFit/>
          </a:bodyPr>
          <a:lstStyle/>
          <a:p>
            <a:pPr algn="just">
              <a:buFont typeface="Wingdings" panose="05000000000000000000" pitchFamily="2" charset="2"/>
              <a:buNone/>
            </a:pPr>
            <a:r>
              <a:rPr lang="en-US" altLang="zh-CN" sz="2400" dirty="0"/>
              <a:t>(4)</a:t>
            </a:r>
            <a:r>
              <a:rPr lang="zh-CN" altLang="en-US" sz="2400" dirty="0"/>
              <a:t>用</a:t>
            </a:r>
            <a:r>
              <a:rPr lang="en-US" altLang="zh-CN" sz="2400" dirty="0"/>
              <a:t>y</a:t>
            </a:r>
            <a:r>
              <a:rPr lang="zh-CN" altLang="en-US" sz="2400" dirty="0"/>
              <a:t>或</a:t>
            </a:r>
            <a:r>
              <a:rPr lang="en-US" altLang="zh-CN" sz="2400" dirty="0"/>
              <a:t>c</a:t>
            </a:r>
            <a:r>
              <a:rPr lang="zh-CN" altLang="en-US" sz="2400" dirty="0"/>
              <a:t>去取代</a:t>
            </a:r>
            <a:r>
              <a:rPr lang="en-US" altLang="zh-CN" sz="2400" dirty="0"/>
              <a:t>A(x)</a:t>
            </a:r>
            <a:r>
              <a:rPr lang="zh-CN" altLang="en-US" sz="2400" dirty="0"/>
              <a:t>中自由出现的</a:t>
            </a:r>
            <a:r>
              <a:rPr lang="en-US" altLang="zh-CN" sz="2400" dirty="0"/>
              <a:t>x</a:t>
            </a:r>
            <a:r>
              <a:rPr lang="zh-CN" altLang="en-US" sz="2400" dirty="0"/>
              <a:t>时，一定要在</a:t>
            </a:r>
            <a:r>
              <a:rPr lang="en-US" altLang="zh-CN" sz="2400" dirty="0"/>
              <a:t>x</a:t>
            </a:r>
            <a:r>
              <a:rPr lang="zh-CN" altLang="en-US" sz="2400" dirty="0"/>
              <a:t>自由出现的一切地方进行取代。 </a:t>
            </a:r>
          </a:p>
        </p:txBody>
      </p:sp>
    </p:spTree>
    <p:extLst>
      <p:ext uri="{BB962C8B-B14F-4D97-AF65-F5344CB8AC3E}">
        <p14:creationId xmlns:p14="http://schemas.microsoft.com/office/powerpoint/2010/main" val="725338285"/>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ppt_x</p:attrName>
                                        </p:attrNameLst>
                                      </p:cBhvr>
                                      <p:tavLst>
                                        <p:tav tm="0">
                                          <p:val>
                                            <p:strVal val="1+#ppt_w/2"/>
                                          </p:val>
                                        </p:tav>
                                        <p:tav tm="100000">
                                          <p:val>
                                            <p:strVal val="#ppt_x"/>
                                          </p:val>
                                        </p:tav>
                                      </p:tavLst>
                                    </p:anim>
                                    <p:anim calcmode="lin" valueType="num">
                                      <p:cBhvr>
                                        <p:cTn id="20"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文本占位符 98306">
            <a:extLst>
              <a:ext uri="{FF2B5EF4-FFF2-40B4-BE49-F238E27FC236}">
                <a16:creationId xmlns:a16="http://schemas.microsoft.com/office/drawing/2014/main" id="{271F9372-B60A-4AE4-9A39-1753AC45DA63}"/>
              </a:ext>
            </a:extLst>
          </p:cNvPr>
          <p:cNvSpPr txBox="1">
            <a:spLocks noChangeArrowheads="1"/>
          </p:cNvSpPr>
          <p:nvPr/>
        </p:nvSpPr>
        <p:spPr>
          <a:xfrm>
            <a:off x="1751013" y="915311"/>
            <a:ext cx="9159643" cy="33548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Clr>
                <a:schemeClr val="tx1"/>
              </a:buClr>
              <a:buFontTx/>
              <a:buNone/>
            </a:pPr>
            <a:r>
              <a:rPr lang="zh-CN" altLang="en-US" dirty="0">
                <a:solidFill>
                  <a:srgbClr val="0033CC"/>
                </a:solidFill>
                <a:latin typeface="黑体" panose="02010609060101010101" pitchFamily="49" charset="-122"/>
                <a:ea typeface="黑体" panose="02010609060101010101" pitchFamily="49" charset="-122"/>
              </a:rPr>
              <a:t>2 全称量词引入规则（UG规则）</a:t>
            </a:r>
          </a:p>
          <a:p>
            <a:pPr>
              <a:lnSpc>
                <a:spcPct val="120000"/>
              </a:lnSpc>
              <a:buClr>
                <a:schemeClr val="tx1"/>
              </a:buClr>
              <a:buFontTx/>
              <a:buNone/>
            </a:pPr>
            <a:r>
              <a:rPr lang="zh-CN" altLang="en-US" dirty="0"/>
              <a:t>	</a:t>
            </a:r>
            <a:r>
              <a:rPr lang="zh-CN" altLang="en-US" dirty="0">
                <a:latin typeface="黑体" panose="02010609060101010101" pitchFamily="49" charset="-122"/>
                <a:ea typeface="黑体" panose="02010609060101010101" pitchFamily="49" charset="-122"/>
              </a:rPr>
              <a:t>A(y) </a:t>
            </a:r>
            <a:r>
              <a:rPr lang="zh-CN" altLang="en-US" dirty="0">
                <a:latin typeface="黑体" panose="02010609060101010101" pitchFamily="49" charset="-122"/>
                <a:ea typeface="黑体" panose="02010609060101010101" pitchFamily="49" charset="-122"/>
                <a:sym typeface="Symbol" panose="05050102010706020507" pitchFamily="18" charset="2"/>
              </a:rPr>
              <a:t></a:t>
            </a:r>
            <a:r>
              <a:rPr lang="zh-CN" altLang="en-US"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sym typeface="Symbol" panose="05050102010706020507" pitchFamily="18" charset="2"/>
              </a:rPr>
              <a:t></a:t>
            </a:r>
            <a:r>
              <a:rPr lang="zh-CN" altLang="en-US" dirty="0">
                <a:latin typeface="黑体" panose="02010609060101010101" pitchFamily="49" charset="-122"/>
                <a:ea typeface="黑体" panose="02010609060101010101" pitchFamily="49" charset="-122"/>
              </a:rPr>
              <a:t>xA(x)</a:t>
            </a:r>
          </a:p>
          <a:p>
            <a:pPr>
              <a:lnSpc>
                <a:spcPct val="120000"/>
              </a:lnSpc>
              <a:buClr>
                <a:schemeClr val="tx1"/>
              </a:buClr>
              <a:buFontTx/>
              <a:buNone/>
            </a:pPr>
            <a:r>
              <a:rPr lang="zh-CN" altLang="en-US" dirty="0">
                <a:latin typeface="黑体" panose="02010609060101010101" pitchFamily="49" charset="-122"/>
                <a:ea typeface="黑体" panose="02010609060101010101" pitchFamily="49" charset="-122"/>
              </a:rPr>
              <a:t>	成立的条件是：</a:t>
            </a:r>
          </a:p>
          <a:p>
            <a:pPr>
              <a:lnSpc>
                <a:spcPct val="120000"/>
              </a:lnSpc>
              <a:buClr>
                <a:schemeClr val="tx1"/>
              </a:buClr>
              <a:buFontTx/>
              <a:buNone/>
            </a:pPr>
            <a:r>
              <a:rPr lang="zh-CN" altLang="en-US" dirty="0">
                <a:latin typeface="黑体" panose="02010609060101010101" pitchFamily="49" charset="-122"/>
                <a:ea typeface="黑体" panose="02010609060101010101" pitchFamily="49" charset="-122"/>
              </a:rPr>
              <a:t>	(1).y在A(y)中自由出现，且任意</a:t>
            </a:r>
            <a:r>
              <a:rPr lang="en-US" altLang="zh-CN" dirty="0">
                <a:latin typeface="黑体" panose="02010609060101010101" pitchFamily="49" charset="-122"/>
                <a:ea typeface="黑体" panose="02010609060101010101" pitchFamily="49" charset="-122"/>
              </a:rPr>
              <a:t>y</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A(y)</a:t>
            </a:r>
            <a:r>
              <a:rPr lang="zh-CN" altLang="en-US" dirty="0">
                <a:latin typeface="黑体" panose="02010609060101010101" pitchFamily="49" charset="-122"/>
                <a:ea typeface="黑体" panose="02010609060101010101" pitchFamily="49" charset="-122"/>
              </a:rPr>
              <a:t>为真；</a:t>
            </a:r>
          </a:p>
          <a:p>
            <a:pPr>
              <a:lnSpc>
                <a:spcPct val="120000"/>
              </a:lnSpc>
              <a:buClr>
                <a:schemeClr val="tx1"/>
              </a:buClr>
              <a:buFontTx/>
              <a:buNone/>
            </a:pPr>
            <a:r>
              <a:rPr lang="zh-CN" altLang="en-US" dirty="0">
                <a:latin typeface="黑体" panose="02010609060101010101" pitchFamily="49" charset="-122"/>
                <a:ea typeface="黑体" panose="02010609060101010101" pitchFamily="49" charset="-122"/>
              </a:rPr>
              <a:t>	(2).替换y的x要选择在A(y)中不出现的变元符号；</a:t>
            </a:r>
          </a:p>
        </p:txBody>
      </p:sp>
      <p:sp>
        <p:nvSpPr>
          <p:cNvPr id="5" name="矩形 4">
            <a:extLst>
              <a:ext uri="{FF2B5EF4-FFF2-40B4-BE49-F238E27FC236}">
                <a16:creationId xmlns:a16="http://schemas.microsoft.com/office/drawing/2014/main" id="{0CD552BA-4170-4265-A4A1-3CAEE552CD89}"/>
              </a:ext>
            </a:extLst>
          </p:cNvPr>
          <p:cNvSpPr>
            <a:spLocks noChangeArrowheads="1"/>
          </p:cNvSpPr>
          <p:nvPr/>
        </p:nvSpPr>
        <p:spPr bwMode="auto">
          <a:xfrm>
            <a:off x="3728955" y="4270159"/>
            <a:ext cx="4176712" cy="2246769"/>
          </a:xfrm>
          <a:prstGeom prst="rect">
            <a:avLst/>
          </a:prstGeom>
          <a:solidFill>
            <a:srgbClr val="DFEFFD"/>
          </a:solidFill>
          <a:ln w="9525">
            <a:solidFill>
              <a:srgbClr val="FF0000"/>
            </a:solidFill>
            <a:prstDash val="lgDash"/>
            <a:miter lim="800000"/>
            <a:headEnd/>
            <a:tailEnd/>
          </a:ln>
        </p:spPr>
        <p:txBody>
          <a:bodyPr anchor="ctr">
            <a:spAutoFit/>
          </a:bodyPr>
          <a:lstStyle>
            <a:lvl1pPr>
              <a:defRPr sz="2800" b="1">
                <a:solidFill>
                  <a:schemeClr val="tx1"/>
                </a:solidFill>
                <a:latin typeface="Times New Roman" panose="02020603050405020304" pitchFamily="18" charset="0"/>
                <a:ea typeface="宋体" panose="02010600030101010101" pitchFamily="2" charset="-122"/>
              </a:defRPr>
            </a:lvl1pPr>
            <a:lvl2pPr>
              <a:defRPr sz="2800" b="1">
                <a:solidFill>
                  <a:schemeClr val="tx1"/>
                </a:solidFill>
                <a:latin typeface="Times New Roman" panose="02020603050405020304" pitchFamily="18" charset="0"/>
                <a:ea typeface="宋体" panose="02010600030101010101" pitchFamily="2" charset="-122"/>
              </a:defRPr>
            </a:lvl2pPr>
            <a:lvl3pPr>
              <a:defRPr sz="2800" b="1">
                <a:solidFill>
                  <a:schemeClr val="tx1"/>
                </a:solidFill>
                <a:latin typeface="Times New Roman" panose="02020603050405020304" pitchFamily="18" charset="0"/>
                <a:ea typeface="宋体" panose="02010600030101010101" pitchFamily="2" charset="-122"/>
              </a:defRPr>
            </a:lvl3pPr>
            <a:lvl4pPr>
              <a:defRPr sz="2800" b="1">
                <a:solidFill>
                  <a:schemeClr val="tx1"/>
                </a:solidFill>
                <a:latin typeface="Times New Roman" panose="02020603050405020304" pitchFamily="18" charset="0"/>
                <a:ea typeface="宋体" panose="02010600030101010101" pitchFamily="2" charset="-122"/>
              </a:defRPr>
            </a:lvl4pPr>
            <a:lvl5pPr>
              <a:defRPr sz="28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r>
              <a:rPr lang="en-US" altLang="zh-CN" b="0" dirty="0">
                <a:cs typeface="Times New Roman" panose="02020603050405020304" pitchFamily="18" charset="0"/>
                <a:sym typeface="Symbol" panose="05050102010706020507" pitchFamily="18" charset="2"/>
              </a:rPr>
              <a:t>x(x&gt;</a:t>
            </a:r>
            <a:r>
              <a:rPr lang="en-US" altLang="zh-CN" b="0" dirty="0">
                <a:solidFill>
                  <a:srgbClr val="FF0000"/>
                </a:solidFill>
                <a:cs typeface="Times New Roman" panose="02020603050405020304" pitchFamily="18" charset="0"/>
                <a:sym typeface="Symbol" panose="05050102010706020507" pitchFamily="18" charset="2"/>
              </a:rPr>
              <a:t>y</a:t>
            </a:r>
            <a:r>
              <a:rPr lang="en-US" altLang="zh-CN" b="0" dirty="0">
                <a:cs typeface="Times New Roman" panose="02020603050405020304" pitchFamily="18" charset="0"/>
                <a:sym typeface="Symbol" panose="05050102010706020507" pitchFamily="18" charset="2"/>
              </a:rPr>
              <a:t>)</a:t>
            </a:r>
          </a:p>
          <a:p>
            <a:endParaRPr lang="en-US" altLang="zh-CN" b="0" dirty="0">
              <a:cs typeface="Times New Roman" panose="02020603050405020304" pitchFamily="18" charset="0"/>
            </a:endParaRPr>
          </a:p>
          <a:p>
            <a:endParaRPr lang="en-US" altLang="zh-CN" b="0" dirty="0">
              <a:ea typeface="黑体" panose="02010609060101010101" pitchFamily="49" charset="-122"/>
              <a:cs typeface="Times New Roman" panose="02020603050405020304" pitchFamily="18" charset="0"/>
            </a:endParaRPr>
          </a:p>
          <a:p>
            <a:r>
              <a:rPr lang="en-US" altLang="zh-CN" b="0" dirty="0">
                <a:solidFill>
                  <a:srgbClr val="FF0000"/>
                </a:solidFill>
                <a:cs typeface="Times New Roman" panose="02020603050405020304" pitchFamily="18" charset="0"/>
                <a:sym typeface="Symbol" panose="05050102010706020507" pitchFamily="18" charset="2"/>
              </a:rPr>
              <a:t></a:t>
            </a:r>
            <a:r>
              <a:rPr lang="en-US" altLang="zh-CN" b="0" dirty="0" err="1">
                <a:solidFill>
                  <a:srgbClr val="FF0000"/>
                </a:solidFill>
                <a:ea typeface="黑体" panose="02010609060101010101" pitchFamily="49" charset="-122"/>
                <a:cs typeface="Times New Roman" panose="02020603050405020304" pitchFamily="18" charset="0"/>
              </a:rPr>
              <a:t>x</a:t>
            </a:r>
            <a:r>
              <a:rPr lang="en-US" altLang="zh-CN" b="0" dirty="0" err="1">
                <a:cs typeface="Times New Roman" panose="02020603050405020304" pitchFamily="18" charset="0"/>
                <a:sym typeface="Symbol" panose="05050102010706020507" pitchFamily="18" charset="2"/>
              </a:rPr>
              <a:t></a:t>
            </a:r>
            <a:r>
              <a:rPr lang="en-US" altLang="zh-CN" b="0" dirty="0" err="1">
                <a:ea typeface="黑体" panose="02010609060101010101" pitchFamily="49" charset="-122"/>
                <a:cs typeface="Times New Roman" panose="02020603050405020304" pitchFamily="18" charset="0"/>
              </a:rPr>
              <a:t>x</a:t>
            </a:r>
            <a:r>
              <a:rPr lang="en-US" altLang="zh-CN" b="0" dirty="0">
                <a:ea typeface="黑体" panose="02010609060101010101" pitchFamily="49" charset="-122"/>
                <a:cs typeface="Times New Roman" panose="02020603050405020304" pitchFamily="18" charset="0"/>
              </a:rPr>
              <a:t>(</a:t>
            </a:r>
            <a:r>
              <a:rPr lang="en-US" altLang="zh-CN" b="0" dirty="0">
                <a:solidFill>
                  <a:srgbClr val="FF0000"/>
                </a:solidFill>
                <a:ea typeface="黑体" panose="02010609060101010101" pitchFamily="49" charset="-122"/>
                <a:cs typeface="Times New Roman" panose="02020603050405020304" pitchFamily="18" charset="0"/>
              </a:rPr>
              <a:t>x</a:t>
            </a:r>
            <a:r>
              <a:rPr lang="en-US" altLang="zh-CN" b="0" dirty="0">
                <a:ea typeface="黑体" panose="02010609060101010101" pitchFamily="49" charset="-122"/>
                <a:cs typeface="Times New Roman" panose="02020603050405020304" pitchFamily="18" charset="0"/>
              </a:rPr>
              <a:t>&gt;</a:t>
            </a:r>
            <a:r>
              <a:rPr lang="en-US" altLang="zh-CN" b="0" dirty="0">
                <a:solidFill>
                  <a:srgbClr val="FF0000"/>
                </a:solidFill>
                <a:ea typeface="黑体" panose="02010609060101010101" pitchFamily="49" charset="-122"/>
                <a:cs typeface="Times New Roman" panose="02020603050405020304" pitchFamily="18" charset="0"/>
              </a:rPr>
              <a:t>x</a:t>
            </a:r>
            <a:r>
              <a:rPr lang="en-US" altLang="zh-CN" b="0" dirty="0">
                <a:ea typeface="黑体" panose="02010609060101010101" pitchFamily="49" charset="-122"/>
                <a:cs typeface="Times New Roman" panose="02020603050405020304" pitchFamily="18" charset="0"/>
              </a:rPr>
              <a:t>)</a:t>
            </a:r>
          </a:p>
          <a:p>
            <a:endParaRPr lang="en-US" altLang="zh-CN" b="0" dirty="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666462121"/>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内容占位符 2">
            <a:extLst>
              <a:ext uri="{FF2B5EF4-FFF2-40B4-BE49-F238E27FC236}">
                <a16:creationId xmlns:a16="http://schemas.microsoft.com/office/drawing/2014/main" id="{7D3424B6-4C6A-41E1-ABB8-BC8B6D571D04}"/>
              </a:ext>
            </a:extLst>
          </p:cNvPr>
          <p:cNvSpPr txBox="1">
            <a:spLocks/>
          </p:cNvSpPr>
          <p:nvPr/>
        </p:nvSpPr>
        <p:spPr>
          <a:xfrm>
            <a:off x="1751013" y="908050"/>
            <a:ext cx="8964612" cy="52260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defRPr/>
            </a:pPr>
            <a:r>
              <a:rPr lang="zh-CN" altLang="en-US" dirty="0">
                <a:latin typeface="Times New Roman" panose="02020603050405020304" pitchFamily="18" charset="0"/>
                <a:cs typeface="Times New Roman" panose="02020603050405020304" pitchFamily="18" charset="0"/>
              </a:rPr>
              <a:t>前提：</a:t>
            </a:r>
            <a:r>
              <a:rPr lang="en-US" altLang="zh-CN" dirty="0">
                <a:latin typeface="Times New Roman" panose="02020603050405020304" pitchFamily="18" charset="0"/>
                <a:cs typeface="Times New Roman" panose="02020603050405020304" pitchFamily="18" charset="0"/>
              </a:rPr>
              <a:t>P(x)→Q(x), P(x)</a:t>
            </a:r>
            <a:r>
              <a:rPr lang="zh-CN" altLang="en-US" dirty="0">
                <a:latin typeface="Times New Roman" panose="02020603050405020304" pitchFamily="18" charset="0"/>
                <a:cs typeface="Times New Roman" panose="02020603050405020304" pitchFamily="18" charset="0"/>
              </a:rPr>
              <a:t>，结论：</a:t>
            </a:r>
            <a:r>
              <a:rPr lang="zh-CN" altLang="en-US" dirty="0">
                <a:latin typeface="Times New Roman" panose="02020603050405020304" pitchFamily="18" charset="0"/>
                <a:cs typeface="Times New Roman" panose="02020603050405020304" pitchFamily="18" charset="0"/>
                <a:sym typeface="Symbol" pitchFamily="18" charset="2"/>
              </a:rPr>
              <a:t></a:t>
            </a:r>
            <a:r>
              <a:rPr lang="en-US" altLang="zh-CN" dirty="0">
                <a:latin typeface="Times New Roman" panose="02020603050405020304" pitchFamily="18" charset="0"/>
                <a:cs typeface="Times New Roman" panose="02020603050405020304" pitchFamily="18" charset="0"/>
              </a:rPr>
              <a:t>x Q(x)</a:t>
            </a:r>
          </a:p>
          <a:p>
            <a:pPr marL="0" indent="0">
              <a:buFont typeface="Wingdings" panose="05000000000000000000" pitchFamily="2" charset="2"/>
              <a:buNone/>
              <a:defRPr/>
            </a:pPr>
            <a:r>
              <a:rPr lang="zh-CN" altLang="en-US" dirty="0">
                <a:latin typeface="Times New Roman" panose="02020603050405020304" pitchFamily="18" charset="0"/>
                <a:cs typeface="Times New Roman" panose="02020603050405020304" pitchFamily="18" charset="0"/>
              </a:rPr>
              <a:t>① </a:t>
            </a:r>
            <a:r>
              <a:rPr lang="en-US" altLang="zh-CN" dirty="0">
                <a:latin typeface="Times New Roman" panose="02020603050405020304" pitchFamily="18" charset="0"/>
                <a:cs typeface="Times New Roman" panose="02020603050405020304" pitchFamily="18" charset="0"/>
              </a:rPr>
              <a:t>P(x)→Q(x)		</a:t>
            </a:r>
            <a:r>
              <a:rPr lang="zh-CN" altLang="en-US" dirty="0">
                <a:latin typeface="Times New Roman" panose="02020603050405020304" pitchFamily="18" charset="0"/>
                <a:cs typeface="Times New Roman" panose="02020603050405020304" pitchFamily="18" charset="0"/>
              </a:rPr>
              <a:t>前提引入</a:t>
            </a:r>
            <a:endParaRPr lang="en-US" altLang="zh-CN" dirty="0">
              <a:latin typeface="Times New Roman" panose="02020603050405020304" pitchFamily="18" charset="0"/>
              <a:cs typeface="Times New Roman" panose="02020603050405020304" pitchFamily="18" charset="0"/>
            </a:endParaRPr>
          </a:p>
          <a:p>
            <a:pPr marL="0" indent="0">
              <a:buFont typeface="Wingdings" panose="05000000000000000000" pitchFamily="2" charset="2"/>
              <a:buNone/>
              <a:defRPr/>
            </a:pPr>
            <a:r>
              <a:rPr lang="zh-CN" altLang="en-US" dirty="0">
                <a:latin typeface="Times New Roman" panose="02020603050405020304" pitchFamily="18" charset="0"/>
                <a:cs typeface="Times New Roman" panose="02020603050405020304" pitchFamily="18" charset="0"/>
              </a:rPr>
              <a:t>② </a:t>
            </a:r>
            <a:r>
              <a:rPr lang="en-US" altLang="zh-CN" dirty="0">
                <a:latin typeface="Times New Roman" panose="02020603050405020304" pitchFamily="18" charset="0"/>
                <a:cs typeface="Times New Roman" panose="02020603050405020304" pitchFamily="18" charset="0"/>
              </a:rPr>
              <a:t>P(x)			</a:t>
            </a:r>
            <a:r>
              <a:rPr lang="zh-CN" altLang="en-US" dirty="0">
                <a:latin typeface="Times New Roman" panose="02020603050405020304" pitchFamily="18" charset="0"/>
                <a:cs typeface="Times New Roman" panose="02020603050405020304" pitchFamily="18" charset="0"/>
              </a:rPr>
              <a:t>前提引入</a:t>
            </a:r>
            <a:endParaRPr lang="en-US" altLang="zh-CN" dirty="0">
              <a:latin typeface="Times New Roman" panose="02020603050405020304" pitchFamily="18" charset="0"/>
              <a:cs typeface="Times New Roman" panose="02020603050405020304" pitchFamily="18" charset="0"/>
            </a:endParaRPr>
          </a:p>
          <a:p>
            <a:pPr marL="0" indent="0">
              <a:buFont typeface="Wingdings" panose="05000000000000000000" pitchFamily="2" charset="2"/>
              <a:buNone/>
              <a:defRPr/>
            </a:pPr>
            <a:r>
              <a:rPr lang="zh-CN" altLang="en-US" dirty="0">
                <a:latin typeface="Times New Roman" panose="02020603050405020304" pitchFamily="18" charset="0"/>
                <a:cs typeface="Times New Roman" panose="02020603050405020304" pitchFamily="18" charset="0"/>
              </a:rPr>
              <a:t>③ </a:t>
            </a:r>
            <a:r>
              <a:rPr lang="en-US" altLang="zh-CN" dirty="0">
                <a:latin typeface="Times New Roman" panose="02020603050405020304" pitchFamily="18" charset="0"/>
                <a:cs typeface="Times New Roman" panose="02020603050405020304" pitchFamily="18" charset="0"/>
              </a:rPr>
              <a:t>Q(x)			</a:t>
            </a:r>
            <a:r>
              <a:rPr lang="zh-CN" altLang="en-US" dirty="0">
                <a:latin typeface="Times New Roman" panose="02020603050405020304" pitchFamily="18" charset="0"/>
                <a:cs typeface="Times New Roman" panose="02020603050405020304" pitchFamily="18" charset="0"/>
              </a:rPr>
              <a:t>①②假言推理</a:t>
            </a:r>
            <a:endParaRPr lang="en-US" altLang="zh-CN" dirty="0">
              <a:latin typeface="Times New Roman" panose="02020603050405020304" pitchFamily="18" charset="0"/>
              <a:cs typeface="Times New Roman" panose="02020603050405020304" pitchFamily="18" charset="0"/>
            </a:endParaRPr>
          </a:p>
          <a:p>
            <a:pPr marL="0" indent="0">
              <a:buFont typeface="Wingdings" panose="05000000000000000000" pitchFamily="2" charset="2"/>
              <a:buNone/>
              <a:defRPr/>
            </a:pPr>
            <a:r>
              <a:rPr lang="zh-CN" altLang="en-US" dirty="0">
                <a:latin typeface="Times New Roman" panose="02020603050405020304" pitchFamily="18" charset="0"/>
                <a:cs typeface="Times New Roman" panose="02020603050405020304" pitchFamily="18" charset="0"/>
                <a:sym typeface="Symbol" pitchFamily="18" charset="2"/>
              </a:rPr>
              <a:t>④ </a:t>
            </a:r>
            <a:r>
              <a:rPr lang="en-US" altLang="zh-CN" dirty="0">
                <a:latin typeface="Times New Roman" panose="02020603050405020304" pitchFamily="18" charset="0"/>
                <a:cs typeface="Times New Roman" panose="02020603050405020304" pitchFamily="18" charset="0"/>
              </a:rPr>
              <a:t>y Q(y)			</a:t>
            </a:r>
            <a:r>
              <a:rPr lang="zh-CN" altLang="en-US" dirty="0">
                <a:latin typeface="Times New Roman" panose="02020603050405020304" pitchFamily="18" charset="0"/>
                <a:cs typeface="Times New Roman" panose="02020603050405020304" pitchFamily="18" charset="0"/>
              </a:rPr>
              <a:t>③</a:t>
            </a:r>
            <a:r>
              <a:rPr lang="en-US" altLang="zh-CN" dirty="0">
                <a:latin typeface="Times New Roman" panose="02020603050405020304" pitchFamily="18" charset="0"/>
                <a:cs typeface="Times New Roman" panose="02020603050405020304" pitchFamily="18" charset="0"/>
              </a:rPr>
              <a:t>UG</a:t>
            </a:r>
            <a:r>
              <a:rPr lang="zh-CN" altLang="en-US" dirty="0">
                <a:latin typeface="Times New Roman" panose="02020603050405020304" pitchFamily="18" charset="0"/>
                <a:cs typeface="Times New Roman" panose="02020603050405020304" pitchFamily="18" charset="0"/>
              </a:rPr>
              <a:t>规则</a:t>
            </a:r>
            <a:endParaRPr lang="en-US" altLang="zh-CN" dirty="0">
              <a:latin typeface="Times New Roman" panose="02020603050405020304" pitchFamily="18" charset="0"/>
              <a:cs typeface="Times New Roman" panose="02020603050405020304" pitchFamily="18" charset="0"/>
            </a:endParaRPr>
          </a:p>
          <a:p>
            <a:pPr marL="0" indent="0">
              <a:buFont typeface="Wingdings" panose="05000000000000000000" pitchFamily="2" charset="2"/>
              <a:buNone/>
              <a:defRPr/>
            </a:pPr>
            <a:endParaRPr lang="en-US" altLang="zh-CN"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Font typeface="Wingdings" panose="05000000000000000000" pitchFamily="2" charset="2"/>
              <a:buNone/>
              <a:defRPr/>
            </a:pPr>
            <a:r>
              <a:rPr lang="zh-CN" altLang="en-US" dirty="0">
                <a:latin typeface="Times New Roman" panose="02020603050405020304" pitchFamily="18" charset="0"/>
                <a:cs typeface="Times New Roman" panose="02020603050405020304" pitchFamily="18" charset="0"/>
              </a:rPr>
              <a:t>令 </a:t>
            </a:r>
            <a:r>
              <a:rPr lang="en-US" altLang="zh-CN" dirty="0">
                <a:latin typeface="Times New Roman" panose="02020603050405020304" pitchFamily="18" charset="0"/>
                <a:cs typeface="Times New Roman" panose="02020603050405020304" pitchFamily="18" charset="0"/>
              </a:rPr>
              <a:t>P(x): x &gt; 1, Q(x): x &gt; 0</a:t>
            </a:r>
          </a:p>
          <a:p>
            <a:pPr marL="0" indent="0">
              <a:buFont typeface="Wingdings" panose="05000000000000000000" pitchFamily="2" charset="2"/>
              <a:buNone/>
              <a:defRPr/>
            </a:pPr>
            <a:r>
              <a:rPr lang="zh-CN" altLang="en-US" dirty="0">
                <a:latin typeface="Times New Roman" panose="02020603050405020304" pitchFamily="18" charset="0"/>
                <a:cs typeface="Times New Roman" panose="02020603050405020304" pitchFamily="18" charset="0"/>
                <a:sym typeface="Symbol" pitchFamily="18" charset="2"/>
              </a:rPr>
              <a:t>前提為 </a:t>
            </a:r>
            <a:r>
              <a:rPr lang="en-US" altLang="zh-CN" dirty="0">
                <a:latin typeface="Times New Roman" panose="02020603050405020304" pitchFamily="18" charset="0"/>
                <a:cs typeface="Times New Roman" panose="02020603050405020304" pitchFamily="18" charset="0"/>
                <a:sym typeface="Symbol" pitchFamily="18" charset="2"/>
              </a:rPr>
              <a:t>P(x)</a:t>
            </a:r>
            <a:r>
              <a:rPr lang="zh-CN" altLang="en-US" dirty="0">
                <a:latin typeface="Times New Roman" panose="02020603050405020304" pitchFamily="18" charset="0"/>
                <a:cs typeface="Times New Roman" panose="02020603050405020304" pitchFamily="18" charset="0"/>
                <a:sym typeface="Symbol" pitchFamily="18" charset="2"/>
              </a:rPr>
              <a:t>，</a:t>
            </a:r>
            <a:r>
              <a:rPr lang="en-US" altLang="zh-CN" dirty="0">
                <a:latin typeface="Times New Roman" panose="02020603050405020304" pitchFamily="18" charset="0"/>
                <a:cs typeface="Times New Roman" panose="02020603050405020304" pitchFamily="18" charset="0"/>
                <a:sym typeface="Symbol" pitchFamily="18" charset="2"/>
              </a:rPr>
              <a:t>P(x) </a:t>
            </a:r>
            <a:r>
              <a:rPr lang="en-US" altLang="zh-CN" dirty="0">
                <a:latin typeface="Times New Roman" panose="02020603050405020304" pitchFamily="18" charset="0"/>
                <a:cs typeface="Times New Roman" panose="02020603050405020304" pitchFamily="18" charset="0"/>
                <a:sym typeface="Symbol"/>
              </a:rPr>
              <a:t> </a:t>
            </a:r>
            <a:r>
              <a:rPr lang="en-US" altLang="zh-CN" dirty="0">
                <a:latin typeface="Times New Roman" panose="02020603050405020304" pitchFamily="18" charset="0"/>
                <a:cs typeface="Times New Roman" panose="02020603050405020304" pitchFamily="18" charset="0"/>
                <a:sym typeface="Symbol" pitchFamily="18" charset="2"/>
              </a:rPr>
              <a:t>Q(x)</a:t>
            </a:r>
          </a:p>
          <a:p>
            <a:pPr marL="0" indent="0">
              <a:buFont typeface="Wingdings" panose="05000000000000000000" pitchFamily="2" charset="2"/>
              <a:buNone/>
              <a:defRPr/>
            </a:pPr>
            <a:r>
              <a:rPr lang="zh-CN" altLang="en-US" dirty="0">
                <a:latin typeface="Times New Roman" panose="02020603050405020304" pitchFamily="18" charset="0"/>
                <a:cs typeface="Times New Roman" panose="02020603050405020304" pitchFamily="18" charset="0"/>
                <a:sym typeface="Symbol" pitchFamily="18" charset="2"/>
              </a:rPr>
              <a:t>結論：</a:t>
            </a:r>
            <a:r>
              <a:rPr lang="en-US" altLang="zh-CN" dirty="0">
                <a:latin typeface="Times New Roman" panose="02020603050405020304" pitchFamily="18" charset="0"/>
                <a:cs typeface="Times New Roman" panose="02020603050405020304" pitchFamily="18" charset="0"/>
                <a:sym typeface="Symbol" pitchFamily="18" charset="2"/>
              </a:rPr>
              <a:t> Q(x) </a:t>
            </a:r>
            <a:r>
              <a:rPr lang="zh-CN" altLang="en-US" dirty="0">
                <a:latin typeface="Times New Roman" panose="02020603050405020304" pitchFamily="18" charset="0"/>
                <a:cs typeface="Times New Roman" panose="02020603050405020304" pitchFamily="18" charset="0"/>
                <a:sym typeface="Symbol" pitchFamily="18" charset="2"/>
              </a:rPr>
              <a:t>，從而</a:t>
            </a:r>
            <a:r>
              <a:rPr lang="zh-CN" altLang="en-US" dirty="0">
                <a:latin typeface="Times New Roman" panose="02020603050405020304" pitchFamily="18" charset="0"/>
                <a:cs typeface="Times New Roman" panose="02020603050405020304" pitchFamily="18" charset="0"/>
                <a:sym typeface="Symbol"/>
              </a:rPr>
              <a:t></a:t>
            </a:r>
            <a:r>
              <a:rPr lang="en-US" altLang="zh-CN" dirty="0" err="1">
                <a:latin typeface="Times New Roman" panose="02020603050405020304" pitchFamily="18" charset="0"/>
                <a:cs typeface="Times New Roman" panose="02020603050405020304" pitchFamily="18" charset="0"/>
                <a:sym typeface="Symbol"/>
              </a:rPr>
              <a:t>yQ</a:t>
            </a:r>
            <a:r>
              <a:rPr lang="en-US" altLang="zh-CN" dirty="0">
                <a:latin typeface="Times New Roman" panose="02020603050405020304" pitchFamily="18" charset="0"/>
                <a:cs typeface="Times New Roman" panose="02020603050405020304" pitchFamily="18" charset="0"/>
                <a:sym typeface="Symbol"/>
              </a:rPr>
              <a:t>(y)</a:t>
            </a:r>
            <a:r>
              <a:rPr lang="zh-CN" altLang="en-US" dirty="0">
                <a:latin typeface="Times New Roman" panose="02020603050405020304" pitchFamily="18" charset="0"/>
                <a:cs typeface="Times New Roman" panose="02020603050405020304" pitchFamily="18" charset="0"/>
                <a:sym typeface="Symbol"/>
              </a:rPr>
              <a:t>，顯然不對。</a:t>
            </a:r>
            <a:endParaRPr lang="en-US" altLang="zh-CN" dirty="0">
              <a:latin typeface="Times New Roman" panose="02020603050405020304" pitchFamily="18" charset="0"/>
              <a:cs typeface="Times New Roman" panose="02020603050405020304" pitchFamily="18" charset="0"/>
              <a:sym typeface="Symbol"/>
            </a:endParaRPr>
          </a:p>
          <a:p>
            <a:pPr marL="0" indent="0">
              <a:buFont typeface="Wingdings" panose="05000000000000000000" pitchFamily="2" charset="2"/>
              <a:buNone/>
              <a:defRPr/>
            </a:pPr>
            <a:r>
              <a:rPr lang="zh-CN" altLang="en-US" dirty="0">
                <a:latin typeface="Times New Roman" panose="02020603050405020304" pitchFamily="18" charset="0"/>
                <a:cs typeface="Times New Roman" panose="02020603050405020304" pitchFamily="18" charset="0"/>
                <a:sym typeface="Symbol"/>
              </a:rPr>
              <a:t>這是因為</a:t>
            </a:r>
            <a:r>
              <a:rPr lang="zh-CN" altLang="en-US" dirty="0">
                <a:latin typeface="Times New Roman" panose="02020603050405020304" pitchFamily="18" charset="0"/>
                <a:cs typeface="Times New Roman" panose="02020603050405020304" pitchFamily="18" charset="0"/>
                <a:sym typeface="Symbol" pitchFamily="18" charset="2"/>
              </a:rPr>
              <a:t>前提中含有</a:t>
            </a:r>
            <a:r>
              <a:rPr lang="en-US" altLang="zh-CN" dirty="0">
                <a:latin typeface="Times New Roman" panose="02020603050405020304" pitchFamily="18" charset="0"/>
                <a:cs typeface="Times New Roman" panose="02020603050405020304" pitchFamily="18" charset="0"/>
                <a:sym typeface="Symbol" pitchFamily="18" charset="2"/>
              </a:rPr>
              <a:t>x</a:t>
            </a:r>
            <a:r>
              <a:rPr lang="zh-CN" altLang="en-US" dirty="0">
                <a:latin typeface="Times New Roman" panose="02020603050405020304" pitchFamily="18" charset="0"/>
                <a:cs typeface="Times New Roman" panose="02020603050405020304" pitchFamily="18" charset="0"/>
                <a:sym typeface="Symbol" pitchFamily="18" charset="2"/>
              </a:rPr>
              <a:t>的自由出現，亦即</a:t>
            </a:r>
            <a:r>
              <a:rPr lang="en-US" altLang="zh-CN" dirty="0">
                <a:latin typeface="Times New Roman" panose="02020603050405020304" pitchFamily="18" charset="0"/>
                <a:cs typeface="Times New Roman" panose="02020603050405020304" pitchFamily="18" charset="0"/>
                <a:sym typeface="Symbol" pitchFamily="18" charset="2"/>
              </a:rPr>
              <a:t>x&gt;0</a:t>
            </a:r>
            <a:r>
              <a:rPr lang="zh-CN" altLang="en-US" dirty="0">
                <a:latin typeface="Times New Roman" panose="02020603050405020304" pitchFamily="18" charset="0"/>
                <a:cs typeface="Times New Roman" panose="02020603050405020304" pitchFamily="18" charset="0"/>
                <a:sym typeface="Symbol" pitchFamily="18" charset="2"/>
              </a:rPr>
              <a:t>這個結論是有前提的（</a:t>
            </a:r>
            <a:r>
              <a:rPr lang="en-US" altLang="zh-CN" dirty="0">
                <a:latin typeface="Times New Roman" panose="02020603050405020304" pitchFamily="18" charset="0"/>
                <a:cs typeface="Times New Roman" panose="02020603050405020304" pitchFamily="18" charset="0"/>
                <a:sym typeface="Symbol" pitchFamily="18" charset="2"/>
              </a:rPr>
              <a:t>x&gt;1</a:t>
            </a:r>
            <a:r>
              <a:rPr lang="zh-CN" altLang="en-US" dirty="0">
                <a:latin typeface="Times New Roman" panose="02020603050405020304" pitchFamily="18" charset="0"/>
                <a:cs typeface="Times New Roman" panose="02020603050405020304" pitchFamily="18" charset="0"/>
                <a:sym typeface="Symbol" pitchFamily="18" charset="2"/>
              </a:rPr>
              <a:t>），并不是對所有的</a:t>
            </a:r>
            <a:r>
              <a:rPr lang="en-US" altLang="zh-CN" dirty="0">
                <a:latin typeface="Times New Roman" panose="02020603050405020304" pitchFamily="18" charset="0"/>
                <a:cs typeface="Times New Roman" panose="02020603050405020304" pitchFamily="18" charset="0"/>
                <a:sym typeface="Symbol" pitchFamily="18" charset="2"/>
              </a:rPr>
              <a:t>x</a:t>
            </a:r>
            <a:r>
              <a:rPr lang="zh-CN" altLang="en-US" dirty="0">
                <a:latin typeface="Times New Roman" panose="02020603050405020304" pitchFamily="18" charset="0"/>
                <a:cs typeface="Times New Roman" panose="02020603050405020304" pitchFamily="18" charset="0"/>
                <a:sym typeface="Symbol" pitchFamily="18" charset="2"/>
              </a:rPr>
              <a:t>都成立。</a:t>
            </a:r>
            <a:endParaRPr lang="en-US" altLang="zh-CN" dirty="0">
              <a:latin typeface="Times New Roman" panose="02020603050405020304" pitchFamily="18" charset="0"/>
              <a:cs typeface="Times New Roman" panose="02020603050405020304" pitchFamily="18" charset="0"/>
              <a:sym typeface="Symbol" pitchFamily="18" charset="2"/>
            </a:endParaRPr>
          </a:p>
          <a:p>
            <a:pPr marL="0" indent="0">
              <a:buFont typeface="Wingdings" panose="05000000000000000000" pitchFamily="2" charset="2"/>
              <a:buNone/>
              <a:defRPr/>
            </a:pPr>
            <a:endParaRPr lang="en-US" altLang="zh-CN" dirty="0">
              <a:latin typeface="Times New Roman" panose="02020603050405020304" pitchFamily="18" charset="0"/>
              <a:cs typeface="Times New Roman" panose="02020603050405020304" pitchFamily="18" charset="0"/>
              <a:sym typeface="Symbol" pitchFamily="18" charset="2"/>
            </a:endParaRPr>
          </a:p>
          <a:p>
            <a:pPr marL="0" indent="0">
              <a:buFont typeface="Wingdings" panose="05000000000000000000" pitchFamily="2" charset="2"/>
              <a:buNone/>
              <a:defRPr/>
            </a:pPr>
            <a:endParaRPr lang="en-US" altLang="zh-CN" dirty="0">
              <a:latin typeface="Times New Roman" panose="02020603050405020304" pitchFamily="18" charset="0"/>
              <a:cs typeface="Times New Roman" panose="02020603050405020304" pitchFamily="18" charset="0"/>
            </a:endParaRPr>
          </a:p>
          <a:p>
            <a:pPr marL="0" indent="0">
              <a:buFont typeface="Wingdings" panose="05000000000000000000" pitchFamily="2" charset="2"/>
              <a:buNone/>
              <a:defRPr/>
            </a:pP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2255753"/>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文本占位符 98306">
            <a:extLst>
              <a:ext uri="{FF2B5EF4-FFF2-40B4-BE49-F238E27FC236}">
                <a16:creationId xmlns:a16="http://schemas.microsoft.com/office/drawing/2014/main" id="{271F9372-B60A-4AE4-9A39-1753AC45DA63}"/>
              </a:ext>
            </a:extLst>
          </p:cNvPr>
          <p:cNvSpPr txBox="1">
            <a:spLocks noChangeArrowheads="1"/>
          </p:cNvSpPr>
          <p:nvPr/>
        </p:nvSpPr>
        <p:spPr>
          <a:xfrm>
            <a:off x="1751013" y="915311"/>
            <a:ext cx="9159643" cy="33548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Clr>
                <a:schemeClr val="tx1"/>
              </a:buClr>
              <a:buFontTx/>
              <a:buNone/>
            </a:pPr>
            <a:r>
              <a:rPr lang="zh-CN" altLang="en-US" dirty="0">
                <a:solidFill>
                  <a:srgbClr val="0033CC"/>
                </a:solidFill>
                <a:latin typeface="Times New Roman" panose="02020603050405020304" pitchFamily="18" charset="0"/>
                <a:cs typeface="Times New Roman" panose="02020603050405020304" pitchFamily="18" charset="0"/>
              </a:rPr>
              <a:t>2 全称量词引入规则（UG规则）</a:t>
            </a:r>
          </a:p>
          <a:p>
            <a:pPr>
              <a:lnSpc>
                <a:spcPct val="120000"/>
              </a:lnSpc>
              <a:buClr>
                <a:schemeClr val="tx1"/>
              </a:buClr>
              <a:buFontTx/>
              <a:buNone/>
            </a:pPr>
            <a:r>
              <a:rPr lang="zh-CN" altLang="en-US" dirty="0">
                <a:latin typeface="Times New Roman" panose="02020603050405020304" pitchFamily="18" charset="0"/>
                <a:cs typeface="Times New Roman" panose="02020603050405020304" pitchFamily="18" charset="0"/>
              </a:rPr>
              <a:t>	A(y) </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latin typeface="Times New Roman" panose="02020603050405020304" pitchFamily="18" charset="0"/>
                <a:cs typeface="Times New Roman" panose="02020603050405020304" pitchFamily="18" charset="0"/>
              </a:rPr>
              <a:t>xA(x)</a:t>
            </a:r>
          </a:p>
          <a:p>
            <a:pPr>
              <a:lnSpc>
                <a:spcPct val="120000"/>
              </a:lnSpc>
              <a:buClr>
                <a:schemeClr val="tx1"/>
              </a:buClr>
              <a:buFontTx/>
              <a:buNone/>
            </a:pPr>
            <a:r>
              <a:rPr lang="zh-CN" altLang="en-US" dirty="0">
                <a:latin typeface="Times New Roman" panose="02020603050405020304" pitchFamily="18" charset="0"/>
                <a:cs typeface="Times New Roman" panose="02020603050405020304" pitchFamily="18" charset="0"/>
              </a:rPr>
              <a:t>	成立的条件是：</a:t>
            </a:r>
          </a:p>
          <a:p>
            <a:pPr>
              <a:lnSpc>
                <a:spcPct val="120000"/>
              </a:lnSpc>
              <a:buClr>
                <a:schemeClr val="tx1"/>
              </a:buClr>
              <a:buFontTx/>
              <a:buNone/>
            </a:pPr>
            <a:r>
              <a:rPr lang="zh-CN" altLang="en-US" dirty="0">
                <a:latin typeface="Times New Roman" panose="02020603050405020304" pitchFamily="18" charset="0"/>
                <a:cs typeface="Times New Roman" panose="02020603050405020304" pitchFamily="18" charset="0"/>
              </a:rPr>
              <a:t>	(1).y在A(y)中自由出现，且任意</a:t>
            </a:r>
            <a:r>
              <a:rPr lang="en-US" altLang="zh-CN" dirty="0">
                <a:latin typeface="Times New Roman" panose="02020603050405020304" pitchFamily="18" charset="0"/>
                <a:cs typeface="Times New Roman" panose="02020603050405020304" pitchFamily="18" charset="0"/>
              </a:rPr>
              <a:t>y</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A(y)</a:t>
            </a:r>
            <a:r>
              <a:rPr lang="zh-CN" altLang="en-US" dirty="0">
                <a:latin typeface="Times New Roman" panose="02020603050405020304" pitchFamily="18" charset="0"/>
                <a:cs typeface="Times New Roman" panose="02020603050405020304" pitchFamily="18" charset="0"/>
              </a:rPr>
              <a:t>为真；</a:t>
            </a:r>
          </a:p>
          <a:p>
            <a:pPr>
              <a:lnSpc>
                <a:spcPct val="120000"/>
              </a:lnSpc>
              <a:buClr>
                <a:schemeClr val="tx1"/>
              </a:buClr>
              <a:buFontTx/>
              <a:buNone/>
            </a:pPr>
            <a:r>
              <a:rPr lang="zh-CN" altLang="en-US" dirty="0">
                <a:latin typeface="Times New Roman" panose="02020603050405020304" pitchFamily="18" charset="0"/>
                <a:cs typeface="Times New Roman" panose="02020603050405020304" pitchFamily="18" charset="0"/>
              </a:rPr>
              <a:t>	(2).替换y的x要选择在A(y)中不出现的变元符号；</a:t>
            </a:r>
          </a:p>
        </p:txBody>
      </p:sp>
      <p:sp>
        <p:nvSpPr>
          <p:cNvPr id="2" name="矩形 1">
            <a:extLst>
              <a:ext uri="{FF2B5EF4-FFF2-40B4-BE49-F238E27FC236}">
                <a16:creationId xmlns:a16="http://schemas.microsoft.com/office/drawing/2014/main" id="{AA5BCF58-0CFE-40E3-A120-8ABB068BED17}"/>
              </a:ext>
            </a:extLst>
          </p:cNvPr>
          <p:cNvSpPr/>
          <p:nvPr/>
        </p:nvSpPr>
        <p:spPr>
          <a:xfrm>
            <a:off x="1933852" y="4145872"/>
            <a:ext cx="8324295" cy="1384995"/>
          </a:xfrm>
          <a:prstGeom prst="rect">
            <a:avLst/>
          </a:prstGeom>
        </p:spPr>
        <p:txBody>
          <a:bodyPr wrap="square">
            <a:spAutoFit/>
          </a:bodyPr>
          <a:lstStyle/>
          <a:p>
            <a:r>
              <a:rPr lang="en-US" altLang="zh-CN" sz="2800" dirty="0">
                <a:solidFill>
                  <a:srgbClr val="C00000"/>
                </a:solidFill>
                <a:latin typeface="Times New Roman" panose="02020603050405020304" pitchFamily="18" charset="0"/>
                <a:cs typeface="Times New Roman" panose="02020603050405020304" pitchFamily="18" charset="0"/>
              </a:rPr>
              <a:t>(3) y</a:t>
            </a:r>
            <a:r>
              <a:rPr lang="zh-CN" altLang="en-US" sz="2800" dirty="0">
                <a:solidFill>
                  <a:srgbClr val="C00000"/>
                </a:solidFill>
                <a:latin typeface="Times New Roman" panose="02020603050405020304" pitchFamily="18" charset="0"/>
                <a:cs typeface="Times New Roman" panose="02020603050405020304" pitchFamily="18" charset="0"/>
              </a:rPr>
              <a:t>不在 </a:t>
            </a:r>
            <a:r>
              <a:rPr lang="zh-CN" altLang="en-US" sz="28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前提 中自由出现，也就是</a:t>
            </a:r>
            <a:r>
              <a:rPr lang="en-US" altLang="zh-CN" sz="28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A(y)</a:t>
            </a:r>
            <a:r>
              <a:rPr lang="zh-CN" altLang="en-US" sz="28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的真值与前提无关。因为若</a:t>
            </a:r>
            <a:r>
              <a:rPr lang="en-US" altLang="zh-CN" sz="28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y</a:t>
            </a:r>
            <a:r>
              <a:rPr lang="zh-CN" altLang="en-US" sz="28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在 前提中自由出现过，则</a:t>
            </a:r>
            <a:r>
              <a:rPr lang="en-US" altLang="zh-CN" sz="28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y</a:t>
            </a:r>
            <a:r>
              <a:rPr lang="zh-CN" altLang="en-US" sz="28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的任意性无法保证。换言之，无论</a:t>
            </a:r>
            <a:r>
              <a:rPr lang="en-US" altLang="zh-CN" sz="28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y</a:t>
            </a:r>
            <a:r>
              <a:rPr lang="zh-CN" altLang="en-US" sz="28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取何值，</a:t>
            </a:r>
            <a:r>
              <a:rPr lang="en-US" altLang="zh-CN" sz="28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A(y)</a:t>
            </a:r>
            <a:r>
              <a:rPr lang="zh-CN" altLang="en-US" sz="28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均为真。</a:t>
            </a:r>
            <a:endParaRPr lang="zh-CN" altLang="en-US" sz="2800"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9106519"/>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文本占位符 100354">
            <a:extLst>
              <a:ext uri="{FF2B5EF4-FFF2-40B4-BE49-F238E27FC236}">
                <a16:creationId xmlns:a16="http://schemas.microsoft.com/office/drawing/2014/main" id="{D445338B-F609-44AA-9065-CD8002AE1A17}"/>
              </a:ext>
            </a:extLst>
          </p:cNvPr>
          <p:cNvSpPr txBox="1">
            <a:spLocks noChangeArrowheads="1"/>
          </p:cNvSpPr>
          <p:nvPr/>
        </p:nvSpPr>
        <p:spPr>
          <a:xfrm>
            <a:off x="1682317" y="1003531"/>
            <a:ext cx="9272727" cy="334652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tx1"/>
              </a:buClr>
              <a:buFontTx/>
              <a:buNone/>
            </a:pPr>
            <a:r>
              <a:rPr lang="en-US" altLang="zh-CN" sz="3200" dirty="0">
                <a:solidFill>
                  <a:srgbClr val="0033CC"/>
                </a:solidFill>
                <a:latin typeface="Times New Roman" panose="02020603050405020304" pitchFamily="18" charset="0"/>
                <a:cs typeface="Times New Roman" panose="02020603050405020304" pitchFamily="18" charset="0"/>
              </a:rPr>
              <a:t>3 </a:t>
            </a:r>
            <a:r>
              <a:rPr lang="zh-CN" altLang="en-US" sz="3200" dirty="0">
                <a:solidFill>
                  <a:srgbClr val="0033CC"/>
                </a:solidFill>
                <a:latin typeface="Times New Roman" panose="02020603050405020304" pitchFamily="18" charset="0"/>
                <a:cs typeface="Times New Roman" panose="02020603050405020304" pitchFamily="18" charset="0"/>
              </a:rPr>
              <a:t>存在量词消除规则（</a:t>
            </a:r>
            <a:r>
              <a:rPr lang="en-US" altLang="zh-CN" sz="3200" dirty="0">
                <a:solidFill>
                  <a:srgbClr val="0033CC"/>
                </a:solidFill>
                <a:latin typeface="Times New Roman" panose="02020603050405020304" pitchFamily="18" charset="0"/>
                <a:cs typeface="Times New Roman" panose="02020603050405020304" pitchFamily="18" charset="0"/>
              </a:rPr>
              <a:t>ES</a:t>
            </a:r>
            <a:r>
              <a:rPr lang="zh-CN" altLang="en-US" sz="3200" dirty="0">
                <a:solidFill>
                  <a:srgbClr val="0033CC"/>
                </a:solidFill>
                <a:latin typeface="Times New Roman" panose="02020603050405020304" pitchFamily="18" charset="0"/>
                <a:cs typeface="Times New Roman" panose="02020603050405020304" pitchFamily="18" charset="0"/>
              </a:rPr>
              <a:t>规则）</a:t>
            </a:r>
          </a:p>
          <a:p>
            <a:pPr>
              <a:buClr>
                <a:schemeClr val="tx1"/>
              </a:buClr>
              <a:buFontTx/>
              <a:buNone/>
            </a:pPr>
            <a:r>
              <a:rPr lang="zh-CN" altLang="en-US" sz="3200" dirty="0">
                <a:latin typeface="Times New Roman" panose="02020603050405020304" pitchFamily="18" charset="0"/>
                <a:cs typeface="Times New Roman" panose="02020603050405020304" pitchFamily="18" charset="0"/>
              </a:rPr>
              <a:t>	</a:t>
            </a:r>
            <a:r>
              <a:rPr lang="zh-CN" altLang="en-US"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err="1">
                <a:latin typeface="Times New Roman" panose="02020603050405020304" pitchFamily="18" charset="0"/>
                <a:cs typeface="Times New Roman" panose="02020603050405020304" pitchFamily="18" charset="0"/>
              </a:rPr>
              <a:t>xA</a:t>
            </a:r>
            <a:r>
              <a:rPr lang="en-US" altLang="zh-CN" sz="3200" dirty="0">
                <a:latin typeface="Times New Roman" panose="02020603050405020304" pitchFamily="18" charset="0"/>
                <a:cs typeface="Times New Roman" panose="02020603050405020304" pitchFamily="18" charset="0"/>
              </a:rPr>
              <a:t>(x) </a:t>
            </a:r>
            <a:r>
              <a:rPr lang="en-US" altLang="zh-CN" sz="32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3200" dirty="0">
                <a:latin typeface="Times New Roman" panose="02020603050405020304" pitchFamily="18" charset="0"/>
                <a:cs typeface="Times New Roman" panose="02020603050405020304" pitchFamily="18" charset="0"/>
              </a:rPr>
              <a:t> A(c)</a:t>
            </a:r>
          </a:p>
          <a:p>
            <a:pPr>
              <a:buClr>
                <a:schemeClr val="tx1"/>
              </a:buClr>
              <a:buFontTx/>
              <a:buNone/>
            </a:pPr>
            <a:r>
              <a:rPr lang="en-US" altLang="zh-CN" sz="3200" dirty="0">
                <a:latin typeface="Times New Roman" panose="02020603050405020304" pitchFamily="18" charset="0"/>
                <a:cs typeface="Times New Roman" panose="02020603050405020304" pitchFamily="18" charset="0"/>
              </a:rPr>
              <a:t>	</a:t>
            </a:r>
            <a:r>
              <a:rPr lang="zh-CN" altLang="en-US" sz="3200" dirty="0">
                <a:latin typeface="Times New Roman" panose="02020603050405020304" pitchFamily="18" charset="0"/>
                <a:cs typeface="Times New Roman" panose="02020603050405020304" pitchFamily="18" charset="0"/>
              </a:rPr>
              <a:t>成立的条件是：</a:t>
            </a:r>
          </a:p>
          <a:p>
            <a:pPr>
              <a:buClr>
                <a:schemeClr val="tx1"/>
              </a:buClr>
              <a:buFontTx/>
              <a:buNone/>
            </a:pPr>
            <a:r>
              <a:rPr lang="zh-CN" altLang="en-US"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rPr>
              <a:t>(1).c</a:t>
            </a:r>
            <a:r>
              <a:rPr lang="zh-CN" altLang="en-US" sz="3200" dirty="0">
                <a:latin typeface="Times New Roman" panose="02020603050405020304" pitchFamily="18" charset="0"/>
                <a:cs typeface="Times New Roman" panose="02020603050405020304" pitchFamily="18" charset="0"/>
              </a:rPr>
              <a:t>是特定的个体常量，</a:t>
            </a:r>
            <a:r>
              <a:rPr lang="en-US" altLang="zh-CN" sz="3200" dirty="0">
                <a:latin typeface="Times New Roman" panose="02020603050405020304" pitchFamily="18" charset="0"/>
                <a:cs typeface="Times New Roman" panose="02020603050405020304" pitchFamily="18" charset="0"/>
              </a:rPr>
              <a:t>c</a:t>
            </a:r>
            <a:r>
              <a:rPr lang="zh-CN" altLang="en-US" sz="3200" dirty="0">
                <a:latin typeface="Times New Roman" panose="02020603050405020304" pitchFamily="18" charset="0"/>
                <a:cs typeface="Times New Roman" panose="02020603050405020304" pitchFamily="18" charset="0"/>
              </a:rPr>
              <a:t>不能在前面的公式序列中出现；</a:t>
            </a:r>
          </a:p>
          <a:p>
            <a:pPr>
              <a:buClr>
                <a:schemeClr val="tx1"/>
              </a:buClr>
              <a:buFontTx/>
              <a:buNone/>
            </a:pPr>
            <a:r>
              <a:rPr lang="zh-CN" altLang="en-US"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rPr>
              <a:t>(2).c</a:t>
            </a:r>
            <a:r>
              <a:rPr lang="zh-CN" altLang="en-US" sz="3200" dirty="0">
                <a:latin typeface="Times New Roman" panose="02020603050405020304" pitchFamily="18" charset="0"/>
                <a:cs typeface="Times New Roman" panose="02020603050405020304" pitchFamily="18" charset="0"/>
              </a:rPr>
              <a:t>不在</a:t>
            </a:r>
            <a:r>
              <a:rPr lang="en-US" altLang="zh-CN" sz="3200" dirty="0">
                <a:latin typeface="Times New Roman" panose="02020603050405020304" pitchFamily="18" charset="0"/>
                <a:cs typeface="Times New Roman" panose="02020603050405020304" pitchFamily="18" charset="0"/>
              </a:rPr>
              <a:t>A(x)</a:t>
            </a:r>
            <a:r>
              <a:rPr lang="zh-CN" altLang="en-US" sz="3200" dirty="0">
                <a:latin typeface="Times New Roman" panose="02020603050405020304" pitchFamily="18" charset="0"/>
                <a:cs typeface="Times New Roman" panose="02020603050405020304" pitchFamily="18" charset="0"/>
              </a:rPr>
              <a:t>中出现；</a:t>
            </a:r>
          </a:p>
          <a:p>
            <a:pPr>
              <a:buClr>
                <a:schemeClr val="tx1"/>
              </a:buClr>
              <a:buFontTx/>
              <a:buNone/>
            </a:pPr>
            <a:r>
              <a:rPr lang="zh-CN" altLang="en-US" sz="3200" dirty="0">
                <a:latin typeface="Times New Roman" panose="02020603050405020304" pitchFamily="18" charset="0"/>
                <a:cs typeface="Times New Roman" panose="02020603050405020304" pitchFamily="18" charset="0"/>
              </a:rPr>
              <a:t>	</a:t>
            </a:r>
            <a:r>
              <a:rPr lang="en-US" altLang="zh-CN" sz="3200" dirty="0">
                <a:latin typeface="Times New Roman" panose="02020603050405020304" pitchFamily="18" charset="0"/>
                <a:cs typeface="Times New Roman" panose="02020603050405020304" pitchFamily="18" charset="0"/>
              </a:rPr>
              <a:t>(3).A(x)</a:t>
            </a:r>
            <a:r>
              <a:rPr lang="zh-CN" altLang="en-US" sz="3200" dirty="0">
                <a:latin typeface="Times New Roman" panose="02020603050405020304" pitchFamily="18" charset="0"/>
                <a:cs typeface="Times New Roman" panose="02020603050405020304" pitchFamily="18" charset="0"/>
              </a:rPr>
              <a:t>中自由出现的个体变元只有</a:t>
            </a:r>
            <a:r>
              <a:rPr lang="en-US" altLang="zh-CN" sz="3200" dirty="0">
                <a:latin typeface="Times New Roman" panose="02020603050405020304" pitchFamily="18" charset="0"/>
                <a:cs typeface="Times New Roman" panose="02020603050405020304" pitchFamily="18" charset="0"/>
              </a:rPr>
              <a:t>x</a:t>
            </a:r>
            <a:r>
              <a:rPr lang="zh-CN" altLang="en-US" sz="32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72415875"/>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文本框 6">
            <a:extLst>
              <a:ext uri="{FF2B5EF4-FFF2-40B4-BE49-F238E27FC236}">
                <a16:creationId xmlns:a16="http://schemas.microsoft.com/office/drawing/2014/main" id="{5D61109E-ECD7-48C0-AF1D-D8EA0E1C4332}"/>
              </a:ext>
            </a:extLst>
          </p:cNvPr>
          <p:cNvSpPr txBox="1">
            <a:spLocks noChangeArrowheads="1"/>
          </p:cNvSpPr>
          <p:nvPr/>
        </p:nvSpPr>
        <p:spPr bwMode="auto">
          <a:xfrm>
            <a:off x="1571625" y="978763"/>
            <a:ext cx="9489952" cy="2677656"/>
          </a:xfrm>
          <a:prstGeom prst="rect">
            <a:avLst/>
          </a:prstGeom>
          <a:noFill/>
          <a:ln w="2857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b="1">
                <a:solidFill>
                  <a:srgbClr val="FFFFFF"/>
                </a:solidFill>
                <a:latin typeface="" charset="0"/>
                <a:ea typeface="宋体" panose="02010600030101010101" pitchFamily="2" charset="-122"/>
              </a:defRPr>
            </a:lvl1pPr>
            <a:lvl2pPr marL="742950" indent="-285750">
              <a:defRPr kumimoji="1" b="1">
                <a:solidFill>
                  <a:srgbClr val="FFFFFF"/>
                </a:solidFill>
                <a:latin typeface="" charset="0"/>
                <a:ea typeface="宋体" panose="02010600030101010101" pitchFamily="2" charset="-122"/>
              </a:defRPr>
            </a:lvl2pPr>
            <a:lvl3pPr marL="1143000" indent="-228600">
              <a:defRPr kumimoji="1" b="1">
                <a:solidFill>
                  <a:srgbClr val="FFFFFF"/>
                </a:solidFill>
                <a:latin typeface="" charset="0"/>
                <a:ea typeface="宋体" panose="02010600030101010101" pitchFamily="2" charset="-122"/>
              </a:defRPr>
            </a:lvl3pPr>
            <a:lvl4pPr marL="1600200" indent="-228600">
              <a:defRPr kumimoji="1" b="1">
                <a:solidFill>
                  <a:srgbClr val="FFFFFF"/>
                </a:solidFill>
                <a:latin typeface="" charset="0"/>
                <a:ea typeface="宋体" panose="02010600030101010101" pitchFamily="2" charset="-122"/>
              </a:defRPr>
            </a:lvl4pPr>
            <a:lvl5pPr marL="2057400" indent="-228600">
              <a:defRPr kumimoji="1" b="1">
                <a:solidFill>
                  <a:srgbClr val="FFFFFF"/>
                </a:solidFill>
                <a:latin typeface="" charset="0"/>
                <a:ea typeface="宋体" panose="02010600030101010101" pitchFamily="2" charset="-122"/>
              </a:defRPr>
            </a:lvl5pPr>
            <a:lvl6pPr marL="25146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6pPr>
            <a:lvl7pPr marL="29718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7pPr>
            <a:lvl8pPr marL="34290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8pPr>
            <a:lvl9pPr marL="38862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9pPr>
          </a:lstStyle>
          <a:p>
            <a:pPr>
              <a:spcBef>
                <a:spcPct val="50000"/>
              </a:spcBef>
              <a:buFont typeface="Wingdings" panose="05000000000000000000" pitchFamily="2" charset="2"/>
              <a:buNone/>
            </a:pPr>
            <a:r>
              <a:rPr lang="zh-CN" altLang="en-US" sz="2400" b="0" dirty="0">
                <a:solidFill>
                  <a:schemeClr val="tx1">
                    <a:lumMod val="95000"/>
                    <a:lumOff val="5000"/>
                  </a:schemeClr>
                </a:solidFill>
                <a:latin typeface="+mn-ea"/>
                <a:ea typeface="+mn-ea"/>
              </a:rPr>
              <a:t>取个体域为自然数集合，</a:t>
            </a:r>
            <a:r>
              <a:rPr lang="en-US" altLang="zh-CN" sz="2400" b="0" dirty="0">
                <a:solidFill>
                  <a:schemeClr val="tx1">
                    <a:lumMod val="95000"/>
                    <a:lumOff val="5000"/>
                  </a:schemeClr>
                </a:solidFill>
                <a:latin typeface="+mn-ea"/>
                <a:ea typeface="+mn-ea"/>
              </a:rPr>
              <a:t>F(x)</a:t>
            </a:r>
            <a:r>
              <a:rPr lang="zh-CN" altLang="en-US" sz="2400" b="0" dirty="0">
                <a:solidFill>
                  <a:schemeClr val="tx1">
                    <a:lumMod val="95000"/>
                    <a:lumOff val="5000"/>
                  </a:schemeClr>
                </a:solidFill>
                <a:latin typeface="+mn-ea"/>
                <a:ea typeface="+mn-ea"/>
              </a:rPr>
              <a:t>为</a:t>
            </a:r>
            <a:r>
              <a:rPr lang="en-US" altLang="zh-CN" sz="2400" b="0" dirty="0">
                <a:solidFill>
                  <a:schemeClr val="tx1">
                    <a:lumMod val="95000"/>
                    <a:lumOff val="5000"/>
                  </a:schemeClr>
                </a:solidFill>
                <a:latin typeface="+mn-ea"/>
                <a:ea typeface="+mn-ea"/>
              </a:rPr>
              <a:t>x</a:t>
            </a:r>
            <a:r>
              <a:rPr lang="zh-CN" altLang="en-US" sz="2400" b="0" dirty="0">
                <a:solidFill>
                  <a:schemeClr val="tx1">
                    <a:lumMod val="95000"/>
                    <a:lumOff val="5000"/>
                  </a:schemeClr>
                </a:solidFill>
                <a:latin typeface="+mn-ea"/>
                <a:ea typeface="+mn-ea"/>
              </a:rPr>
              <a:t>是奇数，</a:t>
            </a:r>
            <a:r>
              <a:rPr lang="en-US" altLang="zh-CN" sz="2400" b="0" dirty="0">
                <a:solidFill>
                  <a:schemeClr val="tx1">
                    <a:lumMod val="95000"/>
                    <a:lumOff val="5000"/>
                  </a:schemeClr>
                </a:solidFill>
                <a:latin typeface="+mn-ea"/>
                <a:ea typeface="+mn-ea"/>
              </a:rPr>
              <a:t>G(x)</a:t>
            </a:r>
            <a:r>
              <a:rPr lang="zh-CN" altLang="en-US" sz="2400" b="0" dirty="0">
                <a:solidFill>
                  <a:schemeClr val="tx1">
                    <a:lumMod val="95000"/>
                    <a:lumOff val="5000"/>
                  </a:schemeClr>
                </a:solidFill>
                <a:latin typeface="+mn-ea"/>
                <a:ea typeface="+mn-ea"/>
              </a:rPr>
              <a:t>为</a:t>
            </a:r>
            <a:r>
              <a:rPr lang="en-US" altLang="zh-CN" sz="2400" b="0" dirty="0">
                <a:solidFill>
                  <a:schemeClr val="tx1">
                    <a:lumMod val="95000"/>
                    <a:lumOff val="5000"/>
                  </a:schemeClr>
                </a:solidFill>
                <a:latin typeface="+mn-ea"/>
                <a:ea typeface="+mn-ea"/>
              </a:rPr>
              <a:t>x</a:t>
            </a:r>
            <a:r>
              <a:rPr lang="zh-CN" altLang="en-US" sz="2400" b="0" dirty="0">
                <a:solidFill>
                  <a:schemeClr val="tx1">
                    <a:lumMod val="95000"/>
                    <a:lumOff val="5000"/>
                  </a:schemeClr>
                </a:solidFill>
                <a:latin typeface="+mn-ea"/>
                <a:ea typeface="+mn-ea"/>
              </a:rPr>
              <a:t>是偶数</a:t>
            </a:r>
            <a:r>
              <a:rPr lang="zh-CN" altLang="en-US" sz="2400" b="0" dirty="0">
                <a:solidFill>
                  <a:schemeClr val="tx1">
                    <a:lumMod val="95000"/>
                    <a:lumOff val="5000"/>
                  </a:schemeClr>
                </a:solidFill>
                <a:latin typeface="+mn-ea"/>
                <a:ea typeface="+mn-ea"/>
                <a:sym typeface="Symbol" panose="05050102010706020507" pitchFamily="18" charset="2"/>
              </a:rPr>
              <a:t>。</a:t>
            </a:r>
            <a:r>
              <a:rPr lang="en-US" altLang="zh-CN" sz="2400" b="0" dirty="0" err="1">
                <a:solidFill>
                  <a:schemeClr val="tx1">
                    <a:lumMod val="95000"/>
                    <a:lumOff val="5000"/>
                  </a:schemeClr>
                </a:solidFill>
                <a:latin typeface="+mn-ea"/>
                <a:ea typeface="+mn-ea"/>
                <a:sym typeface="Symbol" panose="05050102010706020507" pitchFamily="18" charset="2"/>
              </a:rPr>
              <a:t>xF</a:t>
            </a:r>
            <a:r>
              <a:rPr lang="en-US" altLang="zh-CN" sz="2400" b="0" dirty="0">
                <a:solidFill>
                  <a:schemeClr val="tx1">
                    <a:lumMod val="95000"/>
                    <a:lumOff val="5000"/>
                  </a:schemeClr>
                </a:solidFill>
                <a:latin typeface="+mn-ea"/>
                <a:ea typeface="+mn-ea"/>
                <a:sym typeface="Symbol" panose="05050102010706020507" pitchFamily="18" charset="2"/>
              </a:rPr>
              <a:t>(x)</a:t>
            </a:r>
            <a:r>
              <a:rPr lang="zh-CN" altLang="en-US" sz="2400" b="0" dirty="0">
                <a:solidFill>
                  <a:schemeClr val="tx1">
                    <a:lumMod val="95000"/>
                    <a:lumOff val="5000"/>
                  </a:schemeClr>
                </a:solidFill>
                <a:latin typeface="+mn-ea"/>
                <a:ea typeface="+mn-ea"/>
                <a:sym typeface="Symbol" panose="05050102010706020507" pitchFamily="18" charset="2"/>
              </a:rPr>
              <a:t>与</a:t>
            </a:r>
            <a:r>
              <a:rPr lang="en-US" altLang="zh-CN" sz="2400" b="0" dirty="0" err="1">
                <a:solidFill>
                  <a:schemeClr val="tx1">
                    <a:lumMod val="95000"/>
                    <a:lumOff val="5000"/>
                  </a:schemeClr>
                </a:solidFill>
                <a:latin typeface="+mn-ea"/>
                <a:ea typeface="+mn-ea"/>
                <a:sym typeface="Symbol" panose="05050102010706020507" pitchFamily="18" charset="2"/>
              </a:rPr>
              <a:t>xG</a:t>
            </a:r>
            <a:r>
              <a:rPr lang="en-US" altLang="zh-CN" sz="2400" b="0" dirty="0">
                <a:solidFill>
                  <a:schemeClr val="tx1">
                    <a:lumMod val="95000"/>
                    <a:lumOff val="5000"/>
                  </a:schemeClr>
                </a:solidFill>
                <a:latin typeface="+mn-ea"/>
                <a:ea typeface="+mn-ea"/>
                <a:sym typeface="Symbol" panose="05050102010706020507" pitchFamily="18" charset="2"/>
              </a:rPr>
              <a:t>(x)</a:t>
            </a:r>
            <a:r>
              <a:rPr lang="zh-CN" altLang="en-US" sz="2400" b="0" dirty="0">
                <a:solidFill>
                  <a:schemeClr val="tx1">
                    <a:lumMod val="95000"/>
                    <a:lumOff val="5000"/>
                  </a:schemeClr>
                </a:solidFill>
                <a:latin typeface="+mn-ea"/>
                <a:ea typeface="+mn-ea"/>
                <a:sym typeface="Symbol" panose="05050102010706020507" pitchFamily="18" charset="2"/>
              </a:rPr>
              <a:t>都是真命题，则对于某些</a:t>
            </a:r>
            <a:r>
              <a:rPr lang="en-US" altLang="zh-CN" sz="2400" b="0" dirty="0">
                <a:solidFill>
                  <a:schemeClr val="tx1">
                    <a:lumMod val="95000"/>
                    <a:lumOff val="5000"/>
                  </a:schemeClr>
                </a:solidFill>
                <a:latin typeface="+mn-ea"/>
                <a:ea typeface="+mn-ea"/>
                <a:sym typeface="Symbol" panose="05050102010706020507" pitchFamily="18" charset="2"/>
              </a:rPr>
              <a:t>c</a:t>
            </a:r>
            <a:r>
              <a:rPr lang="zh-CN" altLang="en-US" sz="2400" b="0" dirty="0">
                <a:solidFill>
                  <a:schemeClr val="tx1">
                    <a:lumMod val="95000"/>
                    <a:lumOff val="5000"/>
                  </a:schemeClr>
                </a:solidFill>
                <a:latin typeface="+mn-ea"/>
                <a:ea typeface="+mn-ea"/>
                <a:sym typeface="Symbol" panose="05050102010706020507" pitchFamily="18" charset="2"/>
              </a:rPr>
              <a:t>和</a:t>
            </a:r>
            <a:r>
              <a:rPr lang="en-US" altLang="zh-CN" sz="2400" b="0" dirty="0">
                <a:solidFill>
                  <a:schemeClr val="tx1">
                    <a:lumMod val="95000"/>
                    <a:lumOff val="5000"/>
                  </a:schemeClr>
                </a:solidFill>
                <a:latin typeface="+mn-ea"/>
                <a:ea typeface="+mn-ea"/>
                <a:sym typeface="Symbol" panose="05050102010706020507" pitchFamily="18" charset="2"/>
              </a:rPr>
              <a:t>d</a:t>
            </a:r>
            <a:r>
              <a:rPr lang="zh-CN" altLang="en-US" sz="2400" b="0" dirty="0">
                <a:solidFill>
                  <a:schemeClr val="tx1">
                    <a:lumMod val="95000"/>
                    <a:lumOff val="5000"/>
                  </a:schemeClr>
                </a:solidFill>
                <a:latin typeface="+mn-ea"/>
                <a:ea typeface="+mn-ea"/>
                <a:sym typeface="Symbol" panose="05050102010706020507" pitchFamily="18" charset="2"/>
              </a:rPr>
              <a:t>，可以断定</a:t>
            </a:r>
            <a:r>
              <a:rPr lang="en-US" altLang="zh-CN" sz="2400" b="0" dirty="0">
                <a:solidFill>
                  <a:schemeClr val="tx1">
                    <a:lumMod val="95000"/>
                    <a:lumOff val="5000"/>
                  </a:schemeClr>
                </a:solidFill>
                <a:latin typeface="+mn-ea"/>
                <a:ea typeface="+mn-ea"/>
                <a:sym typeface="Symbol" panose="05050102010706020507" pitchFamily="18" charset="2"/>
              </a:rPr>
              <a:t>P(c)∧Q(d)</a:t>
            </a:r>
            <a:r>
              <a:rPr lang="zh-CN" altLang="en-US" sz="2400" b="0" dirty="0">
                <a:solidFill>
                  <a:schemeClr val="tx1">
                    <a:lumMod val="95000"/>
                    <a:lumOff val="5000"/>
                  </a:schemeClr>
                </a:solidFill>
                <a:latin typeface="+mn-ea"/>
                <a:ea typeface="+mn-ea"/>
                <a:sym typeface="Symbol" panose="05050102010706020507" pitchFamily="18" charset="2"/>
              </a:rPr>
              <a:t>必定为真，但不能断定</a:t>
            </a:r>
            <a:r>
              <a:rPr lang="en-US" altLang="zh-CN" sz="2400" b="0" dirty="0">
                <a:solidFill>
                  <a:schemeClr val="tx1">
                    <a:lumMod val="95000"/>
                    <a:lumOff val="5000"/>
                  </a:schemeClr>
                </a:solidFill>
                <a:latin typeface="+mn-ea"/>
                <a:ea typeface="+mn-ea"/>
                <a:sym typeface="Symbol" panose="05050102010706020507" pitchFamily="18" charset="2"/>
              </a:rPr>
              <a:t>P(c)∧Q(c)</a:t>
            </a:r>
            <a:r>
              <a:rPr lang="zh-CN" altLang="en-US" sz="2400" b="0" dirty="0">
                <a:solidFill>
                  <a:schemeClr val="tx1">
                    <a:lumMod val="95000"/>
                    <a:lumOff val="5000"/>
                  </a:schemeClr>
                </a:solidFill>
                <a:latin typeface="+mn-ea"/>
                <a:ea typeface="+mn-ea"/>
                <a:sym typeface="Symbol" panose="05050102010706020507" pitchFamily="18" charset="2"/>
              </a:rPr>
              <a:t>是真。 </a:t>
            </a:r>
          </a:p>
          <a:p>
            <a:pPr>
              <a:spcBef>
                <a:spcPct val="50000"/>
              </a:spcBef>
              <a:buFont typeface="Wingdings" panose="05000000000000000000" pitchFamily="2" charset="2"/>
              <a:buNone/>
            </a:pPr>
            <a:r>
              <a:rPr lang="zh-CN" altLang="en-US" sz="2400" b="0" dirty="0">
                <a:solidFill>
                  <a:schemeClr val="tx1">
                    <a:lumMod val="95000"/>
                    <a:lumOff val="5000"/>
                  </a:schemeClr>
                </a:solidFill>
                <a:latin typeface="+mn-ea"/>
                <a:ea typeface="+mn-ea"/>
                <a:sym typeface="Symbol" panose="05050102010706020507" pitchFamily="18" charset="2"/>
              </a:rPr>
              <a:t>对</a:t>
            </a:r>
            <a:r>
              <a:rPr lang="en-US" altLang="zh-CN" sz="2400" b="0" dirty="0" err="1">
                <a:solidFill>
                  <a:schemeClr val="tx1">
                    <a:lumMod val="95000"/>
                    <a:lumOff val="5000"/>
                  </a:schemeClr>
                </a:solidFill>
                <a:latin typeface="+mn-ea"/>
                <a:ea typeface="+mn-ea"/>
                <a:sym typeface="Symbol" panose="05050102010706020507" pitchFamily="18" charset="2"/>
              </a:rPr>
              <a:t>xF</a:t>
            </a:r>
            <a:r>
              <a:rPr lang="en-US" altLang="zh-CN" sz="2400" b="0" dirty="0">
                <a:solidFill>
                  <a:schemeClr val="tx1">
                    <a:lumMod val="95000"/>
                    <a:lumOff val="5000"/>
                  </a:schemeClr>
                </a:solidFill>
                <a:latin typeface="+mn-ea"/>
                <a:ea typeface="+mn-ea"/>
                <a:sym typeface="Symbol" panose="05050102010706020507" pitchFamily="18" charset="2"/>
              </a:rPr>
              <a:t>(x)</a:t>
            </a:r>
            <a:r>
              <a:rPr lang="zh-CN" altLang="en-US" sz="2400" b="0" dirty="0">
                <a:solidFill>
                  <a:schemeClr val="tx1">
                    <a:lumMod val="95000"/>
                    <a:lumOff val="5000"/>
                  </a:schemeClr>
                </a:solidFill>
                <a:latin typeface="+mn-ea"/>
                <a:ea typeface="+mn-ea"/>
                <a:sym typeface="Symbol" panose="05050102010706020507" pitchFamily="18" charset="2"/>
              </a:rPr>
              <a:t>使用</a:t>
            </a:r>
            <a:r>
              <a:rPr lang="en-US" altLang="zh-CN" sz="2400" b="0" dirty="0">
                <a:solidFill>
                  <a:schemeClr val="tx1">
                    <a:lumMod val="95000"/>
                    <a:lumOff val="5000"/>
                  </a:schemeClr>
                </a:solidFill>
                <a:latin typeface="+mn-ea"/>
                <a:ea typeface="+mn-ea"/>
                <a:sym typeface="Symbol" panose="05050102010706020507" pitchFamily="18" charset="2"/>
              </a:rPr>
              <a:t>ES</a:t>
            </a:r>
            <a:r>
              <a:rPr lang="zh-CN" altLang="en-US" sz="2400" b="0" dirty="0">
                <a:solidFill>
                  <a:schemeClr val="tx1">
                    <a:lumMod val="95000"/>
                    <a:lumOff val="5000"/>
                  </a:schemeClr>
                </a:solidFill>
                <a:latin typeface="+mn-ea"/>
                <a:ea typeface="+mn-ea"/>
                <a:sym typeface="Symbol" panose="05050102010706020507" pitchFamily="18" charset="2"/>
              </a:rPr>
              <a:t>规则时，取代</a:t>
            </a:r>
            <a:r>
              <a:rPr lang="en-US" altLang="zh-CN" sz="2400" b="0" dirty="0">
                <a:solidFill>
                  <a:schemeClr val="tx1">
                    <a:lumMod val="95000"/>
                    <a:lumOff val="5000"/>
                  </a:schemeClr>
                </a:solidFill>
                <a:latin typeface="+mn-ea"/>
                <a:ea typeface="+mn-ea"/>
                <a:sym typeface="Symbol" panose="05050102010706020507" pitchFamily="18" charset="2"/>
              </a:rPr>
              <a:t>x</a:t>
            </a:r>
            <a:r>
              <a:rPr lang="zh-CN" altLang="en-US" sz="2400" b="0" dirty="0">
                <a:solidFill>
                  <a:schemeClr val="tx1">
                    <a:lumMod val="95000"/>
                    <a:lumOff val="5000"/>
                  </a:schemeClr>
                </a:solidFill>
                <a:latin typeface="+mn-ea"/>
                <a:ea typeface="+mn-ea"/>
                <a:sym typeface="Symbol" panose="05050102010706020507" pitchFamily="18" charset="2"/>
              </a:rPr>
              <a:t>的</a:t>
            </a:r>
            <a:r>
              <a:rPr lang="en-US" altLang="zh-CN" sz="2400" b="0" dirty="0">
                <a:solidFill>
                  <a:schemeClr val="tx1">
                    <a:lumMod val="95000"/>
                    <a:lumOff val="5000"/>
                  </a:schemeClr>
                </a:solidFill>
                <a:latin typeface="+mn-ea"/>
                <a:ea typeface="+mn-ea"/>
                <a:sym typeface="Symbol" panose="05050102010706020507" pitchFamily="18" charset="2"/>
              </a:rPr>
              <a:t>c</a:t>
            </a:r>
            <a:r>
              <a:rPr lang="zh-CN" altLang="en-US" sz="2400" b="0" dirty="0">
                <a:solidFill>
                  <a:schemeClr val="tx1">
                    <a:lumMod val="95000"/>
                    <a:lumOff val="5000"/>
                  </a:schemeClr>
                </a:solidFill>
                <a:latin typeface="+mn-ea"/>
                <a:ea typeface="+mn-ea"/>
                <a:sym typeface="Symbol" panose="05050102010706020507" pitchFamily="18" charset="2"/>
              </a:rPr>
              <a:t>一定是特定的个体常项</a:t>
            </a:r>
            <a:r>
              <a:rPr lang="en-US" altLang="zh-CN" sz="2400" b="0" dirty="0">
                <a:solidFill>
                  <a:schemeClr val="tx1">
                    <a:lumMod val="95000"/>
                    <a:lumOff val="5000"/>
                  </a:schemeClr>
                </a:solidFill>
                <a:latin typeface="+mn-ea"/>
                <a:ea typeface="+mn-ea"/>
                <a:sym typeface="Symbol" panose="05050102010706020507" pitchFamily="18" charset="2"/>
              </a:rPr>
              <a:t>1,3,5</a:t>
            </a:r>
            <a:r>
              <a:rPr lang="zh-CN" altLang="en-US" sz="2400" b="0" dirty="0">
                <a:solidFill>
                  <a:schemeClr val="tx1">
                    <a:lumMod val="95000"/>
                    <a:lumOff val="5000"/>
                  </a:schemeClr>
                </a:solidFill>
                <a:latin typeface="+mn-ea"/>
                <a:ea typeface="+mn-ea"/>
                <a:sym typeface="Symbol" panose="05050102010706020507" pitchFamily="18" charset="2"/>
              </a:rPr>
              <a:t>等奇数。</a:t>
            </a:r>
          </a:p>
          <a:p>
            <a:pPr>
              <a:spcBef>
                <a:spcPct val="50000"/>
              </a:spcBef>
              <a:buFont typeface="Wingdings" panose="05000000000000000000" pitchFamily="2" charset="2"/>
              <a:buNone/>
            </a:pPr>
            <a:r>
              <a:rPr lang="zh-CN" altLang="en-US" sz="2400" b="0" dirty="0">
                <a:solidFill>
                  <a:schemeClr val="tx1">
                    <a:lumMod val="95000"/>
                    <a:lumOff val="5000"/>
                  </a:schemeClr>
                </a:solidFill>
                <a:latin typeface="+mn-ea"/>
                <a:ea typeface="+mn-ea"/>
                <a:sym typeface="Symbol" panose="05050102010706020507" pitchFamily="18" charset="2"/>
              </a:rPr>
              <a:t>对</a:t>
            </a:r>
            <a:r>
              <a:rPr lang="en-US" altLang="zh-CN" sz="2400" b="0" dirty="0" err="1">
                <a:solidFill>
                  <a:schemeClr val="tx1">
                    <a:lumMod val="95000"/>
                    <a:lumOff val="5000"/>
                  </a:schemeClr>
                </a:solidFill>
                <a:latin typeface="+mn-ea"/>
                <a:ea typeface="+mn-ea"/>
                <a:sym typeface="Symbol" panose="05050102010706020507" pitchFamily="18" charset="2"/>
              </a:rPr>
              <a:t>xG</a:t>
            </a:r>
            <a:r>
              <a:rPr lang="en-US" altLang="zh-CN" sz="2400" b="0" dirty="0">
                <a:solidFill>
                  <a:schemeClr val="tx1">
                    <a:lumMod val="95000"/>
                    <a:lumOff val="5000"/>
                  </a:schemeClr>
                </a:solidFill>
                <a:latin typeface="+mn-ea"/>
                <a:ea typeface="+mn-ea"/>
                <a:sym typeface="Symbol" panose="05050102010706020507" pitchFamily="18" charset="2"/>
              </a:rPr>
              <a:t>(x)</a:t>
            </a:r>
            <a:r>
              <a:rPr lang="zh-CN" altLang="en-US" sz="2400" b="0" dirty="0">
                <a:solidFill>
                  <a:schemeClr val="tx1">
                    <a:lumMod val="95000"/>
                    <a:lumOff val="5000"/>
                  </a:schemeClr>
                </a:solidFill>
                <a:latin typeface="+mn-ea"/>
                <a:ea typeface="+mn-ea"/>
                <a:sym typeface="Symbol" panose="05050102010706020507" pitchFamily="18" charset="2"/>
              </a:rPr>
              <a:t>使用</a:t>
            </a:r>
            <a:r>
              <a:rPr lang="en-US" altLang="zh-CN" sz="2400" b="0" dirty="0">
                <a:solidFill>
                  <a:schemeClr val="tx1">
                    <a:lumMod val="95000"/>
                    <a:lumOff val="5000"/>
                  </a:schemeClr>
                </a:solidFill>
                <a:latin typeface="+mn-ea"/>
                <a:ea typeface="+mn-ea"/>
                <a:sym typeface="Symbol" panose="05050102010706020507" pitchFamily="18" charset="2"/>
              </a:rPr>
              <a:t>ES</a:t>
            </a:r>
            <a:r>
              <a:rPr lang="zh-CN" altLang="en-US" sz="2400" b="0" dirty="0">
                <a:solidFill>
                  <a:schemeClr val="tx1">
                    <a:lumMod val="95000"/>
                    <a:lumOff val="5000"/>
                  </a:schemeClr>
                </a:solidFill>
                <a:latin typeface="+mn-ea"/>
                <a:ea typeface="+mn-ea"/>
                <a:sym typeface="Symbol" panose="05050102010706020507" pitchFamily="18" charset="2"/>
              </a:rPr>
              <a:t>规则时，取代</a:t>
            </a:r>
            <a:r>
              <a:rPr lang="en-US" altLang="zh-CN" sz="2400" b="0" dirty="0">
                <a:solidFill>
                  <a:schemeClr val="tx1">
                    <a:lumMod val="95000"/>
                    <a:lumOff val="5000"/>
                  </a:schemeClr>
                </a:solidFill>
                <a:latin typeface="+mn-ea"/>
                <a:ea typeface="+mn-ea"/>
                <a:sym typeface="Symbol" panose="05050102010706020507" pitchFamily="18" charset="2"/>
              </a:rPr>
              <a:t>x</a:t>
            </a:r>
            <a:r>
              <a:rPr lang="zh-CN" altLang="en-US" sz="2400" b="0" dirty="0">
                <a:solidFill>
                  <a:schemeClr val="tx1">
                    <a:lumMod val="95000"/>
                    <a:lumOff val="5000"/>
                  </a:schemeClr>
                </a:solidFill>
                <a:latin typeface="+mn-ea"/>
                <a:ea typeface="+mn-ea"/>
                <a:sym typeface="Symbol" panose="05050102010706020507" pitchFamily="18" charset="2"/>
              </a:rPr>
              <a:t>的</a:t>
            </a:r>
            <a:r>
              <a:rPr lang="en-US" altLang="zh-CN" sz="2400" b="0" dirty="0">
                <a:solidFill>
                  <a:schemeClr val="tx1">
                    <a:lumMod val="95000"/>
                    <a:lumOff val="5000"/>
                  </a:schemeClr>
                </a:solidFill>
                <a:latin typeface="+mn-ea"/>
                <a:ea typeface="+mn-ea"/>
                <a:sym typeface="Symbol" panose="05050102010706020507" pitchFamily="18" charset="2"/>
              </a:rPr>
              <a:t>c</a:t>
            </a:r>
            <a:r>
              <a:rPr lang="zh-CN" altLang="en-US" sz="2400" b="0" dirty="0">
                <a:solidFill>
                  <a:schemeClr val="tx1">
                    <a:lumMod val="95000"/>
                    <a:lumOff val="5000"/>
                  </a:schemeClr>
                </a:solidFill>
                <a:latin typeface="+mn-ea"/>
                <a:ea typeface="+mn-ea"/>
                <a:sym typeface="Symbol" panose="05050102010706020507" pitchFamily="18" charset="2"/>
              </a:rPr>
              <a:t>一定是特定的个体常项</a:t>
            </a:r>
            <a:r>
              <a:rPr lang="en-US" altLang="zh-CN" sz="2400" b="0" dirty="0">
                <a:solidFill>
                  <a:schemeClr val="tx1">
                    <a:lumMod val="95000"/>
                    <a:lumOff val="5000"/>
                  </a:schemeClr>
                </a:solidFill>
                <a:latin typeface="+mn-ea"/>
                <a:ea typeface="+mn-ea"/>
                <a:sym typeface="Symbol" panose="05050102010706020507" pitchFamily="18" charset="2"/>
              </a:rPr>
              <a:t>2,4,6</a:t>
            </a:r>
            <a:r>
              <a:rPr lang="zh-CN" altLang="en-US" sz="2400" b="0" dirty="0">
                <a:solidFill>
                  <a:schemeClr val="tx1">
                    <a:lumMod val="95000"/>
                    <a:lumOff val="5000"/>
                  </a:schemeClr>
                </a:solidFill>
                <a:latin typeface="+mn-ea"/>
                <a:ea typeface="+mn-ea"/>
                <a:sym typeface="Symbol" panose="05050102010706020507" pitchFamily="18" charset="2"/>
              </a:rPr>
              <a:t>等偶数。此例说明为什么需要条件（</a:t>
            </a:r>
            <a:r>
              <a:rPr lang="en-US" altLang="zh-CN" sz="2400" b="0" dirty="0">
                <a:solidFill>
                  <a:schemeClr val="tx1">
                    <a:lumMod val="95000"/>
                    <a:lumOff val="5000"/>
                  </a:schemeClr>
                </a:solidFill>
                <a:latin typeface="+mn-ea"/>
                <a:ea typeface="+mn-ea"/>
                <a:sym typeface="Symbol" panose="05050102010706020507" pitchFamily="18" charset="2"/>
              </a:rPr>
              <a:t>1</a:t>
            </a:r>
            <a:r>
              <a:rPr lang="zh-CN" altLang="en-US" sz="2400" b="0" dirty="0">
                <a:solidFill>
                  <a:schemeClr val="tx1">
                    <a:lumMod val="95000"/>
                    <a:lumOff val="5000"/>
                  </a:schemeClr>
                </a:solidFill>
                <a:latin typeface="+mn-ea"/>
                <a:ea typeface="+mn-ea"/>
                <a:sym typeface="Symbol" panose="05050102010706020507" pitchFamily="18" charset="2"/>
              </a:rPr>
              <a:t>）</a:t>
            </a:r>
          </a:p>
        </p:txBody>
      </p:sp>
      <p:sp>
        <p:nvSpPr>
          <p:cNvPr id="5" name="矩形 4">
            <a:extLst>
              <a:ext uri="{FF2B5EF4-FFF2-40B4-BE49-F238E27FC236}">
                <a16:creationId xmlns:a16="http://schemas.microsoft.com/office/drawing/2014/main" id="{E40473BC-AC7E-4B23-968A-C56F9A9389C9}"/>
              </a:ext>
            </a:extLst>
          </p:cNvPr>
          <p:cNvSpPr>
            <a:spLocks noChangeArrowheads="1"/>
          </p:cNvSpPr>
          <p:nvPr/>
        </p:nvSpPr>
        <p:spPr bwMode="auto">
          <a:xfrm>
            <a:off x="1138036" y="3705662"/>
            <a:ext cx="10482833" cy="3152338"/>
          </a:xfrm>
          <a:prstGeom prst="rect">
            <a:avLst/>
          </a:prstGeom>
          <a:solidFill>
            <a:schemeClr val="bg1"/>
          </a:solidFill>
          <a:ln w="9525">
            <a:solidFill>
              <a:srgbClr val="FF0000"/>
            </a:solidFill>
            <a:prstDash val="lgDash"/>
            <a:miter lim="800000"/>
            <a:headEnd/>
            <a:tailEnd/>
          </a:ln>
        </p:spPr>
        <p:txBody>
          <a:bodyPr wrap="square" anchor="ctr">
            <a:spAutoFit/>
          </a:bodyPr>
          <a:lstStyle>
            <a:lvl1pPr>
              <a:defRPr sz="2800" b="1">
                <a:solidFill>
                  <a:schemeClr val="tx1"/>
                </a:solidFill>
                <a:latin typeface="Times New Roman" panose="02020603050405020304" pitchFamily="18" charset="0"/>
                <a:ea typeface="宋体" panose="02010600030101010101" pitchFamily="2" charset="-122"/>
              </a:defRPr>
            </a:lvl1pPr>
            <a:lvl2pPr>
              <a:defRPr sz="2800" b="1">
                <a:solidFill>
                  <a:schemeClr val="tx1"/>
                </a:solidFill>
                <a:latin typeface="Times New Roman" panose="02020603050405020304" pitchFamily="18" charset="0"/>
                <a:ea typeface="宋体" panose="02010600030101010101" pitchFamily="2" charset="-122"/>
              </a:defRPr>
            </a:lvl2pPr>
            <a:lvl3pPr>
              <a:defRPr sz="2800" b="1">
                <a:solidFill>
                  <a:schemeClr val="tx1"/>
                </a:solidFill>
                <a:latin typeface="Times New Roman" panose="02020603050405020304" pitchFamily="18" charset="0"/>
                <a:ea typeface="宋体" panose="02010600030101010101" pitchFamily="2" charset="-122"/>
              </a:defRPr>
            </a:lvl3pPr>
            <a:lvl4pPr>
              <a:defRPr sz="2800" b="1">
                <a:solidFill>
                  <a:schemeClr val="tx1"/>
                </a:solidFill>
                <a:latin typeface="Times New Roman" panose="02020603050405020304" pitchFamily="18" charset="0"/>
                <a:ea typeface="宋体" panose="02010600030101010101" pitchFamily="2" charset="-122"/>
              </a:defRPr>
            </a:lvl4pPr>
            <a:lvl5pPr>
              <a:defRPr sz="28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a:lnSpc>
                <a:spcPct val="120000"/>
              </a:lnSpc>
              <a:buClr>
                <a:schemeClr val="tx1"/>
              </a:buClr>
            </a:pPr>
            <a:r>
              <a:rPr lang="en-US" altLang="zh-CN" sz="2400" b="0" dirty="0">
                <a:cs typeface="Times New Roman" panose="02020603050405020304" pitchFamily="18" charset="0"/>
              </a:rPr>
              <a:t>(1)(</a:t>
            </a:r>
            <a:r>
              <a:rPr lang="en-US" altLang="zh-CN" sz="2400" b="0" dirty="0">
                <a:cs typeface="Times New Roman" panose="02020603050405020304" pitchFamily="18" charset="0"/>
                <a:sym typeface="Symbol" panose="05050102010706020507" pitchFamily="18" charset="2"/>
              </a:rPr>
              <a:t></a:t>
            </a:r>
            <a:r>
              <a:rPr lang="en-US" altLang="zh-CN" sz="2400" b="0" i="1" dirty="0">
                <a:cs typeface="Times New Roman" panose="02020603050405020304" pitchFamily="18" charset="0"/>
              </a:rPr>
              <a:t>x</a:t>
            </a:r>
            <a:r>
              <a:rPr lang="en-US" altLang="zh-CN" sz="2400" b="0" dirty="0">
                <a:cs typeface="Times New Roman" panose="02020603050405020304" pitchFamily="18" charset="0"/>
              </a:rPr>
              <a:t>)(</a:t>
            </a:r>
            <a:r>
              <a:rPr lang="en-US" altLang="zh-CN" sz="2400" b="0" dirty="0">
                <a:cs typeface="Times New Roman" panose="02020603050405020304" pitchFamily="18" charset="0"/>
                <a:sym typeface="Symbol" panose="05050102010706020507" pitchFamily="18" charset="2"/>
              </a:rPr>
              <a:t></a:t>
            </a:r>
            <a:r>
              <a:rPr lang="en-US" altLang="zh-CN" sz="2400" b="0" i="1" dirty="0">
                <a:cs typeface="Times New Roman" panose="02020603050405020304" pitchFamily="18" charset="0"/>
              </a:rPr>
              <a:t>y</a:t>
            </a:r>
            <a:r>
              <a:rPr lang="en-US" altLang="zh-CN" sz="2400" b="0" dirty="0">
                <a:cs typeface="Times New Roman" panose="02020603050405020304" pitchFamily="18" charset="0"/>
              </a:rPr>
              <a:t>)(</a:t>
            </a:r>
            <a:r>
              <a:rPr lang="en-US" altLang="zh-CN" sz="2400" b="0" i="1" dirty="0">
                <a:cs typeface="Times New Roman" panose="02020603050405020304" pitchFamily="18" charset="0"/>
              </a:rPr>
              <a:t>x</a:t>
            </a:r>
            <a:r>
              <a:rPr lang="en-US" altLang="zh-CN" sz="2400" b="0" dirty="0">
                <a:cs typeface="Times New Roman" panose="02020603050405020304" pitchFamily="18" charset="0"/>
              </a:rPr>
              <a:t> &gt; </a:t>
            </a:r>
            <a:r>
              <a:rPr lang="en-US" altLang="zh-CN" sz="2400" b="0" i="1" dirty="0">
                <a:cs typeface="Times New Roman" panose="02020603050405020304" pitchFamily="18" charset="0"/>
              </a:rPr>
              <a:t>y</a:t>
            </a:r>
            <a:r>
              <a:rPr lang="en-US" altLang="zh-CN" sz="2400" b="0" dirty="0">
                <a:cs typeface="Times New Roman" panose="02020603050405020304" pitchFamily="18" charset="0"/>
              </a:rPr>
              <a:t>)	// P</a:t>
            </a:r>
          </a:p>
          <a:p>
            <a:pPr>
              <a:lnSpc>
                <a:spcPct val="120000"/>
              </a:lnSpc>
              <a:buClr>
                <a:schemeClr val="tx1"/>
              </a:buClr>
            </a:pPr>
            <a:r>
              <a:rPr lang="en-US" altLang="zh-CN" sz="2400" b="0" dirty="0">
                <a:cs typeface="Times New Roman" panose="02020603050405020304" pitchFamily="18" charset="0"/>
              </a:rPr>
              <a:t>(2).(</a:t>
            </a:r>
            <a:r>
              <a:rPr lang="en-US" altLang="zh-CN" sz="2400" b="0" dirty="0">
                <a:cs typeface="Times New Roman" panose="02020603050405020304" pitchFamily="18" charset="0"/>
                <a:sym typeface="Symbol" panose="05050102010706020507" pitchFamily="18" charset="2"/>
              </a:rPr>
              <a:t></a:t>
            </a:r>
            <a:r>
              <a:rPr lang="en-US" altLang="zh-CN" sz="2400" b="0" i="1" dirty="0">
                <a:cs typeface="Times New Roman" panose="02020603050405020304" pitchFamily="18" charset="0"/>
              </a:rPr>
              <a:t>y</a:t>
            </a:r>
            <a:r>
              <a:rPr lang="en-US" altLang="zh-CN" sz="2400" b="0" dirty="0">
                <a:cs typeface="Times New Roman" panose="02020603050405020304" pitchFamily="18" charset="0"/>
              </a:rPr>
              <a:t>)(</a:t>
            </a:r>
            <a:r>
              <a:rPr lang="en-US" altLang="zh-CN" sz="2400" b="0" i="1" dirty="0">
                <a:cs typeface="Times New Roman" panose="02020603050405020304" pitchFamily="18" charset="0"/>
              </a:rPr>
              <a:t>z</a:t>
            </a:r>
            <a:r>
              <a:rPr lang="en-US" altLang="zh-CN" sz="2400" b="0" dirty="0">
                <a:cs typeface="Times New Roman" panose="02020603050405020304" pitchFamily="18" charset="0"/>
              </a:rPr>
              <a:t> &gt; </a:t>
            </a:r>
            <a:r>
              <a:rPr lang="en-US" altLang="zh-CN" sz="2400" b="0" i="1" dirty="0">
                <a:cs typeface="Times New Roman" panose="02020603050405020304" pitchFamily="18" charset="0"/>
              </a:rPr>
              <a:t>y</a:t>
            </a:r>
            <a:r>
              <a:rPr lang="en-US" altLang="zh-CN" sz="2400" b="0" dirty="0">
                <a:cs typeface="Times New Roman" panose="02020603050405020304" pitchFamily="18" charset="0"/>
              </a:rPr>
              <a:t>)	             // US</a:t>
            </a:r>
          </a:p>
          <a:p>
            <a:pPr>
              <a:lnSpc>
                <a:spcPct val="120000"/>
              </a:lnSpc>
              <a:buClr>
                <a:schemeClr val="tx1"/>
              </a:buClr>
            </a:pPr>
            <a:r>
              <a:rPr lang="en-US" altLang="zh-CN" sz="2400" b="0" dirty="0">
                <a:cs typeface="Times New Roman" panose="02020603050405020304" pitchFamily="18" charset="0"/>
              </a:rPr>
              <a:t>(3).(</a:t>
            </a:r>
            <a:r>
              <a:rPr lang="en-US" altLang="zh-CN" sz="2400" b="0" i="1" dirty="0">
                <a:cs typeface="Times New Roman" panose="02020603050405020304" pitchFamily="18" charset="0"/>
              </a:rPr>
              <a:t>z</a:t>
            </a:r>
            <a:r>
              <a:rPr lang="en-US" altLang="zh-CN" sz="2400" b="0" dirty="0">
                <a:cs typeface="Times New Roman" panose="02020603050405020304" pitchFamily="18" charset="0"/>
              </a:rPr>
              <a:t> &gt; </a:t>
            </a:r>
            <a:r>
              <a:rPr lang="en-US" altLang="zh-CN" sz="2400" b="0" i="1" dirty="0">
                <a:cs typeface="Times New Roman" panose="02020603050405020304" pitchFamily="18" charset="0"/>
              </a:rPr>
              <a:t>c</a:t>
            </a:r>
            <a:r>
              <a:rPr lang="en-US" altLang="zh-CN" sz="2400" b="0" dirty="0">
                <a:cs typeface="Times New Roman" panose="02020603050405020304" pitchFamily="18" charset="0"/>
              </a:rPr>
              <a:t>) 		// ES</a:t>
            </a:r>
          </a:p>
          <a:p>
            <a:pPr>
              <a:lnSpc>
                <a:spcPct val="120000"/>
              </a:lnSpc>
              <a:buClr>
                <a:schemeClr val="tx1"/>
              </a:buClr>
            </a:pPr>
            <a:r>
              <a:rPr lang="en-US" altLang="zh-CN" sz="2400" b="0" dirty="0">
                <a:cs typeface="Times New Roman" panose="02020603050405020304" pitchFamily="18" charset="0"/>
              </a:rPr>
              <a:t>(4).(</a:t>
            </a:r>
            <a:r>
              <a:rPr lang="en-US" altLang="zh-CN" sz="2400" b="0" dirty="0">
                <a:cs typeface="Times New Roman" panose="02020603050405020304" pitchFamily="18" charset="0"/>
                <a:sym typeface="Symbol" panose="05050102010706020507" pitchFamily="18" charset="2"/>
              </a:rPr>
              <a:t></a:t>
            </a:r>
            <a:r>
              <a:rPr lang="en-US" altLang="zh-CN" sz="2400" b="0" i="1" dirty="0">
                <a:cs typeface="Times New Roman" panose="02020603050405020304" pitchFamily="18" charset="0"/>
              </a:rPr>
              <a:t>x</a:t>
            </a:r>
            <a:r>
              <a:rPr lang="en-US" altLang="zh-CN" sz="2400" b="0" dirty="0">
                <a:cs typeface="Times New Roman" panose="02020603050405020304" pitchFamily="18" charset="0"/>
              </a:rPr>
              <a:t>)(</a:t>
            </a:r>
            <a:r>
              <a:rPr lang="en-US" altLang="zh-CN" sz="2400" b="0" i="1" dirty="0">
                <a:cs typeface="Times New Roman" panose="02020603050405020304" pitchFamily="18" charset="0"/>
              </a:rPr>
              <a:t>x</a:t>
            </a:r>
            <a:r>
              <a:rPr lang="en-US" altLang="zh-CN" sz="2400" b="0" dirty="0">
                <a:cs typeface="Times New Roman" panose="02020603050405020304" pitchFamily="18" charset="0"/>
              </a:rPr>
              <a:t> &gt; </a:t>
            </a:r>
            <a:r>
              <a:rPr lang="en-US" altLang="zh-CN" sz="2400" b="0" i="1" dirty="0">
                <a:cs typeface="Times New Roman" panose="02020603050405020304" pitchFamily="18" charset="0"/>
              </a:rPr>
              <a:t>c</a:t>
            </a:r>
            <a:r>
              <a:rPr lang="en-US" altLang="zh-CN" sz="2400" b="0" dirty="0">
                <a:cs typeface="Times New Roman" panose="02020603050405020304" pitchFamily="18" charset="0"/>
              </a:rPr>
              <a:t>)		// UG</a:t>
            </a:r>
          </a:p>
          <a:p>
            <a:pPr>
              <a:lnSpc>
                <a:spcPct val="120000"/>
              </a:lnSpc>
              <a:buClr>
                <a:schemeClr val="tx1"/>
              </a:buClr>
            </a:pPr>
            <a:r>
              <a:rPr lang="en-US" altLang="zh-CN" sz="2400" b="0" dirty="0">
                <a:cs typeface="Times New Roman" panose="02020603050405020304" pitchFamily="18" charset="0"/>
              </a:rPr>
              <a:t>(5).</a:t>
            </a:r>
            <a:r>
              <a:rPr lang="en-US" altLang="zh-CN" sz="2400" b="0" i="1" dirty="0">
                <a:cs typeface="Times New Roman" panose="02020603050405020304" pitchFamily="18" charset="0"/>
              </a:rPr>
              <a:t>c</a:t>
            </a:r>
            <a:r>
              <a:rPr lang="en-US" altLang="zh-CN" sz="2400" b="0" dirty="0">
                <a:cs typeface="Times New Roman" panose="02020603050405020304" pitchFamily="18" charset="0"/>
              </a:rPr>
              <a:t> &gt; </a:t>
            </a:r>
            <a:r>
              <a:rPr lang="en-US" altLang="zh-CN" sz="2400" b="0" i="1" dirty="0">
                <a:cs typeface="Times New Roman" panose="02020603050405020304" pitchFamily="18" charset="0"/>
              </a:rPr>
              <a:t>c</a:t>
            </a:r>
            <a:r>
              <a:rPr lang="en-US" altLang="zh-CN" sz="2400" b="0" dirty="0">
                <a:cs typeface="Times New Roman" panose="02020603050405020304" pitchFamily="18" charset="0"/>
              </a:rPr>
              <a:t>	  	// US</a:t>
            </a:r>
          </a:p>
          <a:p>
            <a:pPr>
              <a:lnSpc>
                <a:spcPct val="120000"/>
              </a:lnSpc>
              <a:buClr>
                <a:schemeClr val="tx1"/>
              </a:buClr>
            </a:pPr>
            <a:r>
              <a:rPr lang="en-US" altLang="zh-CN" sz="2400" b="0" dirty="0">
                <a:cs typeface="Times New Roman" panose="02020603050405020304" pitchFamily="18" charset="0"/>
              </a:rPr>
              <a:t>	</a:t>
            </a:r>
          </a:p>
          <a:p>
            <a:pPr>
              <a:lnSpc>
                <a:spcPct val="120000"/>
              </a:lnSpc>
              <a:buClr>
                <a:schemeClr val="tx1"/>
              </a:buClr>
            </a:pPr>
            <a:r>
              <a:rPr lang="zh-CN" altLang="en-US" sz="2400" b="0" dirty="0">
                <a:solidFill>
                  <a:schemeClr val="accent2"/>
                </a:solidFill>
                <a:cs typeface="Times New Roman" panose="02020603050405020304" pitchFamily="18" charset="0"/>
              </a:rPr>
              <a:t>由</a:t>
            </a:r>
            <a:r>
              <a:rPr lang="en-US" altLang="zh-CN" sz="2400" b="0" dirty="0">
                <a:solidFill>
                  <a:schemeClr val="accent2"/>
                </a:solidFill>
                <a:cs typeface="Times New Roman" panose="02020603050405020304" pitchFamily="18" charset="0"/>
              </a:rPr>
              <a:t>(2)</a:t>
            </a:r>
            <a:r>
              <a:rPr lang="zh-CN" altLang="en-US" sz="2400" b="0" dirty="0">
                <a:solidFill>
                  <a:schemeClr val="accent2"/>
                </a:solidFill>
                <a:cs typeface="Times New Roman" panose="02020603050405020304" pitchFamily="18" charset="0"/>
              </a:rPr>
              <a:t>得到</a:t>
            </a:r>
            <a:r>
              <a:rPr lang="en-US" altLang="zh-CN" sz="2400" b="0" dirty="0">
                <a:solidFill>
                  <a:schemeClr val="accent2"/>
                </a:solidFill>
                <a:cs typeface="Times New Roman" panose="02020603050405020304" pitchFamily="18" charset="0"/>
              </a:rPr>
              <a:t>(3)</a:t>
            </a:r>
            <a:r>
              <a:rPr lang="zh-CN" altLang="en-US" sz="2400" b="0" dirty="0">
                <a:solidFill>
                  <a:schemeClr val="accent2"/>
                </a:solidFill>
                <a:cs typeface="Times New Roman" panose="02020603050405020304" pitchFamily="18" charset="0"/>
              </a:rPr>
              <a:t>不能使用存在量词消除规则，因为</a:t>
            </a:r>
            <a:r>
              <a:rPr lang="en-US" altLang="zh-CN" sz="2400" b="0" dirty="0">
                <a:solidFill>
                  <a:schemeClr val="accent2"/>
                </a:solidFill>
                <a:cs typeface="Times New Roman" panose="02020603050405020304" pitchFamily="18" charset="0"/>
              </a:rPr>
              <a:t>(2)</a:t>
            </a:r>
            <a:r>
              <a:rPr lang="zh-CN" altLang="en-US" sz="2400" b="0" dirty="0">
                <a:solidFill>
                  <a:schemeClr val="accent2"/>
                </a:solidFill>
                <a:cs typeface="Times New Roman" panose="02020603050405020304" pitchFamily="18" charset="0"/>
              </a:rPr>
              <a:t>中含有除</a:t>
            </a:r>
            <a:r>
              <a:rPr lang="en-US" altLang="zh-CN" sz="2400" b="0" i="1" dirty="0">
                <a:solidFill>
                  <a:schemeClr val="accent2"/>
                </a:solidFill>
                <a:cs typeface="Times New Roman" panose="02020603050405020304" pitchFamily="18" charset="0"/>
              </a:rPr>
              <a:t>y</a:t>
            </a:r>
            <a:r>
              <a:rPr lang="zh-CN" altLang="en-US" sz="2400" b="0" dirty="0">
                <a:solidFill>
                  <a:schemeClr val="accent2"/>
                </a:solidFill>
                <a:cs typeface="Times New Roman" panose="02020603050405020304" pitchFamily="18" charset="0"/>
              </a:rPr>
              <a:t>以外的自由变元</a:t>
            </a:r>
            <a:r>
              <a:rPr lang="en-US" altLang="zh-CN" sz="2400" b="0" i="1" dirty="0">
                <a:solidFill>
                  <a:schemeClr val="accent2"/>
                </a:solidFill>
                <a:cs typeface="Times New Roman" panose="02020603050405020304" pitchFamily="18" charset="0"/>
              </a:rPr>
              <a:t>z</a:t>
            </a:r>
            <a:r>
              <a:rPr lang="zh-CN" altLang="en-US" sz="2400" b="0" dirty="0">
                <a:solidFill>
                  <a:schemeClr val="accent2"/>
                </a:solidFill>
                <a:cs typeface="Times New Roman" panose="02020603050405020304" pitchFamily="18" charset="0"/>
              </a:rPr>
              <a:t>。</a:t>
            </a:r>
          </a:p>
        </p:txBody>
      </p:sp>
      <p:sp>
        <p:nvSpPr>
          <p:cNvPr id="6" name="文本框 5">
            <a:extLst>
              <a:ext uri="{FF2B5EF4-FFF2-40B4-BE49-F238E27FC236}">
                <a16:creationId xmlns:a16="http://schemas.microsoft.com/office/drawing/2014/main" id="{AE8793C5-8BA3-440D-8D8B-B2C6CC7F8D0E}"/>
              </a:ext>
            </a:extLst>
          </p:cNvPr>
          <p:cNvSpPr txBox="1">
            <a:spLocks noChangeArrowheads="1"/>
          </p:cNvSpPr>
          <p:nvPr/>
        </p:nvSpPr>
        <p:spPr bwMode="auto">
          <a:xfrm>
            <a:off x="6778240" y="4091324"/>
            <a:ext cx="3240087" cy="523220"/>
          </a:xfrm>
          <a:prstGeom prst="rect">
            <a:avLst/>
          </a:prstGeom>
          <a:noFill/>
          <a:ln w="38100">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kumimoji="1" b="1">
                <a:solidFill>
                  <a:srgbClr val="FFFFFF"/>
                </a:solidFill>
                <a:latin typeface="" charset="0"/>
                <a:ea typeface="宋体" panose="02010600030101010101" pitchFamily="2" charset="-122"/>
              </a:defRPr>
            </a:lvl1pPr>
            <a:lvl2pPr marL="742950" indent="-285750">
              <a:defRPr kumimoji="1" b="1">
                <a:solidFill>
                  <a:srgbClr val="FFFFFF"/>
                </a:solidFill>
                <a:latin typeface="" charset="0"/>
                <a:ea typeface="宋体" panose="02010600030101010101" pitchFamily="2" charset="-122"/>
              </a:defRPr>
            </a:lvl2pPr>
            <a:lvl3pPr marL="1143000" indent="-228600">
              <a:defRPr kumimoji="1" b="1">
                <a:solidFill>
                  <a:srgbClr val="FFFFFF"/>
                </a:solidFill>
                <a:latin typeface="" charset="0"/>
                <a:ea typeface="宋体" panose="02010600030101010101" pitchFamily="2" charset="-122"/>
              </a:defRPr>
            </a:lvl3pPr>
            <a:lvl4pPr marL="1600200" indent="-228600">
              <a:defRPr kumimoji="1" b="1">
                <a:solidFill>
                  <a:srgbClr val="FFFFFF"/>
                </a:solidFill>
                <a:latin typeface="" charset="0"/>
                <a:ea typeface="宋体" panose="02010600030101010101" pitchFamily="2" charset="-122"/>
              </a:defRPr>
            </a:lvl4pPr>
            <a:lvl5pPr marL="2057400" indent="-228600">
              <a:defRPr kumimoji="1" b="1">
                <a:solidFill>
                  <a:srgbClr val="FFFFFF"/>
                </a:solidFill>
                <a:latin typeface="" charset="0"/>
                <a:ea typeface="宋体" panose="02010600030101010101" pitchFamily="2" charset="-122"/>
              </a:defRPr>
            </a:lvl5pPr>
            <a:lvl6pPr marL="25146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6pPr>
            <a:lvl7pPr marL="29718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7pPr>
            <a:lvl8pPr marL="34290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8pPr>
            <a:lvl9pPr marL="38862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9pPr>
          </a:lstStyle>
          <a:p>
            <a:pPr algn="ctr">
              <a:spcBef>
                <a:spcPct val="50000"/>
              </a:spcBef>
              <a:buFont typeface="Wingdings" panose="05000000000000000000" pitchFamily="2" charset="2"/>
              <a:buNone/>
            </a:pPr>
            <a:r>
              <a:rPr lang="zh-CN" altLang="en-US" sz="2800" b="0">
                <a:solidFill>
                  <a:schemeClr val="tx1">
                    <a:lumMod val="95000"/>
                    <a:lumOff val="5000"/>
                  </a:schemeClr>
                </a:solidFill>
              </a:rPr>
              <a:t>联想到</a:t>
            </a:r>
            <a:r>
              <a:rPr lang="en-US" altLang="zh-CN" sz="2800" b="0">
                <a:solidFill>
                  <a:schemeClr val="tx1">
                    <a:lumMod val="95000"/>
                    <a:lumOff val="5000"/>
                  </a:schemeClr>
                </a:solidFill>
              </a:rPr>
              <a:t>Skolem</a:t>
            </a:r>
            <a:r>
              <a:rPr lang="zh-CN" altLang="en-US" sz="2800" b="0">
                <a:solidFill>
                  <a:schemeClr val="tx1">
                    <a:lumMod val="95000"/>
                    <a:lumOff val="5000"/>
                  </a:schemeClr>
                </a:solidFill>
              </a:rPr>
              <a:t>范式</a:t>
            </a:r>
          </a:p>
        </p:txBody>
      </p:sp>
      <p:sp>
        <p:nvSpPr>
          <p:cNvPr id="7" name="文本框 5">
            <a:extLst>
              <a:ext uri="{FF2B5EF4-FFF2-40B4-BE49-F238E27FC236}">
                <a16:creationId xmlns:a16="http://schemas.microsoft.com/office/drawing/2014/main" id="{654CDC69-7275-4A0C-BBAD-47BC51749A28}"/>
              </a:ext>
            </a:extLst>
          </p:cNvPr>
          <p:cNvSpPr txBox="1">
            <a:spLocks noChangeArrowheads="1"/>
          </p:cNvSpPr>
          <p:nvPr/>
        </p:nvSpPr>
        <p:spPr bwMode="auto">
          <a:xfrm>
            <a:off x="5302482" y="5000206"/>
            <a:ext cx="5976937" cy="1200150"/>
          </a:xfrm>
          <a:prstGeom prst="rect">
            <a:avLst/>
          </a:prstGeom>
          <a:noFill/>
          <a:ln w="38100">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b="1">
                <a:solidFill>
                  <a:srgbClr val="FFFFFF"/>
                </a:solidFill>
                <a:latin typeface="" charset="0"/>
                <a:ea typeface="宋体" panose="02010600030101010101" pitchFamily="2" charset="-122"/>
              </a:defRPr>
            </a:lvl1pPr>
            <a:lvl2pPr marL="742950" indent="-285750">
              <a:defRPr kumimoji="1" b="1">
                <a:solidFill>
                  <a:srgbClr val="FFFFFF"/>
                </a:solidFill>
                <a:latin typeface="" charset="0"/>
                <a:ea typeface="宋体" panose="02010600030101010101" pitchFamily="2" charset="-122"/>
              </a:defRPr>
            </a:lvl2pPr>
            <a:lvl3pPr marL="1143000" indent="-228600">
              <a:defRPr kumimoji="1" b="1">
                <a:solidFill>
                  <a:srgbClr val="FFFFFF"/>
                </a:solidFill>
                <a:latin typeface="" charset="0"/>
                <a:ea typeface="宋体" panose="02010600030101010101" pitchFamily="2" charset="-122"/>
              </a:defRPr>
            </a:lvl3pPr>
            <a:lvl4pPr marL="1600200" indent="-228600">
              <a:defRPr kumimoji="1" b="1">
                <a:solidFill>
                  <a:srgbClr val="FFFFFF"/>
                </a:solidFill>
                <a:latin typeface="" charset="0"/>
                <a:ea typeface="宋体" panose="02010600030101010101" pitchFamily="2" charset="-122"/>
              </a:defRPr>
            </a:lvl4pPr>
            <a:lvl5pPr marL="2057400" indent="-228600">
              <a:defRPr kumimoji="1" b="1">
                <a:solidFill>
                  <a:srgbClr val="FFFFFF"/>
                </a:solidFill>
                <a:latin typeface="" charset="0"/>
                <a:ea typeface="宋体" panose="02010600030101010101" pitchFamily="2" charset="-122"/>
              </a:defRPr>
            </a:lvl5pPr>
            <a:lvl6pPr marL="25146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6pPr>
            <a:lvl7pPr marL="29718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7pPr>
            <a:lvl8pPr marL="34290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8pPr>
            <a:lvl9pPr marL="38862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9pPr>
          </a:lstStyle>
          <a:p>
            <a:pPr>
              <a:spcBef>
                <a:spcPct val="50000"/>
              </a:spcBef>
              <a:buFont typeface="Wingdings" panose="05000000000000000000" pitchFamily="2" charset="2"/>
              <a:buNone/>
            </a:pPr>
            <a:r>
              <a:rPr lang="zh-CN" altLang="en-US" sz="2400" dirty="0">
                <a:solidFill>
                  <a:srgbClr val="FF9900"/>
                </a:solidFill>
              </a:rPr>
              <a:t>使用</a:t>
            </a:r>
            <a:r>
              <a:rPr lang="en-US" altLang="zh-CN" sz="2400" dirty="0">
                <a:solidFill>
                  <a:srgbClr val="FF9900"/>
                </a:solidFill>
              </a:rPr>
              <a:t>ES</a:t>
            </a:r>
            <a:r>
              <a:rPr lang="zh-CN" altLang="en-US" sz="2400" dirty="0">
                <a:solidFill>
                  <a:srgbClr val="FF9900"/>
                </a:solidFill>
              </a:rPr>
              <a:t>规则来消去量词时， 若还有其它自由变元时，则必须用关于自由变元的函数符号来取代常量符号</a:t>
            </a:r>
            <a:r>
              <a:rPr lang="en-US" altLang="zh-CN" sz="2400" dirty="0">
                <a:solidFill>
                  <a:srgbClr val="FF9900"/>
                </a:solidFill>
              </a:rPr>
              <a:t>.</a:t>
            </a:r>
          </a:p>
        </p:txBody>
      </p:sp>
    </p:spTree>
    <p:extLst>
      <p:ext uri="{BB962C8B-B14F-4D97-AF65-F5344CB8AC3E}">
        <p14:creationId xmlns:p14="http://schemas.microsoft.com/office/powerpoint/2010/main" val="3656556888"/>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up)">
                                      <p:cBhvr>
                                        <p:cTn id="7" dur="500"/>
                                        <p:tgtEl>
                                          <p:spTgt spid="4">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up)">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wipe(up)">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wipe(up)">
                                      <p:cBhvr>
                                        <p:cTn id="22" dur="500"/>
                                        <p:tgtEl>
                                          <p:spTgt spid="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p:cTn id="27" dur="500" fill="hold"/>
                                        <p:tgtEl>
                                          <p:spTgt spid="5"/>
                                        </p:tgtEl>
                                        <p:attrNameLst>
                                          <p:attrName>ppt_x</p:attrName>
                                        </p:attrNameLst>
                                      </p:cBhvr>
                                      <p:tavLst>
                                        <p:tav tm="0">
                                          <p:val>
                                            <p:strVal val="1+#ppt_w/2"/>
                                          </p:val>
                                        </p:tav>
                                        <p:tav tm="100000">
                                          <p:val>
                                            <p:strVal val="#ppt_x"/>
                                          </p:val>
                                        </p:tav>
                                      </p:tavLst>
                                    </p:anim>
                                    <p:anim calcmode="lin" valueType="num">
                                      <p:cBhvr>
                                        <p:cTn id="28" dur="500" fill="hold"/>
                                        <p:tgtEl>
                                          <p:spTgt spid="5"/>
                                        </p:tgtEl>
                                        <p:attrNameLst>
                                          <p:attrName>ppt_y</p:attrName>
                                        </p:attrNameLst>
                                      </p:cBhvr>
                                      <p:tavLst>
                                        <p:tav tm="0">
                                          <p:val>
                                            <p:strVal val="#ppt_y"/>
                                          </p:val>
                                        </p:tav>
                                        <p:tav tm="100000">
                                          <p:val>
                                            <p:strVal val="#ppt_y"/>
                                          </p:val>
                                        </p:tav>
                                      </p:tavLst>
                                    </p:anim>
                                  </p:childTnLst>
                                </p:cTn>
                              </p:par>
                              <p:par>
                                <p:cTn id="29" presetID="1" presetClass="entr" presetSubtype="0" fill="hold" nodeType="withEffect">
                                  <p:stCondLst>
                                    <p:cond delay="0"/>
                                  </p:stCondLst>
                                  <p:childTnLst>
                                    <p:set>
                                      <p:cBhvr>
                                        <p:cTn id="30" dur="1" fill="hold">
                                          <p:stCondLst>
                                            <p:cond delay="0"/>
                                          </p:stCondLst>
                                        </p:cTn>
                                        <p:tgtEl>
                                          <p:spTgt spid="5">
                                            <p:txEl>
                                              <p:pRg st="0" end="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1" end="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2" end="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3" end="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
                                            <p:txEl>
                                              <p:pRg st="4" end="4"/>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 presetClass="entr" presetSubtype="1" fill="hold" grpId="0" nodeType="clickEffect">
                                  <p:stCondLst>
                                    <p:cond delay="0"/>
                                  </p:stCondLst>
                                  <p:childTnLst>
                                    <p:set>
                                      <p:cBhvr>
                                        <p:cTn id="48" dur="1" fill="hold">
                                          <p:stCondLst>
                                            <p:cond delay="0"/>
                                          </p:stCondLst>
                                        </p:cTn>
                                        <p:tgtEl>
                                          <p:spTgt spid="6"/>
                                        </p:tgtEl>
                                        <p:attrNameLst>
                                          <p:attrName>style.visibility</p:attrName>
                                        </p:attrNameLst>
                                      </p:cBhvr>
                                      <p:to>
                                        <p:strVal val="visible"/>
                                      </p:to>
                                    </p:set>
                                    <p:anim calcmode="lin" valueType="num">
                                      <p:cBhvr additive="base">
                                        <p:cTn id="49" dur="500" fill="hold"/>
                                        <p:tgtEl>
                                          <p:spTgt spid="6"/>
                                        </p:tgtEl>
                                        <p:attrNameLst>
                                          <p:attrName>ppt_x</p:attrName>
                                        </p:attrNameLst>
                                      </p:cBhvr>
                                      <p:tavLst>
                                        <p:tav tm="0">
                                          <p:val>
                                            <p:strVal val="#ppt_x"/>
                                          </p:val>
                                        </p:tav>
                                        <p:tav tm="100000">
                                          <p:val>
                                            <p:strVal val="#ppt_x"/>
                                          </p:val>
                                        </p:tav>
                                      </p:tavLst>
                                    </p:anim>
                                    <p:anim calcmode="lin" valueType="num">
                                      <p:cBhvr additive="base">
                                        <p:cTn id="50" dur="500" fill="hold"/>
                                        <p:tgtEl>
                                          <p:spTgt spid="6"/>
                                        </p:tgtEl>
                                        <p:attrNameLst>
                                          <p:attrName>ppt_y</p:attrName>
                                        </p:attrNameLst>
                                      </p:cBhvr>
                                      <p:tavLst>
                                        <p:tav tm="0">
                                          <p:val>
                                            <p:strVal val="0-#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1" fill="hold" grpId="0" nodeType="clickEffect">
                                  <p:stCondLst>
                                    <p:cond delay="0"/>
                                  </p:stCondLst>
                                  <p:childTnLst>
                                    <p:set>
                                      <p:cBhvr>
                                        <p:cTn id="54" dur="1" fill="hold">
                                          <p:stCondLst>
                                            <p:cond delay="0"/>
                                          </p:stCondLst>
                                        </p:cTn>
                                        <p:tgtEl>
                                          <p:spTgt spid="7"/>
                                        </p:tgtEl>
                                        <p:attrNameLst>
                                          <p:attrName>style.visibility</p:attrName>
                                        </p:attrNameLst>
                                      </p:cBhvr>
                                      <p:to>
                                        <p:strVal val="visible"/>
                                      </p:to>
                                    </p:set>
                                    <p:anim calcmode="lin" valueType="num">
                                      <p:cBhvr additive="base">
                                        <p:cTn id="55" dur="500" fill="hold"/>
                                        <p:tgtEl>
                                          <p:spTgt spid="7"/>
                                        </p:tgtEl>
                                        <p:attrNameLst>
                                          <p:attrName>ppt_x</p:attrName>
                                        </p:attrNameLst>
                                      </p:cBhvr>
                                      <p:tavLst>
                                        <p:tav tm="0">
                                          <p:val>
                                            <p:strVal val="#ppt_x"/>
                                          </p:val>
                                        </p:tav>
                                        <p:tav tm="100000">
                                          <p:val>
                                            <p:strVal val="#ppt_x"/>
                                          </p:val>
                                        </p:tav>
                                      </p:tavLst>
                                    </p:anim>
                                    <p:anim calcmode="lin" valueType="num">
                                      <p:cBhvr additive="base">
                                        <p:cTn id="56"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autoUpdateAnimBg="0"/>
      <p:bldP spid="5" grpId="0" bldLvl="0" animBg="1"/>
      <p:bldP spid="6" grpId="0" animBg="1"/>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文本占位符 99330">
            <a:extLst>
              <a:ext uri="{FF2B5EF4-FFF2-40B4-BE49-F238E27FC236}">
                <a16:creationId xmlns:a16="http://schemas.microsoft.com/office/drawing/2014/main" id="{B1B99499-EE53-4C88-81F5-28A21DA5B7AA}"/>
              </a:ext>
            </a:extLst>
          </p:cNvPr>
          <p:cNvSpPr txBox="1">
            <a:spLocks noChangeArrowheads="1"/>
          </p:cNvSpPr>
          <p:nvPr/>
        </p:nvSpPr>
        <p:spPr>
          <a:xfrm>
            <a:off x="1476774" y="658289"/>
            <a:ext cx="9281604" cy="268902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tx1"/>
              </a:buClr>
              <a:buFontTx/>
              <a:buNone/>
            </a:pPr>
            <a:r>
              <a:rPr lang="en-US" altLang="zh-CN" dirty="0">
                <a:solidFill>
                  <a:srgbClr val="0033CC"/>
                </a:solidFill>
                <a:latin typeface="+mn-ea"/>
              </a:rPr>
              <a:t>4 </a:t>
            </a:r>
            <a:r>
              <a:rPr lang="zh-CN" altLang="en-US" dirty="0">
                <a:solidFill>
                  <a:srgbClr val="0033CC"/>
                </a:solidFill>
                <a:latin typeface="+mn-ea"/>
              </a:rPr>
              <a:t>存在量词引入规则（</a:t>
            </a:r>
            <a:r>
              <a:rPr lang="en-US" altLang="zh-CN" dirty="0">
                <a:solidFill>
                  <a:srgbClr val="0033CC"/>
                </a:solidFill>
                <a:latin typeface="+mn-ea"/>
              </a:rPr>
              <a:t>EG</a:t>
            </a:r>
            <a:r>
              <a:rPr lang="zh-CN" altLang="en-US" dirty="0">
                <a:solidFill>
                  <a:srgbClr val="0033CC"/>
                </a:solidFill>
                <a:latin typeface="+mn-ea"/>
              </a:rPr>
              <a:t>规则）</a:t>
            </a:r>
            <a:endParaRPr lang="zh-CN" altLang="en-US" dirty="0">
              <a:latin typeface="+mn-ea"/>
            </a:endParaRPr>
          </a:p>
          <a:p>
            <a:pPr>
              <a:buClr>
                <a:schemeClr val="tx1"/>
              </a:buClr>
              <a:buFontTx/>
              <a:buNone/>
            </a:pPr>
            <a:r>
              <a:rPr lang="zh-CN" altLang="en-US" dirty="0">
                <a:latin typeface="+mn-ea"/>
              </a:rPr>
              <a:t>	</a:t>
            </a:r>
            <a:r>
              <a:rPr lang="en-US" altLang="zh-CN" dirty="0">
                <a:latin typeface="+mn-ea"/>
              </a:rPr>
              <a:t>A(c) </a:t>
            </a:r>
            <a:r>
              <a:rPr lang="en-US" altLang="zh-CN" dirty="0">
                <a:latin typeface="+mn-ea"/>
                <a:sym typeface="Symbol" panose="05050102010706020507" pitchFamily="18" charset="2"/>
              </a:rPr>
              <a:t></a:t>
            </a:r>
            <a:r>
              <a:rPr lang="en-US" altLang="zh-CN" dirty="0">
                <a:latin typeface="+mn-ea"/>
              </a:rPr>
              <a:t> </a:t>
            </a:r>
            <a:r>
              <a:rPr lang="en-US" altLang="zh-CN" dirty="0">
                <a:latin typeface="+mn-ea"/>
                <a:sym typeface="Symbol" panose="05050102010706020507" pitchFamily="18" charset="2"/>
              </a:rPr>
              <a:t></a:t>
            </a:r>
            <a:r>
              <a:rPr lang="en-US" altLang="zh-CN" dirty="0" err="1">
                <a:latin typeface="+mn-ea"/>
              </a:rPr>
              <a:t>xA</a:t>
            </a:r>
            <a:r>
              <a:rPr lang="en-US" altLang="zh-CN" dirty="0">
                <a:latin typeface="+mn-ea"/>
              </a:rPr>
              <a:t>(x)</a:t>
            </a:r>
            <a:r>
              <a:rPr lang="zh-CN" altLang="en-US" dirty="0">
                <a:latin typeface="+mn-ea"/>
              </a:rPr>
              <a:t>；</a:t>
            </a:r>
            <a:r>
              <a:rPr lang="en-US" altLang="zh-CN" dirty="0">
                <a:latin typeface="+mn-ea"/>
              </a:rPr>
              <a:t> A(y) </a:t>
            </a:r>
            <a:r>
              <a:rPr lang="en-US" altLang="zh-CN" dirty="0">
                <a:latin typeface="+mn-ea"/>
                <a:sym typeface="Symbol" panose="05050102010706020507" pitchFamily="18" charset="2"/>
              </a:rPr>
              <a:t></a:t>
            </a:r>
            <a:r>
              <a:rPr lang="en-US" altLang="zh-CN" dirty="0">
                <a:latin typeface="+mn-ea"/>
              </a:rPr>
              <a:t> </a:t>
            </a:r>
            <a:r>
              <a:rPr lang="en-US" altLang="zh-CN" dirty="0">
                <a:latin typeface="+mn-ea"/>
                <a:sym typeface="Symbol" panose="05050102010706020507" pitchFamily="18" charset="2"/>
              </a:rPr>
              <a:t></a:t>
            </a:r>
            <a:r>
              <a:rPr lang="en-US" altLang="zh-CN" dirty="0" err="1">
                <a:latin typeface="+mn-ea"/>
              </a:rPr>
              <a:t>xA</a:t>
            </a:r>
            <a:r>
              <a:rPr lang="en-US" altLang="zh-CN" dirty="0">
                <a:latin typeface="+mn-ea"/>
              </a:rPr>
              <a:t>(x)</a:t>
            </a:r>
          </a:p>
          <a:p>
            <a:pPr>
              <a:buClr>
                <a:schemeClr val="tx1"/>
              </a:buClr>
              <a:buFontTx/>
              <a:buNone/>
            </a:pPr>
            <a:r>
              <a:rPr lang="en-US" altLang="zh-CN" dirty="0">
                <a:latin typeface="+mn-ea"/>
              </a:rPr>
              <a:t>	</a:t>
            </a:r>
            <a:r>
              <a:rPr lang="zh-CN" altLang="en-US" dirty="0">
                <a:latin typeface="+mn-ea"/>
              </a:rPr>
              <a:t>成立的条件是：</a:t>
            </a:r>
          </a:p>
          <a:p>
            <a:pPr>
              <a:buClr>
                <a:schemeClr val="tx1"/>
              </a:buClr>
              <a:buNone/>
            </a:pPr>
            <a:r>
              <a:rPr lang="zh-CN" altLang="en-US" dirty="0">
                <a:latin typeface="+mn-ea"/>
              </a:rPr>
              <a:t>	</a:t>
            </a:r>
            <a:r>
              <a:rPr lang="en-US" altLang="zh-CN" dirty="0">
                <a:latin typeface="+mn-ea"/>
              </a:rPr>
              <a:t>(1).c</a:t>
            </a:r>
            <a:r>
              <a:rPr lang="zh-CN" altLang="en-US" dirty="0">
                <a:latin typeface="+mn-ea"/>
              </a:rPr>
              <a:t>是特定的个体常量；</a:t>
            </a:r>
            <a:r>
              <a:rPr lang="en-US" altLang="zh-CN" dirty="0"/>
              <a:t>y</a:t>
            </a:r>
            <a:r>
              <a:rPr lang="zh-CN" altLang="en-US" dirty="0"/>
              <a:t>是个体变项。</a:t>
            </a:r>
          </a:p>
          <a:p>
            <a:pPr>
              <a:buClr>
                <a:schemeClr val="tx1"/>
              </a:buClr>
              <a:buFontTx/>
              <a:buNone/>
            </a:pPr>
            <a:r>
              <a:rPr lang="zh-CN" altLang="en-US" dirty="0">
                <a:latin typeface="+mn-ea"/>
              </a:rPr>
              <a:t>	</a:t>
            </a:r>
            <a:r>
              <a:rPr lang="en-US" altLang="zh-CN" dirty="0">
                <a:latin typeface="+mn-ea"/>
              </a:rPr>
              <a:t>(2).</a:t>
            </a:r>
            <a:r>
              <a:rPr lang="zh-CN" altLang="en-US" dirty="0">
                <a:latin typeface="+mn-ea"/>
              </a:rPr>
              <a:t>替换</a:t>
            </a:r>
            <a:r>
              <a:rPr lang="en-US" altLang="zh-CN" dirty="0">
                <a:latin typeface="+mn-ea"/>
              </a:rPr>
              <a:t>c</a:t>
            </a:r>
            <a:r>
              <a:rPr lang="zh-CN" altLang="en-US" dirty="0">
                <a:latin typeface="+mn-ea"/>
              </a:rPr>
              <a:t>的</a:t>
            </a:r>
            <a:r>
              <a:rPr lang="en-US" altLang="zh-CN" dirty="0">
                <a:latin typeface="+mn-ea"/>
              </a:rPr>
              <a:t>x</a:t>
            </a:r>
            <a:r>
              <a:rPr lang="zh-CN" altLang="en-US" dirty="0">
                <a:latin typeface="+mn-ea"/>
              </a:rPr>
              <a:t>要选择在</a:t>
            </a:r>
            <a:r>
              <a:rPr lang="en-US" altLang="zh-CN" dirty="0">
                <a:latin typeface="+mn-ea"/>
              </a:rPr>
              <a:t>A(c)</a:t>
            </a:r>
            <a:r>
              <a:rPr lang="zh-CN" altLang="en-US" dirty="0">
                <a:latin typeface="+mn-ea"/>
              </a:rPr>
              <a:t>中不出现的变元符号；</a:t>
            </a:r>
            <a:r>
              <a:rPr lang="zh-CN" altLang="en-US" dirty="0"/>
              <a:t>取代</a:t>
            </a:r>
            <a:r>
              <a:rPr lang="en-US" altLang="zh-CN" dirty="0"/>
              <a:t>y</a:t>
            </a:r>
            <a:r>
              <a:rPr lang="zh-CN" altLang="en-US" dirty="0"/>
              <a:t>的</a:t>
            </a:r>
            <a:r>
              <a:rPr lang="en-US" altLang="zh-CN" dirty="0"/>
              <a:t>x</a:t>
            </a:r>
            <a:r>
              <a:rPr lang="zh-CN" altLang="en-US" dirty="0"/>
              <a:t>不能在</a:t>
            </a:r>
            <a:r>
              <a:rPr lang="en-US" altLang="zh-CN" dirty="0"/>
              <a:t>A(y)</a:t>
            </a:r>
            <a:r>
              <a:rPr lang="zh-CN" altLang="en-US" dirty="0"/>
              <a:t>中自由出现。</a:t>
            </a:r>
            <a:endParaRPr lang="zh-CN" altLang="en-US" dirty="0">
              <a:latin typeface="+mn-ea"/>
            </a:endParaRPr>
          </a:p>
        </p:txBody>
      </p:sp>
      <p:sp>
        <p:nvSpPr>
          <p:cNvPr id="5" name="矩形 4">
            <a:extLst>
              <a:ext uri="{FF2B5EF4-FFF2-40B4-BE49-F238E27FC236}">
                <a16:creationId xmlns:a16="http://schemas.microsoft.com/office/drawing/2014/main" id="{67206B36-8BFE-4AC5-A40B-5AB18F112358}"/>
              </a:ext>
            </a:extLst>
          </p:cNvPr>
          <p:cNvSpPr>
            <a:spLocks noChangeArrowheads="1"/>
          </p:cNvSpPr>
          <p:nvPr/>
        </p:nvSpPr>
        <p:spPr bwMode="auto">
          <a:xfrm>
            <a:off x="131763" y="3928354"/>
            <a:ext cx="5473700" cy="2452687"/>
          </a:xfrm>
          <a:prstGeom prst="rect">
            <a:avLst/>
          </a:prstGeom>
          <a:solidFill>
            <a:schemeClr val="bg1"/>
          </a:solidFill>
          <a:ln w="9525">
            <a:solidFill>
              <a:srgbClr val="FF0000"/>
            </a:solidFill>
            <a:prstDash val="lgDash"/>
            <a:miter lim="800000"/>
            <a:headEnd/>
            <a:tailEnd/>
          </a:ln>
        </p:spPr>
        <p:txBody>
          <a:bodyPr anchor="ctr">
            <a:spAutoFit/>
          </a:bodyPr>
          <a:lstStyle>
            <a:lvl1pPr>
              <a:defRPr sz="2800" b="1">
                <a:solidFill>
                  <a:schemeClr val="tx1"/>
                </a:solidFill>
                <a:latin typeface="Times New Roman" panose="02020603050405020304" pitchFamily="18" charset="0"/>
                <a:ea typeface="宋体" panose="02010600030101010101" pitchFamily="2" charset="-122"/>
              </a:defRPr>
            </a:lvl1pPr>
            <a:lvl2pPr>
              <a:defRPr sz="2800" b="1">
                <a:solidFill>
                  <a:schemeClr val="tx1"/>
                </a:solidFill>
                <a:latin typeface="Times New Roman" panose="02020603050405020304" pitchFamily="18" charset="0"/>
                <a:ea typeface="宋体" panose="02010600030101010101" pitchFamily="2" charset="-122"/>
              </a:defRPr>
            </a:lvl2pPr>
            <a:lvl3pPr>
              <a:defRPr sz="2800" b="1">
                <a:solidFill>
                  <a:schemeClr val="tx1"/>
                </a:solidFill>
                <a:latin typeface="Times New Roman" panose="02020603050405020304" pitchFamily="18" charset="0"/>
                <a:ea typeface="宋体" panose="02010600030101010101" pitchFamily="2" charset="-122"/>
              </a:defRPr>
            </a:lvl3pPr>
            <a:lvl4pPr>
              <a:defRPr sz="2800" b="1">
                <a:solidFill>
                  <a:schemeClr val="tx1"/>
                </a:solidFill>
                <a:latin typeface="Times New Roman" panose="02020603050405020304" pitchFamily="18" charset="0"/>
                <a:ea typeface="宋体" panose="02010600030101010101" pitchFamily="2" charset="-122"/>
              </a:defRPr>
            </a:lvl4pPr>
            <a:lvl5pPr>
              <a:defRPr sz="28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a:lnSpc>
                <a:spcPct val="120000"/>
              </a:lnSpc>
              <a:buClr>
                <a:schemeClr val="tx1"/>
              </a:buClr>
            </a:pPr>
            <a:r>
              <a:rPr lang="en-US" altLang="zh-CN" sz="1800">
                <a:latin typeface="Arial" panose="020B0604020202020204" pitchFamily="34" charset="0"/>
              </a:rPr>
              <a:t>(1).	P(</a:t>
            </a:r>
            <a:r>
              <a:rPr lang="en-US" altLang="zh-CN" sz="1800" i="1">
                <a:latin typeface="Arial" panose="020B0604020202020204" pitchFamily="34" charset="0"/>
              </a:rPr>
              <a:t>x</a:t>
            </a:r>
            <a:r>
              <a:rPr lang="en-US" altLang="zh-CN" sz="1800">
                <a:latin typeface="Arial" panose="020B0604020202020204" pitchFamily="34" charset="0"/>
              </a:rPr>
              <a:t>)</a:t>
            </a:r>
            <a:r>
              <a:rPr lang="en-US" altLang="zh-CN" sz="1800">
                <a:latin typeface="Arial" panose="020B0604020202020204" pitchFamily="34" charset="0"/>
                <a:sym typeface="Symbol" panose="05050102010706020507" pitchFamily="18" charset="2"/>
              </a:rPr>
              <a:t></a:t>
            </a:r>
            <a:r>
              <a:rPr lang="en-US" altLang="zh-CN" sz="1800">
                <a:latin typeface="Arial" panose="020B0604020202020204" pitchFamily="34" charset="0"/>
              </a:rPr>
              <a:t>Q(</a:t>
            </a:r>
            <a:r>
              <a:rPr lang="en-US" altLang="zh-CN" sz="1800" i="1">
                <a:latin typeface="Arial" panose="020B0604020202020204" pitchFamily="34" charset="0"/>
              </a:rPr>
              <a:t>c</a:t>
            </a:r>
            <a:r>
              <a:rPr lang="en-US" altLang="zh-CN" sz="1600">
                <a:latin typeface="Arial" panose="020B0604020202020204" pitchFamily="34" charset="0"/>
              </a:rPr>
              <a:t>)	   </a:t>
            </a:r>
          </a:p>
          <a:p>
            <a:pPr>
              <a:lnSpc>
                <a:spcPct val="120000"/>
              </a:lnSpc>
              <a:buClr>
                <a:schemeClr val="tx1"/>
              </a:buClr>
            </a:pPr>
            <a:r>
              <a:rPr lang="en-US" altLang="zh-CN" sz="1800">
                <a:latin typeface="Arial" panose="020B0604020202020204" pitchFamily="34" charset="0"/>
              </a:rPr>
              <a:t>(2).	(</a:t>
            </a:r>
            <a:r>
              <a:rPr lang="en-US" altLang="zh-CN" sz="1800">
                <a:latin typeface="Arial" panose="020B0604020202020204" pitchFamily="34" charset="0"/>
                <a:sym typeface="Symbol" panose="05050102010706020507" pitchFamily="18" charset="2"/>
              </a:rPr>
              <a:t></a:t>
            </a:r>
            <a:r>
              <a:rPr lang="en-US" altLang="zh-CN" sz="1800" i="1">
                <a:latin typeface="Arial" panose="020B0604020202020204" pitchFamily="34" charset="0"/>
              </a:rPr>
              <a:t>x</a:t>
            </a:r>
            <a:r>
              <a:rPr lang="en-US" altLang="zh-CN" sz="1800">
                <a:latin typeface="Arial" panose="020B0604020202020204" pitchFamily="34" charset="0"/>
              </a:rPr>
              <a:t>)(P(</a:t>
            </a:r>
            <a:r>
              <a:rPr lang="en-US" altLang="zh-CN" sz="1800" i="1">
                <a:latin typeface="Arial" panose="020B0604020202020204" pitchFamily="34" charset="0"/>
              </a:rPr>
              <a:t>x</a:t>
            </a:r>
            <a:r>
              <a:rPr lang="en-US" altLang="zh-CN" sz="1800">
                <a:latin typeface="Arial" panose="020B0604020202020204" pitchFamily="34" charset="0"/>
              </a:rPr>
              <a:t>)</a:t>
            </a:r>
            <a:r>
              <a:rPr lang="en-US" altLang="zh-CN" sz="1800">
                <a:latin typeface="Arial" panose="020B0604020202020204" pitchFamily="34" charset="0"/>
                <a:sym typeface="Symbol" panose="05050102010706020507" pitchFamily="18" charset="2"/>
              </a:rPr>
              <a:t></a:t>
            </a:r>
            <a:r>
              <a:rPr lang="en-US" altLang="zh-CN" sz="1800">
                <a:latin typeface="Arial" panose="020B0604020202020204" pitchFamily="34" charset="0"/>
              </a:rPr>
              <a:t>Q(</a:t>
            </a:r>
            <a:r>
              <a:rPr lang="en-US" altLang="zh-CN" sz="1800" i="1">
                <a:latin typeface="Arial" panose="020B0604020202020204" pitchFamily="34" charset="0"/>
              </a:rPr>
              <a:t>x</a:t>
            </a:r>
            <a:r>
              <a:rPr lang="en-US" altLang="zh-CN" sz="1800">
                <a:latin typeface="Arial" panose="020B0604020202020204" pitchFamily="34" charset="0"/>
              </a:rPr>
              <a:t>))	</a:t>
            </a:r>
          </a:p>
          <a:p>
            <a:pPr>
              <a:lnSpc>
                <a:spcPct val="120000"/>
              </a:lnSpc>
              <a:buClr>
                <a:schemeClr val="tx1"/>
              </a:buClr>
            </a:pPr>
            <a:r>
              <a:rPr lang="zh-CN" altLang="en-US" sz="1800">
                <a:solidFill>
                  <a:schemeClr val="accent2"/>
                </a:solidFill>
                <a:latin typeface="Arial" panose="020B0604020202020204" pitchFamily="34" charset="0"/>
              </a:rPr>
              <a:t>在使用存在量词引入规则时，替换个体</a:t>
            </a:r>
            <a:r>
              <a:rPr lang="en-US" altLang="zh-CN" sz="1800" i="1">
                <a:solidFill>
                  <a:schemeClr val="accent2"/>
                </a:solidFill>
                <a:latin typeface="Arial" panose="020B0604020202020204" pitchFamily="34" charset="0"/>
              </a:rPr>
              <a:t>c</a:t>
            </a:r>
            <a:r>
              <a:rPr lang="zh-CN" altLang="en-US" sz="1800">
                <a:solidFill>
                  <a:schemeClr val="accent2"/>
                </a:solidFill>
                <a:latin typeface="Arial" panose="020B0604020202020204" pitchFamily="34" charset="0"/>
              </a:rPr>
              <a:t>的变元应选择在公式中没有出现的变元符号，正确的推理是：</a:t>
            </a:r>
          </a:p>
          <a:p>
            <a:pPr>
              <a:lnSpc>
                <a:spcPct val="120000"/>
              </a:lnSpc>
              <a:buClr>
                <a:schemeClr val="tx1"/>
              </a:buClr>
            </a:pPr>
            <a:endParaRPr lang="zh-CN" altLang="en-US" sz="2000">
              <a:solidFill>
                <a:schemeClr val="accent2"/>
              </a:solidFill>
              <a:latin typeface="Arial" panose="020B0604020202020204" pitchFamily="34" charset="0"/>
            </a:endParaRPr>
          </a:p>
          <a:p>
            <a:pPr>
              <a:lnSpc>
                <a:spcPct val="120000"/>
              </a:lnSpc>
              <a:buClr>
                <a:schemeClr val="tx1"/>
              </a:buClr>
            </a:pPr>
            <a:r>
              <a:rPr lang="en-US" altLang="zh-CN" sz="1800">
                <a:solidFill>
                  <a:schemeClr val="accent2"/>
                </a:solidFill>
                <a:latin typeface="Arial" panose="020B0604020202020204" pitchFamily="34" charset="0"/>
              </a:rPr>
              <a:t>(1).	P(</a:t>
            </a:r>
            <a:r>
              <a:rPr lang="en-US" altLang="zh-CN" sz="1800" i="1">
                <a:solidFill>
                  <a:schemeClr val="accent2"/>
                </a:solidFill>
                <a:latin typeface="Arial" panose="020B0604020202020204" pitchFamily="34" charset="0"/>
              </a:rPr>
              <a:t>x</a:t>
            </a:r>
            <a:r>
              <a:rPr lang="en-US" altLang="zh-CN" sz="1800">
                <a:solidFill>
                  <a:schemeClr val="accent2"/>
                </a:solidFill>
                <a:latin typeface="Arial" panose="020B0604020202020204" pitchFamily="34" charset="0"/>
              </a:rPr>
              <a:t>)</a:t>
            </a:r>
            <a:r>
              <a:rPr lang="en-US" altLang="zh-CN" sz="1800">
                <a:solidFill>
                  <a:schemeClr val="accent2"/>
                </a:solidFill>
                <a:latin typeface="Arial" panose="020B0604020202020204" pitchFamily="34" charset="0"/>
                <a:sym typeface="Symbol" panose="05050102010706020507" pitchFamily="18" charset="2"/>
              </a:rPr>
              <a:t></a:t>
            </a:r>
            <a:r>
              <a:rPr lang="en-US" altLang="zh-CN" sz="1800">
                <a:solidFill>
                  <a:schemeClr val="accent2"/>
                </a:solidFill>
                <a:latin typeface="Arial" panose="020B0604020202020204" pitchFamily="34" charset="0"/>
              </a:rPr>
              <a:t>Q(</a:t>
            </a:r>
            <a:r>
              <a:rPr lang="en-US" altLang="zh-CN" sz="1800" i="1">
                <a:solidFill>
                  <a:schemeClr val="accent2"/>
                </a:solidFill>
                <a:latin typeface="Arial" panose="020B0604020202020204" pitchFamily="34" charset="0"/>
              </a:rPr>
              <a:t>c</a:t>
            </a:r>
            <a:r>
              <a:rPr lang="en-US" altLang="zh-CN" sz="1800">
                <a:solidFill>
                  <a:schemeClr val="accent2"/>
                </a:solidFill>
                <a:latin typeface="Arial" panose="020B0604020202020204" pitchFamily="34" charset="0"/>
              </a:rPr>
              <a:t>)</a:t>
            </a:r>
          </a:p>
          <a:p>
            <a:pPr>
              <a:lnSpc>
                <a:spcPct val="120000"/>
              </a:lnSpc>
              <a:buClr>
                <a:schemeClr val="tx1"/>
              </a:buClr>
            </a:pPr>
            <a:r>
              <a:rPr lang="en-US" altLang="zh-CN" sz="1800">
                <a:solidFill>
                  <a:schemeClr val="accent2"/>
                </a:solidFill>
                <a:latin typeface="Arial" panose="020B0604020202020204" pitchFamily="34" charset="0"/>
              </a:rPr>
              <a:t>(2).	(</a:t>
            </a:r>
            <a:r>
              <a:rPr lang="en-US" altLang="zh-CN" sz="1800">
                <a:solidFill>
                  <a:schemeClr val="accent2"/>
                </a:solidFill>
                <a:latin typeface="Arial" panose="020B0604020202020204" pitchFamily="34" charset="0"/>
                <a:sym typeface="Symbol" panose="05050102010706020507" pitchFamily="18" charset="2"/>
              </a:rPr>
              <a:t></a:t>
            </a:r>
            <a:r>
              <a:rPr lang="en-US" altLang="zh-CN" sz="1800" i="1">
                <a:solidFill>
                  <a:schemeClr val="accent2"/>
                </a:solidFill>
                <a:latin typeface="Arial" panose="020B0604020202020204" pitchFamily="34" charset="0"/>
              </a:rPr>
              <a:t>y</a:t>
            </a:r>
            <a:r>
              <a:rPr lang="en-US" altLang="zh-CN" sz="1800">
                <a:solidFill>
                  <a:schemeClr val="accent2"/>
                </a:solidFill>
                <a:latin typeface="Arial" panose="020B0604020202020204" pitchFamily="34" charset="0"/>
              </a:rPr>
              <a:t>)(P(</a:t>
            </a:r>
            <a:r>
              <a:rPr lang="en-US" altLang="zh-CN" sz="1800" i="1">
                <a:solidFill>
                  <a:schemeClr val="accent2"/>
                </a:solidFill>
                <a:latin typeface="Arial" panose="020B0604020202020204" pitchFamily="34" charset="0"/>
              </a:rPr>
              <a:t>x</a:t>
            </a:r>
            <a:r>
              <a:rPr lang="en-US" altLang="zh-CN" sz="1800">
                <a:solidFill>
                  <a:schemeClr val="accent2"/>
                </a:solidFill>
                <a:latin typeface="Arial" panose="020B0604020202020204" pitchFamily="34" charset="0"/>
              </a:rPr>
              <a:t>)</a:t>
            </a:r>
            <a:r>
              <a:rPr lang="en-US" altLang="zh-CN" sz="1800">
                <a:solidFill>
                  <a:schemeClr val="accent2"/>
                </a:solidFill>
                <a:latin typeface="Arial" panose="020B0604020202020204" pitchFamily="34" charset="0"/>
                <a:sym typeface="Symbol" panose="05050102010706020507" pitchFamily="18" charset="2"/>
              </a:rPr>
              <a:t></a:t>
            </a:r>
            <a:r>
              <a:rPr lang="en-US" altLang="zh-CN" sz="1800">
                <a:solidFill>
                  <a:schemeClr val="accent2"/>
                </a:solidFill>
                <a:latin typeface="Arial" panose="020B0604020202020204" pitchFamily="34" charset="0"/>
              </a:rPr>
              <a:t>Q(</a:t>
            </a:r>
            <a:r>
              <a:rPr lang="en-US" altLang="zh-CN" sz="1800" i="1">
                <a:solidFill>
                  <a:schemeClr val="accent2"/>
                </a:solidFill>
                <a:latin typeface="Arial" panose="020B0604020202020204" pitchFamily="34" charset="0"/>
              </a:rPr>
              <a:t>y</a:t>
            </a:r>
            <a:r>
              <a:rPr lang="en-US" altLang="zh-CN" sz="1800">
                <a:solidFill>
                  <a:schemeClr val="accent2"/>
                </a:solidFill>
                <a:latin typeface="Arial" panose="020B0604020202020204" pitchFamily="34" charset="0"/>
              </a:rPr>
              <a:t>))	</a:t>
            </a:r>
          </a:p>
        </p:txBody>
      </p:sp>
      <p:sp>
        <p:nvSpPr>
          <p:cNvPr id="6" name="文本框 6">
            <a:extLst>
              <a:ext uri="{FF2B5EF4-FFF2-40B4-BE49-F238E27FC236}">
                <a16:creationId xmlns:a16="http://schemas.microsoft.com/office/drawing/2014/main" id="{A7225ECB-B45F-4091-9E1A-5E5474E1310B}"/>
              </a:ext>
            </a:extLst>
          </p:cNvPr>
          <p:cNvSpPr txBox="1">
            <a:spLocks noChangeArrowheads="1"/>
          </p:cNvSpPr>
          <p:nvPr/>
        </p:nvSpPr>
        <p:spPr bwMode="auto">
          <a:xfrm>
            <a:off x="5747674" y="3356622"/>
            <a:ext cx="6312564" cy="3231654"/>
          </a:xfrm>
          <a:prstGeom prst="rect">
            <a:avLst/>
          </a:prstGeom>
          <a:noFill/>
          <a:ln w="2857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b="1">
                <a:solidFill>
                  <a:srgbClr val="FFFFFF"/>
                </a:solidFill>
                <a:latin typeface="" charset="0"/>
                <a:ea typeface="宋体" panose="02010600030101010101" pitchFamily="2" charset="-122"/>
              </a:defRPr>
            </a:lvl1pPr>
            <a:lvl2pPr marL="742950" indent="-285750">
              <a:defRPr kumimoji="1" b="1">
                <a:solidFill>
                  <a:srgbClr val="FFFFFF"/>
                </a:solidFill>
                <a:latin typeface="" charset="0"/>
                <a:ea typeface="宋体" panose="02010600030101010101" pitchFamily="2" charset="-122"/>
              </a:defRPr>
            </a:lvl2pPr>
            <a:lvl3pPr marL="1143000" indent="-228600">
              <a:defRPr kumimoji="1" b="1">
                <a:solidFill>
                  <a:srgbClr val="FFFFFF"/>
                </a:solidFill>
                <a:latin typeface="" charset="0"/>
                <a:ea typeface="宋体" panose="02010600030101010101" pitchFamily="2" charset="-122"/>
              </a:defRPr>
            </a:lvl3pPr>
            <a:lvl4pPr marL="1600200" indent="-228600">
              <a:defRPr kumimoji="1" b="1">
                <a:solidFill>
                  <a:srgbClr val="FFFFFF"/>
                </a:solidFill>
                <a:latin typeface="" charset="0"/>
                <a:ea typeface="宋体" panose="02010600030101010101" pitchFamily="2" charset="-122"/>
              </a:defRPr>
            </a:lvl4pPr>
            <a:lvl5pPr marL="2057400" indent="-228600">
              <a:defRPr kumimoji="1" b="1">
                <a:solidFill>
                  <a:srgbClr val="FFFFFF"/>
                </a:solidFill>
                <a:latin typeface="" charset="0"/>
                <a:ea typeface="宋体" panose="02010600030101010101" pitchFamily="2" charset="-122"/>
              </a:defRPr>
            </a:lvl5pPr>
            <a:lvl6pPr marL="25146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6pPr>
            <a:lvl7pPr marL="29718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7pPr>
            <a:lvl8pPr marL="34290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8pPr>
            <a:lvl9pPr marL="38862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9pPr>
          </a:lstStyle>
          <a:p>
            <a:pPr>
              <a:spcBef>
                <a:spcPct val="50000"/>
              </a:spcBef>
              <a:buFont typeface="Wingdings" panose="05000000000000000000" pitchFamily="2" charset="2"/>
              <a:buNone/>
            </a:pPr>
            <a:r>
              <a:rPr lang="zh-CN" altLang="en-US" sz="2400" b="0" dirty="0">
                <a:solidFill>
                  <a:schemeClr val="tx1">
                    <a:lumMod val="95000"/>
                    <a:lumOff val="5000"/>
                  </a:schemeClr>
                </a:solidFill>
                <a:latin typeface="黑体" panose="02010609060101010101" pitchFamily="49" charset="-122"/>
                <a:ea typeface="黑体" panose="02010609060101010101" pitchFamily="49" charset="-122"/>
              </a:rPr>
              <a:t>取个体域为实数集，</a:t>
            </a:r>
            <a:r>
              <a:rPr lang="en-US" altLang="zh-CN" sz="2400" b="0" dirty="0">
                <a:solidFill>
                  <a:schemeClr val="tx1">
                    <a:lumMod val="95000"/>
                    <a:lumOff val="5000"/>
                  </a:schemeClr>
                </a:solidFill>
                <a:latin typeface="黑体" panose="02010609060101010101" pitchFamily="49" charset="-122"/>
                <a:ea typeface="黑体" panose="02010609060101010101" pitchFamily="49" charset="-122"/>
              </a:rPr>
              <a:t>F(</a:t>
            </a:r>
            <a:r>
              <a:rPr lang="en-US" altLang="zh-CN" sz="2400" b="0" dirty="0" err="1">
                <a:solidFill>
                  <a:schemeClr val="tx1">
                    <a:lumMod val="95000"/>
                    <a:lumOff val="5000"/>
                  </a:schemeClr>
                </a:solidFill>
                <a:latin typeface="黑体" panose="02010609060101010101" pitchFamily="49" charset="-122"/>
                <a:ea typeface="黑体" panose="02010609060101010101" pitchFamily="49" charset="-122"/>
              </a:rPr>
              <a:t>x,y</a:t>
            </a:r>
            <a:r>
              <a:rPr lang="en-US" altLang="zh-CN" sz="2400" b="0" dirty="0">
                <a:solidFill>
                  <a:schemeClr val="tx1">
                    <a:lumMod val="95000"/>
                    <a:lumOff val="5000"/>
                  </a:schemeClr>
                </a:solidFill>
                <a:latin typeface="黑体" panose="02010609060101010101" pitchFamily="49" charset="-122"/>
                <a:ea typeface="黑体" panose="02010609060101010101" pitchFamily="49" charset="-122"/>
              </a:rPr>
              <a:t>)</a:t>
            </a:r>
            <a:r>
              <a:rPr lang="zh-CN" altLang="en-US" sz="2400" b="0" dirty="0">
                <a:solidFill>
                  <a:schemeClr val="tx1">
                    <a:lumMod val="95000"/>
                    <a:lumOff val="5000"/>
                  </a:schemeClr>
                </a:solidFill>
                <a:latin typeface="黑体" panose="02010609060101010101" pitchFamily="49" charset="-122"/>
                <a:ea typeface="黑体" panose="02010609060101010101" pitchFamily="49" charset="-122"/>
              </a:rPr>
              <a:t>为</a:t>
            </a:r>
            <a:r>
              <a:rPr lang="en-US" altLang="zh-CN" sz="2400" b="0" dirty="0">
                <a:solidFill>
                  <a:schemeClr val="tx1">
                    <a:lumMod val="95000"/>
                    <a:lumOff val="5000"/>
                  </a:schemeClr>
                </a:solidFill>
                <a:latin typeface="黑体" panose="02010609060101010101" pitchFamily="49" charset="-122"/>
                <a:ea typeface="黑体" panose="02010609060101010101" pitchFamily="49" charset="-122"/>
              </a:rPr>
              <a:t>x&gt;y</a:t>
            </a:r>
            <a:r>
              <a:rPr lang="zh-CN" altLang="en-US" sz="2400" b="0" dirty="0">
                <a:solidFill>
                  <a:schemeClr val="tx1">
                    <a:lumMod val="95000"/>
                    <a:lumOff val="5000"/>
                  </a:schemeClr>
                </a:solidFill>
                <a:latin typeface="黑体" panose="02010609060101010101" pitchFamily="49" charset="-122"/>
                <a:ea typeface="黑体" panose="02010609060101010101" pitchFamily="49" charset="-122"/>
              </a:rPr>
              <a:t>，取</a:t>
            </a:r>
            <a:r>
              <a:rPr lang="en-US" altLang="zh-CN" sz="2400" b="0" dirty="0">
                <a:solidFill>
                  <a:schemeClr val="tx1">
                    <a:lumMod val="95000"/>
                    <a:lumOff val="5000"/>
                  </a:schemeClr>
                </a:solidFill>
                <a:latin typeface="黑体" panose="02010609060101010101" pitchFamily="49" charset="-122"/>
                <a:ea typeface="黑体" panose="02010609060101010101" pitchFamily="49" charset="-122"/>
              </a:rPr>
              <a:t>A(5)=</a:t>
            </a:r>
            <a:r>
              <a:rPr lang="en-US" altLang="zh-CN" sz="2400" b="0" dirty="0">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a:t>
            </a:r>
            <a:r>
              <a:rPr lang="en-US" altLang="zh-CN" sz="2400" b="0" dirty="0" err="1">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xF</a:t>
            </a:r>
            <a:r>
              <a:rPr lang="en-US" altLang="zh-CN" sz="2400" b="0" dirty="0">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(x,5)</a:t>
            </a:r>
            <a:r>
              <a:rPr lang="zh-CN" altLang="en-US" sz="2400" b="0" dirty="0">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a:t>
            </a:r>
          </a:p>
          <a:p>
            <a:pPr>
              <a:spcBef>
                <a:spcPct val="50000"/>
              </a:spcBef>
              <a:buFont typeface="Wingdings" panose="05000000000000000000" pitchFamily="2" charset="2"/>
              <a:buNone/>
            </a:pPr>
            <a:r>
              <a:rPr lang="zh-CN" altLang="en-US" sz="2400" b="0" dirty="0">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在应用</a:t>
            </a:r>
            <a:r>
              <a:rPr lang="en-US" altLang="zh-CN" sz="2400" b="0" dirty="0">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EG</a:t>
            </a:r>
            <a:r>
              <a:rPr lang="zh-CN" altLang="en-US" sz="2400" b="0" dirty="0">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规则时，若用</a:t>
            </a:r>
            <a:r>
              <a:rPr lang="en-US" altLang="zh-CN" sz="2400" b="0" dirty="0">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A(5)</a:t>
            </a:r>
            <a:r>
              <a:rPr lang="zh-CN" altLang="en-US" sz="2400" b="0" dirty="0">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中已出现的</a:t>
            </a:r>
            <a:r>
              <a:rPr lang="en-US" altLang="zh-CN" sz="2400" b="0" dirty="0">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x</a:t>
            </a:r>
            <a:r>
              <a:rPr lang="zh-CN" altLang="en-US" sz="2400" b="0" dirty="0">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取代</a:t>
            </a:r>
            <a:r>
              <a:rPr lang="en-US" altLang="zh-CN" sz="2400" b="0" dirty="0">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5</a:t>
            </a:r>
            <a:r>
              <a:rPr lang="zh-CN" altLang="en-US" sz="2400" b="0" dirty="0">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，得</a:t>
            </a:r>
            <a:r>
              <a:rPr lang="en-US" altLang="zh-CN" sz="2400" b="0" dirty="0" err="1">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xxF</a:t>
            </a:r>
            <a:r>
              <a:rPr lang="en-US" altLang="zh-CN" sz="2400" b="0" dirty="0">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a:t>
            </a:r>
            <a:r>
              <a:rPr lang="en-US" altLang="zh-CN" sz="2400" b="0" dirty="0" err="1">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x,x</a:t>
            </a:r>
            <a:r>
              <a:rPr lang="en-US" altLang="zh-CN" sz="2400" b="0" dirty="0">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)=x(x&gt;x)</a:t>
            </a:r>
            <a:r>
              <a:rPr lang="zh-CN" altLang="en-US" sz="2400" b="0" dirty="0">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，这是假命题。</a:t>
            </a:r>
          </a:p>
          <a:p>
            <a:pPr>
              <a:spcBef>
                <a:spcPct val="50000"/>
              </a:spcBef>
              <a:buFont typeface="Wingdings" panose="05000000000000000000" pitchFamily="2" charset="2"/>
              <a:buNone/>
            </a:pPr>
            <a:r>
              <a:rPr lang="zh-CN" altLang="en-US" sz="2400" b="0" dirty="0">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产生这种错误的原因是违背了条件</a:t>
            </a:r>
            <a:r>
              <a:rPr lang="en-US" altLang="zh-CN" sz="2400" b="0" dirty="0">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(2)</a:t>
            </a:r>
            <a:r>
              <a:rPr lang="zh-CN" altLang="en-US" sz="2400" b="0" dirty="0">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a:t>
            </a:r>
          </a:p>
          <a:p>
            <a:pPr>
              <a:spcBef>
                <a:spcPct val="50000"/>
              </a:spcBef>
              <a:buFont typeface="Wingdings" panose="05000000000000000000" pitchFamily="2" charset="2"/>
              <a:buNone/>
            </a:pPr>
            <a:r>
              <a:rPr lang="zh-CN" altLang="en-US" sz="2400" b="0" dirty="0">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若用</a:t>
            </a:r>
            <a:r>
              <a:rPr lang="en-US" altLang="zh-CN" sz="2400" b="0" dirty="0">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A(5)</a:t>
            </a:r>
            <a:r>
              <a:rPr lang="zh-CN" altLang="en-US" sz="2400" b="0" dirty="0">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中未出现过的个体变项 </a:t>
            </a:r>
            <a:r>
              <a:rPr lang="en-US" altLang="zh-CN" sz="2400" b="0" dirty="0">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u </a:t>
            </a:r>
            <a:r>
              <a:rPr lang="zh-CN" altLang="en-US" sz="2400" b="0" dirty="0">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取代</a:t>
            </a:r>
            <a:r>
              <a:rPr lang="en-US" altLang="zh-CN" sz="2400" b="0" dirty="0">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5</a:t>
            </a:r>
            <a:r>
              <a:rPr lang="zh-CN" altLang="en-US" sz="2400" b="0" dirty="0">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，得</a:t>
            </a:r>
            <a:r>
              <a:rPr lang="en-US" altLang="zh-CN" sz="2400" b="0" dirty="0" err="1">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uA</a:t>
            </a:r>
            <a:r>
              <a:rPr lang="en-US" altLang="zh-CN" sz="2400" b="0" dirty="0">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(u)=</a:t>
            </a:r>
            <a:r>
              <a:rPr lang="en-US" altLang="zh-CN" sz="2400" b="0" dirty="0" err="1">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uxF</a:t>
            </a:r>
            <a:r>
              <a:rPr lang="en-US" altLang="zh-CN" sz="2400" b="0" dirty="0">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(x&gt;u)</a:t>
            </a:r>
            <a:r>
              <a:rPr lang="zh-CN" altLang="en-US" sz="2400" b="0" dirty="0">
                <a:solidFill>
                  <a:schemeClr val="tx1">
                    <a:lumMod val="95000"/>
                    <a:lumOff val="5000"/>
                  </a:schemeClr>
                </a:solidFill>
                <a:latin typeface="黑体" panose="02010609060101010101" pitchFamily="49" charset="-122"/>
                <a:ea typeface="黑体" panose="02010609060101010101" pitchFamily="49" charset="-122"/>
                <a:sym typeface="Symbol" panose="05050102010706020507" pitchFamily="18" charset="2"/>
              </a:rPr>
              <a:t>，这为真命题。 </a:t>
            </a:r>
          </a:p>
        </p:txBody>
      </p:sp>
    </p:spTree>
    <p:extLst>
      <p:ext uri="{BB962C8B-B14F-4D97-AF65-F5344CB8AC3E}">
        <p14:creationId xmlns:p14="http://schemas.microsoft.com/office/powerpoint/2010/main" val="216354586"/>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wipe(up)">
                                      <p:cBhvr>
                                        <p:cTn id="7" dur="500"/>
                                        <p:tgtEl>
                                          <p:spTgt spid="6">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up)">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wipe(up)">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wipe(up)">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wipe(up)">
                                      <p:cBhvr>
                                        <p:cTn id="27" dur="500"/>
                                        <p:tgtEl>
                                          <p:spTgt spid="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 calcmode="lin" valueType="num">
                                      <p:cBhvr>
                                        <p:cTn id="32" dur="500" fill="hold"/>
                                        <p:tgtEl>
                                          <p:spTgt spid="5"/>
                                        </p:tgtEl>
                                        <p:attrNameLst>
                                          <p:attrName>ppt_x</p:attrName>
                                        </p:attrNameLst>
                                      </p:cBhvr>
                                      <p:tavLst>
                                        <p:tav tm="0">
                                          <p:val>
                                            <p:strVal val="1+#ppt_w/2"/>
                                          </p:val>
                                        </p:tav>
                                        <p:tav tm="100000">
                                          <p:val>
                                            <p:strVal val="#ppt_x"/>
                                          </p:val>
                                        </p:tav>
                                      </p:tavLst>
                                    </p:anim>
                                    <p:anim calcmode="lin" valueType="num">
                                      <p:cBhvr>
                                        <p:cTn id="33"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uild="p"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文本框 8">
            <a:extLst>
              <a:ext uri="{FF2B5EF4-FFF2-40B4-BE49-F238E27FC236}">
                <a16:creationId xmlns:a16="http://schemas.microsoft.com/office/drawing/2014/main" id="{EBC1B4AF-6A8D-4145-ACCF-E0D34A531F6B}"/>
              </a:ext>
            </a:extLst>
          </p:cNvPr>
          <p:cNvSpPr txBox="1">
            <a:spLocks noChangeArrowheads="1"/>
          </p:cNvSpPr>
          <p:nvPr/>
        </p:nvSpPr>
        <p:spPr bwMode="auto">
          <a:xfrm>
            <a:off x="2227162" y="2844225"/>
            <a:ext cx="8269777" cy="584775"/>
          </a:xfrm>
          <a:prstGeom prst="rect">
            <a:avLst/>
          </a:prstGeom>
          <a:solidFill>
            <a:schemeClr val="bg1"/>
          </a:solidFill>
          <a:ln w="38100">
            <a:solidFill>
              <a:schemeClr val="folHlink"/>
            </a:solidFill>
            <a:miter lim="800000"/>
            <a:headEnd/>
            <a:tailEnd/>
          </a:ln>
          <a:effectLst/>
        </p:spPr>
        <p:txBody>
          <a:bodyPr wrap="square">
            <a:spAutoFit/>
          </a:bodyPr>
          <a:lstStyle>
            <a:lvl1pPr marL="342900" indent="-342900">
              <a:defRPr kumimoji="1" b="1">
                <a:solidFill>
                  <a:srgbClr val="FFFFFF"/>
                </a:solidFill>
                <a:latin typeface="" charset="0"/>
                <a:ea typeface="宋体" panose="02010600030101010101" pitchFamily="2" charset="-122"/>
              </a:defRPr>
            </a:lvl1pPr>
            <a:lvl2pPr marL="742950" indent="-285750">
              <a:defRPr kumimoji="1" b="1">
                <a:solidFill>
                  <a:srgbClr val="FFFFFF"/>
                </a:solidFill>
                <a:latin typeface="" charset="0"/>
                <a:ea typeface="宋体" panose="02010600030101010101" pitchFamily="2" charset="-122"/>
              </a:defRPr>
            </a:lvl2pPr>
            <a:lvl3pPr marL="1143000" indent="-228600">
              <a:defRPr kumimoji="1" b="1">
                <a:solidFill>
                  <a:srgbClr val="FFFFFF"/>
                </a:solidFill>
                <a:latin typeface="" charset="0"/>
                <a:ea typeface="宋体" panose="02010600030101010101" pitchFamily="2" charset="-122"/>
              </a:defRPr>
            </a:lvl3pPr>
            <a:lvl4pPr marL="1600200" indent="-228600">
              <a:defRPr kumimoji="1" b="1">
                <a:solidFill>
                  <a:srgbClr val="FFFFFF"/>
                </a:solidFill>
                <a:latin typeface="" charset="0"/>
                <a:ea typeface="宋体" panose="02010600030101010101" pitchFamily="2" charset="-122"/>
              </a:defRPr>
            </a:lvl4pPr>
            <a:lvl5pPr marL="2057400" indent="-228600">
              <a:defRPr kumimoji="1" b="1">
                <a:solidFill>
                  <a:srgbClr val="FFFFFF"/>
                </a:solidFill>
                <a:latin typeface="" charset="0"/>
                <a:ea typeface="宋体" panose="02010600030101010101" pitchFamily="2" charset="-122"/>
              </a:defRPr>
            </a:lvl5pPr>
            <a:lvl6pPr marL="25146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6pPr>
            <a:lvl7pPr marL="29718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7pPr>
            <a:lvl8pPr marL="34290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8pPr>
            <a:lvl9pPr marL="3886200" indent="-228600" eaLnBrk="0" fontAlgn="base" hangingPunct="0">
              <a:spcBef>
                <a:spcPct val="45000"/>
              </a:spcBef>
              <a:spcAft>
                <a:spcPct val="0"/>
              </a:spcAft>
              <a:buClr>
                <a:srgbClr val="99CCCC"/>
              </a:buClr>
              <a:buFont typeface="Wingdings" panose="05000000000000000000" pitchFamily="2" charset="2"/>
              <a:buChar char="q"/>
              <a:defRPr kumimoji="1" b="1">
                <a:solidFill>
                  <a:srgbClr val="FFFFFF"/>
                </a:solidFill>
                <a:latin typeface="" charset="0"/>
                <a:ea typeface="宋体" panose="02010600030101010101" pitchFamily="2" charset="-122"/>
              </a:defRPr>
            </a:lvl9pPr>
          </a:lstStyle>
          <a:p>
            <a:pPr>
              <a:spcBef>
                <a:spcPct val="50000"/>
              </a:spcBef>
              <a:buFont typeface="Wingdings" panose="05000000000000000000" pitchFamily="2" charset="2"/>
              <a:buNone/>
            </a:pPr>
            <a:r>
              <a:rPr lang="en-US" altLang="zh-CN" sz="3200" dirty="0">
                <a:solidFill>
                  <a:srgbClr val="FF0000"/>
                </a:solidFill>
              </a:rPr>
              <a:t>US, UG, ES, EG </a:t>
            </a:r>
            <a:r>
              <a:rPr lang="zh-CN" altLang="en-US" sz="3200" dirty="0">
                <a:solidFill>
                  <a:srgbClr val="FF0000"/>
                </a:solidFill>
              </a:rPr>
              <a:t>规则只能对前束范式使用！</a:t>
            </a:r>
          </a:p>
        </p:txBody>
      </p:sp>
    </p:spTree>
    <p:extLst>
      <p:ext uri="{BB962C8B-B14F-4D97-AF65-F5344CB8AC3E}">
        <p14:creationId xmlns:p14="http://schemas.microsoft.com/office/powerpoint/2010/main" val="3134041515"/>
      </p:ext>
    </p:extLst>
  </p:cSld>
  <p:clrMapOvr>
    <a:masterClrMapping/>
  </p:clrMapOvr>
  <p:transition spd="slow" advTm="0">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内容占位符 101378">
            <a:extLst>
              <a:ext uri="{FF2B5EF4-FFF2-40B4-BE49-F238E27FC236}">
                <a16:creationId xmlns:a16="http://schemas.microsoft.com/office/drawing/2014/main" id="{E599039C-B139-4FD2-B9CA-808A70A826B2}"/>
              </a:ext>
            </a:extLst>
          </p:cNvPr>
          <p:cNvSpPr txBox="1">
            <a:spLocks noChangeArrowheads="1"/>
          </p:cNvSpPr>
          <p:nvPr/>
        </p:nvSpPr>
        <p:spPr>
          <a:xfrm>
            <a:off x="1571625" y="859623"/>
            <a:ext cx="8218488" cy="48244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Clr>
                <a:schemeClr val="tx1"/>
              </a:buClr>
              <a:buFontTx/>
              <a:buNone/>
            </a:pPr>
            <a:r>
              <a:rPr lang="zh-CN" altLang="en-US" sz="2400" dirty="0">
                <a:latin typeface="Times New Roman" panose="02020603050405020304" pitchFamily="18" charset="0"/>
                <a:cs typeface="Times New Roman" panose="02020603050405020304" pitchFamily="18" charset="0"/>
              </a:rPr>
              <a:t>[1].	(1).	(</a:t>
            </a:r>
            <a:r>
              <a:rPr lang="zh-CN"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i="1" dirty="0">
                <a:latin typeface="Times New Roman" panose="02020603050405020304" pitchFamily="18" charset="0"/>
                <a:cs typeface="Times New Roman" panose="02020603050405020304" pitchFamily="18" charset="0"/>
              </a:rPr>
              <a:t>x</a:t>
            </a:r>
            <a:r>
              <a:rPr lang="zh-CN" altLang="en-US" sz="2400" dirty="0">
                <a:latin typeface="Times New Roman" panose="02020603050405020304" pitchFamily="18" charset="0"/>
                <a:cs typeface="Times New Roman" panose="02020603050405020304" pitchFamily="18" charset="0"/>
              </a:rPr>
              <a:t>)P(</a:t>
            </a:r>
            <a:r>
              <a:rPr lang="zh-CN" altLang="en-US" sz="2400" i="1" dirty="0">
                <a:latin typeface="Times New Roman" panose="02020603050405020304" pitchFamily="18" charset="0"/>
                <a:cs typeface="Times New Roman" panose="02020603050405020304" pitchFamily="18" charset="0"/>
              </a:rPr>
              <a:t>x</a:t>
            </a:r>
            <a:r>
              <a:rPr lang="zh-CN" altLang="en-US"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cs typeface="Times New Roman" panose="02020603050405020304" pitchFamily="18" charset="0"/>
              </a:rPr>
              <a:t>Q(</a:t>
            </a:r>
            <a:r>
              <a:rPr lang="zh-CN" altLang="en-US" sz="2400" i="1" dirty="0">
                <a:latin typeface="Times New Roman" panose="02020603050405020304" pitchFamily="18" charset="0"/>
                <a:cs typeface="Times New Roman" panose="02020603050405020304" pitchFamily="18" charset="0"/>
              </a:rPr>
              <a:t>x</a:t>
            </a:r>
            <a:r>
              <a:rPr lang="zh-CN" altLang="en-US" sz="2400" dirty="0">
                <a:latin typeface="Times New Roman" panose="02020603050405020304" pitchFamily="18" charset="0"/>
                <a:cs typeface="Times New Roman" panose="02020603050405020304" pitchFamily="18" charset="0"/>
              </a:rPr>
              <a:t>)	// </a:t>
            </a:r>
            <a:r>
              <a:rPr lang="en-US" altLang="zh-CN" sz="2400" dirty="0">
                <a:latin typeface="Times New Roman" panose="02020603050405020304" pitchFamily="18" charset="0"/>
                <a:cs typeface="Times New Roman" panose="02020603050405020304" pitchFamily="18" charset="0"/>
              </a:rPr>
              <a:t>P</a:t>
            </a:r>
          </a:p>
          <a:p>
            <a:pPr>
              <a:lnSpc>
                <a:spcPct val="100000"/>
              </a:lnSpc>
              <a:buClr>
                <a:schemeClr val="tx1"/>
              </a:buClr>
              <a:buFontTx/>
              <a:buNone/>
            </a:pPr>
            <a:r>
              <a:rPr lang="zh-CN" altLang="en-US" sz="2400" dirty="0">
                <a:latin typeface="Times New Roman" panose="02020603050405020304" pitchFamily="18" charset="0"/>
                <a:cs typeface="Times New Roman" panose="02020603050405020304" pitchFamily="18" charset="0"/>
              </a:rPr>
              <a:t>	          (2).	P(</a:t>
            </a:r>
            <a:r>
              <a:rPr lang="zh-CN" altLang="en-US" sz="2400" i="1" dirty="0">
                <a:latin typeface="Times New Roman" panose="02020603050405020304" pitchFamily="18" charset="0"/>
                <a:cs typeface="Times New Roman" panose="02020603050405020304" pitchFamily="18" charset="0"/>
              </a:rPr>
              <a:t>y</a:t>
            </a:r>
            <a:r>
              <a:rPr lang="zh-CN" altLang="en-US"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cs typeface="Times New Roman" panose="02020603050405020304" pitchFamily="18" charset="0"/>
              </a:rPr>
              <a:t>Q(</a:t>
            </a:r>
            <a:r>
              <a:rPr lang="zh-CN" altLang="en-US" sz="2400" i="1" dirty="0">
                <a:latin typeface="Times New Roman" panose="02020603050405020304" pitchFamily="18" charset="0"/>
                <a:cs typeface="Times New Roman" panose="02020603050405020304" pitchFamily="18" charset="0"/>
              </a:rPr>
              <a:t>y</a:t>
            </a:r>
            <a:r>
              <a:rPr lang="zh-CN" altLang="en-US" sz="2400" dirty="0">
                <a:latin typeface="Times New Roman" panose="02020603050405020304" pitchFamily="18" charset="0"/>
                <a:cs typeface="Times New Roman" panose="02020603050405020304" pitchFamily="18" charset="0"/>
              </a:rPr>
              <a:t>)              // US</a:t>
            </a:r>
          </a:p>
          <a:p>
            <a:pPr>
              <a:lnSpc>
                <a:spcPct val="100000"/>
              </a:lnSpc>
              <a:buClr>
                <a:schemeClr val="tx1"/>
              </a:buClr>
              <a:buFontTx/>
              <a:buNone/>
            </a:pPr>
            <a:r>
              <a:rPr lang="zh-CN" altLang="en-US" sz="2400" dirty="0">
                <a:solidFill>
                  <a:srgbClr val="C00000"/>
                </a:solidFill>
                <a:latin typeface="Times New Roman" panose="02020603050405020304" pitchFamily="18" charset="0"/>
                <a:cs typeface="Times New Roman" panose="02020603050405020304" pitchFamily="18" charset="0"/>
              </a:rPr>
              <a:t>量词</a:t>
            </a:r>
            <a:r>
              <a:rPr lang="zh-CN" altLang="en-US" sz="24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i="1" dirty="0">
                <a:solidFill>
                  <a:srgbClr val="C00000"/>
                </a:solidFill>
                <a:latin typeface="Times New Roman" panose="02020603050405020304" pitchFamily="18" charset="0"/>
                <a:cs typeface="Times New Roman" panose="02020603050405020304" pitchFamily="18" charset="0"/>
              </a:rPr>
              <a:t>x</a:t>
            </a:r>
            <a:r>
              <a:rPr lang="zh-CN" altLang="en-US" sz="2400" dirty="0">
                <a:solidFill>
                  <a:srgbClr val="C00000"/>
                </a:solidFill>
                <a:latin typeface="Times New Roman" panose="02020603050405020304" pitchFamily="18" charset="0"/>
                <a:cs typeface="Times New Roman" panose="02020603050405020304" pitchFamily="18" charset="0"/>
              </a:rPr>
              <a:t>的辖域为P(</a:t>
            </a:r>
            <a:r>
              <a:rPr lang="zh-CN" altLang="en-US" sz="2400" i="1" dirty="0">
                <a:solidFill>
                  <a:srgbClr val="C00000"/>
                </a:solidFill>
                <a:latin typeface="Times New Roman" panose="02020603050405020304" pitchFamily="18" charset="0"/>
                <a:cs typeface="Times New Roman" panose="02020603050405020304" pitchFamily="18" charset="0"/>
              </a:rPr>
              <a:t>x</a:t>
            </a:r>
            <a:r>
              <a:rPr lang="zh-CN" altLang="en-US" sz="2400" dirty="0">
                <a:solidFill>
                  <a:srgbClr val="C00000"/>
                </a:solidFill>
                <a:latin typeface="Times New Roman" panose="02020603050405020304" pitchFamily="18" charset="0"/>
                <a:cs typeface="Times New Roman" panose="02020603050405020304" pitchFamily="18" charset="0"/>
              </a:rPr>
              <a:t>)，而非P(</a:t>
            </a:r>
            <a:r>
              <a:rPr lang="zh-CN" altLang="en-US" sz="2400" i="1" dirty="0">
                <a:solidFill>
                  <a:srgbClr val="C00000"/>
                </a:solidFill>
                <a:latin typeface="Times New Roman" panose="02020603050405020304" pitchFamily="18" charset="0"/>
                <a:cs typeface="Times New Roman" panose="02020603050405020304" pitchFamily="18" charset="0"/>
              </a:rPr>
              <a:t>x</a:t>
            </a:r>
            <a:r>
              <a:rPr lang="zh-CN" altLang="en-US" sz="2400" dirty="0">
                <a:solidFill>
                  <a:srgbClr val="C00000"/>
                </a:solidFill>
                <a:latin typeface="Times New Roman" panose="02020603050405020304" pitchFamily="18" charset="0"/>
                <a:cs typeface="Times New Roman" panose="02020603050405020304" pitchFamily="18" charset="0"/>
              </a:rPr>
              <a:t>)</a:t>
            </a:r>
            <a:r>
              <a:rPr lang="zh-CN" altLang="en-US" sz="24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dirty="0">
                <a:solidFill>
                  <a:srgbClr val="C00000"/>
                </a:solidFill>
                <a:latin typeface="Times New Roman" panose="02020603050405020304" pitchFamily="18" charset="0"/>
                <a:cs typeface="Times New Roman" panose="02020603050405020304" pitchFamily="18" charset="0"/>
              </a:rPr>
              <a:t>Q(</a:t>
            </a:r>
            <a:r>
              <a:rPr lang="zh-CN" altLang="en-US" sz="2400" i="1" dirty="0">
                <a:solidFill>
                  <a:srgbClr val="C00000"/>
                </a:solidFill>
                <a:latin typeface="Times New Roman" panose="02020603050405020304" pitchFamily="18" charset="0"/>
                <a:cs typeface="Times New Roman" panose="02020603050405020304" pitchFamily="18" charset="0"/>
              </a:rPr>
              <a:t>x</a:t>
            </a:r>
            <a:r>
              <a:rPr lang="zh-CN" altLang="en-US" sz="2400" dirty="0">
                <a:solidFill>
                  <a:srgbClr val="C00000"/>
                </a:solidFill>
                <a:latin typeface="Times New Roman" panose="02020603050405020304" pitchFamily="18" charset="0"/>
                <a:cs typeface="Times New Roman" panose="02020603050405020304" pitchFamily="18" charset="0"/>
              </a:rPr>
              <a:t>)，所以不能直接使用全称量词消除规则。	</a:t>
            </a:r>
          </a:p>
          <a:p>
            <a:pPr>
              <a:lnSpc>
                <a:spcPct val="100000"/>
              </a:lnSpc>
              <a:buClr>
                <a:schemeClr val="tx1"/>
              </a:buClr>
              <a:buFontTx/>
              <a:buNone/>
            </a:pPr>
            <a:r>
              <a:rPr lang="zh-CN" altLang="en-US" sz="2400" dirty="0">
                <a:latin typeface="Times New Roman" panose="02020603050405020304" pitchFamily="18" charset="0"/>
                <a:cs typeface="Times New Roman" panose="02020603050405020304" pitchFamily="18" charset="0"/>
              </a:rPr>
              <a:t>[2].	(1).	P(</a:t>
            </a:r>
            <a:r>
              <a:rPr lang="zh-CN" altLang="en-US" sz="2400" i="1" dirty="0">
                <a:latin typeface="Times New Roman" panose="02020603050405020304" pitchFamily="18" charset="0"/>
                <a:cs typeface="Times New Roman" panose="02020603050405020304" pitchFamily="18" charset="0"/>
              </a:rPr>
              <a:t>a</a:t>
            </a:r>
            <a:r>
              <a:rPr lang="zh-CN" altLang="en-US"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cs typeface="Times New Roman" panose="02020603050405020304" pitchFamily="18" charset="0"/>
              </a:rPr>
              <a:t>Q(</a:t>
            </a:r>
            <a:r>
              <a:rPr lang="zh-CN" altLang="en-US" sz="2400" i="1" dirty="0">
                <a:latin typeface="Times New Roman" panose="02020603050405020304" pitchFamily="18" charset="0"/>
                <a:cs typeface="Times New Roman" panose="02020603050405020304" pitchFamily="18" charset="0"/>
              </a:rPr>
              <a:t>b</a:t>
            </a:r>
            <a:r>
              <a:rPr lang="zh-CN" altLang="en-US" sz="2400" dirty="0">
                <a:latin typeface="Times New Roman" panose="02020603050405020304" pitchFamily="18" charset="0"/>
                <a:cs typeface="Times New Roman" panose="02020603050405020304" pitchFamily="18" charset="0"/>
              </a:rPr>
              <a:t>)	// </a:t>
            </a:r>
            <a:r>
              <a:rPr lang="en-US" altLang="zh-CN" sz="2400" dirty="0">
                <a:latin typeface="Times New Roman" panose="02020603050405020304" pitchFamily="18" charset="0"/>
                <a:cs typeface="Times New Roman" panose="02020603050405020304" pitchFamily="18" charset="0"/>
              </a:rPr>
              <a:t>P</a:t>
            </a:r>
          </a:p>
          <a:p>
            <a:pPr>
              <a:lnSpc>
                <a:spcPct val="100000"/>
              </a:lnSpc>
              <a:buClr>
                <a:schemeClr val="tx1"/>
              </a:buClr>
              <a:buFontTx/>
              <a:buNone/>
            </a:pPr>
            <a:r>
              <a:rPr lang="zh-CN" altLang="en-US" sz="2400" dirty="0">
                <a:latin typeface="Times New Roman" panose="02020603050405020304" pitchFamily="18" charset="0"/>
                <a:cs typeface="Times New Roman" panose="02020603050405020304" pitchFamily="18" charset="0"/>
              </a:rPr>
              <a:t>	         (2).	(</a:t>
            </a:r>
            <a:r>
              <a:rPr lang="zh-CN"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i="1" dirty="0">
                <a:latin typeface="Times New Roman" panose="02020603050405020304" pitchFamily="18" charset="0"/>
                <a:cs typeface="Times New Roman" panose="02020603050405020304" pitchFamily="18" charset="0"/>
              </a:rPr>
              <a:t>x</a:t>
            </a:r>
            <a:r>
              <a:rPr lang="zh-CN" altLang="en-US" sz="2400" dirty="0">
                <a:latin typeface="Times New Roman" panose="02020603050405020304" pitchFamily="18" charset="0"/>
                <a:cs typeface="Times New Roman" panose="02020603050405020304" pitchFamily="18" charset="0"/>
              </a:rPr>
              <a:t>)(P(</a:t>
            </a:r>
            <a:r>
              <a:rPr lang="zh-CN" altLang="en-US" sz="2400" i="1" dirty="0">
                <a:latin typeface="Times New Roman" panose="02020603050405020304" pitchFamily="18" charset="0"/>
                <a:cs typeface="Times New Roman" panose="02020603050405020304" pitchFamily="18" charset="0"/>
              </a:rPr>
              <a:t>x</a:t>
            </a:r>
            <a:r>
              <a:rPr lang="zh-CN" altLang="en-US"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cs typeface="Times New Roman" panose="02020603050405020304" pitchFamily="18" charset="0"/>
              </a:rPr>
              <a:t>Q(</a:t>
            </a:r>
            <a:r>
              <a:rPr lang="zh-CN" altLang="en-US" sz="2400" i="1" dirty="0">
                <a:latin typeface="Times New Roman" panose="02020603050405020304" pitchFamily="18" charset="0"/>
                <a:cs typeface="Times New Roman" panose="02020603050405020304" pitchFamily="18" charset="0"/>
              </a:rPr>
              <a:t>x</a:t>
            </a:r>
            <a:r>
              <a:rPr lang="zh-CN" altLang="en-US" sz="2400" dirty="0">
                <a:latin typeface="Times New Roman" panose="02020603050405020304" pitchFamily="18" charset="0"/>
                <a:cs typeface="Times New Roman" panose="02020603050405020304" pitchFamily="18" charset="0"/>
              </a:rPr>
              <a:t>))	// EG</a:t>
            </a:r>
          </a:p>
          <a:p>
            <a:pPr>
              <a:lnSpc>
                <a:spcPct val="100000"/>
              </a:lnSpc>
              <a:buClr>
                <a:schemeClr val="tx1"/>
              </a:buClr>
              <a:buFontTx/>
              <a:buNone/>
            </a:pPr>
            <a:r>
              <a:rPr lang="zh-CN" altLang="en-US" sz="2400" dirty="0">
                <a:solidFill>
                  <a:srgbClr val="C00000"/>
                </a:solidFill>
                <a:latin typeface="Times New Roman" panose="02020603050405020304" pitchFamily="18" charset="0"/>
                <a:cs typeface="Times New Roman" panose="02020603050405020304" pitchFamily="18" charset="0"/>
              </a:rPr>
              <a:t>前提中的个体</a:t>
            </a:r>
            <a:r>
              <a:rPr lang="zh-CN" altLang="en-US" sz="2400" i="1" dirty="0">
                <a:solidFill>
                  <a:srgbClr val="C00000"/>
                </a:solidFill>
                <a:latin typeface="Times New Roman" panose="02020603050405020304" pitchFamily="18" charset="0"/>
                <a:cs typeface="Times New Roman" panose="02020603050405020304" pitchFamily="18" charset="0"/>
              </a:rPr>
              <a:t>a</a:t>
            </a:r>
            <a:r>
              <a:rPr lang="zh-CN" altLang="en-US" sz="2400" dirty="0">
                <a:solidFill>
                  <a:srgbClr val="C00000"/>
                </a:solidFill>
                <a:latin typeface="Times New Roman" panose="02020603050405020304" pitchFamily="18" charset="0"/>
                <a:cs typeface="Times New Roman" panose="02020603050405020304" pitchFamily="18" charset="0"/>
              </a:rPr>
              <a:t>和</a:t>
            </a:r>
            <a:r>
              <a:rPr lang="zh-CN" altLang="en-US" sz="2400" i="1" dirty="0">
                <a:solidFill>
                  <a:srgbClr val="C00000"/>
                </a:solidFill>
                <a:latin typeface="Times New Roman" panose="02020603050405020304" pitchFamily="18" charset="0"/>
                <a:cs typeface="Times New Roman" panose="02020603050405020304" pitchFamily="18" charset="0"/>
              </a:rPr>
              <a:t>b</a:t>
            </a:r>
            <a:r>
              <a:rPr lang="zh-CN" altLang="en-US" sz="2400" dirty="0">
                <a:solidFill>
                  <a:srgbClr val="C00000"/>
                </a:solidFill>
                <a:latin typeface="Times New Roman" panose="02020603050405020304" pitchFamily="18" charset="0"/>
                <a:cs typeface="Times New Roman" panose="02020603050405020304" pitchFamily="18" charset="0"/>
              </a:rPr>
              <a:t>不同，不能一次同时使用存在量词引入规则，正确的推理可以为：</a:t>
            </a:r>
          </a:p>
          <a:p>
            <a:pPr>
              <a:lnSpc>
                <a:spcPct val="100000"/>
              </a:lnSpc>
              <a:buClr>
                <a:schemeClr val="tx1"/>
              </a:buClr>
              <a:buFontTx/>
              <a:buNone/>
            </a:pPr>
            <a:r>
              <a:rPr lang="zh-CN" altLang="en-US" sz="2400" dirty="0">
                <a:solidFill>
                  <a:srgbClr val="C00000"/>
                </a:solidFill>
                <a:latin typeface="Times New Roman" panose="02020603050405020304" pitchFamily="18" charset="0"/>
                <a:cs typeface="Times New Roman" panose="02020603050405020304" pitchFamily="18" charset="0"/>
              </a:rPr>
              <a:t>	(1).	P(</a:t>
            </a:r>
            <a:r>
              <a:rPr lang="zh-CN" altLang="en-US" sz="2400" i="1" dirty="0">
                <a:solidFill>
                  <a:srgbClr val="C00000"/>
                </a:solidFill>
                <a:latin typeface="Times New Roman" panose="02020603050405020304" pitchFamily="18" charset="0"/>
                <a:cs typeface="Times New Roman" panose="02020603050405020304" pitchFamily="18" charset="0"/>
              </a:rPr>
              <a:t>a</a:t>
            </a:r>
            <a:r>
              <a:rPr lang="zh-CN" altLang="en-US" sz="2400" dirty="0">
                <a:solidFill>
                  <a:srgbClr val="C00000"/>
                </a:solidFill>
                <a:latin typeface="Times New Roman" panose="02020603050405020304" pitchFamily="18" charset="0"/>
                <a:cs typeface="Times New Roman" panose="02020603050405020304" pitchFamily="18" charset="0"/>
              </a:rPr>
              <a:t>)</a:t>
            </a:r>
            <a:r>
              <a:rPr lang="zh-CN" altLang="en-US" sz="24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dirty="0">
                <a:solidFill>
                  <a:srgbClr val="C00000"/>
                </a:solidFill>
                <a:latin typeface="Times New Roman" panose="02020603050405020304" pitchFamily="18" charset="0"/>
                <a:cs typeface="Times New Roman" panose="02020603050405020304" pitchFamily="18" charset="0"/>
              </a:rPr>
              <a:t>Q(</a:t>
            </a:r>
            <a:r>
              <a:rPr lang="zh-CN" altLang="en-US" sz="2400" i="1" dirty="0">
                <a:solidFill>
                  <a:srgbClr val="C00000"/>
                </a:solidFill>
                <a:latin typeface="Times New Roman" panose="02020603050405020304" pitchFamily="18" charset="0"/>
                <a:cs typeface="Times New Roman" panose="02020603050405020304" pitchFamily="18" charset="0"/>
              </a:rPr>
              <a:t>b</a:t>
            </a:r>
            <a:r>
              <a:rPr lang="zh-CN" altLang="en-US" sz="2400" dirty="0">
                <a:solidFill>
                  <a:srgbClr val="C00000"/>
                </a:solidFill>
                <a:latin typeface="Times New Roman" panose="02020603050405020304" pitchFamily="18" charset="0"/>
                <a:cs typeface="Times New Roman" panose="02020603050405020304" pitchFamily="18" charset="0"/>
              </a:rPr>
              <a:t>)	// </a:t>
            </a:r>
            <a:r>
              <a:rPr lang="en-US" altLang="zh-CN" sz="2400" dirty="0">
                <a:solidFill>
                  <a:srgbClr val="C00000"/>
                </a:solidFill>
                <a:latin typeface="Times New Roman" panose="02020603050405020304" pitchFamily="18" charset="0"/>
                <a:cs typeface="Times New Roman" panose="02020603050405020304" pitchFamily="18" charset="0"/>
              </a:rPr>
              <a:t>P</a:t>
            </a:r>
          </a:p>
          <a:p>
            <a:pPr>
              <a:lnSpc>
                <a:spcPct val="100000"/>
              </a:lnSpc>
              <a:buClr>
                <a:schemeClr val="tx1"/>
              </a:buClr>
              <a:buFontTx/>
              <a:buNone/>
            </a:pPr>
            <a:r>
              <a:rPr lang="zh-CN" altLang="en-US" sz="2400" dirty="0">
                <a:solidFill>
                  <a:srgbClr val="C00000"/>
                </a:solidFill>
                <a:latin typeface="Times New Roman" panose="02020603050405020304" pitchFamily="18" charset="0"/>
                <a:cs typeface="Times New Roman" panose="02020603050405020304" pitchFamily="18" charset="0"/>
              </a:rPr>
              <a:t>	(2).	</a:t>
            </a:r>
            <a:r>
              <a:rPr lang="zh-CN" altLang="en-US" sz="24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i="1" dirty="0">
                <a:solidFill>
                  <a:srgbClr val="C00000"/>
                </a:solidFill>
                <a:latin typeface="Times New Roman" panose="02020603050405020304" pitchFamily="18" charset="0"/>
                <a:cs typeface="Times New Roman" panose="02020603050405020304" pitchFamily="18" charset="0"/>
              </a:rPr>
              <a:t>x</a:t>
            </a:r>
            <a:r>
              <a:rPr lang="zh-CN" altLang="en-US" sz="2400" dirty="0">
                <a:solidFill>
                  <a:srgbClr val="C00000"/>
                </a:solidFill>
                <a:latin typeface="Times New Roman" panose="02020603050405020304" pitchFamily="18" charset="0"/>
                <a:cs typeface="Times New Roman" panose="02020603050405020304" pitchFamily="18" charset="0"/>
              </a:rPr>
              <a:t>(P(</a:t>
            </a:r>
            <a:r>
              <a:rPr lang="zh-CN" altLang="en-US" sz="2400" i="1" dirty="0">
                <a:solidFill>
                  <a:srgbClr val="C00000"/>
                </a:solidFill>
                <a:latin typeface="Times New Roman" panose="02020603050405020304" pitchFamily="18" charset="0"/>
                <a:cs typeface="Times New Roman" panose="02020603050405020304" pitchFamily="18" charset="0"/>
              </a:rPr>
              <a:t>x</a:t>
            </a:r>
            <a:r>
              <a:rPr lang="zh-CN" altLang="en-US" sz="2400" dirty="0">
                <a:solidFill>
                  <a:srgbClr val="C00000"/>
                </a:solidFill>
                <a:latin typeface="Times New Roman" panose="02020603050405020304" pitchFamily="18" charset="0"/>
                <a:cs typeface="Times New Roman" panose="02020603050405020304" pitchFamily="18" charset="0"/>
              </a:rPr>
              <a:t>)</a:t>
            </a:r>
            <a:r>
              <a:rPr lang="zh-CN" altLang="en-US" sz="24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dirty="0">
                <a:solidFill>
                  <a:srgbClr val="C00000"/>
                </a:solidFill>
                <a:latin typeface="Times New Roman" panose="02020603050405020304" pitchFamily="18" charset="0"/>
                <a:cs typeface="Times New Roman" panose="02020603050405020304" pitchFamily="18" charset="0"/>
              </a:rPr>
              <a:t>Q(</a:t>
            </a:r>
            <a:r>
              <a:rPr lang="zh-CN" altLang="en-US" sz="2400" i="1" dirty="0">
                <a:solidFill>
                  <a:srgbClr val="C00000"/>
                </a:solidFill>
                <a:latin typeface="Times New Roman" panose="02020603050405020304" pitchFamily="18" charset="0"/>
                <a:cs typeface="Times New Roman" panose="02020603050405020304" pitchFamily="18" charset="0"/>
              </a:rPr>
              <a:t>b</a:t>
            </a:r>
            <a:r>
              <a:rPr lang="zh-CN" altLang="en-US" sz="2400" dirty="0">
                <a:solidFill>
                  <a:srgbClr val="C00000"/>
                </a:solidFill>
                <a:latin typeface="Times New Roman" panose="02020603050405020304" pitchFamily="18" charset="0"/>
                <a:cs typeface="Times New Roman" panose="02020603050405020304" pitchFamily="18" charset="0"/>
              </a:rPr>
              <a:t>))	// EG</a:t>
            </a:r>
          </a:p>
          <a:p>
            <a:pPr>
              <a:lnSpc>
                <a:spcPct val="100000"/>
              </a:lnSpc>
              <a:buClr>
                <a:schemeClr val="tx1"/>
              </a:buClr>
              <a:buFontTx/>
              <a:buNone/>
            </a:pPr>
            <a:r>
              <a:rPr lang="zh-CN" altLang="en-US" sz="2400" dirty="0">
                <a:solidFill>
                  <a:srgbClr val="C00000"/>
                </a:solidFill>
                <a:latin typeface="Times New Roman" panose="02020603050405020304" pitchFamily="18" charset="0"/>
                <a:cs typeface="Times New Roman" panose="02020603050405020304" pitchFamily="18" charset="0"/>
              </a:rPr>
              <a:t>	(3).	</a:t>
            </a:r>
            <a:r>
              <a:rPr lang="zh-CN" altLang="en-US" sz="24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i="1" dirty="0">
                <a:solidFill>
                  <a:srgbClr val="C00000"/>
                </a:solidFill>
                <a:latin typeface="Times New Roman" panose="02020603050405020304" pitchFamily="18" charset="0"/>
                <a:cs typeface="Times New Roman" panose="02020603050405020304" pitchFamily="18" charset="0"/>
              </a:rPr>
              <a:t>y</a:t>
            </a:r>
            <a:r>
              <a:rPr lang="zh-CN" altLang="en-US" sz="24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i="1" dirty="0">
                <a:solidFill>
                  <a:srgbClr val="C00000"/>
                </a:solidFill>
                <a:latin typeface="Times New Roman" panose="02020603050405020304" pitchFamily="18" charset="0"/>
                <a:cs typeface="Times New Roman" panose="02020603050405020304" pitchFamily="18" charset="0"/>
              </a:rPr>
              <a:t>x</a:t>
            </a:r>
            <a:r>
              <a:rPr lang="zh-CN" altLang="en-US" sz="2400" dirty="0">
                <a:solidFill>
                  <a:srgbClr val="C00000"/>
                </a:solidFill>
                <a:latin typeface="Times New Roman" panose="02020603050405020304" pitchFamily="18" charset="0"/>
                <a:cs typeface="Times New Roman" panose="02020603050405020304" pitchFamily="18" charset="0"/>
              </a:rPr>
              <a:t>(P(</a:t>
            </a:r>
            <a:r>
              <a:rPr lang="zh-CN" altLang="en-US" sz="2400" i="1" dirty="0">
                <a:solidFill>
                  <a:srgbClr val="C00000"/>
                </a:solidFill>
                <a:latin typeface="Times New Roman" panose="02020603050405020304" pitchFamily="18" charset="0"/>
                <a:cs typeface="Times New Roman" panose="02020603050405020304" pitchFamily="18" charset="0"/>
              </a:rPr>
              <a:t>x</a:t>
            </a:r>
            <a:r>
              <a:rPr lang="zh-CN" altLang="en-US" sz="2400" dirty="0">
                <a:solidFill>
                  <a:srgbClr val="C00000"/>
                </a:solidFill>
                <a:latin typeface="Times New Roman" panose="02020603050405020304" pitchFamily="18" charset="0"/>
                <a:cs typeface="Times New Roman" panose="02020603050405020304" pitchFamily="18" charset="0"/>
              </a:rPr>
              <a:t>)</a:t>
            </a:r>
            <a:r>
              <a:rPr lang="zh-CN" altLang="en-US" sz="24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dirty="0">
                <a:solidFill>
                  <a:srgbClr val="C00000"/>
                </a:solidFill>
                <a:latin typeface="Times New Roman" panose="02020603050405020304" pitchFamily="18" charset="0"/>
                <a:cs typeface="Times New Roman" panose="02020603050405020304" pitchFamily="18" charset="0"/>
              </a:rPr>
              <a:t>Q(</a:t>
            </a:r>
            <a:r>
              <a:rPr lang="zh-CN" altLang="en-US" sz="2400" i="1" dirty="0">
                <a:solidFill>
                  <a:srgbClr val="C00000"/>
                </a:solidFill>
                <a:latin typeface="Times New Roman" panose="02020603050405020304" pitchFamily="18" charset="0"/>
                <a:cs typeface="Times New Roman" panose="02020603050405020304" pitchFamily="18" charset="0"/>
              </a:rPr>
              <a:t>y</a:t>
            </a:r>
            <a:r>
              <a:rPr lang="zh-CN" altLang="en-US" sz="2400" dirty="0">
                <a:solidFill>
                  <a:srgbClr val="C00000"/>
                </a:solidFill>
                <a:latin typeface="Times New Roman" panose="02020603050405020304" pitchFamily="18" charset="0"/>
                <a:cs typeface="Times New Roman" panose="02020603050405020304" pitchFamily="18" charset="0"/>
              </a:rPr>
              <a:t>))	// EG</a:t>
            </a:r>
          </a:p>
        </p:txBody>
      </p:sp>
    </p:spTree>
    <p:extLst>
      <p:ext uri="{BB962C8B-B14F-4D97-AF65-F5344CB8AC3E}">
        <p14:creationId xmlns:p14="http://schemas.microsoft.com/office/powerpoint/2010/main" val="922014491"/>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内容占位符 102402">
            <a:extLst>
              <a:ext uri="{FF2B5EF4-FFF2-40B4-BE49-F238E27FC236}">
                <a16:creationId xmlns:a16="http://schemas.microsoft.com/office/drawing/2014/main" id="{9E373C08-74FB-4F46-9B83-69BC41296F98}"/>
              </a:ext>
            </a:extLst>
          </p:cNvPr>
          <p:cNvSpPr txBox="1">
            <a:spLocks noChangeArrowheads="1"/>
          </p:cNvSpPr>
          <p:nvPr/>
        </p:nvSpPr>
        <p:spPr>
          <a:xfrm>
            <a:off x="1682318" y="1053306"/>
            <a:ext cx="8507413" cy="475138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Clr>
                <a:schemeClr val="tx1"/>
              </a:buClr>
              <a:buFontTx/>
              <a:buNone/>
            </a:pPr>
            <a:r>
              <a:rPr lang="zh-CN" altLang="en-US" sz="2400" dirty="0">
                <a:latin typeface="Times New Roman" panose="02020603050405020304" pitchFamily="18" charset="0"/>
                <a:cs typeface="Times New Roman" panose="02020603050405020304" pitchFamily="18" charset="0"/>
              </a:rPr>
              <a:t>[3].	(1).	P(</a:t>
            </a:r>
            <a:r>
              <a:rPr lang="zh-CN" altLang="en-US" sz="2400" i="1" dirty="0">
                <a:latin typeface="Times New Roman" panose="02020603050405020304" pitchFamily="18" charset="0"/>
                <a:cs typeface="Times New Roman" panose="02020603050405020304" pitchFamily="18" charset="0"/>
              </a:rPr>
              <a:t>x</a:t>
            </a:r>
            <a:r>
              <a:rPr lang="zh-CN" altLang="en-US"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cs typeface="Times New Roman" panose="02020603050405020304" pitchFamily="18" charset="0"/>
              </a:rPr>
              <a:t>Q(</a:t>
            </a:r>
            <a:r>
              <a:rPr lang="zh-CN" altLang="en-US" sz="2400" i="1" dirty="0">
                <a:latin typeface="Times New Roman" panose="02020603050405020304" pitchFamily="18" charset="0"/>
                <a:cs typeface="Times New Roman" panose="02020603050405020304" pitchFamily="18" charset="0"/>
              </a:rPr>
              <a:t>c</a:t>
            </a:r>
            <a:r>
              <a:rPr lang="zh-CN" altLang="en-US" sz="2400" dirty="0">
                <a:latin typeface="Times New Roman" panose="02020603050405020304" pitchFamily="18" charset="0"/>
                <a:cs typeface="Times New Roman" panose="02020603050405020304" pitchFamily="18" charset="0"/>
              </a:rPr>
              <a:t>)	// </a:t>
            </a:r>
            <a:r>
              <a:rPr lang="en-US" altLang="zh-CN" sz="2400" dirty="0">
                <a:latin typeface="Times New Roman" panose="02020603050405020304" pitchFamily="18" charset="0"/>
                <a:cs typeface="Times New Roman" panose="02020603050405020304" pitchFamily="18" charset="0"/>
              </a:rPr>
              <a:t>P</a:t>
            </a:r>
          </a:p>
          <a:p>
            <a:pPr>
              <a:lnSpc>
                <a:spcPct val="100000"/>
              </a:lnSpc>
              <a:buClr>
                <a:schemeClr val="tx1"/>
              </a:buClr>
              <a:buFontTx/>
              <a:buNone/>
            </a:pPr>
            <a:r>
              <a:rPr lang="zh-CN" altLang="en-US" sz="2400" dirty="0">
                <a:latin typeface="Times New Roman" panose="02020603050405020304" pitchFamily="18" charset="0"/>
                <a:cs typeface="Times New Roman" panose="02020603050405020304" pitchFamily="18" charset="0"/>
              </a:rPr>
              <a:t>	(2).	(</a:t>
            </a:r>
            <a:r>
              <a:rPr lang="zh-CN"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i="1" dirty="0">
                <a:latin typeface="Times New Roman" panose="02020603050405020304" pitchFamily="18" charset="0"/>
                <a:cs typeface="Times New Roman" panose="02020603050405020304" pitchFamily="18" charset="0"/>
              </a:rPr>
              <a:t>x</a:t>
            </a:r>
            <a:r>
              <a:rPr lang="zh-CN" altLang="en-US" sz="2400" dirty="0">
                <a:latin typeface="Times New Roman" panose="02020603050405020304" pitchFamily="18" charset="0"/>
                <a:cs typeface="Times New Roman" panose="02020603050405020304" pitchFamily="18" charset="0"/>
              </a:rPr>
              <a:t>)(P(</a:t>
            </a:r>
            <a:r>
              <a:rPr lang="zh-CN" altLang="en-US" sz="2400" i="1" dirty="0">
                <a:latin typeface="Times New Roman" panose="02020603050405020304" pitchFamily="18" charset="0"/>
                <a:cs typeface="Times New Roman" panose="02020603050405020304" pitchFamily="18" charset="0"/>
              </a:rPr>
              <a:t>x</a:t>
            </a:r>
            <a:r>
              <a:rPr lang="zh-CN" altLang="en-US"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cs typeface="Times New Roman" panose="02020603050405020304" pitchFamily="18" charset="0"/>
              </a:rPr>
              <a:t>Q(</a:t>
            </a:r>
            <a:r>
              <a:rPr lang="zh-CN" altLang="en-US" sz="2400" i="1" dirty="0">
                <a:latin typeface="Times New Roman" panose="02020603050405020304" pitchFamily="18" charset="0"/>
                <a:cs typeface="Times New Roman" panose="02020603050405020304" pitchFamily="18" charset="0"/>
              </a:rPr>
              <a:t>x</a:t>
            </a:r>
            <a:r>
              <a:rPr lang="zh-CN" altLang="en-US" sz="2400" dirty="0">
                <a:latin typeface="Times New Roman" panose="02020603050405020304" pitchFamily="18" charset="0"/>
                <a:cs typeface="Times New Roman" panose="02020603050405020304" pitchFamily="18" charset="0"/>
              </a:rPr>
              <a:t>))	// EG</a:t>
            </a:r>
          </a:p>
          <a:p>
            <a:pPr>
              <a:lnSpc>
                <a:spcPct val="100000"/>
              </a:lnSpc>
              <a:buClr>
                <a:schemeClr val="tx1"/>
              </a:buClr>
              <a:buFontTx/>
              <a:buNone/>
            </a:pPr>
            <a:r>
              <a:rPr lang="zh-CN" altLang="en-US" sz="2400" dirty="0">
                <a:latin typeface="Times New Roman" panose="02020603050405020304" pitchFamily="18" charset="0"/>
                <a:cs typeface="Times New Roman" panose="02020603050405020304" pitchFamily="18" charset="0"/>
              </a:rPr>
              <a:t>	</a:t>
            </a:r>
            <a:r>
              <a:rPr lang="zh-CN" altLang="en-US" sz="2400" dirty="0">
                <a:solidFill>
                  <a:srgbClr val="C00000"/>
                </a:solidFill>
                <a:latin typeface="Times New Roman" panose="02020603050405020304" pitchFamily="18" charset="0"/>
                <a:cs typeface="Times New Roman" panose="02020603050405020304" pitchFamily="18" charset="0"/>
              </a:rPr>
              <a:t>在使用存在量词引入规则时，替换个体</a:t>
            </a:r>
            <a:r>
              <a:rPr lang="zh-CN" altLang="en-US" sz="2400" i="1" dirty="0">
                <a:solidFill>
                  <a:srgbClr val="C00000"/>
                </a:solidFill>
                <a:latin typeface="Times New Roman" panose="02020603050405020304" pitchFamily="18" charset="0"/>
                <a:cs typeface="Times New Roman" panose="02020603050405020304" pitchFamily="18" charset="0"/>
              </a:rPr>
              <a:t>c</a:t>
            </a:r>
            <a:r>
              <a:rPr lang="zh-CN" altLang="en-US" sz="2400" dirty="0">
                <a:solidFill>
                  <a:srgbClr val="C00000"/>
                </a:solidFill>
                <a:latin typeface="Times New Roman" panose="02020603050405020304" pitchFamily="18" charset="0"/>
                <a:cs typeface="Times New Roman" panose="02020603050405020304" pitchFamily="18" charset="0"/>
              </a:rPr>
              <a:t>的变元应选择在公式中没有出现的变元符号，正确的推理是：</a:t>
            </a:r>
          </a:p>
          <a:p>
            <a:pPr>
              <a:lnSpc>
                <a:spcPct val="100000"/>
              </a:lnSpc>
              <a:buClr>
                <a:schemeClr val="tx1"/>
              </a:buClr>
              <a:buFontTx/>
              <a:buNone/>
            </a:pPr>
            <a:r>
              <a:rPr lang="zh-CN" altLang="en-US" sz="2400" dirty="0">
                <a:solidFill>
                  <a:srgbClr val="C00000"/>
                </a:solidFill>
                <a:latin typeface="Times New Roman" panose="02020603050405020304" pitchFamily="18" charset="0"/>
                <a:cs typeface="Times New Roman" panose="02020603050405020304" pitchFamily="18" charset="0"/>
              </a:rPr>
              <a:t>	(1).	P(</a:t>
            </a:r>
            <a:r>
              <a:rPr lang="zh-CN" altLang="en-US" sz="2400" i="1" dirty="0">
                <a:solidFill>
                  <a:srgbClr val="C00000"/>
                </a:solidFill>
                <a:latin typeface="Times New Roman" panose="02020603050405020304" pitchFamily="18" charset="0"/>
                <a:cs typeface="Times New Roman" panose="02020603050405020304" pitchFamily="18" charset="0"/>
              </a:rPr>
              <a:t>x</a:t>
            </a:r>
            <a:r>
              <a:rPr lang="zh-CN" altLang="en-US" sz="2400" dirty="0">
                <a:solidFill>
                  <a:srgbClr val="C00000"/>
                </a:solidFill>
                <a:latin typeface="Times New Roman" panose="02020603050405020304" pitchFamily="18" charset="0"/>
                <a:cs typeface="Times New Roman" panose="02020603050405020304" pitchFamily="18" charset="0"/>
              </a:rPr>
              <a:t>)</a:t>
            </a:r>
            <a:r>
              <a:rPr lang="zh-CN" altLang="en-US" sz="24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dirty="0">
                <a:solidFill>
                  <a:srgbClr val="C00000"/>
                </a:solidFill>
                <a:latin typeface="Times New Roman" panose="02020603050405020304" pitchFamily="18" charset="0"/>
                <a:cs typeface="Times New Roman" panose="02020603050405020304" pitchFamily="18" charset="0"/>
              </a:rPr>
              <a:t>Q(</a:t>
            </a:r>
            <a:r>
              <a:rPr lang="zh-CN" altLang="en-US" sz="2400" i="1" dirty="0">
                <a:solidFill>
                  <a:srgbClr val="C00000"/>
                </a:solidFill>
                <a:latin typeface="Times New Roman" panose="02020603050405020304" pitchFamily="18" charset="0"/>
                <a:cs typeface="Times New Roman" panose="02020603050405020304" pitchFamily="18" charset="0"/>
              </a:rPr>
              <a:t>c</a:t>
            </a:r>
            <a:r>
              <a:rPr lang="zh-CN" altLang="en-US" sz="2400" dirty="0">
                <a:solidFill>
                  <a:srgbClr val="C00000"/>
                </a:solidFill>
                <a:latin typeface="Times New Roman" panose="02020603050405020304" pitchFamily="18" charset="0"/>
                <a:cs typeface="Times New Roman" panose="02020603050405020304" pitchFamily="18" charset="0"/>
              </a:rPr>
              <a:t>)	// </a:t>
            </a:r>
            <a:r>
              <a:rPr lang="en-US" altLang="zh-CN" sz="2400" dirty="0">
                <a:solidFill>
                  <a:srgbClr val="C00000"/>
                </a:solidFill>
                <a:latin typeface="Times New Roman" panose="02020603050405020304" pitchFamily="18" charset="0"/>
                <a:cs typeface="Times New Roman" panose="02020603050405020304" pitchFamily="18" charset="0"/>
              </a:rPr>
              <a:t>P</a:t>
            </a:r>
          </a:p>
          <a:p>
            <a:pPr>
              <a:lnSpc>
                <a:spcPct val="100000"/>
              </a:lnSpc>
              <a:buClr>
                <a:schemeClr val="tx1"/>
              </a:buClr>
              <a:buFontTx/>
              <a:buNone/>
            </a:pPr>
            <a:r>
              <a:rPr lang="zh-CN" altLang="en-US" sz="2400" dirty="0">
                <a:solidFill>
                  <a:srgbClr val="C00000"/>
                </a:solidFill>
                <a:latin typeface="Times New Roman" panose="02020603050405020304" pitchFamily="18" charset="0"/>
                <a:cs typeface="Times New Roman" panose="02020603050405020304" pitchFamily="18" charset="0"/>
              </a:rPr>
              <a:t>	(2).	(</a:t>
            </a:r>
            <a:r>
              <a:rPr lang="zh-CN" altLang="en-US" sz="24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i="1" dirty="0">
                <a:solidFill>
                  <a:srgbClr val="C00000"/>
                </a:solidFill>
                <a:latin typeface="Times New Roman" panose="02020603050405020304" pitchFamily="18" charset="0"/>
                <a:cs typeface="Times New Roman" panose="02020603050405020304" pitchFamily="18" charset="0"/>
              </a:rPr>
              <a:t>y</a:t>
            </a:r>
            <a:r>
              <a:rPr lang="zh-CN" altLang="en-US" sz="2400" dirty="0">
                <a:solidFill>
                  <a:srgbClr val="C00000"/>
                </a:solidFill>
                <a:latin typeface="Times New Roman" panose="02020603050405020304" pitchFamily="18" charset="0"/>
                <a:cs typeface="Times New Roman" panose="02020603050405020304" pitchFamily="18" charset="0"/>
              </a:rPr>
              <a:t>)(P(</a:t>
            </a:r>
            <a:r>
              <a:rPr lang="zh-CN" altLang="en-US" sz="2400" i="1" dirty="0">
                <a:solidFill>
                  <a:srgbClr val="C00000"/>
                </a:solidFill>
                <a:latin typeface="Times New Roman" panose="02020603050405020304" pitchFamily="18" charset="0"/>
                <a:cs typeface="Times New Roman" panose="02020603050405020304" pitchFamily="18" charset="0"/>
              </a:rPr>
              <a:t>x</a:t>
            </a:r>
            <a:r>
              <a:rPr lang="zh-CN" altLang="en-US" sz="2400" dirty="0">
                <a:solidFill>
                  <a:srgbClr val="C00000"/>
                </a:solidFill>
                <a:latin typeface="Times New Roman" panose="02020603050405020304" pitchFamily="18" charset="0"/>
                <a:cs typeface="Times New Roman" panose="02020603050405020304" pitchFamily="18" charset="0"/>
              </a:rPr>
              <a:t>)</a:t>
            </a:r>
            <a:r>
              <a:rPr lang="zh-CN" altLang="en-US" sz="24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dirty="0">
                <a:solidFill>
                  <a:srgbClr val="C00000"/>
                </a:solidFill>
                <a:latin typeface="Times New Roman" panose="02020603050405020304" pitchFamily="18" charset="0"/>
                <a:cs typeface="Times New Roman" panose="02020603050405020304" pitchFamily="18" charset="0"/>
              </a:rPr>
              <a:t>Q(</a:t>
            </a:r>
            <a:r>
              <a:rPr lang="zh-CN" altLang="en-US" sz="2400" i="1" dirty="0">
                <a:solidFill>
                  <a:srgbClr val="C00000"/>
                </a:solidFill>
                <a:latin typeface="Times New Roman" panose="02020603050405020304" pitchFamily="18" charset="0"/>
                <a:cs typeface="Times New Roman" panose="02020603050405020304" pitchFamily="18" charset="0"/>
              </a:rPr>
              <a:t>y</a:t>
            </a:r>
            <a:r>
              <a:rPr lang="zh-CN" altLang="en-US" sz="2400" dirty="0">
                <a:solidFill>
                  <a:srgbClr val="C00000"/>
                </a:solidFill>
                <a:latin typeface="Times New Roman" panose="02020603050405020304" pitchFamily="18" charset="0"/>
                <a:cs typeface="Times New Roman" panose="02020603050405020304" pitchFamily="18" charset="0"/>
              </a:rPr>
              <a:t>))	// EG</a:t>
            </a:r>
          </a:p>
          <a:p>
            <a:pPr>
              <a:lnSpc>
                <a:spcPct val="100000"/>
              </a:lnSpc>
              <a:buClr>
                <a:schemeClr val="tx1"/>
              </a:buClr>
              <a:buFontTx/>
              <a:buNone/>
            </a:pPr>
            <a:r>
              <a:rPr lang="zh-CN" altLang="en-US" sz="2400" dirty="0">
                <a:latin typeface="Times New Roman" panose="02020603050405020304" pitchFamily="18" charset="0"/>
                <a:cs typeface="Times New Roman" panose="02020603050405020304" pitchFamily="18" charset="0"/>
              </a:rPr>
              <a:t>[4].	(1).	(</a:t>
            </a:r>
            <a:r>
              <a:rPr lang="zh-CN"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i="1" dirty="0">
                <a:latin typeface="Times New Roman" panose="02020603050405020304" pitchFamily="18" charset="0"/>
                <a:cs typeface="Times New Roman" panose="02020603050405020304" pitchFamily="18" charset="0"/>
              </a:rPr>
              <a:t>x</a:t>
            </a:r>
            <a:r>
              <a:rPr lang="zh-CN" altLang="en-US" sz="2400" dirty="0">
                <a:latin typeface="Times New Roman" panose="02020603050405020304" pitchFamily="18" charset="0"/>
                <a:cs typeface="Times New Roman" panose="02020603050405020304" pitchFamily="18" charset="0"/>
              </a:rPr>
              <a:t>)(P(</a:t>
            </a:r>
            <a:r>
              <a:rPr lang="zh-CN" altLang="en-US" sz="2400" i="1" dirty="0">
                <a:latin typeface="Times New Roman" panose="02020603050405020304" pitchFamily="18" charset="0"/>
                <a:cs typeface="Times New Roman" panose="02020603050405020304" pitchFamily="18" charset="0"/>
              </a:rPr>
              <a:t>x</a:t>
            </a:r>
            <a:r>
              <a:rPr lang="zh-CN" altLang="en-US"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cs typeface="Times New Roman" panose="02020603050405020304" pitchFamily="18" charset="0"/>
              </a:rPr>
              <a:t>Q(</a:t>
            </a:r>
            <a:r>
              <a:rPr lang="zh-CN" altLang="en-US" sz="2400" i="1" dirty="0">
                <a:latin typeface="Times New Roman" panose="02020603050405020304" pitchFamily="18" charset="0"/>
                <a:cs typeface="Times New Roman" panose="02020603050405020304" pitchFamily="18" charset="0"/>
              </a:rPr>
              <a:t>x</a:t>
            </a:r>
            <a:r>
              <a:rPr lang="zh-CN" altLang="en-US" sz="2400" dirty="0">
                <a:latin typeface="Times New Roman" panose="02020603050405020304" pitchFamily="18" charset="0"/>
                <a:cs typeface="Times New Roman" panose="02020603050405020304" pitchFamily="18" charset="0"/>
              </a:rPr>
              <a:t>))	// </a:t>
            </a:r>
            <a:r>
              <a:rPr lang="en-US" altLang="zh-CN" sz="2400" dirty="0">
                <a:latin typeface="Times New Roman" panose="02020603050405020304" pitchFamily="18" charset="0"/>
                <a:cs typeface="Times New Roman" panose="02020603050405020304" pitchFamily="18" charset="0"/>
              </a:rPr>
              <a:t>P</a:t>
            </a:r>
          </a:p>
          <a:p>
            <a:pPr>
              <a:lnSpc>
                <a:spcPct val="100000"/>
              </a:lnSpc>
              <a:buClr>
                <a:schemeClr val="tx1"/>
              </a:buClr>
              <a:buFontTx/>
              <a:buNone/>
            </a:pPr>
            <a:r>
              <a:rPr lang="zh-CN" altLang="en-US" sz="2400" dirty="0">
                <a:latin typeface="Times New Roman" panose="02020603050405020304" pitchFamily="18" charset="0"/>
                <a:cs typeface="Times New Roman" panose="02020603050405020304" pitchFamily="18" charset="0"/>
              </a:rPr>
              <a:t>	(2).	P(</a:t>
            </a:r>
            <a:r>
              <a:rPr lang="zh-CN" altLang="en-US" sz="2400" i="1" dirty="0">
                <a:latin typeface="Times New Roman" panose="02020603050405020304" pitchFamily="18" charset="0"/>
                <a:cs typeface="Times New Roman" panose="02020603050405020304" pitchFamily="18" charset="0"/>
              </a:rPr>
              <a:t>a</a:t>
            </a:r>
            <a:r>
              <a:rPr lang="zh-CN" altLang="en-US"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cs typeface="Times New Roman" panose="02020603050405020304" pitchFamily="18" charset="0"/>
              </a:rPr>
              <a:t>Q(</a:t>
            </a:r>
            <a:r>
              <a:rPr lang="zh-CN" altLang="en-US" sz="2400" i="1" dirty="0">
                <a:latin typeface="Times New Roman" panose="02020603050405020304" pitchFamily="18" charset="0"/>
                <a:cs typeface="Times New Roman" panose="02020603050405020304" pitchFamily="18" charset="0"/>
              </a:rPr>
              <a:t>b</a:t>
            </a:r>
            <a:r>
              <a:rPr lang="zh-CN" altLang="en-US" sz="2400" dirty="0">
                <a:latin typeface="Times New Roman" panose="02020603050405020304" pitchFamily="18" charset="0"/>
                <a:cs typeface="Times New Roman" panose="02020603050405020304" pitchFamily="18" charset="0"/>
              </a:rPr>
              <a:t>)	// US	</a:t>
            </a:r>
          </a:p>
          <a:p>
            <a:pPr>
              <a:lnSpc>
                <a:spcPct val="100000"/>
              </a:lnSpc>
              <a:buClr>
                <a:schemeClr val="tx1"/>
              </a:buClr>
              <a:buFontTx/>
              <a:buNone/>
            </a:pPr>
            <a:r>
              <a:rPr lang="zh-CN" altLang="en-US" sz="2400" dirty="0">
                <a:solidFill>
                  <a:srgbClr val="C00000"/>
                </a:solidFill>
                <a:latin typeface="Times New Roman" panose="02020603050405020304" pitchFamily="18" charset="0"/>
                <a:cs typeface="Times New Roman" panose="02020603050405020304" pitchFamily="18" charset="0"/>
              </a:rPr>
              <a:t>在使用量词消除规则时，应使用个体替换量词所约束的变元在公式中的所有出现，正确的推理是：</a:t>
            </a:r>
          </a:p>
          <a:p>
            <a:pPr>
              <a:lnSpc>
                <a:spcPct val="100000"/>
              </a:lnSpc>
              <a:buClr>
                <a:schemeClr val="tx1"/>
              </a:buClr>
              <a:buFontTx/>
              <a:buNone/>
            </a:pPr>
            <a:r>
              <a:rPr lang="zh-CN" altLang="en-US" sz="2400" dirty="0">
                <a:solidFill>
                  <a:srgbClr val="C00000"/>
                </a:solidFill>
                <a:latin typeface="Times New Roman" panose="02020603050405020304" pitchFamily="18" charset="0"/>
                <a:cs typeface="Times New Roman" panose="02020603050405020304" pitchFamily="18" charset="0"/>
              </a:rPr>
              <a:t>	(1).	(</a:t>
            </a:r>
            <a:r>
              <a:rPr lang="zh-CN" altLang="en-US" sz="24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i="1" dirty="0">
                <a:solidFill>
                  <a:srgbClr val="C00000"/>
                </a:solidFill>
                <a:latin typeface="Times New Roman" panose="02020603050405020304" pitchFamily="18" charset="0"/>
                <a:cs typeface="Times New Roman" panose="02020603050405020304" pitchFamily="18" charset="0"/>
              </a:rPr>
              <a:t>x</a:t>
            </a:r>
            <a:r>
              <a:rPr lang="zh-CN" altLang="en-US" sz="2400" dirty="0">
                <a:solidFill>
                  <a:srgbClr val="C00000"/>
                </a:solidFill>
                <a:latin typeface="Times New Roman" panose="02020603050405020304" pitchFamily="18" charset="0"/>
                <a:cs typeface="Times New Roman" panose="02020603050405020304" pitchFamily="18" charset="0"/>
              </a:rPr>
              <a:t>)(P(</a:t>
            </a:r>
            <a:r>
              <a:rPr lang="zh-CN" altLang="en-US" sz="2400" i="1" dirty="0">
                <a:solidFill>
                  <a:srgbClr val="C00000"/>
                </a:solidFill>
                <a:latin typeface="Times New Roman" panose="02020603050405020304" pitchFamily="18" charset="0"/>
                <a:cs typeface="Times New Roman" panose="02020603050405020304" pitchFamily="18" charset="0"/>
              </a:rPr>
              <a:t>x</a:t>
            </a:r>
            <a:r>
              <a:rPr lang="zh-CN" altLang="en-US" sz="2400" dirty="0">
                <a:solidFill>
                  <a:srgbClr val="C00000"/>
                </a:solidFill>
                <a:latin typeface="Times New Roman" panose="02020603050405020304" pitchFamily="18" charset="0"/>
                <a:cs typeface="Times New Roman" panose="02020603050405020304" pitchFamily="18" charset="0"/>
              </a:rPr>
              <a:t>)</a:t>
            </a:r>
            <a:r>
              <a:rPr lang="zh-CN" altLang="en-US" sz="24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dirty="0">
                <a:solidFill>
                  <a:srgbClr val="C00000"/>
                </a:solidFill>
                <a:latin typeface="Times New Roman" panose="02020603050405020304" pitchFamily="18" charset="0"/>
                <a:cs typeface="Times New Roman" panose="02020603050405020304" pitchFamily="18" charset="0"/>
              </a:rPr>
              <a:t>Q(</a:t>
            </a:r>
            <a:r>
              <a:rPr lang="zh-CN" altLang="en-US" sz="2400" i="1" dirty="0">
                <a:solidFill>
                  <a:srgbClr val="C00000"/>
                </a:solidFill>
                <a:latin typeface="Times New Roman" panose="02020603050405020304" pitchFamily="18" charset="0"/>
                <a:cs typeface="Times New Roman" panose="02020603050405020304" pitchFamily="18" charset="0"/>
              </a:rPr>
              <a:t>x</a:t>
            </a:r>
            <a:r>
              <a:rPr lang="zh-CN" altLang="en-US" sz="2400" dirty="0">
                <a:solidFill>
                  <a:srgbClr val="C00000"/>
                </a:solidFill>
                <a:latin typeface="Times New Roman" panose="02020603050405020304" pitchFamily="18" charset="0"/>
                <a:cs typeface="Times New Roman" panose="02020603050405020304" pitchFamily="18" charset="0"/>
              </a:rPr>
              <a:t>))	// </a:t>
            </a:r>
            <a:r>
              <a:rPr lang="en-US" altLang="zh-CN" sz="2400" dirty="0">
                <a:solidFill>
                  <a:srgbClr val="C00000"/>
                </a:solidFill>
                <a:latin typeface="Times New Roman" panose="02020603050405020304" pitchFamily="18" charset="0"/>
                <a:cs typeface="Times New Roman" panose="02020603050405020304" pitchFamily="18" charset="0"/>
              </a:rPr>
              <a:t>P</a:t>
            </a:r>
          </a:p>
          <a:p>
            <a:pPr>
              <a:lnSpc>
                <a:spcPct val="120000"/>
              </a:lnSpc>
              <a:buClr>
                <a:schemeClr val="tx1"/>
              </a:buClr>
              <a:buFontTx/>
              <a:buNone/>
            </a:pPr>
            <a:r>
              <a:rPr lang="zh-CN" altLang="en-US" sz="2400" b="1" dirty="0">
                <a:solidFill>
                  <a:srgbClr val="C00000"/>
                </a:solidFill>
              </a:rPr>
              <a:t>	(2).	P(</a:t>
            </a:r>
            <a:r>
              <a:rPr lang="zh-CN" altLang="en-US" sz="2400" b="1" i="1" dirty="0">
                <a:solidFill>
                  <a:srgbClr val="C00000"/>
                </a:solidFill>
              </a:rPr>
              <a:t>a</a:t>
            </a:r>
            <a:r>
              <a:rPr lang="zh-CN" altLang="en-US" sz="2400" b="1" dirty="0">
                <a:solidFill>
                  <a:srgbClr val="C00000"/>
                </a:solidFill>
              </a:rPr>
              <a:t>)</a:t>
            </a:r>
            <a:r>
              <a:rPr lang="zh-CN" altLang="en-US" sz="2400" b="1" dirty="0">
                <a:solidFill>
                  <a:srgbClr val="C00000"/>
                </a:solidFill>
                <a:sym typeface="Symbol" panose="05050102010706020507" pitchFamily="18" charset="2"/>
              </a:rPr>
              <a:t></a:t>
            </a:r>
            <a:r>
              <a:rPr lang="zh-CN" altLang="en-US" sz="2400" b="1" dirty="0">
                <a:solidFill>
                  <a:srgbClr val="C00000"/>
                </a:solidFill>
              </a:rPr>
              <a:t>Q(</a:t>
            </a:r>
            <a:r>
              <a:rPr lang="zh-CN" altLang="en-US" sz="2400" b="1" i="1" dirty="0">
                <a:solidFill>
                  <a:srgbClr val="C00000"/>
                </a:solidFill>
              </a:rPr>
              <a:t>a</a:t>
            </a:r>
            <a:r>
              <a:rPr lang="zh-CN" altLang="en-US" sz="2400" b="1" dirty="0">
                <a:solidFill>
                  <a:srgbClr val="C00000"/>
                </a:solidFill>
              </a:rPr>
              <a:t>)	// US</a:t>
            </a:r>
          </a:p>
        </p:txBody>
      </p:sp>
    </p:spTree>
    <p:extLst>
      <p:ext uri="{BB962C8B-B14F-4D97-AF65-F5344CB8AC3E}">
        <p14:creationId xmlns:p14="http://schemas.microsoft.com/office/powerpoint/2010/main" val="2885145484"/>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内容占位符 103426">
            <a:extLst>
              <a:ext uri="{FF2B5EF4-FFF2-40B4-BE49-F238E27FC236}">
                <a16:creationId xmlns:a16="http://schemas.microsoft.com/office/drawing/2014/main" id="{56D88706-694B-4993-8D56-974040489A07}"/>
              </a:ext>
            </a:extLst>
          </p:cNvPr>
          <p:cNvSpPr txBox="1">
            <a:spLocks noChangeArrowheads="1"/>
          </p:cNvSpPr>
          <p:nvPr/>
        </p:nvSpPr>
        <p:spPr>
          <a:xfrm>
            <a:off x="1751013" y="1190518"/>
            <a:ext cx="8229600" cy="41338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Clr>
                <a:schemeClr val="tx1"/>
              </a:buClr>
              <a:buFontTx/>
              <a:buNone/>
            </a:pPr>
            <a:r>
              <a:rPr lang="zh-CN" altLang="en-US" sz="2400" dirty="0">
                <a:latin typeface="Times New Roman" panose="02020603050405020304" pitchFamily="18" charset="0"/>
                <a:cs typeface="Times New Roman" panose="02020603050405020304" pitchFamily="18" charset="0"/>
              </a:rPr>
              <a:t>[5].(1).	(</a:t>
            </a:r>
            <a:r>
              <a:rPr lang="zh-CN"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i="1" dirty="0">
                <a:latin typeface="Times New Roman" panose="02020603050405020304" pitchFamily="18" charset="0"/>
                <a:cs typeface="Times New Roman" panose="02020603050405020304" pitchFamily="18" charset="0"/>
              </a:rPr>
              <a:t>x</a:t>
            </a:r>
            <a:r>
              <a:rPr lang="zh-CN" altLang="en-US" sz="2400" dirty="0">
                <a:latin typeface="Times New Roman" panose="02020603050405020304" pitchFamily="18" charset="0"/>
                <a:cs typeface="Times New Roman" panose="02020603050405020304" pitchFamily="18" charset="0"/>
              </a:rPr>
              <a:t>)P(</a:t>
            </a:r>
            <a:r>
              <a:rPr lang="zh-CN" altLang="en-US" sz="2400" i="1" dirty="0">
                <a:latin typeface="Times New Roman" panose="02020603050405020304" pitchFamily="18" charset="0"/>
                <a:cs typeface="Times New Roman" panose="02020603050405020304" pitchFamily="18" charset="0"/>
              </a:rPr>
              <a:t>x</a:t>
            </a:r>
            <a:r>
              <a:rPr lang="zh-CN" altLang="en-US" sz="2400" dirty="0">
                <a:latin typeface="Times New Roman" panose="02020603050405020304" pitchFamily="18" charset="0"/>
                <a:cs typeface="Times New Roman" panose="02020603050405020304" pitchFamily="18" charset="0"/>
              </a:rPr>
              <a:t>)		// </a:t>
            </a:r>
            <a:r>
              <a:rPr lang="en-US" altLang="zh-CN" sz="2400" dirty="0">
                <a:latin typeface="Times New Roman" panose="02020603050405020304" pitchFamily="18" charset="0"/>
                <a:cs typeface="Times New Roman" panose="02020603050405020304" pitchFamily="18" charset="0"/>
              </a:rPr>
              <a:t>P</a:t>
            </a:r>
          </a:p>
          <a:p>
            <a:pPr>
              <a:lnSpc>
                <a:spcPct val="100000"/>
              </a:lnSpc>
              <a:buClr>
                <a:schemeClr val="tx1"/>
              </a:buClr>
              <a:buFontTx/>
              <a:buNone/>
            </a:pPr>
            <a:r>
              <a:rPr lang="zh-CN" altLang="en-US" sz="2400" dirty="0">
                <a:latin typeface="Times New Roman" panose="02020603050405020304" pitchFamily="18" charset="0"/>
                <a:cs typeface="Times New Roman" panose="02020603050405020304" pitchFamily="18" charset="0"/>
              </a:rPr>
              <a:t>	(2).	P(</a:t>
            </a:r>
            <a:r>
              <a:rPr lang="zh-CN" altLang="en-US" sz="2400" i="1" dirty="0">
                <a:latin typeface="Times New Roman" panose="02020603050405020304" pitchFamily="18" charset="0"/>
                <a:cs typeface="Times New Roman" panose="02020603050405020304" pitchFamily="18" charset="0"/>
              </a:rPr>
              <a:t>c</a:t>
            </a:r>
            <a:r>
              <a:rPr lang="zh-CN" altLang="en-US" sz="2400" dirty="0">
                <a:latin typeface="Times New Roman" panose="02020603050405020304" pitchFamily="18" charset="0"/>
                <a:cs typeface="Times New Roman" panose="02020603050405020304" pitchFamily="18" charset="0"/>
              </a:rPr>
              <a:t>)		// ES</a:t>
            </a:r>
          </a:p>
          <a:p>
            <a:pPr>
              <a:lnSpc>
                <a:spcPct val="100000"/>
              </a:lnSpc>
              <a:buClr>
                <a:schemeClr val="tx1"/>
              </a:buClr>
              <a:buFontTx/>
              <a:buNone/>
            </a:pPr>
            <a:r>
              <a:rPr lang="zh-CN" altLang="en-US" sz="2400" dirty="0">
                <a:latin typeface="Times New Roman" panose="02020603050405020304" pitchFamily="18" charset="0"/>
                <a:cs typeface="Times New Roman" panose="02020603050405020304" pitchFamily="18" charset="0"/>
              </a:rPr>
              <a:t>	(3).	(</a:t>
            </a:r>
            <a:r>
              <a:rPr lang="zh-CN"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i="1" dirty="0">
                <a:latin typeface="Times New Roman" panose="02020603050405020304" pitchFamily="18" charset="0"/>
                <a:cs typeface="Times New Roman" panose="02020603050405020304" pitchFamily="18" charset="0"/>
              </a:rPr>
              <a:t>x</a:t>
            </a:r>
            <a:r>
              <a:rPr lang="zh-CN" altLang="en-US" sz="2400" dirty="0">
                <a:latin typeface="Times New Roman" panose="02020603050405020304" pitchFamily="18" charset="0"/>
                <a:cs typeface="Times New Roman" panose="02020603050405020304" pitchFamily="18" charset="0"/>
              </a:rPr>
              <a:t>)Q(</a:t>
            </a:r>
            <a:r>
              <a:rPr lang="zh-CN" altLang="en-US" sz="2400" i="1" dirty="0">
                <a:latin typeface="Times New Roman" panose="02020603050405020304" pitchFamily="18" charset="0"/>
                <a:cs typeface="Times New Roman" panose="02020603050405020304" pitchFamily="18" charset="0"/>
              </a:rPr>
              <a:t>x</a:t>
            </a:r>
            <a:r>
              <a:rPr lang="zh-CN" altLang="en-US" sz="2400" dirty="0">
                <a:latin typeface="Times New Roman" panose="02020603050405020304" pitchFamily="18" charset="0"/>
                <a:cs typeface="Times New Roman" panose="02020603050405020304" pitchFamily="18" charset="0"/>
              </a:rPr>
              <a:t>)		// </a:t>
            </a:r>
            <a:r>
              <a:rPr lang="en-US" altLang="zh-CN" sz="2400" dirty="0">
                <a:latin typeface="Times New Roman" panose="02020603050405020304" pitchFamily="18" charset="0"/>
                <a:cs typeface="Times New Roman" panose="02020603050405020304" pitchFamily="18" charset="0"/>
              </a:rPr>
              <a:t>P</a:t>
            </a:r>
          </a:p>
          <a:p>
            <a:pPr>
              <a:lnSpc>
                <a:spcPct val="100000"/>
              </a:lnSpc>
              <a:buClr>
                <a:schemeClr val="tx1"/>
              </a:buClr>
              <a:buFontTx/>
              <a:buNone/>
            </a:pPr>
            <a:r>
              <a:rPr lang="zh-CN" altLang="en-US" sz="2400" dirty="0">
                <a:latin typeface="Times New Roman" panose="02020603050405020304" pitchFamily="18" charset="0"/>
                <a:cs typeface="Times New Roman" panose="02020603050405020304" pitchFamily="18" charset="0"/>
              </a:rPr>
              <a:t>	(4).	Q(</a:t>
            </a:r>
            <a:r>
              <a:rPr lang="zh-CN" altLang="en-US" sz="2400" i="1" dirty="0">
                <a:latin typeface="Times New Roman" panose="02020603050405020304" pitchFamily="18" charset="0"/>
                <a:cs typeface="Times New Roman" panose="02020603050405020304" pitchFamily="18" charset="0"/>
              </a:rPr>
              <a:t>c</a:t>
            </a:r>
            <a:r>
              <a:rPr lang="zh-CN" altLang="en-US" sz="2400" dirty="0">
                <a:latin typeface="Times New Roman" panose="02020603050405020304" pitchFamily="18" charset="0"/>
                <a:cs typeface="Times New Roman" panose="02020603050405020304" pitchFamily="18" charset="0"/>
              </a:rPr>
              <a:t>)		// ES</a:t>
            </a:r>
          </a:p>
          <a:p>
            <a:pPr>
              <a:lnSpc>
                <a:spcPct val="100000"/>
              </a:lnSpc>
              <a:buClr>
                <a:schemeClr val="tx1"/>
              </a:buClr>
              <a:buFontTx/>
              <a:buNone/>
            </a:pPr>
            <a:r>
              <a:rPr lang="zh-CN" altLang="en-US" sz="2400" dirty="0">
                <a:latin typeface="Times New Roman" panose="02020603050405020304" pitchFamily="18" charset="0"/>
                <a:cs typeface="Times New Roman" panose="02020603050405020304" pitchFamily="18" charset="0"/>
              </a:rPr>
              <a:t>	</a:t>
            </a:r>
          </a:p>
          <a:p>
            <a:pPr>
              <a:lnSpc>
                <a:spcPct val="100000"/>
              </a:lnSpc>
              <a:buClr>
                <a:schemeClr val="tx1"/>
              </a:buClr>
              <a:buFontTx/>
              <a:buNone/>
            </a:pPr>
            <a:r>
              <a:rPr lang="zh-CN" altLang="en-US" sz="2400" dirty="0">
                <a:solidFill>
                  <a:srgbClr val="C00000"/>
                </a:solidFill>
                <a:latin typeface="Times New Roman" panose="02020603050405020304" pitchFamily="18" charset="0"/>
                <a:cs typeface="Times New Roman" panose="02020603050405020304" pitchFamily="18" charset="0"/>
              </a:rPr>
              <a:t>第二次使用存在量词消除规则时，所指定的特定个体应该在证明序列以前的公式中不出现，正确的推理是：</a:t>
            </a:r>
          </a:p>
          <a:p>
            <a:pPr>
              <a:lnSpc>
                <a:spcPct val="100000"/>
              </a:lnSpc>
              <a:buClr>
                <a:schemeClr val="tx1"/>
              </a:buClr>
              <a:buFontTx/>
              <a:buNone/>
            </a:pPr>
            <a:r>
              <a:rPr lang="zh-CN" altLang="en-US" sz="2400" dirty="0">
                <a:solidFill>
                  <a:srgbClr val="C00000"/>
                </a:solidFill>
                <a:latin typeface="Times New Roman" panose="02020603050405020304" pitchFamily="18" charset="0"/>
                <a:cs typeface="Times New Roman" panose="02020603050405020304" pitchFamily="18" charset="0"/>
              </a:rPr>
              <a:t>	(1).	(</a:t>
            </a:r>
            <a:r>
              <a:rPr lang="zh-CN" altLang="en-US" sz="24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i="1" dirty="0">
                <a:solidFill>
                  <a:srgbClr val="C00000"/>
                </a:solidFill>
                <a:latin typeface="Times New Roman" panose="02020603050405020304" pitchFamily="18" charset="0"/>
                <a:cs typeface="Times New Roman" panose="02020603050405020304" pitchFamily="18" charset="0"/>
              </a:rPr>
              <a:t>x</a:t>
            </a:r>
            <a:r>
              <a:rPr lang="zh-CN" altLang="en-US" sz="2400" dirty="0">
                <a:solidFill>
                  <a:srgbClr val="C00000"/>
                </a:solidFill>
                <a:latin typeface="Times New Roman" panose="02020603050405020304" pitchFamily="18" charset="0"/>
                <a:cs typeface="Times New Roman" panose="02020603050405020304" pitchFamily="18" charset="0"/>
              </a:rPr>
              <a:t>)P(</a:t>
            </a:r>
            <a:r>
              <a:rPr lang="zh-CN" altLang="en-US" sz="2400" i="1" dirty="0">
                <a:solidFill>
                  <a:srgbClr val="C00000"/>
                </a:solidFill>
                <a:latin typeface="Times New Roman" panose="02020603050405020304" pitchFamily="18" charset="0"/>
                <a:cs typeface="Times New Roman" panose="02020603050405020304" pitchFamily="18" charset="0"/>
              </a:rPr>
              <a:t>x</a:t>
            </a:r>
            <a:r>
              <a:rPr lang="zh-CN" altLang="en-US" sz="2400" dirty="0">
                <a:solidFill>
                  <a:srgbClr val="C00000"/>
                </a:solidFill>
                <a:latin typeface="Times New Roman" panose="02020603050405020304" pitchFamily="18" charset="0"/>
                <a:cs typeface="Times New Roman" panose="02020603050405020304" pitchFamily="18" charset="0"/>
              </a:rPr>
              <a:t>)		// </a:t>
            </a:r>
            <a:r>
              <a:rPr lang="en-US" altLang="zh-CN" sz="2400" dirty="0">
                <a:solidFill>
                  <a:srgbClr val="C00000"/>
                </a:solidFill>
                <a:latin typeface="Times New Roman" panose="02020603050405020304" pitchFamily="18" charset="0"/>
                <a:cs typeface="Times New Roman" panose="02020603050405020304" pitchFamily="18" charset="0"/>
              </a:rPr>
              <a:t>P</a:t>
            </a:r>
          </a:p>
          <a:p>
            <a:pPr>
              <a:lnSpc>
                <a:spcPct val="100000"/>
              </a:lnSpc>
              <a:buClr>
                <a:schemeClr val="tx1"/>
              </a:buClr>
              <a:buFontTx/>
              <a:buNone/>
            </a:pPr>
            <a:r>
              <a:rPr lang="zh-CN" altLang="en-US" sz="2400" dirty="0">
                <a:solidFill>
                  <a:srgbClr val="C00000"/>
                </a:solidFill>
                <a:latin typeface="Times New Roman" panose="02020603050405020304" pitchFamily="18" charset="0"/>
                <a:cs typeface="Times New Roman" panose="02020603050405020304" pitchFamily="18" charset="0"/>
              </a:rPr>
              <a:t>	(2).	P(</a:t>
            </a:r>
            <a:r>
              <a:rPr lang="zh-CN" altLang="en-US" sz="2400" i="1" dirty="0">
                <a:solidFill>
                  <a:srgbClr val="C00000"/>
                </a:solidFill>
                <a:latin typeface="Times New Roman" panose="02020603050405020304" pitchFamily="18" charset="0"/>
                <a:cs typeface="Times New Roman" panose="02020603050405020304" pitchFamily="18" charset="0"/>
              </a:rPr>
              <a:t>c</a:t>
            </a:r>
            <a:r>
              <a:rPr lang="zh-CN" altLang="en-US" sz="2400" dirty="0">
                <a:solidFill>
                  <a:srgbClr val="C00000"/>
                </a:solidFill>
                <a:latin typeface="Times New Roman" panose="02020603050405020304" pitchFamily="18" charset="0"/>
                <a:cs typeface="Times New Roman" panose="02020603050405020304" pitchFamily="18" charset="0"/>
              </a:rPr>
              <a:t>)		// ES</a:t>
            </a:r>
          </a:p>
          <a:p>
            <a:pPr>
              <a:lnSpc>
                <a:spcPct val="100000"/>
              </a:lnSpc>
              <a:buClr>
                <a:schemeClr val="tx1"/>
              </a:buClr>
              <a:buFontTx/>
              <a:buNone/>
            </a:pPr>
            <a:r>
              <a:rPr lang="zh-CN" altLang="en-US" sz="2400" dirty="0">
                <a:solidFill>
                  <a:srgbClr val="C00000"/>
                </a:solidFill>
                <a:latin typeface="Times New Roman" panose="02020603050405020304" pitchFamily="18" charset="0"/>
                <a:cs typeface="Times New Roman" panose="02020603050405020304" pitchFamily="18" charset="0"/>
              </a:rPr>
              <a:t>	(3).	(</a:t>
            </a:r>
            <a:r>
              <a:rPr lang="zh-CN" altLang="en-US" sz="2400" dirty="0">
                <a:solidFill>
                  <a:srgbClr val="C00000"/>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i="1" dirty="0">
                <a:solidFill>
                  <a:srgbClr val="C00000"/>
                </a:solidFill>
                <a:latin typeface="Times New Roman" panose="02020603050405020304" pitchFamily="18" charset="0"/>
                <a:cs typeface="Times New Roman" panose="02020603050405020304" pitchFamily="18" charset="0"/>
              </a:rPr>
              <a:t>x</a:t>
            </a:r>
            <a:r>
              <a:rPr lang="zh-CN" altLang="en-US" sz="2400" dirty="0">
                <a:solidFill>
                  <a:srgbClr val="C00000"/>
                </a:solidFill>
                <a:latin typeface="Times New Roman" panose="02020603050405020304" pitchFamily="18" charset="0"/>
                <a:cs typeface="Times New Roman" panose="02020603050405020304" pitchFamily="18" charset="0"/>
              </a:rPr>
              <a:t>)Q(</a:t>
            </a:r>
            <a:r>
              <a:rPr lang="zh-CN" altLang="en-US" sz="2400" i="1" dirty="0">
                <a:solidFill>
                  <a:srgbClr val="C00000"/>
                </a:solidFill>
                <a:latin typeface="Times New Roman" panose="02020603050405020304" pitchFamily="18" charset="0"/>
                <a:cs typeface="Times New Roman" panose="02020603050405020304" pitchFamily="18" charset="0"/>
              </a:rPr>
              <a:t>x</a:t>
            </a:r>
            <a:r>
              <a:rPr lang="zh-CN" altLang="en-US" sz="2400" dirty="0">
                <a:solidFill>
                  <a:srgbClr val="C00000"/>
                </a:solidFill>
                <a:latin typeface="Times New Roman" panose="02020603050405020304" pitchFamily="18" charset="0"/>
                <a:cs typeface="Times New Roman" panose="02020603050405020304" pitchFamily="18" charset="0"/>
              </a:rPr>
              <a:t>)		// </a:t>
            </a:r>
            <a:r>
              <a:rPr lang="en-US" altLang="zh-CN" sz="2400" dirty="0">
                <a:solidFill>
                  <a:srgbClr val="C00000"/>
                </a:solidFill>
                <a:latin typeface="Times New Roman" panose="02020603050405020304" pitchFamily="18" charset="0"/>
                <a:cs typeface="Times New Roman" panose="02020603050405020304" pitchFamily="18" charset="0"/>
              </a:rPr>
              <a:t>P</a:t>
            </a:r>
          </a:p>
          <a:p>
            <a:pPr>
              <a:lnSpc>
                <a:spcPct val="100000"/>
              </a:lnSpc>
              <a:buClr>
                <a:schemeClr val="tx1"/>
              </a:buClr>
              <a:buFontTx/>
              <a:buNone/>
            </a:pPr>
            <a:r>
              <a:rPr lang="zh-CN" altLang="en-US" sz="2400" dirty="0">
                <a:solidFill>
                  <a:srgbClr val="C00000"/>
                </a:solidFill>
                <a:latin typeface="Times New Roman" panose="02020603050405020304" pitchFamily="18" charset="0"/>
                <a:cs typeface="Times New Roman" panose="02020603050405020304" pitchFamily="18" charset="0"/>
              </a:rPr>
              <a:t>	(4).	Q(</a:t>
            </a:r>
            <a:r>
              <a:rPr lang="zh-CN" altLang="en-US" sz="2400" i="1" dirty="0">
                <a:solidFill>
                  <a:srgbClr val="C00000"/>
                </a:solidFill>
                <a:latin typeface="Times New Roman" panose="02020603050405020304" pitchFamily="18" charset="0"/>
                <a:cs typeface="Times New Roman" panose="02020603050405020304" pitchFamily="18" charset="0"/>
              </a:rPr>
              <a:t>d</a:t>
            </a:r>
            <a:r>
              <a:rPr lang="zh-CN" altLang="en-US" sz="2400" dirty="0">
                <a:solidFill>
                  <a:srgbClr val="C00000"/>
                </a:solidFill>
                <a:latin typeface="Times New Roman" panose="02020603050405020304" pitchFamily="18" charset="0"/>
                <a:cs typeface="Times New Roman" panose="02020603050405020304" pitchFamily="18" charset="0"/>
              </a:rPr>
              <a:t>)		// ES</a:t>
            </a:r>
          </a:p>
        </p:txBody>
      </p:sp>
    </p:spTree>
    <p:extLst>
      <p:ext uri="{BB962C8B-B14F-4D97-AF65-F5344CB8AC3E}">
        <p14:creationId xmlns:p14="http://schemas.microsoft.com/office/powerpoint/2010/main" val="1803527817"/>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内容占位符 104450">
            <a:extLst>
              <a:ext uri="{FF2B5EF4-FFF2-40B4-BE49-F238E27FC236}">
                <a16:creationId xmlns:a16="http://schemas.microsoft.com/office/drawing/2014/main" id="{8CDAA21F-F252-4090-8DC3-D87ECEEC6914}"/>
              </a:ext>
            </a:extLst>
          </p:cNvPr>
          <p:cNvSpPr txBox="1">
            <a:spLocks noChangeArrowheads="1"/>
          </p:cNvSpPr>
          <p:nvPr/>
        </p:nvSpPr>
        <p:spPr>
          <a:xfrm>
            <a:off x="1751013" y="1279295"/>
            <a:ext cx="8229600" cy="41338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Clr>
                <a:schemeClr val="tx1"/>
              </a:buClr>
              <a:buFontTx/>
              <a:buNone/>
            </a:pPr>
            <a:r>
              <a:rPr lang="zh-CN" altLang="en-US" sz="2400" dirty="0">
                <a:latin typeface="Times New Roman" panose="02020603050405020304" pitchFamily="18" charset="0"/>
                <a:cs typeface="Times New Roman" panose="02020603050405020304" pitchFamily="18" charset="0"/>
              </a:rPr>
              <a:t>[6].(1). (</a:t>
            </a:r>
            <a:r>
              <a:rPr lang="zh-CN"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i="1" dirty="0">
                <a:latin typeface="Times New Roman" panose="02020603050405020304" pitchFamily="18" charset="0"/>
                <a:cs typeface="Times New Roman" panose="02020603050405020304" pitchFamily="18" charset="0"/>
              </a:rPr>
              <a:t>x</a:t>
            </a:r>
            <a:r>
              <a:rPr lang="zh-CN" altLang="en-US"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i="1" dirty="0">
                <a:latin typeface="Times New Roman" panose="02020603050405020304" pitchFamily="18" charset="0"/>
                <a:cs typeface="Times New Roman" panose="02020603050405020304" pitchFamily="18" charset="0"/>
              </a:rPr>
              <a:t>y</a:t>
            </a:r>
            <a:r>
              <a:rPr lang="zh-CN" altLang="en-US" sz="2400" dirty="0">
                <a:latin typeface="Times New Roman" panose="02020603050405020304" pitchFamily="18" charset="0"/>
                <a:cs typeface="Times New Roman" panose="02020603050405020304" pitchFamily="18" charset="0"/>
              </a:rPr>
              <a:t>)(</a:t>
            </a:r>
            <a:r>
              <a:rPr lang="zh-CN" altLang="en-US" sz="2400" i="1" dirty="0">
                <a:latin typeface="Times New Roman" panose="02020603050405020304" pitchFamily="18" charset="0"/>
                <a:cs typeface="Times New Roman" panose="02020603050405020304" pitchFamily="18" charset="0"/>
              </a:rPr>
              <a:t>x</a:t>
            </a:r>
            <a:r>
              <a:rPr lang="zh-CN" altLang="en-US" sz="2400" dirty="0">
                <a:latin typeface="Times New Roman" panose="02020603050405020304" pitchFamily="18" charset="0"/>
                <a:cs typeface="Times New Roman" panose="02020603050405020304" pitchFamily="18" charset="0"/>
              </a:rPr>
              <a:t> &gt; </a:t>
            </a:r>
            <a:r>
              <a:rPr lang="zh-CN" altLang="en-US" sz="2400" i="1" dirty="0">
                <a:latin typeface="Times New Roman" panose="02020603050405020304" pitchFamily="18" charset="0"/>
                <a:cs typeface="Times New Roman" panose="02020603050405020304" pitchFamily="18" charset="0"/>
              </a:rPr>
              <a:t>y</a:t>
            </a:r>
            <a:r>
              <a:rPr lang="zh-CN" altLang="en-US" sz="2400" dirty="0">
                <a:latin typeface="Times New Roman" panose="02020603050405020304" pitchFamily="18" charset="0"/>
                <a:cs typeface="Times New Roman" panose="02020603050405020304" pitchFamily="18" charset="0"/>
              </a:rPr>
              <a:t>)	// </a:t>
            </a:r>
            <a:r>
              <a:rPr lang="en-US" altLang="zh-CN" sz="2400" dirty="0">
                <a:latin typeface="Times New Roman" panose="02020603050405020304" pitchFamily="18" charset="0"/>
                <a:cs typeface="Times New Roman" panose="02020603050405020304" pitchFamily="18" charset="0"/>
              </a:rPr>
              <a:t>P</a:t>
            </a:r>
          </a:p>
          <a:p>
            <a:pPr>
              <a:lnSpc>
                <a:spcPct val="120000"/>
              </a:lnSpc>
              <a:buClr>
                <a:schemeClr val="tx1"/>
              </a:buClr>
              <a:buFontTx/>
              <a:buNone/>
            </a:pPr>
            <a:r>
              <a:rPr lang="zh-CN" altLang="en-US" sz="2400" dirty="0">
                <a:latin typeface="Times New Roman" panose="02020603050405020304" pitchFamily="18" charset="0"/>
                <a:cs typeface="Times New Roman" panose="02020603050405020304" pitchFamily="18" charset="0"/>
              </a:rPr>
              <a:t>	(2).	(</a:t>
            </a:r>
            <a:r>
              <a:rPr lang="zh-CN"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i="1" dirty="0">
                <a:latin typeface="Times New Roman" panose="02020603050405020304" pitchFamily="18" charset="0"/>
                <a:cs typeface="Times New Roman" panose="02020603050405020304" pitchFamily="18" charset="0"/>
              </a:rPr>
              <a:t>y</a:t>
            </a:r>
            <a:r>
              <a:rPr lang="zh-CN" altLang="en-US" sz="2400" dirty="0">
                <a:latin typeface="Times New Roman" panose="02020603050405020304" pitchFamily="18" charset="0"/>
                <a:cs typeface="Times New Roman" panose="02020603050405020304" pitchFamily="18" charset="0"/>
              </a:rPr>
              <a:t>)(</a:t>
            </a:r>
            <a:r>
              <a:rPr lang="zh-CN" altLang="en-US" sz="2400" i="1" dirty="0">
                <a:latin typeface="Times New Roman" panose="02020603050405020304" pitchFamily="18" charset="0"/>
                <a:cs typeface="Times New Roman" panose="02020603050405020304" pitchFamily="18" charset="0"/>
              </a:rPr>
              <a:t>z</a:t>
            </a:r>
            <a:r>
              <a:rPr lang="zh-CN" altLang="en-US" sz="2400" dirty="0">
                <a:latin typeface="Times New Roman" panose="02020603050405020304" pitchFamily="18" charset="0"/>
                <a:cs typeface="Times New Roman" panose="02020603050405020304" pitchFamily="18" charset="0"/>
              </a:rPr>
              <a:t> &gt; </a:t>
            </a:r>
            <a:r>
              <a:rPr lang="zh-CN" altLang="en-US" sz="2400" i="1" dirty="0">
                <a:latin typeface="Times New Roman" panose="02020603050405020304" pitchFamily="18" charset="0"/>
                <a:cs typeface="Times New Roman" panose="02020603050405020304" pitchFamily="18" charset="0"/>
              </a:rPr>
              <a:t>y</a:t>
            </a:r>
            <a:r>
              <a:rPr lang="zh-CN" altLang="en-US" sz="2400" dirty="0">
                <a:latin typeface="Times New Roman" panose="02020603050405020304" pitchFamily="18" charset="0"/>
                <a:cs typeface="Times New Roman" panose="02020603050405020304" pitchFamily="18" charset="0"/>
              </a:rPr>
              <a:t>)	// US</a:t>
            </a:r>
          </a:p>
          <a:p>
            <a:pPr>
              <a:lnSpc>
                <a:spcPct val="120000"/>
              </a:lnSpc>
              <a:buClr>
                <a:schemeClr val="tx1"/>
              </a:buClr>
              <a:buFontTx/>
              <a:buNone/>
            </a:pPr>
            <a:r>
              <a:rPr lang="zh-CN" altLang="en-US" sz="2400" dirty="0">
                <a:latin typeface="Times New Roman" panose="02020603050405020304" pitchFamily="18" charset="0"/>
                <a:cs typeface="Times New Roman" panose="02020603050405020304" pitchFamily="18" charset="0"/>
              </a:rPr>
              <a:t>	(3).	(</a:t>
            </a:r>
            <a:r>
              <a:rPr lang="zh-CN" altLang="en-US" sz="2400" i="1" dirty="0">
                <a:latin typeface="Times New Roman" panose="02020603050405020304" pitchFamily="18" charset="0"/>
                <a:cs typeface="Times New Roman" panose="02020603050405020304" pitchFamily="18" charset="0"/>
              </a:rPr>
              <a:t>z</a:t>
            </a:r>
            <a:r>
              <a:rPr lang="zh-CN" altLang="en-US" sz="2400" dirty="0">
                <a:latin typeface="Times New Roman" panose="02020603050405020304" pitchFamily="18" charset="0"/>
                <a:cs typeface="Times New Roman" panose="02020603050405020304" pitchFamily="18" charset="0"/>
              </a:rPr>
              <a:t> &gt; </a:t>
            </a:r>
            <a:r>
              <a:rPr lang="zh-CN" altLang="en-US" sz="2400" i="1" dirty="0">
                <a:latin typeface="Times New Roman" panose="02020603050405020304" pitchFamily="18" charset="0"/>
                <a:cs typeface="Times New Roman" panose="02020603050405020304" pitchFamily="18" charset="0"/>
              </a:rPr>
              <a:t>c</a:t>
            </a:r>
            <a:r>
              <a:rPr lang="zh-CN" altLang="en-US" sz="2400" dirty="0">
                <a:latin typeface="Times New Roman" panose="02020603050405020304" pitchFamily="18" charset="0"/>
                <a:cs typeface="Times New Roman" panose="02020603050405020304" pitchFamily="18" charset="0"/>
              </a:rPr>
              <a:t>) 		// ES</a:t>
            </a:r>
          </a:p>
          <a:p>
            <a:pPr>
              <a:lnSpc>
                <a:spcPct val="120000"/>
              </a:lnSpc>
              <a:buClr>
                <a:schemeClr val="tx1"/>
              </a:buClr>
              <a:buFontTx/>
              <a:buNone/>
            </a:pPr>
            <a:r>
              <a:rPr lang="zh-CN" altLang="en-US" sz="2400" dirty="0">
                <a:latin typeface="Times New Roman" panose="02020603050405020304" pitchFamily="18" charset="0"/>
                <a:cs typeface="Times New Roman" panose="02020603050405020304" pitchFamily="18" charset="0"/>
              </a:rPr>
              <a:t>	(4).	(</a:t>
            </a:r>
            <a:r>
              <a:rPr lang="zh-CN"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zh-CN" altLang="en-US" sz="2400" i="1" dirty="0">
                <a:latin typeface="Times New Roman" panose="02020603050405020304" pitchFamily="18" charset="0"/>
                <a:cs typeface="Times New Roman" panose="02020603050405020304" pitchFamily="18" charset="0"/>
              </a:rPr>
              <a:t>x</a:t>
            </a:r>
            <a:r>
              <a:rPr lang="zh-CN" altLang="en-US" sz="2400" dirty="0">
                <a:latin typeface="Times New Roman" panose="02020603050405020304" pitchFamily="18" charset="0"/>
                <a:cs typeface="Times New Roman" panose="02020603050405020304" pitchFamily="18" charset="0"/>
              </a:rPr>
              <a:t>)(</a:t>
            </a:r>
            <a:r>
              <a:rPr lang="zh-CN" altLang="en-US" sz="2400" i="1" dirty="0">
                <a:latin typeface="Times New Roman" panose="02020603050405020304" pitchFamily="18" charset="0"/>
                <a:cs typeface="Times New Roman" panose="02020603050405020304" pitchFamily="18" charset="0"/>
              </a:rPr>
              <a:t>x</a:t>
            </a:r>
            <a:r>
              <a:rPr lang="zh-CN" altLang="en-US" sz="2400" dirty="0">
                <a:latin typeface="Times New Roman" panose="02020603050405020304" pitchFamily="18" charset="0"/>
                <a:cs typeface="Times New Roman" panose="02020603050405020304" pitchFamily="18" charset="0"/>
              </a:rPr>
              <a:t> &gt; </a:t>
            </a:r>
            <a:r>
              <a:rPr lang="zh-CN" altLang="en-US" sz="2400" i="1" dirty="0">
                <a:latin typeface="Times New Roman" panose="02020603050405020304" pitchFamily="18" charset="0"/>
                <a:cs typeface="Times New Roman" panose="02020603050405020304" pitchFamily="18" charset="0"/>
              </a:rPr>
              <a:t>c</a:t>
            </a:r>
            <a:r>
              <a:rPr lang="zh-CN" altLang="en-US" sz="2400" dirty="0">
                <a:latin typeface="Times New Roman" panose="02020603050405020304" pitchFamily="18" charset="0"/>
                <a:cs typeface="Times New Roman" panose="02020603050405020304" pitchFamily="18" charset="0"/>
              </a:rPr>
              <a:t>)	// UG</a:t>
            </a:r>
          </a:p>
          <a:p>
            <a:pPr>
              <a:lnSpc>
                <a:spcPct val="120000"/>
              </a:lnSpc>
              <a:buClr>
                <a:schemeClr val="tx1"/>
              </a:buClr>
              <a:buFontTx/>
              <a:buNone/>
            </a:pPr>
            <a:r>
              <a:rPr lang="zh-CN" altLang="en-US" sz="2400" dirty="0">
                <a:latin typeface="Times New Roman" panose="02020603050405020304" pitchFamily="18" charset="0"/>
                <a:cs typeface="Times New Roman" panose="02020603050405020304" pitchFamily="18" charset="0"/>
              </a:rPr>
              <a:t>	(5).	</a:t>
            </a:r>
            <a:r>
              <a:rPr lang="zh-CN" altLang="en-US" sz="2400" i="1" dirty="0">
                <a:latin typeface="Times New Roman" panose="02020603050405020304" pitchFamily="18" charset="0"/>
                <a:cs typeface="Times New Roman" panose="02020603050405020304" pitchFamily="18" charset="0"/>
              </a:rPr>
              <a:t>c</a:t>
            </a:r>
            <a:r>
              <a:rPr lang="zh-CN" altLang="en-US" sz="2400" dirty="0">
                <a:latin typeface="Times New Roman" panose="02020603050405020304" pitchFamily="18" charset="0"/>
                <a:cs typeface="Times New Roman" panose="02020603050405020304" pitchFamily="18" charset="0"/>
              </a:rPr>
              <a:t> &gt; </a:t>
            </a:r>
            <a:r>
              <a:rPr lang="zh-CN" altLang="en-US" sz="2400" i="1" dirty="0">
                <a:latin typeface="Times New Roman" panose="02020603050405020304" pitchFamily="18" charset="0"/>
                <a:cs typeface="Times New Roman" panose="02020603050405020304" pitchFamily="18" charset="0"/>
              </a:rPr>
              <a:t>c</a:t>
            </a:r>
            <a:r>
              <a:rPr lang="zh-CN" altLang="en-US" sz="2400" dirty="0">
                <a:latin typeface="Times New Roman" panose="02020603050405020304" pitchFamily="18" charset="0"/>
                <a:cs typeface="Times New Roman" panose="02020603050405020304" pitchFamily="18" charset="0"/>
              </a:rPr>
              <a:t>	  	// US</a:t>
            </a:r>
          </a:p>
          <a:p>
            <a:pPr>
              <a:lnSpc>
                <a:spcPct val="120000"/>
              </a:lnSpc>
              <a:buClr>
                <a:schemeClr val="tx1"/>
              </a:buClr>
              <a:buFontTx/>
              <a:buNone/>
            </a:pPr>
            <a:r>
              <a:rPr lang="zh-CN" altLang="en-US" sz="2400" dirty="0">
                <a:latin typeface="Times New Roman" panose="02020603050405020304" pitchFamily="18" charset="0"/>
                <a:cs typeface="Times New Roman" panose="02020603050405020304" pitchFamily="18" charset="0"/>
              </a:rPr>
              <a:t>	</a:t>
            </a:r>
          </a:p>
          <a:p>
            <a:pPr>
              <a:lnSpc>
                <a:spcPct val="120000"/>
              </a:lnSpc>
              <a:buClr>
                <a:schemeClr val="tx1"/>
              </a:buClr>
              <a:buFontTx/>
              <a:buNone/>
            </a:pPr>
            <a:r>
              <a:rPr lang="zh-CN" altLang="en-US" sz="2400" dirty="0">
                <a:solidFill>
                  <a:schemeClr val="accent2"/>
                </a:solidFill>
                <a:latin typeface="Times New Roman" panose="02020603050405020304" pitchFamily="18" charset="0"/>
                <a:cs typeface="Times New Roman" panose="02020603050405020304" pitchFamily="18" charset="0"/>
              </a:rPr>
              <a:t>     </a:t>
            </a:r>
            <a:r>
              <a:rPr lang="zh-CN" altLang="en-US" sz="2400" dirty="0">
                <a:solidFill>
                  <a:srgbClr val="C00000"/>
                </a:solidFill>
                <a:latin typeface="Times New Roman" panose="02020603050405020304" pitchFamily="18" charset="0"/>
                <a:cs typeface="Times New Roman" panose="02020603050405020304" pitchFamily="18" charset="0"/>
              </a:rPr>
              <a:t>由(2)得到(3)不能使用存在量词消除规则，因为(2)中含有除</a:t>
            </a:r>
            <a:r>
              <a:rPr lang="zh-CN" altLang="en-US" sz="2400" i="1" dirty="0">
                <a:solidFill>
                  <a:srgbClr val="C00000"/>
                </a:solidFill>
                <a:latin typeface="Times New Roman" panose="02020603050405020304" pitchFamily="18" charset="0"/>
                <a:cs typeface="Times New Roman" panose="02020603050405020304" pitchFamily="18" charset="0"/>
              </a:rPr>
              <a:t>y</a:t>
            </a:r>
            <a:r>
              <a:rPr lang="zh-CN" altLang="en-US" sz="2400" dirty="0">
                <a:solidFill>
                  <a:srgbClr val="C00000"/>
                </a:solidFill>
                <a:latin typeface="Times New Roman" panose="02020603050405020304" pitchFamily="18" charset="0"/>
                <a:cs typeface="Times New Roman" panose="02020603050405020304" pitchFamily="18" charset="0"/>
              </a:rPr>
              <a:t>以外的自由变元</a:t>
            </a:r>
            <a:r>
              <a:rPr lang="zh-CN" altLang="en-US" sz="2400" i="1" dirty="0">
                <a:solidFill>
                  <a:srgbClr val="C00000"/>
                </a:solidFill>
                <a:latin typeface="Times New Roman" panose="02020603050405020304" pitchFamily="18" charset="0"/>
                <a:cs typeface="Times New Roman" panose="02020603050405020304" pitchFamily="18" charset="0"/>
              </a:rPr>
              <a:t>z</a:t>
            </a:r>
            <a:r>
              <a:rPr lang="zh-CN" altLang="en-US" sz="2400" dirty="0">
                <a:solidFill>
                  <a:srgbClr val="C00000"/>
                </a:solidFill>
                <a:latin typeface="Times New Roman" panose="02020603050405020304" pitchFamily="18" charset="0"/>
                <a:cs typeface="Times New Roman" panose="02020603050405020304" pitchFamily="18" charset="0"/>
              </a:rPr>
              <a:t>。</a:t>
            </a:r>
          </a:p>
          <a:p>
            <a:pPr>
              <a:lnSpc>
                <a:spcPct val="120000"/>
              </a:lnSpc>
              <a:buClr>
                <a:schemeClr val="tx1"/>
              </a:buClr>
              <a:buFontTx/>
              <a:buNone/>
            </a:pPr>
            <a:endParaRPr lang="zh-CN" altLang="en-US" sz="2400" dirty="0">
              <a:solidFill>
                <a:schemeClr val="accent2"/>
              </a:solidFill>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038863587"/>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6" name="文本占位符 95234">
            <a:extLst>
              <a:ext uri="{FF2B5EF4-FFF2-40B4-BE49-F238E27FC236}">
                <a16:creationId xmlns:a16="http://schemas.microsoft.com/office/drawing/2014/main" id="{103FA444-2F5A-46E8-AA9B-A1CF13AE869D}"/>
              </a:ext>
            </a:extLst>
          </p:cNvPr>
          <p:cNvSpPr txBox="1">
            <a:spLocks noChangeArrowheads="1"/>
          </p:cNvSpPr>
          <p:nvPr/>
        </p:nvSpPr>
        <p:spPr>
          <a:xfrm>
            <a:off x="1655686" y="738188"/>
            <a:ext cx="10116104" cy="44640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Clr>
                <a:schemeClr val="tx1"/>
              </a:buClr>
              <a:buFontTx/>
              <a:buNone/>
            </a:pPr>
            <a:r>
              <a:rPr lang="zh-CN" altLang="en-US" sz="2000" dirty="0">
                <a:solidFill>
                  <a:srgbClr val="FF0000"/>
                </a:solidFill>
                <a:latin typeface="Times New Roman" panose="02020603050405020304" pitchFamily="18" charset="0"/>
                <a:cs typeface="Times New Roman" panose="02020603050405020304" pitchFamily="18" charset="0"/>
              </a:rPr>
              <a:t>多个量词的谓词公式的推理？</a:t>
            </a:r>
          </a:p>
          <a:p>
            <a:pPr>
              <a:lnSpc>
                <a:spcPct val="120000"/>
              </a:lnSpc>
              <a:buClr>
                <a:schemeClr val="tx1"/>
              </a:buClr>
              <a:buFontTx/>
              <a:buNone/>
            </a:pPr>
            <a:r>
              <a:rPr lang="en-US" altLang="zh-CN" dirty="0">
                <a:latin typeface="Times New Roman" panose="02020603050405020304" pitchFamily="18" charset="0"/>
                <a:cs typeface="Times New Roman" panose="02020603050405020304" pitchFamily="18" charset="0"/>
              </a:rPr>
              <a:t>(1).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p>
          <a:p>
            <a:pPr>
              <a:lnSpc>
                <a:spcPct val="120000"/>
              </a:lnSpc>
              <a:buClr>
                <a:schemeClr val="tx1"/>
              </a:buClr>
              <a:buNone/>
            </a:pPr>
            <a:r>
              <a:rPr lang="en-US" altLang="zh-CN" dirty="0">
                <a:latin typeface="Times New Roman" panose="02020603050405020304" pitchFamily="18" charset="0"/>
                <a:cs typeface="Times New Roman" panose="02020603050405020304" pitchFamily="18" charset="0"/>
              </a:rPr>
              <a:t>(2).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a:t>
            </a:r>
          </a:p>
          <a:p>
            <a:pPr>
              <a:lnSpc>
                <a:spcPct val="120000"/>
              </a:lnSpc>
              <a:buClr>
                <a:schemeClr val="tx1"/>
              </a:buClr>
              <a:buNone/>
            </a:pPr>
            <a:r>
              <a:rPr lang="en-US" altLang="zh-CN" dirty="0">
                <a:latin typeface="Times New Roman" panose="02020603050405020304" pitchFamily="18" charset="0"/>
                <a:cs typeface="Times New Roman" panose="02020603050405020304" pitchFamily="18" charset="0"/>
              </a:rPr>
              <a:t>(3).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a:t>
            </a:r>
          </a:p>
          <a:p>
            <a:pPr>
              <a:lnSpc>
                <a:spcPct val="120000"/>
              </a:lnSpc>
              <a:buClr>
                <a:schemeClr val="tx1"/>
              </a:buClr>
              <a:buNone/>
            </a:pPr>
            <a:r>
              <a:rPr lang="en-US" altLang="zh-CN" dirty="0">
                <a:latin typeface="Times New Roman" panose="02020603050405020304" pitchFamily="18" charset="0"/>
                <a:cs typeface="Times New Roman" panose="02020603050405020304" pitchFamily="18" charset="0"/>
              </a:rPr>
              <a:t>(4).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a:t>
            </a:r>
          </a:p>
          <a:p>
            <a:pPr>
              <a:lnSpc>
                <a:spcPct val="120000"/>
              </a:lnSpc>
              <a:buClr>
                <a:schemeClr val="tx1"/>
              </a:buClr>
              <a:buNone/>
            </a:pPr>
            <a:r>
              <a:rPr lang="en-US" altLang="zh-CN" dirty="0">
                <a:latin typeface="Times New Roman" panose="02020603050405020304" pitchFamily="18" charset="0"/>
                <a:cs typeface="Times New Roman" panose="02020603050405020304" pitchFamily="18" charset="0"/>
              </a:rPr>
              <a:t>(5).</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endParaRPr lang="zh-CN" altLang="en-US" dirty="0">
              <a:solidFill>
                <a:srgbClr val="FF0000"/>
              </a:solidFill>
              <a:latin typeface="Times New Roman" panose="02020603050405020304" pitchFamily="18" charset="0"/>
              <a:cs typeface="Times New Roman" panose="02020603050405020304" pitchFamily="18" charset="0"/>
            </a:endParaRPr>
          </a:p>
          <a:p>
            <a:pPr>
              <a:lnSpc>
                <a:spcPct val="120000"/>
              </a:lnSpc>
              <a:buClr>
                <a:schemeClr val="tx1"/>
              </a:buClr>
              <a:buFontTx/>
              <a:buNone/>
            </a:pPr>
            <a:r>
              <a:rPr lang="en-US" altLang="zh-CN" dirty="0">
                <a:latin typeface="Times New Roman" panose="02020603050405020304" pitchFamily="18" charset="0"/>
                <a:cs typeface="Times New Roman" panose="02020603050405020304" pitchFamily="18" charset="0"/>
              </a:rPr>
              <a:t>(6).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p>
          <a:p>
            <a:pPr>
              <a:lnSpc>
                <a:spcPct val="120000"/>
              </a:lnSpc>
              <a:buClr>
                <a:schemeClr val="tx1"/>
              </a:buClr>
              <a:buFontTx/>
              <a:buNone/>
            </a:pPr>
            <a:r>
              <a:rPr lang="en-US" altLang="zh-CN" dirty="0">
                <a:latin typeface="Times New Roman" panose="02020603050405020304" pitchFamily="18" charset="0"/>
                <a:cs typeface="Times New Roman" panose="02020603050405020304" pitchFamily="18" charset="0"/>
              </a:rPr>
              <a:t>(7).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yx</a:t>
            </a:r>
            <a:r>
              <a:rPr lang="en-US" altLang="zh-CN" dirty="0" err="1">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xy</a:t>
            </a:r>
            <a:r>
              <a:rPr lang="en-US" altLang="zh-CN" dirty="0" err="1">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xy</a:t>
            </a:r>
            <a:r>
              <a:rPr lang="en-US" altLang="zh-CN" dirty="0" err="1">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yx</a:t>
            </a:r>
            <a:r>
              <a:rPr lang="en-US" altLang="zh-CN" dirty="0" err="1">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(x, y) </a:t>
            </a:r>
          </a:p>
          <a:p>
            <a:pPr>
              <a:lnSpc>
                <a:spcPct val="120000"/>
              </a:lnSpc>
              <a:buClr>
                <a:schemeClr val="tx1"/>
              </a:buClr>
              <a:buFontTx/>
              <a:buNone/>
            </a:pPr>
            <a:r>
              <a:rPr lang="en-US" altLang="zh-CN" dirty="0">
                <a:latin typeface="Times New Roman" panose="02020603050405020304" pitchFamily="18" charset="0"/>
                <a:cs typeface="Times New Roman" panose="02020603050405020304" pitchFamily="18" charset="0"/>
              </a:rPr>
              <a:t>(8).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yG</a:t>
            </a:r>
            <a:r>
              <a:rPr lang="en-US" altLang="zh-CN" dirty="0">
                <a:latin typeface="Times New Roman" panose="02020603050405020304" pitchFamily="18" charset="0"/>
                <a:cs typeface="Times New Roman" panose="02020603050405020304" pitchFamily="18" charset="0"/>
              </a:rPr>
              <a:t>(x, y) </a:t>
            </a:r>
          </a:p>
          <a:p>
            <a:pPr>
              <a:lnSpc>
                <a:spcPct val="120000"/>
              </a:lnSpc>
              <a:buClr>
                <a:schemeClr val="tx1"/>
              </a:buClr>
              <a:buNone/>
            </a:pPr>
            <a:r>
              <a:rPr lang="en-US" altLang="zh-CN" dirty="0">
                <a:latin typeface="Times New Roman" panose="02020603050405020304" pitchFamily="18" charset="0"/>
                <a:cs typeface="Times New Roman" panose="02020603050405020304" pitchFamily="18" charset="0"/>
              </a:rPr>
              <a:t>(9).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xy</a:t>
            </a:r>
            <a:r>
              <a:rPr lang="en-US" altLang="zh-CN" dirty="0" err="1">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xy</a:t>
            </a:r>
            <a:r>
              <a:rPr lang="en-US" altLang="zh-CN" dirty="0" err="1">
                <a:latin typeface="Times New Roman" panose="02020603050405020304" pitchFamily="18" charset="0"/>
                <a:cs typeface="Times New Roman" panose="02020603050405020304" pitchFamily="18" charset="0"/>
              </a:rPr>
              <a:t>G</a:t>
            </a:r>
            <a:r>
              <a:rPr lang="en-US" altLang="zh-CN" dirty="0">
                <a:latin typeface="Times New Roman" panose="02020603050405020304" pitchFamily="18" charset="0"/>
                <a:cs typeface="Times New Roman" panose="02020603050405020304" pitchFamily="18" charset="0"/>
              </a:rPr>
              <a:t>(x, y) </a:t>
            </a:r>
            <a:r>
              <a:rPr lang="en-US" altLang="zh-CN"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dirty="0" err="1">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xG</a:t>
            </a:r>
            <a:r>
              <a:rPr lang="en-US" altLang="zh-CN" dirty="0">
                <a:latin typeface="Times New Roman" panose="02020603050405020304" pitchFamily="18" charset="0"/>
                <a:cs typeface="Times New Roman" panose="02020603050405020304" pitchFamily="18" charset="0"/>
              </a:rPr>
              <a:t>(x, y) </a:t>
            </a:r>
          </a:p>
          <a:p>
            <a:pPr>
              <a:lnSpc>
                <a:spcPct val="120000"/>
              </a:lnSpc>
              <a:buClr>
                <a:schemeClr val="tx1"/>
              </a:buClr>
              <a:buFontTx/>
              <a:buNone/>
            </a:pPr>
            <a:endParaRPr lang="en-US" altLang="zh-CN" dirty="0">
              <a:latin typeface="Times New Roman" panose="02020603050405020304" pitchFamily="18" charset="0"/>
              <a:cs typeface="Times New Roman" panose="02020603050405020304" pitchFamily="18" charset="0"/>
            </a:endParaRPr>
          </a:p>
          <a:p>
            <a:pPr>
              <a:lnSpc>
                <a:spcPct val="120000"/>
              </a:lnSpc>
              <a:buClr>
                <a:schemeClr val="tx1"/>
              </a:buClr>
              <a:buFontTx/>
              <a:buNone/>
            </a:pPr>
            <a:endParaRPr lang="zh-CN" altLang="en-US" sz="2000" dirty="0">
              <a:solidFill>
                <a:srgbClr val="FF33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926155"/>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文本占位符 105474">
            <a:extLst>
              <a:ext uri="{FF2B5EF4-FFF2-40B4-BE49-F238E27FC236}">
                <a16:creationId xmlns:a16="http://schemas.microsoft.com/office/drawing/2014/main" id="{E327FD8F-9D68-4A1A-9CFF-48EA52B2F6CD}"/>
              </a:ext>
            </a:extLst>
          </p:cNvPr>
          <p:cNvSpPr txBox="1">
            <a:spLocks noChangeArrowheads="1"/>
          </p:cNvSpPr>
          <p:nvPr/>
        </p:nvSpPr>
        <p:spPr>
          <a:xfrm>
            <a:off x="1751013" y="1163884"/>
            <a:ext cx="8229600" cy="41338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Clr>
                <a:schemeClr val="tx1"/>
              </a:buClr>
              <a:buFontTx/>
              <a:buNone/>
            </a:pPr>
            <a:r>
              <a:rPr lang="zh-CN" altLang="en-US" sz="3200" dirty="0">
                <a:solidFill>
                  <a:srgbClr val="FF0000"/>
                </a:solidFill>
                <a:latin typeface="Times New Roman" panose="02020603050405020304" pitchFamily="18" charset="0"/>
                <a:cs typeface="Times New Roman" panose="02020603050405020304" pitchFamily="18" charset="0"/>
              </a:rPr>
              <a:t>推理方法</a:t>
            </a:r>
          </a:p>
          <a:p>
            <a:pPr>
              <a:lnSpc>
                <a:spcPct val="120000"/>
              </a:lnSpc>
              <a:buClr>
                <a:schemeClr val="tx1"/>
              </a:buClr>
              <a:buFontTx/>
              <a:buNone/>
            </a:pPr>
            <a:endParaRPr lang="zh-CN" altLang="en-US" sz="3200" dirty="0">
              <a:latin typeface="Times New Roman" panose="02020603050405020304" pitchFamily="18" charset="0"/>
              <a:cs typeface="Times New Roman" panose="02020603050405020304" pitchFamily="18" charset="0"/>
            </a:endParaRPr>
          </a:p>
          <a:p>
            <a:pPr>
              <a:lnSpc>
                <a:spcPct val="120000"/>
              </a:lnSpc>
              <a:buClr>
                <a:schemeClr val="tx1"/>
              </a:buClr>
              <a:buFontTx/>
              <a:buNone/>
            </a:pPr>
            <a:r>
              <a:rPr lang="zh-CN" altLang="en-US" sz="3200" dirty="0">
                <a:latin typeface="Times New Roman" panose="02020603050405020304" pitchFamily="18" charset="0"/>
                <a:cs typeface="Times New Roman" panose="02020603050405020304" pitchFamily="18" charset="0"/>
              </a:rPr>
              <a:t>直接法 、</a:t>
            </a:r>
            <a:r>
              <a:rPr lang="en-US" altLang="zh-CN" sz="3200" dirty="0">
                <a:latin typeface="Times New Roman" panose="02020603050405020304" pitchFamily="18" charset="0"/>
                <a:cs typeface="Times New Roman" panose="02020603050405020304" pitchFamily="18" charset="0"/>
              </a:rPr>
              <a:t>CP</a:t>
            </a:r>
            <a:r>
              <a:rPr lang="zh-CN" altLang="en-US" sz="3200" dirty="0">
                <a:latin typeface="Times New Roman" panose="02020603050405020304" pitchFamily="18" charset="0"/>
                <a:cs typeface="Times New Roman" panose="02020603050405020304" pitchFamily="18" charset="0"/>
              </a:rPr>
              <a:t>规则</a:t>
            </a:r>
          </a:p>
          <a:p>
            <a:pPr>
              <a:lnSpc>
                <a:spcPct val="120000"/>
              </a:lnSpc>
              <a:buClr>
                <a:schemeClr val="tx1"/>
              </a:buClr>
              <a:buFontTx/>
              <a:buNone/>
            </a:pPr>
            <a:endParaRPr lang="zh-CN" altLang="en-US" sz="3200" dirty="0">
              <a:latin typeface="Times New Roman" panose="02020603050405020304" pitchFamily="18" charset="0"/>
              <a:cs typeface="Times New Roman" panose="02020603050405020304" pitchFamily="18" charset="0"/>
            </a:endParaRPr>
          </a:p>
          <a:p>
            <a:pPr>
              <a:lnSpc>
                <a:spcPct val="120000"/>
              </a:lnSpc>
              <a:buClr>
                <a:schemeClr val="tx1"/>
              </a:buClr>
              <a:buFontTx/>
              <a:buNone/>
            </a:pPr>
            <a:r>
              <a:rPr lang="zh-CN" altLang="en-US" sz="3200" dirty="0">
                <a:latin typeface="Times New Roman" panose="02020603050405020304" pitchFamily="18" charset="0"/>
                <a:cs typeface="Times New Roman" panose="02020603050405020304" pitchFamily="18" charset="0"/>
              </a:rPr>
              <a:t>间接法（反证法）</a:t>
            </a:r>
          </a:p>
        </p:txBody>
      </p:sp>
    </p:spTree>
    <p:extLst>
      <p:ext uri="{BB962C8B-B14F-4D97-AF65-F5344CB8AC3E}">
        <p14:creationId xmlns:p14="http://schemas.microsoft.com/office/powerpoint/2010/main" val="814208622"/>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内容占位符 106498">
            <a:extLst>
              <a:ext uri="{FF2B5EF4-FFF2-40B4-BE49-F238E27FC236}">
                <a16:creationId xmlns:a16="http://schemas.microsoft.com/office/drawing/2014/main" id="{A01D9BA4-B676-42BC-AA74-366BAD2F1415}"/>
              </a:ext>
            </a:extLst>
          </p:cNvPr>
          <p:cNvSpPr txBox="1">
            <a:spLocks noChangeArrowheads="1"/>
          </p:cNvSpPr>
          <p:nvPr/>
        </p:nvSpPr>
        <p:spPr>
          <a:xfrm>
            <a:off x="1751013" y="959698"/>
            <a:ext cx="8435975" cy="453548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Tx/>
              <a:buNone/>
            </a:pPr>
            <a:r>
              <a:rPr lang="zh-CN" altLang="en-US" sz="2400" dirty="0">
                <a:solidFill>
                  <a:srgbClr val="000000"/>
                </a:solidFill>
                <a:latin typeface="+mn-ea"/>
                <a:cs typeface="Times New Roman" panose="02020603050405020304" pitchFamily="18" charset="0"/>
              </a:rPr>
              <a:t> </a:t>
            </a:r>
            <a:r>
              <a:rPr lang="zh-CN" altLang="en-US" sz="2400" dirty="0">
                <a:solidFill>
                  <a:srgbClr val="000000"/>
                </a:solidFill>
                <a:latin typeface="+mn-ea"/>
              </a:rPr>
              <a:t>证明苏格拉底三段论：“人都是要死的，苏格拉底是人，所以苏格拉底是要死的。”</a:t>
            </a:r>
          </a:p>
          <a:p>
            <a:pPr>
              <a:lnSpc>
                <a:spcPct val="120000"/>
              </a:lnSpc>
              <a:buFontTx/>
              <a:buNone/>
            </a:pPr>
            <a:r>
              <a:rPr lang="zh-CN" altLang="en-US" sz="2400" dirty="0">
                <a:solidFill>
                  <a:srgbClr val="0033CC"/>
                </a:solidFill>
                <a:latin typeface="+mn-ea"/>
              </a:rPr>
              <a:t>解</a:t>
            </a:r>
            <a:r>
              <a:rPr lang="zh-CN" altLang="en-US" sz="2400" dirty="0">
                <a:latin typeface="+mn-ea"/>
              </a:rPr>
              <a:t>  个体域取全总个体域，令</a:t>
            </a:r>
            <a:r>
              <a:rPr lang="en-US" altLang="zh-CN" sz="2400" dirty="0">
                <a:latin typeface="+mn-ea"/>
              </a:rPr>
              <a:t>F(x)</a:t>
            </a:r>
            <a:r>
              <a:rPr lang="zh-CN" altLang="en-US" sz="2400" dirty="0">
                <a:latin typeface="+mn-ea"/>
              </a:rPr>
              <a:t>：</a:t>
            </a:r>
            <a:r>
              <a:rPr lang="en-US" altLang="zh-CN" sz="2400" dirty="0">
                <a:latin typeface="+mn-ea"/>
              </a:rPr>
              <a:t>x</a:t>
            </a:r>
            <a:r>
              <a:rPr lang="zh-CN" altLang="en-US" sz="2400" dirty="0">
                <a:latin typeface="+mn-ea"/>
              </a:rPr>
              <a:t>是人，</a:t>
            </a:r>
            <a:r>
              <a:rPr lang="en-US" altLang="zh-CN" sz="2400" dirty="0">
                <a:latin typeface="+mn-ea"/>
              </a:rPr>
              <a:t>G(x)</a:t>
            </a:r>
            <a:r>
              <a:rPr lang="zh-CN" altLang="en-US" sz="2400" dirty="0">
                <a:latin typeface="+mn-ea"/>
              </a:rPr>
              <a:t>：</a:t>
            </a:r>
            <a:r>
              <a:rPr lang="en-US" altLang="zh-CN" sz="2400" dirty="0">
                <a:latin typeface="+mn-ea"/>
              </a:rPr>
              <a:t>x</a:t>
            </a:r>
            <a:r>
              <a:rPr lang="zh-CN" altLang="en-US" sz="2400" dirty="0">
                <a:latin typeface="+mn-ea"/>
              </a:rPr>
              <a:t>是要死的，</a:t>
            </a:r>
            <a:r>
              <a:rPr lang="en-US" altLang="zh-CN" sz="2400" dirty="0">
                <a:latin typeface="+mn-ea"/>
              </a:rPr>
              <a:t>a:</a:t>
            </a:r>
            <a:r>
              <a:rPr lang="zh-CN" altLang="en-US" sz="2400" dirty="0">
                <a:latin typeface="+mn-ea"/>
              </a:rPr>
              <a:t>苏格拉底，则</a:t>
            </a:r>
          </a:p>
          <a:p>
            <a:pPr>
              <a:lnSpc>
                <a:spcPct val="120000"/>
              </a:lnSpc>
              <a:buFontTx/>
              <a:buNone/>
            </a:pPr>
            <a:r>
              <a:rPr lang="zh-CN" altLang="en-US" sz="2400" dirty="0">
                <a:latin typeface="+mn-ea"/>
              </a:rPr>
              <a:t>  </a:t>
            </a:r>
            <a:r>
              <a:rPr lang="zh-CN" altLang="en-US" sz="2400" dirty="0">
                <a:solidFill>
                  <a:srgbClr val="0033CC"/>
                </a:solidFill>
                <a:latin typeface="+mn-ea"/>
              </a:rPr>
              <a:t>前提</a:t>
            </a:r>
            <a:r>
              <a:rPr lang="zh-CN" altLang="en-US" sz="2400" dirty="0">
                <a:latin typeface="+mn-ea"/>
              </a:rPr>
              <a:t>：</a:t>
            </a:r>
            <a:r>
              <a:rPr lang="zh-CN" altLang="en-US" sz="2400" dirty="0">
                <a:latin typeface="+mn-ea"/>
                <a:sym typeface="Symbol" panose="05050102010706020507" pitchFamily="18" charset="2"/>
              </a:rPr>
              <a:t></a:t>
            </a:r>
            <a:r>
              <a:rPr lang="en-US" altLang="zh-CN" sz="2400" dirty="0">
                <a:latin typeface="+mn-ea"/>
              </a:rPr>
              <a:t>x(F(x)</a:t>
            </a:r>
            <a:r>
              <a:rPr lang="en-US" altLang="zh-CN" sz="2400" dirty="0">
                <a:latin typeface="+mn-ea"/>
                <a:sym typeface="Symbol" panose="05050102010706020507" pitchFamily="18" charset="2"/>
              </a:rPr>
              <a:t></a:t>
            </a:r>
            <a:r>
              <a:rPr lang="en-US" altLang="zh-CN" sz="2400" dirty="0">
                <a:latin typeface="+mn-ea"/>
              </a:rPr>
              <a:t>G(x)), F(a)</a:t>
            </a:r>
          </a:p>
          <a:p>
            <a:pPr>
              <a:lnSpc>
                <a:spcPct val="120000"/>
              </a:lnSpc>
              <a:buFontTx/>
              <a:buNone/>
            </a:pPr>
            <a:r>
              <a:rPr lang="en-US" altLang="zh-CN" sz="2400" dirty="0">
                <a:latin typeface="+mn-ea"/>
              </a:rPr>
              <a:t>  </a:t>
            </a:r>
            <a:r>
              <a:rPr lang="zh-CN" altLang="en-US" sz="2400" dirty="0">
                <a:solidFill>
                  <a:srgbClr val="0033CC"/>
                </a:solidFill>
                <a:latin typeface="+mn-ea"/>
              </a:rPr>
              <a:t>结论</a:t>
            </a:r>
            <a:r>
              <a:rPr lang="zh-CN" altLang="en-US" sz="2400" dirty="0">
                <a:latin typeface="+mn-ea"/>
              </a:rPr>
              <a:t>：</a:t>
            </a:r>
            <a:r>
              <a:rPr lang="en-US" altLang="zh-CN" sz="2400" dirty="0">
                <a:latin typeface="+mn-ea"/>
              </a:rPr>
              <a:t>G(a)</a:t>
            </a:r>
          </a:p>
          <a:p>
            <a:pPr>
              <a:lnSpc>
                <a:spcPct val="120000"/>
              </a:lnSpc>
              <a:buFontTx/>
              <a:buNone/>
            </a:pPr>
            <a:r>
              <a:rPr lang="en-US" altLang="zh-CN" sz="2400" dirty="0">
                <a:latin typeface="+mn-ea"/>
              </a:rPr>
              <a:t>  </a:t>
            </a:r>
            <a:r>
              <a:rPr lang="zh-CN" altLang="en-US" sz="2400" dirty="0">
                <a:solidFill>
                  <a:srgbClr val="0033CC"/>
                </a:solidFill>
                <a:latin typeface="+mn-ea"/>
              </a:rPr>
              <a:t>推理形式</a:t>
            </a:r>
            <a:r>
              <a:rPr lang="zh-CN" altLang="en-US" sz="2400" dirty="0">
                <a:latin typeface="+mn-ea"/>
              </a:rPr>
              <a:t>：</a:t>
            </a:r>
            <a:r>
              <a:rPr lang="zh-CN" altLang="en-US" sz="2400" dirty="0">
                <a:latin typeface="+mn-ea"/>
                <a:sym typeface="Symbol" panose="05050102010706020507" pitchFamily="18" charset="2"/>
              </a:rPr>
              <a:t></a:t>
            </a:r>
            <a:r>
              <a:rPr lang="en-US" altLang="zh-CN" sz="2400" dirty="0">
                <a:latin typeface="+mn-ea"/>
              </a:rPr>
              <a:t>x(F(x)</a:t>
            </a:r>
            <a:r>
              <a:rPr lang="en-US" altLang="zh-CN" sz="2400" dirty="0">
                <a:latin typeface="+mn-ea"/>
                <a:sym typeface="Symbol" panose="05050102010706020507" pitchFamily="18" charset="2"/>
              </a:rPr>
              <a:t></a:t>
            </a:r>
            <a:r>
              <a:rPr lang="en-US" altLang="zh-CN" sz="2400" dirty="0">
                <a:latin typeface="+mn-ea"/>
              </a:rPr>
              <a:t>G(x)), F(a)</a:t>
            </a:r>
            <a:r>
              <a:rPr lang="en-US" altLang="zh-CN" sz="2400" dirty="0">
                <a:latin typeface="+mn-ea"/>
                <a:sym typeface="Symbol" panose="05050102010706020507" pitchFamily="18" charset="2"/>
              </a:rPr>
              <a:t></a:t>
            </a:r>
            <a:r>
              <a:rPr lang="en-US" altLang="zh-CN" sz="2400" dirty="0">
                <a:latin typeface="+mn-ea"/>
              </a:rPr>
              <a:t>G(a)</a:t>
            </a:r>
          </a:p>
          <a:p>
            <a:pPr>
              <a:lnSpc>
                <a:spcPct val="120000"/>
              </a:lnSpc>
              <a:buFontTx/>
              <a:buNone/>
            </a:pPr>
            <a:r>
              <a:rPr lang="en-US" altLang="zh-CN" sz="2400" dirty="0">
                <a:latin typeface="+mn-ea"/>
              </a:rPr>
              <a:t>  (1) F(a) 		  P</a:t>
            </a:r>
          </a:p>
          <a:p>
            <a:pPr>
              <a:lnSpc>
                <a:spcPct val="120000"/>
              </a:lnSpc>
              <a:buFontTx/>
              <a:buNone/>
            </a:pPr>
            <a:r>
              <a:rPr lang="en-US" altLang="zh-CN" sz="2400" dirty="0">
                <a:latin typeface="+mn-ea"/>
              </a:rPr>
              <a:t>  (3) </a:t>
            </a:r>
            <a:r>
              <a:rPr lang="en-US" altLang="zh-CN" sz="2400" dirty="0">
                <a:latin typeface="+mn-ea"/>
                <a:sym typeface="Symbol" panose="05050102010706020507" pitchFamily="18" charset="2"/>
              </a:rPr>
              <a:t></a:t>
            </a:r>
            <a:r>
              <a:rPr lang="en-US" altLang="zh-CN" sz="2400" dirty="0">
                <a:latin typeface="+mn-ea"/>
              </a:rPr>
              <a:t>x(F(x)</a:t>
            </a:r>
            <a:r>
              <a:rPr lang="en-US" altLang="zh-CN" sz="2400" dirty="0">
                <a:latin typeface="+mn-ea"/>
                <a:sym typeface="Symbol" panose="05050102010706020507" pitchFamily="18" charset="2"/>
              </a:rPr>
              <a:t></a:t>
            </a:r>
            <a:r>
              <a:rPr lang="en-US" altLang="zh-CN" sz="2400" dirty="0">
                <a:latin typeface="+mn-ea"/>
              </a:rPr>
              <a:t>G(x))   P</a:t>
            </a:r>
          </a:p>
          <a:p>
            <a:pPr>
              <a:lnSpc>
                <a:spcPct val="120000"/>
              </a:lnSpc>
              <a:buFontTx/>
              <a:buNone/>
            </a:pPr>
            <a:r>
              <a:rPr lang="en-US" altLang="zh-CN" sz="2400" dirty="0">
                <a:latin typeface="+mn-ea"/>
              </a:rPr>
              <a:t>  (2) F(a)</a:t>
            </a:r>
            <a:r>
              <a:rPr lang="en-US" altLang="zh-CN" sz="2400" dirty="0">
                <a:latin typeface="+mn-ea"/>
                <a:sym typeface="Symbol" panose="05050102010706020507" pitchFamily="18" charset="2"/>
              </a:rPr>
              <a:t></a:t>
            </a:r>
            <a:r>
              <a:rPr lang="en-US" altLang="zh-CN" sz="2400" dirty="0">
                <a:latin typeface="+mn-ea"/>
              </a:rPr>
              <a:t>G(a)       US,(1)</a:t>
            </a:r>
          </a:p>
          <a:p>
            <a:pPr>
              <a:lnSpc>
                <a:spcPct val="120000"/>
              </a:lnSpc>
              <a:buFontTx/>
              <a:buNone/>
            </a:pPr>
            <a:r>
              <a:rPr lang="en-US" altLang="zh-CN" sz="2400" dirty="0">
                <a:latin typeface="+mn-ea"/>
              </a:rPr>
              <a:t>  (4) G(a)             T,I,(2),(3)</a:t>
            </a:r>
          </a:p>
        </p:txBody>
      </p:sp>
    </p:spTree>
    <p:extLst>
      <p:ext uri="{BB962C8B-B14F-4D97-AF65-F5344CB8AC3E}">
        <p14:creationId xmlns:p14="http://schemas.microsoft.com/office/powerpoint/2010/main" val="3920174077"/>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linds(horizontal)">
                                      <p:cBhvr>
                                        <p:cTn id="7" dur="500"/>
                                        <p:tgtEl>
                                          <p:spTgt spid="4">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blinds(horizontal)">
                                      <p:cBhvr>
                                        <p:cTn id="10" dur="500"/>
                                        <p:tgtEl>
                                          <p:spTgt spid="4">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blinds(horizontal)">
                                      <p:cBhvr>
                                        <p:cTn id="13" dur="500"/>
                                        <p:tgtEl>
                                          <p:spTgt spid="4">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blinds(horizontal)">
                                      <p:cBhvr>
                                        <p:cTn id="16" dur="500"/>
                                        <p:tgtEl>
                                          <p:spTgt spid="4">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8" presetClass="entr" presetSubtype="16"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animEffect transition="in" filter="diamond(in)">
                                      <p:cBhvr>
                                        <p:cTn id="21" dur="2000"/>
                                        <p:tgtEl>
                                          <p:spTgt spid="4">
                                            <p:txEl>
                                              <p:pRg st="5" end="5"/>
                                            </p:txEl>
                                          </p:spTgt>
                                        </p:tgtEl>
                                      </p:cBhvr>
                                    </p:animEffect>
                                  </p:childTnLst>
                                </p:cTn>
                              </p:par>
                              <p:par>
                                <p:cTn id="22" presetID="8" presetClass="entr" presetSubtype="16" fill="hold" nodeType="withEffect">
                                  <p:stCondLst>
                                    <p:cond delay="0"/>
                                  </p:stCondLst>
                                  <p:childTnLst>
                                    <p:set>
                                      <p:cBhvr>
                                        <p:cTn id="23" dur="1" fill="hold">
                                          <p:stCondLst>
                                            <p:cond delay="0"/>
                                          </p:stCondLst>
                                        </p:cTn>
                                        <p:tgtEl>
                                          <p:spTgt spid="4">
                                            <p:txEl>
                                              <p:pRg st="6" end="6"/>
                                            </p:txEl>
                                          </p:spTgt>
                                        </p:tgtEl>
                                        <p:attrNameLst>
                                          <p:attrName>style.visibility</p:attrName>
                                        </p:attrNameLst>
                                      </p:cBhvr>
                                      <p:to>
                                        <p:strVal val="visible"/>
                                      </p:to>
                                    </p:set>
                                    <p:animEffect transition="in" filter="diamond(in)">
                                      <p:cBhvr>
                                        <p:cTn id="24" dur="2000"/>
                                        <p:tgtEl>
                                          <p:spTgt spid="4">
                                            <p:txEl>
                                              <p:pRg st="6" end="6"/>
                                            </p:txEl>
                                          </p:spTgt>
                                        </p:tgtEl>
                                      </p:cBhvr>
                                    </p:animEffect>
                                  </p:childTnLst>
                                </p:cTn>
                              </p:par>
                              <p:par>
                                <p:cTn id="25" presetID="8" presetClass="entr" presetSubtype="16" fill="hold"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animEffect transition="in" filter="diamond(in)">
                                      <p:cBhvr>
                                        <p:cTn id="27" dur="2000"/>
                                        <p:tgtEl>
                                          <p:spTgt spid="4">
                                            <p:txEl>
                                              <p:pRg st="7" end="7"/>
                                            </p:txEl>
                                          </p:spTgt>
                                        </p:tgtEl>
                                      </p:cBhvr>
                                    </p:animEffect>
                                  </p:childTnLst>
                                </p:cTn>
                              </p:par>
                              <p:par>
                                <p:cTn id="28" presetID="8" presetClass="entr" presetSubtype="16" fill="hold" nodeType="withEffect">
                                  <p:stCondLst>
                                    <p:cond delay="0"/>
                                  </p:stCondLst>
                                  <p:childTnLst>
                                    <p:set>
                                      <p:cBhvr>
                                        <p:cTn id="29" dur="1" fill="hold">
                                          <p:stCondLst>
                                            <p:cond delay="0"/>
                                          </p:stCondLst>
                                        </p:cTn>
                                        <p:tgtEl>
                                          <p:spTgt spid="4">
                                            <p:txEl>
                                              <p:pRg st="8" end="8"/>
                                            </p:txEl>
                                          </p:spTgt>
                                        </p:tgtEl>
                                        <p:attrNameLst>
                                          <p:attrName>style.visibility</p:attrName>
                                        </p:attrNameLst>
                                      </p:cBhvr>
                                      <p:to>
                                        <p:strVal val="visible"/>
                                      </p:to>
                                    </p:set>
                                    <p:animEffect transition="in" filter="diamond(in)">
                                      <p:cBhvr>
                                        <p:cTn id="30"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内容占位符 107522">
            <a:extLst>
              <a:ext uri="{FF2B5EF4-FFF2-40B4-BE49-F238E27FC236}">
                <a16:creationId xmlns:a16="http://schemas.microsoft.com/office/drawing/2014/main" id="{12B062DE-81F2-4E45-ABF8-34FA41BC8D62}"/>
              </a:ext>
            </a:extLst>
          </p:cNvPr>
          <p:cNvSpPr txBox="1">
            <a:spLocks noChangeArrowheads="1"/>
          </p:cNvSpPr>
          <p:nvPr/>
        </p:nvSpPr>
        <p:spPr>
          <a:xfrm>
            <a:off x="1751013" y="1303507"/>
            <a:ext cx="8229600" cy="46085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tx1"/>
              </a:buClr>
              <a:buFontTx/>
              <a:buNone/>
            </a:pPr>
            <a:r>
              <a:rPr lang="zh-CN" altLang="en-US" dirty="0">
                <a:solidFill>
                  <a:srgbClr val="FF0000"/>
                </a:solidFill>
                <a:latin typeface="+mn-ea"/>
              </a:rPr>
              <a:t> </a:t>
            </a:r>
            <a:r>
              <a:rPr lang="zh-CN" altLang="en-US" dirty="0">
                <a:latin typeface="+mn-ea"/>
              </a:rPr>
              <a:t>将下列推理符号化并给出形式证明</a:t>
            </a:r>
            <a:r>
              <a:rPr lang="en-US" altLang="zh-CN" dirty="0">
                <a:latin typeface="+mn-ea"/>
              </a:rPr>
              <a:t>:</a:t>
            </a:r>
          </a:p>
          <a:p>
            <a:pPr>
              <a:buFontTx/>
              <a:buNone/>
            </a:pPr>
            <a:r>
              <a:rPr lang="en-US" altLang="zh-CN" dirty="0">
                <a:latin typeface="+mn-ea"/>
              </a:rPr>
              <a:t>  </a:t>
            </a:r>
            <a:r>
              <a:rPr lang="zh-CN" altLang="en-US" dirty="0">
                <a:latin typeface="+mn-ea"/>
              </a:rPr>
              <a:t>晚会上所有人都唱歌或跳舞了，因此或者所有人都唱歌了，或者有些人跳舞了。（个体域为参加晚会的人）</a:t>
            </a:r>
          </a:p>
          <a:p>
            <a:pPr>
              <a:buFontTx/>
              <a:buNone/>
            </a:pPr>
            <a:endParaRPr lang="zh-CN" altLang="en-US" dirty="0">
              <a:latin typeface="+mn-ea"/>
            </a:endParaRPr>
          </a:p>
          <a:p>
            <a:pPr>
              <a:lnSpc>
                <a:spcPct val="120000"/>
              </a:lnSpc>
              <a:buClr>
                <a:srgbClr val="FF0000"/>
              </a:buClr>
              <a:buFontTx/>
              <a:buNone/>
            </a:pPr>
            <a:r>
              <a:rPr lang="zh-CN" altLang="en-US" dirty="0">
                <a:solidFill>
                  <a:srgbClr val="FF0000"/>
                </a:solidFill>
                <a:latin typeface="+mn-ea"/>
              </a:rPr>
              <a:t>解</a:t>
            </a:r>
            <a:r>
              <a:rPr lang="zh-CN" altLang="en-US" dirty="0">
                <a:latin typeface="+mn-ea"/>
              </a:rPr>
              <a:t>  设</a:t>
            </a:r>
            <a:r>
              <a:rPr lang="en-US" altLang="zh-CN" dirty="0">
                <a:latin typeface="+mn-ea"/>
              </a:rPr>
              <a:t>P(x)</a:t>
            </a:r>
            <a:r>
              <a:rPr lang="zh-CN" altLang="en-US" dirty="0">
                <a:latin typeface="+mn-ea"/>
              </a:rPr>
              <a:t>：</a:t>
            </a:r>
            <a:r>
              <a:rPr lang="en-US" altLang="zh-CN" dirty="0">
                <a:latin typeface="+mn-ea"/>
              </a:rPr>
              <a:t>x</a:t>
            </a:r>
            <a:r>
              <a:rPr lang="zh-CN" altLang="en-US" dirty="0">
                <a:latin typeface="+mn-ea"/>
              </a:rPr>
              <a:t>唱歌了，</a:t>
            </a:r>
            <a:r>
              <a:rPr lang="en-US" altLang="zh-CN" dirty="0">
                <a:latin typeface="+mn-ea"/>
              </a:rPr>
              <a:t>Q(x)</a:t>
            </a:r>
            <a:r>
              <a:rPr lang="zh-CN" altLang="en-US" dirty="0">
                <a:latin typeface="+mn-ea"/>
              </a:rPr>
              <a:t>：</a:t>
            </a:r>
            <a:r>
              <a:rPr lang="en-US" altLang="zh-CN" dirty="0">
                <a:latin typeface="+mn-ea"/>
              </a:rPr>
              <a:t>x</a:t>
            </a:r>
            <a:r>
              <a:rPr lang="zh-CN" altLang="en-US" dirty="0">
                <a:latin typeface="+mn-ea"/>
              </a:rPr>
              <a:t>跳舞了，则</a:t>
            </a:r>
          </a:p>
          <a:p>
            <a:pPr>
              <a:lnSpc>
                <a:spcPct val="120000"/>
              </a:lnSpc>
              <a:buClr>
                <a:srgbClr val="FF0000"/>
              </a:buClr>
              <a:buFontTx/>
              <a:buNone/>
            </a:pPr>
            <a:r>
              <a:rPr lang="zh-CN" altLang="en-US" dirty="0">
                <a:solidFill>
                  <a:srgbClr val="0033CC"/>
                </a:solidFill>
                <a:latin typeface="+mn-ea"/>
              </a:rPr>
              <a:t>前提：</a:t>
            </a:r>
            <a:r>
              <a:rPr lang="zh-CN" altLang="en-US" dirty="0">
                <a:latin typeface="+mn-ea"/>
                <a:sym typeface="Symbol" panose="05050102010706020507" pitchFamily="18" charset="2"/>
              </a:rPr>
              <a:t></a:t>
            </a:r>
            <a:r>
              <a:rPr lang="en-US" altLang="zh-CN" dirty="0">
                <a:latin typeface="+mn-ea"/>
              </a:rPr>
              <a:t>x(P(x)</a:t>
            </a:r>
            <a:r>
              <a:rPr lang="en-US" altLang="zh-CN" dirty="0">
                <a:latin typeface="+mn-ea"/>
                <a:sym typeface="Symbol" panose="05050102010706020507" pitchFamily="18" charset="2"/>
              </a:rPr>
              <a:t></a:t>
            </a:r>
            <a:r>
              <a:rPr lang="en-US" altLang="zh-CN" dirty="0">
                <a:latin typeface="+mn-ea"/>
              </a:rPr>
              <a:t>Q(x))</a:t>
            </a:r>
          </a:p>
          <a:p>
            <a:pPr>
              <a:lnSpc>
                <a:spcPct val="120000"/>
              </a:lnSpc>
              <a:buClr>
                <a:srgbClr val="FF0000"/>
              </a:buClr>
              <a:buFontTx/>
              <a:buNone/>
            </a:pPr>
            <a:r>
              <a:rPr lang="zh-CN" altLang="en-US" dirty="0">
                <a:solidFill>
                  <a:srgbClr val="0033CC"/>
                </a:solidFill>
                <a:latin typeface="+mn-ea"/>
              </a:rPr>
              <a:t>结论</a:t>
            </a:r>
            <a:r>
              <a:rPr lang="zh-CN" altLang="en-US" dirty="0">
                <a:latin typeface="+mn-ea"/>
              </a:rPr>
              <a:t>：</a:t>
            </a:r>
            <a:r>
              <a:rPr lang="zh-CN" altLang="en-US" dirty="0">
                <a:latin typeface="+mn-ea"/>
                <a:sym typeface="Symbol" panose="05050102010706020507" pitchFamily="18" charset="2"/>
              </a:rPr>
              <a:t></a:t>
            </a:r>
            <a:r>
              <a:rPr lang="en-US" altLang="zh-CN" dirty="0" err="1">
                <a:latin typeface="+mn-ea"/>
              </a:rPr>
              <a:t>xP</a:t>
            </a:r>
            <a:r>
              <a:rPr lang="en-US" altLang="zh-CN" dirty="0">
                <a:latin typeface="+mn-ea"/>
              </a:rPr>
              <a:t>(x)</a:t>
            </a:r>
            <a:r>
              <a:rPr lang="en-US" altLang="zh-CN" dirty="0">
                <a:latin typeface="+mn-ea"/>
                <a:sym typeface="Symbol" panose="05050102010706020507" pitchFamily="18" charset="2"/>
              </a:rPr>
              <a:t></a:t>
            </a:r>
            <a:r>
              <a:rPr lang="en-US" altLang="zh-CN" dirty="0" err="1">
                <a:latin typeface="+mn-ea"/>
              </a:rPr>
              <a:t>xQ</a:t>
            </a:r>
            <a:r>
              <a:rPr lang="en-US" altLang="zh-CN" dirty="0">
                <a:latin typeface="+mn-ea"/>
              </a:rPr>
              <a:t>(x)</a:t>
            </a:r>
          </a:p>
          <a:p>
            <a:pPr>
              <a:lnSpc>
                <a:spcPct val="120000"/>
              </a:lnSpc>
              <a:buClr>
                <a:srgbClr val="FF0000"/>
              </a:buClr>
              <a:buFontTx/>
              <a:buNone/>
            </a:pPr>
            <a:r>
              <a:rPr lang="zh-CN" altLang="en-US" dirty="0">
                <a:solidFill>
                  <a:srgbClr val="0033CC"/>
                </a:solidFill>
                <a:latin typeface="+mn-ea"/>
              </a:rPr>
              <a:t>推理形式：</a:t>
            </a:r>
            <a:r>
              <a:rPr lang="zh-CN" altLang="en-US" dirty="0">
                <a:latin typeface="+mn-ea"/>
                <a:sym typeface="Symbol" panose="05050102010706020507" pitchFamily="18" charset="2"/>
              </a:rPr>
              <a:t></a:t>
            </a:r>
            <a:r>
              <a:rPr lang="en-US" altLang="zh-CN" dirty="0">
                <a:latin typeface="+mn-ea"/>
              </a:rPr>
              <a:t>x(P(x)</a:t>
            </a:r>
            <a:r>
              <a:rPr lang="en-US" altLang="zh-CN" dirty="0">
                <a:latin typeface="+mn-ea"/>
                <a:sym typeface="Symbol" panose="05050102010706020507" pitchFamily="18" charset="2"/>
              </a:rPr>
              <a:t></a:t>
            </a:r>
            <a:r>
              <a:rPr lang="en-US" altLang="zh-CN" dirty="0">
                <a:latin typeface="+mn-ea"/>
              </a:rPr>
              <a:t>Q(x))</a:t>
            </a:r>
            <a:r>
              <a:rPr lang="en-US" altLang="zh-CN" dirty="0">
                <a:latin typeface="+mn-ea"/>
                <a:sym typeface="Symbol" panose="05050102010706020507" pitchFamily="18" charset="2"/>
              </a:rPr>
              <a:t></a:t>
            </a:r>
            <a:r>
              <a:rPr lang="en-US" altLang="zh-CN" dirty="0" err="1">
                <a:latin typeface="+mn-ea"/>
              </a:rPr>
              <a:t>xP</a:t>
            </a:r>
            <a:r>
              <a:rPr lang="en-US" altLang="zh-CN" dirty="0">
                <a:latin typeface="+mn-ea"/>
              </a:rPr>
              <a:t>(x)</a:t>
            </a:r>
            <a:r>
              <a:rPr lang="en-US" altLang="zh-CN" dirty="0">
                <a:latin typeface="+mn-ea"/>
                <a:sym typeface="Symbol" panose="05050102010706020507" pitchFamily="18" charset="2"/>
              </a:rPr>
              <a:t></a:t>
            </a:r>
            <a:r>
              <a:rPr lang="en-US" altLang="zh-CN" dirty="0" err="1">
                <a:latin typeface="+mn-ea"/>
              </a:rPr>
              <a:t>xQ</a:t>
            </a:r>
            <a:r>
              <a:rPr lang="en-US" altLang="zh-CN" dirty="0">
                <a:latin typeface="+mn-ea"/>
              </a:rPr>
              <a:t>(x)</a:t>
            </a:r>
          </a:p>
        </p:txBody>
      </p:sp>
    </p:spTree>
    <p:extLst>
      <p:ext uri="{BB962C8B-B14F-4D97-AF65-F5344CB8AC3E}">
        <p14:creationId xmlns:p14="http://schemas.microsoft.com/office/powerpoint/2010/main" val="920340148"/>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blinds(horizontal)">
                                      <p:cBhvr>
                                        <p:cTn id="7" dur="500"/>
                                        <p:tgtEl>
                                          <p:spTgt spid="4">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
                                            <p:txEl>
                                              <p:pRg st="4" end="4"/>
                                            </p:txEl>
                                          </p:spTgt>
                                        </p:tgtEl>
                                        <p:attrNameLst>
                                          <p:attrName>style.visibility</p:attrName>
                                        </p:attrNameLst>
                                      </p:cBhvr>
                                      <p:to>
                                        <p:strVal val="visible"/>
                                      </p:to>
                                    </p:set>
                                    <p:animEffect transition="in" filter="blinds(horizontal)">
                                      <p:cBhvr>
                                        <p:cTn id="10" dur="500"/>
                                        <p:tgtEl>
                                          <p:spTgt spid="4">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animEffect transition="in" filter="blinds(horizontal)">
                                      <p:cBhvr>
                                        <p:cTn id="13" dur="500"/>
                                        <p:tgtEl>
                                          <p:spTgt spid="4">
                                            <p:txEl>
                                              <p:pRg st="5" end="5"/>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
                                            <p:txEl>
                                              <p:pRg st="6" end="6"/>
                                            </p:txEl>
                                          </p:spTgt>
                                        </p:tgtEl>
                                        <p:attrNameLst>
                                          <p:attrName>style.visibility</p:attrName>
                                        </p:attrNameLst>
                                      </p:cBhvr>
                                      <p:to>
                                        <p:strVal val="visible"/>
                                      </p:to>
                                    </p:set>
                                    <p:animEffect transition="in" filter="blinds(horizontal)">
                                      <p:cBhvr>
                                        <p:cTn id="16"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文本占位符 108546">
            <a:extLst>
              <a:ext uri="{FF2B5EF4-FFF2-40B4-BE49-F238E27FC236}">
                <a16:creationId xmlns:a16="http://schemas.microsoft.com/office/drawing/2014/main" id="{5F09F942-4015-496B-B9D9-6A64268531F6}"/>
              </a:ext>
            </a:extLst>
          </p:cNvPr>
          <p:cNvSpPr txBox="1">
            <a:spLocks noChangeArrowheads="1"/>
          </p:cNvSpPr>
          <p:nvPr/>
        </p:nvSpPr>
        <p:spPr>
          <a:xfrm>
            <a:off x="674703" y="2632075"/>
            <a:ext cx="8229600" cy="41338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FF0000"/>
              </a:buClr>
              <a:buFontTx/>
              <a:buNone/>
            </a:pPr>
            <a:endParaRPr lang="zh-CN" altLang="en-US" dirty="0">
              <a:latin typeface="Times New Roman" panose="02020603050405020304" pitchFamily="18" charset="0"/>
              <a:cs typeface="Times New Roman" panose="02020603050405020304" pitchFamily="18" charset="0"/>
            </a:endParaRPr>
          </a:p>
          <a:p>
            <a:pPr>
              <a:buClr>
                <a:srgbClr val="FF0000"/>
              </a:buClr>
              <a:buFontTx/>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(1)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xP</a:t>
            </a:r>
            <a:r>
              <a:rPr lang="en-US" altLang="zh-CN"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xQ</a:t>
            </a:r>
            <a:r>
              <a:rPr lang="en-US" altLang="zh-CN" dirty="0">
                <a:latin typeface="Times New Roman" panose="02020603050405020304" pitchFamily="18" charset="0"/>
                <a:cs typeface="Times New Roman" panose="02020603050405020304" pitchFamily="18" charset="0"/>
              </a:rPr>
              <a:t>(x))   P(</a:t>
            </a:r>
            <a:r>
              <a:rPr lang="zh-CN" altLang="en-US" dirty="0">
                <a:latin typeface="Times New Roman" panose="02020603050405020304" pitchFamily="18" charset="0"/>
                <a:cs typeface="Times New Roman" panose="02020603050405020304" pitchFamily="18" charset="0"/>
              </a:rPr>
              <a:t>附加</a:t>
            </a:r>
            <a:r>
              <a:rPr lang="en-US" altLang="zh-CN" dirty="0">
                <a:latin typeface="Times New Roman" panose="02020603050405020304" pitchFamily="18" charset="0"/>
                <a:cs typeface="Times New Roman" panose="02020603050405020304" pitchFamily="18" charset="0"/>
              </a:rPr>
              <a:t>)</a:t>
            </a:r>
          </a:p>
          <a:p>
            <a:pPr>
              <a:buClr>
                <a:srgbClr val="FF0000"/>
              </a:buClr>
              <a:buFontTx/>
              <a:buNone/>
            </a:pPr>
            <a:r>
              <a:rPr lang="en-US" altLang="zh-CN" dirty="0">
                <a:latin typeface="Times New Roman" panose="02020603050405020304" pitchFamily="18" charset="0"/>
                <a:cs typeface="Times New Roman" panose="02020603050405020304" pitchFamily="18" charset="0"/>
              </a:rPr>
              <a:t>  (2)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P</a:t>
            </a:r>
            <a:r>
              <a:rPr lang="en-US" altLang="zh-CN"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Q</a:t>
            </a:r>
            <a:r>
              <a:rPr lang="en-US" altLang="zh-CN" dirty="0">
                <a:latin typeface="Times New Roman" panose="02020603050405020304" pitchFamily="18" charset="0"/>
                <a:cs typeface="Times New Roman" panose="02020603050405020304" pitchFamily="18" charset="0"/>
              </a:rPr>
              <a:t>(x)   R,E,(1)</a:t>
            </a:r>
          </a:p>
          <a:p>
            <a:pPr>
              <a:buClr>
                <a:srgbClr val="FF0000"/>
              </a:buClr>
              <a:buFontTx/>
              <a:buNone/>
            </a:pPr>
            <a:r>
              <a:rPr lang="en-US" altLang="zh-CN" dirty="0">
                <a:latin typeface="Times New Roman" panose="02020603050405020304" pitchFamily="18" charset="0"/>
                <a:cs typeface="Times New Roman" panose="02020603050405020304" pitchFamily="18" charset="0"/>
              </a:rPr>
              <a:t>  (3)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P</a:t>
            </a:r>
            <a:r>
              <a:rPr lang="en-US" altLang="zh-CN" dirty="0">
                <a:latin typeface="Times New Roman" panose="02020603050405020304" pitchFamily="18" charset="0"/>
                <a:cs typeface="Times New Roman" panose="02020603050405020304" pitchFamily="18" charset="0"/>
              </a:rPr>
              <a:t>(x)                    T,I,(2)</a:t>
            </a:r>
          </a:p>
          <a:p>
            <a:pPr>
              <a:buClr>
                <a:schemeClr val="tx1"/>
              </a:buClr>
              <a:buFontTx/>
              <a:buNone/>
            </a:pPr>
            <a:r>
              <a:rPr lang="en-US" altLang="zh-CN" dirty="0">
                <a:latin typeface="Times New Roman" panose="02020603050405020304" pitchFamily="18" charset="0"/>
                <a:cs typeface="Times New Roman" panose="02020603050405020304" pitchFamily="18" charset="0"/>
              </a:rPr>
              <a:t>  (4)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P(a)                        ES,(3)</a:t>
            </a:r>
          </a:p>
          <a:p>
            <a:pPr>
              <a:buClr>
                <a:schemeClr val="tx1"/>
              </a:buClr>
              <a:buFontTx/>
              <a:buNone/>
            </a:pPr>
            <a:r>
              <a:rPr lang="en-US" altLang="zh-CN" dirty="0">
                <a:latin typeface="Times New Roman" panose="02020603050405020304" pitchFamily="18" charset="0"/>
                <a:cs typeface="Times New Roman" panose="02020603050405020304" pitchFamily="18" charset="0"/>
              </a:rPr>
              <a:t>  (5)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x</a:t>
            </a:r>
            <a:r>
              <a:rPr lang="en-US" altLang="zh-CN"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dirty="0" err="1">
                <a:latin typeface="Times New Roman" panose="02020603050405020304" pitchFamily="18" charset="0"/>
                <a:cs typeface="Times New Roman" panose="02020603050405020304" pitchFamily="18" charset="0"/>
              </a:rPr>
              <a:t>Q</a:t>
            </a:r>
            <a:r>
              <a:rPr lang="en-US" altLang="zh-CN" dirty="0">
                <a:latin typeface="Times New Roman" panose="02020603050405020304" pitchFamily="18" charset="0"/>
                <a:cs typeface="Times New Roman" panose="02020603050405020304" pitchFamily="18" charset="0"/>
              </a:rPr>
              <a:t>(x)                   T,I,(2)</a:t>
            </a:r>
          </a:p>
          <a:p>
            <a:pPr>
              <a:buClr>
                <a:schemeClr val="tx1"/>
              </a:buClr>
              <a:buFontTx/>
              <a:buNone/>
            </a:pPr>
            <a:r>
              <a:rPr lang="en-US" altLang="zh-CN" dirty="0">
                <a:latin typeface="Times New Roman" panose="02020603050405020304" pitchFamily="18" charset="0"/>
                <a:cs typeface="Times New Roman" panose="02020603050405020304" pitchFamily="18" charset="0"/>
              </a:rPr>
              <a:t>  (6)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Q(a)                        US,(5)</a:t>
            </a:r>
          </a:p>
          <a:p>
            <a:pPr>
              <a:buClr>
                <a:srgbClr val="FF0000"/>
              </a:buClr>
              <a:buFontTx/>
              <a:buNone/>
            </a:pPr>
            <a:endParaRPr lang="en-US" altLang="zh-CN" dirty="0">
              <a:latin typeface="Times New Roman" panose="02020603050405020304" pitchFamily="18" charset="0"/>
              <a:cs typeface="Times New Roman" panose="02020603050405020304" pitchFamily="18" charset="0"/>
            </a:endParaRPr>
          </a:p>
          <a:p>
            <a:pPr>
              <a:buClr>
                <a:schemeClr val="tx1"/>
              </a:buClr>
              <a:buFontTx/>
              <a:buNone/>
            </a:pPr>
            <a:endParaRPr lang="zh-CN" altLang="en-US" dirty="0">
              <a:latin typeface="Times New Roman" panose="02020603050405020304" pitchFamily="18" charset="0"/>
              <a:cs typeface="Times New Roman" panose="02020603050405020304" pitchFamily="18" charset="0"/>
            </a:endParaRPr>
          </a:p>
        </p:txBody>
      </p:sp>
      <p:sp>
        <p:nvSpPr>
          <p:cNvPr id="5" name="矩形 108547">
            <a:extLst>
              <a:ext uri="{FF2B5EF4-FFF2-40B4-BE49-F238E27FC236}">
                <a16:creationId xmlns:a16="http://schemas.microsoft.com/office/drawing/2014/main" id="{2188A68B-6793-406E-BE4B-5A790FFCCC0C}"/>
              </a:ext>
            </a:extLst>
          </p:cNvPr>
          <p:cNvSpPr>
            <a:spLocks noChangeArrowheads="1"/>
          </p:cNvSpPr>
          <p:nvPr/>
        </p:nvSpPr>
        <p:spPr bwMode="auto">
          <a:xfrm>
            <a:off x="6400592" y="2850408"/>
            <a:ext cx="5007421" cy="3951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1"/>
                </a:solidFill>
                <a:latin typeface="Times New Roman" panose="02020603050405020304" pitchFamily="18" charset="0"/>
                <a:ea typeface="宋体" panose="02010600030101010101" pitchFamily="2" charset="-122"/>
              </a:defRPr>
            </a:lvl1pPr>
            <a:lvl2pPr>
              <a:defRPr sz="2800" b="1">
                <a:solidFill>
                  <a:schemeClr val="tx1"/>
                </a:solidFill>
                <a:latin typeface="Times New Roman" panose="02020603050405020304" pitchFamily="18" charset="0"/>
                <a:ea typeface="宋体" panose="02010600030101010101" pitchFamily="2" charset="-122"/>
              </a:defRPr>
            </a:lvl2pPr>
            <a:lvl3pPr>
              <a:defRPr sz="2800" b="1">
                <a:solidFill>
                  <a:schemeClr val="tx1"/>
                </a:solidFill>
                <a:latin typeface="Times New Roman" panose="02020603050405020304" pitchFamily="18" charset="0"/>
                <a:ea typeface="宋体" panose="02010600030101010101" pitchFamily="2" charset="-122"/>
              </a:defRPr>
            </a:lvl3pPr>
            <a:lvl4pPr>
              <a:defRPr sz="2800" b="1">
                <a:solidFill>
                  <a:schemeClr val="tx1"/>
                </a:solidFill>
                <a:latin typeface="Times New Roman" panose="02020603050405020304" pitchFamily="18" charset="0"/>
                <a:ea typeface="宋体" panose="02010600030101010101" pitchFamily="2" charset="-122"/>
              </a:defRPr>
            </a:lvl4pPr>
            <a:lvl5pPr>
              <a:defRPr sz="28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b="0" dirty="0">
                <a:cs typeface="Times New Roman" panose="02020603050405020304" pitchFamily="18" charset="0"/>
              </a:rPr>
              <a:t> </a:t>
            </a:r>
            <a:r>
              <a:rPr lang="en-US" altLang="zh-CN" b="0" dirty="0">
                <a:cs typeface="Times New Roman" panose="02020603050405020304" pitchFamily="18" charset="0"/>
              </a:rPr>
              <a:t>(7) </a:t>
            </a:r>
            <a:r>
              <a:rPr lang="en-US" altLang="zh-CN" b="0" dirty="0">
                <a:cs typeface="Times New Roman" panose="02020603050405020304" pitchFamily="18" charset="0"/>
                <a:sym typeface="Symbol" panose="05050102010706020507" pitchFamily="18" charset="2"/>
              </a:rPr>
              <a:t></a:t>
            </a:r>
            <a:r>
              <a:rPr lang="en-US" altLang="zh-CN" b="0" dirty="0">
                <a:cs typeface="Times New Roman" panose="02020603050405020304" pitchFamily="18" charset="0"/>
              </a:rPr>
              <a:t>x(P(x)</a:t>
            </a:r>
            <a:r>
              <a:rPr lang="en-US" altLang="zh-CN" b="0" dirty="0">
                <a:cs typeface="Times New Roman" panose="02020603050405020304" pitchFamily="18" charset="0"/>
                <a:sym typeface="Symbol" panose="05050102010706020507" pitchFamily="18" charset="2"/>
              </a:rPr>
              <a:t></a:t>
            </a:r>
            <a:r>
              <a:rPr lang="en-US" altLang="zh-CN" b="0" dirty="0">
                <a:cs typeface="Times New Roman" panose="02020603050405020304" pitchFamily="18" charset="0"/>
              </a:rPr>
              <a:t>Q(x))  P</a:t>
            </a:r>
          </a:p>
          <a:p>
            <a:pPr>
              <a:lnSpc>
                <a:spcPct val="130000"/>
              </a:lnSpc>
            </a:pPr>
            <a:r>
              <a:rPr lang="en-US" altLang="zh-CN" b="0" dirty="0">
                <a:cs typeface="Times New Roman" panose="02020603050405020304" pitchFamily="18" charset="0"/>
              </a:rPr>
              <a:t> (8) P(a)</a:t>
            </a:r>
            <a:r>
              <a:rPr lang="en-US" altLang="zh-CN" b="0" dirty="0">
                <a:cs typeface="Times New Roman" panose="02020603050405020304" pitchFamily="18" charset="0"/>
                <a:sym typeface="Symbol" panose="05050102010706020507" pitchFamily="18" charset="2"/>
              </a:rPr>
              <a:t></a:t>
            </a:r>
            <a:r>
              <a:rPr lang="en-US" altLang="zh-CN" b="0" dirty="0">
                <a:cs typeface="Times New Roman" panose="02020603050405020304" pitchFamily="18" charset="0"/>
              </a:rPr>
              <a:t>Q(a)       US,(7)</a:t>
            </a:r>
          </a:p>
          <a:p>
            <a:pPr>
              <a:lnSpc>
                <a:spcPct val="130000"/>
              </a:lnSpc>
            </a:pPr>
            <a:r>
              <a:rPr lang="en-US" altLang="zh-CN" b="0" dirty="0">
                <a:cs typeface="Times New Roman" panose="02020603050405020304" pitchFamily="18" charset="0"/>
              </a:rPr>
              <a:t> (9) Q(a)                T,I,(4),(8)</a:t>
            </a:r>
          </a:p>
          <a:p>
            <a:pPr>
              <a:lnSpc>
                <a:spcPct val="130000"/>
              </a:lnSpc>
            </a:pPr>
            <a:r>
              <a:rPr lang="en-US" altLang="zh-CN" b="0" dirty="0">
                <a:cs typeface="Times New Roman" panose="02020603050405020304" pitchFamily="18" charset="0"/>
              </a:rPr>
              <a:t> (10) Q(a)</a:t>
            </a:r>
            <a:r>
              <a:rPr lang="en-US" altLang="zh-CN" b="0" dirty="0">
                <a:cs typeface="Times New Roman" panose="02020603050405020304" pitchFamily="18" charset="0"/>
                <a:sym typeface="Symbol" panose="05050102010706020507" pitchFamily="18" charset="2"/>
              </a:rPr>
              <a:t></a:t>
            </a:r>
            <a:r>
              <a:rPr lang="en-US" altLang="zh-CN" b="0" dirty="0">
                <a:cs typeface="Times New Roman" panose="02020603050405020304" pitchFamily="18" charset="0"/>
              </a:rPr>
              <a:t>Q(a)  T,I,(6),(9),</a:t>
            </a:r>
          </a:p>
          <a:p>
            <a:pPr>
              <a:lnSpc>
                <a:spcPct val="130000"/>
              </a:lnSpc>
            </a:pPr>
            <a:r>
              <a:rPr lang="zh-CN" altLang="en-US" b="0" dirty="0">
                <a:cs typeface="Times New Roman" panose="02020603050405020304" pitchFamily="18" charset="0"/>
              </a:rPr>
              <a:t>矛盾</a:t>
            </a:r>
          </a:p>
          <a:p>
            <a:pPr>
              <a:lnSpc>
                <a:spcPct val="130000"/>
              </a:lnSpc>
            </a:pPr>
            <a:r>
              <a:rPr lang="zh-CN" altLang="en-US" b="0" dirty="0">
                <a:cs typeface="Times New Roman" panose="02020603050405020304" pitchFamily="18" charset="0"/>
              </a:rPr>
              <a:t> 因此，假设不成立，原推理形式正确。</a:t>
            </a:r>
          </a:p>
        </p:txBody>
      </p:sp>
      <p:sp>
        <p:nvSpPr>
          <p:cNvPr id="2" name="矩形 1">
            <a:extLst>
              <a:ext uri="{FF2B5EF4-FFF2-40B4-BE49-F238E27FC236}">
                <a16:creationId xmlns:a16="http://schemas.microsoft.com/office/drawing/2014/main" id="{38B6DFA6-6F05-47C5-8F75-38D016C0F272}"/>
              </a:ext>
            </a:extLst>
          </p:cNvPr>
          <p:cNvSpPr/>
          <p:nvPr/>
        </p:nvSpPr>
        <p:spPr>
          <a:xfrm>
            <a:off x="2195743" y="787799"/>
            <a:ext cx="6096000" cy="1833131"/>
          </a:xfrm>
          <a:prstGeom prst="rect">
            <a:avLst/>
          </a:prstGeom>
        </p:spPr>
        <p:txBody>
          <a:bodyPr>
            <a:spAutoFit/>
          </a:bodyPr>
          <a:lstStyle/>
          <a:p>
            <a:pPr>
              <a:lnSpc>
                <a:spcPct val="120000"/>
              </a:lnSpc>
              <a:buClr>
                <a:srgbClr val="FF0000"/>
              </a:buClr>
              <a:buFontTx/>
              <a:buNone/>
            </a:pPr>
            <a:r>
              <a:rPr lang="zh-CN" altLang="en-US" sz="2400" dirty="0">
                <a:latin typeface="Times New Roman" panose="02020603050405020304" pitchFamily="18" charset="0"/>
                <a:cs typeface="Times New Roman" panose="02020603050405020304" pitchFamily="18" charset="0"/>
              </a:rPr>
              <a:t>设</a:t>
            </a:r>
            <a:r>
              <a:rPr lang="en-US" altLang="zh-CN" sz="2400" dirty="0">
                <a:latin typeface="Times New Roman" panose="02020603050405020304" pitchFamily="18" charset="0"/>
                <a:cs typeface="Times New Roman" panose="02020603050405020304" pitchFamily="18" charset="0"/>
              </a:rPr>
              <a:t>P(x)</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x</a:t>
            </a:r>
            <a:r>
              <a:rPr lang="zh-CN" altLang="en-US" sz="2400" dirty="0">
                <a:latin typeface="Times New Roman" panose="02020603050405020304" pitchFamily="18" charset="0"/>
                <a:cs typeface="Times New Roman" panose="02020603050405020304" pitchFamily="18" charset="0"/>
              </a:rPr>
              <a:t>唱歌了，</a:t>
            </a:r>
            <a:r>
              <a:rPr lang="en-US" altLang="zh-CN" sz="2400" dirty="0">
                <a:latin typeface="Times New Roman" panose="02020603050405020304" pitchFamily="18" charset="0"/>
                <a:cs typeface="Times New Roman" panose="02020603050405020304" pitchFamily="18" charset="0"/>
              </a:rPr>
              <a:t>Q(x)</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x</a:t>
            </a:r>
            <a:r>
              <a:rPr lang="zh-CN" altLang="en-US" sz="2400" dirty="0">
                <a:latin typeface="Times New Roman" panose="02020603050405020304" pitchFamily="18" charset="0"/>
                <a:cs typeface="Times New Roman" panose="02020603050405020304" pitchFamily="18" charset="0"/>
              </a:rPr>
              <a:t>跳舞了，则</a:t>
            </a:r>
          </a:p>
          <a:p>
            <a:pPr>
              <a:lnSpc>
                <a:spcPct val="120000"/>
              </a:lnSpc>
              <a:buClr>
                <a:srgbClr val="FF0000"/>
              </a:buClr>
              <a:buFontTx/>
              <a:buNone/>
            </a:pPr>
            <a:r>
              <a:rPr lang="zh-CN" altLang="en-US" sz="2400" dirty="0">
                <a:solidFill>
                  <a:srgbClr val="0033CC"/>
                </a:solidFill>
                <a:latin typeface="Times New Roman" panose="02020603050405020304" pitchFamily="18" charset="0"/>
                <a:cs typeface="Times New Roman" panose="02020603050405020304" pitchFamily="18" charset="0"/>
              </a:rPr>
              <a:t>前提：</a:t>
            </a:r>
            <a:r>
              <a:rPr lang="zh-CN"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rPr>
              <a:t>x(P(x)</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rPr>
              <a:t>Q(x))</a:t>
            </a:r>
          </a:p>
          <a:p>
            <a:pPr>
              <a:lnSpc>
                <a:spcPct val="120000"/>
              </a:lnSpc>
              <a:buClr>
                <a:srgbClr val="FF0000"/>
              </a:buClr>
              <a:buFontTx/>
              <a:buNone/>
            </a:pPr>
            <a:r>
              <a:rPr lang="zh-CN" altLang="en-US" sz="2400" dirty="0">
                <a:solidFill>
                  <a:srgbClr val="0033CC"/>
                </a:solidFill>
                <a:latin typeface="Times New Roman" panose="02020603050405020304" pitchFamily="18" charset="0"/>
                <a:cs typeface="Times New Roman" panose="02020603050405020304" pitchFamily="18" charset="0"/>
              </a:rPr>
              <a:t>结论</a:t>
            </a:r>
            <a:r>
              <a:rPr lang="zh-CN" altLang="en-US"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err="1">
                <a:latin typeface="Times New Roman" panose="02020603050405020304" pitchFamily="18" charset="0"/>
                <a:cs typeface="Times New Roman" panose="02020603050405020304" pitchFamily="18" charset="0"/>
              </a:rPr>
              <a:t>xP</a:t>
            </a:r>
            <a:r>
              <a:rPr lang="en-US" altLang="zh-CN" sz="2400" dirty="0">
                <a:latin typeface="Times New Roman" panose="02020603050405020304" pitchFamily="18" charset="0"/>
                <a:cs typeface="Times New Roman" panose="02020603050405020304" pitchFamily="18" charset="0"/>
              </a:rPr>
              <a:t>(x)</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err="1">
                <a:latin typeface="Times New Roman" panose="02020603050405020304" pitchFamily="18" charset="0"/>
                <a:cs typeface="Times New Roman" panose="02020603050405020304" pitchFamily="18" charset="0"/>
              </a:rPr>
              <a:t>xQ</a:t>
            </a:r>
            <a:r>
              <a:rPr lang="en-US" altLang="zh-CN" sz="2400" dirty="0">
                <a:latin typeface="Times New Roman" panose="02020603050405020304" pitchFamily="18" charset="0"/>
                <a:cs typeface="Times New Roman" panose="02020603050405020304" pitchFamily="18" charset="0"/>
              </a:rPr>
              <a:t>(x)</a:t>
            </a:r>
          </a:p>
          <a:p>
            <a:pPr>
              <a:lnSpc>
                <a:spcPct val="120000"/>
              </a:lnSpc>
              <a:buClr>
                <a:srgbClr val="FF0000"/>
              </a:buClr>
              <a:buFontTx/>
              <a:buNone/>
            </a:pPr>
            <a:r>
              <a:rPr lang="zh-CN" altLang="en-US" sz="2400" dirty="0">
                <a:solidFill>
                  <a:srgbClr val="0033CC"/>
                </a:solidFill>
                <a:latin typeface="Times New Roman" panose="02020603050405020304" pitchFamily="18" charset="0"/>
                <a:cs typeface="Times New Roman" panose="02020603050405020304" pitchFamily="18" charset="0"/>
              </a:rPr>
              <a:t>推理形式：</a:t>
            </a:r>
            <a:r>
              <a:rPr lang="zh-CN"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rPr>
              <a:t>x(P(x)</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rPr>
              <a:t>Q(x))</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err="1">
                <a:latin typeface="Times New Roman" panose="02020603050405020304" pitchFamily="18" charset="0"/>
                <a:cs typeface="Times New Roman" panose="02020603050405020304" pitchFamily="18" charset="0"/>
              </a:rPr>
              <a:t>xP</a:t>
            </a:r>
            <a:r>
              <a:rPr lang="en-US" altLang="zh-CN" sz="2400" dirty="0">
                <a:latin typeface="Times New Roman" panose="02020603050405020304" pitchFamily="18" charset="0"/>
                <a:cs typeface="Times New Roman" panose="02020603050405020304" pitchFamily="18" charset="0"/>
              </a:rPr>
              <a:t>(x)</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err="1">
                <a:latin typeface="Times New Roman" panose="02020603050405020304" pitchFamily="18" charset="0"/>
                <a:cs typeface="Times New Roman" panose="02020603050405020304" pitchFamily="18" charset="0"/>
              </a:rPr>
              <a:t>xQ</a:t>
            </a:r>
            <a:r>
              <a:rPr lang="en-US" altLang="zh-CN" sz="2400" dirty="0">
                <a:latin typeface="Times New Roman" panose="02020603050405020304" pitchFamily="18" charset="0"/>
                <a:cs typeface="Times New Roman" panose="02020603050405020304" pitchFamily="18" charset="0"/>
              </a:rPr>
              <a:t>(x)</a:t>
            </a:r>
          </a:p>
        </p:txBody>
      </p:sp>
    </p:spTree>
    <p:extLst>
      <p:ext uri="{BB962C8B-B14F-4D97-AF65-F5344CB8AC3E}">
        <p14:creationId xmlns:p14="http://schemas.microsoft.com/office/powerpoint/2010/main" val="4231228037"/>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4" end="4"/>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内容占位符 113666">
            <a:extLst>
              <a:ext uri="{FF2B5EF4-FFF2-40B4-BE49-F238E27FC236}">
                <a16:creationId xmlns:a16="http://schemas.microsoft.com/office/drawing/2014/main" id="{3E157EE1-1D0A-4BF1-A5EE-A70C3D65FEFD}"/>
              </a:ext>
            </a:extLst>
          </p:cNvPr>
          <p:cNvSpPr txBox="1">
            <a:spLocks noChangeArrowheads="1"/>
          </p:cNvSpPr>
          <p:nvPr/>
        </p:nvSpPr>
        <p:spPr>
          <a:xfrm>
            <a:off x="1250302" y="738188"/>
            <a:ext cx="10459615" cy="41338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Clr>
                <a:schemeClr val="tx1"/>
              </a:buClr>
              <a:buFontTx/>
              <a:buNone/>
            </a:pPr>
            <a:r>
              <a:rPr lang="zh-CN" altLang="en-US" b="1" dirty="0">
                <a:solidFill>
                  <a:srgbClr val="FF0000"/>
                </a:solidFill>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每一个大学生不是文科生就是理科生；有的大学生爱好文学；小张不是文科生但他爱好文学。因此，如果小张是大学生，他就是理科生；</a:t>
            </a:r>
          </a:p>
          <a:p>
            <a:pPr>
              <a:lnSpc>
                <a:spcPct val="120000"/>
              </a:lnSpc>
              <a:buClr>
                <a:schemeClr val="tx1"/>
              </a:buClr>
              <a:buFontTx/>
              <a:buNone/>
            </a:pPr>
            <a:r>
              <a:rPr lang="zh-CN" altLang="en-US" dirty="0">
                <a:latin typeface="Times New Roman" panose="02020603050405020304" pitchFamily="18" charset="0"/>
                <a:cs typeface="Times New Roman" panose="02020603050405020304" pitchFamily="18" charset="0"/>
              </a:rPr>
              <a:t>	</a:t>
            </a:r>
            <a:r>
              <a:rPr lang="zh-CN" altLang="en-US" dirty="0">
                <a:solidFill>
                  <a:srgbClr val="0033CC"/>
                </a:solidFill>
                <a:latin typeface="Times New Roman" panose="02020603050405020304" pitchFamily="18" charset="0"/>
                <a:cs typeface="Times New Roman" panose="02020603050405020304" pitchFamily="18" charset="0"/>
              </a:rPr>
              <a:t>解</a:t>
            </a:r>
            <a:r>
              <a:rPr lang="zh-CN" altLang="en-US" dirty="0">
                <a:latin typeface="Times New Roman" panose="02020603050405020304" pitchFamily="18" charset="0"/>
                <a:cs typeface="Times New Roman" panose="02020603050405020304" pitchFamily="18" charset="0"/>
              </a:rPr>
              <a:t>：个体域取全总域，要引入的谓词包括：</a:t>
            </a:r>
          </a:p>
          <a:p>
            <a:pPr>
              <a:lnSpc>
                <a:spcPct val="120000"/>
              </a:lnSpc>
              <a:buClr>
                <a:schemeClr val="tx1"/>
              </a:buClr>
              <a:buFontTx/>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P(</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是一个大学生；</a:t>
            </a:r>
            <a:r>
              <a:rPr lang="en-US" altLang="zh-CN" dirty="0">
                <a:latin typeface="Times New Roman" panose="02020603050405020304" pitchFamily="18" charset="0"/>
                <a:cs typeface="Times New Roman" panose="02020603050405020304" pitchFamily="18" charset="0"/>
              </a:rPr>
              <a:t>Q(</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rPr>
              <a:t>是文科生；</a:t>
            </a:r>
            <a:r>
              <a:rPr lang="en-US" altLang="zh-CN" dirty="0">
                <a:latin typeface="Times New Roman" panose="02020603050405020304" pitchFamily="18" charset="0"/>
                <a:cs typeface="Times New Roman" panose="02020603050405020304" pitchFamily="18" charset="0"/>
              </a:rPr>
              <a:t>S(</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是理科生；</a:t>
            </a:r>
            <a:r>
              <a:rPr lang="en-US" altLang="zh-CN" dirty="0">
                <a:latin typeface="Times New Roman" panose="02020603050405020304" pitchFamily="18" charset="0"/>
                <a:cs typeface="Times New Roman" panose="02020603050405020304" pitchFamily="18" charset="0"/>
              </a:rPr>
              <a:t>T(</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爱好文学。</a:t>
            </a:r>
          </a:p>
          <a:p>
            <a:pPr>
              <a:lnSpc>
                <a:spcPct val="120000"/>
              </a:lnSpc>
              <a:buClr>
                <a:schemeClr val="tx1"/>
              </a:buClr>
              <a:buFontTx/>
              <a:buNone/>
            </a:pPr>
            <a:r>
              <a:rPr lang="zh-CN" altLang="en-US" dirty="0">
                <a:latin typeface="Times New Roman" panose="02020603050405020304" pitchFamily="18" charset="0"/>
                <a:cs typeface="Times New Roman" panose="02020603050405020304" pitchFamily="18" charset="0"/>
              </a:rPr>
              <a:t>	要引入的个体常量是：</a:t>
            </a:r>
            <a:r>
              <a:rPr lang="en-US" altLang="zh-CN" i="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 : </a:t>
            </a:r>
            <a:r>
              <a:rPr lang="zh-CN" altLang="en-US" dirty="0">
                <a:latin typeface="Times New Roman" panose="02020603050405020304" pitchFamily="18" charset="0"/>
                <a:cs typeface="Times New Roman" panose="02020603050405020304" pitchFamily="18" charset="0"/>
              </a:rPr>
              <a:t>小张。</a:t>
            </a:r>
          </a:p>
          <a:p>
            <a:pPr>
              <a:lnSpc>
                <a:spcPct val="120000"/>
              </a:lnSpc>
              <a:buClr>
                <a:schemeClr val="tx1"/>
              </a:buClr>
              <a:buFontTx/>
              <a:buNone/>
            </a:pPr>
            <a:r>
              <a:rPr lang="zh-CN" altLang="en-US" dirty="0">
                <a:latin typeface="Times New Roman" panose="02020603050405020304" pitchFamily="18" charset="0"/>
                <a:cs typeface="Times New Roman" panose="02020603050405020304" pitchFamily="18" charset="0"/>
              </a:rPr>
              <a:t>	因此上述推理可符号化为：</a:t>
            </a:r>
          </a:p>
          <a:p>
            <a:pPr>
              <a:lnSpc>
                <a:spcPct val="120000"/>
              </a:lnSpc>
              <a:buClr>
                <a:schemeClr val="tx1"/>
              </a:buClr>
              <a:buFontTx/>
              <a:buNone/>
            </a:pPr>
            <a:r>
              <a:rPr lang="zh-CN" altLang="en-US" dirty="0">
                <a:latin typeface="Times New Roman" panose="02020603050405020304" pitchFamily="18" charset="0"/>
                <a:cs typeface="Times New Roman" panose="02020603050405020304" pitchFamily="18" charset="0"/>
              </a:rPr>
              <a:t>   </a:t>
            </a:r>
            <a:r>
              <a:rPr lang="zh-CN" altLang="en-US" dirty="0">
                <a:solidFill>
                  <a:srgbClr val="0033CC"/>
                </a:solidFill>
                <a:latin typeface="Times New Roman" panose="02020603050405020304" pitchFamily="18" charset="0"/>
                <a:cs typeface="Times New Roman" panose="02020603050405020304" pitchFamily="18" charset="0"/>
              </a:rPr>
              <a:t>前提</a:t>
            </a:r>
            <a:r>
              <a:rPr lang="zh-CN" altLang="en-US"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(P(</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(Q(</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S(</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(P(</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T(</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Q(</a:t>
            </a:r>
            <a:r>
              <a:rPr lang="en-US" altLang="zh-CN" i="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T(</a:t>
            </a:r>
            <a:r>
              <a:rPr lang="en-US" altLang="zh-CN" i="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a:t>
            </a:r>
          </a:p>
          <a:p>
            <a:pPr>
              <a:lnSpc>
                <a:spcPct val="120000"/>
              </a:lnSpc>
              <a:buClr>
                <a:schemeClr val="tx1"/>
              </a:buClr>
              <a:buFontTx/>
              <a:buNone/>
            </a:pPr>
            <a:r>
              <a:rPr lang="en-US" altLang="zh-CN" dirty="0">
                <a:latin typeface="Times New Roman" panose="02020603050405020304" pitchFamily="18" charset="0"/>
                <a:cs typeface="Times New Roman" panose="02020603050405020304" pitchFamily="18" charset="0"/>
              </a:rPr>
              <a:t>	</a:t>
            </a:r>
            <a:r>
              <a:rPr lang="zh-CN" altLang="en-US" dirty="0">
                <a:solidFill>
                  <a:srgbClr val="0033CC"/>
                </a:solidFill>
                <a:latin typeface="Times New Roman" panose="02020603050405020304" pitchFamily="18" charset="0"/>
                <a:cs typeface="Times New Roman" panose="02020603050405020304" pitchFamily="18" charset="0"/>
              </a:rPr>
              <a:t>结论</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P(</a:t>
            </a:r>
            <a:r>
              <a:rPr lang="en-US" altLang="zh-CN" i="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S(</a:t>
            </a:r>
            <a:r>
              <a:rPr lang="en-US" altLang="zh-CN" i="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p>
          <a:p>
            <a:pPr>
              <a:lnSpc>
                <a:spcPct val="120000"/>
              </a:lnSpc>
              <a:buClr>
                <a:schemeClr val="tx1"/>
              </a:buClr>
              <a:buFontTx/>
              <a:buNone/>
            </a:pPr>
            <a:r>
              <a:rPr lang="zh-CN" alt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892161381"/>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linds(horizontal)">
                                      <p:cBhvr>
                                        <p:cTn id="7" dur="500"/>
                                        <p:tgtEl>
                                          <p:spTgt spid="4">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blinds(horizontal)">
                                      <p:cBhvr>
                                        <p:cTn id="10" dur="500"/>
                                        <p:tgtEl>
                                          <p:spTgt spid="4">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blinds(horizontal)">
                                      <p:cBhvr>
                                        <p:cTn id="13" dur="500"/>
                                        <p:tgtEl>
                                          <p:spTgt spid="4">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blinds(horizontal)">
                                      <p:cBhvr>
                                        <p:cTn id="16" dur="500"/>
                                        <p:tgtEl>
                                          <p:spTgt spid="4">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Effect transition="in" filter="blinds(horizontal)">
                                      <p:cBhvr>
                                        <p:cTn id="19" dur="500"/>
                                        <p:tgtEl>
                                          <p:spTgt spid="4">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blinds(horizontal)">
                                      <p:cBhvr>
                                        <p:cTn id="22" dur="500"/>
                                        <p:tgtEl>
                                          <p:spTgt spid="4">
                                            <p:txEl>
                                              <p:pRg st="6" end="6"/>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animEffect transition="in" filter="blinds(horizontal)">
                                      <p:cBhvr>
                                        <p:cTn id="25"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文本占位符 114690">
            <a:extLst>
              <a:ext uri="{FF2B5EF4-FFF2-40B4-BE49-F238E27FC236}">
                <a16:creationId xmlns:a16="http://schemas.microsoft.com/office/drawing/2014/main" id="{085DAE0B-63D0-476F-8D86-C18514AC57E0}"/>
              </a:ext>
            </a:extLst>
          </p:cNvPr>
          <p:cNvSpPr txBox="1">
            <a:spLocks noChangeArrowheads="1"/>
          </p:cNvSpPr>
          <p:nvPr/>
        </p:nvSpPr>
        <p:spPr>
          <a:xfrm>
            <a:off x="608089" y="1118386"/>
            <a:ext cx="8555038" cy="41338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Clr>
                <a:schemeClr val="tx1"/>
              </a:buClr>
              <a:buFontTx/>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(1).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Q(</a:t>
            </a:r>
            <a:r>
              <a:rPr lang="en-US" altLang="zh-CN" i="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T(</a:t>
            </a:r>
            <a:r>
              <a:rPr lang="en-US" altLang="zh-CN" i="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		// P</a:t>
            </a:r>
          </a:p>
          <a:p>
            <a:pPr>
              <a:lnSpc>
                <a:spcPct val="120000"/>
              </a:lnSpc>
              <a:buClr>
                <a:schemeClr val="tx1"/>
              </a:buClr>
              <a:buFontTx/>
              <a:buNone/>
            </a:pPr>
            <a:r>
              <a:rPr lang="en-US" altLang="zh-CN" dirty="0">
                <a:latin typeface="Times New Roman" panose="02020603050405020304" pitchFamily="18" charset="0"/>
                <a:cs typeface="Times New Roman" panose="02020603050405020304" pitchFamily="18" charset="0"/>
              </a:rPr>
              <a:t>		(2).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(P(</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(Q(</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S(</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	// P</a:t>
            </a:r>
          </a:p>
          <a:p>
            <a:pPr>
              <a:lnSpc>
                <a:spcPct val="120000"/>
              </a:lnSpc>
              <a:buClr>
                <a:schemeClr val="tx1"/>
              </a:buClr>
              <a:buFontTx/>
              <a:buNone/>
            </a:pPr>
            <a:r>
              <a:rPr lang="en-US" altLang="zh-CN" dirty="0">
                <a:latin typeface="Times New Roman" panose="02020603050405020304" pitchFamily="18" charset="0"/>
                <a:cs typeface="Times New Roman" panose="02020603050405020304" pitchFamily="18" charset="0"/>
              </a:rPr>
              <a:t>		(3). P(</a:t>
            </a:r>
            <a:r>
              <a:rPr lang="en-US" altLang="zh-CN" i="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(Q(</a:t>
            </a:r>
            <a:r>
              <a:rPr lang="en-US" altLang="zh-CN" i="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S(</a:t>
            </a:r>
            <a:r>
              <a:rPr lang="en-US" altLang="zh-CN" i="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	// US ,(2)</a:t>
            </a:r>
          </a:p>
          <a:p>
            <a:pPr>
              <a:lnSpc>
                <a:spcPct val="120000"/>
              </a:lnSpc>
              <a:buClr>
                <a:schemeClr val="tx1"/>
              </a:buClr>
              <a:buFontTx/>
              <a:buNone/>
            </a:pPr>
            <a:r>
              <a:rPr lang="en-US" altLang="zh-CN" dirty="0">
                <a:latin typeface="Times New Roman" panose="02020603050405020304" pitchFamily="18" charset="0"/>
                <a:cs typeface="Times New Roman" panose="02020603050405020304" pitchFamily="18" charset="0"/>
              </a:rPr>
              <a:t>		(4). P(</a:t>
            </a:r>
            <a:r>
              <a:rPr lang="en-US" altLang="zh-CN" i="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			// P</a:t>
            </a:r>
            <a:r>
              <a:rPr lang="zh-CN" altLang="en-US" dirty="0">
                <a:latin typeface="Times New Roman" panose="02020603050405020304" pitchFamily="18" charset="0"/>
                <a:cs typeface="Times New Roman" panose="02020603050405020304" pitchFamily="18" charset="0"/>
              </a:rPr>
              <a:t>（附加）</a:t>
            </a:r>
          </a:p>
          <a:p>
            <a:pPr>
              <a:lnSpc>
                <a:spcPct val="120000"/>
              </a:lnSpc>
              <a:buClr>
                <a:schemeClr val="tx1"/>
              </a:buClr>
              <a:buFontTx/>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(5). Q(</a:t>
            </a:r>
            <a:r>
              <a:rPr lang="en-US" altLang="zh-CN" i="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S(</a:t>
            </a:r>
            <a:r>
              <a:rPr lang="en-US" altLang="zh-CN" i="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		// T, I ,(3),(4)		</a:t>
            </a:r>
          </a:p>
          <a:p>
            <a:pPr>
              <a:lnSpc>
                <a:spcPct val="120000"/>
              </a:lnSpc>
              <a:buClr>
                <a:schemeClr val="tx1"/>
              </a:buClr>
              <a:buFontTx/>
              <a:buNone/>
            </a:pPr>
            <a:r>
              <a:rPr lang="en-US" altLang="zh-CN" dirty="0">
                <a:latin typeface="Times New Roman" panose="02020603050405020304" pitchFamily="18" charset="0"/>
                <a:cs typeface="Times New Roman" panose="02020603050405020304" pitchFamily="18" charset="0"/>
              </a:rPr>
              <a:t>		(6).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Q(</a:t>
            </a:r>
            <a:r>
              <a:rPr lang="en-US" altLang="zh-CN" i="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			// T, I ,(1)</a:t>
            </a:r>
          </a:p>
          <a:p>
            <a:pPr>
              <a:lnSpc>
                <a:spcPct val="120000"/>
              </a:lnSpc>
              <a:buClr>
                <a:schemeClr val="tx1"/>
              </a:buClr>
              <a:buFontTx/>
              <a:buNone/>
            </a:pPr>
            <a:r>
              <a:rPr lang="en-US" altLang="zh-CN" dirty="0">
                <a:latin typeface="Times New Roman" panose="02020603050405020304" pitchFamily="18" charset="0"/>
                <a:cs typeface="Times New Roman" panose="02020603050405020304" pitchFamily="18" charset="0"/>
              </a:rPr>
              <a:t>		(7). S(</a:t>
            </a:r>
            <a:r>
              <a:rPr lang="en-US" altLang="zh-CN" i="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			// T, I, (5),(6)</a:t>
            </a:r>
          </a:p>
          <a:p>
            <a:pPr>
              <a:lnSpc>
                <a:spcPct val="120000"/>
              </a:lnSpc>
              <a:buClr>
                <a:schemeClr val="tx1"/>
              </a:buClr>
              <a:buFontTx/>
              <a:buNone/>
            </a:pPr>
            <a:r>
              <a:rPr lang="en-US" altLang="zh-CN" dirty="0">
                <a:latin typeface="Times New Roman" panose="02020603050405020304" pitchFamily="18" charset="0"/>
                <a:cs typeface="Times New Roman" panose="02020603050405020304" pitchFamily="18" charset="0"/>
              </a:rPr>
              <a:t>           (8). </a:t>
            </a:r>
            <a:r>
              <a:rPr lang="en-US" altLang="zh-CN"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i="1" dirty="0">
                <a:latin typeface="Times New Roman" panose="02020603050405020304" pitchFamily="18" charset="0"/>
                <a:ea typeface="黑体" panose="02010609060101010101" pitchFamily="49" charset="-122"/>
                <a:cs typeface="Times New Roman" panose="02020603050405020304" pitchFamily="18" charset="0"/>
              </a:rPr>
              <a:t>c</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S(</a:t>
            </a:r>
            <a:r>
              <a:rPr lang="en-US" altLang="zh-CN" i="1" dirty="0">
                <a:latin typeface="Times New Roman" panose="02020603050405020304" pitchFamily="18" charset="0"/>
                <a:ea typeface="黑体" panose="02010609060101010101" pitchFamily="49" charset="-122"/>
                <a:cs typeface="Times New Roman" panose="02020603050405020304" pitchFamily="18" charset="0"/>
              </a:rPr>
              <a:t>c</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//CP</a:t>
            </a:r>
          </a:p>
        </p:txBody>
      </p:sp>
      <p:sp>
        <p:nvSpPr>
          <p:cNvPr id="2" name="矩形 1">
            <a:extLst>
              <a:ext uri="{FF2B5EF4-FFF2-40B4-BE49-F238E27FC236}">
                <a16:creationId xmlns:a16="http://schemas.microsoft.com/office/drawing/2014/main" id="{EC22D02A-2E98-40B1-9507-A21C84E03D52}"/>
              </a:ext>
            </a:extLst>
          </p:cNvPr>
          <p:cNvSpPr/>
          <p:nvPr/>
        </p:nvSpPr>
        <p:spPr>
          <a:xfrm>
            <a:off x="7716236" y="940932"/>
            <a:ext cx="3521475" cy="3713452"/>
          </a:xfrm>
          <a:prstGeom prst="rect">
            <a:avLst/>
          </a:prstGeom>
        </p:spPr>
        <p:txBody>
          <a:bodyPr wrap="square">
            <a:spAutoFit/>
          </a:bodyPr>
          <a:lstStyle/>
          <a:p>
            <a:pPr>
              <a:lnSpc>
                <a:spcPct val="120000"/>
              </a:lnSpc>
              <a:buClr>
                <a:schemeClr val="tx1"/>
              </a:buClr>
              <a:buFontTx/>
              <a:buNone/>
            </a:pPr>
            <a:r>
              <a:rPr lang="en-US" altLang="zh-CN" b="1" dirty="0">
                <a:latin typeface="黑体" panose="02010609060101010101" pitchFamily="49" charset="-122"/>
                <a:ea typeface="黑体" panose="02010609060101010101" pitchFamily="49" charset="-122"/>
              </a:rPr>
              <a:t>P(</a:t>
            </a:r>
            <a:r>
              <a:rPr lang="en-US" altLang="zh-CN" b="1" i="1" dirty="0">
                <a:latin typeface="黑体" panose="02010609060101010101" pitchFamily="49" charset="-122"/>
                <a:ea typeface="黑体" panose="02010609060101010101" pitchFamily="49" charset="-122"/>
              </a:rPr>
              <a:t>x</a:t>
            </a:r>
            <a:r>
              <a:rPr lang="en-US" altLang="zh-CN" b="1" dirty="0">
                <a:latin typeface="黑体" panose="02010609060101010101" pitchFamily="49" charset="-122"/>
                <a:ea typeface="黑体" panose="02010609060101010101" pitchFamily="49" charset="-122"/>
              </a:rPr>
              <a:t>): </a:t>
            </a:r>
            <a:r>
              <a:rPr lang="en-US" altLang="zh-CN" b="1" i="1" dirty="0">
                <a:latin typeface="黑体" panose="02010609060101010101" pitchFamily="49" charset="-122"/>
                <a:ea typeface="黑体" panose="02010609060101010101" pitchFamily="49" charset="-122"/>
              </a:rPr>
              <a:t>x</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是一个大学生；</a:t>
            </a:r>
            <a:r>
              <a:rPr lang="en-US" altLang="zh-CN" b="1" dirty="0">
                <a:latin typeface="黑体" panose="02010609060101010101" pitchFamily="49" charset="-122"/>
                <a:ea typeface="黑体" panose="02010609060101010101" pitchFamily="49" charset="-122"/>
              </a:rPr>
              <a:t>Q(</a:t>
            </a:r>
            <a:r>
              <a:rPr lang="en-US" altLang="zh-CN" b="1" i="1" dirty="0">
                <a:latin typeface="黑体" panose="02010609060101010101" pitchFamily="49" charset="-122"/>
                <a:ea typeface="黑体" panose="02010609060101010101" pitchFamily="49" charset="-122"/>
              </a:rPr>
              <a:t>x</a:t>
            </a:r>
            <a:r>
              <a:rPr lang="en-US" altLang="zh-CN" b="1" dirty="0">
                <a:latin typeface="黑体" panose="02010609060101010101" pitchFamily="49" charset="-122"/>
                <a:ea typeface="黑体" panose="02010609060101010101" pitchFamily="49" charset="-122"/>
              </a:rPr>
              <a:t>): </a:t>
            </a:r>
            <a:r>
              <a:rPr lang="en-US" altLang="zh-CN" b="1" i="1" dirty="0">
                <a:latin typeface="黑体" panose="02010609060101010101" pitchFamily="49" charset="-122"/>
                <a:ea typeface="黑体" panose="02010609060101010101" pitchFamily="49" charset="-122"/>
              </a:rPr>
              <a:t>x</a:t>
            </a:r>
            <a:r>
              <a:rPr lang="zh-CN" altLang="en-US" b="1" dirty="0">
                <a:latin typeface="黑体" panose="02010609060101010101" pitchFamily="49" charset="-122"/>
                <a:ea typeface="黑体" panose="02010609060101010101" pitchFamily="49" charset="-122"/>
              </a:rPr>
              <a:t>是文科生；</a:t>
            </a:r>
            <a:r>
              <a:rPr lang="en-US" altLang="zh-CN" b="1" dirty="0">
                <a:latin typeface="黑体" panose="02010609060101010101" pitchFamily="49" charset="-122"/>
                <a:ea typeface="黑体" panose="02010609060101010101" pitchFamily="49" charset="-122"/>
              </a:rPr>
              <a:t>S(</a:t>
            </a:r>
            <a:r>
              <a:rPr lang="en-US" altLang="zh-CN" b="1" i="1" dirty="0">
                <a:latin typeface="黑体" panose="02010609060101010101" pitchFamily="49" charset="-122"/>
                <a:ea typeface="黑体" panose="02010609060101010101" pitchFamily="49" charset="-122"/>
              </a:rPr>
              <a:t>x</a:t>
            </a:r>
            <a:r>
              <a:rPr lang="en-US" altLang="zh-CN" b="1" dirty="0">
                <a:latin typeface="黑体" panose="02010609060101010101" pitchFamily="49" charset="-122"/>
                <a:ea typeface="黑体" panose="02010609060101010101" pitchFamily="49" charset="-122"/>
              </a:rPr>
              <a:t>): </a:t>
            </a:r>
            <a:r>
              <a:rPr lang="en-US" altLang="zh-CN" b="1" i="1" dirty="0">
                <a:latin typeface="黑体" panose="02010609060101010101" pitchFamily="49" charset="-122"/>
                <a:ea typeface="黑体" panose="02010609060101010101" pitchFamily="49" charset="-122"/>
              </a:rPr>
              <a:t>x</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是理科生；</a:t>
            </a:r>
            <a:r>
              <a:rPr lang="en-US" altLang="zh-CN" b="1" dirty="0">
                <a:latin typeface="黑体" panose="02010609060101010101" pitchFamily="49" charset="-122"/>
                <a:ea typeface="黑体" panose="02010609060101010101" pitchFamily="49" charset="-122"/>
              </a:rPr>
              <a:t>T(</a:t>
            </a:r>
            <a:r>
              <a:rPr lang="en-US" altLang="zh-CN" b="1" i="1" dirty="0">
                <a:latin typeface="黑体" panose="02010609060101010101" pitchFamily="49" charset="-122"/>
                <a:ea typeface="黑体" panose="02010609060101010101" pitchFamily="49" charset="-122"/>
              </a:rPr>
              <a:t>x</a:t>
            </a:r>
            <a:r>
              <a:rPr lang="en-US" altLang="zh-CN" b="1" dirty="0">
                <a:latin typeface="黑体" panose="02010609060101010101" pitchFamily="49" charset="-122"/>
                <a:ea typeface="黑体" panose="02010609060101010101" pitchFamily="49" charset="-122"/>
              </a:rPr>
              <a:t>): </a:t>
            </a:r>
            <a:r>
              <a:rPr lang="en-US" altLang="zh-CN" b="1" i="1" dirty="0">
                <a:latin typeface="黑体" panose="02010609060101010101" pitchFamily="49" charset="-122"/>
                <a:ea typeface="黑体" panose="02010609060101010101" pitchFamily="49" charset="-122"/>
              </a:rPr>
              <a:t>x</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爱好文学。</a:t>
            </a:r>
          </a:p>
          <a:p>
            <a:pPr>
              <a:lnSpc>
                <a:spcPct val="120000"/>
              </a:lnSpc>
              <a:buClr>
                <a:schemeClr val="tx1"/>
              </a:buClr>
              <a:buFontTx/>
              <a:buNone/>
            </a:pPr>
            <a:r>
              <a:rPr lang="zh-CN" altLang="en-US" b="1" dirty="0">
                <a:latin typeface="黑体" panose="02010609060101010101" pitchFamily="49" charset="-122"/>
                <a:ea typeface="黑体" panose="02010609060101010101" pitchFamily="49" charset="-122"/>
              </a:rPr>
              <a:t>	要引入的个体常量是：</a:t>
            </a:r>
            <a:r>
              <a:rPr lang="en-US" altLang="zh-CN" b="1" i="1" dirty="0">
                <a:latin typeface="黑体" panose="02010609060101010101" pitchFamily="49" charset="-122"/>
                <a:ea typeface="黑体" panose="02010609060101010101" pitchFamily="49" charset="-122"/>
              </a:rPr>
              <a:t>c</a:t>
            </a:r>
            <a:r>
              <a:rPr lang="en-US" altLang="zh-CN" b="1" dirty="0">
                <a:latin typeface="黑体" panose="02010609060101010101" pitchFamily="49" charset="-122"/>
                <a:ea typeface="黑体" panose="02010609060101010101" pitchFamily="49" charset="-122"/>
              </a:rPr>
              <a:t> : </a:t>
            </a:r>
            <a:r>
              <a:rPr lang="zh-CN" altLang="en-US" b="1" dirty="0">
                <a:latin typeface="黑体" panose="02010609060101010101" pitchFamily="49" charset="-122"/>
                <a:ea typeface="黑体" panose="02010609060101010101" pitchFamily="49" charset="-122"/>
              </a:rPr>
              <a:t>小张。</a:t>
            </a:r>
          </a:p>
          <a:p>
            <a:pPr>
              <a:lnSpc>
                <a:spcPct val="120000"/>
              </a:lnSpc>
              <a:buClr>
                <a:schemeClr val="tx1"/>
              </a:buClr>
              <a:buFontTx/>
              <a:buNone/>
            </a:pPr>
            <a:r>
              <a:rPr lang="zh-CN" altLang="en-US" b="1" dirty="0">
                <a:latin typeface="黑体" panose="02010609060101010101" pitchFamily="49" charset="-122"/>
                <a:ea typeface="黑体" panose="02010609060101010101" pitchFamily="49" charset="-122"/>
              </a:rPr>
              <a:t>	因此上述推理可符号化为：</a:t>
            </a:r>
          </a:p>
          <a:p>
            <a:pPr>
              <a:lnSpc>
                <a:spcPct val="120000"/>
              </a:lnSpc>
              <a:buClr>
                <a:schemeClr val="tx1"/>
              </a:buClr>
              <a:buFontTx/>
              <a:buNone/>
            </a:pPr>
            <a:r>
              <a:rPr lang="zh-CN" altLang="en-US" b="1" dirty="0">
                <a:latin typeface="黑体" panose="02010609060101010101" pitchFamily="49" charset="-122"/>
                <a:ea typeface="黑体" panose="02010609060101010101" pitchFamily="49" charset="-122"/>
              </a:rPr>
              <a:t>   </a:t>
            </a:r>
            <a:r>
              <a:rPr lang="zh-CN" altLang="en-US" b="1" dirty="0">
                <a:solidFill>
                  <a:srgbClr val="0033CC"/>
                </a:solidFill>
                <a:latin typeface="黑体" panose="02010609060101010101" pitchFamily="49" charset="-122"/>
                <a:ea typeface="黑体" panose="02010609060101010101" pitchFamily="49" charset="-122"/>
              </a:rPr>
              <a:t>前提</a:t>
            </a:r>
            <a:r>
              <a:rPr lang="zh-CN" altLang="en-US"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sym typeface="Symbol" panose="05050102010706020507" pitchFamily="18" charset="2"/>
              </a:rPr>
              <a:t></a:t>
            </a:r>
            <a:r>
              <a:rPr lang="en-US" altLang="zh-CN" b="1" i="1" dirty="0">
                <a:latin typeface="黑体" panose="02010609060101010101" pitchFamily="49" charset="-122"/>
                <a:ea typeface="黑体" panose="02010609060101010101" pitchFamily="49" charset="-122"/>
              </a:rPr>
              <a:t>x</a:t>
            </a:r>
            <a:r>
              <a:rPr lang="en-US" altLang="zh-CN" b="1" dirty="0">
                <a:latin typeface="黑体" panose="02010609060101010101" pitchFamily="49" charset="-122"/>
                <a:ea typeface="黑体" panose="02010609060101010101" pitchFamily="49" charset="-122"/>
              </a:rPr>
              <a:t>(P(</a:t>
            </a:r>
            <a:r>
              <a:rPr lang="en-US" altLang="zh-CN" b="1" i="1" dirty="0">
                <a:latin typeface="黑体" panose="02010609060101010101" pitchFamily="49" charset="-122"/>
                <a:ea typeface="黑体" panose="02010609060101010101" pitchFamily="49" charset="-122"/>
              </a:rPr>
              <a:t>x</a:t>
            </a:r>
            <a:r>
              <a:rPr lang="en-US" altLang="zh-CN"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sym typeface="Symbol" panose="05050102010706020507" pitchFamily="18" charset="2"/>
              </a:rPr>
              <a:t></a:t>
            </a:r>
            <a:r>
              <a:rPr lang="en-US" altLang="zh-CN" b="1" dirty="0">
                <a:latin typeface="黑体" panose="02010609060101010101" pitchFamily="49" charset="-122"/>
                <a:ea typeface="黑体" panose="02010609060101010101" pitchFamily="49" charset="-122"/>
              </a:rPr>
              <a:t>(Q(</a:t>
            </a:r>
            <a:r>
              <a:rPr lang="en-US" altLang="zh-CN" b="1" i="1" dirty="0">
                <a:latin typeface="黑体" panose="02010609060101010101" pitchFamily="49" charset="-122"/>
                <a:ea typeface="黑体" panose="02010609060101010101" pitchFamily="49" charset="-122"/>
              </a:rPr>
              <a:t>x</a:t>
            </a:r>
            <a:r>
              <a:rPr lang="en-US" altLang="zh-CN"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sym typeface="Symbol" panose="05050102010706020507" pitchFamily="18" charset="2"/>
              </a:rPr>
              <a:t></a:t>
            </a:r>
            <a:r>
              <a:rPr lang="en-US" altLang="zh-CN" b="1" dirty="0">
                <a:latin typeface="黑体" panose="02010609060101010101" pitchFamily="49" charset="-122"/>
                <a:ea typeface="黑体" panose="02010609060101010101" pitchFamily="49" charset="-122"/>
              </a:rPr>
              <a:t>S(</a:t>
            </a:r>
            <a:r>
              <a:rPr lang="en-US" altLang="zh-CN" b="1" i="1" dirty="0">
                <a:latin typeface="黑体" panose="02010609060101010101" pitchFamily="49" charset="-122"/>
                <a:ea typeface="黑体" panose="02010609060101010101" pitchFamily="49" charset="-122"/>
              </a:rPr>
              <a:t>x</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sym typeface="Symbol" panose="05050102010706020507" pitchFamily="18" charset="2"/>
              </a:rPr>
              <a:t></a:t>
            </a:r>
            <a:r>
              <a:rPr lang="en-US" altLang="zh-CN" b="1" i="1" dirty="0">
                <a:latin typeface="黑体" panose="02010609060101010101" pitchFamily="49" charset="-122"/>
                <a:ea typeface="黑体" panose="02010609060101010101" pitchFamily="49" charset="-122"/>
              </a:rPr>
              <a:t>x</a:t>
            </a:r>
            <a:r>
              <a:rPr lang="en-US" altLang="zh-CN" b="1" dirty="0">
                <a:latin typeface="黑体" panose="02010609060101010101" pitchFamily="49" charset="-122"/>
                <a:ea typeface="黑体" panose="02010609060101010101" pitchFamily="49" charset="-122"/>
              </a:rPr>
              <a:t>(P(</a:t>
            </a:r>
            <a:r>
              <a:rPr lang="en-US" altLang="zh-CN" b="1" i="1" dirty="0">
                <a:latin typeface="黑体" panose="02010609060101010101" pitchFamily="49" charset="-122"/>
                <a:ea typeface="黑体" panose="02010609060101010101" pitchFamily="49" charset="-122"/>
              </a:rPr>
              <a:t>x</a:t>
            </a:r>
            <a:r>
              <a:rPr lang="en-US" altLang="zh-CN"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sym typeface="Symbol" panose="05050102010706020507" pitchFamily="18" charset="2"/>
              </a:rPr>
              <a:t></a:t>
            </a:r>
            <a:r>
              <a:rPr lang="en-US" altLang="zh-CN" b="1" dirty="0">
                <a:latin typeface="黑体" panose="02010609060101010101" pitchFamily="49" charset="-122"/>
                <a:ea typeface="黑体" panose="02010609060101010101" pitchFamily="49" charset="-122"/>
              </a:rPr>
              <a:t>T(</a:t>
            </a:r>
            <a:r>
              <a:rPr lang="en-US" altLang="zh-CN" b="1" i="1" dirty="0">
                <a:latin typeface="黑体" panose="02010609060101010101" pitchFamily="49" charset="-122"/>
                <a:ea typeface="黑体" panose="02010609060101010101" pitchFamily="49" charset="-122"/>
              </a:rPr>
              <a:t>x</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sym typeface="Symbol" panose="05050102010706020507" pitchFamily="18" charset="2"/>
              </a:rPr>
              <a:t></a:t>
            </a:r>
            <a:r>
              <a:rPr lang="en-US" altLang="zh-CN" b="1" dirty="0">
                <a:latin typeface="黑体" panose="02010609060101010101" pitchFamily="49" charset="-122"/>
                <a:ea typeface="黑体" panose="02010609060101010101" pitchFamily="49" charset="-122"/>
              </a:rPr>
              <a:t>Q(</a:t>
            </a:r>
            <a:r>
              <a:rPr lang="en-US" altLang="zh-CN" b="1" i="1" dirty="0">
                <a:latin typeface="黑体" panose="02010609060101010101" pitchFamily="49" charset="-122"/>
                <a:ea typeface="黑体" panose="02010609060101010101" pitchFamily="49" charset="-122"/>
              </a:rPr>
              <a:t>c</a:t>
            </a:r>
            <a:r>
              <a:rPr lang="en-US" altLang="zh-CN"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sym typeface="Symbol" panose="05050102010706020507" pitchFamily="18" charset="2"/>
              </a:rPr>
              <a:t></a:t>
            </a:r>
            <a:r>
              <a:rPr lang="en-US" altLang="zh-CN" b="1" dirty="0">
                <a:latin typeface="黑体" panose="02010609060101010101" pitchFamily="49" charset="-122"/>
                <a:ea typeface="黑体" panose="02010609060101010101" pitchFamily="49" charset="-122"/>
              </a:rPr>
              <a:t>T(</a:t>
            </a:r>
            <a:r>
              <a:rPr lang="en-US" altLang="zh-CN" b="1" i="1" dirty="0">
                <a:latin typeface="黑体" panose="02010609060101010101" pitchFamily="49" charset="-122"/>
                <a:ea typeface="黑体" panose="02010609060101010101" pitchFamily="49" charset="-122"/>
              </a:rPr>
              <a:t>c</a:t>
            </a:r>
            <a:r>
              <a:rPr lang="en-US" altLang="zh-CN" b="1" dirty="0">
                <a:latin typeface="黑体" panose="02010609060101010101" pitchFamily="49" charset="-122"/>
                <a:ea typeface="黑体" panose="02010609060101010101" pitchFamily="49" charset="-122"/>
              </a:rPr>
              <a:t>)</a:t>
            </a:r>
          </a:p>
          <a:p>
            <a:pPr>
              <a:lnSpc>
                <a:spcPct val="120000"/>
              </a:lnSpc>
              <a:buClr>
                <a:schemeClr val="tx1"/>
              </a:buClr>
              <a:buFontTx/>
              <a:buNone/>
            </a:pPr>
            <a:r>
              <a:rPr lang="en-US" altLang="zh-CN" b="1" dirty="0">
                <a:latin typeface="黑体" panose="02010609060101010101" pitchFamily="49" charset="-122"/>
                <a:ea typeface="黑体" panose="02010609060101010101" pitchFamily="49" charset="-122"/>
              </a:rPr>
              <a:t>	</a:t>
            </a:r>
            <a:r>
              <a:rPr lang="zh-CN" altLang="en-US" b="1" dirty="0">
                <a:solidFill>
                  <a:srgbClr val="0033CC"/>
                </a:solidFill>
                <a:latin typeface="黑体" panose="02010609060101010101" pitchFamily="49" charset="-122"/>
                <a:ea typeface="黑体" panose="02010609060101010101" pitchFamily="49" charset="-122"/>
              </a:rPr>
              <a:t>结论</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P(</a:t>
            </a:r>
            <a:r>
              <a:rPr lang="en-US" altLang="zh-CN" b="1" i="1" dirty="0">
                <a:latin typeface="黑体" panose="02010609060101010101" pitchFamily="49" charset="-122"/>
                <a:ea typeface="黑体" panose="02010609060101010101" pitchFamily="49" charset="-122"/>
              </a:rPr>
              <a:t>c</a:t>
            </a:r>
            <a:r>
              <a:rPr lang="en-US" altLang="zh-CN"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sym typeface="Symbol" panose="05050102010706020507" pitchFamily="18" charset="2"/>
              </a:rPr>
              <a:t></a:t>
            </a:r>
            <a:r>
              <a:rPr lang="en-US" altLang="zh-CN" b="1" dirty="0">
                <a:latin typeface="黑体" panose="02010609060101010101" pitchFamily="49" charset="-122"/>
                <a:ea typeface="黑体" panose="02010609060101010101" pitchFamily="49" charset="-122"/>
              </a:rPr>
              <a:t>S(</a:t>
            </a:r>
            <a:r>
              <a:rPr lang="en-US" altLang="zh-CN" b="1" i="1" dirty="0">
                <a:latin typeface="黑体" panose="02010609060101010101" pitchFamily="49" charset="-122"/>
                <a:ea typeface="黑体" panose="02010609060101010101" pitchFamily="49" charset="-122"/>
              </a:rPr>
              <a:t>c</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a:t>
            </a:r>
          </a:p>
        </p:txBody>
      </p:sp>
    </p:spTree>
    <p:extLst>
      <p:ext uri="{BB962C8B-B14F-4D97-AF65-F5344CB8AC3E}">
        <p14:creationId xmlns:p14="http://schemas.microsoft.com/office/powerpoint/2010/main" val="2542819387"/>
      </p:ext>
    </p:extLst>
  </p:cSld>
  <p:clrMapOvr>
    <a:masterClrMapping/>
  </p:clrMapOvr>
  <p:transition spd="slow" advTm="0">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内容占位符 109570">
            <a:extLst>
              <a:ext uri="{FF2B5EF4-FFF2-40B4-BE49-F238E27FC236}">
                <a16:creationId xmlns:a16="http://schemas.microsoft.com/office/drawing/2014/main" id="{BCC2F810-3E23-4CA2-ABD4-FF277900DDDA}"/>
              </a:ext>
            </a:extLst>
          </p:cNvPr>
          <p:cNvSpPr txBox="1">
            <a:spLocks noChangeArrowheads="1"/>
          </p:cNvSpPr>
          <p:nvPr/>
        </p:nvSpPr>
        <p:spPr>
          <a:xfrm>
            <a:off x="1448540" y="1172762"/>
            <a:ext cx="10210800" cy="41338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Tx/>
              <a:buNone/>
            </a:pPr>
            <a:r>
              <a:rPr lang="zh-CN" altLang="en-US" dirty="0">
                <a:latin typeface="Times New Roman" panose="02020603050405020304" pitchFamily="18" charset="0"/>
                <a:ea typeface="黑体" panose="02010609060101010101" pitchFamily="49" charset="-122"/>
                <a:cs typeface="Times New Roman" panose="02020603050405020304" pitchFamily="18" charset="0"/>
              </a:rPr>
              <a:t>所有的有理数都是实数；所有的无理数也是实数；虚数不是实数。因此，虚数既不是有理数，也不是无理数。</a:t>
            </a:r>
          </a:p>
          <a:p>
            <a:pPr>
              <a:lnSpc>
                <a:spcPct val="120000"/>
              </a:lnSpc>
              <a:buClr>
                <a:schemeClr val="tx1"/>
              </a:buClr>
              <a:buFontTx/>
              <a:buNone/>
            </a:pPr>
            <a:r>
              <a:rPr lang="zh-CN" altLang="en-US" dirty="0">
                <a:solidFill>
                  <a:srgbClr val="0033CC"/>
                </a:solidFill>
                <a:latin typeface="Times New Roman" panose="02020603050405020304" pitchFamily="18" charset="0"/>
                <a:ea typeface="黑体" panose="02010609060101010101" pitchFamily="49" charset="-122"/>
                <a:cs typeface="Times New Roman" panose="02020603050405020304" pitchFamily="18" charset="0"/>
              </a:rPr>
              <a:t>解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个体域为全总域，需要引入的谓词包括：</a:t>
            </a:r>
          </a:p>
          <a:p>
            <a:pPr>
              <a:lnSpc>
                <a:spcPct val="120000"/>
              </a:lnSpc>
              <a:buClr>
                <a:schemeClr val="tx1"/>
              </a:buClr>
              <a:buFontTx/>
              <a:buNone/>
            </a:pPr>
            <a:r>
              <a:rPr lang="zh-CN" altLang="en-US"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a:latin typeface="Times New Roman" panose="02020603050405020304" pitchFamily="18" charset="0"/>
                <a:ea typeface="黑体" panose="02010609060101010101" pitchFamily="49" charset="-122"/>
                <a:cs typeface="Times New Roman" panose="02020603050405020304" pitchFamily="18" charset="0"/>
              </a:rPr>
              <a:t>Q(</a:t>
            </a:r>
            <a:r>
              <a:rPr lang="en-US" altLang="zh-CN" i="1" dirty="0">
                <a:latin typeface="Times New Roman" panose="02020603050405020304" pitchFamily="18" charset="0"/>
                <a:ea typeface="黑体" panose="02010609060101010101" pitchFamily="49" charset="-122"/>
                <a:cs typeface="Times New Roman" panose="02020603050405020304" pitchFamily="18" charset="0"/>
              </a:rPr>
              <a:t>x</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i="1" dirty="0">
                <a:latin typeface="Times New Roman" panose="02020603050405020304" pitchFamily="18" charset="0"/>
                <a:ea typeface="黑体" panose="02010609060101010101" pitchFamily="49" charset="-122"/>
                <a:cs typeface="Times New Roman" panose="02020603050405020304" pitchFamily="18" charset="0"/>
              </a:rPr>
              <a:t>x</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dirty="0">
                <a:latin typeface="Times New Roman" panose="02020603050405020304" pitchFamily="18" charset="0"/>
                <a:ea typeface="黑体" panose="02010609060101010101" pitchFamily="49" charset="-122"/>
                <a:cs typeface="Times New Roman" panose="02020603050405020304" pitchFamily="18" charset="0"/>
              </a:rPr>
              <a:t>是有理数；</a:t>
            </a:r>
            <a:r>
              <a:rPr lang="en-US" altLang="zh-CN" dirty="0">
                <a:latin typeface="Times New Roman" panose="02020603050405020304" pitchFamily="18" charset="0"/>
                <a:ea typeface="黑体" panose="02010609060101010101" pitchFamily="49" charset="-122"/>
                <a:cs typeface="Times New Roman" panose="02020603050405020304" pitchFamily="18" charset="0"/>
              </a:rPr>
              <a:t>R(</a:t>
            </a:r>
            <a:r>
              <a:rPr lang="en-US" altLang="zh-CN" i="1" dirty="0">
                <a:latin typeface="Times New Roman" panose="02020603050405020304" pitchFamily="18" charset="0"/>
                <a:ea typeface="黑体" panose="02010609060101010101" pitchFamily="49" charset="-122"/>
                <a:cs typeface="Times New Roman" panose="02020603050405020304" pitchFamily="18" charset="0"/>
              </a:rPr>
              <a:t>x</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i="1" dirty="0">
                <a:latin typeface="Times New Roman" panose="02020603050405020304" pitchFamily="18" charset="0"/>
                <a:ea typeface="黑体" panose="02010609060101010101" pitchFamily="49" charset="-122"/>
                <a:cs typeface="Times New Roman" panose="02020603050405020304" pitchFamily="18" charset="0"/>
              </a:rPr>
              <a:t>x</a:t>
            </a:r>
            <a:r>
              <a:rPr lang="zh-CN" altLang="en-US" dirty="0">
                <a:latin typeface="Times New Roman" panose="02020603050405020304" pitchFamily="18" charset="0"/>
                <a:ea typeface="黑体" panose="02010609060101010101" pitchFamily="49" charset="-122"/>
                <a:cs typeface="Times New Roman" panose="02020603050405020304" pitchFamily="18" charset="0"/>
              </a:rPr>
              <a:t>是实数；</a:t>
            </a:r>
            <a:r>
              <a:rPr lang="en-US" altLang="zh-CN" dirty="0">
                <a:latin typeface="Times New Roman" panose="02020603050405020304" pitchFamily="18" charset="0"/>
                <a:ea typeface="黑体" panose="02010609060101010101" pitchFamily="49" charset="-122"/>
                <a:cs typeface="Times New Roman" panose="02020603050405020304" pitchFamily="18" charset="0"/>
              </a:rPr>
              <a:t>N(</a:t>
            </a:r>
            <a:r>
              <a:rPr lang="en-US" altLang="zh-CN" i="1" dirty="0">
                <a:latin typeface="Times New Roman" panose="02020603050405020304" pitchFamily="18" charset="0"/>
                <a:ea typeface="黑体" panose="02010609060101010101" pitchFamily="49" charset="-122"/>
                <a:cs typeface="Times New Roman" panose="02020603050405020304" pitchFamily="18" charset="0"/>
              </a:rPr>
              <a:t>x</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i="1" dirty="0">
                <a:latin typeface="Times New Roman" panose="02020603050405020304" pitchFamily="18" charset="0"/>
                <a:ea typeface="黑体" panose="02010609060101010101" pitchFamily="49" charset="-122"/>
                <a:cs typeface="Times New Roman" panose="02020603050405020304" pitchFamily="18" charset="0"/>
              </a:rPr>
              <a:t>x</a:t>
            </a:r>
            <a:r>
              <a:rPr lang="zh-CN" altLang="en-US" dirty="0">
                <a:latin typeface="Times New Roman" panose="02020603050405020304" pitchFamily="18" charset="0"/>
                <a:ea typeface="黑体" panose="02010609060101010101" pitchFamily="49" charset="-122"/>
                <a:cs typeface="Times New Roman" panose="02020603050405020304" pitchFamily="18" charset="0"/>
              </a:rPr>
              <a:t>是无理数；</a:t>
            </a:r>
            <a:r>
              <a:rPr lang="en-US" altLang="zh-CN" dirty="0">
                <a:latin typeface="Times New Roman" panose="02020603050405020304" pitchFamily="18" charset="0"/>
                <a:ea typeface="黑体" panose="02010609060101010101" pitchFamily="49" charset="-122"/>
                <a:cs typeface="Times New Roman" panose="02020603050405020304" pitchFamily="18" charset="0"/>
              </a:rPr>
              <a:t>C(</a:t>
            </a:r>
            <a:r>
              <a:rPr lang="en-US" altLang="zh-CN" i="1" dirty="0">
                <a:latin typeface="Times New Roman" panose="02020603050405020304" pitchFamily="18" charset="0"/>
                <a:ea typeface="黑体" panose="02010609060101010101" pitchFamily="49" charset="-122"/>
                <a:cs typeface="Times New Roman" panose="02020603050405020304" pitchFamily="18" charset="0"/>
              </a:rPr>
              <a:t>x</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i="1" dirty="0">
                <a:latin typeface="Times New Roman" panose="02020603050405020304" pitchFamily="18" charset="0"/>
                <a:ea typeface="黑体" panose="02010609060101010101" pitchFamily="49" charset="-122"/>
                <a:cs typeface="Times New Roman" panose="02020603050405020304" pitchFamily="18" charset="0"/>
              </a:rPr>
              <a:t>x</a:t>
            </a:r>
            <a:r>
              <a:rPr lang="zh-CN" altLang="en-US" dirty="0">
                <a:latin typeface="Times New Roman" panose="02020603050405020304" pitchFamily="18" charset="0"/>
                <a:ea typeface="黑体" panose="02010609060101010101" pitchFamily="49" charset="-122"/>
                <a:cs typeface="Times New Roman" panose="02020603050405020304" pitchFamily="18" charset="0"/>
              </a:rPr>
              <a:t>是虚数。上述推理可符号化为：</a:t>
            </a:r>
          </a:p>
          <a:p>
            <a:pPr>
              <a:lnSpc>
                <a:spcPct val="120000"/>
              </a:lnSpc>
              <a:buClr>
                <a:schemeClr val="tx1"/>
              </a:buClr>
              <a:buFontTx/>
              <a:buNone/>
            </a:pPr>
            <a:r>
              <a:rPr lang="zh-CN" altLang="en-US"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dirty="0">
                <a:solidFill>
                  <a:srgbClr val="0033CC"/>
                </a:solidFill>
                <a:latin typeface="Times New Roman" panose="02020603050405020304" pitchFamily="18" charset="0"/>
                <a:ea typeface="黑体" panose="02010609060101010101" pitchFamily="49" charset="-122"/>
                <a:cs typeface="Times New Roman" panose="02020603050405020304" pitchFamily="18" charset="0"/>
              </a:rPr>
              <a:t>前提</a:t>
            </a:r>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ea typeface="黑体" panose="02010609060101010101" pitchFamily="49" charset="-122"/>
                <a:cs typeface="Times New Roman" panose="02020603050405020304" pitchFamily="18" charset="0"/>
              </a:rPr>
              <a:t>x</a:t>
            </a:r>
            <a:r>
              <a:rPr lang="en-US" altLang="zh-CN" dirty="0">
                <a:latin typeface="Times New Roman" panose="02020603050405020304" pitchFamily="18" charset="0"/>
                <a:ea typeface="黑体" panose="02010609060101010101" pitchFamily="49" charset="-122"/>
                <a:cs typeface="Times New Roman" panose="02020603050405020304" pitchFamily="18" charset="0"/>
              </a:rPr>
              <a:t>(Q(</a:t>
            </a:r>
            <a:r>
              <a:rPr lang="en-US" altLang="zh-CN" i="1" dirty="0">
                <a:latin typeface="Times New Roman" panose="02020603050405020304" pitchFamily="18" charset="0"/>
                <a:ea typeface="黑体" panose="02010609060101010101" pitchFamily="49" charset="-122"/>
                <a:cs typeface="Times New Roman" panose="02020603050405020304" pitchFamily="18" charset="0"/>
              </a:rPr>
              <a:t>x</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R(</a:t>
            </a:r>
            <a:r>
              <a:rPr lang="en-US" altLang="zh-CN" i="1" dirty="0">
                <a:latin typeface="Times New Roman" panose="02020603050405020304" pitchFamily="18" charset="0"/>
                <a:ea typeface="黑体" panose="02010609060101010101" pitchFamily="49" charset="-122"/>
                <a:cs typeface="Times New Roman" panose="02020603050405020304" pitchFamily="18" charset="0"/>
              </a:rPr>
              <a:t>x</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ea typeface="黑体" panose="02010609060101010101" pitchFamily="49" charset="-122"/>
                <a:cs typeface="Times New Roman" panose="02020603050405020304" pitchFamily="18" charset="0"/>
              </a:rPr>
              <a:t>x</a:t>
            </a:r>
            <a:r>
              <a:rPr lang="en-US" altLang="zh-CN" dirty="0">
                <a:latin typeface="Times New Roman" panose="02020603050405020304" pitchFamily="18" charset="0"/>
                <a:ea typeface="黑体" panose="02010609060101010101" pitchFamily="49" charset="-122"/>
                <a:cs typeface="Times New Roman" panose="02020603050405020304" pitchFamily="18" charset="0"/>
              </a:rPr>
              <a:t>(N(</a:t>
            </a:r>
            <a:r>
              <a:rPr lang="en-US" altLang="zh-CN" i="1" dirty="0">
                <a:latin typeface="Times New Roman" panose="02020603050405020304" pitchFamily="18" charset="0"/>
                <a:ea typeface="黑体" panose="02010609060101010101" pitchFamily="49" charset="-122"/>
                <a:cs typeface="Times New Roman" panose="02020603050405020304" pitchFamily="18" charset="0"/>
              </a:rPr>
              <a:t>x</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R(</a:t>
            </a:r>
            <a:r>
              <a:rPr lang="en-US" altLang="zh-CN" i="1" dirty="0">
                <a:latin typeface="Times New Roman" panose="02020603050405020304" pitchFamily="18" charset="0"/>
                <a:ea typeface="黑体" panose="02010609060101010101" pitchFamily="49" charset="-122"/>
                <a:cs typeface="Times New Roman" panose="02020603050405020304" pitchFamily="18" charset="0"/>
              </a:rPr>
              <a:t>x</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ea typeface="黑体" panose="02010609060101010101" pitchFamily="49" charset="-122"/>
                <a:cs typeface="Times New Roman" panose="02020603050405020304" pitchFamily="18" charset="0"/>
              </a:rPr>
              <a:t>x</a:t>
            </a:r>
            <a:r>
              <a:rPr lang="en-US" altLang="zh-CN" dirty="0">
                <a:latin typeface="Times New Roman" panose="02020603050405020304" pitchFamily="18" charset="0"/>
                <a:ea typeface="黑体" panose="02010609060101010101" pitchFamily="49" charset="-122"/>
                <a:cs typeface="Times New Roman" panose="02020603050405020304" pitchFamily="18" charset="0"/>
              </a:rPr>
              <a:t>(C(</a:t>
            </a:r>
            <a:r>
              <a:rPr lang="en-US" altLang="zh-CN" i="1" dirty="0">
                <a:latin typeface="Times New Roman" panose="02020603050405020304" pitchFamily="18" charset="0"/>
                <a:ea typeface="黑体" panose="02010609060101010101" pitchFamily="49" charset="-122"/>
                <a:cs typeface="Times New Roman" panose="02020603050405020304" pitchFamily="18" charset="0"/>
              </a:rPr>
              <a:t>x</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R(</a:t>
            </a:r>
            <a:r>
              <a:rPr lang="en-US" altLang="zh-CN" i="1" dirty="0">
                <a:latin typeface="Times New Roman" panose="02020603050405020304" pitchFamily="18" charset="0"/>
                <a:ea typeface="黑体" panose="02010609060101010101" pitchFamily="49" charset="-122"/>
                <a:cs typeface="Times New Roman" panose="02020603050405020304" pitchFamily="18" charset="0"/>
              </a:rPr>
              <a:t>x</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p>
          <a:p>
            <a:pPr>
              <a:lnSpc>
                <a:spcPct val="120000"/>
              </a:lnSpc>
              <a:buClr>
                <a:schemeClr val="tx1"/>
              </a:buClr>
              <a:buFontTx/>
              <a:buNone/>
            </a:pP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dirty="0">
                <a:solidFill>
                  <a:srgbClr val="0033CC"/>
                </a:solidFill>
                <a:latin typeface="Times New Roman" panose="02020603050405020304" pitchFamily="18" charset="0"/>
                <a:ea typeface="黑体" panose="02010609060101010101" pitchFamily="49" charset="-122"/>
                <a:cs typeface="Times New Roman" panose="02020603050405020304" pitchFamily="18" charset="0"/>
              </a:rPr>
              <a:t>结论</a:t>
            </a:r>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ea typeface="黑体" panose="02010609060101010101" pitchFamily="49" charset="-122"/>
                <a:cs typeface="Times New Roman" panose="02020603050405020304" pitchFamily="18" charset="0"/>
              </a:rPr>
              <a:t>x</a:t>
            </a:r>
            <a:r>
              <a:rPr lang="en-US" altLang="zh-CN" dirty="0">
                <a:latin typeface="Times New Roman" panose="02020603050405020304" pitchFamily="18" charset="0"/>
                <a:ea typeface="黑体" panose="02010609060101010101" pitchFamily="49" charset="-122"/>
                <a:cs typeface="Times New Roman" panose="02020603050405020304" pitchFamily="18" charset="0"/>
              </a:rPr>
              <a:t>(C(</a:t>
            </a:r>
            <a:r>
              <a:rPr lang="en-US" altLang="zh-CN" i="1" dirty="0">
                <a:latin typeface="Times New Roman" panose="02020603050405020304" pitchFamily="18" charset="0"/>
                <a:ea typeface="黑体" panose="02010609060101010101" pitchFamily="49" charset="-122"/>
                <a:cs typeface="Times New Roman" panose="02020603050405020304" pitchFamily="18" charset="0"/>
              </a:rPr>
              <a:t>x</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Q(</a:t>
            </a:r>
            <a:r>
              <a:rPr lang="en-US" altLang="zh-CN" i="1" dirty="0">
                <a:latin typeface="Times New Roman" panose="02020603050405020304" pitchFamily="18" charset="0"/>
                <a:ea typeface="黑体" panose="02010609060101010101" pitchFamily="49" charset="-122"/>
                <a:cs typeface="Times New Roman" panose="02020603050405020304" pitchFamily="18" charset="0"/>
              </a:rPr>
              <a:t>x</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ea typeface="黑体" panose="02010609060101010101" pitchFamily="49" charset="-122"/>
                <a:cs typeface="Times New Roman" panose="02020603050405020304" pitchFamily="18" charset="0"/>
              </a:rPr>
              <a:t>N(</a:t>
            </a:r>
            <a:r>
              <a:rPr lang="en-US" altLang="zh-CN" i="1" dirty="0">
                <a:latin typeface="Times New Roman" panose="02020603050405020304" pitchFamily="18" charset="0"/>
                <a:ea typeface="黑体" panose="02010609060101010101" pitchFamily="49" charset="-122"/>
                <a:cs typeface="Times New Roman" panose="02020603050405020304" pitchFamily="18" charset="0"/>
              </a:rPr>
              <a:t>x</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p>
          <a:p>
            <a:pPr>
              <a:lnSpc>
                <a:spcPct val="120000"/>
              </a:lnSpc>
              <a:buClr>
                <a:schemeClr val="tx1"/>
              </a:buClr>
              <a:buFontTx/>
              <a:buNone/>
            </a:pPr>
            <a:r>
              <a:rPr lang="zh-CN" altLang="en-US" dirty="0">
                <a:latin typeface="Times New Roman" panose="02020603050405020304" pitchFamily="18" charset="0"/>
                <a:ea typeface="黑体" panose="02010609060101010101" pitchFamily="49" charset="-122"/>
                <a:cs typeface="Times New Roman" panose="02020603050405020304" pitchFamily="18" charset="0"/>
              </a:rPr>
              <a:t>   验证该结论的公式序列如下：</a:t>
            </a:r>
          </a:p>
          <a:p>
            <a:pPr>
              <a:lnSpc>
                <a:spcPct val="120000"/>
              </a:lnSpc>
            </a:pP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561663342"/>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checkerboard(across)">
                                      <p:cBhvr>
                                        <p:cTn id="7" dur="500"/>
                                        <p:tgtEl>
                                          <p:spTgt spid="4">
                                            <p:txEl>
                                              <p:pRg st="1" end="1"/>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checkerboard(across)">
                                      <p:cBhvr>
                                        <p:cTn id="10" dur="500"/>
                                        <p:tgtEl>
                                          <p:spTgt spid="4">
                                            <p:txEl>
                                              <p:pRg st="2" end="2"/>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checkerboard(across)">
                                      <p:cBhvr>
                                        <p:cTn id="13" dur="500"/>
                                        <p:tgtEl>
                                          <p:spTgt spid="4">
                                            <p:txEl>
                                              <p:pRg st="3" end="3"/>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checkerboard(across)">
                                      <p:cBhvr>
                                        <p:cTn id="16" dur="500"/>
                                        <p:tgtEl>
                                          <p:spTgt spid="4">
                                            <p:txEl>
                                              <p:pRg st="4" end="4"/>
                                            </p:txEl>
                                          </p:spTgt>
                                        </p:tgtEl>
                                      </p:cBhvr>
                                    </p:animEffect>
                                  </p:childTnLst>
                                </p:cTn>
                              </p:par>
                              <p:par>
                                <p:cTn id="17" presetID="5" presetClass="entr" presetSubtype="10"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Effect transition="in" filter="checkerboard(across)">
                                      <p:cBhvr>
                                        <p:cTn id="19"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文本占位符 110594">
            <a:extLst>
              <a:ext uri="{FF2B5EF4-FFF2-40B4-BE49-F238E27FC236}">
                <a16:creationId xmlns:a16="http://schemas.microsoft.com/office/drawing/2014/main" id="{36038556-0CF3-4FD9-A8F8-75CD66F071D7}"/>
              </a:ext>
            </a:extLst>
          </p:cNvPr>
          <p:cNvSpPr txBox="1">
            <a:spLocks noChangeArrowheads="1"/>
          </p:cNvSpPr>
          <p:nvPr/>
        </p:nvSpPr>
        <p:spPr>
          <a:xfrm>
            <a:off x="-531765" y="1644111"/>
            <a:ext cx="5761037" cy="41338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chemeClr val="tx1"/>
              </a:buClr>
              <a:buFontTx/>
              <a:buNone/>
            </a:pPr>
            <a:r>
              <a:rPr lang="zh-CN" altLang="en-US" dirty="0">
                <a:latin typeface="Times New Roman" panose="02020603050405020304" pitchFamily="18" charset="0"/>
                <a:cs typeface="Times New Roman" panose="02020603050405020304" pitchFamily="18" charset="0"/>
              </a:rPr>
              <a:t>		(1). </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zh-CN" altLang="en-US" i="1" dirty="0">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rPr>
              <a:t>(Q(</a:t>
            </a:r>
            <a:r>
              <a:rPr lang="zh-CN" altLang="en-US" i="1" dirty="0">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latin typeface="Times New Roman" panose="02020603050405020304" pitchFamily="18" charset="0"/>
                <a:cs typeface="Times New Roman" panose="02020603050405020304" pitchFamily="18" charset="0"/>
              </a:rPr>
              <a:t>R(</a:t>
            </a:r>
            <a:r>
              <a:rPr lang="zh-CN" altLang="en-US" i="1" dirty="0">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rPr>
              <a:t>))  // P</a:t>
            </a:r>
          </a:p>
          <a:p>
            <a:pPr>
              <a:buClr>
                <a:schemeClr val="tx1"/>
              </a:buClr>
              <a:buFontTx/>
              <a:buNone/>
            </a:pPr>
            <a:r>
              <a:rPr lang="zh-CN" altLang="en-US" dirty="0">
                <a:latin typeface="Times New Roman" panose="02020603050405020304" pitchFamily="18" charset="0"/>
                <a:cs typeface="Times New Roman" panose="02020603050405020304" pitchFamily="18" charset="0"/>
              </a:rPr>
              <a:t>		(2). Q(</a:t>
            </a:r>
            <a:r>
              <a:rPr lang="en-US" altLang="zh-CN" i="1" dirty="0">
                <a:latin typeface="Times New Roman" panose="02020603050405020304" pitchFamily="18" charset="0"/>
                <a:cs typeface="Times New Roman" panose="02020603050405020304" pitchFamily="18" charset="0"/>
              </a:rPr>
              <a:t>y</a:t>
            </a:r>
            <a:r>
              <a:rPr lang="zh-CN" altLang="en-US"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latin typeface="Times New Roman" panose="02020603050405020304" pitchFamily="18" charset="0"/>
                <a:cs typeface="Times New Roman" panose="02020603050405020304" pitchFamily="18" charset="0"/>
              </a:rPr>
              <a:t>R(</a:t>
            </a:r>
            <a:r>
              <a:rPr lang="en-US" altLang="zh-CN" i="1" dirty="0">
                <a:latin typeface="Times New Roman" panose="02020603050405020304" pitchFamily="18" charset="0"/>
                <a:cs typeface="Times New Roman" panose="02020603050405020304" pitchFamily="18" charset="0"/>
              </a:rPr>
              <a:t>y</a:t>
            </a:r>
            <a:r>
              <a:rPr lang="zh-CN" altLang="en-US" dirty="0">
                <a:latin typeface="Times New Roman" panose="02020603050405020304" pitchFamily="18" charset="0"/>
                <a:cs typeface="Times New Roman" panose="02020603050405020304" pitchFamily="18" charset="0"/>
              </a:rPr>
              <a:t>)	    // US</a:t>
            </a:r>
            <a:r>
              <a:rPr lang="en-US" altLang="zh-CN" dirty="0">
                <a:latin typeface="Times New Roman" panose="02020603050405020304" pitchFamily="18" charset="0"/>
                <a:cs typeface="Times New Roman" panose="02020603050405020304" pitchFamily="18" charset="0"/>
              </a:rPr>
              <a:t>,(1)</a:t>
            </a:r>
            <a:endParaRPr lang="zh-CN" altLang="en-US" dirty="0">
              <a:latin typeface="Times New Roman" panose="02020603050405020304" pitchFamily="18" charset="0"/>
              <a:cs typeface="Times New Roman" panose="02020603050405020304" pitchFamily="18" charset="0"/>
            </a:endParaRPr>
          </a:p>
          <a:p>
            <a:pPr>
              <a:buClr>
                <a:schemeClr val="tx1"/>
              </a:buClr>
              <a:buFontTx/>
              <a:buNone/>
            </a:pPr>
            <a:r>
              <a:rPr lang="zh-CN" altLang="en-US" dirty="0">
                <a:latin typeface="Times New Roman" panose="02020603050405020304" pitchFamily="18" charset="0"/>
                <a:cs typeface="Times New Roman" panose="02020603050405020304" pitchFamily="18" charset="0"/>
              </a:rPr>
              <a:t>		(3). </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zh-CN" altLang="en-US" i="1" dirty="0">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rPr>
              <a:t>(N(</a:t>
            </a:r>
            <a:r>
              <a:rPr lang="zh-CN" altLang="en-US" i="1" dirty="0">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latin typeface="Times New Roman" panose="02020603050405020304" pitchFamily="18" charset="0"/>
                <a:cs typeface="Times New Roman" panose="02020603050405020304" pitchFamily="18" charset="0"/>
              </a:rPr>
              <a:t>R(</a:t>
            </a:r>
            <a:r>
              <a:rPr lang="zh-CN" altLang="en-US" i="1" dirty="0">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rPr>
              <a:t>))  // P</a:t>
            </a:r>
          </a:p>
          <a:p>
            <a:pPr>
              <a:buClr>
                <a:schemeClr val="tx1"/>
              </a:buClr>
              <a:buFontTx/>
              <a:buNone/>
            </a:pPr>
            <a:r>
              <a:rPr lang="zh-CN" altLang="en-US" dirty="0">
                <a:latin typeface="Times New Roman" panose="02020603050405020304" pitchFamily="18" charset="0"/>
                <a:cs typeface="Times New Roman" panose="02020603050405020304" pitchFamily="18" charset="0"/>
              </a:rPr>
              <a:t>		(4). N(</a:t>
            </a:r>
            <a:r>
              <a:rPr lang="en-US" altLang="zh-CN" i="1" dirty="0">
                <a:latin typeface="Times New Roman" panose="02020603050405020304" pitchFamily="18" charset="0"/>
                <a:cs typeface="Times New Roman" panose="02020603050405020304" pitchFamily="18" charset="0"/>
              </a:rPr>
              <a:t>y</a:t>
            </a:r>
            <a:r>
              <a:rPr lang="zh-CN" altLang="en-US"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latin typeface="Times New Roman" panose="02020603050405020304" pitchFamily="18" charset="0"/>
                <a:cs typeface="Times New Roman" panose="02020603050405020304" pitchFamily="18" charset="0"/>
              </a:rPr>
              <a:t>R(</a:t>
            </a:r>
            <a:r>
              <a:rPr lang="en-US" altLang="zh-CN" dirty="0">
                <a:latin typeface="Times New Roman" panose="02020603050405020304" pitchFamily="18" charset="0"/>
                <a:cs typeface="Times New Roman" panose="02020603050405020304" pitchFamily="18" charset="0"/>
              </a:rPr>
              <a:t>y</a:t>
            </a:r>
            <a:r>
              <a:rPr lang="zh-CN" altLang="en-US" dirty="0">
                <a:latin typeface="Times New Roman" panose="02020603050405020304" pitchFamily="18" charset="0"/>
                <a:cs typeface="Times New Roman" panose="02020603050405020304" pitchFamily="18" charset="0"/>
              </a:rPr>
              <a:t>)	    // US</a:t>
            </a:r>
            <a:r>
              <a:rPr lang="en-US" altLang="zh-CN" dirty="0">
                <a:latin typeface="Times New Roman" panose="02020603050405020304" pitchFamily="18" charset="0"/>
                <a:cs typeface="Times New Roman" panose="02020603050405020304" pitchFamily="18" charset="0"/>
              </a:rPr>
              <a:t>,(3)</a:t>
            </a:r>
            <a:endParaRPr lang="zh-CN" altLang="en-US" dirty="0">
              <a:latin typeface="Times New Roman" panose="02020603050405020304" pitchFamily="18" charset="0"/>
              <a:cs typeface="Times New Roman" panose="02020603050405020304" pitchFamily="18" charset="0"/>
            </a:endParaRPr>
          </a:p>
          <a:p>
            <a:pPr>
              <a:buClr>
                <a:schemeClr val="tx1"/>
              </a:buClr>
              <a:buFontTx/>
              <a:buNone/>
            </a:pPr>
            <a:r>
              <a:rPr lang="zh-CN" altLang="en-US" dirty="0">
                <a:latin typeface="Times New Roman" panose="02020603050405020304" pitchFamily="18" charset="0"/>
                <a:cs typeface="Times New Roman" panose="02020603050405020304" pitchFamily="18" charset="0"/>
              </a:rPr>
              <a:t>		(5). </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zh-CN" altLang="en-US" i="1" dirty="0">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rPr>
              <a:t>(C(</a:t>
            </a:r>
            <a:r>
              <a:rPr lang="zh-CN" altLang="en-US" i="1" dirty="0">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latin typeface="Times New Roman" panose="02020603050405020304" pitchFamily="18" charset="0"/>
                <a:cs typeface="Times New Roman" panose="02020603050405020304" pitchFamily="18" charset="0"/>
              </a:rPr>
              <a:t>R(</a:t>
            </a:r>
            <a:r>
              <a:rPr lang="zh-CN" altLang="en-US" i="1" dirty="0">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rPr>
              <a:t>)) // P</a:t>
            </a:r>
          </a:p>
          <a:p>
            <a:pPr>
              <a:buClr>
                <a:schemeClr val="tx1"/>
              </a:buClr>
              <a:buFontTx/>
              <a:buNone/>
            </a:pPr>
            <a:r>
              <a:rPr lang="zh-CN" altLang="en-US" dirty="0">
                <a:latin typeface="Times New Roman" panose="02020603050405020304" pitchFamily="18" charset="0"/>
                <a:cs typeface="Times New Roman" panose="02020603050405020304" pitchFamily="18" charset="0"/>
              </a:rPr>
              <a:t>		(6). C(</a:t>
            </a:r>
            <a:r>
              <a:rPr lang="en-US" altLang="zh-CN" i="1" dirty="0">
                <a:latin typeface="Times New Roman" panose="02020603050405020304" pitchFamily="18" charset="0"/>
                <a:cs typeface="Times New Roman" panose="02020603050405020304" pitchFamily="18" charset="0"/>
              </a:rPr>
              <a:t>y</a:t>
            </a:r>
            <a:r>
              <a:rPr lang="zh-CN" altLang="en-US"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latin typeface="Times New Roman" panose="02020603050405020304" pitchFamily="18" charset="0"/>
                <a:cs typeface="Times New Roman" panose="02020603050405020304" pitchFamily="18" charset="0"/>
              </a:rPr>
              <a:t>R(</a:t>
            </a:r>
            <a:r>
              <a:rPr lang="en-US" altLang="zh-CN" i="1" dirty="0">
                <a:latin typeface="Times New Roman" panose="02020603050405020304" pitchFamily="18" charset="0"/>
                <a:cs typeface="Times New Roman" panose="02020603050405020304" pitchFamily="18" charset="0"/>
              </a:rPr>
              <a:t>y</a:t>
            </a:r>
            <a:r>
              <a:rPr lang="zh-CN" altLang="en-US" dirty="0">
                <a:latin typeface="Times New Roman" panose="02020603050405020304" pitchFamily="18" charset="0"/>
                <a:cs typeface="Times New Roman" panose="02020603050405020304" pitchFamily="18" charset="0"/>
              </a:rPr>
              <a:t>)	     // US</a:t>
            </a:r>
            <a:r>
              <a:rPr lang="en-US" altLang="zh-CN" dirty="0">
                <a:latin typeface="Times New Roman" panose="02020603050405020304" pitchFamily="18" charset="0"/>
                <a:cs typeface="Times New Roman" panose="02020603050405020304" pitchFamily="18" charset="0"/>
              </a:rPr>
              <a:t>,(5)</a:t>
            </a:r>
            <a:endParaRPr lang="zh-CN" altLang="en-US" dirty="0">
              <a:latin typeface="Times New Roman" panose="02020603050405020304" pitchFamily="18" charset="0"/>
              <a:cs typeface="Times New Roman" panose="02020603050405020304" pitchFamily="18" charset="0"/>
            </a:endParaRPr>
          </a:p>
          <a:p>
            <a:pPr>
              <a:buClr>
                <a:schemeClr val="tx1"/>
              </a:buClr>
              <a:buFontTx/>
              <a:buNone/>
            </a:pPr>
            <a:r>
              <a:rPr lang="zh-CN" altLang="en-US" dirty="0">
                <a:latin typeface="Times New Roman" panose="02020603050405020304" pitchFamily="18" charset="0"/>
                <a:cs typeface="Times New Roman" panose="02020603050405020304" pitchFamily="18" charset="0"/>
              </a:rPr>
              <a:t>		(7). C(</a:t>
            </a:r>
            <a:r>
              <a:rPr lang="en-US" altLang="zh-CN" i="1" dirty="0">
                <a:latin typeface="Times New Roman" panose="02020603050405020304" pitchFamily="18" charset="0"/>
                <a:cs typeface="Times New Roman" panose="02020603050405020304" pitchFamily="18" charset="0"/>
              </a:rPr>
              <a:t>y</a:t>
            </a:r>
            <a:r>
              <a:rPr lang="zh-CN" altLang="en-US" dirty="0">
                <a:latin typeface="Times New Roman" panose="02020603050405020304" pitchFamily="18" charset="0"/>
                <a:cs typeface="Times New Roman" panose="02020603050405020304" pitchFamily="18" charset="0"/>
              </a:rPr>
              <a:t>)		    // P(附加)</a:t>
            </a:r>
          </a:p>
        </p:txBody>
      </p:sp>
      <p:sp>
        <p:nvSpPr>
          <p:cNvPr id="2" name="矩形 1">
            <a:extLst>
              <a:ext uri="{FF2B5EF4-FFF2-40B4-BE49-F238E27FC236}">
                <a16:creationId xmlns:a16="http://schemas.microsoft.com/office/drawing/2014/main" id="{7B3A819C-CFB5-489B-B25B-E7FD4DA905E3}"/>
              </a:ext>
            </a:extLst>
          </p:cNvPr>
          <p:cNvSpPr/>
          <p:nvPr/>
        </p:nvSpPr>
        <p:spPr>
          <a:xfrm>
            <a:off x="5587014" y="1991976"/>
            <a:ext cx="6096000" cy="1719060"/>
          </a:xfrm>
          <a:prstGeom prst="rect">
            <a:avLst/>
          </a:prstGeom>
        </p:spPr>
        <p:txBody>
          <a:bodyPr>
            <a:spAutoFit/>
          </a:bodyPr>
          <a:lstStyle/>
          <a:p>
            <a:pPr>
              <a:lnSpc>
                <a:spcPct val="120000"/>
              </a:lnSpc>
              <a:buClr>
                <a:schemeClr val="tx1"/>
              </a:buClr>
              <a:buFontTx/>
              <a:buNone/>
            </a:pPr>
            <a:r>
              <a:rPr lang="en-US" altLang="zh-CN" dirty="0">
                <a:latin typeface="黑体" panose="02010609060101010101" pitchFamily="49" charset="-122"/>
                <a:ea typeface="黑体" panose="02010609060101010101" pitchFamily="49" charset="-122"/>
              </a:rPr>
              <a:t>Q(</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 </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是有理数；</a:t>
            </a:r>
            <a:r>
              <a:rPr lang="en-US" altLang="zh-CN" dirty="0">
                <a:latin typeface="黑体" panose="02010609060101010101" pitchFamily="49" charset="-122"/>
                <a:ea typeface="黑体" panose="02010609060101010101" pitchFamily="49" charset="-122"/>
              </a:rPr>
              <a:t>R(</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 </a:t>
            </a:r>
            <a:r>
              <a:rPr lang="en-US" altLang="zh-CN" i="1" dirty="0">
                <a:latin typeface="黑体" panose="02010609060101010101" pitchFamily="49" charset="-122"/>
                <a:ea typeface="黑体" panose="02010609060101010101" pitchFamily="49" charset="-122"/>
              </a:rPr>
              <a:t>x</a:t>
            </a:r>
            <a:r>
              <a:rPr lang="zh-CN" altLang="en-US" dirty="0">
                <a:latin typeface="黑体" panose="02010609060101010101" pitchFamily="49" charset="-122"/>
                <a:ea typeface="黑体" panose="02010609060101010101" pitchFamily="49" charset="-122"/>
              </a:rPr>
              <a:t>是实数；</a:t>
            </a:r>
            <a:r>
              <a:rPr lang="en-US" altLang="zh-CN" dirty="0">
                <a:latin typeface="黑体" panose="02010609060101010101" pitchFamily="49" charset="-122"/>
                <a:ea typeface="黑体" panose="02010609060101010101" pitchFamily="49" charset="-122"/>
              </a:rPr>
              <a:t>N(</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 </a:t>
            </a:r>
            <a:r>
              <a:rPr lang="en-US" altLang="zh-CN" i="1" dirty="0">
                <a:latin typeface="黑体" panose="02010609060101010101" pitchFamily="49" charset="-122"/>
                <a:ea typeface="黑体" panose="02010609060101010101" pitchFamily="49" charset="-122"/>
              </a:rPr>
              <a:t>x</a:t>
            </a:r>
            <a:r>
              <a:rPr lang="zh-CN" altLang="en-US" dirty="0">
                <a:latin typeface="黑体" panose="02010609060101010101" pitchFamily="49" charset="-122"/>
                <a:ea typeface="黑体" panose="02010609060101010101" pitchFamily="49" charset="-122"/>
              </a:rPr>
              <a:t>是无理数；</a:t>
            </a:r>
            <a:r>
              <a:rPr lang="en-US" altLang="zh-CN" dirty="0">
                <a:latin typeface="黑体" panose="02010609060101010101" pitchFamily="49" charset="-122"/>
                <a:ea typeface="黑体" panose="02010609060101010101" pitchFamily="49" charset="-122"/>
              </a:rPr>
              <a:t>C(</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 </a:t>
            </a:r>
            <a:r>
              <a:rPr lang="en-US" altLang="zh-CN" i="1" dirty="0">
                <a:latin typeface="黑体" panose="02010609060101010101" pitchFamily="49" charset="-122"/>
                <a:ea typeface="黑体" panose="02010609060101010101" pitchFamily="49" charset="-122"/>
              </a:rPr>
              <a:t>x</a:t>
            </a:r>
            <a:r>
              <a:rPr lang="zh-CN" altLang="en-US" dirty="0">
                <a:latin typeface="黑体" panose="02010609060101010101" pitchFamily="49" charset="-122"/>
                <a:ea typeface="黑体" panose="02010609060101010101" pitchFamily="49" charset="-122"/>
              </a:rPr>
              <a:t>是虚数。上述推理可符号化为：</a:t>
            </a:r>
          </a:p>
          <a:p>
            <a:pPr>
              <a:lnSpc>
                <a:spcPct val="120000"/>
              </a:lnSpc>
              <a:buClr>
                <a:schemeClr val="tx1"/>
              </a:buClr>
              <a:buFontTx/>
              <a:buNone/>
            </a:pPr>
            <a:r>
              <a:rPr lang="zh-CN" altLang="en-US" dirty="0">
                <a:latin typeface="黑体" panose="02010609060101010101" pitchFamily="49" charset="-122"/>
                <a:ea typeface="黑体" panose="02010609060101010101" pitchFamily="49" charset="-122"/>
              </a:rPr>
              <a:t>	</a:t>
            </a:r>
            <a:r>
              <a:rPr lang="zh-CN" altLang="en-US" dirty="0">
                <a:solidFill>
                  <a:srgbClr val="0033CC"/>
                </a:solidFill>
                <a:latin typeface="黑体" panose="02010609060101010101" pitchFamily="49" charset="-122"/>
                <a:ea typeface="黑体" panose="02010609060101010101" pitchFamily="49" charset="-122"/>
              </a:rPr>
              <a:t>前提</a:t>
            </a:r>
            <a:r>
              <a:rPr lang="zh-CN" altLang="en-US"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sym typeface="Symbol" panose="05050102010706020507" pitchFamily="18" charset="2"/>
              </a:rPr>
              <a:t></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(Q(</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sym typeface="Symbol" panose="05050102010706020507" pitchFamily="18" charset="2"/>
              </a:rPr>
              <a:t></a:t>
            </a:r>
            <a:r>
              <a:rPr lang="en-US" altLang="zh-CN" dirty="0">
                <a:latin typeface="黑体" panose="02010609060101010101" pitchFamily="49" charset="-122"/>
                <a:ea typeface="黑体" panose="02010609060101010101" pitchFamily="49" charset="-122"/>
              </a:rPr>
              <a:t>R(</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sym typeface="Symbol" panose="05050102010706020507" pitchFamily="18" charset="2"/>
              </a:rPr>
              <a:t></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(N(</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sym typeface="Symbol" panose="05050102010706020507" pitchFamily="18" charset="2"/>
              </a:rPr>
              <a:t></a:t>
            </a:r>
            <a:r>
              <a:rPr lang="en-US" altLang="zh-CN" dirty="0">
                <a:latin typeface="黑体" panose="02010609060101010101" pitchFamily="49" charset="-122"/>
                <a:ea typeface="黑体" panose="02010609060101010101" pitchFamily="49" charset="-122"/>
              </a:rPr>
              <a:t>R(</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sym typeface="Symbol" panose="05050102010706020507" pitchFamily="18" charset="2"/>
              </a:rPr>
              <a:t></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(C(</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sym typeface="Symbol" panose="05050102010706020507" pitchFamily="18" charset="2"/>
              </a:rPr>
              <a:t></a:t>
            </a:r>
            <a:r>
              <a:rPr lang="en-US" altLang="zh-CN"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sym typeface="Symbol" panose="05050102010706020507" pitchFamily="18" charset="2"/>
              </a:rPr>
              <a:t></a:t>
            </a:r>
            <a:r>
              <a:rPr lang="en-US" altLang="zh-CN" dirty="0">
                <a:latin typeface="黑体" panose="02010609060101010101" pitchFamily="49" charset="-122"/>
                <a:ea typeface="黑体" panose="02010609060101010101" pitchFamily="49" charset="-122"/>
              </a:rPr>
              <a:t>R(</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a:t>
            </a:r>
          </a:p>
          <a:p>
            <a:pPr>
              <a:lnSpc>
                <a:spcPct val="120000"/>
              </a:lnSpc>
              <a:buClr>
                <a:schemeClr val="tx1"/>
              </a:buClr>
              <a:buFontTx/>
              <a:buNone/>
            </a:pPr>
            <a:r>
              <a:rPr lang="en-US" altLang="zh-CN" dirty="0">
                <a:latin typeface="黑体" panose="02010609060101010101" pitchFamily="49" charset="-122"/>
                <a:ea typeface="黑体" panose="02010609060101010101" pitchFamily="49" charset="-122"/>
              </a:rPr>
              <a:t>	</a:t>
            </a:r>
            <a:r>
              <a:rPr lang="zh-CN" altLang="en-US" dirty="0">
                <a:solidFill>
                  <a:srgbClr val="0033CC"/>
                </a:solidFill>
                <a:latin typeface="黑体" panose="02010609060101010101" pitchFamily="49" charset="-122"/>
                <a:ea typeface="黑体" panose="02010609060101010101" pitchFamily="49" charset="-122"/>
              </a:rPr>
              <a:t>结论</a:t>
            </a:r>
            <a:r>
              <a:rPr lang="zh-CN" altLang="en-US"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sym typeface="Symbol" panose="05050102010706020507" pitchFamily="18" charset="2"/>
              </a:rPr>
              <a:t></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(C(</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sym typeface="Symbol" panose="05050102010706020507" pitchFamily="18" charset="2"/>
              </a:rPr>
              <a:t></a:t>
            </a:r>
            <a:r>
              <a:rPr lang="en-US" altLang="zh-CN"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sym typeface="Symbol" panose="05050102010706020507" pitchFamily="18" charset="2"/>
              </a:rPr>
              <a:t></a:t>
            </a:r>
            <a:r>
              <a:rPr lang="en-US" altLang="zh-CN" dirty="0">
                <a:latin typeface="黑体" panose="02010609060101010101" pitchFamily="49" charset="-122"/>
                <a:ea typeface="黑体" panose="02010609060101010101" pitchFamily="49" charset="-122"/>
              </a:rPr>
              <a:t>Q(</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sym typeface="Symbol" panose="05050102010706020507" pitchFamily="18" charset="2"/>
              </a:rPr>
              <a:t></a:t>
            </a:r>
            <a:r>
              <a:rPr lang="en-US" altLang="zh-CN"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sym typeface="Symbol" panose="05050102010706020507" pitchFamily="18" charset="2"/>
              </a:rPr>
              <a:t></a:t>
            </a:r>
            <a:r>
              <a:rPr lang="en-US" altLang="zh-CN" dirty="0">
                <a:latin typeface="黑体" panose="02010609060101010101" pitchFamily="49" charset="-122"/>
                <a:ea typeface="黑体" panose="02010609060101010101" pitchFamily="49" charset="-122"/>
              </a:rPr>
              <a:t>N(</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a:t>
            </a:r>
          </a:p>
        </p:txBody>
      </p:sp>
    </p:spTree>
    <p:extLst>
      <p:ext uri="{BB962C8B-B14F-4D97-AF65-F5344CB8AC3E}">
        <p14:creationId xmlns:p14="http://schemas.microsoft.com/office/powerpoint/2010/main" val="254133683"/>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矩形 3">
            <a:extLst>
              <a:ext uri="{FF2B5EF4-FFF2-40B4-BE49-F238E27FC236}">
                <a16:creationId xmlns:a16="http://schemas.microsoft.com/office/drawing/2014/main" id="{9BA0C7D6-79A5-4C3A-AD99-EBC2EE8EE270}"/>
              </a:ext>
            </a:extLst>
          </p:cNvPr>
          <p:cNvSpPr>
            <a:spLocks noChangeArrowheads="1"/>
          </p:cNvSpPr>
          <p:nvPr/>
        </p:nvSpPr>
        <p:spPr bwMode="auto">
          <a:xfrm>
            <a:off x="851694" y="2899175"/>
            <a:ext cx="7726362" cy="413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800" b="1">
                <a:solidFill>
                  <a:schemeClr val="tx1"/>
                </a:solidFill>
                <a:latin typeface="Times New Roman" panose="02020603050405020304" pitchFamily="18" charset="0"/>
                <a:ea typeface="宋体" panose="02010600030101010101" pitchFamily="2" charset="-122"/>
              </a:defRPr>
            </a:lvl1pPr>
            <a:lvl2pPr>
              <a:defRPr sz="2800" b="1">
                <a:solidFill>
                  <a:schemeClr val="tx1"/>
                </a:solidFill>
                <a:latin typeface="Times New Roman" panose="02020603050405020304" pitchFamily="18" charset="0"/>
                <a:ea typeface="宋体" panose="02010600030101010101" pitchFamily="2" charset="-122"/>
              </a:defRPr>
            </a:lvl2pPr>
            <a:lvl3pPr>
              <a:defRPr sz="2800" b="1">
                <a:solidFill>
                  <a:schemeClr val="tx1"/>
                </a:solidFill>
                <a:latin typeface="Times New Roman" panose="02020603050405020304" pitchFamily="18" charset="0"/>
                <a:ea typeface="宋体" panose="02010600030101010101" pitchFamily="2" charset="-122"/>
              </a:defRPr>
            </a:lvl3pPr>
            <a:lvl4pPr>
              <a:defRPr sz="2800" b="1">
                <a:solidFill>
                  <a:schemeClr val="tx1"/>
                </a:solidFill>
                <a:latin typeface="Times New Roman" panose="02020603050405020304" pitchFamily="18" charset="0"/>
                <a:ea typeface="宋体" panose="02010600030101010101" pitchFamily="2" charset="-122"/>
              </a:defRPr>
            </a:lvl4pPr>
            <a:lvl5pPr>
              <a:defRPr sz="28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a:lnSpc>
                <a:spcPct val="120000"/>
              </a:lnSpc>
              <a:spcBef>
                <a:spcPct val="20000"/>
              </a:spcBef>
              <a:buClr>
                <a:schemeClr val="tx1"/>
              </a:buClr>
            </a:pPr>
            <a:r>
              <a:rPr lang="en-US" altLang="zh-CN" b="0" dirty="0">
                <a:cs typeface="Times New Roman" panose="02020603050405020304" pitchFamily="18" charset="0"/>
              </a:rPr>
              <a:t>(8). </a:t>
            </a:r>
            <a:r>
              <a:rPr lang="en-US" altLang="zh-CN" b="0" dirty="0">
                <a:cs typeface="Times New Roman" panose="02020603050405020304" pitchFamily="18" charset="0"/>
                <a:sym typeface="Symbol" panose="05050102010706020507" pitchFamily="18" charset="2"/>
              </a:rPr>
              <a:t></a:t>
            </a:r>
            <a:r>
              <a:rPr lang="en-US" altLang="zh-CN" b="0" dirty="0">
                <a:cs typeface="Times New Roman" panose="02020603050405020304" pitchFamily="18" charset="0"/>
              </a:rPr>
              <a:t>R(</a:t>
            </a:r>
            <a:r>
              <a:rPr lang="en-US" altLang="zh-CN" b="0" i="1" dirty="0">
                <a:cs typeface="Times New Roman" panose="02020603050405020304" pitchFamily="18" charset="0"/>
              </a:rPr>
              <a:t>y</a:t>
            </a:r>
            <a:r>
              <a:rPr lang="en-US" altLang="zh-CN" b="0" dirty="0">
                <a:cs typeface="Times New Roman" panose="02020603050405020304" pitchFamily="18" charset="0"/>
              </a:rPr>
              <a:t>)                     // </a:t>
            </a:r>
            <a:r>
              <a:rPr lang="zh-CN" altLang="en-US" b="0" dirty="0">
                <a:cs typeface="Times New Roman" panose="02020603050405020304" pitchFamily="18" charset="0"/>
              </a:rPr>
              <a:t> </a:t>
            </a:r>
            <a:r>
              <a:rPr lang="en-US" altLang="zh-CN" b="0" dirty="0">
                <a:cs typeface="Times New Roman" panose="02020603050405020304" pitchFamily="18" charset="0"/>
              </a:rPr>
              <a:t>T, I, (6), (7)</a:t>
            </a:r>
          </a:p>
          <a:p>
            <a:pPr>
              <a:lnSpc>
                <a:spcPct val="120000"/>
              </a:lnSpc>
              <a:spcBef>
                <a:spcPct val="20000"/>
              </a:spcBef>
              <a:buClr>
                <a:schemeClr val="tx1"/>
              </a:buClr>
            </a:pPr>
            <a:r>
              <a:rPr lang="en-US" altLang="zh-CN" b="0" dirty="0">
                <a:cs typeface="Times New Roman" panose="02020603050405020304" pitchFamily="18" charset="0"/>
              </a:rPr>
              <a:t>(9). </a:t>
            </a:r>
            <a:r>
              <a:rPr lang="en-US" altLang="zh-CN" b="0" dirty="0">
                <a:cs typeface="Times New Roman" panose="02020603050405020304" pitchFamily="18" charset="0"/>
                <a:sym typeface="Symbol" panose="05050102010706020507" pitchFamily="18" charset="2"/>
              </a:rPr>
              <a:t></a:t>
            </a:r>
            <a:r>
              <a:rPr lang="en-US" altLang="zh-CN" b="0" dirty="0">
                <a:cs typeface="Times New Roman" panose="02020603050405020304" pitchFamily="18" charset="0"/>
              </a:rPr>
              <a:t>Q(</a:t>
            </a:r>
            <a:r>
              <a:rPr lang="en-US" altLang="zh-CN" b="0" i="1" dirty="0">
                <a:cs typeface="Times New Roman" panose="02020603050405020304" pitchFamily="18" charset="0"/>
              </a:rPr>
              <a:t>y</a:t>
            </a:r>
            <a:r>
              <a:rPr lang="en-US" altLang="zh-CN" b="0" dirty="0">
                <a:cs typeface="Times New Roman" panose="02020603050405020304" pitchFamily="18" charset="0"/>
              </a:rPr>
              <a:t>)                    // T, I (2), (8)</a:t>
            </a:r>
          </a:p>
          <a:p>
            <a:pPr>
              <a:lnSpc>
                <a:spcPct val="120000"/>
              </a:lnSpc>
              <a:spcBef>
                <a:spcPct val="20000"/>
              </a:spcBef>
              <a:buClr>
                <a:schemeClr val="tx1"/>
              </a:buClr>
            </a:pPr>
            <a:r>
              <a:rPr lang="en-US" altLang="zh-CN" b="0" dirty="0">
                <a:cs typeface="Times New Roman" panose="02020603050405020304" pitchFamily="18" charset="0"/>
              </a:rPr>
              <a:t>(10). </a:t>
            </a:r>
            <a:r>
              <a:rPr lang="en-US" altLang="zh-CN" b="0" dirty="0">
                <a:cs typeface="Times New Roman" panose="02020603050405020304" pitchFamily="18" charset="0"/>
                <a:sym typeface="Symbol" panose="05050102010706020507" pitchFamily="18" charset="2"/>
              </a:rPr>
              <a:t></a:t>
            </a:r>
            <a:r>
              <a:rPr lang="en-US" altLang="zh-CN" b="0" dirty="0">
                <a:cs typeface="Times New Roman" panose="02020603050405020304" pitchFamily="18" charset="0"/>
              </a:rPr>
              <a:t>N(</a:t>
            </a:r>
            <a:r>
              <a:rPr lang="en-US" altLang="zh-CN" b="0" i="1" dirty="0">
                <a:cs typeface="Times New Roman" panose="02020603050405020304" pitchFamily="18" charset="0"/>
              </a:rPr>
              <a:t>y</a:t>
            </a:r>
            <a:r>
              <a:rPr lang="en-US" altLang="zh-CN" b="0" dirty="0">
                <a:cs typeface="Times New Roman" panose="02020603050405020304" pitchFamily="18" charset="0"/>
              </a:rPr>
              <a:t>)                  // T, I, (4),(8)</a:t>
            </a:r>
          </a:p>
          <a:p>
            <a:pPr>
              <a:lnSpc>
                <a:spcPct val="120000"/>
              </a:lnSpc>
              <a:spcBef>
                <a:spcPct val="20000"/>
              </a:spcBef>
              <a:buClr>
                <a:schemeClr val="tx1"/>
              </a:buClr>
            </a:pPr>
            <a:r>
              <a:rPr lang="en-US" altLang="zh-CN" b="0" dirty="0">
                <a:cs typeface="Times New Roman" panose="02020603050405020304" pitchFamily="18" charset="0"/>
              </a:rPr>
              <a:t>(11). </a:t>
            </a:r>
            <a:r>
              <a:rPr lang="en-US" altLang="zh-CN" b="0" dirty="0">
                <a:cs typeface="Times New Roman" panose="02020603050405020304" pitchFamily="18" charset="0"/>
                <a:sym typeface="Symbol" panose="05050102010706020507" pitchFamily="18" charset="2"/>
              </a:rPr>
              <a:t></a:t>
            </a:r>
            <a:r>
              <a:rPr lang="en-US" altLang="zh-CN" b="0" dirty="0">
                <a:cs typeface="Times New Roman" panose="02020603050405020304" pitchFamily="18" charset="0"/>
              </a:rPr>
              <a:t>Q(</a:t>
            </a:r>
            <a:r>
              <a:rPr lang="en-US" altLang="zh-CN" b="0" i="1" dirty="0">
                <a:cs typeface="Times New Roman" panose="02020603050405020304" pitchFamily="18" charset="0"/>
              </a:rPr>
              <a:t>y</a:t>
            </a:r>
            <a:r>
              <a:rPr lang="en-US" altLang="zh-CN" b="0" dirty="0">
                <a:cs typeface="Times New Roman" panose="02020603050405020304" pitchFamily="18" charset="0"/>
              </a:rPr>
              <a:t>) </a:t>
            </a:r>
            <a:r>
              <a:rPr lang="en-US" altLang="zh-CN" b="0" dirty="0">
                <a:cs typeface="Times New Roman" panose="02020603050405020304" pitchFamily="18" charset="0"/>
                <a:sym typeface="Symbol" panose="05050102010706020507" pitchFamily="18" charset="2"/>
              </a:rPr>
              <a:t></a:t>
            </a:r>
            <a:r>
              <a:rPr lang="en-US" altLang="zh-CN" b="0" dirty="0">
                <a:cs typeface="Times New Roman" panose="02020603050405020304" pitchFamily="18" charset="0"/>
              </a:rPr>
              <a:t> </a:t>
            </a:r>
            <a:r>
              <a:rPr lang="en-US" altLang="zh-CN" b="0" dirty="0">
                <a:cs typeface="Times New Roman" panose="02020603050405020304" pitchFamily="18" charset="0"/>
                <a:sym typeface="Symbol" panose="05050102010706020507" pitchFamily="18" charset="2"/>
              </a:rPr>
              <a:t></a:t>
            </a:r>
            <a:r>
              <a:rPr lang="en-US" altLang="zh-CN" b="0" dirty="0">
                <a:cs typeface="Times New Roman" panose="02020603050405020304" pitchFamily="18" charset="0"/>
              </a:rPr>
              <a:t>N(</a:t>
            </a:r>
            <a:r>
              <a:rPr lang="en-US" altLang="zh-CN" b="0" i="1" dirty="0">
                <a:cs typeface="Times New Roman" panose="02020603050405020304" pitchFamily="18" charset="0"/>
              </a:rPr>
              <a:t>y)</a:t>
            </a:r>
            <a:r>
              <a:rPr lang="en-US" altLang="zh-CN" b="0" dirty="0">
                <a:cs typeface="Times New Roman" panose="02020603050405020304" pitchFamily="18" charset="0"/>
              </a:rPr>
              <a:t>    // T, I, (9), (10)</a:t>
            </a:r>
            <a:endParaRPr lang="zh-CN" altLang="en-US" b="0" dirty="0">
              <a:cs typeface="Times New Roman" panose="02020603050405020304" pitchFamily="18" charset="0"/>
            </a:endParaRPr>
          </a:p>
          <a:p>
            <a:pPr>
              <a:lnSpc>
                <a:spcPct val="120000"/>
              </a:lnSpc>
              <a:spcBef>
                <a:spcPct val="20000"/>
              </a:spcBef>
              <a:buClr>
                <a:schemeClr val="tx1"/>
              </a:buClr>
            </a:pPr>
            <a:r>
              <a:rPr lang="en-US" altLang="zh-CN" b="0" dirty="0">
                <a:cs typeface="Times New Roman" panose="02020603050405020304" pitchFamily="18" charset="0"/>
              </a:rPr>
              <a:t>(12). C(</a:t>
            </a:r>
            <a:r>
              <a:rPr lang="en-US" altLang="zh-CN" b="0" i="1" dirty="0">
                <a:cs typeface="Times New Roman" panose="02020603050405020304" pitchFamily="18" charset="0"/>
              </a:rPr>
              <a:t>y</a:t>
            </a:r>
            <a:r>
              <a:rPr lang="en-US" altLang="zh-CN" b="0" dirty="0">
                <a:cs typeface="Times New Roman" panose="02020603050405020304" pitchFamily="18" charset="0"/>
              </a:rPr>
              <a:t>)</a:t>
            </a:r>
            <a:r>
              <a:rPr lang="en-US" altLang="zh-CN" b="0" dirty="0">
                <a:cs typeface="Times New Roman" panose="02020603050405020304" pitchFamily="18" charset="0"/>
                <a:sym typeface="Symbol" panose="05050102010706020507" pitchFamily="18" charset="2"/>
              </a:rPr>
              <a:t></a:t>
            </a:r>
            <a:r>
              <a:rPr lang="en-US" altLang="zh-CN" b="0" dirty="0">
                <a:cs typeface="Times New Roman" panose="02020603050405020304" pitchFamily="18" charset="0"/>
              </a:rPr>
              <a:t>(</a:t>
            </a:r>
            <a:r>
              <a:rPr lang="en-US" altLang="zh-CN" b="0" dirty="0">
                <a:cs typeface="Times New Roman" panose="02020603050405020304" pitchFamily="18" charset="0"/>
                <a:sym typeface="Symbol" panose="05050102010706020507" pitchFamily="18" charset="2"/>
              </a:rPr>
              <a:t></a:t>
            </a:r>
            <a:r>
              <a:rPr lang="en-US" altLang="zh-CN" b="0" dirty="0">
                <a:cs typeface="Times New Roman" panose="02020603050405020304" pitchFamily="18" charset="0"/>
              </a:rPr>
              <a:t>Q(</a:t>
            </a:r>
            <a:r>
              <a:rPr lang="en-US" altLang="zh-CN" b="0" i="1" dirty="0">
                <a:cs typeface="Times New Roman" panose="02020603050405020304" pitchFamily="18" charset="0"/>
              </a:rPr>
              <a:t>y</a:t>
            </a:r>
            <a:r>
              <a:rPr lang="en-US" altLang="zh-CN" b="0" dirty="0">
                <a:cs typeface="Times New Roman" panose="02020603050405020304" pitchFamily="18" charset="0"/>
              </a:rPr>
              <a:t>) </a:t>
            </a:r>
            <a:r>
              <a:rPr lang="en-US" altLang="zh-CN" b="0" dirty="0">
                <a:cs typeface="Times New Roman" panose="02020603050405020304" pitchFamily="18" charset="0"/>
                <a:sym typeface="Symbol" panose="05050102010706020507" pitchFamily="18" charset="2"/>
              </a:rPr>
              <a:t></a:t>
            </a:r>
            <a:r>
              <a:rPr lang="en-US" altLang="zh-CN" b="0" dirty="0">
                <a:cs typeface="Times New Roman" panose="02020603050405020304" pitchFamily="18" charset="0"/>
              </a:rPr>
              <a:t> </a:t>
            </a:r>
            <a:r>
              <a:rPr lang="en-US" altLang="zh-CN" b="0" dirty="0">
                <a:cs typeface="Times New Roman" panose="02020603050405020304" pitchFamily="18" charset="0"/>
                <a:sym typeface="Symbol" panose="05050102010706020507" pitchFamily="18" charset="2"/>
              </a:rPr>
              <a:t></a:t>
            </a:r>
            <a:r>
              <a:rPr lang="en-US" altLang="zh-CN" b="0" dirty="0">
                <a:cs typeface="Times New Roman" panose="02020603050405020304" pitchFamily="18" charset="0"/>
              </a:rPr>
              <a:t>N(</a:t>
            </a:r>
            <a:r>
              <a:rPr lang="en-US" altLang="zh-CN" b="0" i="1" dirty="0">
                <a:cs typeface="Times New Roman" panose="02020603050405020304" pitchFamily="18" charset="0"/>
              </a:rPr>
              <a:t>y</a:t>
            </a:r>
            <a:r>
              <a:rPr lang="en-US" altLang="zh-CN" b="0" dirty="0">
                <a:cs typeface="Times New Roman" panose="02020603050405020304" pitchFamily="18" charset="0"/>
              </a:rPr>
              <a:t>)   // T, I, (7),(11)</a:t>
            </a:r>
          </a:p>
          <a:p>
            <a:pPr>
              <a:lnSpc>
                <a:spcPct val="120000"/>
              </a:lnSpc>
              <a:spcBef>
                <a:spcPct val="20000"/>
              </a:spcBef>
              <a:buClr>
                <a:schemeClr val="tx1"/>
              </a:buClr>
            </a:pPr>
            <a:r>
              <a:rPr lang="en-US" altLang="zh-CN" b="0" dirty="0">
                <a:cs typeface="Times New Roman" panose="02020603050405020304" pitchFamily="18" charset="0"/>
              </a:rPr>
              <a:t>(13). </a:t>
            </a:r>
            <a:r>
              <a:rPr lang="en-US" altLang="zh-CN" b="0" dirty="0">
                <a:cs typeface="Times New Roman" panose="02020603050405020304" pitchFamily="18" charset="0"/>
                <a:sym typeface="Symbol" panose="05050102010706020507" pitchFamily="18" charset="2"/>
              </a:rPr>
              <a:t></a:t>
            </a:r>
            <a:r>
              <a:rPr lang="en-US" altLang="zh-CN" b="0" i="1" dirty="0">
                <a:cs typeface="Times New Roman" panose="02020603050405020304" pitchFamily="18" charset="0"/>
              </a:rPr>
              <a:t>x</a:t>
            </a:r>
            <a:r>
              <a:rPr lang="en-US" altLang="zh-CN" b="0" dirty="0">
                <a:cs typeface="Times New Roman" panose="02020603050405020304" pitchFamily="18" charset="0"/>
              </a:rPr>
              <a:t>(C(</a:t>
            </a:r>
            <a:r>
              <a:rPr lang="en-US" altLang="zh-CN" b="0" i="1" dirty="0">
                <a:cs typeface="Times New Roman" panose="02020603050405020304" pitchFamily="18" charset="0"/>
              </a:rPr>
              <a:t>x</a:t>
            </a:r>
            <a:r>
              <a:rPr lang="en-US" altLang="zh-CN" b="0" dirty="0">
                <a:cs typeface="Times New Roman" panose="02020603050405020304" pitchFamily="18" charset="0"/>
              </a:rPr>
              <a:t>)</a:t>
            </a:r>
            <a:r>
              <a:rPr lang="en-US" altLang="zh-CN" b="0" dirty="0">
                <a:cs typeface="Times New Roman" panose="02020603050405020304" pitchFamily="18" charset="0"/>
                <a:sym typeface="Symbol" panose="05050102010706020507" pitchFamily="18" charset="2"/>
              </a:rPr>
              <a:t></a:t>
            </a:r>
            <a:r>
              <a:rPr lang="en-US" altLang="zh-CN" b="0" dirty="0">
                <a:cs typeface="Times New Roman" panose="02020603050405020304" pitchFamily="18" charset="0"/>
              </a:rPr>
              <a:t> (</a:t>
            </a:r>
            <a:r>
              <a:rPr lang="en-US" altLang="zh-CN" b="0" dirty="0">
                <a:cs typeface="Times New Roman" panose="02020603050405020304" pitchFamily="18" charset="0"/>
                <a:sym typeface="Symbol" panose="05050102010706020507" pitchFamily="18" charset="2"/>
              </a:rPr>
              <a:t></a:t>
            </a:r>
            <a:r>
              <a:rPr lang="en-US" altLang="zh-CN" b="0" dirty="0">
                <a:cs typeface="Times New Roman" panose="02020603050405020304" pitchFamily="18" charset="0"/>
              </a:rPr>
              <a:t>Q(</a:t>
            </a:r>
            <a:r>
              <a:rPr lang="en-US" altLang="zh-CN" b="0" i="1" dirty="0">
                <a:cs typeface="Times New Roman" panose="02020603050405020304" pitchFamily="18" charset="0"/>
              </a:rPr>
              <a:t>x</a:t>
            </a:r>
            <a:r>
              <a:rPr lang="en-US" altLang="zh-CN" b="0" dirty="0">
                <a:cs typeface="Times New Roman" panose="02020603050405020304" pitchFamily="18" charset="0"/>
              </a:rPr>
              <a:t>) </a:t>
            </a:r>
            <a:r>
              <a:rPr lang="en-US" altLang="zh-CN" b="0" dirty="0">
                <a:cs typeface="Times New Roman" panose="02020603050405020304" pitchFamily="18" charset="0"/>
                <a:sym typeface="Symbol" panose="05050102010706020507" pitchFamily="18" charset="2"/>
              </a:rPr>
              <a:t></a:t>
            </a:r>
            <a:r>
              <a:rPr lang="en-US" altLang="zh-CN" b="0" dirty="0">
                <a:cs typeface="Times New Roman" panose="02020603050405020304" pitchFamily="18" charset="0"/>
              </a:rPr>
              <a:t> </a:t>
            </a:r>
            <a:r>
              <a:rPr lang="en-US" altLang="zh-CN" b="0" dirty="0">
                <a:cs typeface="Times New Roman" panose="02020603050405020304" pitchFamily="18" charset="0"/>
                <a:sym typeface="Symbol" panose="05050102010706020507" pitchFamily="18" charset="2"/>
              </a:rPr>
              <a:t></a:t>
            </a:r>
            <a:r>
              <a:rPr lang="en-US" altLang="zh-CN" b="0" dirty="0">
                <a:cs typeface="Times New Roman" panose="02020603050405020304" pitchFamily="18" charset="0"/>
              </a:rPr>
              <a:t>N(</a:t>
            </a:r>
            <a:r>
              <a:rPr lang="en-US" altLang="zh-CN" b="0" i="1" dirty="0">
                <a:cs typeface="Times New Roman" panose="02020603050405020304" pitchFamily="18" charset="0"/>
              </a:rPr>
              <a:t>x</a:t>
            </a:r>
            <a:r>
              <a:rPr lang="en-US" altLang="zh-CN" b="0" dirty="0">
                <a:cs typeface="Times New Roman" panose="02020603050405020304" pitchFamily="18" charset="0"/>
              </a:rPr>
              <a:t>))   //UG</a:t>
            </a:r>
          </a:p>
        </p:txBody>
      </p:sp>
      <p:sp>
        <p:nvSpPr>
          <p:cNvPr id="2" name="矩形 1">
            <a:extLst>
              <a:ext uri="{FF2B5EF4-FFF2-40B4-BE49-F238E27FC236}">
                <a16:creationId xmlns:a16="http://schemas.microsoft.com/office/drawing/2014/main" id="{4770D9CB-3DC5-4C8A-BA26-25079AB8C062}"/>
              </a:ext>
            </a:extLst>
          </p:cNvPr>
          <p:cNvSpPr/>
          <p:nvPr/>
        </p:nvSpPr>
        <p:spPr>
          <a:xfrm>
            <a:off x="1867270" y="959151"/>
            <a:ext cx="6096000" cy="1719060"/>
          </a:xfrm>
          <a:prstGeom prst="rect">
            <a:avLst/>
          </a:prstGeom>
        </p:spPr>
        <p:txBody>
          <a:bodyPr>
            <a:spAutoFit/>
          </a:bodyPr>
          <a:lstStyle/>
          <a:p>
            <a:pPr>
              <a:lnSpc>
                <a:spcPct val="120000"/>
              </a:lnSpc>
              <a:buClr>
                <a:schemeClr val="tx1"/>
              </a:buClr>
              <a:buFontTx/>
              <a:buNone/>
            </a:pPr>
            <a:r>
              <a:rPr lang="en-US" altLang="zh-CN" dirty="0">
                <a:latin typeface="黑体" panose="02010609060101010101" pitchFamily="49" charset="-122"/>
                <a:ea typeface="黑体" panose="02010609060101010101" pitchFamily="49" charset="-122"/>
              </a:rPr>
              <a:t>Q(</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 </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是有理数；</a:t>
            </a:r>
            <a:r>
              <a:rPr lang="en-US" altLang="zh-CN" dirty="0">
                <a:latin typeface="黑体" panose="02010609060101010101" pitchFamily="49" charset="-122"/>
                <a:ea typeface="黑体" panose="02010609060101010101" pitchFamily="49" charset="-122"/>
              </a:rPr>
              <a:t>R(</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 </a:t>
            </a:r>
            <a:r>
              <a:rPr lang="en-US" altLang="zh-CN" i="1" dirty="0">
                <a:latin typeface="黑体" panose="02010609060101010101" pitchFamily="49" charset="-122"/>
                <a:ea typeface="黑体" panose="02010609060101010101" pitchFamily="49" charset="-122"/>
              </a:rPr>
              <a:t>x</a:t>
            </a:r>
            <a:r>
              <a:rPr lang="zh-CN" altLang="en-US" dirty="0">
                <a:latin typeface="黑体" panose="02010609060101010101" pitchFamily="49" charset="-122"/>
                <a:ea typeface="黑体" panose="02010609060101010101" pitchFamily="49" charset="-122"/>
              </a:rPr>
              <a:t>是实数；</a:t>
            </a:r>
            <a:r>
              <a:rPr lang="en-US" altLang="zh-CN" dirty="0">
                <a:latin typeface="黑体" panose="02010609060101010101" pitchFamily="49" charset="-122"/>
                <a:ea typeface="黑体" panose="02010609060101010101" pitchFamily="49" charset="-122"/>
              </a:rPr>
              <a:t>N(</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 </a:t>
            </a:r>
            <a:r>
              <a:rPr lang="en-US" altLang="zh-CN" i="1" dirty="0">
                <a:latin typeface="黑体" panose="02010609060101010101" pitchFamily="49" charset="-122"/>
                <a:ea typeface="黑体" panose="02010609060101010101" pitchFamily="49" charset="-122"/>
              </a:rPr>
              <a:t>x</a:t>
            </a:r>
            <a:r>
              <a:rPr lang="zh-CN" altLang="en-US" dirty="0">
                <a:latin typeface="黑体" panose="02010609060101010101" pitchFamily="49" charset="-122"/>
                <a:ea typeface="黑体" panose="02010609060101010101" pitchFamily="49" charset="-122"/>
              </a:rPr>
              <a:t>是无理数；</a:t>
            </a:r>
            <a:r>
              <a:rPr lang="en-US" altLang="zh-CN" dirty="0">
                <a:latin typeface="黑体" panose="02010609060101010101" pitchFamily="49" charset="-122"/>
                <a:ea typeface="黑体" panose="02010609060101010101" pitchFamily="49" charset="-122"/>
              </a:rPr>
              <a:t>C(</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 </a:t>
            </a:r>
            <a:r>
              <a:rPr lang="en-US" altLang="zh-CN" i="1" dirty="0">
                <a:latin typeface="黑体" panose="02010609060101010101" pitchFamily="49" charset="-122"/>
                <a:ea typeface="黑体" panose="02010609060101010101" pitchFamily="49" charset="-122"/>
              </a:rPr>
              <a:t>x</a:t>
            </a:r>
            <a:r>
              <a:rPr lang="zh-CN" altLang="en-US" dirty="0">
                <a:latin typeface="黑体" panose="02010609060101010101" pitchFamily="49" charset="-122"/>
                <a:ea typeface="黑体" panose="02010609060101010101" pitchFamily="49" charset="-122"/>
              </a:rPr>
              <a:t>是虚数。上述推理可符号化为：</a:t>
            </a:r>
          </a:p>
          <a:p>
            <a:pPr>
              <a:lnSpc>
                <a:spcPct val="120000"/>
              </a:lnSpc>
              <a:buClr>
                <a:schemeClr val="tx1"/>
              </a:buClr>
              <a:buFontTx/>
              <a:buNone/>
            </a:pPr>
            <a:r>
              <a:rPr lang="zh-CN" altLang="en-US" dirty="0">
                <a:latin typeface="黑体" panose="02010609060101010101" pitchFamily="49" charset="-122"/>
                <a:ea typeface="黑体" panose="02010609060101010101" pitchFamily="49" charset="-122"/>
              </a:rPr>
              <a:t>	</a:t>
            </a:r>
            <a:r>
              <a:rPr lang="zh-CN" altLang="en-US" dirty="0">
                <a:solidFill>
                  <a:srgbClr val="0033CC"/>
                </a:solidFill>
                <a:latin typeface="黑体" panose="02010609060101010101" pitchFamily="49" charset="-122"/>
                <a:ea typeface="黑体" panose="02010609060101010101" pitchFamily="49" charset="-122"/>
              </a:rPr>
              <a:t>前提</a:t>
            </a:r>
            <a:r>
              <a:rPr lang="zh-CN" altLang="en-US"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sym typeface="Symbol" panose="05050102010706020507" pitchFamily="18" charset="2"/>
              </a:rPr>
              <a:t></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(Q(</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sym typeface="Symbol" panose="05050102010706020507" pitchFamily="18" charset="2"/>
              </a:rPr>
              <a:t></a:t>
            </a:r>
            <a:r>
              <a:rPr lang="en-US" altLang="zh-CN" dirty="0">
                <a:latin typeface="黑体" panose="02010609060101010101" pitchFamily="49" charset="-122"/>
                <a:ea typeface="黑体" panose="02010609060101010101" pitchFamily="49" charset="-122"/>
              </a:rPr>
              <a:t>R(</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sym typeface="Symbol" panose="05050102010706020507" pitchFamily="18" charset="2"/>
              </a:rPr>
              <a:t></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(N(</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sym typeface="Symbol" panose="05050102010706020507" pitchFamily="18" charset="2"/>
              </a:rPr>
              <a:t></a:t>
            </a:r>
            <a:r>
              <a:rPr lang="en-US" altLang="zh-CN" dirty="0">
                <a:latin typeface="黑体" panose="02010609060101010101" pitchFamily="49" charset="-122"/>
                <a:ea typeface="黑体" panose="02010609060101010101" pitchFamily="49" charset="-122"/>
              </a:rPr>
              <a:t>R(</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sym typeface="Symbol" panose="05050102010706020507" pitchFamily="18" charset="2"/>
              </a:rPr>
              <a:t></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(C(</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sym typeface="Symbol" panose="05050102010706020507" pitchFamily="18" charset="2"/>
              </a:rPr>
              <a:t></a:t>
            </a:r>
            <a:r>
              <a:rPr lang="en-US" altLang="zh-CN"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sym typeface="Symbol" panose="05050102010706020507" pitchFamily="18" charset="2"/>
              </a:rPr>
              <a:t></a:t>
            </a:r>
            <a:r>
              <a:rPr lang="en-US" altLang="zh-CN" dirty="0">
                <a:latin typeface="黑体" panose="02010609060101010101" pitchFamily="49" charset="-122"/>
                <a:ea typeface="黑体" panose="02010609060101010101" pitchFamily="49" charset="-122"/>
              </a:rPr>
              <a:t>R(</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a:t>
            </a:r>
          </a:p>
          <a:p>
            <a:pPr>
              <a:lnSpc>
                <a:spcPct val="120000"/>
              </a:lnSpc>
              <a:buClr>
                <a:schemeClr val="tx1"/>
              </a:buClr>
              <a:buFontTx/>
              <a:buNone/>
            </a:pPr>
            <a:r>
              <a:rPr lang="en-US" altLang="zh-CN" dirty="0">
                <a:latin typeface="黑体" panose="02010609060101010101" pitchFamily="49" charset="-122"/>
                <a:ea typeface="黑体" panose="02010609060101010101" pitchFamily="49" charset="-122"/>
              </a:rPr>
              <a:t>	</a:t>
            </a:r>
            <a:r>
              <a:rPr lang="zh-CN" altLang="en-US" dirty="0">
                <a:solidFill>
                  <a:srgbClr val="0033CC"/>
                </a:solidFill>
                <a:latin typeface="黑体" panose="02010609060101010101" pitchFamily="49" charset="-122"/>
                <a:ea typeface="黑体" panose="02010609060101010101" pitchFamily="49" charset="-122"/>
              </a:rPr>
              <a:t>结论</a:t>
            </a:r>
            <a:r>
              <a:rPr lang="zh-CN" altLang="en-US"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sym typeface="Symbol" panose="05050102010706020507" pitchFamily="18" charset="2"/>
              </a:rPr>
              <a:t></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(C(</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sym typeface="Symbol" panose="05050102010706020507" pitchFamily="18" charset="2"/>
              </a:rPr>
              <a:t></a:t>
            </a:r>
            <a:r>
              <a:rPr lang="en-US" altLang="zh-CN"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sym typeface="Symbol" panose="05050102010706020507" pitchFamily="18" charset="2"/>
              </a:rPr>
              <a:t></a:t>
            </a:r>
            <a:r>
              <a:rPr lang="en-US" altLang="zh-CN" dirty="0">
                <a:latin typeface="黑体" panose="02010609060101010101" pitchFamily="49" charset="-122"/>
                <a:ea typeface="黑体" panose="02010609060101010101" pitchFamily="49" charset="-122"/>
              </a:rPr>
              <a:t>Q(</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sym typeface="Symbol" panose="05050102010706020507" pitchFamily="18" charset="2"/>
              </a:rPr>
              <a:t></a:t>
            </a:r>
            <a:r>
              <a:rPr lang="en-US" altLang="zh-CN"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sym typeface="Symbol" panose="05050102010706020507" pitchFamily="18" charset="2"/>
              </a:rPr>
              <a:t></a:t>
            </a:r>
            <a:r>
              <a:rPr lang="en-US" altLang="zh-CN" dirty="0">
                <a:latin typeface="黑体" panose="02010609060101010101" pitchFamily="49" charset="-122"/>
                <a:ea typeface="黑体" panose="02010609060101010101" pitchFamily="49" charset="-122"/>
              </a:rPr>
              <a:t>N(</a:t>
            </a:r>
            <a:r>
              <a:rPr lang="en-US" altLang="zh-CN" i="1" dirty="0">
                <a:latin typeface="黑体" panose="02010609060101010101" pitchFamily="49" charset="-122"/>
                <a:ea typeface="黑体" panose="02010609060101010101" pitchFamily="49" charset="-122"/>
              </a:rPr>
              <a:t>x</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a:t>
            </a:r>
          </a:p>
        </p:txBody>
      </p:sp>
    </p:spTree>
    <p:extLst>
      <p:ext uri="{BB962C8B-B14F-4D97-AF65-F5344CB8AC3E}">
        <p14:creationId xmlns:p14="http://schemas.microsoft.com/office/powerpoint/2010/main" val="1111193672"/>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内容占位符 111618">
            <a:extLst>
              <a:ext uri="{FF2B5EF4-FFF2-40B4-BE49-F238E27FC236}">
                <a16:creationId xmlns:a16="http://schemas.microsoft.com/office/drawing/2014/main" id="{171DFF54-B90F-40DC-9324-4D83B192A5BF}"/>
              </a:ext>
            </a:extLst>
          </p:cNvPr>
          <p:cNvSpPr txBox="1">
            <a:spLocks noChangeArrowheads="1"/>
          </p:cNvSpPr>
          <p:nvPr/>
        </p:nvSpPr>
        <p:spPr>
          <a:xfrm>
            <a:off x="1751013" y="915309"/>
            <a:ext cx="9627833" cy="41338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Clr>
                <a:schemeClr val="tx1"/>
              </a:buClr>
              <a:buFontTx/>
              <a:buNone/>
            </a:pPr>
            <a:r>
              <a:rPr lang="zh-CN" altLang="en-US" dirty="0">
                <a:latin typeface="Times New Roman" panose="02020603050405020304" pitchFamily="18" charset="0"/>
                <a:cs typeface="Times New Roman" panose="02020603050405020304" pitchFamily="18" charset="0"/>
              </a:rPr>
              <a:t>每个旅客或者坐头等舱或者坐二等舱；每个旅客当且仅当他富裕时坐头等舱；有些旅客富裕但并非所有的旅客都富裕。因此，有些旅客坐二等舱。</a:t>
            </a:r>
          </a:p>
          <a:p>
            <a:pPr>
              <a:lnSpc>
                <a:spcPct val="120000"/>
              </a:lnSpc>
              <a:buClr>
                <a:schemeClr val="tx1"/>
              </a:buClr>
              <a:buFontTx/>
              <a:buNone/>
            </a:pPr>
            <a:r>
              <a:rPr lang="zh-CN" altLang="en-US" dirty="0">
                <a:solidFill>
                  <a:srgbClr val="0033CC"/>
                </a:solidFill>
                <a:latin typeface="Times New Roman" panose="02020603050405020304" pitchFamily="18" charset="0"/>
                <a:cs typeface="Times New Roman" panose="02020603050405020304" pitchFamily="18" charset="0"/>
              </a:rPr>
              <a:t>解</a:t>
            </a:r>
            <a:r>
              <a:rPr lang="zh-CN" altLang="en-US" dirty="0">
                <a:latin typeface="Times New Roman" panose="02020603050405020304" pitchFamily="18" charset="0"/>
                <a:cs typeface="Times New Roman" panose="02020603050405020304" pitchFamily="18" charset="0"/>
              </a:rPr>
              <a:t> 个体域为全总域，引入下列谓词：</a:t>
            </a:r>
            <a:r>
              <a:rPr lang="en-US" altLang="zh-CN" dirty="0">
                <a:latin typeface="Times New Roman" panose="02020603050405020304" pitchFamily="18" charset="0"/>
                <a:cs typeface="Times New Roman" panose="02020603050405020304" pitchFamily="18" charset="0"/>
              </a:rPr>
              <a:t>P(</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rPr>
              <a:t>是旅客；</a:t>
            </a:r>
            <a:r>
              <a:rPr lang="en-US" altLang="zh-CN" dirty="0">
                <a:latin typeface="Times New Roman" panose="02020603050405020304" pitchFamily="18" charset="0"/>
                <a:cs typeface="Times New Roman" panose="02020603050405020304" pitchFamily="18" charset="0"/>
              </a:rPr>
              <a:t>Q(</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rPr>
              <a:t>坐头等舱；</a:t>
            </a:r>
            <a:r>
              <a:rPr lang="en-US" altLang="zh-CN" dirty="0">
                <a:latin typeface="Times New Roman" panose="02020603050405020304" pitchFamily="18" charset="0"/>
                <a:cs typeface="Times New Roman" panose="02020603050405020304" pitchFamily="18" charset="0"/>
              </a:rPr>
              <a:t>R(</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rPr>
              <a:t>坐二等舱；</a:t>
            </a:r>
            <a:r>
              <a:rPr lang="en-US" altLang="zh-CN" dirty="0">
                <a:latin typeface="Times New Roman" panose="02020603050405020304" pitchFamily="18" charset="0"/>
                <a:cs typeface="Times New Roman" panose="02020603050405020304" pitchFamily="18" charset="0"/>
              </a:rPr>
              <a:t>S(</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rPr>
              <a:t>是富裕的。</a:t>
            </a:r>
          </a:p>
          <a:p>
            <a:pPr>
              <a:lnSpc>
                <a:spcPct val="120000"/>
              </a:lnSpc>
              <a:buClr>
                <a:schemeClr val="tx1"/>
              </a:buClr>
              <a:buFontTx/>
              <a:buNone/>
            </a:pPr>
            <a:r>
              <a:rPr lang="zh-CN" altLang="en-US" dirty="0">
                <a:latin typeface="Times New Roman" panose="02020603050405020304" pitchFamily="18" charset="0"/>
                <a:cs typeface="Times New Roman" panose="02020603050405020304" pitchFamily="18" charset="0"/>
              </a:rPr>
              <a:t>	原推理可符号化为：</a:t>
            </a:r>
          </a:p>
          <a:p>
            <a:pPr>
              <a:lnSpc>
                <a:spcPct val="120000"/>
              </a:lnSpc>
              <a:buClr>
                <a:schemeClr val="tx1"/>
              </a:buClr>
              <a:buFontTx/>
              <a:buNone/>
            </a:pPr>
            <a:r>
              <a:rPr lang="zh-CN" altLang="en-US" dirty="0">
                <a:latin typeface="Times New Roman" panose="02020603050405020304" pitchFamily="18" charset="0"/>
                <a:cs typeface="Times New Roman" panose="02020603050405020304" pitchFamily="18" charset="0"/>
              </a:rPr>
              <a:t>	</a:t>
            </a:r>
            <a:r>
              <a:rPr lang="zh-CN" altLang="en-US" dirty="0">
                <a:solidFill>
                  <a:srgbClr val="0033CC"/>
                </a:solidFill>
                <a:latin typeface="Times New Roman" panose="02020603050405020304" pitchFamily="18" charset="0"/>
                <a:cs typeface="Times New Roman" panose="02020603050405020304" pitchFamily="18" charset="0"/>
              </a:rPr>
              <a:t>前提</a:t>
            </a:r>
            <a:r>
              <a:rPr lang="zh-CN" altLang="en-US"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(P(</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(Q(</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R(</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(P(</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(Q(</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S(</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x (P(</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S(</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(P(</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S(</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a:t>
            </a:r>
          </a:p>
          <a:p>
            <a:pPr>
              <a:lnSpc>
                <a:spcPct val="120000"/>
              </a:lnSpc>
              <a:buClr>
                <a:schemeClr val="tx1"/>
              </a:buClr>
              <a:buFontTx/>
              <a:buNone/>
            </a:pPr>
            <a:r>
              <a:rPr lang="en-US" altLang="zh-CN" dirty="0">
                <a:latin typeface="Times New Roman" panose="02020603050405020304" pitchFamily="18" charset="0"/>
                <a:cs typeface="Times New Roman" panose="02020603050405020304" pitchFamily="18" charset="0"/>
              </a:rPr>
              <a:t>	</a:t>
            </a:r>
            <a:r>
              <a:rPr lang="zh-CN" altLang="en-US" dirty="0">
                <a:solidFill>
                  <a:srgbClr val="0033CC"/>
                </a:solidFill>
                <a:latin typeface="Times New Roman" panose="02020603050405020304" pitchFamily="18" charset="0"/>
                <a:cs typeface="Times New Roman" panose="02020603050405020304" pitchFamily="18" charset="0"/>
              </a:rPr>
              <a:t>结论</a:t>
            </a:r>
            <a:r>
              <a:rPr lang="zh-CN" altLang="en-US"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(P(</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R(</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，验证该结论的公式序列如下：</a:t>
            </a:r>
          </a:p>
        </p:txBody>
      </p:sp>
    </p:spTree>
    <p:extLst>
      <p:ext uri="{BB962C8B-B14F-4D97-AF65-F5344CB8AC3E}">
        <p14:creationId xmlns:p14="http://schemas.microsoft.com/office/powerpoint/2010/main" val="2217344234"/>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linds(horizontal)">
                                      <p:cBhvr>
                                        <p:cTn id="7" dur="500"/>
                                        <p:tgtEl>
                                          <p:spTgt spid="4">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blinds(horizontal)">
                                      <p:cBhvr>
                                        <p:cTn id="10" dur="500"/>
                                        <p:tgtEl>
                                          <p:spTgt spid="4">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blinds(horizontal)">
                                      <p:cBhvr>
                                        <p:cTn id="13" dur="500"/>
                                        <p:tgtEl>
                                          <p:spTgt spid="4">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blinds(horizontal)">
                                      <p:cBhvr>
                                        <p:cTn id="16"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内容占位符 112642">
            <a:extLst>
              <a:ext uri="{FF2B5EF4-FFF2-40B4-BE49-F238E27FC236}">
                <a16:creationId xmlns:a16="http://schemas.microsoft.com/office/drawing/2014/main" id="{7A91233D-3F88-4BB1-8364-7E0F7BCA5152}"/>
              </a:ext>
            </a:extLst>
          </p:cNvPr>
          <p:cNvSpPr txBox="1">
            <a:spLocks noChangeArrowheads="1"/>
          </p:cNvSpPr>
          <p:nvPr/>
        </p:nvSpPr>
        <p:spPr>
          <a:xfrm>
            <a:off x="668784" y="1362075"/>
            <a:ext cx="5761037" cy="41338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Clr>
                <a:schemeClr val="tx1"/>
              </a:buClr>
              <a:buFontTx/>
              <a:buNone/>
            </a:pPr>
            <a:r>
              <a:rPr lang="en-US" altLang="zh-CN" dirty="0">
                <a:latin typeface="Times New Roman" panose="02020603050405020304" pitchFamily="18" charset="0"/>
                <a:cs typeface="Times New Roman" panose="02020603050405020304" pitchFamily="18" charset="0"/>
              </a:rPr>
              <a:t>(1).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(P(</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S(</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   // P</a:t>
            </a:r>
          </a:p>
          <a:p>
            <a:pPr>
              <a:lnSpc>
                <a:spcPct val="120000"/>
              </a:lnSpc>
              <a:buClr>
                <a:schemeClr val="tx1"/>
              </a:buClr>
              <a:buFontTx/>
              <a:buNone/>
            </a:pPr>
            <a:r>
              <a:rPr lang="en-US" altLang="zh-CN" dirty="0">
                <a:latin typeface="Times New Roman" panose="02020603050405020304" pitchFamily="18" charset="0"/>
                <a:cs typeface="Times New Roman" panose="02020603050405020304" pitchFamily="18" charset="0"/>
              </a:rPr>
              <a:t>(2).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(P(</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S(</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	     // T, E, (1)</a:t>
            </a:r>
          </a:p>
          <a:p>
            <a:pPr>
              <a:lnSpc>
                <a:spcPct val="120000"/>
              </a:lnSpc>
              <a:buClr>
                <a:schemeClr val="tx1"/>
              </a:buClr>
              <a:buFontTx/>
              <a:buNone/>
            </a:pPr>
            <a:r>
              <a:rPr lang="en-US" altLang="zh-CN" dirty="0">
                <a:latin typeface="Times New Roman" panose="02020603050405020304" pitchFamily="18" charset="0"/>
                <a:cs typeface="Times New Roman" panose="02020603050405020304" pitchFamily="18" charset="0"/>
              </a:rPr>
              <a:t>(3). P(</a:t>
            </a:r>
            <a:r>
              <a:rPr lang="en-US" altLang="zh-CN" i="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S(</a:t>
            </a:r>
            <a:r>
              <a:rPr lang="en-US" altLang="zh-CN" i="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	    // ES, (2) </a:t>
            </a:r>
          </a:p>
          <a:p>
            <a:pPr>
              <a:lnSpc>
                <a:spcPct val="120000"/>
              </a:lnSpc>
              <a:buClr>
                <a:schemeClr val="tx1"/>
              </a:buClr>
              <a:buFontTx/>
              <a:buNone/>
            </a:pPr>
            <a:r>
              <a:rPr lang="en-US" altLang="zh-CN" dirty="0">
                <a:latin typeface="Times New Roman" panose="02020603050405020304" pitchFamily="18" charset="0"/>
                <a:cs typeface="Times New Roman" panose="02020603050405020304" pitchFamily="18" charset="0"/>
              </a:rPr>
              <a:t>(4). P(</a:t>
            </a:r>
            <a:r>
              <a:rPr lang="en-US" altLang="zh-CN" i="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		    // T, I,(3)</a:t>
            </a:r>
          </a:p>
          <a:p>
            <a:pPr>
              <a:lnSpc>
                <a:spcPct val="120000"/>
              </a:lnSpc>
              <a:buClr>
                <a:schemeClr val="tx1"/>
              </a:buClr>
              <a:buFontTx/>
              <a:buNone/>
            </a:pPr>
            <a:r>
              <a:rPr lang="en-US" altLang="zh-CN" dirty="0">
                <a:latin typeface="Times New Roman" panose="02020603050405020304" pitchFamily="18" charset="0"/>
                <a:cs typeface="Times New Roman" panose="02020603050405020304" pitchFamily="18" charset="0"/>
              </a:rPr>
              <a:t>(5).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S(</a:t>
            </a:r>
            <a:r>
              <a:rPr lang="en-US" altLang="zh-CN" i="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		    // T, I ,(3)</a:t>
            </a:r>
          </a:p>
          <a:p>
            <a:pPr>
              <a:lnSpc>
                <a:spcPct val="120000"/>
              </a:lnSpc>
              <a:buClr>
                <a:schemeClr val="tx1"/>
              </a:buClr>
              <a:buFontTx/>
              <a:buNone/>
            </a:pPr>
            <a:r>
              <a:rPr lang="en-US" altLang="zh-CN" dirty="0">
                <a:latin typeface="Times New Roman" panose="02020603050405020304" pitchFamily="18" charset="0"/>
                <a:cs typeface="Times New Roman" panose="02020603050405020304" pitchFamily="18" charset="0"/>
              </a:rPr>
              <a:t>(6).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(P(</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(Q(</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R(</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	 // P</a:t>
            </a:r>
          </a:p>
          <a:p>
            <a:pPr>
              <a:lnSpc>
                <a:spcPct val="120000"/>
              </a:lnSpc>
              <a:buClr>
                <a:schemeClr val="tx1"/>
              </a:buClr>
              <a:buFontTx/>
              <a:buNone/>
            </a:pPr>
            <a:r>
              <a:rPr lang="en-US" altLang="zh-CN" dirty="0">
                <a:latin typeface="Times New Roman" panose="02020603050405020304" pitchFamily="18" charset="0"/>
                <a:cs typeface="Times New Roman" panose="02020603050405020304" pitchFamily="18" charset="0"/>
              </a:rPr>
              <a:t>(7). P(</a:t>
            </a:r>
            <a:r>
              <a:rPr lang="en-US" altLang="zh-CN" i="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(Q(</a:t>
            </a:r>
            <a:r>
              <a:rPr lang="en-US" altLang="zh-CN" i="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R(</a:t>
            </a:r>
            <a:r>
              <a:rPr lang="en-US" altLang="zh-CN" i="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  // US, (6)</a:t>
            </a:r>
          </a:p>
          <a:p>
            <a:pPr>
              <a:lnSpc>
                <a:spcPct val="120000"/>
              </a:lnSpc>
              <a:buClr>
                <a:schemeClr val="tx1"/>
              </a:buClr>
              <a:buFontTx/>
              <a:buNone/>
            </a:pPr>
            <a:r>
              <a:rPr lang="en-US" altLang="zh-CN" dirty="0">
                <a:latin typeface="Times New Roman" panose="02020603050405020304" pitchFamily="18" charset="0"/>
                <a:cs typeface="Times New Roman" panose="02020603050405020304" pitchFamily="18" charset="0"/>
              </a:rPr>
              <a:t>(8). Q(</a:t>
            </a:r>
            <a:r>
              <a:rPr lang="en-US" altLang="zh-CN" i="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rPr>
              <a:t>R(</a:t>
            </a:r>
            <a:r>
              <a:rPr lang="en-US" altLang="zh-CN" i="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      // T, I, (4)(7)</a:t>
            </a:r>
          </a:p>
        </p:txBody>
      </p:sp>
      <p:sp>
        <p:nvSpPr>
          <p:cNvPr id="3" name="矩形 2">
            <a:extLst>
              <a:ext uri="{FF2B5EF4-FFF2-40B4-BE49-F238E27FC236}">
                <a16:creationId xmlns:a16="http://schemas.microsoft.com/office/drawing/2014/main" id="{E7042121-C0E7-423D-8642-3096DE3EB37D}"/>
              </a:ext>
            </a:extLst>
          </p:cNvPr>
          <p:cNvSpPr/>
          <p:nvPr/>
        </p:nvSpPr>
        <p:spPr>
          <a:xfrm>
            <a:off x="7677627" y="878489"/>
            <a:ext cx="2762513" cy="5608523"/>
          </a:xfrm>
          <a:prstGeom prst="rect">
            <a:avLst/>
          </a:prstGeom>
        </p:spPr>
        <p:txBody>
          <a:bodyPr wrap="square">
            <a:spAutoFit/>
          </a:bodyPr>
          <a:lstStyle/>
          <a:p>
            <a:pPr>
              <a:lnSpc>
                <a:spcPct val="120000"/>
              </a:lnSpc>
              <a:buClr>
                <a:schemeClr val="tx1"/>
              </a:buClr>
              <a:buFontTx/>
              <a:buNone/>
            </a:pPr>
            <a:r>
              <a:rPr lang="zh-CN" altLang="en-US" sz="2000" dirty="0">
                <a:latin typeface="+mn-ea"/>
              </a:rPr>
              <a:t>个体域为全总域，引入下列谓词：</a:t>
            </a:r>
            <a:r>
              <a:rPr lang="en-US" altLang="zh-CN" sz="2000" dirty="0">
                <a:latin typeface="+mn-ea"/>
              </a:rPr>
              <a:t>P(</a:t>
            </a:r>
            <a:r>
              <a:rPr lang="en-US" altLang="zh-CN" sz="2000" i="1" dirty="0">
                <a:latin typeface="+mn-ea"/>
              </a:rPr>
              <a:t>x</a:t>
            </a:r>
            <a:r>
              <a:rPr lang="en-US" altLang="zh-CN" sz="2000" dirty="0">
                <a:latin typeface="+mn-ea"/>
              </a:rPr>
              <a:t>): </a:t>
            </a:r>
            <a:r>
              <a:rPr lang="en-US" altLang="zh-CN" sz="2000" i="1" dirty="0">
                <a:latin typeface="+mn-ea"/>
              </a:rPr>
              <a:t>x</a:t>
            </a:r>
            <a:r>
              <a:rPr lang="zh-CN" altLang="en-US" sz="2000" dirty="0">
                <a:latin typeface="+mn-ea"/>
              </a:rPr>
              <a:t>是旅客；</a:t>
            </a:r>
            <a:r>
              <a:rPr lang="en-US" altLang="zh-CN" sz="2000" dirty="0">
                <a:latin typeface="+mn-ea"/>
              </a:rPr>
              <a:t>Q(</a:t>
            </a:r>
            <a:r>
              <a:rPr lang="en-US" altLang="zh-CN" sz="2000" i="1" dirty="0">
                <a:latin typeface="+mn-ea"/>
              </a:rPr>
              <a:t>x</a:t>
            </a:r>
            <a:r>
              <a:rPr lang="en-US" altLang="zh-CN" sz="2000" dirty="0">
                <a:latin typeface="+mn-ea"/>
              </a:rPr>
              <a:t>): </a:t>
            </a:r>
            <a:r>
              <a:rPr lang="en-US" altLang="zh-CN" sz="2000" i="1" dirty="0">
                <a:latin typeface="+mn-ea"/>
              </a:rPr>
              <a:t>x</a:t>
            </a:r>
            <a:r>
              <a:rPr lang="zh-CN" altLang="en-US" sz="2000" dirty="0">
                <a:latin typeface="+mn-ea"/>
              </a:rPr>
              <a:t>坐头等舱；</a:t>
            </a:r>
            <a:r>
              <a:rPr lang="en-US" altLang="zh-CN" sz="2000" dirty="0">
                <a:latin typeface="+mn-ea"/>
              </a:rPr>
              <a:t>R(</a:t>
            </a:r>
            <a:r>
              <a:rPr lang="en-US" altLang="zh-CN" sz="2000" i="1" dirty="0">
                <a:latin typeface="+mn-ea"/>
              </a:rPr>
              <a:t>x</a:t>
            </a:r>
            <a:r>
              <a:rPr lang="en-US" altLang="zh-CN" sz="2000" dirty="0">
                <a:latin typeface="+mn-ea"/>
              </a:rPr>
              <a:t>): </a:t>
            </a:r>
            <a:r>
              <a:rPr lang="en-US" altLang="zh-CN" sz="2000" i="1" dirty="0">
                <a:latin typeface="+mn-ea"/>
              </a:rPr>
              <a:t>x</a:t>
            </a:r>
            <a:r>
              <a:rPr lang="zh-CN" altLang="en-US" sz="2000" dirty="0">
                <a:latin typeface="+mn-ea"/>
              </a:rPr>
              <a:t>坐二等舱；</a:t>
            </a:r>
            <a:r>
              <a:rPr lang="en-US" altLang="zh-CN" sz="2000" dirty="0">
                <a:latin typeface="+mn-ea"/>
              </a:rPr>
              <a:t>S(</a:t>
            </a:r>
            <a:r>
              <a:rPr lang="en-US" altLang="zh-CN" sz="2000" i="1" dirty="0">
                <a:latin typeface="+mn-ea"/>
              </a:rPr>
              <a:t>x</a:t>
            </a:r>
            <a:r>
              <a:rPr lang="en-US" altLang="zh-CN" sz="2000" dirty="0">
                <a:latin typeface="+mn-ea"/>
              </a:rPr>
              <a:t>): </a:t>
            </a:r>
            <a:r>
              <a:rPr lang="en-US" altLang="zh-CN" sz="2000" i="1" dirty="0">
                <a:latin typeface="+mn-ea"/>
              </a:rPr>
              <a:t>x</a:t>
            </a:r>
            <a:r>
              <a:rPr lang="zh-CN" altLang="en-US" sz="2000" dirty="0">
                <a:latin typeface="+mn-ea"/>
              </a:rPr>
              <a:t>是富裕的。</a:t>
            </a:r>
          </a:p>
          <a:p>
            <a:pPr>
              <a:lnSpc>
                <a:spcPct val="120000"/>
              </a:lnSpc>
              <a:buClr>
                <a:schemeClr val="tx1"/>
              </a:buClr>
              <a:buFontTx/>
              <a:buNone/>
            </a:pPr>
            <a:r>
              <a:rPr lang="zh-CN" altLang="en-US" sz="2000" dirty="0">
                <a:latin typeface="+mn-ea"/>
              </a:rPr>
              <a:t>	原推理可符号化为：</a:t>
            </a:r>
          </a:p>
          <a:p>
            <a:pPr>
              <a:lnSpc>
                <a:spcPct val="120000"/>
              </a:lnSpc>
              <a:buClr>
                <a:schemeClr val="tx1"/>
              </a:buClr>
              <a:buFontTx/>
              <a:buNone/>
            </a:pPr>
            <a:r>
              <a:rPr lang="zh-CN" altLang="en-US" sz="2000" dirty="0">
                <a:latin typeface="+mn-ea"/>
              </a:rPr>
              <a:t>	</a:t>
            </a:r>
            <a:r>
              <a:rPr lang="zh-CN" altLang="en-US" sz="2000" dirty="0">
                <a:solidFill>
                  <a:srgbClr val="0033CC"/>
                </a:solidFill>
                <a:latin typeface="+mn-ea"/>
              </a:rPr>
              <a:t>前提</a:t>
            </a:r>
            <a:r>
              <a:rPr lang="zh-CN" altLang="en-US" sz="2000" dirty="0">
                <a:latin typeface="+mn-ea"/>
              </a:rPr>
              <a:t>：</a:t>
            </a:r>
            <a:r>
              <a:rPr lang="zh-CN" altLang="en-US" sz="2000" dirty="0">
                <a:latin typeface="+mn-ea"/>
                <a:sym typeface="Symbol" panose="05050102010706020507" pitchFamily="18" charset="2"/>
              </a:rPr>
              <a:t></a:t>
            </a:r>
            <a:r>
              <a:rPr lang="en-US" altLang="zh-CN" sz="2000" i="1" dirty="0">
                <a:latin typeface="+mn-ea"/>
              </a:rPr>
              <a:t>x</a:t>
            </a:r>
            <a:r>
              <a:rPr lang="en-US" altLang="zh-CN" sz="2000" dirty="0">
                <a:latin typeface="+mn-ea"/>
              </a:rPr>
              <a:t>(P(</a:t>
            </a:r>
            <a:r>
              <a:rPr lang="en-US" altLang="zh-CN" sz="2000" i="1" dirty="0">
                <a:latin typeface="+mn-ea"/>
              </a:rPr>
              <a:t>x</a:t>
            </a:r>
            <a:r>
              <a:rPr lang="en-US" altLang="zh-CN" sz="2000" dirty="0">
                <a:latin typeface="+mn-ea"/>
              </a:rPr>
              <a:t>)</a:t>
            </a:r>
            <a:r>
              <a:rPr lang="en-US" altLang="zh-CN" sz="2000" dirty="0">
                <a:latin typeface="+mn-ea"/>
                <a:sym typeface="Symbol" panose="05050102010706020507" pitchFamily="18" charset="2"/>
              </a:rPr>
              <a:t></a:t>
            </a:r>
            <a:r>
              <a:rPr lang="en-US" altLang="zh-CN" sz="2000" dirty="0">
                <a:latin typeface="+mn-ea"/>
              </a:rPr>
              <a:t>(Q(</a:t>
            </a:r>
            <a:r>
              <a:rPr lang="en-US" altLang="zh-CN" sz="2000" i="1" dirty="0">
                <a:latin typeface="+mn-ea"/>
              </a:rPr>
              <a:t>x</a:t>
            </a:r>
            <a:r>
              <a:rPr lang="en-US" altLang="zh-CN" sz="2000" dirty="0">
                <a:latin typeface="+mn-ea"/>
              </a:rPr>
              <a:t>)</a:t>
            </a:r>
            <a:r>
              <a:rPr lang="en-US" altLang="zh-CN" sz="2000" dirty="0">
                <a:latin typeface="+mn-ea"/>
                <a:sym typeface="Symbol" panose="05050102010706020507" pitchFamily="18" charset="2"/>
              </a:rPr>
              <a:t></a:t>
            </a:r>
            <a:r>
              <a:rPr lang="en-US" altLang="zh-CN" sz="2000" dirty="0">
                <a:latin typeface="+mn-ea"/>
              </a:rPr>
              <a:t>R(</a:t>
            </a:r>
            <a:r>
              <a:rPr lang="en-US" altLang="zh-CN" sz="2000" i="1" dirty="0">
                <a:latin typeface="+mn-ea"/>
              </a:rPr>
              <a:t>x</a:t>
            </a:r>
            <a:r>
              <a:rPr lang="en-US" altLang="zh-CN" sz="2000" dirty="0">
                <a:latin typeface="+mn-ea"/>
              </a:rPr>
              <a:t>)))</a:t>
            </a:r>
            <a:r>
              <a:rPr lang="zh-CN" altLang="en-US" sz="2000" dirty="0">
                <a:latin typeface="+mn-ea"/>
              </a:rPr>
              <a:t>、</a:t>
            </a:r>
            <a:r>
              <a:rPr lang="zh-CN" altLang="en-US" sz="2000" dirty="0">
                <a:latin typeface="+mn-ea"/>
                <a:sym typeface="Symbol" panose="05050102010706020507" pitchFamily="18" charset="2"/>
              </a:rPr>
              <a:t></a:t>
            </a:r>
            <a:r>
              <a:rPr lang="en-US" altLang="zh-CN" sz="2000" i="1" dirty="0">
                <a:latin typeface="+mn-ea"/>
              </a:rPr>
              <a:t>x</a:t>
            </a:r>
            <a:r>
              <a:rPr lang="en-US" altLang="zh-CN" sz="2000" dirty="0">
                <a:latin typeface="+mn-ea"/>
              </a:rPr>
              <a:t>(P(</a:t>
            </a:r>
            <a:r>
              <a:rPr lang="en-US" altLang="zh-CN" sz="2000" i="1" dirty="0">
                <a:latin typeface="+mn-ea"/>
              </a:rPr>
              <a:t>x</a:t>
            </a:r>
            <a:r>
              <a:rPr lang="en-US" altLang="zh-CN" sz="2000" dirty="0">
                <a:latin typeface="+mn-ea"/>
              </a:rPr>
              <a:t>)</a:t>
            </a:r>
            <a:r>
              <a:rPr lang="en-US" altLang="zh-CN" sz="2000" dirty="0">
                <a:latin typeface="+mn-ea"/>
                <a:sym typeface="Symbol" panose="05050102010706020507" pitchFamily="18" charset="2"/>
              </a:rPr>
              <a:t></a:t>
            </a:r>
            <a:r>
              <a:rPr lang="en-US" altLang="zh-CN" sz="2000" dirty="0">
                <a:latin typeface="+mn-ea"/>
              </a:rPr>
              <a:t>(Q(</a:t>
            </a:r>
            <a:r>
              <a:rPr lang="en-US" altLang="zh-CN" sz="2000" i="1" dirty="0">
                <a:latin typeface="+mn-ea"/>
              </a:rPr>
              <a:t>x</a:t>
            </a:r>
            <a:r>
              <a:rPr lang="en-US" altLang="zh-CN" sz="2000" dirty="0">
                <a:latin typeface="+mn-ea"/>
              </a:rPr>
              <a:t>)</a:t>
            </a:r>
            <a:r>
              <a:rPr lang="en-US" altLang="zh-CN" sz="2000" dirty="0">
                <a:latin typeface="+mn-ea"/>
                <a:sym typeface="Symbol" panose="05050102010706020507" pitchFamily="18" charset="2"/>
              </a:rPr>
              <a:t></a:t>
            </a:r>
            <a:r>
              <a:rPr lang="en-US" altLang="zh-CN" sz="2000" dirty="0">
                <a:latin typeface="+mn-ea"/>
              </a:rPr>
              <a:t>S(</a:t>
            </a:r>
            <a:r>
              <a:rPr lang="en-US" altLang="zh-CN" sz="2000" i="1" dirty="0">
                <a:latin typeface="+mn-ea"/>
              </a:rPr>
              <a:t>x</a:t>
            </a:r>
            <a:r>
              <a:rPr lang="en-US" altLang="zh-CN" sz="2000" dirty="0">
                <a:latin typeface="+mn-ea"/>
              </a:rPr>
              <a:t>)))</a:t>
            </a:r>
            <a:r>
              <a:rPr lang="zh-CN" altLang="en-US" sz="2000" dirty="0">
                <a:latin typeface="+mn-ea"/>
              </a:rPr>
              <a:t>、</a:t>
            </a:r>
            <a:r>
              <a:rPr lang="zh-CN" altLang="en-US" sz="2000" dirty="0">
                <a:latin typeface="+mn-ea"/>
                <a:sym typeface="Symbol" panose="05050102010706020507" pitchFamily="18" charset="2"/>
              </a:rPr>
              <a:t></a:t>
            </a:r>
            <a:r>
              <a:rPr lang="en-US" altLang="zh-CN" sz="2000" dirty="0">
                <a:latin typeface="+mn-ea"/>
              </a:rPr>
              <a:t>x (P(</a:t>
            </a:r>
            <a:r>
              <a:rPr lang="en-US" altLang="zh-CN" sz="2000" i="1" dirty="0">
                <a:latin typeface="+mn-ea"/>
              </a:rPr>
              <a:t>x</a:t>
            </a:r>
            <a:r>
              <a:rPr lang="en-US" altLang="zh-CN" sz="2000" dirty="0">
                <a:latin typeface="+mn-ea"/>
              </a:rPr>
              <a:t>)</a:t>
            </a:r>
            <a:r>
              <a:rPr lang="en-US" altLang="zh-CN" sz="2000" dirty="0">
                <a:latin typeface="+mn-ea"/>
                <a:sym typeface="Symbol" panose="05050102010706020507" pitchFamily="18" charset="2"/>
              </a:rPr>
              <a:t></a:t>
            </a:r>
            <a:r>
              <a:rPr lang="en-US" altLang="zh-CN" sz="2000" dirty="0">
                <a:latin typeface="+mn-ea"/>
              </a:rPr>
              <a:t>S(</a:t>
            </a:r>
            <a:r>
              <a:rPr lang="en-US" altLang="zh-CN" sz="2000" i="1" dirty="0">
                <a:latin typeface="+mn-ea"/>
              </a:rPr>
              <a:t>x</a:t>
            </a:r>
            <a:r>
              <a:rPr lang="en-US" altLang="zh-CN" sz="2000" dirty="0">
                <a:latin typeface="+mn-ea"/>
              </a:rPr>
              <a:t>))</a:t>
            </a:r>
            <a:r>
              <a:rPr lang="zh-CN" altLang="en-US" sz="2000" dirty="0">
                <a:latin typeface="+mn-ea"/>
              </a:rPr>
              <a:t>、</a:t>
            </a:r>
            <a:r>
              <a:rPr lang="zh-CN" altLang="en-US" sz="2000" dirty="0">
                <a:latin typeface="+mn-ea"/>
                <a:sym typeface="Symbol" panose="05050102010706020507" pitchFamily="18" charset="2"/>
              </a:rPr>
              <a:t></a:t>
            </a:r>
            <a:r>
              <a:rPr lang="en-US" altLang="zh-CN" sz="2000" dirty="0">
                <a:latin typeface="+mn-ea"/>
              </a:rPr>
              <a:t>(</a:t>
            </a:r>
            <a:r>
              <a:rPr lang="en-US" altLang="zh-CN" sz="2000" dirty="0">
                <a:latin typeface="+mn-ea"/>
                <a:sym typeface="Symbol" panose="05050102010706020507" pitchFamily="18" charset="2"/>
              </a:rPr>
              <a:t></a:t>
            </a:r>
            <a:r>
              <a:rPr lang="en-US" altLang="zh-CN" sz="2000" i="1" dirty="0">
                <a:latin typeface="+mn-ea"/>
              </a:rPr>
              <a:t>x</a:t>
            </a:r>
            <a:r>
              <a:rPr lang="en-US" altLang="zh-CN" sz="2000" dirty="0">
                <a:latin typeface="+mn-ea"/>
              </a:rPr>
              <a:t>(P(</a:t>
            </a:r>
            <a:r>
              <a:rPr lang="en-US" altLang="zh-CN" sz="2000" i="1" dirty="0">
                <a:latin typeface="+mn-ea"/>
              </a:rPr>
              <a:t>x</a:t>
            </a:r>
            <a:r>
              <a:rPr lang="en-US" altLang="zh-CN" sz="2000" dirty="0">
                <a:latin typeface="+mn-ea"/>
              </a:rPr>
              <a:t>)</a:t>
            </a:r>
            <a:r>
              <a:rPr lang="en-US" altLang="zh-CN" sz="2000" dirty="0">
                <a:latin typeface="+mn-ea"/>
                <a:sym typeface="Symbol" panose="05050102010706020507" pitchFamily="18" charset="2"/>
              </a:rPr>
              <a:t></a:t>
            </a:r>
            <a:r>
              <a:rPr lang="en-US" altLang="zh-CN" sz="2000" dirty="0">
                <a:latin typeface="+mn-ea"/>
              </a:rPr>
              <a:t>S(</a:t>
            </a:r>
            <a:r>
              <a:rPr lang="en-US" altLang="zh-CN" sz="2000" i="1" dirty="0">
                <a:latin typeface="+mn-ea"/>
              </a:rPr>
              <a:t>x</a:t>
            </a:r>
            <a:r>
              <a:rPr lang="en-US" altLang="zh-CN" sz="2000" dirty="0">
                <a:latin typeface="+mn-ea"/>
              </a:rPr>
              <a:t>)))</a:t>
            </a:r>
          </a:p>
          <a:p>
            <a:pPr>
              <a:lnSpc>
                <a:spcPct val="120000"/>
              </a:lnSpc>
              <a:buClr>
                <a:schemeClr val="tx1"/>
              </a:buClr>
              <a:buFontTx/>
              <a:buNone/>
            </a:pPr>
            <a:r>
              <a:rPr lang="en-US" altLang="zh-CN" sz="2000" dirty="0">
                <a:latin typeface="+mn-ea"/>
              </a:rPr>
              <a:t>	</a:t>
            </a:r>
            <a:r>
              <a:rPr lang="zh-CN" altLang="en-US" sz="2000" dirty="0">
                <a:solidFill>
                  <a:srgbClr val="0033CC"/>
                </a:solidFill>
                <a:latin typeface="+mn-ea"/>
              </a:rPr>
              <a:t>结论</a:t>
            </a:r>
            <a:r>
              <a:rPr lang="zh-CN" altLang="en-US" sz="2000" dirty="0">
                <a:latin typeface="+mn-ea"/>
              </a:rPr>
              <a:t>：</a:t>
            </a:r>
            <a:r>
              <a:rPr lang="zh-CN" altLang="en-US" sz="2000" dirty="0">
                <a:latin typeface="+mn-ea"/>
                <a:sym typeface="Symbol" panose="05050102010706020507" pitchFamily="18" charset="2"/>
              </a:rPr>
              <a:t></a:t>
            </a:r>
            <a:r>
              <a:rPr lang="en-US" altLang="zh-CN" sz="2000" i="1" dirty="0">
                <a:latin typeface="+mn-ea"/>
              </a:rPr>
              <a:t>x</a:t>
            </a:r>
            <a:r>
              <a:rPr lang="en-US" altLang="zh-CN" sz="2000" dirty="0">
                <a:latin typeface="+mn-ea"/>
              </a:rPr>
              <a:t>(P(</a:t>
            </a:r>
            <a:r>
              <a:rPr lang="en-US" altLang="zh-CN" sz="2000" i="1" dirty="0">
                <a:latin typeface="+mn-ea"/>
              </a:rPr>
              <a:t>x</a:t>
            </a:r>
            <a:r>
              <a:rPr lang="en-US" altLang="zh-CN" sz="2000" dirty="0">
                <a:latin typeface="+mn-ea"/>
              </a:rPr>
              <a:t>)</a:t>
            </a:r>
            <a:r>
              <a:rPr lang="en-US" altLang="zh-CN" sz="2000" dirty="0">
                <a:latin typeface="+mn-ea"/>
                <a:sym typeface="Symbol" panose="05050102010706020507" pitchFamily="18" charset="2"/>
              </a:rPr>
              <a:t></a:t>
            </a:r>
            <a:r>
              <a:rPr lang="en-US" altLang="zh-CN" sz="2000" dirty="0">
                <a:latin typeface="+mn-ea"/>
              </a:rPr>
              <a:t>R(</a:t>
            </a:r>
            <a:r>
              <a:rPr lang="en-US" altLang="zh-CN" sz="2000" i="1" dirty="0">
                <a:latin typeface="+mn-ea"/>
              </a:rPr>
              <a:t>x</a:t>
            </a:r>
            <a:r>
              <a:rPr lang="en-US" altLang="zh-CN" sz="2000" dirty="0">
                <a:latin typeface="+mn-ea"/>
              </a:rPr>
              <a:t>))</a:t>
            </a:r>
            <a:r>
              <a:rPr lang="zh-CN" altLang="en-US" sz="2000" dirty="0">
                <a:latin typeface="+mn-ea"/>
              </a:rPr>
              <a:t>，验证该结论的公式序列如下：</a:t>
            </a:r>
          </a:p>
        </p:txBody>
      </p:sp>
    </p:spTree>
    <p:extLst>
      <p:ext uri="{BB962C8B-B14F-4D97-AF65-F5344CB8AC3E}">
        <p14:creationId xmlns:p14="http://schemas.microsoft.com/office/powerpoint/2010/main" val="647668326"/>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矩形 3">
            <a:extLst>
              <a:ext uri="{FF2B5EF4-FFF2-40B4-BE49-F238E27FC236}">
                <a16:creationId xmlns:a16="http://schemas.microsoft.com/office/drawing/2014/main" id="{5C488F99-1451-4F4E-98DA-F695047BBC9E}"/>
              </a:ext>
            </a:extLst>
          </p:cNvPr>
          <p:cNvSpPr>
            <a:spLocks noChangeArrowheads="1"/>
          </p:cNvSpPr>
          <p:nvPr/>
        </p:nvSpPr>
        <p:spPr bwMode="auto">
          <a:xfrm>
            <a:off x="1274764" y="1455738"/>
            <a:ext cx="5214814" cy="391806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宋体" panose="02010600030101010101" pitchFamily="2" charset="-122"/>
              </a:defRPr>
            </a:lvl1pPr>
            <a:lvl2pPr>
              <a:defRPr sz="2800" b="1">
                <a:solidFill>
                  <a:schemeClr val="tx1"/>
                </a:solidFill>
                <a:latin typeface="Times New Roman" panose="02020603050405020304" pitchFamily="18" charset="0"/>
                <a:ea typeface="宋体" panose="02010600030101010101" pitchFamily="2" charset="-122"/>
              </a:defRPr>
            </a:lvl2pPr>
            <a:lvl3pPr>
              <a:defRPr sz="2800" b="1">
                <a:solidFill>
                  <a:schemeClr val="tx1"/>
                </a:solidFill>
                <a:latin typeface="Times New Roman" panose="02020603050405020304" pitchFamily="18" charset="0"/>
                <a:ea typeface="宋体" panose="02010600030101010101" pitchFamily="2" charset="-122"/>
              </a:defRPr>
            </a:lvl3pPr>
            <a:lvl4pPr>
              <a:defRPr sz="2800" b="1">
                <a:solidFill>
                  <a:schemeClr val="tx1"/>
                </a:solidFill>
                <a:latin typeface="Times New Roman" panose="02020603050405020304" pitchFamily="18" charset="0"/>
                <a:ea typeface="宋体" panose="02010600030101010101" pitchFamily="2" charset="-122"/>
              </a:defRPr>
            </a:lvl4pPr>
            <a:lvl5pPr>
              <a:defRPr sz="28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marL="228600" indent="-228600">
              <a:lnSpc>
                <a:spcPct val="120000"/>
              </a:lnSpc>
              <a:spcBef>
                <a:spcPts val="1000"/>
              </a:spcBef>
              <a:buClr>
                <a:schemeClr val="tx1"/>
              </a:buClr>
            </a:pPr>
            <a:r>
              <a:rPr lang="en-US" altLang="zh-CN" b="0" dirty="0"/>
              <a:t>(9).</a:t>
            </a:r>
            <a:r>
              <a:rPr lang="en-US" altLang="zh-CN" b="0" dirty="0">
                <a:sym typeface="Symbol" panose="05050102010706020507" pitchFamily="18" charset="2"/>
              </a:rPr>
              <a:t></a:t>
            </a:r>
            <a:r>
              <a:rPr lang="en-US" altLang="zh-CN" b="0" dirty="0"/>
              <a:t>x</a:t>
            </a:r>
            <a:r>
              <a:rPr lang="en-US" altLang="zh-CN" b="0" dirty="0">
                <a:sym typeface="Symbol" panose="05050102010706020507" pitchFamily="18" charset="2"/>
              </a:rPr>
              <a:t>(P(x)</a:t>
            </a:r>
            <a:r>
              <a:rPr lang="en-US" altLang="zh-CN" b="0" dirty="0"/>
              <a:t>(Q(</a:t>
            </a:r>
            <a:r>
              <a:rPr lang="en-US" altLang="zh-CN" b="0" dirty="0">
                <a:sym typeface="Symbol" panose="05050102010706020507" pitchFamily="18" charset="2"/>
              </a:rPr>
              <a:t>x)</a:t>
            </a:r>
            <a:r>
              <a:rPr lang="en-US" altLang="zh-CN" b="0" dirty="0"/>
              <a:t>S(</a:t>
            </a:r>
            <a:r>
              <a:rPr lang="en-US" altLang="zh-CN" b="0" dirty="0">
                <a:sym typeface="Symbol" panose="05050102010706020507" pitchFamily="18" charset="2"/>
              </a:rPr>
              <a:t>x)))//P</a:t>
            </a:r>
          </a:p>
          <a:p>
            <a:pPr marL="228600" indent="-228600">
              <a:lnSpc>
                <a:spcPct val="120000"/>
              </a:lnSpc>
              <a:spcBef>
                <a:spcPts val="1000"/>
              </a:spcBef>
              <a:buClr>
                <a:schemeClr val="tx1"/>
              </a:buClr>
            </a:pPr>
            <a:r>
              <a:rPr lang="en-US" altLang="zh-CN" b="0" dirty="0">
                <a:sym typeface="Symbol" panose="05050102010706020507" pitchFamily="18" charset="2"/>
              </a:rPr>
              <a:t>(10).P(c)</a:t>
            </a:r>
            <a:r>
              <a:rPr lang="en-US" altLang="zh-CN" b="0" dirty="0"/>
              <a:t>(Q(</a:t>
            </a:r>
            <a:r>
              <a:rPr lang="en-US" altLang="zh-CN" b="0" dirty="0">
                <a:sym typeface="Symbol" panose="05050102010706020507" pitchFamily="18" charset="2"/>
              </a:rPr>
              <a:t>c)</a:t>
            </a:r>
            <a:r>
              <a:rPr lang="en-US" altLang="zh-CN" b="0" dirty="0"/>
              <a:t>S(</a:t>
            </a:r>
            <a:r>
              <a:rPr lang="en-US" altLang="zh-CN" b="0" dirty="0">
                <a:sym typeface="Symbol" panose="05050102010706020507" pitchFamily="18" charset="2"/>
              </a:rPr>
              <a:t>c))// US,(9)</a:t>
            </a:r>
          </a:p>
          <a:p>
            <a:pPr marL="228600" indent="-228600">
              <a:lnSpc>
                <a:spcPct val="120000"/>
              </a:lnSpc>
              <a:spcBef>
                <a:spcPts val="1000"/>
              </a:spcBef>
              <a:buClr>
                <a:schemeClr val="tx1"/>
              </a:buClr>
            </a:pPr>
            <a:r>
              <a:rPr lang="en-US" altLang="zh-CN" b="0" dirty="0">
                <a:sym typeface="Symbol" panose="05050102010706020507" pitchFamily="18" charset="2"/>
              </a:rPr>
              <a:t>(11).Q(c)</a:t>
            </a:r>
            <a:r>
              <a:rPr lang="en-US" altLang="zh-CN" b="0" dirty="0"/>
              <a:t>S(</a:t>
            </a:r>
            <a:r>
              <a:rPr lang="en-US" altLang="zh-CN" b="0" dirty="0">
                <a:sym typeface="Symbol" panose="05050102010706020507" pitchFamily="18" charset="2"/>
              </a:rPr>
              <a:t>c) // T, I, (4),(11)</a:t>
            </a:r>
          </a:p>
          <a:p>
            <a:pPr marL="228600" indent="-228600">
              <a:lnSpc>
                <a:spcPct val="120000"/>
              </a:lnSpc>
              <a:spcBef>
                <a:spcPts val="1000"/>
              </a:spcBef>
              <a:buClr>
                <a:schemeClr val="tx1"/>
              </a:buClr>
            </a:pPr>
            <a:r>
              <a:rPr lang="en-US" altLang="zh-CN" b="0" dirty="0">
                <a:sym typeface="Symbol" panose="05050102010706020507" pitchFamily="18" charset="2"/>
              </a:rPr>
              <a:t>(12).Q(c)</a:t>
            </a:r>
            <a:r>
              <a:rPr lang="en-US" altLang="zh-CN" b="0" dirty="0"/>
              <a:t>S(</a:t>
            </a:r>
            <a:r>
              <a:rPr lang="en-US" altLang="zh-CN" b="0" dirty="0">
                <a:sym typeface="Symbol" panose="05050102010706020507" pitchFamily="18" charset="2"/>
              </a:rPr>
              <a:t>c)// T, I,(11)</a:t>
            </a:r>
          </a:p>
          <a:p>
            <a:pPr marL="228600" indent="-228600">
              <a:lnSpc>
                <a:spcPct val="120000"/>
              </a:lnSpc>
              <a:spcBef>
                <a:spcPts val="1000"/>
              </a:spcBef>
              <a:buClr>
                <a:schemeClr val="tx1"/>
              </a:buClr>
            </a:pPr>
            <a:r>
              <a:rPr lang="en-US" altLang="zh-CN" b="0" dirty="0">
                <a:sym typeface="Symbol" panose="05050102010706020507" pitchFamily="18" charset="2"/>
              </a:rPr>
              <a:t>(13). </a:t>
            </a:r>
            <a:r>
              <a:rPr lang="en-US" altLang="zh-CN" b="0" dirty="0"/>
              <a:t>Q(</a:t>
            </a:r>
            <a:r>
              <a:rPr lang="en-US" altLang="zh-CN" b="0" dirty="0">
                <a:sym typeface="Symbol" panose="05050102010706020507" pitchFamily="18" charset="2"/>
              </a:rPr>
              <a:t>c)	// T, I ,(12),(5)</a:t>
            </a:r>
          </a:p>
          <a:p>
            <a:pPr marL="228600" indent="-228600">
              <a:lnSpc>
                <a:spcPct val="120000"/>
              </a:lnSpc>
              <a:spcBef>
                <a:spcPts val="1000"/>
              </a:spcBef>
              <a:buClr>
                <a:schemeClr val="tx1"/>
              </a:buClr>
            </a:pPr>
            <a:r>
              <a:rPr lang="en-US" altLang="zh-CN" b="0" dirty="0">
                <a:sym typeface="Symbol" panose="05050102010706020507" pitchFamily="18" charset="2"/>
              </a:rPr>
              <a:t>(14). R(c)	// T, I (13),(8)</a:t>
            </a:r>
          </a:p>
          <a:p>
            <a:pPr marL="228600" indent="-228600">
              <a:lnSpc>
                <a:spcPct val="120000"/>
              </a:lnSpc>
              <a:spcBef>
                <a:spcPts val="1000"/>
              </a:spcBef>
              <a:buClr>
                <a:schemeClr val="tx1"/>
              </a:buClr>
            </a:pPr>
            <a:r>
              <a:rPr lang="en-US" altLang="zh-CN" b="0" dirty="0">
                <a:sym typeface="Symbol" panose="05050102010706020507" pitchFamily="18" charset="2"/>
              </a:rPr>
              <a:t>(15). P(c) </a:t>
            </a:r>
            <a:r>
              <a:rPr lang="en-US" altLang="zh-CN" b="0" dirty="0"/>
              <a:t> R(</a:t>
            </a:r>
            <a:r>
              <a:rPr lang="en-US" altLang="zh-CN" b="0" dirty="0">
                <a:sym typeface="Symbol" panose="05050102010706020507" pitchFamily="18" charset="2"/>
              </a:rPr>
              <a:t>c)// T, I,(4),(14)</a:t>
            </a:r>
          </a:p>
          <a:p>
            <a:pPr marL="228600" indent="-228600">
              <a:lnSpc>
                <a:spcPct val="120000"/>
              </a:lnSpc>
              <a:spcBef>
                <a:spcPts val="1000"/>
              </a:spcBef>
              <a:buClr>
                <a:schemeClr val="tx1"/>
              </a:buClr>
            </a:pPr>
            <a:r>
              <a:rPr lang="en-US" altLang="zh-CN" b="0" dirty="0">
                <a:sym typeface="Symbol" panose="05050102010706020507" pitchFamily="18" charset="2"/>
              </a:rPr>
              <a:t>(16). </a:t>
            </a:r>
            <a:r>
              <a:rPr lang="en-US" altLang="zh-CN" b="0" dirty="0"/>
              <a:t>x</a:t>
            </a:r>
            <a:r>
              <a:rPr lang="en-US" altLang="zh-CN" b="0" dirty="0">
                <a:sym typeface="Symbol" panose="05050102010706020507" pitchFamily="18" charset="2"/>
              </a:rPr>
              <a:t>(P(x)</a:t>
            </a:r>
            <a:r>
              <a:rPr lang="en-US" altLang="zh-CN" b="0" dirty="0"/>
              <a:t>R(</a:t>
            </a:r>
            <a:r>
              <a:rPr lang="en-US" altLang="zh-CN" b="0" dirty="0">
                <a:sym typeface="Symbol" panose="05050102010706020507" pitchFamily="18" charset="2"/>
              </a:rPr>
              <a:t>x)) // EG,(15)</a:t>
            </a:r>
          </a:p>
        </p:txBody>
      </p:sp>
      <p:sp>
        <p:nvSpPr>
          <p:cNvPr id="5" name="矩形 4">
            <a:extLst>
              <a:ext uri="{FF2B5EF4-FFF2-40B4-BE49-F238E27FC236}">
                <a16:creationId xmlns:a16="http://schemas.microsoft.com/office/drawing/2014/main" id="{5D0B4FE6-3DCF-444D-B32C-99DED3ECA407}"/>
              </a:ext>
            </a:extLst>
          </p:cNvPr>
          <p:cNvSpPr/>
          <p:nvPr/>
        </p:nvSpPr>
        <p:spPr>
          <a:xfrm>
            <a:off x="7677627" y="878489"/>
            <a:ext cx="2762513" cy="5608523"/>
          </a:xfrm>
          <a:prstGeom prst="rect">
            <a:avLst/>
          </a:prstGeom>
        </p:spPr>
        <p:txBody>
          <a:bodyPr wrap="square">
            <a:spAutoFit/>
          </a:bodyPr>
          <a:lstStyle/>
          <a:p>
            <a:pPr>
              <a:lnSpc>
                <a:spcPct val="120000"/>
              </a:lnSpc>
              <a:buClr>
                <a:schemeClr val="tx1"/>
              </a:buClr>
              <a:buFontTx/>
              <a:buNone/>
            </a:pPr>
            <a:r>
              <a:rPr lang="zh-CN" altLang="en-US" sz="2000" dirty="0">
                <a:latin typeface="+mn-ea"/>
              </a:rPr>
              <a:t>个体域为全总域，引入下列谓词：</a:t>
            </a:r>
            <a:r>
              <a:rPr lang="en-US" altLang="zh-CN" sz="2000" dirty="0">
                <a:latin typeface="+mn-ea"/>
              </a:rPr>
              <a:t>P(</a:t>
            </a:r>
            <a:r>
              <a:rPr lang="en-US" altLang="zh-CN" sz="2000" i="1" dirty="0">
                <a:latin typeface="+mn-ea"/>
              </a:rPr>
              <a:t>x</a:t>
            </a:r>
            <a:r>
              <a:rPr lang="en-US" altLang="zh-CN" sz="2000" dirty="0">
                <a:latin typeface="+mn-ea"/>
              </a:rPr>
              <a:t>): </a:t>
            </a:r>
            <a:r>
              <a:rPr lang="en-US" altLang="zh-CN" sz="2000" i="1" dirty="0">
                <a:latin typeface="+mn-ea"/>
              </a:rPr>
              <a:t>x</a:t>
            </a:r>
            <a:r>
              <a:rPr lang="zh-CN" altLang="en-US" sz="2000" dirty="0">
                <a:latin typeface="+mn-ea"/>
              </a:rPr>
              <a:t>是旅客；</a:t>
            </a:r>
            <a:r>
              <a:rPr lang="en-US" altLang="zh-CN" sz="2000" dirty="0">
                <a:latin typeface="+mn-ea"/>
              </a:rPr>
              <a:t>Q(</a:t>
            </a:r>
            <a:r>
              <a:rPr lang="en-US" altLang="zh-CN" sz="2000" i="1" dirty="0">
                <a:latin typeface="+mn-ea"/>
              </a:rPr>
              <a:t>x</a:t>
            </a:r>
            <a:r>
              <a:rPr lang="en-US" altLang="zh-CN" sz="2000" dirty="0">
                <a:latin typeface="+mn-ea"/>
              </a:rPr>
              <a:t>): </a:t>
            </a:r>
            <a:r>
              <a:rPr lang="en-US" altLang="zh-CN" sz="2000" i="1" dirty="0">
                <a:latin typeface="+mn-ea"/>
              </a:rPr>
              <a:t>x</a:t>
            </a:r>
            <a:r>
              <a:rPr lang="zh-CN" altLang="en-US" sz="2000" dirty="0">
                <a:latin typeface="+mn-ea"/>
              </a:rPr>
              <a:t>坐头等舱；</a:t>
            </a:r>
            <a:r>
              <a:rPr lang="en-US" altLang="zh-CN" sz="2000" dirty="0">
                <a:latin typeface="+mn-ea"/>
              </a:rPr>
              <a:t>R(</a:t>
            </a:r>
            <a:r>
              <a:rPr lang="en-US" altLang="zh-CN" sz="2000" i="1" dirty="0">
                <a:latin typeface="+mn-ea"/>
              </a:rPr>
              <a:t>x</a:t>
            </a:r>
            <a:r>
              <a:rPr lang="en-US" altLang="zh-CN" sz="2000" dirty="0">
                <a:latin typeface="+mn-ea"/>
              </a:rPr>
              <a:t>): </a:t>
            </a:r>
            <a:r>
              <a:rPr lang="en-US" altLang="zh-CN" sz="2000" i="1" dirty="0">
                <a:latin typeface="+mn-ea"/>
              </a:rPr>
              <a:t>x</a:t>
            </a:r>
            <a:r>
              <a:rPr lang="zh-CN" altLang="en-US" sz="2000" dirty="0">
                <a:latin typeface="+mn-ea"/>
              </a:rPr>
              <a:t>坐二等舱；</a:t>
            </a:r>
            <a:r>
              <a:rPr lang="en-US" altLang="zh-CN" sz="2000" dirty="0">
                <a:latin typeface="+mn-ea"/>
              </a:rPr>
              <a:t>S(</a:t>
            </a:r>
            <a:r>
              <a:rPr lang="en-US" altLang="zh-CN" sz="2000" i="1" dirty="0">
                <a:latin typeface="+mn-ea"/>
              </a:rPr>
              <a:t>x</a:t>
            </a:r>
            <a:r>
              <a:rPr lang="en-US" altLang="zh-CN" sz="2000" dirty="0">
                <a:latin typeface="+mn-ea"/>
              </a:rPr>
              <a:t>): </a:t>
            </a:r>
            <a:r>
              <a:rPr lang="en-US" altLang="zh-CN" sz="2000" i="1" dirty="0">
                <a:latin typeface="+mn-ea"/>
              </a:rPr>
              <a:t>x</a:t>
            </a:r>
            <a:r>
              <a:rPr lang="zh-CN" altLang="en-US" sz="2000" dirty="0">
                <a:latin typeface="+mn-ea"/>
              </a:rPr>
              <a:t>是富裕的。</a:t>
            </a:r>
          </a:p>
          <a:p>
            <a:pPr>
              <a:lnSpc>
                <a:spcPct val="120000"/>
              </a:lnSpc>
              <a:buClr>
                <a:schemeClr val="tx1"/>
              </a:buClr>
              <a:buFontTx/>
              <a:buNone/>
            </a:pPr>
            <a:r>
              <a:rPr lang="zh-CN" altLang="en-US" sz="2000" dirty="0">
                <a:latin typeface="+mn-ea"/>
              </a:rPr>
              <a:t>	原推理可符号化为：</a:t>
            </a:r>
          </a:p>
          <a:p>
            <a:pPr>
              <a:lnSpc>
                <a:spcPct val="120000"/>
              </a:lnSpc>
              <a:buClr>
                <a:schemeClr val="tx1"/>
              </a:buClr>
              <a:buFontTx/>
              <a:buNone/>
            </a:pPr>
            <a:r>
              <a:rPr lang="zh-CN" altLang="en-US" sz="2000" dirty="0">
                <a:latin typeface="+mn-ea"/>
              </a:rPr>
              <a:t>	</a:t>
            </a:r>
            <a:r>
              <a:rPr lang="zh-CN" altLang="en-US" sz="2000" dirty="0">
                <a:solidFill>
                  <a:srgbClr val="0033CC"/>
                </a:solidFill>
                <a:latin typeface="+mn-ea"/>
              </a:rPr>
              <a:t>前提</a:t>
            </a:r>
            <a:r>
              <a:rPr lang="zh-CN" altLang="en-US" sz="2000" dirty="0">
                <a:latin typeface="+mn-ea"/>
              </a:rPr>
              <a:t>：</a:t>
            </a:r>
            <a:r>
              <a:rPr lang="zh-CN" altLang="en-US" sz="2000" dirty="0">
                <a:latin typeface="+mn-ea"/>
                <a:sym typeface="Symbol" panose="05050102010706020507" pitchFamily="18" charset="2"/>
              </a:rPr>
              <a:t></a:t>
            </a:r>
            <a:r>
              <a:rPr lang="en-US" altLang="zh-CN" sz="2000" i="1" dirty="0">
                <a:latin typeface="+mn-ea"/>
              </a:rPr>
              <a:t>x</a:t>
            </a:r>
            <a:r>
              <a:rPr lang="en-US" altLang="zh-CN" sz="2000" dirty="0">
                <a:latin typeface="+mn-ea"/>
              </a:rPr>
              <a:t>(P(</a:t>
            </a:r>
            <a:r>
              <a:rPr lang="en-US" altLang="zh-CN" sz="2000" i="1" dirty="0">
                <a:latin typeface="+mn-ea"/>
              </a:rPr>
              <a:t>x</a:t>
            </a:r>
            <a:r>
              <a:rPr lang="en-US" altLang="zh-CN" sz="2000" dirty="0">
                <a:latin typeface="+mn-ea"/>
              </a:rPr>
              <a:t>)</a:t>
            </a:r>
            <a:r>
              <a:rPr lang="en-US" altLang="zh-CN" sz="2000" dirty="0">
                <a:latin typeface="+mn-ea"/>
                <a:sym typeface="Symbol" panose="05050102010706020507" pitchFamily="18" charset="2"/>
              </a:rPr>
              <a:t></a:t>
            </a:r>
            <a:r>
              <a:rPr lang="en-US" altLang="zh-CN" sz="2000" dirty="0">
                <a:latin typeface="+mn-ea"/>
              </a:rPr>
              <a:t>(Q(</a:t>
            </a:r>
            <a:r>
              <a:rPr lang="en-US" altLang="zh-CN" sz="2000" i="1" dirty="0">
                <a:latin typeface="+mn-ea"/>
              </a:rPr>
              <a:t>x</a:t>
            </a:r>
            <a:r>
              <a:rPr lang="en-US" altLang="zh-CN" sz="2000" dirty="0">
                <a:latin typeface="+mn-ea"/>
              </a:rPr>
              <a:t>)</a:t>
            </a:r>
            <a:r>
              <a:rPr lang="en-US" altLang="zh-CN" sz="2000" dirty="0">
                <a:latin typeface="+mn-ea"/>
                <a:sym typeface="Symbol" panose="05050102010706020507" pitchFamily="18" charset="2"/>
              </a:rPr>
              <a:t></a:t>
            </a:r>
            <a:r>
              <a:rPr lang="en-US" altLang="zh-CN" sz="2000" dirty="0">
                <a:latin typeface="+mn-ea"/>
              </a:rPr>
              <a:t>R(</a:t>
            </a:r>
            <a:r>
              <a:rPr lang="en-US" altLang="zh-CN" sz="2000" i="1" dirty="0">
                <a:latin typeface="+mn-ea"/>
              </a:rPr>
              <a:t>x</a:t>
            </a:r>
            <a:r>
              <a:rPr lang="en-US" altLang="zh-CN" sz="2000" dirty="0">
                <a:latin typeface="+mn-ea"/>
              </a:rPr>
              <a:t>)))</a:t>
            </a:r>
            <a:r>
              <a:rPr lang="zh-CN" altLang="en-US" sz="2000" dirty="0">
                <a:latin typeface="+mn-ea"/>
              </a:rPr>
              <a:t>、</a:t>
            </a:r>
            <a:r>
              <a:rPr lang="zh-CN" altLang="en-US" sz="2000" dirty="0">
                <a:latin typeface="+mn-ea"/>
                <a:sym typeface="Symbol" panose="05050102010706020507" pitchFamily="18" charset="2"/>
              </a:rPr>
              <a:t></a:t>
            </a:r>
            <a:r>
              <a:rPr lang="en-US" altLang="zh-CN" sz="2000" i="1" dirty="0">
                <a:latin typeface="+mn-ea"/>
              </a:rPr>
              <a:t>x</a:t>
            </a:r>
            <a:r>
              <a:rPr lang="en-US" altLang="zh-CN" sz="2000" dirty="0">
                <a:latin typeface="+mn-ea"/>
              </a:rPr>
              <a:t>(P(</a:t>
            </a:r>
            <a:r>
              <a:rPr lang="en-US" altLang="zh-CN" sz="2000" i="1" dirty="0">
                <a:latin typeface="+mn-ea"/>
              </a:rPr>
              <a:t>x</a:t>
            </a:r>
            <a:r>
              <a:rPr lang="en-US" altLang="zh-CN" sz="2000" dirty="0">
                <a:latin typeface="+mn-ea"/>
              </a:rPr>
              <a:t>)</a:t>
            </a:r>
            <a:r>
              <a:rPr lang="en-US" altLang="zh-CN" sz="2000" dirty="0">
                <a:latin typeface="+mn-ea"/>
                <a:sym typeface="Symbol" panose="05050102010706020507" pitchFamily="18" charset="2"/>
              </a:rPr>
              <a:t></a:t>
            </a:r>
            <a:r>
              <a:rPr lang="en-US" altLang="zh-CN" sz="2000" dirty="0">
                <a:latin typeface="+mn-ea"/>
              </a:rPr>
              <a:t>(Q(</a:t>
            </a:r>
            <a:r>
              <a:rPr lang="en-US" altLang="zh-CN" sz="2000" i="1" dirty="0">
                <a:latin typeface="+mn-ea"/>
              </a:rPr>
              <a:t>x</a:t>
            </a:r>
            <a:r>
              <a:rPr lang="en-US" altLang="zh-CN" sz="2000" dirty="0">
                <a:latin typeface="+mn-ea"/>
              </a:rPr>
              <a:t>)</a:t>
            </a:r>
            <a:r>
              <a:rPr lang="en-US" altLang="zh-CN" sz="2000" dirty="0">
                <a:latin typeface="+mn-ea"/>
                <a:sym typeface="Symbol" panose="05050102010706020507" pitchFamily="18" charset="2"/>
              </a:rPr>
              <a:t></a:t>
            </a:r>
            <a:r>
              <a:rPr lang="en-US" altLang="zh-CN" sz="2000" dirty="0">
                <a:latin typeface="+mn-ea"/>
              </a:rPr>
              <a:t>S(</a:t>
            </a:r>
            <a:r>
              <a:rPr lang="en-US" altLang="zh-CN" sz="2000" i="1" dirty="0">
                <a:latin typeface="+mn-ea"/>
              </a:rPr>
              <a:t>x</a:t>
            </a:r>
            <a:r>
              <a:rPr lang="en-US" altLang="zh-CN" sz="2000" dirty="0">
                <a:latin typeface="+mn-ea"/>
              </a:rPr>
              <a:t>)))</a:t>
            </a:r>
            <a:r>
              <a:rPr lang="zh-CN" altLang="en-US" sz="2000" dirty="0">
                <a:latin typeface="+mn-ea"/>
              </a:rPr>
              <a:t>、</a:t>
            </a:r>
            <a:r>
              <a:rPr lang="zh-CN" altLang="en-US" sz="2000" dirty="0">
                <a:latin typeface="+mn-ea"/>
                <a:sym typeface="Symbol" panose="05050102010706020507" pitchFamily="18" charset="2"/>
              </a:rPr>
              <a:t></a:t>
            </a:r>
            <a:r>
              <a:rPr lang="en-US" altLang="zh-CN" sz="2000" dirty="0">
                <a:latin typeface="+mn-ea"/>
              </a:rPr>
              <a:t>x (P(</a:t>
            </a:r>
            <a:r>
              <a:rPr lang="en-US" altLang="zh-CN" sz="2000" i="1" dirty="0">
                <a:latin typeface="+mn-ea"/>
              </a:rPr>
              <a:t>x</a:t>
            </a:r>
            <a:r>
              <a:rPr lang="en-US" altLang="zh-CN" sz="2000" dirty="0">
                <a:latin typeface="+mn-ea"/>
              </a:rPr>
              <a:t>)</a:t>
            </a:r>
            <a:r>
              <a:rPr lang="en-US" altLang="zh-CN" sz="2000" dirty="0">
                <a:latin typeface="+mn-ea"/>
                <a:sym typeface="Symbol" panose="05050102010706020507" pitchFamily="18" charset="2"/>
              </a:rPr>
              <a:t></a:t>
            </a:r>
            <a:r>
              <a:rPr lang="en-US" altLang="zh-CN" sz="2000" dirty="0">
                <a:latin typeface="+mn-ea"/>
              </a:rPr>
              <a:t>S(</a:t>
            </a:r>
            <a:r>
              <a:rPr lang="en-US" altLang="zh-CN" sz="2000" i="1" dirty="0">
                <a:latin typeface="+mn-ea"/>
              </a:rPr>
              <a:t>x</a:t>
            </a:r>
            <a:r>
              <a:rPr lang="en-US" altLang="zh-CN" sz="2000" dirty="0">
                <a:latin typeface="+mn-ea"/>
              </a:rPr>
              <a:t>))</a:t>
            </a:r>
            <a:r>
              <a:rPr lang="zh-CN" altLang="en-US" sz="2000" dirty="0">
                <a:latin typeface="+mn-ea"/>
              </a:rPr>
              <a:t>、</a:t>
            </a:r>
            <a:r>
              <a:rPr lang="zh-CN" altLang="en-US" sz="2000" dirty="0">
                <a:latin typeface="+mn-ea"/>
                <a:sym typeface="Symbol" panose="05050102010706020507" pitchFamily="18" charset="2"/>
              </a:rPr>
              <a:t></a:t>
            </a:r>
            <a:r>
              <a:rPr lang="en-US" altLang="zh-CN" sz="2000" dirty="0">
                <a:latin typeface="+mn-ea"/>
              </a:rPr>
              <a:t>(</a:t>
            </a:r>
            <a:r>
              <a:rPr lang="en-US" altLang="zh-CN" sz="2000" dirty="0">
                <a:latin typeface="+mn-ea"/>
                <a:sym typeface="Symbol" panose="05050102010706020507" pitchFamily="18" charset="2"/>
              </a:rPr>
              <a:t></a:t>
            </a:r>
            <a:r>
              <a:rPr lang="en-US" altLang="zh-CN" sz="2000" i="1" dirty="0">
                <a:latin typeface="+mn-ea"/>
              </a:rPr>
              <a:t>x</a:t>
            </a:r>
            <a:r>
              <a:rPr lang="en-US" altLang="zh-CN" sz="2000" dirty="0">
                <a:latin typeface="+mn-ea"/>
              </a:rPr>
              <a:t>(P(</a:t>
            </a:r>
            <a:r>
              <a:rPr lang="en-US" altLang="zh-CN" sz="2000" i="1" dirty="0">
                <a:latin typeface="+mn-ea"/>
              </a:rPr>
              <a:t>x</a:t>
            </a:r>
            <a:r>
              <a:rPr lang="en-US" altLang="zh-CN" sz="2000" dirty="0">
                <a:latin typeface="+mn-ea"/>
              </a:rPr>
              <a:t>)</a:t>
            </a:r>
            <a:r>
              <a:rPr lang="en-US" altLang="zh-CN" sz="2000" dirty="0">
                <a:latin typeface="+mn-ea"/>
                <a:sym typeface="Symbol" panose="05050102010706020507" pitchFamily="18" charset="2"/>
              </a:rPr>
              <a:t></a:t>
            </a:r>
            <a:r>
              <a:rPr lang="en-US" altLang="zh-CN" sz="2000" dirty="0">
                <a:latin typeface="+mn-ea"/>
              </a:rPr>
              <a:t>S(</a:t>
            </a:r>
            <a:r>
              <a:rPr lang="en-US" altLang="zh-CN" sz="2000" i="1" dirty="0">
                <a:latin typeface="+mn-ea"/>
              </a:rPr>
              <a:t>x</a:t>
            </a:r>
            <a:r>
              <a:rPr lang="en-US" altLang="zh-CN" sz="2000" dirty="0">
                <a:latin typeface="+mn-ea"/>
              </a:rPr>
              <a:t>)))</a:t>
            </a:r>
          </a:p>
          <a:p>
            <a:pPr>
              <a:lnSpc>
                <a:spcPct val="120000"/>
              </a:lnSpc>
              <a:buClr>
                <a:schemeClr val="tx1"/>
              </a:buClr>
              <a:buFontTx/>
              <a:buNone/>
            </a:pPr>
            <a:r>
              <a:rPr lang="en-US" altLang="zh-CN" sz="2000" dirty="0">
                <a:latin typeface="+mn-ea"/>
              </a:rPr>
              <a:t>	</a:t>
            </a:r>
            <a:r>
              <a:rPr lang="zh-CN" altLang="en-US" sz="2000" dirty="0">
                <a:solidFill>
                  <a:srgbClr val="0033CC"/>
                </a:solidFill>
                <a:latin typeface="+mn-ea"/>
              </a:rPr>
              <a:t>结论</a:t>
            </a:r>
            <a:r>
              <a:rPr lang="zh-CN" altLang="en-US" sz="2000" dirty="0">
                <a:latin typeface="+mn-ea"/>
              </a:rPr>
              <a:t>：</a:t>
            </a:r>
            <a:r>
              <a:rPr lang="zh-CN" altLang="en-US" sz="2000" dirty="0">
                <a:latin typeface="+mn-ea"/>
                <a:sym typeface="Symbol" panose="05050102010706020507" pitchFamily="18" charset="2"/>
              </a:rPr>
              <a:t></a:t>
            </a:r>
            <a:r>
              <a:rPr lang="en-US" altLang="zh-CN" sz="2000" i="1" dirty="0">
                <a:latin typeface="+mn-ea"/>
              </a:rPr>
              <a:t>x</a:t>
            </a:r>
            <a:r>
              <a:rPr lang="en-US" altLang="zh-CN" sz="2000" dirty="0">
                <a:latin typeface="+mn-ea"/>
              </a:rPr>
              <a:t>(P(</a:t>
            </a:r>
            <a:r>
              <a:rPr lang="en-US" altLang="zh-CN" sz="2000" i="1" dirty="0">
                <a:latin typeface="+mn-ea"/>
              </a:rPr>
              <a:t>x</a:t>
            </a:r>
            <a:r>
              <a:rPr lang="en-US" altLang="zh-CN" sz="2000" dirty="0">
                <a:latin typeface="+mn-ea"/>
              </a:rPr>
              <a:t>)</a:t>
            </a:r>
            <a:r>
              <a:rPr lang="en-US" altLang="zh-CN" sz="2000" dirty="0">
                <a:latin typeface="+mn-ea"/>
                <a:sym typeface="Symbol" panose="05050102010706020507" pitchFamily="18" charset="2"/>
              </a:rPr>
              <a:t></a:t>
            </a:r>
            <a:r>
              <a:rPr lang="en-US" altLang="zh-CN" sz="2000" dirty="0">
                <a:latin typeface="+mn-ea"/>
              </a:rPr>
              <a:t>R(</a:t>
            </a:r>
            <a:r>
              <a:rPr lang="en-US" altLang="zh-CN" sz="2000" i="1" dirty="0">
                <a:latin typeface="+mn-ea"/>
              </a:rPr>
              <a:t>x</a:t>
            </a:r>
            <a:r>
              <a:rPr lang="en-US" altLang="zh-CN" sz="2000" dirty="0">
                <a:latin typeface="+mn-ea"/>
              </a:rPr>
              <a:t>))</a:t>
            </a:r>
            <a:r>
              <a:rPr lang="zh-CN" altLang="en-US" sz="2000" dirty="0">
                <a:latin typeface="+mn-ea"/>
              </a:rPr>
              <a:t>，验证该结论的公式序列如下：</a:t>
            </a:r>
          </a:p>
        </p:txBody>
      </p:sp>
    </p:spTree>
    <p:extLst>
      <p:ext uri="{BB962C8B-B14F-4D97-AF65-F5344CB8AC3E}">
        <p14:creationId xmlns:p14="http://schemas.microsoft.com/office/powerpoint/2010/main" val="1967452289"/>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4" name="矩形 1027">
            <a:extLst>
              <a:ext uri="{FF2B5EF4-FFF2-40B4-BE49-F238E27FC236}">
                <a16:creationId xmlns:a16="http://schemas.microsoft.com/office/drawing/2014/main" id="{AC2BCE3E-78F7-46FC-8ED4-80003DC2A48F}"/>
              </a:ext>
            </a:extLst>
          </p:cNvPr>
          <p:cNvSpPr txBox="1">
            <a:spLocks noChangeArrowheads="1"/>
          </p:cNvSpPr>
          <p:nvPr/>
        </p:nvSpPr>
        <p:spPr>
          <a:xfrm>
            <a:off x="1751013" y="1031289"/>
            <a:ext cx="9436963" cy="55626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br>
              <a:rPr lang="zh-CN" altLang="en-US" sz="3200" dirty="0">
                <a:latin typeface="+mn-ea"/>
              </a:rPr>
            </a:br>
            <a:endParaRPr lang="en-US" altLang="zh-CN" sz="3200" dirty="0">
              <a:latin typeface="+mn-ea"/>
            </a:endParaRPr>
          </a:p>
          <a:p>
            <a:pPr>
              <a:buFont typeface="Wingdings" panose="05000000000000000000" pitchFamily="2" charset="2"/>
              <a:buNone/>
            </a:pPr>
            <a:r>
              <a:rPr lang="zh-CN" altLang="en-US" sz="3200" dirty="0">
                <a:latin typeface="+mn-ea"/>
              </a:rPr>
              <a:t>任何自然数都是整数；存在着自然数。所以存在着整数。</a:t>
            </a:r>
            <a:br>
              <a:rPr lang="zh-CN" altLang="en-US" sz="3200" dirty="0">
                <a:latin typeface="+mn-ea"/>
              </a:rPr>
            </a:br>
            <a:endParaRPr lang="en-US" altLang="zh-CN" sz="3200" dirty="0">
              <a:latin typeface="+mn-ea"/>
            </a:endParaRPr>
          </a:p>
          <a:p>
            <a:pPr>
              <a:buFont typeface="Wingdings" panose="05000000000000000000" pitchFamily="2" charset="2"/>
              <a:buNone/>
            </a:pPr>
            <a:r>
              <a:rPr lang="zh-CN" altLang="en-US" sz="3200" dirty="0">
                <a:latin typeface="+mn-ea"/>
              </a:rPr>
              <a:t>个体域为实数集合</a:t>
            </a:r>
            <a:r>
              <a:rPr lang="en-US" altLang="zh-CN" sz="3200" dirty="0">
                <a:latin typeface="+mn-ea"/>
              </a:rPr>
              <a:t>R</a:t>
            </a:r>
            <a:r>
              <a:rPr lang="zh-CN" altLang="en-US" sz="3200" dirty="0">
                <a:latin typeface="+mn-ea"/>
              </a:rPr>
              <a:t>。</a:t>
            </a:r>
          </a:p>
        </p:txBody>
      </p:sp>
    </p:spTree>
    <p:extLst>
      <p:ext uri="{BB962C8B-B14F-4D97-AF65-F5344CB8AC3E}">
        <p14:creationId xmlns:p14="http://schemas.microsoft.com/office/powerpoint/2010/main" val="183251546"/>
      </p:ext>
    </p:extLst>
  </p:cSld>
  <p:clrMapOvr>
    <a:masterClrMapping/>
  </p:clrMapOvr>
  <p:transition spd="slow" advTm="0">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2" name="矩形 1">
            <a:extLst>
              <a:ext uri="{FF2B5EF4-FFF2-40B4-BE49-F238E27FC236}">
                <a16:creationId xmlns:a16="http://schemas.microsoft.com/office/drawing/2014/main" id="{AE7396CB-8B30-4F9B-9DA2-F7D7AA8CD2F8}"/>
              </a:ext>
            </a:extLst>
          </p:cNvPr>
          <p:cNvSpPr/>
          <p:nvPr/>
        </p:nvSpPr>
        <p:spPr>
          <a:xfrm>
            <a:off x="-92279" y="3126557"/>
            <a:ext cx="6096000" cy="1815882"/>
          </a:xfrm>
          <a:prstGeom prst="rect">
            <a:avLst/>
          </a:prstGeom>
        </p:spPr>
        <p:txBody>
          <a:bodyPr>
            <a:spAutoFit/>
          </a:bodyPr>
          <a:lstStyle/>
          <a:p>
            <a:r>
              <a:rPr lang="zh-CN" altLang="en-US" sz="2800" dirty="0">
                <a:latin typeface="Times New Roman" panose="02020603050405020304" pitchFamily="18" charset="0"/>
                <a:cs typeface="Times New Roman" panose="02020603050405020304" pitchFamily="18" charset="0"/>
              </a:rPr>
              <a:t>         ① </a:t>
            </a:r>
            <a:r>
              <a:rPr lang="zh-CN" altLang="en-US"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rPr>
              <a:t>x(F(x)→G(x)) 	       P</a:t>
            </a:r>
            <a:br>
              <a:rPr lang="zh-CN" altLang="en-US" sz="2800" dirty="0">
                <a:latin typeface="Times New Roman" panose="02020603050405020304" pitchFamily="18" charset="0"/>
                <a:cs typeface="Times New Roman" panose="02020603050405020304" pitchFamily="18" charset="0"/>
              </a:rPr>
            </a:br>
            <a:r>
              <a:rPr lang="zh-CN" altLang="en-US" sz="2800" dirty="0">
                <a:latin typeface="Times New Roman" panose="02020603050405020304" pitchFamily="18" charset="0"/>
                <a:cs typeface="Times New Roman" panose="02020603050405020304" pitchFamily="18" charset="0"/>
              </a:rPr>
              <a:t>   	② </a:t>
            </a:r>
            <a:r>
              <a:rPr lang="en-US" altLang="zh-CN" sz="2800" dirty="0">
                <a:latin typeface="Times New Roman" panose="02020603050405020304" pitchFamily="18" charset="0"/>
                <a:cs typeface="Times New Roman" panose="02020603050405020304" pitchFamily="18" charset="0"/>
              </a:rPr>
              <a:t>F(c)→G(c)      	      US, ①</a:t>
            </a:r>
            <a:br>
              <a:rPr lang="zh-CN" altLang="en-US" sz="2800" dirty="0">
                <a:latin typeface="Times New Roman" panose="02020603050405020304" pitchFamily="18" charset="0"/>
                <a:cs typeface="Times New Roman" panose="02020603050405020304" pitchFamily="18" charset="0"/>
              </a:rPr>
            </a:br>
            <a:r>
              <a:rPr lang="zh-CN" altLang="en-US" sz="2800" dirty="0">
                <a:latin typeface="Times New Roman" panose="02020603050405020304" pitchFamily="18" charset="0"/>
                <a:cs typeface="Times New Roman" panose="02020603050405020304" pitchFamily="18" charset="0"/>
              </a:rPr>
              <a:t>   	③ </a:t>
            </a:r>
            <a:r>
              <a:rPr lang="zh-CN" altLang="en-US"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cs typeface="Times New Roman" panose="02020603050405020304" pitchFamily="18" charset="0"/>
              </a:rPr>
              <a:t>xF</a:t>
            </a:r>
            <a:r>
              <a:rPr lang="en-US" altLang="zh-CN" sz="2800" dirty="0">
                <a:latin typeface="Times New Roman" panose="02020603050405020304" pitchFamily="18" charset="0"/>
                <a:cs typeface="Times New Roman" panose="02020603050405020304" pitchFamily="18" charset="0"/>
              </a:rPr>
              <a:t>(x)         	       P</a:t>
            </a:r>
            <a:br>
              <a:rPr lang="zh-CN" altLang="en-US" sz="2800" dirty="0">
                <a:latin typeface="Times New Roman" panose="02020603050405020304" pitchFamily="18" charset="0"/>
                <a:cs typeface="Times New Roman" panose="02020603050405020304" pitchFamily="18" charset="0"/>
              </a:rPr>
            </a:br>
            <a:r>
              <a:rPr lang="zh-CN" altLang="en-US" sz="2800" dirty="0">
                <a:latin typeface="Times New Roman" panose="02020603050405020304" pitchFamily="18" charset="0"/>
                <a:cs typeface="Times New Roman" panose="02020603050405020304" pitchFamily="18" charset="0"/>
              </a:rPr>
              <a:t>   	④ </a:t>
            </a:r>
            <a:r>
              <a:rPr lang="en-US" altLang="zh-CN" sz="2800" dirty="0">
                <a:latin typeface="Times New Roman" panose="02020603050405020304" pitchFamily="18" charset="0"/>
                <a:cs typeface="Times New Roman" panose="02020603050405020304" pitchFamily="18" charset="0"/>
              </a:rPr>
              <a:t>F(d)            	      EI, ③</a:t>
            </a:r>
            <a:endParaRPr lang="zh-CN" altLang="en-US" sz="2800" dirty="0">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25702B80-E600-4506-9A5F-864BC8C86AD8}"/>
              </a:ext>
            </a:extLst>
          </p:cNvPr>
          <p:cNvSpPr/>
          <p:nvPr/>
        </p:nvSpPr>
        <p:spPr>
          <a:xfrm>
            <a:off x="5857660" y="3055757"/>
            <a:ext cx="6096000" cy="3108543"/>
          </a:xfrm>
          <a:prstGeom prst="rect">
            <a:avLst/>
          </a:prstGeom>
        </p:spPr>
        <p:txBody>
          <a:bodyPr>
            <a:spAutoFit/>
          </a:bodyPr>
          <a:lstStyle/>
          <a:p>
            <a:pPr algn="just">
              <a:buFont typeface="Wingdings" panose="05000000000000000000" pitchFamily="2" charset="2"/>
              <a:buNone/>
            </a:pPr>
            <a:r>
              <a:rPr lang="zh-CN" altLang="en-US" sz="2800" dirty="0">
                <a:latin typeface="Times New Roman" panose="02020603050405020304" pitchFamily="18" charset="0"/>
                <a:cs typeface="Times New Roman" panose="02020603050405020304" pitchFamily="18" charset="0"/>
              </a:rPr>
              <a:t>证明：</a:t>
            </a:r>
          </a:p>
          <a:p>
            <a:pPr algn="just">
              <a:buFont typeface="Wingdings" panose="05000000000000000000" pitchFamily="2" charset="2"/>
              <a:buNone/>
            </a:pPr>
            <a:r>
              <a:rPr lang="zh-CN" altLang="en-US" sz="2800" dirty="0">
                <a:latin typeface="Times New Roman" panose="02020603050405020304" pitchFamily="18" charset="0"/>
                <a:cs typeface="Times New Roman" panose="02020603050405020304" pitchFamily="18" charset="0"/>
              </a:rPr>
              <a:t>   ① </a:t>
            </a:r>
            <a:r>
              <a:rPr lang="zh-CN" altLang="en-US"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cs typeface="Times New Roman" panose="02020603050405020304" pitchFamily="18" charset="0"/>
              </a:rPr>
              <a:t>xF</a:t>
            </a:r>
            <a:r>
              <a:rPr lang="en-US" altLang="zh-CN" sz="2800" dirty="0">
                <a:latin typeface="Times New Roman" panose="02020603050405020304" pitchFamily="18" charset="0"/>
                <a:cs typeface="Times New Roman" panose="02020603050405020304" pitchFamily="18" charset="0"/>
              </a:rPr>
              <a:t>(x)         		P</a:t>
            </a:r>
            <a:endParaRPr lang="zh-CN" altLang="en-US" sz="2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None/>
            </a:pPr>
            <a:r>
              <a:rPr lang="zh-CN" altLang="en-US" sz="2800" dirty="0">
                <a:latin typeface="Times New Roman" panose="02020603050405020304" pitchFamily="18" charset="0"/>
                <a:cs typeface="Times New Roman" panose="02020603050405020304" pitchFamily="18" charset="0"/>
              </a:rPr>
              <a:t>   ② </a:t>
            </a:r>
            <a:r>
              <a:rPr lang="en-US" altLang="zh-CN" sz="2800" dirty="0">
                <a:latin typeface="Times New Roman" panose="02020603050405020304" pitchFamily="18" charset="0"/>
                <a:cs typeface="Times New Roman" panose="02020603050405020304" pitchFamily="18" charset="0"/>
              </a:rPr>
              <a:t>F(c)            	          ES, ①</a:t>
            </a:r>
            <a:endParaRPr lang="zh-CN" altLang="en-US" sz="2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None/>
            </a:pPr>
            <a:r>
              <a:rPr lang="zh-CN" altLang="en-US" sz="2800" dirty="0">
                <a:latin typeface="Times New Roman" panose="02020603050405020304" pitchFamily="18" charset="0"/>
                <a:cs typeface="Times New Roman" panose="02020603050405020304" pitchFamily="18" charset="0"/>
              </a:rPr>
              <a:t>   ③ </a:t>
            </a:r>
            <a:r>
              <a:rPr lang="zh-CN" altLang="en-US"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rPr>
              <a:t>x(F(x)→G(x)) 	P</a:t>
            </a:r>
            <a:endParaRPr lang="zh-CN" altLang="en-US" sz="2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None/>
            </a:pPr>
            <a:r>
              <a:rPr lang="zh-CN" altLang="en-US" sz="2800" dirty="0">
                <a:latin typeface="Times New Roman" panose="02020603050405020304" pitchFamily="18" charset="0"/>
                <a:cs typeface="Times New Roman" panose="02020603050405020304" pitchFamily="18" charset="0"/>
              </a:rPr>
              <a:t>   ④ </a:t>
            </a:r>
            <a:r>
              <a:rPr lang="en-US" altLang="zh-CN" sz="2800" dirty="0">
                <a:latin typeface="Times New Roman" panose="02020603050405020304" pitchFamily="18" charset="0"/>
                <a:cs typeface="Times New Roman" panose="02020603050405020304" pitchFamily="18" charset="0"/>
              </a:rPr>
              <a:t>F(c)→G(c)      	US,③</a:t>
            </a:r>
            <a:endParaRPr lang="zh-CN" altLang="en-US" sz="2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None/>
            </a:pPr>
            <a:r>
              <a:rPr lang="zh-CN" altLang="en-US" sz="2800" dirty="0">
                <a:latin typeface="Times New Roman" panose="02020603050405020304" pitchFamily="18" charset="0"/>
                <a:cs typeface="Times New Roman" panose="02020603050405020304" pitchFamily="18" charset="0"/>
              </a:rPr>
              <a:t>   ⑤ </a:t>
            </a:r>
            <a:r>
              <a:rPr lang="en-US" altLang="zh-CN" sz="2800" dirty="0">
                <a:latin typeface="Times New Roman" panose="02020603050405020304" pitchFamily="18" charset="0"/>
                <a:cs typeface="Times New Roman" panose="02020603050405020304" pitchFamily="18" charset="0"/>
              </a:rPr>
              <a:t>G(c)           		T,I,②,④</a:t>
            </a:r>
            <a:endParaRPr lang="zh-CN" altLang="en-US" sz="2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None/>
            </a:pPr>
            <a:r>
              <a:rPr lang="zh-CN" altLang="en-US" sz="2800" dirty="0">
                <a:latin typeface="Times New Roman" panose="02020603050405020304" pitchFamily="18" charset="0"/>
                <a:cs typeface="Times New Roman" panose="02020603050405020304" pitchFamily="18" charset="0"/>
              </a:rPr>
              <a:t>   ⑥ </a:t>
            </a:r>
            <a:r>
              <a:rPr lang="zh-CN" altLang="en-US"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cs typeface="Times New Roman" panose="02020603050405020304" pitchFamily="18" charset="0"/>
              </a:rPr>
              <a:t>xG</a:t>
            </a:r>
            <a:r>
              <a:rPr lang="en-US" altLang="zh-CN" sz="2800" dirty="0">
                <a:latin typeface="Times New Roman" panose="02020603050405020304" pitchFamily="18" charset="0"/>
                <a:cs typeface="Times New Roman" panose="02020603050405020304" pitchFamily="18" charset="0"/>
              </a:rPr>
              <a:t>(x)         		EG, ⑤</a:t>
            </a:r>
            <a:endParaRPr lang="zh-CN" altLang="en-US" sz="2800" dirty="0">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E13A82A1-AEF2-4CD5-90B1-0926D2D76FB6}"/>
              </a:ext>
            </a:extLst>
          </p:cNvPr>
          <p:cNvSpPr/>
          <p:nvPr/>
        </p:nvSpPr>
        <p:spPr>
          <a:xfrm>
            <a:off x="2479829" y="808988"/>
            <a:ext cx="6096000" cy="2246769"/>
          </a:xfrm>
          <a:prstGeom prst="rect">
            <a:avLst/>
          </a:prstGeom>
        </p:spPr>
        <p:txBody>
          <a:bodyPr>
            <a:spAutoFit/>
          </a:bodyPr>
          <a:lstStyle/>
          <a:p>
            <a:pPr algn="just">
              <a:buFont typeface="Wingdings" panose="05000000000000000000" pitchFamily="2" charset="2"/>
              <a:buNone/>
            </a:pPr>
            <a:r>
              <a:rPr lang="zh-CN" altLang="en-US" sz="2800" dirty="0">
                <a:solidFill>
                  <a:schemeClr val="hlink"/>
                </a:solidFill>
                <a:latin typeface="Times New Roman" panose="02020603050405020304" pitchFamily="18" charset="0"/>
                <a:cs typeface="Times New Roman" panose="02020603050405020304" pitchFamily="18" charset="0"/>
              </a:rPr>
              <a:t>解</a:t>
            </a:r>
            <a:r>
              <a:rPr lang="zh-CN" altLang="en-US" sz="2800" dirty="0">
                <a:latin typeface="Times New Roman" panose="02020603050405020304" pitchFamily="18" charset="0"/>
                <a:cs typeface="Times New Roman" panose="02020603050405020304" pitchFamily="18" charset="0"/>
              </a:rPr>
              <a:t>：先将原子命题符号化。</a:t>
            </a:r>
          </a:p>
          <a:p>
            <a:pPr algn="just">
              <a:buFont typeface="Wingdings" panose="05000000000000000000" pitchFamily="2" charset="2"/>
              <a:buNone/>
            </a:pPr>
            <a:r>
              <a:rPr lang="zh-CN" altLang="en-US" sz="2800" dirty="0">
                <a:latin typeface="Times New Roman" panose="02020603050405020304" pitchFamily="18" charset="0"/>
                <a:cs typeface="Times New Roman" panose="02020603050405020304" pitchFamily="18" charset="0"/>
              </a:rPr>
              <a:t>	设 </a:t>
            </a:r>
            <a:r>
              <a:rPr lang="en-US" altLang="zh-CN" sz="2800" dirty="0">
                <a:latin typeface="Times New Roman" panose="02020603050405020304" pitchFamily="18" charset="0"/>
                <a:cs typeface="Times New Roman" panose="02020603050405020304" pitchFamily="18" charset="0"/>
              </a:rPr>
              <a:t>F(x):x</a:t>
            </a:r>
            <a:r>
              <a:rPr lang="zh-CN" altLang="en-US" sz="2800" dirty="0">
                <a:latin typeface="Times New Roman" panose="02020603050405020304" pitchFamily="18" charset="0"/>
                <a:cs typeface="Times New Roman" panose="02020603050405020304" pitchFamily="18" charset="0"/>
              </a:rPr>
              <a:t>为自然数，</a:t>
            </a:r>
            <a:r>
              <a:rPr lang="en-US" altLang="zh-CN" sz="2800" dirty="0">
                <a:latin typeface="Times New Roman" panose="02020603050405020304" pitchFamily="18" charset="0"/>
                <a:cs typeface="Times New Roman" panose="02020603050405020304" pitchFamily="18" charset="0"/>
              </a:rPr>
              <a:t>G(x):x</a:t>
            </a:r>
            <a:r>
              <a:rPr lang="zh-CN" altLang="en-US" sz="2800" dirty="0">
                <a:latin typeface="Times New Roman" panose="02020603050405020304" pitchFamily="18" charset="0"/>
                <a:cs typeface="Times New Roman" panose="02020603050405020304" pitchFamily="18" charset="0"/>
              </a:rPr>
              <a:t>为整数。</a:t>
            </a:r>
          </a:p>
          <a:p>
            <a:pPr algn="just">
              <a:buFont typeface="Wingdings" panose="05000000000000000000" pitchFamily="2" charset="2"/>
              <a:buNone/>
            </a:pPr>
            <a:r>
              <a:rPr lang="zh-CN" altLang="en-US" sz="2800" dirty="0">
                <a:latin typeface="Times New Roman" panose="02020603050405020304" pitchFamily="18" charset="0"/>
                <a:cs typeface="Times New Roman" panose="02020603050405020304" pitchFamily="18" charset="0"/>
              </a:rPr>
              <a:t>   前提：</a:t>
            </a:r>
            <a:r>
              <a:rPr lang="zh-CN" altLang="en-US"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a:latin typeface="Times New Roman" panose="02020603050405020304" pitchFamily="18" charset="0"/>
                <a:cs typeface="Times New Roman" panose="02020603050405020304" pitchFamily="18" charset="0"/>
              </a:rPr>
              <a:t>x(F(x)→G(x)), </a:t>
            </a:r>
            <a:r>
              <a:rPr lang="en-US" altLang="zh-CN"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cs typeface="Times New Roman" panose="02020603050405020304" pitchFamily="18" charset="0"/>
              </a:rPr>
              <a:t>xF</a:t>
            </a:r>
            <a:r>
              <a:rPr lang="en-US" altLang="zh-CN" sz="2800" dirty="0">
                <a:latin typeface="Times New Roman" panose="02020603050405020304" pitchFamily="18" charset="0"/>
                <a:cs typeface="Times New Roman" panose="02020603050405020304" pitchFamily="18" charset="0"/>
              </a:rPr>
              <a:t>(x)</a:t>
            </a:r>
          </a:p>
          <a:p>
            <a:pPr algn="just">
              <a:buFont typeface="Wingdings" panose="05000000000000000000" pitchFamily="2" charset="2"/>
              <a:buNone/>
            </a:pPr>
            <a:r>
              <a:rPr lang="en-US"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结论： </a:t>
            </a:r>
            <a:r>
              <a:rPr lang="zh-CN" altLang="en-US" sz="2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800" dirty="0" err="1">
                <a:latin typeface="Times New Roman" panose="02020603050405020304" pitchFamily="18" charset="0"/>
                <a:cs typeface="Times New Roman" panose="02020603050405020304" pitchFamily="18" charset="0"/>
              </a:rPr>
              <a:t>xG</a:t>
            </a:r>
            <a:r>
              <a:rPr lang="en-US" altLang="zh-CN" sz="2800" dirty="0">
                <a:latin typeface="Times New Roman" panose="02020603050405020304" pitchFamily="18" charset="0"/>
                <a:cs typeface="Times New Roman" panose="02020603050405020304" pitchFamily="18" charset="0"/>
              </a:rPr>
              <a:t>(x)</a:t>
            </a:r>
          </a:p>
        </p:txBody>
      </p:sp>
    </p:spTree>
    <p:extLst>
      <p:ext uri="{BB962C8B-B14F-4D97-AF65-F5344CB8AC3E}">
        <p14:creationId xmlns:p14="http://schemas.microsoft.com/office/powerpoint/2010/main" val="1908362836"/>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7" name="Rectangle 3">
            <a:extLst>
              <a:ext uri="{FF2B5EF4-FFF2-40B4-BE49-F238E27FC236}">
                <a16:creationId xmlns:a16="http://schemas.microsoft.com/office/drawing/2014/main" id="{3E4C0C57-103D-45EF-9411-24987093C659}"/>
              </a:ext>
            </a:extLst>
          </p:cNvPr>
          <p:cNvSpPr>
            <a:spLocks noChangeArrowheads="1"/>
          </p:cNvSpPr>
          <p:nvPr/>
        </p:nvSpPr>
        <p:spPr bwMode="auto">
          <a:xfrm>
            <a:off x="2209800" y="1222142"/>
            <a:ext cx="7772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800" dirty="0">
                <a:solidFill>
                  <a:srgbClr val="150363"/>
                </a:solidFill>
                <a:latin typeface="Times New Roman" panose="02020603050405020304" pitchFamily="18" charset="0"/>
                <a:cs typeface="Times New Roman" panose="02020603050405020304" pitchFamily="18" charset="0"/>
              </a:rPr>
              <a:t>证明：</a:t>
            </a:r>
            <a:r>
              <a:rPr kumimoji="1" lang="en-US" altLang="zh-CN" sz="2800" dirty="0">
                <a:solidFill>
                  <a:srgbClr val="150363"/>
                </a:solidFill>
                <a:latin typeface="Times New Roman" panose="02020603050405020304" pitchFamily="18" charset="0"/>
                <a:cs typeface="Times New Roman" panose="02020603050405020304" pitchFamily="18" charset="0"/>
              </a:rPr>
              <a:t>(</a:t>
            </a:r>
            <a:r>
              <a:rPr kumimoji="1" lang="en-US" altLang="zh-CN" sz="2800" dirty="0">
                <a:solidFill>
                  <a:srgbClr val="150363"/>
                </a:solidFill>
                <a:latin typeface="Times New Roman" panose="02020603050405020304" pitchFamily="18" charset="0"/>
                <a:cs typeface="Times New Roman" panose="02020603050405020304" pitchFamily="18" charset="0"/>
                <a:sym typeface="Symbol" panose="05050102010706020507" pitchFamily="18" charset="2"/>
              </a:rPr>
              <a:t>x)(P(x)Q(x))</a:t>
            </a:r>
            <a:r>
              <a:rPr kumimoji="1" lang="zh-CN" altLang="en-US" sz="2800" dirty="0">
                <a:solidFill>
                  <a:srgbClr val="150363"/>
                </a:solidFill>
                <a:latin typeface="Times New Roman" panose="02020603050405020304" pitchFamily="18" charset="0"/>
                <a:cs typeface="Times New Roman" panose="02020603050405020304" pitchFamily="18" charset="0"/>
                <a:sym typeface="Symbol" panose="05050102010706020507" pitchFamily="18" charset="2"/>
              </a:rPr>
              <a:t>，</a:t>
            </a:r>
            <a:r>
              <a:rPr kumimoji="1" lang="zh-CN" altLang="en-US" sz="2800" noProof="1">
                <a:solidFill>
                  <a:srgbClr val="150363"/>
                </a:solidFill>
                <a:latin typeface="Times New Roman" panose="02020603050405020304" pitchFamily="18" charset="0"/>
                <a:cs typeface="Times New Roman" panose="02020603050405020304" pitchFamily="18" charset="0"/>
              </a:rPr>
              <a:t>(</a:t>
            </a:r>
            <a:r>
              <a:rPr kumimoji="1" lang="zh-CN" altLang="en-US" sz="2800" noProof="1">
                <a:solidFill>
                  <a:srgbClr val="150363"/>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800" noProof="1">
                <a:solidFill>
                  <a:srgbClr val="150363"/>
                </a:solidFill>
                <a:latin typeface="Times New Roman" panose="02020603050405020304" pitchFamily="18" charset="0"/>
                <a:cs typeface="Times New Roman" panose="02020603050405020304" pitchFamily="18" charset="0"/>
              </a:rPr>
              <a:t>x)</a:t>
            </a:r>
            <a:r>
              <a:rPr kumimoji="1" lang="en-US" altLang="zh-CN" sz="2800" dirty="0">
                <a:solidFill>
                  <a:srgbClr val="150363"/>
                </a:solidFill>
                <a:latin typeface="Times New Roman" panose="02020603050405020304" pitchFamily="18" charset="0"/>
                <a:cs typeface="Times New Roman" panose="02020603050405020304" pitchFamily="18" charset="0"/>
                <a:sym typeface="Symbol" panose="05050102010706020507" pitchFamily="18" charset="2"/>
              </a:rPr>
              <a:t>P(x)</a:t>
            </a:r>
            <a:r>
              <a:rPr kumimoji="1" lang="en-US" altLang="en-US" sz="2800" noProof="1">
                <a:solidFill>
                  <a:srgbClr val="150363"/>
                </a:solidFill>
                <a:latin typeface="Times New Roman" panose="02020603050405020304" pitchFamily="18" charset="0"/>
                <a:cs typeface="Times New Roman" panose="02020603050405020304" pitchFamily="18" charset="0"/>
              </a:rPr>
              <a:t>(</a:t>
            </a:r>
            <a:r>
              <a:rPr kumimoji="1" lang="en-US" altLang="en-US" sz="2800" noProof="1">
                <a:solidFill>
                  <a:srgbClr val="150363"/>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800" noProof="1">
                <a:solidFill>
                  <a:srgbClr val="150363"/>
                </a:solidFill>
                <a:latin typeface="Times New Roman" panose="02020603050405020304" pitchFamily="18" charset="0"/>
                <a:cs typeface="Times New Roman" panose="02020603050405020304" pitchFamily="18" charset="0"/>
              </a:rPr>
              <a:t>x)</a:t>
            </a:r>
            <a:r>
              <a:rPr kumimoji="1" lang="en-US" altLang="zh-CN" sz="2800" dirty="0">
                <a:solidFill>
                  <a:srgbClr val="150363"/>
                </a:solidFill>
                <a:latin typeface="Times New Roman" panose="02020603050405020304" pitchFamily="18" charset="0"/>
                <a:cs typeface="Times New Roman" panose="02020603050405020304" pitchFamily="18" charset="0"/>
                <a:sym typeface="Symbol" panose="05050102010706020507" pitchFamily="18" charset="2"/>
              </a:rPr>
              <a:t>Q(x)</a:t>
            </a:r>
          </a:p>
        </p:txBody>
      </p:sp>
      <p:sp>
        <p:nvSpPr>
          <p:cNvPr id="8" name="Rectangle 4">
            <a:extLst>
              <a:ext uri="{FF2B5EF4-FFF2-40B4-BE49-F238E27FC236}">
                <a16:creationId xmlns:a16="http://schemas.microsoft.com/office/drawing/2014/main" id="{873F13D3-A9BC-4316-8753-8C25DD39A925}"/>
              </a:ext>
            </a:extLst>
          </p:cNvPr>
          <p:cNvSpPr txBox="1">
            <a:spLocks noChangeArrowheads="1"/>
          </p:cNvSpPr>
          <p:nvPr/>
        </p:nvSpPr>
        <p:spPr>
          <a:xfrm>
            <a:off x="2354263" y="2230205"/>
            <a:ext cx="7775575" cy="4176712"/>
          </a:xfrm>
          <a:prstGeom prst="rect">
            <a:avLst/>
          </a:prstGeom>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solidFill>
                  <a:srgbClr val="FF0000"/>
                </a:solidFill>
                <a:latin typeface="Times New Roman" panose="02020603050405020304" pitchFamily="18" charset="0"/>
                <a:cs typeface="Times New Roman" panose="02020603050405020304" pitchFamily="18" charset="0"/>
              </a:rPr>
              <a:t>有下面的推导</a:t>
            </a:r>
            <a:r>
              <a:rPr lang="zh-CN" altLang="en-US" dirty="0">
                <a:latin typeface="Times New Roman" panose="02020603050405020304" pitchFamily="18" charset="0"/>
                <a:cs typeface="Times New Roman" panose="02020603050405020304" pitchFamily="18" charset="0"/>
              </a:rPr>
              <a:t>：</a:t>
            </a:r>
          </a:p>
          <a:p>
            <a:pPr marL="0" indent="0">
              <a:buNone/>
            </a:pPr>
            <a:r>
              <a:rPr lang="zh-CN" altLang="en-US" dirty="0">
                <a:latin typeface="Times New Roman" panose="02020603050405020304" pitchFamily="18" charset="0"/>
                <a:cs typeface="Times New Roman" panose="02020603050405020304" pitchFamily="18" charset="0"/>
                <a:sym typeface="Symbol" panose="05050102010706020507" pitchFamily="18" charset="2"/>
              </a:rPr>
              <a:t> </a:t>
            </a:r>
            <a:r>
              <a:rPr lang="zh-CN" altLang="zh-CN"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x)(P(x)Q(x))	     P</a:t>
            </a:r>
          </a:p>
          <a:p>
            <a:pPr marL="0" indent="0">
              <a:buNone/>
            </a:pPr>
            <a:r>
              <a:rPr lang="en-US" altLang="zh-CN" dirty="0">
                <a:latin typeface="Times New Roman" panose="02020603050405020304" pitchFamily="18" charset="0"/>
                <a:cs typeface="Times New Roman" panose="02020603050405020304" pitchFamily="18" charset="0"/>
                <a:sym typeface="Symbol" panose="05050102010706020507" pitchFamily="18" charset="2"/>
              </a:rPr>
              <a:t> (2)P(y)Q(y)		     US,(1)</a:t>
            </a:r>
          </a:p>
          <a:p>
            <a:pPr marL="0" indent="0">
              <a:buNone/>
            </a:pPr>
            <a:r>
              <a:rPr lang="en-US" altLang="zh-CN" dirty="0">
                <a:latin typeface="Times New Roman" panose="02020603050405020304" pitchFamily="18" charset="0"/>
                <a:cs typeface="Times New Roman" panose="02020603050405020304" pitchFamily="18" charset="0"/>
              </a:rPr>
              <a:t> (3)</a:t>
            </a:r>
            <a:r>
              <a:rPr lang="en-US" altLang="zh-CN" noProof="1">
                <a:latin typeface="Times New Roman" panose="02020603050405020304" pitchFamily="18" charset="0"/>
                <a:cs typeface="Times New Roman" panose="02020603050405020304" pitchFamily="18" charset="0"/>
              </a:rPr>
              <a:t></a:t>
            </a:r>
            <a:r>
              <a:rPr lang="en-US" altLang="en-US" noProof="1">
                <a:latin typeface="Times New Roman" panose="02020603050405020304" pitchFamily="18" charset="0"/>
                <a:cs typeface="Times New Roman" panose="02020603050405020304" pitchFamily="18" charset="0"/>
              </a:rPr>
              <a:t>(</a:t>
            </a:r>
            <a:r>
              <a:rPr lang="en-US" altLang="en-US" noProof="1">
                <a:latin typeface="Times New Roman" panose="02020603050405020304" pitchFamily="18" charset="0"/>
                <a:cs typeface="Times New Roman" panose="02020603050405020304" pitchFamily="18" charset="0"/>
                <a:sym typeface="Symbol" panose="05050102010706020507" pitchFamily="18" charset="2"/>
              </a:rPr>
              <a:t></a:t>
            </a:r>
            <a:r>
              <a:rPr lang="en-US" altLang="en-US" noProof="1">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sym typeface="Symbol" panose="05050102010706020507" pitchFamily="18" charset="2"/>
              </a:rPr>
              <a:t>P(x)		     P</a:t>
            </a:r>
          </a:p>
          <a:p>
            <a:pPr marL="0" indent="0">
              <a:buNone/>
            </a:pPr>
            <a:r>
              <a:rPr lang="en-US" altLang="zh-CN" dirty="0">
                <a:latin typeface="Times New Roman" panose="02020603050405020304" pitchFamily="18" charset="0"/>
                <a:cs typeface="Times New Roman" panose="02020603050405020304" pitchFamily="18" charset="0"/>
              </a:rPr>
              <a:t> (4)</a:t>
            </a:r>
            <a:r>
              <a:rPr lang="en-US" altLang="zh-CN" noProof="1">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P(c)			     ES,(3)</a:t>
            </a:r>
          </a:p>
          <a:p>
            <a:pPr marL="0" indent="0">
              <a:buNone/>
            </a:pPr>
            <a:r>
              <a:rPr lang="en-US" altLang="zh-CN" dirty="0">
                <a:latin typeface="Times New Roman" panose="02020603050405020304" pitchFamily="18" charset="0"/>
                <a:cs typeface="Times New Roman" panose="02020603050405020304" pitchFamily="18" charset="0"/>
                <a:sym typeface="Symbol" panose="05050102010706020507" pitchFamily="18" charset="2"/>
              </a:rPr>
              <a:t> (5)Q(c)			    T,(2),(4),I</a:t>
            </a:r>
          </a:p>
          <a:p>
            <a:pPr marL="0" indent="0">
              <a:buNone/>
            </a:pPr>
            <a:r>
              <a:rPr lang="en-US" altLang="zh-CN" dirty="0">
                <a:latin typeface="Times New Roman" panose="02020603050405020304" pitchFamily="18" charset="0"/>
                <a:cs typeface="Times New Roman" panose="02020603050405020304" pitchFamily="18" charset="0"/>
                <a:sym typeface="Symbol" panose="05050102010706020507" pitchFamily="18" charset="2"/>
              </a:rPr>
              <a:t> (6)</a:t>
            </a:r>
            <a:r>
              <a:rPr lang="en-US" altLang="en-US" noProof="1">
                <a:latin typeface="Times New Roman" panose="02020603050405020304" pitchFamily="18" charset="0"/>
                <a:cs typeface="Times New Roman" panose="02020603050405020304" pitchFamily="18" charset="0"/>
              </a:rPr>
              <a:t>(</a:t>
            </a:r>
            <a:r>
              <a:rPr lang="en-US" altLang="en-US" noProof="1">
                <a:latin typeface="Times New Roman" panose="02020603050405020304" pitchFamily="18" charset="0"/>
                <a:cs typeface="Times New Roman" panose="02020603050405020304" pitchFamily="18" charset="0"/>
                <a:sym typeface="Symbol" panose="05050102010706020507" pitchFamily="18" charset="2"/>
              </a:rPr>
              <a:t></a:t>
            </a:r>
            <a:r>
              <a:rPr lang="en-US" altLang="en-US" noProof="1">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sym typeface="Symbol" panose="05050102010706020507" pitchFamily="18" charset="2"/>
              </a:rPr>
              <a:t>Q(x)		     EG,(5)</a:t>
            </a:r>
          </a:p>
        </p:txBody>
      </p:sp>
    </p:spTree>
    <p:extLst>
      <p:ext uri="{BB962C8B-B14F-4D97-AF65-F5344CB8AC3E}">
        <p14:creationId xmlns:p14="http://schemas.microsoft.com/office/powerpoint/2010/main" val="2432882604"/>
      </p:ext>
    </p:extLst>
  </p:cSld>
  <p:clrMapOvr>
    <a:masterClrMapping/>
  </p:clrMapOvr>
  <p:transition spd="slow" advTm="0">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7" name="Rectangle 3">
            <a:extLst>
              <a:ext uri="{FF2B5EF4-FFF2-40B4-BE49-F238E27FC236}">
                <a16:creationId xmlns:a16="http://schemas.microsoft.com/office/drawing/2014/main" id="{3E4C0C57-103D-45EF-9411-24987093C659}"/>
              </a:ext>
            </a:extLst>
          </p:cNvPr>
          <p:cNvSpPr>
            <a:spLocks noChangeArrowheads="1"/>
          </p:cNvSpPr>
          <p:nvPr/>
        </p:nvSpPr>
        <p:spPr bwMode="auto">
          <a:xfrm>
            <a:off x="2209800" y="1222142"/>
            <a:ext cx="7772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800" dirty="0">
                <a:solidFill>
                  <a:srgbClr val="150363"/>
                </a:solidFill>
                <a:latin typeface="Times New Roman" panose="02020603050405020304" pitchFamily="18" charset="0"/>
                <a:cs typeface="Times New Roman" panose="02020603050405020304" pitchFamily="18" charset="0"/>
              </a:rPr>
              <a:t>证明：</a:t>
            </a:r>
            <a:r>
              <a:rPr kumimoji="1" lang="en-US" altLang="zh-CN" sz="2800" dirty="0">
                <a:solidFill>
                  <a:srgbClr val="150363"/>
                </a:solidFill>
                <a:latin typeface="Times New Roman" panose="02020603050405020304" pitchFamily="18" charset="0"/>
                <a:cs typeface="Times New Roman" panose="02020603050405020304" pitchFamily="18" charset="0"/>
              </a:rPr>
              <a:t>(</a:t>
            </a:r>
            <a:r>
              <a:rPr kumimoji="1" lang="en-US" altLang="zh-CN" sz="2800" dirty="0">
                <a:solidFill>
                  <a:srgbClr val="150363"/>
                </a:solidFill>
                <a:latin typeface="Times New Roman" panose="02020603050405020304" pitchFamily="18" charset="0"/>
                <a:cs typeface="Times New Roman" panose="02020603050405020304" pitchFamily="18" charset="0"/>
                <a:sym typeface="Symbol" panose="05050102010706020507" pitchFamily="18" charset="2"/>
              </a:rPr>
              <a:t>x)(P(x)Q(x))</a:t>
            </a:r>
            <a:r>
              <a:rPr kumimoji="1" lang="zh-CN" altLang="en-US" sz="2800" dirty="0">
                <a:solidFill>
                  <a:srgbClr val="150363"/>
                </a:solidFill>
                <a:latin typeface="Times New Roman" panose="02020603050405020304" pitchFamily="18" charset="0"/>
                <a:cs typeface="Times New Roman" panose="02020603050405020304" pitchFamily="18" charset="0"/>
                <a:sym typeface="Symbol" panose="05050102010706020507" pitchFamily="18" charset="2"/>
              </a:rPr>
              <a:t>，</a:t>
            </a:r>
            <a:r>
              <a:rPr kumimoji="1" lang="zh-CN" altLang="en-US" sz="2800" noProof="1">
                <a:solidFill>
                  <a:srgbClr val="150363"/>
                </a:solidFill>
                <a:latin typeface="Times New Roman" panose="02020603050405020304" pitchFamily="18" charset="0"/>
                <a:cs typeface="Times New Roman" panose="02020603050405020304" pitchFamily="18" charset="0"/>
              </a:rPr>
              <a:t>(</a:t>
            </a:r>
            <a:r>
              <a:rPr kumimoji="1" lang="zh-CN" altLang="en-US" sz="2800" noProof="1">
                <a:solidFill>
                  <a:srgbClr val="150363"/>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800" noProof="1">
                <a:solidFill>
                  <a:srgbClr val="150363"/>
                </a:solidFill>
                <a:latin typeface="Times New Roman" panose="02020603050405020304" pitchFamily="18" charset="0"/>
                <a:cs typeface="Times New Roman" panose="02020603050405020304" pitchFamily="18" charset="0"/>
              </a:rPr>
              <a:t>x)</a:t>
            </a:r>
            <a:r>
              <a:rPr kumimoji="1" lang="en-US" altLang="zh-CN" sz="2800" dirty="0">
                <a:solidFill>
                  <a:srgbClr val="150363"/>
                </a:solidFill>
                <a:latin typeface="Times New Roman" panose="02020603050405020304" pitchFamily="18" charset="0"/>
                <a:cs typeface="Times New Roman" panose="02020603050405020304" pitchFamily="18" charset="0"/>
                <a:sym typeface="Symbol" panose="05050102010706020507" pitchFamily="18" charset="2"/>
              </a:rPr>
              <a:t>P(x)</a:t>
            </a:r>
            <a:r>
              <a:rPr kumimoji="1" lang="en-US" altLang="en-US" sz="2800" noProof="1">
                <a:solidFill>
                  <a:srgbClr val="150363"/>
                </a:solidFill>
                <a:latin typeface="Times New Roman" panose="02020603050405020304" pitchFamily="18" charset="0"/>
                <a:cs typeface="Times New Roman" panose="02020603050405020304" pitchFamily="18" charset="0"/>
              </a:rPr>
              <a:t>(</a:t>
            </a:r>
            <a:r>
              <a:rPr kumimoji="1" lang="en-US" altLang="en-US" sz="2800" noProof="1">
                <a:solidFill>
                  <a:srgbClr val="150363"/>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800" noProof="1">
                <a:solidFill>
                  <a:srgbClr val="150363"/>
                </a:solidFill>
                <a:latin typeface="Times New Roman" panose="02020603050405020304" pitchFamily="18" charset="0"/>
                <a:cs typeface="Times New Roman" panose="02020603050405020304" pitchFamily="18" charset="0"/>
              </a:rPr>
              <a:t>x)</a:t>
            </a:r>
            <a:r>
              <a:rPr kumimoji="1" lang="en-US" altLang="zh-CN" sz="2800" dirty="0">
                <a:solidFill>
                  <a:srgbClr val="150363"/>
                </a:solidFill>
                <a:latin typeface="Times New Roman" panose="02020603050405020304" pitchFamily="18" charset="0"/>
                <a:cs typeface="Times New Roman" panose="02020603050405020304" pitchFamily="18" charset="0"/>
                <a:sym typeface="Symbol" panose="05050102010706020507" pitchFamily="18" charset="2"/>
              </a:rPr>
              <a:t>Q(x)</a:t>
            </a:r>
          </a:p>
        </p:txBody>
      </p:sp>
      <p:sp>
        <p:nvSpPr>
          <p:cNvPr id="6" name="Rectangle 3">
            <a:extLst>
              <a:ext uri="{FF2B5EF4-FFF2-40B4-BE49-F238E27FC236}">
                <a16:creationId xmlns:a16="http://schemas.microsoft.com/office/drawing/2014/main" id="{E3C89006-B7AE-49BF-82F7-A9366BDCED07}"/>
              </a:ext>
            </a:extLst>
          </p:cNvPr>
          <p:cNvSpPr txBox="1">
            <a:spLocks noChangeArrowheads="1"/>
          </p:cNvSpPr>
          <p:nvPr/>
        </p:nvSpPr>
        <p:spPr>
          <a:xfrm>
            <a:off x="2068397" y="2014538"/>
            <a:ext cx="7543800" cy="475138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solidFill>
                  <a:srgbClr val="FF0000"/>
                </a:solidFill>
                <a:latin typeface="Times New Roman" panose="02020603050405020304" pitchFamily="18" charset="0"/>
                <a:cs typeface="Times New Roman" panose="02020603050405020304" pitchFamily="18" charset="0"/>
              </a:rPr>
              <a:t>推导可修改为</a:t>
            </a:r>
            <a:r>
              <a:rPr lang="zh-CN" altLang="en-US" dirty="0">
                <a:latin typeface="Times New Roman" panose="02020603050405020304" pitchFamily="18" charset="0"/>
                <a:cs typeface="Times New Roman" panose="02020603050405020304" pitchFamily="18" charset="0"/>
              </a:rPr>
              <a:t>：</a:t>
            </a:r>
          </a:p>
          <a:p>
            <a:pPr marL="0" indent="0">
              <a:buNone/>
            </a:pPr>
            <a:r>
              <a:rPr lang="zh-CN" altLang="zh-CN" dirty="0">
                <a:latin typeface="Times New Roman" panose="02020603050405020304" pitchFamily="18" charset="0"/>
                <a:cs typeface="Times New Roman" panose="02020603050405020304" pitchFamily="18" charset="0"/>
                <a:sym typeface="Symbol" panose="05050102010706020507" pitchFamily="18" charset="2"/>
              </a:rPr>
              <a:t>(1)</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x)(P(x)Q(x))	P</a:t>
            </a:r>
          </a:p>
          <a:p>
            <a:pPr marL="0" indent="0">
              <a:buNone/>
            </a:pPr>
            <a:r>
              <a:rPr lang="en-US" altLang="zh-CN" dirty="0">
                <a:latin typeface="Times New Roman" panose="02020603050405020304" pitchFamily="18" charset="0"/>
                <a:cs typeface="Times New Roman" panose="02020603050405020304" pitchFamily="18" charset="0"/>
                <a:sym typeface="Symbol" panose="05050102010706020507" pitchFamily="18" charset="2"/>
              </a:rPr>
              <a:t>(2)(P(c)Q(c))		US,(1)</a:t>
            </a:r>
          </a:p>
          <a:p>
            <a:pPr marL="0" indent="0">
              <a:buNone/>
            </a:pPr>
            <a:r>
              <a:rPr lang="en-US" altLang="zh-CN" dirty="0">
                <a:latin typeface="Times New Roman" panose="02020603050405020304" pitchFamily="18" charset="0"/>
                <a:cs typeface="Times New Roman" panose="02020603050405020304" pitchFamily="18" charset="0"/>
              </a:rPr>
              <a:t>(3)</a:t>
            </a:r>
            <a:r>
              <a:rPr lang="en-US" altLang="zh-CN" noProof="1">
                <a:latin typeface="Times New Roman" panose="02020603050405020304" pitchFamily="18" charset="0"/>
                <a:cs typeface="Times New Roman" panose="02020603050405020304" pitchFamily="18" charset="0"/>
              </a:rPr>
              <a:t></a:t>
            </a:r>
            <a:r>
              <a:rPr lang="en-US" altLang="en-US" noProof="1">
                <a:latin typeface="Times New Roman" panose="02020603050405020304" pitchFamily="18" charset="0"/>
                <a:cs typeface="Times New Roman" panose="02020603050405020304" pitchFamily="18" charset="0"/>
              </a:rPr>
              <a:t>(</a:t>
            </a:r>
            <a:r>
              <a:rPr lang="en-US" altLang="en-US" noProof="1">
                <a:latin typeface="Times New Roman" panose="02020603050405020304" pitchFamily="18" charset="0"/>
                <a:cs typeface="Times New Roman" panose="02020603050405020304" pitchFamily="18" charset="0"/>
                <a:sym typeface="Symbol" panose="05050102010706020507" pitchFamily="18" charset="2"/>
              </a:rPr>
              <a:t></a:t>
            </a:r>
            <a:r>
              <a:rPr lang="en-US" altLang="en-US" noProof="1">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sym typeface="Symbol" panose="05050102010706020507" pitchFamily="18" charset="2"/>
              </a:rPr>
              <a:t>P(x)			P</a:t>
            </a:r>
          </a:p>
          <a:p>
            <a:pPr marL="0" indent="0">
              <a:buNone/>
            </a:pPr>
            <a:r>
              <a:rPr lang="en-US" altLang="zh-CN" dirty="0">
                <a:latin typeface="Times New Roman" panose="02020603050405020304" pitchFamily="18" charset="0"/>
                <a:cs typeface="Times New Roman" panose="02020603050405020304" pitchFamily="18" charset="0"/>
              </a:rPr>
              <a:t>(4)</a:t>
            </a:r>
            <a:r>
              <a:rPr lang="en-US" altLang="zh-CN" noProof="1">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P(c)				ES,(3)</a:t>
            </a:r>
          </a:p>
          <a:p>
            <a:pPr marL="0" indent="0">
              <a:buNone/>
            </a:pPr>
            <a:r>
              <a:rPr lang="en-US" altLang="zh-CN" dirty="0">
                <a:latin typeface="Times New Roman" panose="02020603050405020304" pitchFamily="18" charset="0"/>
                <a:cs typeface="Times New Roman" panose="02020603050405020304" pitchFamily="18" charset="0"/>
                <a:sym typeface="Symbol" panose="05050102010706020507" pitchFamily="18" charset="2"/>
              </a:rPr>
              <a:t>(5)Q(c)				T,(2),(4),I</a:t>
            </a:r>
          </a:p>
          <a:p>
            <a:pPr marL="0" indent="0">
              <a:buNone/>
            </a:pPr>
            <a:r>
              <a:rPr lang="en-US" altLang="zh-CN" dirty="0">
                <a:latin typeface="Times New Roman" panose="02020603050405020304" pitchFamily="18" charset="0"/>
                <a:cs typeface="Times New Roman" panose="02020603050405020304" pitchFamily="18" charset="0"/>
                <a:sym typeface="Symbol" panose="05050102010706020507" pitchFamily="18" charset="2"/>
              </a:rPr>
              <a:t>(6)</a:t>
            </a:r>
            <a:r>
              <a:rPr lang="en-US" altLang="en-US" noProof="1">
                <a:latin typeface="Times New Roman" panose="02020603050405020304" pitchFamily="18" charset="0"/>
                <a:cs typeface="Times New Roman" panose="02020603050405020304" pitchFamily="18" charset="0"/>
              </a:rPr>
              <a:t>(</a:t>
            </a:r>
            <a:r>
              <a:rPr lang="en-US" altLang="en-US" noProof="1">
                <a:latin typeface="Times New Roman" panose="02020603050405020304" pitchFamily="18" charset="0"/>
                <a:cs typeface="Times New Roman" panose="02020603050405020304" pitchFamily="18" charset="0"/>
                <a:sym typeface="Symbol" panose="05050102010706020507" pitchFamily="18" charset="2"/>
              </a:rPr>
              <a:t></a:t>
            </a:r>
            <a:r>
              <a:rPr lang="en-US" altLang="en-US" noProof="1">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sym typeface="Symbol" panose="05050102010706020507" pitchFamily="18" charset="2"/>
              </a:rPr>
              <a:t>Q(x)			EG,(5)</a:t>
            </a:r>
          </a:p>
        </p:txBody>
      </p:sp>
    </p:spTree>
    <p:extLst>
      <p:ext uri="{BB962C8B-B14F-4D97-AF65-F5344CB8AC3E}">
        <p14:creationId xmlns:p14="http://schemas.microsoft.com/office/powerpoint/2010/main" val="1115793299"/>
      </p:ext>
    </p:extLst>
  </p:cSld>
  <p:clrMapOvr>
    <a:masterClrMapping/>
  </p:clrMapOvr>
  <p:transition spd="slow" advTm="0">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7" name="Rectangle 3">
            <a:extLst>
              <a:ext uri="{FF2B5EF4-FFF2-40B4-BE49-F238E27FC236}">
                <a16:creationId xmlns:a16="http://schemas.microsoft.com/office/drawing/2014/main" id="{3E4C0C57-103D-45EF-9411-24987093C659}"/>
              </a:ext>
            </a:extLst>
          </p:cNvPr>
          <p:cNvSpPr>
            <a:spLocks noChangeArrowheads="1"/>
          </p:cNvSpPr>
          <p:nvPr/>
        </p:nvSpPr>
        <p:spPr bwMode="auto">
          <a:xfrm>
            <a:off x="2209800" y="1222142"/>
            <a:ext cx="7772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800" dirty="0">
                <a:solidFill>
                  <a:srgbClr val="150363"/>
                </a:solidFill>
                <a:latin typeface="Times New Roman" panose="02020603050405020304" pitchFamily="18" charset="0"/>
                <a:cs typeface="Times New Roman" panose="02020603050405020304" pitchFamily="18" charset="0"/>
              </a:rPr>
              <a:t>证明：</a:t>
            </a:r>
            <a:r>
              <a:rPr kumimoji="1" lang="en-US" altLang="zh-CN" sz="2800" dirty="0">
                <a:solidFill>
                  <a:srgbClr val="150363"/>
                </a:solidFill>
                <a:latin typeface="Times New Roman" panose="02020603050405020304" pitchFamily="18" charset="0"/>
                <a:cs typeface="Times New Roman" panose="02020603050405020304" pitchFamily="18" charset="0"/>
              </a:rPr>
              <a:t>(</a:t>
            </a:r>
            <a:r>
              <a:rPr kumimoji="1" lang="en-US" altLang="zh-CN" sz="2800" dirty="0">
                <a:solidFill>
                  <a:srgbClr val="150363"/>
                </a:solidFill>
                <a:latin typeface="Times New Roman" panose="02020603050405020304" pitchFamily="18" charset="0"/>
                <a:cs typeface="Times New Roman" panose="02020603050405020304" pitchFamily="18" charset="0"/>
                <a:sym typeface="Symbol" panose="05050102010706020507" pitchFamily="18" charset="2"/>
              </a:rPr>
              <a:t>x)(P(x)Q(x))</a:t>
            </a:r>
            <a:r>
              <a:rPr kumimoji="1" lang="zh-CN" altLang="en-US" sz="2800" dirty="0">
                <a:solidFill>
                  <a:srgbClr val="150363"/>
                </a:solidFill>
                <a:latin typeface="Times New Roman" panose="02020603050405020304" pitchFamily="18" charset="0"/>
                <a:cs typeface="Times New Roman" panose="02020603050405020304" pitchFamily="18" charset="0"/>
                <a:sym typeface="Symbol" panose="05050102010706020507" pitchFamily="18" charset="2"/>
              </a:rPr>
              <a:t>，</a:t>
            </a:r>
            <a:r>
              <a:rPr kumimoji="1" lang="zh-CN" altLang="en-US" sz="2800" noProof="1">
                <a:solidFill>
                  <a:srgbClr val="150363"/>
                </a:solidFill>
                <a:latin typeface="Times New Roman" panose="02020603050405020304" pitchFamily="18" charset="0"/>
                <a:cs typeface="Times New Roman" panose="02020603050405020304" pitchFamily="18" charset="0"/>
              </a:rPr>
              <a:t>(</a:t>
            </a:r>
            <a:r>
              <a:rPr kumimoji="1" lang="zh-CN" altLang="en-US" sz="2800" noProof="1">
                <a:solidFill>
                  <a:srgbClr val="150363"/>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800" noProof="1">
                <a:solidFill>
                  <a:srgbClr val="150363"/>
                </a:solidFill>
                <a:latin typeface="Times New Roman" panose="02020603050405020304" pitchFamily="18" charset="0"/>
                <a:cs typeface="Times New Roman" panose="02020603050405020304" pitchFamily="18" charset="0"/>
              </a:rPr>
              <a:t>x)</a:t>
            </a:r>
            <a:r>
              <a:rPr kumimoji="1" lang="en-US" altLang="zh-CN" sz="2800" dirty="0">
                <a:solidFill>
                  <a:srgbClr val="150363"/>
                </a:solidFill>
                <a:latin typeface="Times New Roman" panose="02020603050405020304" pitchFamily="18" charset="0"/>
                <a:cs typeface="Times New Roman" panose="02020603050405020304" pitchFamily="18" charset="0"/>
                <a:sym typeface="Symbol" panose="05050102010706020507" pitchFamily="18" charset="2"/>
              </a:rPr>
              <a:t>P(x)</a:t>
            </a:r>
            <a:r>
              <a:rPr kumimoji="1" lang="en-US" altLang="en-US" sz="2800" noProof="1">
                <a:solidFill>
                  <a:srgbClr val="150363"/>
                </a:solidFill>
                <a:latin typeface="Times New Roman" panose="02020603050405020304" pitchFamily="18" charset="0"/>
                <a:cs typeface="Times New Roman" panose="02020603050405020304" pitchFamily="18" charset="0"/>
              </a:rPr>
              <a:t>(</a:t>
            </a:r>
            <a:r>
              <a:rPr kumimoji="1" lang="en-US" altLang="en-US" sz="2800" noProof="1">
                <a:solidFill>
                  <a:srgbClr val="150363"/>
                </a:solidFill>
                <a:latin typeface="Times New Roman" panose="02020603050405020304" pitchFamily="18" charset="0"/>
                <a:cs typeface="Times New Roman" panose="02020603050405020304" pitchFamily="18" charset="0"/>
                <a:sym typeface="Symbol" panose="05050102010706020507" pitchFamily="18" charset="2"/>
              </a:rPr>
              <a:t></a:t>
            </a:r>
            <a:r>
              <a:rPr kumimoji="1" lang="en-US" altLang="en-US" sz="2800" noProof="1">
                <a:solidFill>
                  <a:srgbClr val="150363"/>
                </a:solidFill>
                <a:latin typeface="Times New Roman" panose="02020603050405020304" pitchFamily="18" charset="0"/>
                <a:cs typeface="Times New Roman" panose="02020603050405020304" pitchFamily="18" charset="0"/>
              </a:rPr>
              <a:t>x)</a:t>
            </a:r>
            <a:r>
              <a:rPr kumimoji="1" lang="en-US" altLang="zh-CN" sz="2800" dirty="0">
                <a:solidFill>
                  <a:srgbClr val="150363"/>
                </a:solidFill>
                <a:latin typeface="Times New Roman" panose="02020603050405020304" pitchFamily="18" charset="0"/>
                <a:cs typeface="Times New Roman" panose="02020603050405020304" pitchFamily="18" charset="0"/>
                <a:sym typeface="Symbol" panose="05050102010706020507" pitchFamily="18" charset="2"/>
              </a:rPr>
              <a:t>Q(x)</a:t>
            </a:r>
          </a:p>
        </p:txBody>
      </p:sp>
      <p:sp>
        <p:nvSpPr>
          <p:cNvPr id="8" name="Rectangle 3">
            <a:extLst>
              <a:ext uri="{FF2B5EF4-FFF2-40B4-BE49-F238E27FC236}">
                <a16:creationId xmlns:a16="http://schemas.microsoft.com/office/drawing/2014/main" id="{7DB7C0E8-07A6-48EC-A6CA-16A150CE612F}"/>
              </a:ext>
            </a:extLst>
          </p:cNvPr>
          <p:cNvSpPr txBox="1">
            <a:spLocks noChangeArrowheads="1"/>
          </p:cNvSpPr>
          <p:nvPr/>
        </p:nvSpPr>
        <p:spPr>
          <a:xfrm>
            <a:off x="2133600" y="2517775"/>
            <a:ext cx="7848600" cy="42481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solidFill>
                  <a:srgbClr val="FF0000"/>
                </a:solidFill>
                <a:latin typeface="Times New Roman" panose="02020603050405020304" pitchFamily="18" charset="0"/>
                <a:cs typeface="Times New Roman" panose="02020603050405020304" pitchFamily="18" charset="0"/>
              </a:rPr>
              <a:t>正确地推导</a:t>
            </a:r>
            <a:r>
              <a:rPr lang="zh-CN" altLang="en-US" dirty="0">
                <a:latin typeface="Times New Roman" panose="02020603050405020304" pitchFamily="18" charset="0"/>
                <a:cs typeface="Times New Roman" panose="02020603050405020304" pitchFamily="18" charset="0"/>
              </a:rPr>
              <a:t>如下：</a:t>
            </a:r>
          </a:p>
          <a:p>
            <a:pPr marL="0" indent="0">
              <a:buNone/>
            </a:pPr>
            <a:r>
              <a:rPr lang="zh-CN" altLang="zh-CN" dirty="0">
                <a:latin typeface="Times New Roman" panose="02020603050405020304" pitchFamily="18" charset="0"/>
                <a:cs typeface="Times New Roman" panose="02020603050405020304" pitchFamily="18" charset="0"/>
              </a:rPr>
              <a:t>(1)</a:t>
            </a:r>
            <a:r>
              <a:rPr lang="zh-CN" altLang="zh-CN" noProof="1">
                <a:latin typeface="Times New Roman" panose="02020603050405020304" pitchFamily="18" charset="0"/>
                <a:cs typeface="Times New Roman" panose="02020603050405020304" pitchFamily="18" charset="0"/>
              </a:rPr>
              <a:t></a:t>
            </a:r>
            <a:r>
              <a:rPr lang="zh-CN" altLang="en-US" noProof="1">
                <a:latin typeface="Times New Roman" panose="02020603050405020304" pitchFamily="18" charset="0"/>
                <a:cs typeface="Times New Roman" panose="02020603050405020304" pitchFamily="18" charset="0"/>
              </a:rPr>
              <a:t>(</a:t>
            </a:r>
            <a:r>
              <a:rPr lang="zh-CN" altLang="en-US" noProof="1">
                <a:latin typeface="Times New Roman" panose="02020603050405020304" pitchFamily="18" charset="0"/>
                <a:cs typeface="Times New Roman" panose="02020603050405020304" pitchFamily="18" charset="0"/>
                <a:sym typeface="Symbol" panose="05050102010706020507" pitchFamily="18" charset="2"/>
              </a:rPr>
              <a:t></a:t>
            </a:r>
            <a:r>
              <a:rPr lang="en-US" altLang="en-US" noProof="1">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sym typeface="Symbol" panose="05050102010706020507" pitchFamily="18" charset="2"/>
              </a:rPr>
              <a:t>P(x)			P</a:t>
            </a:r>
          </a:p>
          <a:p>
            <a:pPr marL="0" indent="0">
              <a:buNone/>
            </a:pPr>
            <a:r>
              <a:rPr lang="en-US" altLang="zh-CN" dirty="0">
                <a:latin typeface="Times New Roman" panose="02020603050405020304" pitchFamily="18" charset="0"/>
                <a:cs typeface="Times New Roman" panose="02020603050405020304" pitchFamily="18" charset="0"/>
              </a:rPr>
              <a:t>(2)</a:t>
            </a:r>
            <a:r>
              <a:rPr lang="en-US" altLang="zh-CN" noProof="1">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P(c)				ES</a:t>
            </a:r>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(1)</a:t>
            </a:r>
          </a:p>
          <a:p>
            <a:pPr marL="0" indent="0">
              <a:buNone/>
            </a:pPr>
            <a:r>
              <a:rPr lang="en-US" altLang="zh-CN" dirty="0">
                <a:latin typeface="Times New Roman" panose="02020603050405020304" pitchFamily="18" charset="0"/>
                <a:cs typeface="Times New Roman" panose="02020603050405020304" pitchFamily="18" charset="0"/>
                <a:sym typeface="Symbol" panose="05050102010706020507" pitchFamily="18" charset="2"/>
              </a:rPr>
              <a:t>(3)</a:t>
            </a:r>
            <a:r>
              <a:rPr lang="en-US"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sym typeface="Symbol" panose="05050102010706020507" pitchFamily="18" charset="2"/>
              </a:rPr>
              <a:t>x)(P(x)Q(x))	          P</a:t>
            </a:r>
          </a:p>
          <a:p>
            <a:pPr marL="0" indent="0">
              <a:buNone/>
            </a:pPr>
            <a:r>
              <a:rPr lang="en-US" altLang="zh-CN" dirty="0">
                <a:latin typeface="Times New Roman" panose="02020603050405020304" pitchFamily="18" charset="0"/>
                <a:cs typeface="Times New Roman" panose="02020603050405020304" pitchFamily="18" charset="0"/>
                <a:sym typeface="Symbol" panose="05050102010706020507" pitchFamily="18" charset="2"/>
              </a:rPr>
              <a:t>(4)(P(c)Q(c))		          US,(3)</a:t>
            </a:r>
          </a:p>
          <a:p>
            <a:pPr marL="0" indent="0">
              <a:buNone/>
            </a:pPr>
            <a:r>
              <a:rPr lang="en-US" altLang="zh-CN" dirty="0">
                <a:latin typeface="Times New Roman" panose="02020603050405020304" pitchFamily="18" charset="0"/>
                <a:cs typeface="Times New Roman" panose="02020603050405020304" pitchFamily="18" charset="0"/>
                <a:sym typeface="Symbol" panose="05050102010706020507" pitchFamily="18" charset="2"/>
              </a:rPr>
              <a:t>(5)Q(c)				T,(2),(4),I</a:t>
            </a:r>
          </a:p>
          <a:p>
            <a:pPr marL="0" indent="0">
              <a:buNone/>
            </a:pPr>
            <a:r>
              <a:rPr lang="en-US" altLang="zh-CN" dirty="0">
                <a:latin typeface="Times New Roman" panose="02020603050405020304" pitchFamily="18" charset="0"/>
                <a:cs typeface="Times New Roman" panose="02020603050405020304" pitchFamily="18" charset="0"/>
                <a:sym typeface="Symbol" panose="05050102010706020507" pitchFamily="18" charset="2"/>
              </a:rPr>
              <a:t>(6)</a:t>
            </a:r>
            <a:r>
              <a:rPr lang="en-US" altLang="en-US" noProof="1">
                <a:latin typeface="Times New Roman" panose="02020603050405020304" pitchFamily="18" charset="0"/>
                <a:cs typeface="Times New Roman" panose="02020603050405020304" pitchFamily="18" charset="0"/>
              </a:rPr>
              <a:t>(</a:t>
            </a:r>
            <a:r>
              <a:rPr lang="en-US" altLang="en-US" noProof="1">
                <a:latin typeface="Times New Roman" panose="02020603050405020304" pitchFamily="18" charset="0"/>
                <a:cs typeface="Times New Roman" panose="02020603050405020304" pitchFamily="18" charset="0"/>
                <a:sym typeface="Symbol" panose="05050102010706020507" pitchFamily="18" charset="2"/>
              </a:rPr>
              <a:t></a:t>
            </a:r>
            <a:r>
              <a:rPr lang="en-US" altLang="en-US" noProof="1">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sym typeface="Symbol" panose="05050102010706020507" pitchFamily="18" charset="2"/>
              </a:rPr>
              <a:t>Q(x)			EG,(5)</a:t>
            </a:r>
            <a:endParaRPr lang="en-US" altLang="zh-C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3953446"/>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 calcmode="lin" valueType="num">
                                      <p:cBhvr additive="base">
                                        <p:cTn id="25"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xEl>
                                              <p:pRg st="4" end="4"/>
                                            </p:txEl>
                                          </p:spTgt>
                                        </p:tgtEl>
                                        <p:attrNameLst>
                                          <p:attrName>style.visibility</p:attrName>
                                        </p:attrNameLst>
                                      </p:cBhvr>
                                      <p:to>
                                        <p:strVal val="visible"/>
                                      </p:to>
                                    </p:set>
                                    <p:anim calcmode="lin" valueType="num">
                                      <p:cBhvr additive="base">
                                        <p:cTn id="31"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
                                            <p:txEl>
                                              <p:pRg st="5" end="5"/>
                                            </p:txEl>
                                          </p:spTgt>
                                        </p:tgtEl>
                                        <p:attrNameLst>
                                          <p:attrName>style.visibility</p:attrName>
                                        </p:attrNameLst>
                                      </p:cBhvr>
                                      <p:to>
                                        <p:strVal val="visible"/>
                                      </p:to>
                                    </p:set>
                                    <p:anim calcmode="lin" valueType="num">
                                      <p:cBhvr additive="base">
                                        <p:cTn id="37"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
                                            <p:txEl>
                                              <p:pRg st="6" end="6"/>
                                            </p:txEl>
                                          </p:spTgt>
                                        </p:tgtEl>
                                        <p:attrNameLst>
                                          <p:attrName>style.visibility</p:attrName>
                                        </p:attrNameLst>
                                      </p:cBhvr>
                                      <p:to>
                                        <p:strVal val="visible"/>
                                      </p:to>
                                    </p:set>
                                    <p:anim calcmode="lin" valueType="num">
                                      <p:cBhvr additive="base">
                                        <p:cTn id="43"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9" name="Rectangle 3">
            <a:extLst>
              <a:ext uri="{FF2B5EF4-FFF2-40B4-BE49-F238E27FC236}">
                <a16:creationId xmlns:a16="http://schemas.microsoft.com/office/drawing/2014/main" id="{1D4B5112-08E5-4D76-A49B-DE965F856628}"/>
              </a:ext>
            </a:extLst>
          </p:cNvPr>
          <p:cNvSpPr txBox="1">
            <a:spLocks noChangeArrowheads="1"/>
          </p:cNvSpPr>
          <p:nvPr/>
        </p:nvSpPr>
        <p:spPr bwMode="auto">
          <a:xfrm>
            <a:off x="1953427" y="2179871"/>
            <a:ext cx="8137525" cy="4103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fontAlgn="base">
              <a:lnSpc>
                <a:spcPct val="120000"/>
              </a:lnSpc>
              <a:spcBef>
                <a:spcPct val="20000"/>
              </a:spcBef>
              <a:spcAft>
                <a:spcPct val="0"/>
              </a:spcAft>
              <a:buClr>
                <a:srgbClr val="FF3300"/>
              </a:buClr>
              <a:buFont typeface="Wingdings" panose="05000000000000000000" pitchFamily="2" charset="2"/>
              <a:defRPr sz="2800" b="1" kern="1200">
                <a:solidFill>
                  <a:srgbClr val="000000"/>
                </a:solidFill>
                <a:latin typeface="+mn-lt"/>
                <a:ea typeface="+mn-ea"/>
                <a:cs typeface="+mn-cs"/>
              </a:defRPr>
            </a:lvl1pPr>
            <a:lvl2pPr marL="742950" indent="-285750" algn="l" rtl="0" fontAlgn="base">
              <a:lnSpc>
                <a:spcPct val="120000"/>
              </a:lnSpc>
              <a:spcBef>
                <a:spcPct val="20000"/>
              </a:spcBef>
              <a:spcAft>
                <a:spcPct val="0"/>
              </a:spcAft>
              <a:buClr>
                <a:srgbClr val="FF3300"/>
              </a:buClr>
              <a:buFont typeface="Wingdings" panose="05000000000000000000" pitchFamily="2" charset="2"/>
              <a:defRPr sz="2400" b="1" kern="1200">
                <a:solidFill>
                  <a:srgbClr val="333300"/>
                </a:solidFill>
                <a:latin typeface="+mn-lt"/>
                <a:ea typeface="宋体" panose="02010600030101010101" pitchFamily="2" charset="-122"/>
                <a:cs typeface="+mn-cs"/>
              </a:defRPr>
            </a:lvl2pPr>
            <a:lvl3pPr marL="1143000" indent="-228600" algn="l" rtl="0" fontAlgn="base">
              <a:lnSpc>
                <a:spcPct val="120000"/>
              </a:lnSpc>
              <a:spcBef>
                <a:spcPct val="20000"/>
              </a:spcBef>
              <a:spcAft>
                <a:spcPct val="0"/>
              </a:spcAft>
              <a:buClr>
                <a:srgbClr val="FF3300"/>
              </a:buClr>
              <a:buFont typeface="Wingdings" panose="05000000000000000000" pitchFamily="2" charset="2"/>
              <a:defRPr sz="2000" b="1" kern="1200">
                <a:solidFill>
                  <a:srgbClr val="333300"/>
                </a:solidFill>
                <a:latin typeface="+mn-lt"/>
                <a:ea typeface="宋体" panose="02010600030101010101" pitchFamily="2" charset="-122"/>
                <a:cs typeface="+mn-cs"/>
              </a:defRPr>
            </a:lvl3pPr>
            <a:lvl4pPr marL="1600200" indent="-228600" algn="l" rtl="0" fontAlgn="base">
              <a:lnSpc>
                <a:spcPct val="120000"/>
              </a:lnSpc>
              <a:spcBef>
                <a:spcPct val="20000"/>
              </a:spcBef>
              <a:spcAft>
                <a:spcPct val="0"/>
              </a:spcAft>
              <a:buClr>
                <a:srgbClr val="FF3300"/>
              </a:buClr>
              <a:defRPr b="1" kern="1200">
                <a:solidFill>
                  <a:srgbClr val="333300"/>
                </a:solidFill>
                <a:latin typeface="+mn-lt"/>
                <a:ea typeface="宋体" panose="02010600030101010101" pitchFamily="2" charset="-122"/>
                <a:cs typeface="+mn-cs"/>
              </a:defRPr>
            </a:lvl4pPr>
            <a:lvl5pPr marL="2057400" indent="-228600" algn="l" rtl="0" fontAlgn="base">
              <a:lnSpc>
                <a:spcPct val="120000"/>
              </a:lnSpc>
              <a:spcBef>
                <a:spcPct val="20000"/>
              </a:spcBef>
              <a:spcAft>
                <a:spcPct val="0"/>
              </a:spcAft>
              <a:buClr>
                <a:srgbClr val="FF3300"/>
              </a:buClr>
              <a:defRPr sz="1600" b="1" kern="1200">
                <a:solidFill>
                  <a:srgbClr val="333300"/>
                </a:solidFill>
                <a:latin typeface="+mn-lt"/>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b="0" dirty="0">
                <a:solidFill>
                  <a:srgbClr val="FF0000"/>
                </a:solidFill>
                <a:latin typeface="Times New Roman" panose="02020603050405020304" pitchFamily="18" charset="0"/>
                <a:cs typeface="Times New Roman" panose="02020603050405020304" pitchFamily="18" charset="0"/>
              </a:rPr>
              <a:t>证明</a:t>
            </a:r>
            <a:r>
              <a:rPr lang="zh-CN" altLang="en-US" b="0" dirty="0">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rPr>
              <a:t>1)(</a:t>
            </a:r>
            <a:r>
              <a:rPr lang="en-US" altLang="en-US" b="0" noProof="1">
                <a:latin typeface="Times New Roman" panose="02020603050405020304" pitchFamily="18" charset="0"/>
                <a:cs typeface="Times New Roman" panose="02020603050405020304" pitchFamily="18" charset="0"/>
                <a:sym typeface="Symbol" panose="05050102010706020507" pitchFamily="18" charset="2"/>
              </a:rPr>
              <a:t></a:t>
            </a:r>
            <a:r>
              <a:rPr lang="en-US" altLang="en-US" b="0" noProof="1">
                <a:latin typeface="Times New Roman" panose="02020603050405020304" pitchFamily="18" charset="0"/>
                <a:cs typeface="Times New Roman" panose="02020603050405020304" pitchFamily="18" charset="0"/>
              </a:rPr>
              <a:t>x</a:t>
            </a:r>
            <a:r>
              <a:rPr lang="en-US" altLang="zh-CN" b="0" noProof="1">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(P(x)</a:t>
            </a:r>
            <a:r>
              <a:rPr lang="en-US" altLang="zh-CN" b="0" noProof="1">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Q(x))	       P</a:t>
            </a:r>
          </a:p>
          <a:p>
            <a:r>
              <a:rPr lang="en-US" altLang="zh-CN" b="0" dirty="0">
                <a:latin typeface="Times New Roman" panose="02020603050405020304" pitchFamily="18" charset="0"/>
                <a:cs typeface="Times New Roman" panose="02020603050405020304" pitchFamily="18" charset="0"/>
                <a:sym typeface="Symbol" panose="05050102010706020507" pitchFamily="18" charset="2"/>
              </a:rPr>
              <a:t>	 2)(P(c)</a:t>
            </a:r>
            <a:r>
              <a:rPr lang="en-US" altLang="zh-CN" b="0" noProof="1">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Q(c))		       ES,1)</a:t>
            </a:r>
          </a:p>
          <a:p>
            <a:r>
              <a:rPr lang="en-US" altLang="zh-CN" b="0" dirty="0">
                <a:latin typeface="Times New Roman" panose="02020603050405020304" pitchFamily="18" charset="0"/>
                <a:cs typeface="Times New Roman" panose="02020603050405020304" pitchFamily="18" charset="0"/>
                <a:sym typeface="Symbol" panose="05050102010706020507" pitchFamily="18" charset="2"/>
              </a:rPr>
              <a:t>	 3)P(c)			       T,2),I</a:t>
            </a:r>
          </a:p>
          <a:p>
            <a:r>
              <a:rPr lang="en-US" altLang="zh-CN" b="0" dirty="0">
                <a:latin typeface="Times New Roman" panose="02020603050405020304" pitchFamily="18" charset="0"/>
                <a:cs typeface="Times New Roman" panose="02020603050405020304" pitchFamily="18" charset="0"/>
                <a:sym typeface="Symbol" panose="05050102010706020507" pitchFamily="18" charset="2"/>
              </a:rPr>
              <a:t>	 4)Q(c)			       T,2),I</a:t>
            </a:r>
          </a:p>
          <a:p>
            <a:r>
              <a:rPr lang="en-US" altLang="zh-CN" b="0" dirty="0">
                <a:latin typeface="Times New Roman" panose="02020603050405020304" pitchFamily="18" charset="0"/>
                <a:cs typeface="Times New Roman" panose="02020603050405020304" pitchFamily="18" charset="0"/>
                <a:sym typeface="Symbol" panose="05050102010706020507" pitchFamily="18" charset="2"/>
              </a:rPr>
              <a:t>	 5)</a:t>
            </a:r>
            <a:r>
              <a:rPr lang="en-US" altLang="zh-CN" b="0" dirty="0">
                <a:latin typeface="Times New Roman" panose="02020603050405020304" pitchFamily="18" charset="0"/>
                <a:cs typeface="Times New Roman" panose="02020603050405020304" pitchFamily="18" charset="0"/>
              </a:rPr>
              <a:t>(</a:t>
            </a:r>
            <a:r>
              <a:rPr lang="en-US" altLang="en-US" b="0" noProof="1">
                <a:latin typeface="Times New Roman" panose="02020603050405020304" pitchFamily="18" charset="0"/>
                <a:cs typeface="Times New Roman" panose="02020603050405020304" pitchFamily="18" charset="0"/>
                <a:sym typeface="Symbol" panose="05050102010706020507" pitchFamily="18" charset="2"/>
              </a:rPr>
              <a:t></a:t>
            </a:r>
            <a:r>
              <a:rPr lang="en-US" altLang="en-US" b="0" noProof="1">
                <a:latin typeface="Times New Roman" panose="02020603050405020304" pitchFamily="18" charset="0"/>
                <a:cs typeface="Times New Roman" panose="02020603050405020304" pitchFamily="18" charset="0"/>
              </a:rPr>
              <a:t>x</a:t>
            </a:r>
            <a:r>
              <a:rPr lang="en-US" altLang="zh-CN" b="0" noProof="1">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P(x)			        EG,3)</a:t>
            </a:r>
          </a:p>
          <a:p>
            <a:r>
              <a:rPr lang="en-US" altLang="zh-CN" b="0" dirty="0">
                <a:latin typeface="Times New Roman" panose="02020603050405020304" pitchFamily="18" charset="0"/>
                <a:cs typeface="Times New Roman" panose="02020603050405020304" pitchFamily="18" charset="0"/>
                <a:sym typeface="Symbol" panose="05050102010706020507" pitchFamily="18" charset="2"/>
              </a:rPr>
              <a:t>	 6)</a:t>
            </a:r>
            <a:r>
              <a:rPr lang="en-US" altLang="zh-CN" b="0" dirty="0">
                <a:latin typeface="Times New Roman" panose="02020603050405020304" pitchFamily="18" charset="0"/>
                <a:cs typeface="Times New Roman" panose="02020603050405020304" pitchFamily="18" charset="0"/>
              </a:rPr>
              <a:t>(</a:t>
            </a:r>
            <a:r>
              <a:rPr lang="en-US" altLang="en-US" b="0" noProof="1">
                <a:latin typeface="Times New Roman" panose="02020603050405020304" pitchFamily="18" charset="0"/>
                <a:cs typeface="Times New Roman" panose="02020603050405020304" pitchFamily="18" charset="0"/>
                <a:sym typeface="Symbol" panose="05050102010706020507" pitchFamily="18" charset="2"/>
              </a:rPr>
              <a:t></a:t>
            </a:r>
            <a:r>
              <a:rPr lang="en-US" altLang="en-US" b="0" noProof="1">
                <a:latin typeface="Times New Roman" panose="02020603050405020304" pitchFamily="18" charset="0"/>
                <a:cs typeface="Times New Roman" panose="02020603050405020304" pitchFamily="18" charset="0"/>
              </a:rPr>
              <a:t>x</a:t>
            </a:r>
            <a:r>
              <a:rPr lang="en-US" altLang="zh-CN" b="0" noProof="1">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Q(x)			       EG,4)</a:t>
            </a:r>
          </a:p>
          <a:p>
            <a:r>
              <a:rPr lang="en-US" altLang="zh-CN" b="0" dirty="0">
                <a:latin typeface="Times New Roman" panose="02020603050405020304" pitchFamily="18" charset="0"/>
                <a:cs typeface="Times New Roman" panose="02020603050405020304" pitchFamily="18" charset="0"/>
                <a:sym typeface="Symbol" panose="05050102010706020507" pitchFamily="18" charset="2"/>
              </a:rPr>
              <a:t>	 7)</a:t>
            </a:r>
            <a:r>
              <a:rPr lang="en-US" altLang="zh-CN" b="0" dirty="0">
                <a:latin typeface="Times New Roman" panose="02020603050405020304" pitchFamily="18" charset="0"/>
                <a:cs typeface="Times New Roman" panose="02020603050405020304" pitchFamily="18" charset="0"/>
              </a:rPr>
              <a:t>(</a:t>
            </a:r>
            <a:r>
              <a:rPr lang="en-US" altLang="en-US" b="0" noProof="1">
                <a:latin typeface="Times New Roman" panose="02020603050405020304" pitchFamily="18" charset="0"/>
                <a:cs typeface="Times New Roman" panose="02020603050405020304" pitchFamily="18" charset="0"/>
                <a:sym typeface="Symbol" panose="05050102010706020507" pitchFamily="18" charset="2"/>
              </a:rPr>
              <a:t></a:t>
            </a:r>
            <a:r>
              <a:rPr lang="en-US" altLang="en-US" b="0" noProof="1">
                <a:latin typeface="Times New Roman" panose="02020603050405020304" pitchFamily="18" charset="0"/>
                <a:cs typeface="Times New Roman" panose="02020603050405020304" pitchFamily="18" charset="0"/>
              </a:rPr>
              <a:t>x</a:t>
            </a:r>
            <a:r>
              <a:rPr lang="en-US" altLang="zh-CN" b="0" noProof="1">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P(x)</a:t>
            </a:r>
            <a:r>
              <a:rPr lang="en-US" altLang="zh-CN" b="0" noProof="1">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rPr>
              <a:t>(</a:t>
            </a:r>
            <a:r>
              <a:rPr lang="en-US" altLang="en-US" b="0" noProof="1">
                <a:latin typeface="Times New Roman" panose="02020603050405020304" pitchFamily="18" charset="0"/>
                <a:cs typeface="Times New Roman" panose="02020603050405020304" pitchFamily="18" charset="0"/>
                <a:sym typeface="Symbol" panose="05050102010706020507" pitchFamily="18" charset="2"/>
              </a:rPr>
              <a:t></a:t>
            </a:r>
            <a:r>
              <a:rPr lang="en-US" altLang="en-US" b="0" noProof="1">
                <a:latin typeface="Times New Roman" panose="02020603050405020304" pitchFamily="18" charset="0"/>
                <a:cs typeface="Times New Roman" panose="02020603050405020304" pitchFamily="18" charset="0"/>
              </a:rPr>
              <a:t>x</a:t>
            </a:r>
            <a:r>
              <a:rPr lang="en-US" altLang="zh-CN" b="0" noProof="1">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Q(x)	       T,5),6),I</a:t>
            </a:r>
          </a:p>
        </p:txBody>
      </p:sp>
      <p:sp>
        <p:nvSpPr>
          <p:cNvPr id="10" name="Rectangle 4">
            <a:extLst>
              <a:ext uri="{FF2B5EF4-FFF2-40B4-BE49-F238E27FC236}">
                <a16:creationId xmlns:a16="http://schemas.microsoft.com/office/drawing/2014/main" id="{71CD5E53-08FA-4E69-8FB1-FED3C02EEBEE}"/>
              </a:ext>
            </a:extLst>
          </p:cNvPr>
          <p:cNvSpPr>
            <a:spLocks noChangeArrowheads="1"/>
          </p:cNvSpPr>
          <p:nvPr/>
        </p:nvSpPr>
        <p:spPr bwMode="auto">
          <a:xfrm>
            <a:off x="2026452" y="1171808"/>
            <a:ext cx="7620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en-US" sz="28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en-US" sz="28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28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(P(x)</a:t>
            </a:r>
            <a:r>
              <a:rPr kumimoji="1" lang="en-US" altLang="zh-CN" sz="28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Q(x))</a:t>
            </a:r>
            <a:r>
              <a:rPr kumimoji="1" lang="en-US" altLang="en-US" sz="28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en-US" sz="28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en-US" sz="28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P(x)</a:t>
            </a:r>
            <a:r>
              <a:rPr kumimoji="1" lang="en-US" altLang="zh-CN" sz="28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en-US" sz="28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en-US" sz="28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en-US" sz="28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Q(x)</a:t>
            </a:r>
          </a:p>
        </p:txBody>
      </p:sp>
    </p:spTree>
    <p:extLst>
      <p:ext uri="{BB962C8B-B14F-4D97-AF65-F5344CB8AC3E}">
        <p14:creationId xmlns:p14="http://schemas.microsoft.com/office/powerpoint/2010/main" val="4092345590"/>
      </p:ext>
    </p:extLst>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 calcmode="lin" valueType="num">
                                      <p:cBhvr additive="base">
                                        <p:cTn id="13" dur="500" fill="hold"/>
                                        <p:tgtEl>
                                          <p:spTgt spid="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 calcmode="lin" valueType="num">
                                      <p:cBhvr additive="base">
                                        <p:cTn id="19" dur="500" fill="hold"/>
                                        <p:tgtEl>
                                          <p:spTgt spid="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
                                            <p:txEl>
                                              <p:pRg st="3" end="3"/>
                                            </p:txEl>
                                          </p:spTgt>
                                        </p:tgtEl>
                                        <p:attrNameLst>
                                          <p:attrName>style.visibility</p:attrName>
                                        </p:attrNameLst>
                                      </p:cBhvr>
                                      <p:to>
                                        <p:strVal val="visible"/>
                                      </p:to>
                                    </p:set>
                                    <p:anim calcmode="lin" valueType="num">
                                      <p:cBhvr additive="base">
                                        <p:cTn id="25" dur="500" fill="hold"/>
                                        <p:tgtEl>
                                          <p:spTgt spid="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9">
                                            <p:txEl>
                                              <p:pRg st="4" end="4"/>
                                            </p:txEl>
                                          </p:spTgt>
                                        </p:tgtEl>
                                        <p:attrNameLst>
                                          <p:attrName>style.visibility</p:attrName>
                                        </p:attrNameLst>
                                      </p:cBhvr>
                                      <p:to>
                                        <p:strVal val="visible"/>
                                      </p:to>
                                    </p:set>
                                    <p:anim calcmode="lin" valueType="num">
                                      <p:cBhvr additive="base">
                                        <p:cTn id="31" dur="500" fill="hold"/>
                                        <p:tgtEl>
                                          <p:spTgt spid="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9">
                                            <p:txEl>
                                              <p:pRg st="5" end="5"/>
                                            </p:txEl>
                                          </p:spTgt>
                                        </p:tgtEl>
                                        <p:attrNameLst>
                                          <p:attrName>style.visibility</p:attrName>
                                        </p:attrNameLst>
                                      </p:cBhvr>
                                      <p:to>
                                        <p:strVal val="visible"/>
                                      </p:to>
                                    </p:set>
                                    <p:anim calcmode="lin" valueType="num">
                                      <p:cBhvr additive="base">
                                        <p:cTn id="37" dur="500" fill="hold"/>
                                        <p:tgtEl>
                                          <p:spTgt spid="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9">
                                            <p:txEl>
                                              <p:pRg st="6" end="6"/>
                                            </p:txEl>
                                          </p:spTgt>
                                        </p:tgtEl>
                                        <p:attrNameLst>
                                          <p:attrName>style.visibility</p:attrName>
                                        </p:attrNameLst>
                                      </p:cBhvr>
                                      <p:to>
                                        <p:strVal val="visible"/>
                                      </p:to>
                                    </p:set>
                                    <p:anim calcmode="lin" valueType="num">
                                      <p:cBhvr additive="base">
                                        <p:cTn id="43" dur="500" fill="hold"/>
                                        <p:tgtEl>
                                          <p:spTgt spid="9">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9">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图片 4">
            <a:extLst>
              <a:ext uri="{FF2B5EF4-FFF2-40B4-BE49-F238E27FC236}">
                <a16:creationId xmlns:a16="http://schemas.microsoft.com/office/drawing/2014/main" id="{14B021D2-D0A5-4A13-BFFE-A07F34356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3" y="20638"/>
            <a:ext cx="1439862" cy="143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7" name="文本框 2">
            <a:extLst>
              <a:ext uri="{FF2B5EF4-FFF2-40B4-BE49-F238E27FC236}">
                <a16:creationId xmlns:a16="http://schemas.microsoft.com/office/drawing/2014/main" id="{D072F704-294D-4D50-9E61-D305FE23C476}"/>
              </a:ext>
            </a:extLst>
          </p:cNvPr>
          <p:cNvSpPr txBox="1">
            <a:spLocks noChangeArrowheads="1"/>
          </p:cNvSpPr>
          <p:nvPr/>
        </p:nvSpPr>
        <p:spPr bwMode="auto">
          <a:xfrm>
            <a:off x="1751013" y="92075"/>
            <a:ext cx="57610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a:lnSpc>
                <a:spcPct val="100000"/>
              </a:lnSpc>
              <a:spcBef>
                <a:spcPct val="0"/>
              </a:spcBef>
              <a:buNone/>
            </a:pPr>
            <a:r>
              <a:rPr lang="en-US" altLang="zh-CN" sz="3600" dirty="0">
                <a:latin typeface="Lucida Handwriting" panose="03010101010101010101" pitchFamily="66" charset="0"/>
              </a:rPr>
              <a:t>Predicate Logic</a:t>
            </a:r>
            <a:endParaRPr lang="zh-CN" altLang="en-US" sz="3600" dirty="0">
              <a:latin typeface="Lucida Handwriting" panose="03010101010101010101" pitchFamily="66" charset="0"/>
            </a:endParaRPr>
          </a:p>
        </p:txBody>
      </p:sp>
      <p:sp>
        <p:nvSpPr>
          <p:cNvPr id="8" name="Rectangle 3">
            <a:extLst>
              <a:ext uri="{FF2B5EF4-FFF2-40B4-BE49-F238E27FC236}">
                <a16:creationId xmlns:a16="http://schemas.microsoft.com/office/drawing/2014/main" id="{521D0457-95F2-49F7-9135-F78612C49275}"/>
              </a:ext>
            </a:extLst>
          </p:cNvPr>
          <p:cNvSpPr txBox="1">
            <a:spLocks noChangeArrowheads="1"/>
          </p:cNvSpPr>
          <p:nvPr/>
        </p:nvSpPr>
        <p:spPr bwMode="auto">
          <a:xfrm>
            <a:off x="1961000" y="1773238"/>
            <a:ext cx="7620000" cy="424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fontAlgn="base">
              <a:lnSpc>
                <a:spcPct val="120000"/>
              </a:lnSpc>
              <a:spcBef>
                <a:spcPct val="20000"/>
              </a:spcBef>
              <a:spcAft>
                <a:spcPct val="0"/>
              </a:spcAft>
              <a:buClr>
                <a:srgbClr val="FF3300"/>
              </a:buClr>
              <a:buFont typeface="Wingdings" panose="05000000000000000000" pitchFamily="2" charset="2"/>
              <a:defRPr sz="2800" b="1" kern="1200">
                <a:solidFill>
                  <a:srgbClr val="000000"/>
                </a:solidFill>
                <a:latin typeface="+mn-lt"/>
                <a:ea typeface="+mn-ea"/>
                <a:cs typeface="+mn-cs"/>
              </a:defRPr>
            </a:lvl1pPr>
            <a:lvl2pPr marL="742950" indent="-285750" algn="l" rtl="0" fontAlgn="base">
              <a:lnSpc>
                <a:spcPct val="120000"/>
              </a:lnSpc>
              <a:spcBef>
                <a:spcPct val="20000"/>
              </a:spcBef>
              <a:spcAft>
                <a:spcPct val="0"/>
              </a:spcAft>
              <a:buClr>
                <a:srgbClr val="FF3300"/>
              </a:buClr>
              <a:buFont typeface="Wingdings" panose="05000000000000000000" pitchFamily="2" charset="2"/>
              <a:defRPr sz="2400" b="1" kern="1200">
                <a:solidFill>
                  <a:srgbClr val="333300"/>
                </a:solidFill>
                <a:latin typeface="+mn-lt"/>
                <a:ea typeface="宋体" panose="02010600030101010101" pitchFamily="2" charset="-122"/>
                <a:cs typeface="+mn-cs"/>
              </a:defRPr>
            </a:lvl2pPr>
            <a:lvl3pPr marL="1143000" indent="-228600" algn="l" rtl="0" fontAlgn="base">
              <a:lnSpc>
                <a:spcPct val="120000"/>
              </a:lnSpc>
              <a:spcBef>
                <a:spcPct val="20000"/>
              </a:spcBef>
              <a:spcAft>
                <a:spcPct val="0"/>
              </a:spcAft>
              <a:buClr>
                <a:srgbClr val="FF3300"/>
              </a:buClr>
              <a:buFont typeface="Wingdings" panose="05000000000000000000" pitchFamily="2" charset="2"/>
              <a:defRPr sz="2000" b="1" kern="1200">
                <a:solidFill>
                  <a:srgbClr val="333300"/>
                </a:solidFill>
                <a:latin typeface="+mn-lt"/>
                <a:ea typeface="宋体" panose="02010600030101010101" pitchFamily="2" charset="-122"/>
                <a:cs typeface="+mn-cs"/>
              </a:defRPr>
            </a:lvl3pPr>
            <a:lvl4pPr marL="1600200" indent="-228600" algn="l" rtl="0" fontAlgn="base">
              <a:lnSpc>
                <a:spcPct val="120000"/>
              </a:lnSpc>
              <a:spcBef>
                <a:spcPct val="20000"/>
              </a:spcBef>
              <a:spcAft>
                <a:spcPct val="0"/>
              </a:spcAft>
              <a:buClr>
                <a:srgbClr val="FF3300"/>
              </a:buClr>
              <a:defRPr b="1" kern="1200">
                <a:solidFill>
                  <a:srgbClr val="333300"/>
                </a:solidFill>
                <a:latin typeface="+mn-lt"/>
                <a:ea typeface="宋体" panose="02010600030101010101" pitchFamily="2" charset="-122"/>
                <a:cs typeface="+mn-cs"/>
              </a:defRPr>
            </a:lvl4pPr>
            <a:lvl5pPr marL="2057400" indent="-228600" algn="l" rtl="0" fontAlgn="base">
              <a:lnSpc>
                <a:spcPct val="120000"/>
              </a:lnSpc>
              <a:spcBef>
                <a:spcPct val="20000"/>
              </a:spcBef>
              <a:spcAft>
                <a:spcPct val="0"/>
              </a:spcAft>
              <a:buClr>
                <a:srgbClr val="FF3300"/>
              </a:buClr>
              <a:defRPr sz="1600" b="1" kern="1200">
                <a:solidFill>
                  <a:srgbClr val="333300"/>
                </a:solidFill>
                <a:latin typeface="+mn-lt"/>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b="0" dirty="0">
                <a:latin typeface="Times New Roman" panose="02020603050405020304" pitchFamily="18" charset="0"/>
                <a:cs typeface="Times New Roman" panose="02020603050405020304" pitchFamily="18" charset="0"/>
              </a:rPr>
              <a:t>1)(</a:t>
            </a:r>
            <a:r>
              <a:rPr lang="en-US" altLang="en-US" b="0" noProof="1">
                <a:latin typeface="Times New Roman" panose="02020603050405020304" pitchFamily="18" charset="0"/>
                <a:cs typeface="Times New Roman" panose="02020603050405020304" pitchFamily="18" charset="0"/>
                <a:sym typeface="Symbol" panose="05050102010706020507" pitchFamily="18" charset="2"/>
              </a:rPr>
              <a:t></a:t>
            </a:r>
            <a:r>
              <a:rPr lang="en-US" altLang="en-US" b="0" noProof="1">
                <a:latin typeface="Times New Roman" panose="02020603050405020304" pitchFamily="18" charset="0"/>
                <a:cs typeface="Times New Roman" panose="02020603050405020304" pitchFamily="18" charset="0"/>
              </a:rPr>
              <a:t>x</a:t>
            </a:r>
            <a:r>
              <a:rPr lang="en-US" altLang="zh-CN" b="0" noProof="1">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P(x)</a:t>
            </a:r>
            <a:r>
              <a:rPr lang="en-US" altLang="zh-CN" b="0" noProof="1">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rPr>
              <a:t>(</a:t>
            </a:r>
            <a:r>
              <a:rPr lang="en-US" altLang="en-US" b="0" noProof="1">
                <a:latin typeface="Times New Roman" panose="02020603050405020304" pitchFamily="18" charset="0"/>
                <a:cs typeface="Times New Roman" panose="02020603050405020304" pitchFamily="18" charset="0"/>
                <a:sym typeface="Symbol" panose="05050102010706020507" pitchFamily="18" charset="2"/>
              </a:rPr>
              <a:t></a:t>
            </a:r>
            <a:r>
              <a:rPr lang="en-US" altLang="en-US" b="0" noProof="1">
                <a:latin typeface="Times New Roman" panose="02020603050405020304" pitchFamily="18" charset="0"/>
                <a:cs typeface="Times New Roman" panose="02020603050405020304" pitchFamily="18" charset="0"/>
              </a:rPr>
              <a:t>x</a:t>
            </a:r>
            <a:r>
              <a:rPr lang="en-US" altLang="zh-CN" b="0" noProof="1">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Q(x)	         P</a:t>
            </a:r>
          </a:p>
          <a:p>
            <a:r>
              <a:rPr lang="en-US" altLang="zh-CN" b="0" dirty="0">
                <a:latin typeface="Times New Roman" panose="02020603050405020304" pitchFamily="18" charset="0"/>
                <a:cs typeface="Times New Roman" panose="02020603050405020304" pitchFamily="18" charset="0"/>
                <a:sym typeface="Symbol" panose="05050102010706020507" pitchFamily="18" charset="2"/>
              </a:rPr>
              <a:t>2)</a:t>
            </a:r>
            <a:r>
              <a:rPr lang="en-US" altLang="zh-CN" b="0" dirty="0">
                <a:latin typeface="Times New Roman" panose="02020603050405020304" pitchFamily="18" charset="0"/>
                <a:cs typeface="Times New Roman" panose="02020603050405020304" pitchFamily="18" charset="0"/>
              </a:rPr>
              <a:t>(</a:t>
            </a:r>
            <a:r>
              <a:rPr lang="en-US" altLang="en-US" b="0" noProof="1">
                <a:latin typeface="Times New Roman" panose="02020603050405020304" pitchFamily="18" charset="0"/>
                <a:cs typeface="Times New Roman" panose="02020603050405020304" pitchFamily="18" charset="0"/>
                <a:sym typeface="Symbol" panose="05050102010706020507" pitchFamily="18" charset="2"/>
              </a:rPr>
              <a:t></a:t>
            </a:r>
            <a:r>
              <a:rPr lang="en-US" altLang="en-US" b="0" noProof="1">
                <a:latin typeface="Times New Roman" panose="02020603050405020304" pitchFamily="18" charset="0"/>
                <a:cs typeface="Times New Roman" panose="02020603050405020304" pitchFamily="18" charset="0"/>
              </a:rPr>
              <a:t>x</a:t>
            </a:r>
            <a:r>
              <a:rPr lang="en-US" altLang="zh-CN" b="0" noProof="1">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P(x)			T,1),I</a:t>
            </a:r>
          </a:p>
          <a:p>
            <a:r>
              <a:rPr lang="en-US" altLang="zh-CN" b="0" dirty="0">
                <a:latin typeface="Times New Roman" panose="02020603050405020304" pitchFamily="18" charset="0"/>
                <a:cs typeface="Times New Roman" panose="02020603050405020304" pitchFamily="18" charset="0"/>
                <a:sym typeface="Symbol" panose="05050102010706020507" pitchFamily="18" charset="2"/>
              </a:rPr>
              <a:t>3)P(c)				ES,2)</a:t>
            </a:r>
          </a:p>
          <a:p>
            <a:r>
              <a:rPr lang="en-US" altLang="zh-CN" b="0" dirty="0">
                <a:latin typeface="Times New Roman" panose="02020603050405020304" pitchFamily="18" charset="0"/>
                <a:cs typeface="Times New Roman" panose="02020603050405020304" pitchFamily="18" charset="0"/>
                <a:sym typeface="Symbol" panose="05050102010706020507" pitchFamily="18" charset="2"/>
              </a:rPr>
              <a:t>4)</a:t>
            </a:r>
            <a:r>
              <a:rPr lang="en-US" altLang="zh-CN" b="0" dirty="0">
                <a:latin typeface="Times New Roman" panose="02020603050405020304" pitchFamily="18" charset="0"/>
                <a:cs typeface="Times New Roman" panose="02020603050405020304" pitchFamily="18" charset="0"/>
              </a:rPr>
              <a:t>(</a:t>
            </a:r>
            <a:r>
              <a:rPr lang="en-US" altLang="en-US" b="0" noProof="1">
                <a:latin typeface="Times New Roman" panose="02020603050405020304" pitchFamily="18" charset="0"/>
                <a:cs typeface="Times New Roman" panose="02020603050405020304" pitchFamily="18" charset="0"/>
                <a:sym typeface="Symbol" panose="05050102010706020507" pitchFamily="18" charset="2"/>
              </a:rPr>
              <a:t></a:t>
            </a:r>
            <a:r>
              <a:rPr lang="en-US" altLang="en-US" b="0" noProof="1">
                <a:latin typeface="Times New Roman" panose="02020603050405020304" pitchFamily="18" charset="0"/>
                <a:cs typeface="Times New Roman" panose="02020603050405020304" pitchFamily="18" charset="0"/>
              </a:rPr>
              <a:t>x</a:t>
            </a:r>
            <a:r>
              <a:rPr lang="en-US" altLang="zh-CN" b="0" noProof="1">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Q(x)			T,1),I</a:t>
            </a:r>
          </a:p>
          <a:p>
            <a:r>
              <a:rPr lang="en-US" altLang="zh-CN" b="0" dirty="0">
                <a:latin typeface="Times New Roman" panose="02020603050405020304" pitchFamily="18" charset="0"/>
                <a:cs typeface="Times New Roman" panose="02020603050405020304" pitchFamily="18" charset="0"/>
                <a:sym typeface="Symbol" panose="05050102010706020507" pitchFamily="18" charset="2"/>
              </a:rPr>
              <a:t>5)Q(c)				ES,4)</a:t>
            </a:r>
          </a:p>
          <a:p>
            <a:r>
              <a:rPr lang="en-US" altLang="zh-CN" b="0" dirty="0">
                <a:latin typeface="Times New Roman" panose="02020603050405020304" pitchFamily="18" charset="0"/>
                <a:cs typeface="Times New Roman" panose="02020603050405020304" pitchFamily="18" charset="0"/>
                <a:sym typeface="Symbol" panose="05050102010706020507" pitchFamily="18" charset="2"/>
              </a:rPr>
              <a:t>6)(P(c)</a:t>
            </a:r>
            <a:r>
              <a:rPr lang="en-US" altLang="zh-CN" b="0" noProof="1">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Q(c))		          T,3),4),I</a:t>
            </a:r>
          </a:p>
          <a:p>
            <a:r>
              <a:rPr lang="en-US" altLang="zh-CN" b="0" dirty="0">
                <a:latin typeface="Times New Roman" panose="02020603050405020304" pitchFamily="18" charset="0"/>
                <a:cs typeface="Times New Roman" panose="02020603050405020304" pitchFamily="18" charset="0"/>
                <a:sym typeface="Symbol" panose="05050102010706020507" pitchFamily="18" charset="2"/>
              </a:rPr>
              <a:t>7)</a:t>
            </a:r>
            <a:r>
              <a:rPr lang="en-US" altLang="zh-CN" b="0" dirty="0">
                <a:latin typeface="Times New Roman" panose="02020603050405020304" pitchFamily="18" charset="0"/>
                <a:cs typeface="Times New Roman" panose="02020603050405020304" pitchFamily="18" charset="0"/>
              </a:rPr>
              <a:t>(</a:t>
            </a:r>
            <a:r>
              <a:rPr lang="en-US" altLang="en-US" b="0" noProof="1">
                <a:latin typeface="Times New Roman" panose="02020603050405020304" pitchFamily="18" charset="0"/>
                <a:cs typeface="Times New Roman" panose="02020603050405020304" pitchFamily="18" charset="0"/>
                <a:sym typeface="Symbol" panose="05050102010706020507" pitchFamily="18" charset="2"/>
              </a:rPr>
              <a:t></a:t>
            </a:r>
            <a:r>
              <a:rPr lang="en-US" altLang="en-US" b="0" noProof="1">
                <a:latin typeface="Times New Roman" panose="02020603050405020304" pitchFamily="18" charset="0"/>
                <a:cs typeface="Times New Roman" panose="02020603050405020304" pitchFamily="18" charset="0"/>
              </a:rPr>
              <a:t>x</a:t>
            </a:r>
            <a:r>
              <a:rPr lang="en-US" altLang="zh-CN" b="0" noProof="1">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(P(x)</a:t>
            </a:r>
            <a:r>
              <a:rPr lang="en-US" altLang="zh-CN" b="0" noProof="1">
                <a:latin typeface="Times New Roman" panose="02020603050405020304" pitchFamily="18" charset="0"/>
                <a:cs typeface="Times New Roman" panose="02020603050405020304" pitchFamily="18" charset="0"/>
              </a:rPr>
              <a:t>∧</a:t>
            </a:r>
            <a:r>
              <a:rPr lang="en-US" altLang="zh-CN" b="0" dirty="0">
                <a:latin typeface="Times New Roman" panose="02020603050405020304" pitchFamily="18" charset="0"/>
                <a:cs typeface="Times New Roman" panose="02020603050405020304" pitchFamily="18" charset="0"/>
                <a:sym typeface="Symbol" panose="05050102010706020507" pitchFamily="18" charset="2"/>
              </a:rPr>
              <a:t>Q(x))		EG,6)</a:t>
            </a:r>
          </a:p>
        </p:txBody>
      </p:sp>
      <p:sp>
        <p:nvSpPr>
          <p:cNvPr id="11" name="Rectangle 4">
            <a:extLst>
              <a:ext uri="{FF2B5EF4-FFF2-40B4-BE49-F238E27FC236}">
                <a16:creationId xmlns:a16="http://schemas.microsoft.com/office/drawing/2014/main" id="{86883C58-0D92-486C-8435-3920D8F7C6E9}"/>
              </a:ext>
            </a:extLst>
          </p:cNvPr>
          <p:cNvSpPr>
            <a:spLocks noChangeArrowheads="1"/>
          </p:cNvSpPr>
          <p:nvPr/>
        </p:nvSpPr>
        <p:spPr bwMode="auto">
          <a:xfrm>
            <a:off x="1751013" y="1054362"/>
            <a:ext cx="8911394"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spcAft>
                <a:spcPct val="0"/>
              </a:spcAft>
            </a:pPr>
            <a:r>
              <a:rPr kumimoji="1"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上述推论的逆推导</a:t>
            </a:r>
            <a:r>
              <a:rPr kumimoji="1" lang="zh-CN" altLang="en-US" sz="2800" b="1" dirty="0">
                <a:solidFill>
                  <a:srgbClr val="6666FF"/>
                </a:solidFill>
                <a:latin typeface="Times New Roman" panose="02020603050405020304" pitchFamily="18" charset="0"/>
                <a:ea typeface="黑体" panose="02010609060101010101" pitchFamily="49" charset="-122"/>
                <a:cs typeface="Times New Roman" panose="02020603050405020304" pitchFamily="18" charset="0"/>
              </a:rPr>
              <a:t>：</a:t>
            </a:r>
          </a:p>
        </p:txBody>
      </p:sp>
      <p:sp>
        <p:nvSpPr>
          <p:cNvPr id="12" name="Rectangle 4">
            <a:extLst>
              <a:ext uri="{FF2B5EF4-FFF2-40B4-BE49-F238E27FC236}">
                <a16:creationId xmlns:a16="http://schemas.microsoft.com/office/drawing/2014/main" id="{BFC9A6E4-5B88-46FD-93A5-2BEDEEC4679B}"/>
              </a:ext>
            </a:extLst>
          </p:cNvPr>
          <p:cNvSpPr>
            <a:spLocks noChangeArrowheads="1"/>
          </p:cNvSpPr>
          <p:nvPr/>
        </p:nvSpPr>
        <p:spPr bwMode="auto">
          <a:xfrm>
            <a:off x="4081755" y="1054362"/>
            <a:ext cx="7620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kumimoji="1" lang="en-US" altLang="en-US" sz="28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en-US" sz="28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en-US" sz="28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P(x)</a:t>
            </a:r>
            <a:r>
              <a:rPr kumimoji="1" lang="en-US" altLang="zh-CN" sz="28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en-US" sz="28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en-US" sz="28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en-US" sz="28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Q(x)</a:t>
            </a:r>
            <a:r>
              <a:rPr kumimoji="1"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en-US" sz="28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en-US" altLang="en-US" sz="28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x</a:t>
            </a:r>
            <a:r>
              <a:rPr kumimoji="1" lang="en-US" altLang="zh-CN" sz="28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(P(x)</a:t>
            </a:r>
            <a:r>
              <a:rPr kumimoji="1" lang="en-US" altLang="zh-CN" sz="2800" noProof="1">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Q(x))</a:t>
            </a:r>
          </a:p>
        </p:txBody>
      </p:sp>
    </p:spTree>
    <p:extLst>
      <p:ext uri="{BB962C8B-B14F-4D97-AF65-F5344CB8AC3E}">
        <p14:creationId xmlns:p14="http://schemas.microsoft.com/office/powerpoint/2010/main" val="2926308551"/>
      </p:ext>
    </p:extLst>
  </p:cSld>
  <p:clrMapOvr>
    <a:masterClrMapping/>
  </p:clrMapOvr>
  <p:transition spd="slow" advTm="0">
    <p:wipe/>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6804</TotalTime>
  <Words>7394</Words>
  <Application>Microsoft Office PowerPoint</Application>
  <PresentationFormat>宽屏</PresentationFormat>
  <Paragraphs>463</Paragraphs>
  <Slides>46</Slides>
  <Notes>46</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46</vt:i4>
      </vt:variant>
    </vt:vector>
  </HeadingPairs>
  <TitlesOfParts>
    <vt:vector size="60" baseType="lpstr">
      <vt:lpstr>Microsoft JhengHei</vt:lpstr>
      <vt:lpstr>等线</vt:lpstr>
      <vt:lpstr>等线 Light</vt:lpstr>
      <vt:lpstr>黑体</vt:lpstr>
      <vt:lpstr>KaiTi</vt:lpstr>
      <vt:lpstr>Microsoft YaHei Light</vt:lpstr>
      <vt:lpstr>Arial</vt:lpstr>
      <vt:lpstr>Arial Black</vt:lpstr>
      <vt:lpstr>Lucida Handwriting</vt:lpstr>
      <vt:lpstr>Segoe UI Semibold</vt:lpstr>
      <vt:lpstr>Symbol</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77</dc:creator>
  <cp:lastModifiedBy>y z</cp:lastModifiedBy>
  <cp:revision>95</cp:revision>
  <dcterms:created xsi:type="dcterms:W3CDTF">2019-03-24T11:36:16Z</dcterms:created>
  <dcterms:modified xsi:type="dcterms:W3CDTF">2025-11-01T03:23:18Z</dcterms:modified>
</cp:coreProperties>
</file>