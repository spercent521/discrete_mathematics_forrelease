
<file path=[Content_Types].xml><?xml version="1.0" encoding="utf-8"?>
<Types xmlns="http://schemas.openxmlformats.org/package/2006/content-types">
  <Default Extension="bin" ContentType="application/vnd.openxmlformats-officedocument.oleObject"/>
  <Default Extension="com&amp;app=2002&amp;size=f9999,10000&amp;q=a80&amp;n=0&amp;g=0n&amp;fmt=jpeg" ContentType="image/jpeg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445" r:id="rId2"/>
    <p:sldId id="2367" r:id="rId3"/>
    <p:sldId id="2322" r:id="rId4"/>
    <p:sldId id="2373" r:id="rId5"/>
    <p:sldId id="2354" r:id="rId6"/>
    <p:sldId id="2386" r:id="rId7"/>
    <p:sldId id="2387" r:id="rId8"/>
    <p:sldId id="2388" r:id="rId9"/>
    <p:sldId id="2343" r:id="rId10"/>
    <p:sldId id="2345" r:id="rId11"/>
    <p:sldId id="2355" r:id="rId12"/>
    <p:sldId id="2356" r:id="rId13"/>
    <p:sldId id="2357" r:id="rId14"/>
    <p:sldId id="2358" r:id="rId15"/>
    <p:sldId id="2369" r:id="rId16"/>
    <p:sldId id="2360" r:id="rId17"/>
    <p:sldId id="2359" r:id="rId18"/>
    <p:sldId id="1542" r:id="rId19"/>
    <p:sldId id="1556" r:id="rId20"/>
    <p:sldId id="1543" r:id="rId21"/>
    <p:sldId id="1544" r:id="rId22"/>
    <p:sldId id="1545" r:id="rId23"/>
    <p:sldId id="1546" r:id="rId24"/>
    <p:sldId id="1547" r:id="rId25"/>
    <p:sldId id="1548" r:id="rId26"/>
    <p:sldId id="1496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66" autoAdjust="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5E74C-0388-460B-8A1A-12262F716AB4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12EA6-5A00-4649-A385-8C3D605DC7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3410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2214FF63-7E78-4CEA-B78B-294BDB7C41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999858BC-515F-4514-A470-A99FA05D1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DB2CFB14-3F96-47B7-9206-1409F9E89C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222AA93-F3F5-44B4-89DC-39F3993E7439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4798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4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36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203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687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016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06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171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399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7778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854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1900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151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33885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96571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005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8412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19729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3395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644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0080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962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5353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21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688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CA5DA2B3-38D2-4748-8473-790E61130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0B1EB64A-E4E7-4D09-9858-8FB37AB345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35E436-A821-44A2-92FF-51373B885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9856A0C-5D22-4C56-9029-F651762B2DA6}" type="slidenum">
              <a:rPr lang="zh-CN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084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38839-3093-4729-8FEC-B8F7E98C00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56451D4-D3E9-4B1A-95FF-7D3B8AF5E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3796E7-D825-4C6E-BB57-A7CD8789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9B286-5F09-4022-9FBE-42A79B112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49831-1415-4A89-9C0F-0B710298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6948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AF371C-923A-4556-89D9-6D9283A0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452F5-C1B4-4538-A3E8-6DDD4E3FA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AD3449-79F7-4668-B887-D81CE8C88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D3B59D-BF5B-4DBC-9568-C8AAA663B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40E4E-BBD4-4D8B-98E4-EA30CF0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186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BCA1D-712E-4F01-BAE5-8839C0DA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AE37AA-2A2A-48D0-8688-D6F59D667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0A6700-85CF-420A-ABAE-FF91735E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62237A-DAB1-4E98-8B5B-CC1845D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5D0C69-48ED-4B44-A7D1-9AE23383C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05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6A286-E7EE-4D49-B4B0-76832A50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139823-13D0-4FEF-A29A-E79B58662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9679F6-6354-42A0-8470-199F28220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8206FB-A032-418A-BB97-4CE861AB4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5238BE2-4D63-4513-89E9-8162B99BA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67CBF8-AFBC-4D68-AF29-C94A9700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54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09053-D199-4CC7-98FA-E112AB4B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2E4443-2D08-45C3-A860-96FD1AF4F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96351A-C85B-412D-9175-4D3FD33ED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91DAADB-9A7A-4973-AE1B-CED0F8308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AFD96D-F559-4505-952C-8BA09BFA9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05D621F-C4F8-4B34-A7F6-16826D0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1B6E70F-70C0-4744-BA5C-79003E6B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C0EED7-721D-410A-8683-671A021E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760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05F9F-E778-4AF2-97CA-47B468DCD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61C9F-E0FE-424D-BAD5-9433FCE03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C30F9B-24B1-4F3C-B51F-EF11DC105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71B3E22-D4E5-4B77-801C-2F976DDD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54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1BE8AAB-8A93-4DA4-91BB-AA1694AF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38EE8-71EA-462E-A54F-FCC3FC6F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7FFFDF-496B-4AE6-A7F6-4838B6C6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82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B799E-158D-4F13-B1D8-75C44E562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3B7AF-9C05-48B9-B50C-1D3595D5E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F83C59-6E43-49DE-9EA3-A9A734C2F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72035-E581-4546-A646-9CE73C3E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16B245-4FB7-4C26-88C6-480F9328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EA37DF-1C3E-4187-9F19-56F9CF40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31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29CBD2-48C7-4DD4-85B9-665DB9CA2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E43F06E-1C36-4C66-9E8E-1B38D38BBD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2AACA3-D5EA-4976-B46A-426D9DD6B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97B16B-9109-428A-AA9F-6433D823A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A6ED09-92F3-4027-B4D7-6B8809BEC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EE1814-E277-48BF-A37C-B8DC2307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02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B03DE-A4A4-4F0A-A9BD-028DD3FC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C1679-A24E-4034-B873-263855CD3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D25EB0-BC97-43A3-83EE-556D5C86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A40581-EA82-4D2B-98B5-74D4D11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9EE154-45E0-4D8D-8A71-8D4CF08F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67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EE343A-5B65-4716-95F1-9E48DCD8C9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6F6630-FD54-4703-A7DD-DF2E514B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43D9D7-7F8E-4C14-8CA9-F338013DD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EEFCF-892B-49DF-A6EE-D431C832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FF0452-FBD7-4399-AEDE-FC430C2E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282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">
            <a:extLst>
              <a:ext uri="{FF2B5EF4-FFF2-40B4-BE49-F238E27FC236}">
                <a16:creationId xmlns:a16="http://schemas.microsoft.com/office/drawing/2014/main" id="{D73D5CAC-F429-4F2F-9F7B-6223C359040B}"/>
              </a:ext>
            </a:extLst>
          </p:cNvPr>
          <p:cNvSpPr txBox="1"/>
          <p:nvPr userDrawn="1"/>
        </p:nvSpPr>
        <p:spPr>
          <a:xfrm>
            <a:off x="76200" y="117475"/>
            <a:ext cx="1701800" cy="676275"/>
          </a:xfrm>
          <a:prstGeom prst="rect">
            <a:avLst/>
          </a:prstGeom>
          <a:noFill/>
        </p:spPr>
        <p:txBody>
          <a:bodyPr lIns="121900" tIns="60949" rIns="121900" bIns="60949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598" b="1" spc="-150" dirty="0">
                <a:solidFill>
                  <a:schemeClr val="accent1"/>
                </a:solidFill>
                <a:latin typeface="Arial Black" panose="020B0A04020102020204" pitchFamily="34" charset="0"/>
                <a:ea typeface="微软雅黑" panose="020B0503020204020204" pitchFamily="34" charset="-122"/>
              </a:rPr>
              <a:t>LOGO</a:t>
            </a:r>
            <a:endParaRPr lang="zh-CN" altLang="en-US" sz="3598" b="1" spc="-150" dirty="0">
              <a:solidFill>
                <a:schemeClr val="accent1"/>
              </a:solidFill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244DE135-33BF-4676-B43F-8AA62673A58B}"/>
              </a:ext>
            </a:extLst>
          </p:cNvPr>
          <p:cNvCxnSpPr/>
          <p:nvPr userDrawn="1"/>
        </p:nvCxnSpPr>
        <p:spPr>
          <a:xfrm>
            <a:off x="1562100" y="693738"/>
            <a:ext cx="10629900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65028"/>
      </p:ext>
    </p:extLst>
  </p:cSld>
  <p:clrMapOvr>
    <a:masterClrMapping/>
  </p:clrMapOvr>
  <p:transition spd="slow" advTm="0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591E61-2795-47C4-BFA6-697F942D9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E90BB-9C04-4BA4-8EBF-3BD6F7FF9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B6A8-6B45-45E5-A763-39B87EACB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54364-00D7-41EA-9F35-087FAD37449B}" type="datetimeFigureOut">
              <a:rPr lang="zh-CN" altLang="en-US" smtClean="0"/>
              <a:t>2025/12/16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0F76C-578E-4398-A65C-C96041DE2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1C9BE-7819-4C7C-BFE7-801F21DF3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217EB-E339-4260-BB61-EC570DB8CA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03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4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com&amp;app=2002&amp;size=f9999,10000&amp;q=a80&amp;n=0&amp;g=0n&amp;fmt=jpeg"/><Relationship Id="rId4" Type="http://schemas.openxmlformats.org/officeDocument/2006/relationships/image" Target="../media/image14.com&amp;app=2002&amp;size=f9999,10000&amp;q=a80&amp;n=0&amp;g=0n&amp;fmt=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图片 4">
            <a:extLst>
              <a:ext uri="{FF2B5EF4-FFF2-40B4-BE49-F238E27FC236}">
                <a16:creationId xmlns:a16="http://schemas.microsoft.com/office/drawing/2014/main" id="{13E189C7-8218-4052-85AE-E01EC1124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3073">
            <a:extLst>
              <a:ext uri="{FF2B5EF4-FFF2-40B4-BE49-F238E27FC236}">
                <a16:creationId xmlns:a16="http://schemas.microsoft.com/office/drawing/2014/main" id="{F7D2571E-1D87-457C-8CCC-C3C98F94D652}"/>
              </a:ext>
            </a:extLst>
          </p:cNvPr>
          <p:cNvSpPr>
            <a:spLocks noGrp="1"/>
          </p:cNvSpPr>
          <p:nvPr/>
        </p:nvSpPr>
        <p:spPr>
          <a:xfrm>
            <a:off x="2390775" y="3140075"/>
            <a:ext cx="7772400" cy="9509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5400" noProof="1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iTi" panose="02010609060101010101" charset="-122"/>
                <a:ea typeface="KaiTi" panose="02010609060101010101" charset="-122"/>
                <a:cs typeface="Times New Roman" panose="02020603050405020304" pitchFamily="2" charset="0"/>
              </a:rPr>
              <a:t>离散数学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noProof="1">
                <a:solidFill>
                  <a:srgbClr val="0066FF"/>
                </a:solidFill>
                <a:latin typeface="Arial Black" panose="020B0A04020102020204" charset="0"/>
                <a:ea typeface="+mn-ea"/>
                <a:cs typeface="Times New Roman" panose="02020603050405020304" pitchFamily="2" charset="0"/>
              </a:rPr>
              <a:t>Discrete Mathematics</a:t>
            </a:r>
          </a:p>
        </p:txBody>
      </p:sp>
      <p:sp>
        <p:nvSpPr>
          <p:cNvPr id="4100" name="矩形 3074">
            <a:extLst>
              <a:ext uri="{FF2B5EF4-FFF2-40B4-BE49-F238E27FC236}">
                <a16:creationId xmlns:a16="http://schemas.microsoft.com/office/drawing/2014/main" id="{AA238628-3C73-45C1-88BF-CA2DFF4F68C6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485900" y="4337050"/>
            <a:ext cx="9104313" cy="233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endParaRPr lang="zh-CN" altLang="en-US" sz="2400">
              <a:solidFill>
                <a:srgbClr val="0066FF"/>
              </a:solidFill>
              <a:latin typeface="Segoe UI Semibold" panose="020B0702040204020203" pitchFamily="34" charset="0"/>
              <a:ea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计算机学院 </a:t>
            </a:r>
          </a:p>
          <a:p>
            <a:pPr algn="ctr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zh-CN" altLang="en-US" sz="2400" b="1">
                <a:solidFill>
                  <a:srgbClr val="A50021"/>
                </a:solidFill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吴亦奇  </a:t>
            </a:r>
            <a:r>
              <a:rPr lang="en-US" altLang="zh-CN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wuyq</a:t>
            </a:r>
            <a:r>
              <a:rPr lang="zh-CN" altLang="en-US" sz="2400">
                <a:solidFill>
                  <a:srgbClr val="A50021"/>
                </a:solidFill>
                <a:latin typeface="Segoe UI Semibold" panose="020B0702040204020203" pitchFamily="34" charset="0"/>
                <a:ea typeface="宋体" panose="02010600030101010101" pitchFamily="2" charset="-122"/>
              </a:rPr>
              <a:t>@cug.edu.cn</a:t>
            </a:r>
            <a:endParaRPr lang="zh-CN" altLang="en-US" sz="32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101" name="内容占位符 3076">
            <a:extLst>
              <a:ext uri="{FF2B5EF4-FFF2-40B4-BE49-F238E27FC236}">
                <a16:creationId xmlns:a16="http://schemas.microsoft.com/office/drawing/2014/main" id="{31156996-2154-42A9-9D69-9E3C40E3A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225" y="1052513"/>
            <a:ext cx="9137650" cy="168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821093"/>
      </p:ext>
    </p:extLst>
  </p:cSld>
  <p:clrMapOvr>
    <a:masterClrMapping/>
  </p:clrMapOvr>
  <p:transition spd="slow" advTm="0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5A17C800-241B-4A93-8639-677019E0363C}"/>
              </a:ext>
            </a:extLst>
          </p:cNvPr>
          <p:cNvSpPr txBox="1">
            <a:spLocks/>
          </p:cNvSpPr>
          <p:nvPr/>
        </p:nvSpPr>
        <p:spPr>
          <a:xfrm>
            <a:off x="1915160" y="2860675"/>
            <a:ext cx="8361680" cy="1136650"/>
          </a:xfrm>
          <a:prstGeom prst="rect">
            <a:avLst/>
          </a:prstGeom>
          <a:ln>
            <a:noFill/>
            <a:miter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ct val="135000"/>
              </a:lnSpc>
            </a:pPr>
            <a:r>
              <a:rPr lang="zh-CN" altLang="en-US" sz="42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图</a:t>
            </a:r>
            <a:endParaRPr lang="en-US" altLang="zh-CN" sz="42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 fontAlgn="base">
              <a:lnSpc>
                <a:spcPct val="135000"/>
              </a:lnSpc>
            </a:pPr>
            <a:r>
              <a:rPr lang="en-US" altLang="x-none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Graph</a:t>
            </a:r>
            <a:endParaRPr lang="en-US" altLang="zh-CN" sz="4200" b="1" noProof="1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396780"/>
      </p:ext>
    </p:extLst>
  </p:cSld>
  <p:clrMapOvr>
    <a:masterClrMapping/>
  </p:clrMapOvr>
  <p:transition spd="slow" advTm="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19" name="内容占位符 24578">
            <a:extLst>
              <a:ext uri="{FF2B5EF4-FFF2-40B4-BE49-F238E27FC236}">
                <a16:creationId xmlns:a16="http://schemas.microsoft.com/office/drawing/2014/main" id="{301D8186-C629-4F2D-9AE4-9B480B8F0395}"/>
              </a:ext>
            </a:extLst>
          </p:cNvPr>
          <p:cNvSpPr txBox="1">
            <a:spLocks/>
          </p:cNvSpPr>
          <p:nvPr/>
        </p:nvSpPr>
        <p:spPr>
          <a:xfrm>
            <a:off x="2181497" y="1166018"/>
            <a:ext cx="8229600" cy="4525963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Microsoft YaHei" panose="020B0503020204020204" charset="-122"/>
                <a:ea typeface="Microsoft YaHei" panose="020B0503020204020204" charset="-122"/>
              </a:rPr>
              <a:t>哈密尔顿图性质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若图G=(V，E) 具有哈密尔顿回路，则对于结点集V的每一个非空子集S均有</a:t>
            </a:r>
            <a:r>
              <a:rPr lang="el-GR" altLang="en-US" sz="2000" u="sng" dirty="0">
                <a:latin typeface="Microsoft YaHei" panose="020B0503020204020204" charset="-122"/>
                <a:ea typeface="Microsoft YaHei" panose="020B0503020204020204" charset="-122"/>
              </a:rPr>
              <a:t>ω</a:t>
            </a:r>
            <a:r>
              <a:rPr lang="zh-CN" altLang="en-US" sz="2000" u="sng" dirty="0">
                <a:latin typeface="Microsoft YaHei" panose="020B0503020204020204" charset="-122"/>
                <a:ea typeface="Microsoft YaHei" panose="020B0503020204020204" charset="-122"/>
              </a:rPr>
              <a:t>(G－S)≤|S|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成立。其中</a:t>
            </a:r>
            <a:r>
              <a:rPr lang="el-GR" altLang="en-US" sz="2000" dirty="0">
                <a:latin typeface="Microsoft YaHei" panose="020B0503020204020204" charset="-122"/>
                <a:ea typeface="Microsoft YaHei" panose="020B0503020204020204" charset="-122"/>
              </a:rPr>
              <a:t>ω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(G－S)是G－S中连通分支数。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——哈密尔顿图的</a:t>
            </a:r>
            <a:r>
              <a:rPr lang="zh-CN" altLang="en-US" sz="2000" b="1" dirty="0">
                <a:solidFill>
                  <a:srgbClr val="006666"/>
                </a:solidFill>
                <a:latin typeface="Microsoft YaHei" panose="020B0503020204020204" charset="-122"/>
                <a:ea typeface="Microsoft YaHei" panose="020B0503020204020204" charset="-122"/>
              </a:rPr>
              <a:t>必要条件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——也是判定</a:t>
            </a:r>
            <a:r>
              <a:rPr lang="zh-CN" altLang="en-US" sz="20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非</a:t>
            </a:r>
            <a:r>
              <a:rPr lang="zh-CN" altLang="en-US" sz="2000" b="1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哈密尔顿图的</a:t>
            </a:r>
            <a:r>
              <a:rPr lang="zh-CN" altLang="en-US" sz="2000" b="1" dirty="0">
                <a:solidFill>
                  <a:srgbClr val="006666"/>
                </a:solidFill>
                <a:latin typeface="Microsoft YaHei" panose="020B0503020204020204" charset="-122"/>
                <a:ea typeface="Microsoft YaHei" panose="020B0503020204020204" charset="-122"/>
              </a:rPr>
              <a:t>充分条件</a:t>
            </a:r>
          </a:p>
          <a:p>
            <a:pPr marL="0" indent="0"/>
            <a:endParaRPr lang="zh-CN" altLang="en-US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936421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32215CE2-9947-42FA-A279-186A84F4B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1060902"/>
            <a:ext cx="9015281" cy="5472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Symbol" panose="05050102010706020507" pitchFamily="18" charset="2"/>
              <a:defRPr kumimoji="1" sz="2800" b="1" kern="1200">
                <a:solidFill>
                  <a:srgbClr val="003399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sz="24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sz="2000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–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Char char="•"/>
              <a:defRPr kumimoji="1" b="1" kern="1200">
                <a:solidFill>
                  <a:srgbClr val="003399"/>
                </a:solidFill>
                <a:latin typeface="+mn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定理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是哈密顿图，则对于任意非空真子集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V(G)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，均有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ω(G-S)≤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其中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, ω(G-S)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为从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中去掉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中的结点及与这些结点关联的边后得到的图之分图数目。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rgbClr val="6600FF"/>
              </a:buClr>
              <a:buSzTx/>
              <a:buFont typeface="Symbol" panose="05050102010706020507" pitchFamily="18" charset="2"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      上述定理同时提供了一个判定非哈密尔顿图的充分条件，因为对于割点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构成的子集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S={2}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ω(G-S)=2</a:t>
            </a:r>
            <a:r>
              <a:rPr kumimoji="1" lang="es-ES_tradnl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kumimoji="1" lang="zh-CN" altLang="es-ES_tradnl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=1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黑体" panose="02010609060101010101" pitchFamily="49" charset="-122"/>
                <a:cs typeface="Times New Roman" panose="02020603050405020304" pitchFamily="18" charset="0"/>
              </a:rPr>
              <a:t>。事实上有如下命题：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如果图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包含一割点，则</a:t>
            </a: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G</a:t>
            </a:r>
            <a:r>
              <a:rPr kumimoji="1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不是哈密尔顿图。  </a:t>
            </a:r>
          </a:p>
        </p:txBody>
      </p:sp>
    </p:spTree>
    <p:extLst>
      <p:ext uri="{BB962C8B-B14F-4D97-AF65-F5344CB8AC3E}">
        <p14:creationId xmlns:p14="http://schemas.microsoft.com/office/powerpoint/2010/main" val="174586273"/>
      </p:ext>
    </p:extLst>
  </p:cSld>
  <p:clrMapOvr>
    <a:masterClrMapping/>
  </p:clrMapOvr>
  <p:transition spd="slow" advTm="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标题 5121">
            <a:extLst>
              <a:ext uri="{FF2B5EF4-FFF2-40B4-BE49-F238E27FC236}">
                <a16:creationId xmlns:a16="http://schemas.microsoft.com/office/drawing/2014/main" id="{5A17C800-241B-4A93-8639-677019E0363C}"/>
              </a:ext>
            </a:extLst>
          </p:cNvPr>
          <p:cNvSpPr txBox="1">
            <a:spLocks/>
          </p:cNvSpPr>
          <p:nvPr/>
        </p:nvSpPr>
        <p:spPr>
          <a:xfrm>
            <a:off x="1915160" y="2860675"/>
            <a:ext cx="8361680" cy="1136650"/>
          </a:xfrm>
          <a:prstGeom prst="rect">
            <a:avLst/>
          </a:prstGeom>
          <a:ln>
            <a:noFill/>
            <a:miter/>
          </a:ln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fontAlgn="base">
              <a:lnSpc>
                <a:spcPct val="135000"/>
              </a:lnSpc>
            </a:pPr>
            <a:r>
              <a:rPr lang="zh-CN" altLang="en-US" sz="42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特殊图</a:t>
            </a:r>
            <a:endParaRPr lang="en-US" altLang="zh-CN" sz="42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 fontAlgn="base">
              <a:lnSpc>
                <a:spcPct val="135000"/>
              </a:lnSpc>
            </a:pPr>
            <a:r>
              <a:rPr lang="en-US" altLang="x-none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S</a:t>
            </a:r>
            <a:r>
              <a:rPr lang="en-US" altLang="zh-CN" sz="42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pecial Graph</a:t>
            </a:r>
          </a:p>
        </p:txBody>
      </p:sp>
    </p:spTree>
    <p:extLst>
      <p:ext uri="{BB962C8B-B14F-4D97-AF65-F5344CB8AC3E}">
        <p14:creationId xmlns:p14="http://schemas.microsoft.com/office/powerpoint/2010/main" val="2666052979"/>
      </p:ext>
    </p:extLst>
  </p:cSld>
  <p:clrMapOvr>
    <a:masterClrMapping/>
  </p:clrMapOvr>
  <p:transition spd="slow" advTm="0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文本占位符 13314">
            <a:extLst>
              <a:ext uri="{FF2B5EF4-FFF2-40B4-BE49-F238E27FC236}">
                <a16:creationId xmlns:a16="http://schemas.microsoft.com/office/drawing/2014/main" id="{11F7F6B5-0452-4E5F-A933-5E5BA85BB93F}"/>
              </a:ext>
            </a:extLst>
          </p:cNvPr>
          <p:cNvSpPr txBox="1">
            <a:spLocks/>
          </p:cNvSpPr>
          <p:nvPr/>
        </p:nvSpPr>
        <p:spPr>
          <a:xfrm>
            <a:off x="2386668" y="1327136"/>
            <a:ext cx="5483225" cy="485775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树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(Tree):无环的连通图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森林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(Forest)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平凡树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(Trivial Tree)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树叶 (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Leaf)/</a:t>
            </a: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外部结点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(External nodes)</a:t>
            </a:r>
          </a:p>
          <a:p>
            <a:pPr marL="0" indent="0"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分支结点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(Branched Vertex)/</a:t>
            </a:r>
            <a:r>
              <a:rPr lang="zh-CN" altLang="en-US" sz="2000" b="1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内部结点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(Internal n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o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  <a:sym typeface="Arial" panose="020B0604020202020204" pitchFamily="34" charset="0"/>
              </a:rPr>
              <a:t>des)</a:t>
            </a:r>
          </a:p>
        </p:txBody>
      </p:sp>
      <p:graphicFrame>
        <p:nvGraphicFramePr>
          <p:cNvPr id="6" name="内容占位符 13315">
            <a:extLst>
              <a:ext uri="{FF2B5EF4-FFF2-40B4-BE49-F238E27FC236}">
                <a16:creationId xmlns:a16="http://schemas.microsoft.com/office/drawing/2014/main" id="{DC1DC1CE-63F7-42CD-8BB3-6DE7660BC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74763" y="2325014"/>
          <a:ext cx="3684905" cy="3002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057400" imgH="1476375" progId="WPS.Doc.6">
                  <p:embed/>
                </p:oleObj>
              </mc:Choice>
              <mc:Fallback>
                <p:oleObj r:id="rId4" imgW="2057400" imgH="1476375" progId="WPS.Doc.6">
                  <p:embed/>
                  <p:pic>
                    <p:nvPicPr>
                      <p:cNvPr id="6" name="内容占位符 13315">
                        <a:extLst>
                          <a:ext uri="{FF2B5EF4-FFF2-40B4-BE49-F238E27FC236}">
                            <a16:creationId xmlns:a16="http://schemas.microsoft.com/office/drawing/2014/main" id="{DC1DC1CE-63F7-42CD-8BB3-6DE7660BC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74763" y="2325014"/>
                        <a:ext cx="3684905" cy="300291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8924967"/>
      </p:ext>
    </p:extLst>
  </p:cSld>
  <p:clrMapOvr>
    <a:masterClrMapping/>
  </p:clrMapOvr>
  <p:transition spd="slow" advTm="0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4338">
            <a:extLst>
              <a:ext uri="{FF2B5EF4-FFF2-40B4-BE49-F238E27FC236}">
                <a16:creationId xmlns:a16="http://schemas.microsoft.com/office/drawing/2014/main" id="{F41A2671-9E08-4690-8976-E3D55F620AC8}"/>
              </a:ext>
            </a:extLst>
          </p:cNvPr>
          <p:cNvSpPr txBox="1">
            <a:spLocks/>
          </p:cNvSpPr>
          <p:nvPr/>
        </p:nvSpPr>
        <p:spPr>
          <a:xfrm>
            <a:off x="1717457" y="576399"/>
            <a:ext cx="8752840" cy="511302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1000" b="1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性质</a:t>
            </a:r>
            <a:endParaRPr lang="zh-CN" altLang="en-US" sz="1800" b="1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>
              <a:lnSpc>
                <a:spcPct val="150000"/>
              </a:lnSpc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设无向图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G = &lt;V,E&gt;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|V| = n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|E| = 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，下列各命题是等价的：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1.G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连通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而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不含回路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即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是树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2.G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无回路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，且</a:t>
            </a:r>
            <a:r>
              <a:rPr lang="en-US" altLang="zh-CN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m = n-1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3.G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是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连通的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，且</a:t>
            </a:r>
            <a:r>
              <a:rPr lang="en-US" altLang="zh-CN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m = n-1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4.G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无回路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，但在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任二结点之间增加一条新边，就得到惟一的一条基本回路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5.G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是连通的，但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删除</a:t>
            </a:r>
            <a:r>
              <a:rPr lang="en-US" altLang="zh-CN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中任一条边后，便不连通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(n≥2)</a:t>
            </a:r>
          </a:p>
          <a:p>
            <a:pPr marL="263525" indent="6350">
              <a:lnSpc>
                <a:spcPct val="150000"/>
              </a:lnSpc>
              <a:buNone/>
            </a:pP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6.G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中</a:t>
            </a:r>
            <a:r>
              <a:rPr lang="zh-CN" altLang="en-US" sz="2000" dirty="0">
                <a:solidFill>
                  <a:srgbClr val="0070C0"/>
                </a:solidFill>
                <a:latin typeface="Microsoft YaHei" panose="020B0503020204020204" charset="-122"/>
                <a:ea typeface="Microsoft YaHei" panose="020B0503020204020204" charset="-122"/>
              </a:rPr>
              <a:t>每一对结点之间有惟一一条基本通路</a:t>
            </a: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。</a:t>
            </a:r>
            <a:r>
              <a:rPr lang="en-US" altLang="zh-CN" sz="2000" dirty="0">
                <a:latin typeface="Microsoft YaHei" panose="020B0503020204020204" charset="-122"/>
                <a:ea typeface="Microsoft YaHei" panose="020B0503020204020204" charset="-122"/>
              </a:rPr>
              <a:t>(n≥2)</a:t>
            </a:r>
          </a:p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0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zh-CN" sz="24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263525" indent="6350" algn="just">
              <a:lnSpc>
                <a:spcPct val="110000"/>
              </a:lnSpc>
              <a:buFont typeface="Arial" panose="020B0604020202020204" pitchFamily="34" charset="0"/>
              <a:buNone/>
            </a:pPr>
            <a:endParaRPr lang="en-US" altLang="zh-CN" sz="2400" b="1" dirty="0">
              <a:solidFill>
                <a:schemeClr val="accent2"/>
              </a:solidFill>
              <a:latin typeface="Microsoft YaHei" panose="020B0503020204020204" charset="-122"/>
              <a:ea typeface="Microsoft YaHei" panose="020B0503020204020204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75233594"/>
      </p:ext>
    </p:extLst>
  </p:cSld>
  <p:clrMapOvr>
    <a:masterClrMapping/>
  </p:clrMapOvr>
  <p:transition spd="slow" advTm="0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28674">
            <a:extLst>
              <a:ext uri="{FF2B5EF4-FFF2-40B4-BE49-F238E27FC236}">
                <a16:creationId xmlns:a16="http://schemas.microsoft.com/office/drawing/2014/main" id="{B6F3E818-33FE-4718-BE1E-0545EA2E0BCE}"/>
              </a:ext>
            </a:extLst>
          </p:cNvPr>
          <p:cNvSpPr txBox="1">
            <a:spLocks/>
          </p:cNvSpPr>
          <p:nvPr/>
        </p:nvSpPr>
        <p:spPr>
          <a:xfrm>
            <a:off x="1597238" y="1279531"/>
            <a:ext cx="8455025" cy="231648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生成树</a:t>
            </a:r>
          </a:p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若无向图的一个生成子图T是树，则称T为G的</a:t>
            </a:r>
            <a:r>
              <a:rPr lang="zh-CN" altLang="en-US" sz="2000" dirty="0">
                <a:solidFill>
                  <a:srgbClr val="CC3300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生成树</a:t>
            </a: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生成树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2000" baseline="-25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中的边称为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树枝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(Branch)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中不在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2000" baseline="-25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中的边称为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弦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(Chord)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；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altLang="zh-CN" sz="2000" baseline="-25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的所有弦的集合称为生成树的</a:t>
            </a:r>
            <a:r>
              <a:rPr lang="zh-CN" altLang="en-US" sz="2000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补</a:t>
            </a:r>
            <a:r>
              <a:rPr lang="en-US" altLang="zh-CN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(Complement)</a:t>
            </a:r>
            <a:r>
              <a:rPr lang="zh-CN" altLang="en-US" sz="2000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。 </a:t>
            </a:r>
            <a:endParaRPr lang="en-US" altLang="zh-CN" sz="2000" dirty="0">
              <a:solidFill>
                <a:srgbClr val="003399"/>
              </a:solidFill>
              <a:latin typeface="Microsoft YaHei" panose="020B0503020204020204" charset="-122"/>
              <a:ea typeface="Microsoft YaHei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6" name="Group 72">
            <a:extLst>
              <a:ext uri="{FF2B5EF4-FFF2-40B4-BE49-F238E27FC236}">
                <a16:creationId xmlns:a16="http://schemas.microsoft.com/office/drawing/2014/main" id="{6548F6DB-4D7F-4664-B41F-831E69B83F74}"/>
              </a:ext>
            </a:extLst>
          </p:cNvPr>
          <p:cNvGrpSpPr>
            <a:grpSpLocks/>
          </p:cNvGrpSpPr>
          <p:nvPr/>
        </p:nvGrpSpPr>
        <p:grpSpPr bwMode="auto">
          <a:xfrm>
            <a:off x="8732012" y="1045593"/>
            <a:ext cx="2447925" cy="1744663"/>
            <a:chOff x="3546" y="768"/>
            <a:chExt cx="1542" cy="1099"/>
          </a:xfrm>
        </p:grpSpPr>
        <p:sp>
          <p:nvSpPr>
            <p:cNvPr id="7" name="Oval 4">
              <a:extLst>
                <a:ext uri="{FF2B5EF4-FFF2-40B4-BE49-F238E27FC236}">
                  <a16:creationId xmlns:a16="http://schemas.microsoft.com/office/drawing/2014/main" id="{599D3267-BDB6-45B5-B9D3-D1B5148B1A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8" y="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E53F26FE-0F4E-4E51-880A-A629BD369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94AF243-820D-4023-92B0-F976CEDA5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81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Oval 10">
              <a:extLst>
                <a:ext uri="{FF2B5EF4-FFF2-40B4-BE49-F238E27FC236}">
                  <a16:creationId xmlns:a16="http://schemas.microsoft.com/office/drawing/2014/main" id="{AAA4C966-3F8A-49A3-8750-D6DA4C9CF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3" y="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7BDAD90-D780-413F-9BAD-AA07E77C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81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Oval 30">
              <a:extLst>
                <a:ext uri="{FF2B5EF4-FFF2-40B4-BE49-F238E27FC236}">
                  <a16:creationId xmlns:a16="http://schemas.microsoft.com/office/drawing/2014/main" id="{A2EA8EB5-FEF4-4260-84DC-FF1E56C6931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997" y="118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Freeform 31">
              <a:extLst>
                <a:ext uri="{FF2B5EF4-FFF2-40B4-BE49-F238E27FC236}">
                  <a16:creationId xmlns:a16="http://schemas.microsoft.com/office/drawing/2014/main" id="{DF688415-864B-46B4-8CEA-16C61B2DB868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725" y="10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Oval 34">
              <a:extLst>
                <a:ext uri="{FF2B5EF4-FFF2-40B4-BE49-F238E27FC236}">
                  <a16:creationId xmlns:a16="http://schemas.microsoft.com/office/drawing/2014/main" id="{BE936EE5-0F78-462D-AD17-12092727E27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518" y="119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BF553B5B-AC14-4333-9093-8A314C0850DE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246" y="10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Oval 38">
              <a:extLst>
                <a:ext uri="{FF2B5EF4-FFF2-40B4-BE49-F238E27FC236}">
                  <a16:creationId xmlns:a16="http://schemas.microsoft.com/office/drawing/2014/main" id="{D17CEE53-E637-46C0-9992-5FFF555F6CB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029" y="1193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Freeform 39">
              <a:extLst>
                <a:ext uri="{FF2B5EF4-FFF2-40B4-BE49-F238E27FC236}">
                  <a16:creationId xmlns:a16="http://schemas.microsoft.com/office/drawing/2014/main" id="{4CF4F8FF-79CE-4D7F-87A0-AC5E97D388E1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3757" y="102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Oval 41">
              <a:extLst>
                <a:ext uri="{FF2B5EF4-FFF2-40B4-BE49-F238E27FC236}">
                  <a16:creationId xmlns:a16="http://schemas.microsoft.com/office/drawing/2014/main" id="{2A14C468-A658-424F-A4DC-EB1CCF461052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3546" y="1186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Freeform 43">
              <a:extLst>
                <a:ext uri="{FF2B5EF4-FFF2-40B4-BE49-F238E27FC236}">
                  <a16:creationId xmlns:a16="http://schemas.microsoft.com/office/drawing/2014/main" id="{4D85E5AF-610F-4AE3-801C-408BB49A7543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3518" y="102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Freeform 47">
              <a:extLst>
                <a:ext uri="{FF2B5EF4-FFF2-40B4-BE49-F238E27FC236}">
                  <a16:creationId xmlns:a16="http://schemas.microsoft.com/office/drawing/2014/main" id="{85E220D0-A135-498E-A01F-F20501C7EC05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003" y="10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51">
              <a:extLst>
                <a:ext uri="{FF2B5EF4-FFF2-40B4-BE49-F238E27FC236}">
                  <a16:creationId xmlns:a16="http://schemas.microsoft.com/office/drawing/2014/main" id="{606B8DA7-3F66-43F8-BF4F-96586E8918D0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483" y="10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6FEFD426-F842-4F9C-8ED9-36AB498A1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1237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59">
              <a:extLst>
                <a:ext uri="{FF2B5EF4-FFF2-40B4-BE49-F238E27FC236}">
                  <a16:creationId xmlns:a16="http://schemas.microsoft.com/office/drawing/2014/main" id="{79D4EE35-1B19-4382-BF66-685FD5C16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3" y="1240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63">
              <a:extLst>
                <a:ext uri="{FF2B5EF4-FFF2-40B4-BE49-F238E27FC236}">
                  <a16:creationId xmlns:a16="http://schemas.microsoft.com/office/drawing/2014/main" id="{6AE77302-CDE5-4B57-9A2D-EE20C7EC8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231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66">
              <a:extLst>
                <a:ext uri="{FF2B5EF4-FFF2-40B4-BE49-F238E27FC236}">
                  <a16:creationId xmlns:a16="http://schemas.microsoft.com/office/drawing/2014/main" id="{DFEE2059-7D2F-4FD5-B8E9-5BAD0CF94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3" y="1776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Freeform 67">
              <a:extLst>
                <a:ext uri="{FF2B5EF4-FFF2-40B4-BE49-F238E27FC236}">
                  <a16:creationId xmlns:a16="http://schemas.microsoft.com/office/drawing/2014/main" id="{D953CD79-D154-43E8-8853-309DBC66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8" y="1278"/>
              <a:ext cx="231" cy="501"/>
            </a:xfrm>
            <a:custGeom>
              <a:avLst/>
              <a:gdLst>
                <a:gd name="T0" fmla="*/ 231 w 231"/>
                <a:gd name="T1" fmla="*/ 0 h 501"/>
                <a:gd name="T2" fmla="*/ 0 w 231"/>
                <a:gd name="T3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501">
                  <a:moveTo>
                    <a:pt x="231" y="0"/>
                  </a:moveTo>
                  <a:lnTo>
                    <a:pt x="0" y="501"/>
                  </a:lnTo>
                </a:path>
              </a:pathLst>
            </a:custGeom>
            <a:noFill/>
            <a:ln w="12700" cap="sq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Freeform 68">
              <a:extLst>
                <a:ext uri="{FF2B5EF4-FFF2-40B4-BE49-F238E27FC236}">
                  <a16:creationId xmlns:a16="http://schemas.microsoft.com/office/drawing/2014/main" id="{A33BD1FA-F740-4C6B-B724-A14DE6C96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1" y="1269"/>
              <a:ext cx="669" cy="540"/>
            </a:xfrm>
            <a:custGeom>
              <a:avLst/>
              <a:gdLst>
                <a:gd name="T0" fmla="*/ 669 w 669"/>
                <a:gd name="T1" fmla="*/ 0 h 540"/>
                <a:gd name="T2" fmla="*/ 0 w 669"/>
                <a:gd name="T3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9" h="540">
                  <a:moveTo>
                    <a:pt x="669" y="0"/>
                  </a:moveTo>
                  <a:lnTo>
                    <a:pt x="0" y="54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Freeform 69">
              <a:extLst>
                <a:ext uri="{FF2B5EF4-FFF2-40B4-BE49-F238E27FC236}">
                  <a16:creationId xmlns:a16="http://schemas.microsoft.com/office/drawing/2014/main" id="{E632097A-7629-4431-B4DD-6D55AF504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1275"/>
              <a:ext cx="678" cy="516"/>
            </a:xfrm>
            <a:custGeom>
              <a:avLst/>
              <a:gdLst>
                <a:gd name="T0" fmla="*/ 0 w 678"/>
                <a:gd name="T1" fmla="*/ 0 h 516"/>
                <a:gd name="T2" fmla="*/ 678 w 678"/>
                <a:gd name="T3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8" h="516">
                  <a:moveTo>
                    <a:pt x="0" y="0"/>
                  </a:moveTo>
                  <a:lnTo>
                    <a:pt x="678" y="516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" name="Group 50">
            <a:extLst>
              <a:ext uri="{FF2B5EF4-FFF2-40B4-BE49-F238E27FC236}">
                <a16:creationId xmlns:a16="http://schemas.microsoft.com/office/drawing/2014/main" id="{1DAF9C0E-41F9-B326-B35E-38C9DE8A7E2B}"/>
              </a:ext>
            </a:extLst>
          </p:cNvPr>
          <p:cNvGrpSpPr>
            <a:grpSpLocks/>
          </p:cNvGrpSpPr>
          <p:nvPr/>
        </p:nvGrpSpPr>
        <p:grpSpPr bwMode="auto">
          <a:xfrm>
            <a:off x="2039591" y="3513941"/>
            <a:ext cx="2447925" cy="1868488"/>
            <a:chOff x="3882" y="1584"/>
            <a:chExt cx="1542" cy="1177"/>
          </a:xfrm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441AC2B1-B467-B69F-150E-D84B5C49C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4" y="166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6">
              <a:extLst>
                <a:ext uri="{FF2B5EF4-FFF2-40B4-BE49-F238E27FC236}">
                  <a16:creationId xmlns:a16="http://schemas.microsoft.com/office/drawing/2014/main" id="{DF91B909-962B-A578-006E-4AAB96D5C4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166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Freeform 7">
              <a:extLst>
                <a:ext uri="{FF2B5EF4-FFF2-40B4-BE49-F238E27FC236}">
                  <a16:creationId xmlns:a16="http://schemas.microsoft.com/office/drawing/2014/main" id="{52A75C40-2D7E-05AB-6273-91A3F5F6B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170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8">
              <a:extLst>
                <a:ext uri="{FF2B5EF4-FFF2-40B4-BE49-F238E27FC236}">
                  <a16:creationId xmlns:a16="http://schemas.microsoft.com/office/drawing/2014/main" id="{60321601-2D0E-3E81-04EF-9C68581BC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9" y="166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64" name="Freeform 9">
              <a:extLst>
                <a:ext uri="{FF2B5EF4-FFF2-40B4-BE49-F238E27FC236}">
                  <a16:creationId xmlns:a16="http://schemas.microsoft.com/office/drawing/2014/main" id="{4676F82F-C7FA-F187-520C-BF6C3174A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6" y="170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65" name="Oval 10">
              <a:extLst>
                <a:ext uri="{FF2B5EF4-FFF2-40B4-BE49-F238E27FC236}">
                  <a16:creationId xmlns:a16="http://schemas.microsoft.com/office/drawing/2014/main" id="{7E619EB4-37A3-1930-C1BC-5956895BC29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5333" y="207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68" name="Freeform 11">
              <a:extLst>
                <a:ext uri="{FF2B5EF4-FFF2-40B4-BE49-F238E27FC236}">
                  <a16:creationId xmlns:a16="http://schemas.microsoft.com/office/drawing/2014/main" id="{4F17AA28-1520-A36B-2FE6-0A1424AE744A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5061" y="1913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69" name="Oval 12">
              <a:extLst>
                <a:ext uri="{FF2B5EF4-FFF2-40B4-BE49-F238E27FC236}">
                  <a16:creationId xmlns:a16="http://schemas.microsoft.com/office/drawing/2014/main" id="{85348E6E-9A98-1314-4AD1-42AE4A7414E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854" y="208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0" name="Freeform 13">
              <a:extLst>
                <a:ext uri="{FF2B5EF4-FFF2-40B4-BE49-F238E27FC236}">
                  <a16:creationId xmlns:a16="http://schemas.microsoft.com/office/drawing/2014/main" id="{DA81A399-B7C1-67AF-2D4F-090ECA422DBF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582" y="19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1" name="Oval 14">
              <a:extLst>
                <a:ext uri="{FF2B5EF4-FFF2-40B4-BE49-F238E27FC236}">
                  <a16:creationId xmlns:a16="http://schemas.microsoft.com/office/drawing/2014/main" id="{9A1C1A17-04E4-4E10-9027-7099DDEF9E9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365" y="208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2" name="Freeform 15">
              <a:extLst>
                <a:ext uri="{FF2B5EF4-FFF2-40B4-BE49-F238E27FC236}">
                  <a16:creationId xmlns:a16="http://schemas.microsoft.com/office/drawing/2014/main" id="{955544B1-AD3F-5FD8-BD9B-8FB38BCA17C5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093" y="192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3" name="Oval 16">
              <a:extLst>
                <a:ext uri="{FF2B5EF4-FFF2-40B4-BE49-F238E27FC236}">
                  <a16:creationId xmlns:a16="http://schemas.microsoft.com/office/drawing/2014/main" id="{B4AA1A2A-C97A-DEE7-CFB9-6205E9E9C0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3882" y="208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4" name="Freeform 17">
              <a:extLst>
                <a:ext uri="{FF2B5EF4-FFF2-40B4-BE49-F238E27FC236}">
                  <a16:creationId xmlns:a16="http://schemas.microsoft.com/office/drawing/2014/main" id="{EDC893EC-B916-A146-3BA3-147419296C0E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3854" y="1916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5" name="Freeform 18">
              <a:extLst>
                <a:ext uri="{FF2B5EF4-FFF2-40B4-BE49-F238E27FC236}">
                  <a16:creationId xmlns:a16="http://schemas.microsoft.com/office/drawing/2014/main" id="{7F5E167E-7312-49F0-D325-0BDE4B2A4998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339" y="19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6" name="Freeform 19">
              <a:extLst>
                <a:ext uri="{FF2B5EF4-FFF2-40B4-BE49-F238E27FC236}">
                  <a16:creationId xmlns:a16="http://schemas.microsoft.com/office/drawing/2014/main" id="{2E4DF522-BABA-5E2C-B8B6-8BF11728DEAF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819" y="191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7" name="Freeform 20">
              <a:extLst>
                <a:ext uri="{FF2B5EF4-FFF2-40B4-BE49-F238E27FC236}">
                  <a16:creationId xmlns:a16="http://schemas.microsoft.com/office/drawing/2014/main" id="{F9CDCF21-A8F2-B77E-2576-CB7F338D2C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3" y="2131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8" name="Freeform 21">
              <a:extLst>
                <a:ext uri="{FF2B5EF4-FFF2-40B4-BE49-F238E27FC236}">
                  <a16:creationId xmlns:a16="http://schemas.microsoft.com/office/drawing/2014/main" id="{B33CACB4-D07D-8B30-251A-DFA17B1E0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" y="213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79" name="Freeform 22">
              <a:extLst>
                <a:ext uri="{FF2B5EF4-FFF2-40B4-BE49-F238E27FC236}">
                  <a16:creationId xmlns:a16="http://schemas.microsoft.com/office/drawing/2014/main" id="{A3ECEC2B-9221-AFF8-C648-493D971733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212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80" name="Oval 23">
              <a:extLst>
                <a:ext uri="{FF2B5EF4-FFF2-40B4-BE49-F238E27FC236}">
                  <a16:creationId xmlns:a16="http://schemas.microsoft.com/office/drawing/2014/main" id="{7B08A780-7BB4-AABF-4A8A-245CFB5EA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9" y="267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81" name="Freeform 24">
              <a:extLst>
                <a:ext uri="{FF2B5EF4-FFF2-40B4-BE49-F238E27FC236}">
                  <a16:creationId xmlns:a16="http://schemas.microsoft.com/office/drawing/2014/main" id="{8A5B2A04-55D1-D28D-A174-AE44EA5BB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" y="2172"/>
              <a:ext cx="231" cy="501"/>
            </a:xfrm>
            <a:custGeom>
              <a:avLst/>
              <a:gdLst>
                <a:gd name="T0" fmla="*/ 231 w 231"/>
                <a:gd name="T1" fmla="*/ 0 h 501"/>
                <a:gd name="T2" fmla="*/ 0 w 231"/>
                <a:gd name="T3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501">
                  <a:moveTo>
                    <a:pt x="231" y="0"/>
                  </a:moveTo>
                  <a:lnTo>
                    <a:pt x="0" y="501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82" name="Freeform 25">
              <a:extLst>
                <a:ext uri="{FF2B5EF4-FFF2-40B4-BE49-F238E27FC236}">
                  <a16:creationId xmlns:a16="http://schemas.microsoft.com/office/drawing/2014/main" id="{25EDE3CB-584B-0089-9AC8-D5303F45D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2163"/>
              <a:ext cx="669" cy="540"/>
            </a:xfrm>
            <a:custGeom>
              <a:avLst/>
              <a:gdLst>
                <a:gd name="T0" fmla="*/ 669 w 669"/>
                <a:gd name="T1" fmla="*/ 0 h 540"/>
                <a:gd name="T2" fmla="*/ 0 w 669"/>
                <a:gd name="T3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9" h="540">
                  <a:moveTo>
                    <a:pt x="669" y="0"/>
                  </a:moveTo>
                  <a:lnTo>
                    <a:pt x="0" y="54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083" name="Freeform 26">
              <a:extLst>
                <a:ext uri="{FF2B5EF4-FFF2-40B4-BE49-F238E27FC236}">
                  <a16:creationId xmlns:a16="http://schemas.microsoft.com/office/drawing/2014/main" id="{812DB712-C66B-8AB9-DDFA-CB3005EFC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169"/>
              <a:ext cx="678" cy="516"/>
            </a:xfrm>
            <a:custGeom>
              <a:avLst/>
              <a:gdLst>
                <a:gd name="T0" fmla="*/ 0 w 678"/>
                <a:gd name="T1" fmla="*/ 0 h 516"/>
                <a:gd name="T2" fmla="*/ 678 w 678"/>
                <a:gd name="T3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8" h="516">
                  <a:moveTo>
                    <a:pt x="0" y="0"/>
                  </a:moveTo>
                  <a:lnTo>
                    <a:pt x="678" y="516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88084" name="Group 30">
              <a:extLst>
                <a:ext uri="{FF2B5EF4-FFF2-40B4-BE49-F238E27FC236}">
                  <a16:creationId xmlns:a16="http://schemas.microsoft.com/office/drawing/2014/main" id="{F1211384-1F33-AAD2-A59D-E536C683A087}"/>
                </a:ext>
              </a:extLst>
            </p:cNvPr>
            <p:cNvGrpSpPr>
              <a:grpSpLocks/>
            </p:cNvGrpSpPr>
            <p:nvPr/>
          </p:nvGrpSpPr>
          <p:grpSpPr bwMode="auto">
            <a:xfrm rot="2400000">
              <a:off x="4188" y="2316"/>
              <a:ext cx="240" cy="258"/>
              <a:chOff x="4944" y="894"/>
              <a:chExt cx="240" cy="288"/>
            </a:xfrm>
          </p:grpSpPr>
          <p:sp>
            <p:nvSpPr>
              <p:cNvPr id="88103" name="Line 28">
                <a:extLst>
                  <a:ext uri="{FF2B5EF4-FFF2-40B4-BE49-F238E27FC236}">
                    <a16:creationId xmlns:a16="http://schemas.microsoft.com/office/drawing/2014/main" id="{338B7324-1E6B-505A-1CF7-EC4E7AB862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104" name="Line 29">
                <a:extLst>
                  <a:ext uri="{FF2B5EF4-FFF2-40B4-BE49-F238E27FC236}">
                    <a16:creationId xmlns:a16="http://schemas.microsoft.com/office/drawing/2014/main" id="{09651993-C6D1-30B5-5020-1FA9CE330E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85" name="Group 31">
              <a:extLst>
                <a:ext uri="{FF2B5EF4-FFF2-40B4-BE49-F238E27FC236}">
                  <a16:creationId xmlns:a16="http://schemas.microsoft.com/office/drawing/2014/main" id="{59DE8489-9D9B-D957-72A9-ABFE8838ED50}"/>
                </a:ext>
              </a:extLst>
            </p:cNvPr>
            <p:cNvGrpSpPr>
              <a:grpSpLocks/>
            </p:cNvGrpSpPr>
            <p:nvPr/>
          </p:nvGrpSpPr>
          <p:grpSpPr bwMode="auto">
            <a:xfrm rot="3600000">
              <a:off x="4131" y="1709"/>
              <a:ext cx="240" cy="288"/>
              <a:chOff x="4944" y="894"/>
              <a:chExt cx="240" cy="288"/>
            </a:xfrm>
          </p:grpSpPr>
          <p:sp>
            <p:nvSpPr>
              <p:cNvPr id="88101" name="Line 32">
                <a:extLst>
                  <a:ext uri="{FF2B5EF4-FFF2-40B4-BE49-F238E27FC236}">
                    <a16:creationId xmlns:a16="http://schemas.microsoft.com/office/drawing/2014/main" id="{01C06C59-37F0-5BFA-4AEC-3C052447D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102" name="Line 33">
                <a:extLst>
                  <a:ext uri="{FF2B5EF4-FFF2-40B4-BE49-F238E27FC236}">
                    <a16:creationId xmlns:a16="http://schemas.microsoft.com/office/drawing/2014/main" id="{31E9D1AF-FC85-F17C-2E2F-7DE7B20C9B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86" name="Group 34">
              <a:extLst>
                <a:ext uri="{FF2B5EF4-FFF2-40B4-BE49-F238E27FC236}">
                  <a16:creationId xmlns:a16="http://schemas.microsoft.com/office/drawing/2014/main" id="{C9383132-7FA4-4434-EF54-07EC1AFE5542}"/>
                </a:ext>
              </a:extLst>
            </p:cNvPr>
            <p:cNvGrpSpPr>
              <a:grpSpLocks/>
            </p:cNvGrpSpPr>
            <p:nvPr/>
          </p:nvGrpSpPr>
          <p:grpSpPr bwMode="auto">
            <a:xfrm rot="3600000">
              <a:off x="4686" y="1827"/>
              <a:ext cx="240" cy="288"/>
              <a:chOff x="4944" y="894"/>
              <a:chExt cx="240" cy="288"/>
            </a:xfrm>
          </p:grpSpPr>
          <p:sp>
            <p:nvSpPr>
              <p:cNvPr id="88099" name="Line 35">
                <a:extLst>
                  <a:ext uri="{FF2B5EF4-FFF2-40B4-BE49-F238E27FC236}">
                    <a16:creationId xmlns:a16="http://schemas.microsoft.com/office/drawing/2014/main" id="{D2394098-AA55-BA46-6968-EC7808FEB3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100" name="Line 36">
                <a:extLst>
                  <a:ext uri="{FF2B5EF4-FFF2-40B4-BE49-F238E27FC236}">
                    <a16:creationId xmlns:a16="http://schemas.microsoft.com/office/drawing/2014/main" id="{5DC7121F-82EA-6AED-3B59-68C37B7B8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87" name="Group 37">
              <a:extLst>
                <a:ext uri="{FF2B5EF4-FFF2-40B4-BE49-F238E27FC236}">
                  <a16:creationId xmlns:a16="http://schemas.microsoft.com/office/drawing/2014/main" id="{B76BAC1F-4B05-3B7C-9E00-6BEA69486BF3}"/>
                </a:ext>
              </a:extLst>
            </p:cNvPr>
            <p:cNvGrpSpPr>
              <a:grpSpLocks/>
            </p:cNvGrpSpPr>
            <p:nvPr/>
          </p:nvGrpSpPr>
          <p:grpSpPr bwMode="auto">
            <a:xfrm rot="3600000">
              <a:off x="5112" y="1734"/>
              <a:ext cx="240" cy="288"/>
              <a:chOff x="4944" y="894"/>
              <a:chExt cx="240" cy="288"/>
            </a:xfrm>
          </p:grpSpPr>
          <p:sp>
            <p:nvSpPr>
              <p:cNvPr id="88097" name="Line 38">
                <a:extLst>
                  <a:ext uri="{FF2B5EF4-FFF2-40B4-BE49-F238E27FC236}">
                    <a16:creationId xmlns:a16="http://schemas.microsoft.com/office/drawing/2014/main" id="{CC09A350-49C2-6E84-5021-35B83F01A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098" name="Line 39">
                <a:extLst>
                  <a:ext uri="{FF2B5EF4-FFF2-40B4-BE49-F238E27FC236}">
                    <a16:creationId xmlns:a16="http://schemas.microsoft.com/office/drawing/2014/main" id="{4D7A46A5-0FB8-EB75-DA93-5E9CA64A72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88" name="Group 40">
              <a:extLst>
                <a:ext uri="{FF2B5EF4-FFF2-40B4-BE49-F238E27FC236}">
                  <a16:creationId xmlns:a16="http://schemas.microsoft.com/office/drawing/2014/main" id="{FBC59FFB-C24C-8D18-E0EA-C5DD85B0F7AE}"/>
                </a:ext>
              </a:extLst>
            </p:cNvPr>
            <p:cNvGrpSpPr>
              <a:grpSpLocks/>
            </p:cNvGrpSpPr>
            <p:nvPr/>
          </p:nvGrpSpPr>
          <p:grpSpPr bwMode="auto">
            <a:xfrm rot="19200000">
              <a:off x="4908" y="2310"/>
              <a:ext cx="240" cy="258"/>
              <a:chOff x="4944" y="894"/>
              <a:chExt cx="240" cy="288"/>
            </a:xfrm>
          </p:grpSpPr>
          <p:sp>
            <p:nvSpPr>
              <p:cNvPr id="88095" name="Line 41">
                <a:extLst>
                  <a:ext uri="{FF2B5EF4-FFF2-40B4-BE49-F238E27FC236}">
                    <a16:creationId xmlns:a16="http://schemas.microsoft.com/office/drawing/2014/main" id="{468AE7C5-C29A-9734-B8ED-5BEA2CF8A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096" name="Line 42">
                <a:extLst>
                  <a:ext uri="{FF2B5EF4-FFF2-40B4-BE49-F238E27FC236}">
                    <a16:creationId xmlns:a16="http://schemas.microsoft.com/office/drawing/2014/main" id="{1761CDF6-798E-509C-8719-AC28292EAF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89" name="Group 43">
              <a:extLst>
                <a:ext uri="{FF2B5EF4-FFF2-40B4-BE49-F238E27FC236}">
                  <a16:creationId xmlns:a16="http://schemas.microsoft.com/office/drawing/2014/main" id="{0EE4B306-78D7-23BB-E188-AE57FBB62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68" y="2007"/>
              <a:ext cx="240" cy="258"/>
              <a:chOff x="4944" y="894"/>
              <a:chExt cx="240" cy="288"/>
            </a:xfrm>
          </p:grpSpPr>
          <p:sp>
            <p:nvSpPr>
              <p:cNvPr id="88093" name="Line 44">
                <a:extLst>
                  <a:ext uri="{FF2B5EF4-FFF2-40B4-BE49-F238E27FC236}">
                    <a16:creationId xmlns:a16="http://schemas.microsoft.com/office/drawing/2014/main" id="{21B7C7DB-4A1C-2396-C48D-F0FEEFA1F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094" name="Line 45">
                <a:extLst>
                  <a:ext uri="{FF2B5EF4-FFF2-40B4-BE49-F238E27FC236}">
                    <a16:creationId xmlns:a16="http://schemas.microsoft.com/office/drawing/2014/main" id="{E24D1E72-64F5-7867-04AD-A36D02454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88090" name="Group 46">
              <a:extLst>
                <a:ext uri="{FF2B5EF4-FFF2-40B4-BE49-F238E27FC236}">
                  <a16:creationId xmlns:a16="http://schemas.microsoft.com/office/drawing/2014/main" id="{5C23987A-3C8D-3F5F-E3BD-8B789027B8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" y="1584"/>
              <a:ext cx="240" cy="258"/>
              <a:chOff x="4944" y="894"/>
              <a:chExt cx="240" cy="288"/>
            </a:xfrm>
          </p:grpSpPr>
          <p:sp>
            <p:nvSpPr>
              <p:cNvPr id="88091" name="Line 47">
                <a:extLst>
                  <a:ext uri="{FF2B5EF4-FFF2-40B4-BE49-F238E27FC236}">
                    <a16:creationId xmlns:a16="http://schemas.microsoft.com/office/drawing/2014/main" id="{CD2F934B-7621-6FEB-B592-0A9E2DB045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912"/>
                <a:ext cx="240" cy="240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092" name="Line 48">
                <a:extLst>
                  <a:ext uri="{FF2B5EF4-FFF2-40B4-BE49-F238E27FC236}">
                    <a16:creationId xmlns:a16="http://schemas.microsoft.com/office/drawing/2014/main" id="{38FF9E1D-C4A9-6091-DCD2-B6EAD0AE25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992" y="894"/>
                <a:ext cx="144" cy="288"/>
              </a:xfrm>
              <a:prstGeom prst="line">
                <a:avLst/>
              </a:prstGeom>
              <a:noFill/>
              <a:ln w="12700" cap="sq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8105" name="Group 87">
            <a:extLst>
              <a:ext uri="{FF2B5EF4-FFF2-40B4-BE49-F238E27FC236}">
                <a16:creationId xmlns:a16="http://schemas.microsoft.com/office/drawing/2014/main" id="{9A134598-1B59-7370-61CB-4CD67902025B}"/>
              </a:ext>
            </a:extLst>
          </p:cNvPr>
          <p:cNvGrpSpPr>
            <a:grpSpLocks/>
          </p:cNvGrpSpPr>
          <p:nvPr/>
        </p:nvGrpSpPr>
        <p:grpSpPr bwMode="auto">
          <a:xfrm>
            <a:off x="6185937" y="3360747"/>
            <a:ext cx="2657475" cy="2052638"/>
            <a:chOff x="3600" y="2158"/>
            <a:chExt cx="1674" cy="1293"/>
          </a:xfrm>
        </p:grpSpPr>
        <p:sp>
          <p:nvSpPr>
            <p:cNvPr id="88106" name="Oval 5">
              <a:extLst>
                <a:ext uri="{FF2B5EF4-FFF2-40B4-BE49-F238E27FC236}">
                  <a16:creationId xmlns:a16="http://schemas.microsoft.com/office/drawing/2014/main" id="{B7169845-7708-7EA4-9EDF-F41B9ABE5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235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07" name="Oval 6">
              <a:extLst>
                <a:ext uri="{FF2B5EF4-FFF2-40B4-BE49-F238E27FC236}">
                  <a16:creationId xmlns:a16="http://schemas.microsoft.com/office/drawing/2014/main" id="{C19AFE85-0548-51E6-3801-A689FEA8F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235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08" name="Freeform 7">
              <a:extLst>
                <a:ext uri="{FF2B5EF4-FFF2-40B4-BE49-F238E27FC236}">
                  <a16:creationId xmlns:a16="http://schemas.microsoft.com/office/drawing/2014/main" id="{0A02FDF0-4D51-C58B-235D-EE9F0BDB9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39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09" name="Oval 8">
              <a:extLst>
                <a:ext uri="{FF2B5EF4-FFF2-40B4-BE49-F238E27FC236}">
                  <a16:creationId xmlns:a16="http://schemas.microsoft.com/office/drawing/2014/main" id="{5502E468-ED8F-B1AE-F233-5E834AEF4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5" y="2352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0" name="Freeform 9">
              <a:extLst>
                <a:ext uri="{FF2B5EF4-FFF2-40B4-BE49-F238E27FC236}">
                  <a16:creationId xmlns:a16="http://schemas.microsoft.com/office/drawing/2014/main" id="{28869AAF-A19F-F9DD-B6A1-15045CD18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398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1" name="Oval 10">
              <a:extLst>
                <a:ext uri="{FF2B5EF4-FFF2-40B4-BE49-F238E27FC236}">
                  <a16:creationId xmlns:a16="http://schemas.microsoft.com/office/drawing/2014/main" id="{8C306D32-D392-9602-FA2C-DA64652E29D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5099" y="2768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2" name="Freeform 11">
              <a:extLst>
                <a:ext uri="{FF2B5EF4-FFF2-40B4-BE49-F238E27FC236}">
                  <a16:creationId xmlns:a16="http://schemas.microsoft.com/office/drawing/2014/main" id="{3405229A-DAB3-4B58-E5E5-D924E3F32FB5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827" y="2603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3" name="Oval 12">
              <a:extLst>
                <a:ext uri="{FF2B5EF4-FFF2-40B4-BE49-F238E27FC236}">
                  <a16:creationId xmlns:a16="http://schemas.microsoft.com/office/drawing/2014/main" id="{F298F361-0CCB-E734-73A6-E85994DAE1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620" y="2774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4" name="Freeform 13">
              <a:extLst>
                <a:ext uri="{FF2B5EF4-FFF2-40B4-BE49-F238E27FC236}">
                  <a16:creationId xmlns:a16="http://schemas.microsoft.com/office/drawing/2014/main" id="{E0480EB8-EC5C-F990-BA54-6C9AE2A22D63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4348" y="260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5" name="Oval 14">
              <a:extLst>
                <a:ext uri="{FF2B5EF4-FFF2-40B4-BE49-F238E27FC236}">
                  <a16:creationId xmlns:a16="http://schemas.microsoft.com/office/drawing/2014/main" id="{BB1CCAE9-C26C-816F-A25A-585BF65BAF7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3600000">
              <a:off x="4131" y="2777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6" name="Freeform 15">
              <a:extLst>
                <a:ext uri="{FF2B5EF4-FFF2-40B4-BE49-F238E27FC236}">
                  <a16:creationId xmlns:a16="http://schemas.microsoft.com/office/drawing/2014/main" id="{CAB21092-FFF1-2F45-7B3B-1AE71E70F3FB}"/>
                </a:ext>
              </a:extLst>
            </p:cNvPr>
            <p:cNvSpPr>
              <a:spLocks/>
            </p:cNvSpPr>
            <p:nvPr/>
          </p:nvSpPr>
          <p:spPr bwMode="auto">
            <a:xfrm rot="3600000">
              <a:off x="3859" y="261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7" name="Oval 16">
              <a:extLst>
                <a:ext uri="{FF2B5EF4-FFF2-40B4-BE49-F238E27FC236}">
                  <a16:creationId xmlns:a16="http://schemas.microsoft.com/office/drawing/2014/main" id="{081AD305-296E-1F1D-B00F-4BB9E27BB5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8000000">
              <a:off x="3648" y="277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8" name="Freeform 17">
              <a:extLst>
                <a:ext uri="{FF2B5EF4-FFF2-40B4-BE49-F238E27FC236}">
                  <a16:creationId xmlns:a16="http://schemas.microsoft.com/office/drawing/2014/main" id="{756C3D1F-EACE-81DB-58E2-93DB9967E823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3620" y="2606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19" name="Freeform 18">
              <a:extLst>
                <a:ext uri="{FF2B5EF4-FFF2-40B4-BE49-F238E27FC236}">
                  <a16:creationId xmlns:a16="http://schemas.microsoft.com/office/drawing/2014/main" id="{B6665A81-787C-BE18-EE38-86F962778B40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105" y="260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0" name="Freeform 19">
              <a:extLst>
                <a:ext uri="{FF2B5EF4-FFF2-40B4-BE49-F238E27FC236}">
                  <a16:creationId xmlns:a16="http://schemas.microsoft.com/office/drawing/2014/main" id="{A72E72C6-B822-CD0E-E753-2DC603035648}"/>
                </a:ext>
              </a:extLst>
            </p:cNvPr>
            <p:cNvSpPr>
              <a:spLocks/>
            </p:cNvSpPr>
            <p:nvPr/>
          </p:nvSpPr>
          <p:spPr bwMode="auto">
            <a:xfrm rot="18000000">
              <a:off x="4585" y="2609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1" name="Freeform 20">
              <a:extLst>
                <a:ext uri="{FF2B5EF4-FFF2-40B4-BE49-F238E27FC236}">
                  <a16:creationId xmlns:a16="http://schemas.microsoft.com/office/drawing/2014/main" id="{8FDD119E-2C23-0AA6-4FD6-43A5DCB9F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832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2" name="Freeform 21">
              <a:extLst>
                <a:ext uri="{FF2B5EF4-FFF2-40B4-BE49-F238E27FC236}">
                  <a16:creationId xmlns:a16="http://schemas.microsoft.com/office/drawing/2014/main" id="{AA28904A-EF77-CF79-6E49-6D4672670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2824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3" name="Freeform 22">
              <a:extLst>
                <a:ext uri="{FF2B5EF4-FFF2-40B4-BE49-F238E27FC236}">
                  <a16:creationId xmlns:a16="http://schemas.microsoft.com/office/drawing/2014/main" id="{D231DE48-E252-9F55-4B24-E8647E7DE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815"/>
              <a:ext cx="392" cy="2"/>
            </a:xfrm>
            <a:custGeom>
              <a:avLst/>
              <a:gdLst>
                <a:gd name="T0" fmla="*/ 0 w 392"/>
                <a:gd name="T1" fmla="*/ 2 h 2"/>
                <a:gd name="T2" fmla="*/ 392 w 392"/>
                <a:gd name="T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92" h="2">
                  <a:moveTo>
                    <a:pt x="0" y="2"/>
                  </a:moveTo>
                  <a:lnTo>
                    <a:pt x="392" y="0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4" name="Oval 23">
              <a:extLst>
                <a:ext uri="{FF2B5EF4-FFF2-40B4-BE49-F238E27FC236}">
                  <a16:creationId xmlns:a16="http://schemas.microsoft.com/office/drawing/2014/main" id="{9C8E1486-4D50-8558-861E-0BD6E9F90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" y="3360"/>
              <a:ext cx="91" cy="91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5" name="Freeform 24">
              <a:extLst>
                <a:ext uri="{FF2B5EF4-FFF2-40B4-BE49-F238E27FC236}">
                  <a16:creationId xmlns:a16="http://schemas.microsoft.com/office/drawing/2014/main" id="{AA7E8B51-7656-74EE-6DDD-837255547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0" y="2862"/>
              <a:ext cx="231" cy="501"/>
            </a:xfrm>
            <a:custGeom>
              <a:avLst/>
              <a:gdLst>
                <a:gd name="T0" fmla="*/ 231 w 231"/>
                <a:gd name="T1" fmla="*/ 0 h 501"/>
                <a:gd name="T2" fmla="*/ 0 w 231"/>
                <a:gd name="T3" fmla="*/ 501 h 5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31" h="501">
                  <a:moveTo>
                    <a:pt x="231" y="0"/>
                  </a:moveTo>
                  <a:lnTo>
                    <a:pt x="0" y="501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6" name="Freeform 25">
              <a:extLst>
                <a:ext uri="{FF2B5EF4-FFF2-40B4-BE49-F238E27FC236}">
                  <a16:creationId xmlns:a16="http://schemas.microsoft.com/office/drawing/2014/main" id="{058C2736-AA72-BBED-001D-51F7D83BB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3" y="2853"/>
              <a:ext cx="669" cy="540"/>
            </a:xfrm>
            <a:custGeom>
              <a:avLst/>
              <a:gdLst>
                <a:gd name="T0" fmla="*/ 669 w 669"/>
                <a:gd name="T1" fmla="*/ 0 h 540"/>
                <a:gd name="T2" fmla="*/ 0 w 669"/>
                <a:gd name="T3" fmla="*/ 54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9" h="540">
                  <a:moveTo>
                    <a:pt x="669" y="0"/>
                  </a:moveTo>
                  <a:lnTo>
                    <a:pt x="0" y="54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7" name="Freeform 26">
              <a:extLst>
                <a:ext uri="{FF2B5EF4-FFF2-40B4-BE49-F238E27FC236}">
                  <a16:creationId xmlns:a16="http://schemas.microsoft.com/office/drawing/2014/main" id="{4F4CBB8B-086A-CC29-E850-1B7E328338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2859"/>
              <a:ext cx="678" cy="516"/>
            </a:xfrm>
            <a:custGeom>
              <a:avLst/>
              <a:gdLst>
                <a:gd name="T0" fmla="*/ 0 w 678"/>
                <a:gd name="T1" fmla="*/ 0 h 516"/>
                <a:gd name="T2" fmla="*/ 678 w 678"/>
                <a:gd name="T3" fmla="*/ 516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78" h="516">
                  <a:moveTo>
                    <a:pt x="0" y="0"/>
                  </a:moveTo>
                  <a:lnTo>
                    <a:pt x="678" y="516"/>
                  </a:lnTo>
                </a:path>
              </a:pathLst>
            </a:custGeom>
            <a:noFill/>
            <a:ln w="254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128" name="Text Box 73">
              <a:extLst>
                <a:ext uri="{FF2B5EF4-FFF2-40B4-BE49-F238E27FC236}">
                  <a16:creationId xmlns:a16="http://schemas.microsoft.com/office/drawing/2014/main" id="{DD38A303-3C08-5C6A-1DBD-54805B54D7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4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</a:t>
              </a:r>
              <a:endParaRPr lang="en-US" altLang="zh-CN"/>
            </a:p>
          </p:txBody>
        </p:sp>
        <p:sp>
          <p:nvSpPr>
            <p:cNvPr id="88129" name="Text Box 74">
              <a:extLst>
                <a:ext uri="{FF2B5EF4-FFF2-40B4-BE49-F238E27FC236}">
                  <a16:creationId xmlns:a16="http://schemas.microsoft.com/office/drawing/2014/main" id="{E5A8C579-C68D-D8FD-8DB5-B9D4B3F56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2" y="2746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2</a:t>
              </a:r>
              <a:endParaRPr lang="en-US" altLang="zh-CN"/>
            </a:p>
          </p:txBody>
        </p:sp>
        <p:sp>
          <p:nvSpPr>
            <p:cNvPr id="88130" name="Text Box 75">
              <a:extLst>
                <a:ext uri="{FF2B5EF4-FFF2-40B4-BE49-F238E27FC236}">
                  <a16:creationId xmlns:a16="http://schemas.microsoft.com/office/drawing/2014/main" id="{ADA6D198-A12B-B92E-2901-7FACB7E91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442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3</a:t>
              </a:r>
              <a:endParaRPr lang="en-US" altLang="zh-CN"/>
            </a:p>
          </p:txBody>
        </p:sp>
        <p:sp>
          <p:nvSpPr>
            <p:cNvPr id="88131" name="Text Box 76">
              <a:extLst>
                <a:ext uri="{FF2B5EF4-FFF2-40B4-BE49-F238E27FC236}">
                  <a16:creationId xmlns:a16="http://schemas.microsoft.com/office/drawing/2014/main" id="{8F5D31FB-54FC-C056-6887-C949261B1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216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4</a:t>
              </a:r>
              <a:endParaRPr lang="en-US" altLang="zh-CN"/>
            </a:p>
          </p:txBody>
        </p:sp>
        <p:sp>
          <p:nvSpPr>
            <p:cNvPr id="88132" name="Text Box 77">
              <a:extLst>
                <a:ext uri="{FF2B5EF4-FFF2-40B4-BE49-F238E27FC236}">
                  <a16:creationId xmlns:a16="http://schemas.microsoft.com/office/drawing/2014/main" id="{9818CBD7-3D17-3E7F-104F-0C658B93E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0" y="24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5</a:t>
              </a:r>
              <a:endParaRPr lang="en-US" altLang="zh-CN"/>
            </a:p>
          </p:txBody>
        </p:sp>
        <p:sp>
          <p:nvSpPr>
            <p:cNvPr id="88133" name="Text Box 78">
              <a:extLst>
                <a:ext uri="{FF2B5EF4-FFF2-40B4-BE49-F238E27FC236}">
                  <a16:creationId xmlns:a16="http://schemas.microsoft.com/office/drawing/2014/main" id="{11AD5E6D-19B3-9B7F-2B26-663767B2A9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27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6</a:t>
              </a:r>
              <a:endParaRPr lang="en-US" altLang="zh-CN"/>
            </a:p>
          </p:txBody>
        </p:sp>
        <p:sp>
          <p:nvSpPr>
            <p:cNvPr id="88134" name="Text Box 79">
              <a:extLst>
                <a:ext uri="{FF2B5EF4-FFF2-40B4-BE49-F238E27FC236}">
                  <a16:creationId xmlns:a16="http://schemas.microsoft.com/office/drawing/2014/main" id="{C133C6E5-8D81-4AEF-F1EA-6EA56E97F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44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7</a:t>
              </a:r>
              <a:endParaRPr lang="en-US" altLang="zh-CN"/>
            </a:p>
          </p:txBody>
        </p:sp>
        <p:sp>
          <p:nvSpPr>
            <p:cNvPr id="88135" name="Text Box 80">
              <a:extLst>
                <a:ext uri="{FF2B5EF4-FFF2-40B4-BE49-F238E27FC236}">
                  <a16:creationId xmlns:a16="http://schemas.microsoft.com/office/drawing/2014/main" id="{B220E54C-C931-F011-65B2-6010006C3E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2158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8</a:t>
              </a:r>
              <a:endParaRPr lang="en-US" altLang="zh-CN"/>
            </a:p>
          </p:txBody>
        </p:sp>
        <p:sp>
          <p:nvSpPr>
            <p:cNvPr id="88136" name="Text Box 81">
              <a:extLst>
                <a:ext uri="{FF2B5EF4-FFF2-40B4-BE49-F238E27FC236}">
                  <a16:creationId xmlns:a16="http://schemas.microsoft.com/office/drawing/2014/main" id="{C45C1B34-B65F-7D70-41BA-22D443F8F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4" y="2472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9</a:t>
              </a:r>
              <a:endParaRPr lang="en-US" altLang="zh-CN"/>
            </a:p>
          </p:txBody>
        </p:sp>
        <p:sp>
          <p:nvSpPr>
            <p:cNvPr id="88137" name="Text Box 82">
              <a:extLst>
                <a:ext uri="{FF2B5EF4-FFF2-40B4-BE49-F238E27FC236}">
                  <a16:creationId xmlns:a16="http://schemas.microsoft.com/office/drawing/2014/main" id="{79C606F7-A38B-5940-352D-122D700F0A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274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10</a:t>
              </a:r>
              <a:endParaRPr lang="en-US" altLang="zh-CN"/>
            </a:p>
          </p:txBody>
        </p:sp>
        <p:sp>
          <p:nvSpPr>
            <p:cNvPr id="88138" name="Text Box 83">
              <a:extLst>
                <a:ext uri="{FF2B5EF4-FFF2-40B4-BE49-F238E27FC236}">
                  <a16:creationId xmlns:a16="http://schemas.microsoft.com/office/drawing/2014/main" id="{2A4CD49C-6ED1-2497-6B3E-89F6CFA81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4" y="2460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11</a:t>
              </a:r>
              <a:endParaRPr lang="en-US" altLang="zh-CN"/>
            </a:p>
          </p:txBody>
        </p:sp>
        <p:sp>
          <p:nvSpPr>
            <p:cNvPr id="88139" name="Text Box 84">
              <a:extLst>
                <a:ext uri="{FF2B5EF4-FFF2-40B4-BE49-F238E27FC236}">
                  <a16:creationId xmlns:a16="http://schemas.microsoft.com/office/drawing/2014/main" id="{FD0CDB50-910D-9688-551E-0255F934CB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3024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12</a:t>
              </a:r>
              <a:endParaRPr lang="en-US" altLang="zh-CN"/>
            </a:p>
          </p:txBody>
        </p:sp>
        <p:sp>
          <p:nvSpPr>
            <p:cNvPr id="88140" name="Text Box 85">
              <a:extLst>
                <a:ext uri="{FF2B5EF4-FFF2-40B4-BE49-F238E27FC236}">
                  <a16:creationId xmlns:a16="http://schemas.microsoft.com/office/drawing/2014/main" id="{B0C5635A-3391-A24F-9D3F-148EFAF44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" y="3006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13</a:t>
              </a:r>
              <a:endParaRPr lang="en-US" altLang="zh-CN"/>
            </a:p>
          </p:txBody>
        </p:sp>
        <p:sp>
          <p:nvSpPr>
            <p:cNvPr id="88141" name="Text Box 86">
              <a:extLst>
                <a:ext uri="{FF2B5EF4-FFF2-40B4-BE49-F238E27FC236}">
                  <a16:creationId xmlns:a16="http://schemas.microsoft.com/office/drawing/2014/main" id="{FDA6B1AD-D4D9-2009-1E42-746DB99506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8" y="3046"/>
              <a:ext cx="240" cy="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i="1"/>
                <a:t>e</a:t>
              </a:r>
              <a:r>
                <a:rPr lang="en-US" altLang="zh-CN" baseline="-25000"/>
                <a:t>14</a:t>
              </a:r>
              <a:endParaRPr lang="en-US" altLang="zh-CN"/>
            </a:p>
          </p:txBody>
        </p:sp>
      </p:grpSp>
      <p:sp>
        <p:nvSpPr>
          <p:cNvPr id="88142" name="文本占位符 33794">
            <a:extLst>
              <a:ext uri="{FF2B5EF4-FFF2-40B4-BE49-F238E27FC236}">
                <a16:creationId xmlns:a16="http://schemas.microsoft.com/office/drawing/2014/main" id="{5F51BD69-AE3E-E939-B9D2-8657778BB076}"/>
              </a:ext>
            </a:extLst>
          </p:cNvPr>
          <p:cNvSpPr txBox="1">
            <a:spLocks/>
          </p:cNvSpPr>
          <p:nvPr/>
        </p:nvSpPr>
        <p:spPr>
          <a:xfrm>
            <a:off x="1715506" y="5703338"/>
            <a:ext cx="8218488" cy="71913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Cayley</a:t>
            </a:r>
            <a:r>
              <a:rPr lang="zh-CN" altLang="en-US" dirty="0">
                <a:solidFill>
                  <a:srgbClr val="FF3300"/>
                </a:solidFill>
                <a:latin typeface="Microsoft YaHei" panose="020B0503020204020204" charset="-122"/>
                <a:ea typeface="Microsoft YaHei" panose="020B0503020204020204" charset="-122"/>
              </a:rPr>
              <a:t>定理：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个顶点的标号完全图</a:t>
            </a:r>
            <a:r>
              <a:rPr lang="en-US" altLang="zh-CN" sz="2400" dirty="0" err="1"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2400" baseline="-30000" dirty="0" err="1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有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en-US" altLang="zh-CN" sz="2400" baseline="30000" dirty="0">
                <a:latin typeface="Microsoft YaHei" panose="020B0503020204020204" charset="-122"/>
                <a:ea typeface="Microsoft YaHei" panose="020B0503020204020204" charset="-122"/>
              </a:rPr>
              <a:t>n-2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棵生成树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1457272"/>
      </p:ext>
    </p:extLst>
  </p:cSld>
  <p:clrMapOvr>
    <a:masterClrMapping/>
  </p:clrMapOvr>
  <p:transition spd="slow" advTm="0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AF3532-82B4-482F-9DE6-42089E8D11DA}"/>
              </a:ext>
            </a:extLst>
          </p:cNvPr>
          <p:cNvSpPr/>
          <p:nvPr/>
        </p:nvSpPr>
        <p:spPr>
          <a:xfrm>
            <a:off x="1290172" y="1214991"/>
            <a:ext cx="7119281" cy="4978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有序树：</a:t>
            </a:r>
            <a:r>
              <a:rPr lang="zh-CN" altLang="en-US" sz="2400" dirty="0"/>
              <a:t>设 </a:t>
            </a:r>
            <a:r>
              <a:rPr lang="en-US" altLang="zh-CN" sz="2400" dirty="0"/>
              <a:t>T </a:t>
            </a:r>
            <a:r>
              <a:rPr lang="zh-CN" altLang="en-US" sz="2400" dirty="0"/>
              <a:t>为根树，若给 </a:t>
            </a:r>
            <a:r>
              <a:rPr lang="en-US" altLang="zh-CN" sz="2400" dirty="0"/>
              <a:t>T </a:t>
            </a:r>
            <a:r>
              <a:rPr lang="zh-CN" altLang="en-US" sz="2400" dirty="0"/>
              <a:t>的每一层结点规定了顺序，则称 </a:t>
            </a:r>
            <a:r>
              <a:rPr lang="en-US" altLang="zh-CN" sz="2400" dirty="0"/>
              <a:t>T </a:t>
            </a:r>
            <a:r>
              <a:rPr lang="zh-CN" altLang="en-US" sz="2400" dirty="0"/>
              <a:t>为有序树。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2400" b="1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(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完全</a:t>
            </a:r>
            <a:r>
              <a:rPr lang="en-US" altLang="zh-CN" sz="2400" b="1" dirty="0">
                <a:latin typeface="Microsoft YaHei" panose="020B0503020204020204" charset="-122"/>
                <a:ea typeface="Microsoft YaHei" panose="020B0503020204020204" charset="-122"/>
              </a:rPr>
              <a:t>)m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分树：</a:t>
            </a:r>
            <a:r>
              <a:rPr lang="zh-CN" altLang="en-US" sz="2400" dirty="0"/>
              <a:t>设</a:t>
            </a:r>
            <a:r>
              <a:rPr lang="en-US" altLang="zh-CN" sz="2400" dirty="0"/>
              <a:t>T</a:t>
            </a:r>
            <a:r>
              <a:rPr lang="zh-CN" altLang="en-US" sz="2400" dirty="0"/>
              <a:t>为有根树，若对于任意结点</a:t>
            </a:r>
            <a:r>
              <a:rPr lang="en-US" altLang="zh-CN" sz="2400" dirty="0"/>
              <a:t>v</a:t>
            </a:r>
            <a:r>
              <a:rPr lang="zh-CN" altLang="en-US" sz="2400" dirty="0"/>
              <a:t>，有 </a:t>
            </a:r>
            <a:r>
              <a:rPr lang="en-US" altLang="zh-CN" sz="2400" dirty="0"/>
              <a:t>deg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(v) ≤m, </a:t>
            </a:r>
            <a:r>
              <a:rPr lang="zh-CN" altLang="en-US" sz="2400" dirty="0"/>
              <a:t>则称此有根树为</a:t>
            </a:r>
            <a:r>
              <a:rPr lang="en-US" altLang="zh-CN" sz="2400" dirty="0"/>
              <a:t>m</a:t>
            </a:r>
            <a:r>
              <a:rPr lang="zh-CN" altLang="en-US" sz="2400" dirty="0"/>
              <a:t>分树。如果对每个结点</a:t>
            </a:r>
            <a:r>
              <a:rPr lang="en-US" altLang="zh-CN" sz="2400" dirty="0"/>
              <a:t>v</a:t>
            </a:r>
            <a:r>
              <a:rPr lang="zh-CN" altLang="en-US" sz="2400" dirty="0"/>
              <a:t>有</a:t>
            </a:r>
            <a:r>
              <a:rPr lang="en-US" altLang="zh-CN" sz="2400" dirty="0"/>
              <a:t>deg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(v)</a:t>
            </a:r>
            <a:r>
              <a:rPr lang="zh-CN" altLang="en-US" sz="2400" dirty="0"/>
              <a:t>＝</a:t>
            </a:r>
            <a:r>
              <a:rPr lang="en-US" altLang="zh-CN" sz="2400" dirty="0"/>
              <a:t>m</a:t>
            </a:r>
            <a:r>
              <a:rPr lang="zh-CN" altLang="en-US" sz="2400" dirty="0"/>
              <a:t>或者</a:t>
            </a:r>
            <a:r>
              <a:rPr lang="en-US" altLang="zh-CN" sz="2400" dirty="0"/>
              <a:t>deg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(v)</a:t>
            </a:r>
            <a:r>
              <a:rPr lang="zh-CN" altLang="en-US" sz="2400" dirty="0"/>
              <a:t>＝</a:t>
            </a:r>
            <a:r>
              <a:rPr lang="en-US" altLang="zh-CN" sz="2400" dirty="0"/>
              <a:t>0, </a:t>
            </a:r>
            <a:r>
              <a:rPr lang="zh-CN" altLang="en-US" sz="2400" dirty="0"/>
              <a:t>则称此有根树为完全</a:t>
            </a:r>
            <a:r>
              <a:rPr lang="en-US" altLang="zh-CN" sz="2400" dirty="0"/>
              <a:t>m</a:t>
            </a:r>
            <a:r>
              <a:rPr lang="zh-CN" altLang="en-US" sz="2400" dirty="0"/>
              <a:t>分树。</a:t>
            </a: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endParaRPr lang="en-US" altLang="zh-CN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2000" dirty="0">
                <a:latin typeface="Microsoft YaHei" panose="020B0503020204020204" charset="-122"/>
                <a:ea typeface="Microsoft YaHei" panose="020B0503020204020204" charset="-122"/>
              </a:rPr>
              <a:t>  </a:t>
            </a:r>
            <a:endParaRPr lang="en-US" altLang="zh-CN" sz="2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chemeClr val="accent2"/>
                </a:solidFill>
                <a:latin typeface="Microsoft YaHei" panose="020B0503020204020204" charset="-122"/>
                <a:ea typeface="Microsoft YaHei" panose="020B0503020204020204" charset="-122"/>
              </a:rPr>
              <a:t>    </a:t>
            </a:r>
            <a:endParaRPr lang="zh-CN" altLang="en-US" dirty="0">
              <a:solidFill>
                <a:srgbClr val="CC33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5" name="Group 49">
            <a:extLst>
              <a:ext uri="{FF2B5EF4-FFF2-40B4-BE49-F238E27FC236}">
                <a16:creationId xmlns:a16="http://schemas.microsoft.com/office/drawing/2014/main" id="{96DB8A3D-C097-45BC-9936-C66AF176ED0F}"/>
              </a:ext>
            </a:extLst>
          </p:cNvPr>
          <p:cNvGrpSpPr>
            <a:grpSpLocks/>
          </p:cNvGrpSpPr>
          <p:nvPr/>
        </p:nvGrpSpPr>
        <p:grpSpPr bwMode="auto">
          <a:xfrm>
            <a:off x="8857128" y="2974206"/>
            <a:ext cx="2447925" cy="2886075"/>
            <a:chOff x="3606" y="2382"/>
            <a:chExt cx="1542" cy="1818"/>
          </a:xfrm>
        </p:grpSpPr>
        <p:grpSp>
          <p:nvGrpSpPr>
            <p:cNvPr id="6" name="Group 35">
              <a:extLst>
                <a:ext uri="{FF2B5EF4-FFF2-40B4-BE49-F238E27FC236}">
                  <a16:creationId xmlns:a16="http://schemas.microsoft.com/office/drawing/2014/main" id="{034D5F72-C72A-487D-B0B2-453E311862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54" y="2592"/>
              <a:ext cx="1434" cy="1455"/>
              <a:chOff x="3504" y="2709"/>
              <a:chExt cx="1434" cy="1455"/>
            </a:xfrm>
          </p:grpSpPr>
          <p:sp>
            <p:nvSpPr>
              <p:cNvPr id="19" name="Oval 4">
                <a:extLst>
                  <a:ext uri="{FF2B5EF4-FFF2-40B4-BE49-F238E27FC236}">
                    <a16:creationId xmlns:a16="http://schemas.microsoft.com/office/drawing/2014/main" id="{79714144-0BF5-42DF-81AF-FD120A9773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6" y="2709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Oval 5">
                <a:extLst>
                  <a:ext uri="{FF2B5EF4-FFF2-40B4-BE49-F238E27FC236}">
                    <a16:creationId xmlns:a16="http://schemas.microsoft.com/office/drawing/2014/main" id="{7A8AC1F1-017D-453F-98E8-E525739A1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0" y="315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C1DFBCEA-95DF-4744-8B2E-189E80AF3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" y="3158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Oval 8">
                <a:extLst>
                  <a:ext uri="{FF2B5EF4-FFF2-40B4-BE49-F238E27FC236}">
                    <a16:creationId xmlns:a16="http://schemas.microsoft.com/office/drawing/2014/main" id="{08D144BA-715A-42CC-9FF5-01A601BC2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1" y="361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Oval 9">
                <a:extLst>
                  <a:ext uri="{FF2B5EF4-FFF2-40B4-BE49-F238E27FC236}">
                    <a16:creationId xmlns:a16="http://schemas.microsoft.com/office/drawing/2014/main" id="{BBC2F5CA-E916-479C-BCC2-F56C3899D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" y="361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Oval 10">
                <a:extLst>
                  <a:ext uri="{FF2B5EF4-FFF2-40B4-BE49-F238E27FC236}">
                    <a16:creationId xmlns:a16="http://schemas.microsoft.com/office/drawing/2014/main" id="{00416487-0C52-40B0-AD2A-158B4FF7B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3617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Oval 7">
                <a:extLst>
                  <a:ext uri="{FF2B5EF4-FFF2-40B4-BE49-F238E27FC236}">
                    <a16:creationId xmlns:a16="http://schemas.microsoft.com/office/drawing/2014/main" id="{742B4107-00B0-40E5-B4F7-7195F16AB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9" y="315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Oval 11">
                <a:extLst>
                  <a:ext uri="{FF2B5EF4-FFF2-40B4-BE49-F238E27FC236}">
                    <a16:creationId xmlns:a16="http://schemas.microsoft.com/office/drawing/2014/main" id="{0D6B048B-C217-4B75-BB03-3B6359C7DA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" y="3615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Oval 12">
                <a:extLst>
                  <a:ext uri="{FF2B5EF4-FFF2-40B4-BE49-F238E27FC236}">
                    <a16:creationId xmlns:a16="http://schemas.microsoft.com/office/drawing/2014/main" id="{B31CB85D-B18B-4B4F-89C6-67A240344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3614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" name="Oval 13">
                <a:extLst>
                  <a:ext uri="{FF2B5EF4-FFF2-40B4-BE49-F238E27FC236}">
                    <a16:creationId xmlns:a16="http://schemas.microsoft.com/office/drawing/2014/main" id="{691FC861-7C61-4706-AA7C-19E12B26C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0" y="407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9" name="Oval 14">
                <a:extLst>
                  <a:ext uri="{FF2B5EF4-FFF2-40B4-BE49-F238E27FC236}">
                    <a16:creationId xmlns:a16="http://schemas.microsoft.com/office/drawing/2014/main" id="{581D6AA1-50AC-45C9-ACF9-E0BC2E70E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8" y="407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0" name="Oval 15">
                <a:extLst>
                  <a:ext uri="{FF2B5EF4-FFF2-40B4-BE49-F238E27FC236}">
                    <a16:creationId xmlns:a16="http://schemas.microsoft.com/office/drawing/2014/main" id="{B022F6F4-FB1A-41F3-823B-1F6CF6C191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7" y="4073"/>
                <a:ext cx="91" cy="9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" name="Freeform 22">
                <a:extLst>
                  <a:ext uri="{FF2B5EF4-FFF2-40B4-BE49-F238E27FC236}">
                    <a16:creationId xmlns:a16="http://schemas.microsoft.com/office/drawing/2014/main" id="{64F7BF27-7A8F-4D9E-B844-E511FB4F08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3705"/>
                <a:ext cx="138" cy="372"/>
              </a:xfrm>
              <a:custGeom>
                <a:avLst/>
                <a:gdLst>
                  <a:gd name="T0" fmla="*/ 138 w 138"/>
                  <a:gd name="T1" fmla="*/ 0 h 372"/>
                  <a:gd name="T2" fmla="*/ 0 w 138"/>
                  <a:gd name="T3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372">
                    <a:moveTo>
                      <a:pt x="138" y="0"/>
                    </a:moveTo>
                    <a:lnTo>
                      <a:pt x="0" y="37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" name="Freeform 24">
                <a:extLst>
                  <a:ext uri="{FF2B5EF4-FFF2-40B4-BE49-F238E27FC236}">
                    <a16:creationId xmlns:a16="http://schemas.microsoft.com/office/drawing/2014/main" id="{C7DBC655-C402-424D-8FCD-7ECB93F8DE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3" y="3702"/>
                <a:ext cx="138" cy="369"/>
              </a:xfrm>
              <a:custGeom>
                <a:avLst/>
                <a:gdLst>
                  <a:gd name="T0" fmla="*/ 0 w 138"/>
                  <a:gd name="T1" fmla="*/ 0 h 369"/>
                  <a:gd name="T2" fmla="*/ 138 w 138"/>
                  <a:gd name="T3" fmla="*/ 36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8" h="369">
                    <a:moveTo>
                      <a:pt x="0" y="0"/>
                    </a:moveTo>
                    <a:lnTo>
                      <a:pt x="138" y="3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3" name="Freeform 25">
                <a:extLst>
                  <a:ext uri="{FF2B5EF4-FFF2-40B4-BE49-F238E27FC236}">
                    <a16:creationId xmlns:a16="http://schemas.microsoft.com/office/drawing/2014/main" id="{8C1622DB-255B-4CA8-91D2-DD8B6E764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4" y="3708"/>
                <a:ext cx="156" cy="366"/>
              </a:xfrm>
              <a:custGeom>
                <a:avLst/>
                <a:gdLst>
                  <a:gd name="T0" fmla="*/ 0 w 156"/>
                  <a:gd name="T1" fmla="*/ 0 h 366"/>
                  <a:gd name="T2" fmla="*/ 156 w 156"/>
                  <a:gd name="T3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56" h="366">
                    <a:moveTo>
                      <a:pt x="0" y="0"/>
                    </a:moveTo>
                    <a:lnTo>
                      <a:pt x="156" y="366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" name="Freeform 26">
                <a:extLst>
                  <a:ext uri="{FF2B5EF4-FFF2-40B4-BE49-F238E27FC236}">
                    <a16:creationId xmlns:a16="http://schemas.microsoft.com/office/drawing/2014/main" id="{E5CBFBD2-D2C6-46B5-8C8D-8A18A4089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3243"/>
                <a:ext cx="123" cy="369"/>
              </a:xfrm>
              <a:custGeom>
                <a:avLst/>
                <a:gdLst>
                  <a:gd name="T0" fmla="*/ 123 w 123"/>
                  <a:gd name="T1" fmla="*/ 0 h 369"/>
                  <a:gd name="T2" fmla="*/ 0 w 123"/>
                  <a:gd name="T3" fmla="*/ 36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23" h="369">
                    <a:moveTo>
                      <a:pt x="123" y="0"/>
                    </a:moveTo>
                    <a:lnTo>
                      <a:pt x="0" y="3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" name="Freeform 27">
                <a:extLst>
                  <a:ext uri="{FF2B5EF4-FFF2-40B4-BE49-F238E27FC236}">
                    <a16:creationId xmlns:a16="http://schemas.microsoft.com/office/drawing/2014/main" id="{1EAB01BE-435F-4DD2-AE45-8F0EC0EC0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8" y="3243"/>
                <a:ext cx="132" cy="375"/>
              </a:xfrm>
              <a:custGeom>
                <a:avLst/>
                <a:gdLst>
                  <a:gd name="T0" fmla="*/ 0 w 132"/>
                  <a:gd name="T1" fmla="*/ 0 h 375"/>
                  <a:gd name="T2" fmla="*/ 132 w 132"/>
                  <a:gd name="T3" fmla="*/ 37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2" h="375">
                    <a:moveTo>
                      <a:pt x="0" y="0"/>
                    </a:moveTo>
                    <a:lnTo>
                      <a:pt x="132" y="37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" name="Freeform 28">
                <a:extLst>
                  <a:ext uri="{FF2B5EF4-FFF2-40B4-BE49-F238E27FC236}">
                    <a16:creationId xmlns:a16="http://schemas.microsoft.com/office/drawing/2014/main" id="{189A6F74-965C-4C06-936C-2742C86A87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8" y="3246"/>
                <a:ext cx="291" cy="375"/>
              </a:xfrm>
              <a:custGeom>
                <a:avLst/>
                <a:gdLst>
                  <a:gd name="T0" fmla="*/ 291 w 291"/>
                  <a:gd name="T1" fmla="*/ 0 h 375"/>
                  <a:gd name="T2" fmla="*/ 0 w 291"/>
                  <a:gd name="T3" fmla="*/ 37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1" h="375">
                    <a:moveTo>
                      <a:pt x="291" y="0"/>
                    </a:moveTo>
                    <a:lnTo>
                      <a:pt x="0" y="375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Freeform 29">
                <a:extLst>
                  <a:ext uri="{FF2B5EF4-FFF2-40B4-BE49-F238E27FC236}">
                    <a16:creationId xmlns:a16="http://schemas.microsoft.com/office/drawing/2014/main" id="{9AF2213F-A39E-43B8-BC92-176E0A465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6" y="3255"/>
                <a:ext cx="1" cy="357"/>
              </a:xfrm>
              <a:custGeom>
                <a:avLst/>
                <a:gdLst>
                  <a:gd name="T0" fmla="*/ 0 w 1"/>
                  <a:gd name="T1" fmla="*/ 0 h 357"/>
                  <a:gd name="T2" fmla="*/ 0 w 1"/>
                  <a:gd name="T3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57">
                    <a:moveTo>
                      <a:pt x="0" y="0"/>
                    </a:moveTo>
                    <a:lnTo>
                      <a:pt x="0" y="357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Freeform 30">
                <a:extLst>
                  <a:ext uri="{FF2B5EF4-FFF2-40B4-BE49-F238E27FC236}">
                    <a16:creationId xmlns:a16="http://schemas.microsoft.com/office/drawing/2014/main" id="{DA319ABB-A2E2-4B65-B270-C4EFCF3492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3246"/>
                <a:ext cx="288" cy="372"/>
              </a:xfrm>
              <a:custGeom>
                <a:avLst/>
                <a:gdLst>
                  <a:gd name="T0" fmla="*/ 0 w 288"/>
                  <a:gd name="T1" fmla="*/ 0 h 372"/>
                  <a:gd name="T2" fmla="*/ 288 w 288"/>
                  <a:gd name="T3" fmla="*/ 372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88" h="372">
                    <a:moveTo>
                      <a:pt x="0" y="0"/>
                    </a:moveTo>
                    <a:lnTo>
                      <a:pt x="288" y="372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9" name="Freeform 32">
                <a:extLst>
                  <a:ext uri="{FF2B5EF4-FFF2-40B4-BE49-F238E27FC236}">
                    <a16:creationId xmlns:a16="http://schemas.microsoft.com/office/drawing/2014/main" id="{58231DF5-16AE-46CD-9ABA-1A4B19F47C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1" y="2802"/>
                <a:ext cx="1" cy="357"/>
              </a:xfrm>
              <a:custGeom>
                <a:avLst/>
                <a:gdLst>
                  <a:gd name="T0" fmla="*/ 0 w 1"/>
                  <a:gd name="T1" fmla="*/ 0 h 357"/>
                  <a:gd name="T2" fmla="*/ 0 w 1"/>
                  <a:gd name="T3" fmla="*/ 357 h 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357">
                    <a:moveTo>
                      <a:pt x="0" y="0"/>
                    </a:moveTo>
                    <a:lnTo>
                      <a:pt x="0" y="357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0" name="Freeform 33">
                <a:extLst>
                  <a:ext uri="{FF2B5EF4-FFF2-40B4-BE49-F238E27FC236}">
                    <a16:creationId xmlns:a16="http://schemas.microsoft.com/office/drawing/2014/main" id="{F6428F09-9F49-4EE5-85D6-220047394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8" y="2784"/>
                <a:ext cx="291" cy="378"/>
              </a:xfrm>
              <a:custGeom>
                <a:avLst/>
                <a:gdLst>
                  <a:gd name="T0" fmla="*/ 291 w 291"/>
                  <a:gd name="T1" fmla="*/ 0 h 378"/>
                  <a:gd name="T2" fmla="*/ 0 w 291"/>
                  <a:gd name="T3" fmla="*/ 378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1" h="378">
                    <a:moveTo>
                      <a:pt x="291" y="0"/>
                    </a:moveTo>
                    <a:lnTo>
                      <a:pt x="0" y="378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Freeform 34">
                <a:extLst>
                  <a:ext uri="{FF2B5EF4-FFF2-40B4-BE49-F238E27FC236}">
                    <a16:creationId xmlns:a16="http://schemas.microsoft.com/office/drawing/2014/main" id="{CBD687C3-5929-4A93-AF87-43E1F5ADA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8" y="2787"/>
                <a:ext cx="291" cy="369"/>
              </a:xfrm>
              <a:custGeom>
                <a:avLst/>
                <a:gdLst>
                  <a:gd name="T0" fmla="*/ 0 w 291"/>
                  <a:gd name="T1" fmla="*/ 0 h 369"/>
                  <a:gd name="T2" fmla="*/ 291 w 291"/>
                  <a:gd name="T3" fmla="*/ 36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1" h="369">
                    <a:moveTo>
                      <a:pt x="0" y="0"/>
                    </a:moveTo>
                    <a:lnTo>
                      <a:pt x="291" y="369"/>
                    </a:lnTo>
                  </a:path>
                </a:pathLst>
              </a:custGeom>
              <a:noFill/>
              <a:ln w="12700" cap="sq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" name="Text Box 36">
              <a:extLst>
                <a:ext uri="{FF2B5EF4-FFF2-40B4-BE49-F238E27FC236}">
                  <a16:creationId xmlns:a16="http://schemas.microsoft.com/office/drawing/2014/main" id="{7AA075B1-28B9-47C2-A58C-C1639E184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2382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/>
                <a:t>v</a:t>
              </a:r>
              <a:r>
                <a:rPr lang="en-US" altLang="zh-CN" sz="2000" baseline="-25000" dirty="0"/>
                <a:t>0</a:t>
              </a:r>
              <a:endParaRPr lang="en-US" altLang="zh-CN" sz="2000" dirty="0"/>
            </a:p>
          </p:txBody>
        </p:sp>
        <p:sp>
          <p:nvSpPr>
            <p:cNvPr id="8" name="Text Box 37">
              <a:extLst>
                <a:ext uri="{FF2B5EF4-FFF2-40B4-BE49-F238E27FC236}">
                  <a16:creationId xmlns:a16="http://schemas.microsoft.com/office/drawing/2014/main" id="{F46281C0-B814-492A-A522-04F2AAA4A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922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</a:t>
              </a:r>
              <a:endParaRPr lang="en-US" altLang="zh-CN" sz="2000"/>
            </a:p>
          </p:txBody>
        </p:sp>
        <p:sp>
          <p:nvSpPr>
            <p:cNvPr id="9" name="Text Box 38">
              <a:extLst>
                <a:ext uri="{FF2B5EF4-FFF2-40B4-BE49-F238E27FC236}">
                  <a16:creationId xmlns:a16="http://schemas.microsoft.com/office/drawing/2014/main" id="{FEA92474-E34C-4E46-807C-81C8E096C2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3084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 dirty="0"/>
                <a:t>v</a:t>
              </a:r>
              <a:r>
                <a:rPr lang="en-US" altLang="zh-CN" sz="2000" baseline="-25000" dirty="0"/>
                <a:t>2</a:t>
              </a:r>
              <a:endParaRPr lang="en-US" altLang="zh-CN" sz="2000" dirty="0"/>
            </a:p>
          </p:txBody>
        </p:sp>
        <p:sp>
          <p:nvSpPr>
            <p:cNvPr id="10" name="Text Box 39">
              <a:extLst>
                <a:ext uri="{FF2B5EF4-FFF2-40B4-BE49-F238E27FC236}">
                  <a16:creationId xmlns:a16="http://schemas.microsoft.com/office/drawing/2014/main" id="{EDF8F7A8-DE58-4FD1-A9F8-5FC5F92941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" y="295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3</a:t>
              </a:r>
              <a:endParaRPr lang="en-US" altLang="zh-CN" sz="2000"/>
            </a:p>
          </p:txBody>
        </p:sp>
        <p:sp>
          <p:nvSpPr>
            <p:cNvPr id="11" name="Text Box 40">
              <a:extLst>
                <a:ext uri="{FF2B5EF4-FFF2-40B4-BE49-F238E27FC236}">
                  <a16:creationId xmlns:a16="http://schemas.microsoft.com/office/drawing/2014/main" id="{C8CC04B2-D9A8-4518-859E-26B734A163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6" y="355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4</a:t>
              </a:r>
              <a:endParaRPr lang="en-US" altLang="zh-CN" sz="2000"/>
            </a:p>
          </p:txBody>
        </p:sp>
        <p:sp>
          <p:nvSpPr>
            <p:cNvPr id="12" name="Text Box 41">
              <a:extLst>
                <a:ext uri="{FF2B5EF4-FFF2-40B4-BE49-F238E27FC236}">
                  <a16:creationId xmlns:a16="http://schemas.microsoft.com/office/drawing/2014/main" id="{244EE323-E787-4437-B374-1DE59F09DD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564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5</a:t>
              </a:r>
              <a:endParaRPr lang="en-US" altLang="zh-CN" sz="2000"/>
            </a:p>
          </p:txBody>
        </p:sp>
        <p:sp>
          <p:nvSpPr>
            <p:cNvPr id="13" name="Text Box 42">
              <a:extLst>
                <a:ext uri="{FF2B5EF4-FFF2-40B4-BE49-F238E27FC236}">
                  <a16:creationId xmlns:a16="http://schemas.microsoft.com/office/drawing/2014/main" id="{62A6B524-B525-4938-8F02-2B67F7B083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355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6</a:t>
              </a:r>
              <a:endParaRPr lang="en-US" altLang="zh-CN" sz="2000"/>
            </a:p>
          </p:txBody>
        </p:sp>
        <p:sp>
          <p:nvSpPr>
            <p:cNvPr id="14" name="Text Box 43">
              <a:extLst>
                <a:ext uri="{FF2B5EF4-FFF2-40B4-BE49-F238E27FC236}">
                  <a16:creationId xmlns:a16="http://schemas.microsoft.com/office/drawing/2014/main" id="{D134D200-2F52-4501-A11F-62C03A72C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6" y="343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7</a:t>
              </a:r>
              <a:endParaRPr lang="en-US" altLang="zh-CN" sz="2000"/>
            </a:p>
          </p:txBody>
        </p:sp>
        <p:sp>
          <p:nvSpPr>
            <p:cNvPr id="15" name="Text Box 44">
              <a:extLst>
                <a:ext uri="{FF2B5EF4-FFF2-40B4-BE49-F238E27FC236}">
                  <a16:creationId xmlns:a16="http://schemas.microsoft.com/office/drawing/2014/main" id="{68C7D898-4E91-4F76-AB9B-87C2C54E0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2" y="343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8</a:t>
              </a:r>
              <a:endParaRPr lang="en-US" altLang="zh-CN" sz="2000"/>
            </a:p>
          </p:txBody>
        </p:sp>
        <p:sp>
          <p:nvSpPr>
            <p:cNvPr id="16" name="Text Box 45">
              <a:extLst>
                <a:ext uri="{FF2B5EF4-FFF2-40B4-BE49-F238E27FC236}">
                  <a16:creationId xmlns:a16="http://schemas.microsoft.com/office/drawing/2014/main" id="{6ADBFDDC-D935-4874-BD35-D8A4AE734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400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9</a:t>
              </a:r>
              <a:endParaRPr lang="en-US" altLang="zh-CN" sz="2000"/>
            </a:p>
          </p:txBody>
        </p:sp>
        <p:sp>
          <p:nvSpPr>
            <p:cNvPr id="17" name="Text Box 46">
              <a:extLst>
                <a:ext uri="{FF2B5EF4-FFF2-40B4-BE49-F238E27FC236}">
                  <a16:creationId xmlns:a16="http://schemas.microsoft.com/office/drawing/2014/main" id="{06B3D057-3D9D-4B83-908D-F23E1C6BF1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400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10</a:t>
              </a:r>
              <a:endParaRPr lang="en-US" altLang="zh-CN" sz="2000"/>
            </a:p>
          </p:txBody>
        </p:sp>
        <p:sp>
          <p:nvSpPr>
            <p:cNvPr id="18" name="Text Box 47">
              <a:extLst>
                <a:ext uri="{FF2B5EF4-FFF2-40B4-BE49-F238E27FC236}">
                  <a16:creationId xmlns:a16="http://schemas.microsoft.com/office/drawing/2014/main" id="{56C214A1-A1C9-40C6-B97C-D40C615484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6" y="4008"/>
              <a:ext cx="19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i="1"/>
                <a:t>v</a:t>
              </a:r>
              <a:r>
                <a:rPr lang="en-US" altLang="zh-CN" sz="2000" baseline="-25000"/>
                <a:t>11</a:t>
              </a:r>
              <a:endParaRPr lang="en-US" altLang="zh-CN" sz="2000"/>
            </a:p>
          </p:txBody>
        </p:sp>
      </p:grpSp>
    </p:spTree>
    <p:extLst>
      <p:ext uri="{BB962C8B-B14F-4D97-AF65-F5344CB8AC3E}">
        <p14:creationId xmlns:p14="http://schemas.microsoft.com/office/powerpoint/2010/main" val="1340588873"/>
      </p:ext>
    </p:extLst>
  </p:cSld>
  <p:clrMapOvr>
    <a:masterClrMapping/>
  </p:clrMapOvr>
  <p:transition spd="slow" advTm="0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44034">
            <a:extLst>
              <a:ext uri="{FF2B5EF4-FFF2-40B4-BE49-F238E27FC236}">
                <a16:creationId xmlns:a16="http://schemas.microsoft.com/office/drawing/2014/main" id="{91E5D2B6-C17E-45E1-913B-018C4D1F6F77}"/>
              </a:ext>
            </a:extLst>
          </p:cNvPr>
          <p:cNvSpPr txBox="1">
            <a:spLocks/>
          </p:cNvSpPr>
          <p:nvPr/>
        </p:nvSpPr>
        <p:spPr>
          <a:xfrm>
            <a:off x="1860821" y="1282887"/>
            <a:ext cx="8229600" cy="5145088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二叉查找树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  决策树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  平衡树 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18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1 </a:t>
            </a:r>
            <a:r>
              <a:rPr lang="zh-CN" altLang="en-US" sz="2000" b="1" u="sng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高度为</a:t>
            </a:r>
            <a:r>
              <a:rPr lang="en-US" altLang="zh-CN" sz="2000" b="1" u="sng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h</a:t>
            </a:r>
            <a:r>
              <a:rPr lang="zh-CN" altLang="en-US" sz="2000" b="1" u="sng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的</a:t>
            </a:r>
            <a:r>
              <a:rPr lang="en-US" altLang="zh-CN" sz="2000" b="1" u="sng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000" b="1" u="sng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元树：树叶数</a:t>
            </a:r>
            <a:r>
              <a:rPr lang="en-US" altLang="zh-CN" sz="2000" b="1" u="sng" dirty="0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t&lt;=</a:t>
            </a:r>
            <a:r>
              <a:rPr lang="en-US" altLang="zh-CN" sz="2000" b="1" u="sng" dirty="0" err="1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en-US" altLang="zh-CN" sz="1800" b="1" u="sng" baseline="30000" dirty="0" err="1">
                <a:solidFill>
                  <a:srgbClr val="C00000"/>
                </a:solidFill>
                <a:latin typeface="Microsoft YaHei" panose="020B0503020204020204" charset="-122"/>
                <a:ea typeface="Microsoft YaHei" panose="020B0503020204020204" charset="-122"/>
              </a:rPr>
              <a:t>h</a:t>
            </a:r>
            <a:endParaRPr lang="en-US" altLang="zh-CN" sz="1800" b="1" u="sng" baseline="30000" dirty="0">
              <a:solidFill>
                <a:srgbClr val="C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若高度为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h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的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元树树叶数为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，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则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h&gt;=              ,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若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元树为完全的平衡的，则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h=              .</a:t>
            </a:r>
            <a:endParaRPr lang="en-US" altLang="zh-CN" sz="2000" b="1" baseline="300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>
              <a:buFont typeface="Arial" panose="020B0604020202020204" pitchFamily="34" charset="0"/>
              <a:buNone/>
            </a:pPr>
            <a:endParaRPr lang="en-US" altLang="zh-CN" sz="2400" b="1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901440E-DC3C-4CB8-B063-34EEA890F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147" y="4777234"/>
            <a:ext cx="1028700" cy="466725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6E37AA0-1D1A-47D7-BE89-8FACEAA406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3516" y="5465212"/>
          <a:ext cx="10287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28700" imgH="466725" progId="PBrush">
                  <p:embed/>
                </p:oleObj>
              </mc:Choice>
              <mc:Fallback>
                <p:oleObj r:id="rId5" imgW="1028700" imgH="466725" progId="PBrus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6E37AA0-1D1A-47D7-BE89-8FACEAA406C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43516" y="5465212"/>
                        <a:ext cx="1028700" cy="466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3A4C2467-BC90-4EDF-BC54-A26759639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2827" y="1282887"/>
            <a:ext cx="3390900" cy="179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EF0E69E-4B55-4DA5-8146-F5D6DD5211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615" y="3864580"/>
            <a:ext cx="3932555" cy="239268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3186679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本占位符 10243">
            <a:extLst>
              <a:ext uri="{FF2B5EF4-FFF2-40B4-BE49-F238E27FC236}">
                <a16:creationId xmlns:a16="http://schemas.microsoft.com/office/drawing/2014/main" id="{876C5746-46FC-4079-BCBC-4A122A932794}"/>
              </a:ext>
            </a:extLst>
          </p:cNvPr>
          <p:cNvSpPr txBox="1">
            <a:spLocks/>
          </p:cNvSpPr>
          <p:nvPr/>
        </p:nvSpPr>
        <p:spPr>
          <a:xfrm>
            <a:off x="2075104" y="1364956"/>
            <a:ext cx="7772400" cy="44958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平面图（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planar graph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）：平面嵌入</a:t>
            </a:r>
            <a:r>
              <a:rPr lang="zh-CN" altLang="en-US" sz="2400" b="1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面（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regions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有界面、外部面（无界面）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边界（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boundary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）、度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/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次（</a:t>
            </a:r>
            <a:r>
              <a:rPr lang="en-US" altLang="zh-CN" sz="2000" b="1" dirty="0">
                <a:latin typeface="Microsoft YaHei" panose="020B0503020204020204" charset="-122"/>
                <a:ea typeface="Microsoft YaHei" panose="020B0503020204020204" charset="-122"/>
              </a:rPr>
              <a:t>degree</a:t>
            </a: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）</a:t>
            </a:r>
          </a:p>
          <a:p>
            <a:pPr>
              <a:lnSpc>
                <a:spcPct val="14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zh-CN" altLang="en-US" sz="2000" b="1" dirty="0">
                <a:latin typeface="Microsoft YaHei" panose="020B0503020204020204" charset="-122"/>
                <a:ea typeface="Microsoft YaHei" panose="020B0503020204020204" charset="-122"/>
              </a:rPr>
              <a:t>极大平面图</a:t>
            </a:r>
          </a:p>
        </p:txBody>
      </p:sp>
      <p:graphicFrame>
        <p:nvGraphicFramePr>
          <p:cNvPr id="5" name="对象 11267">
            <a:extLst>
              <a:ext uri="{FF2B5EF4-FFF2-40B4-BE49-F238E27FC236}">
                <a16:creationId xmlns:a16="http://schemas.microsoft.com/office/drawing/2014/main" id="{09B63C3F-1B18-45A5-92A5-29EE47ED38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8223" y="2984384"/>
          <a:ext cx="4190470" cy="2217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457575" imgH="2400300" progId="PBrush">
                  <p:embed/>
                </p:oleObj>
              </mc:Choice>
              <mc:Fallback>
                <p:oleObj r:id="rId4" imgW="3457575" imgH="2400300" progId="PBrush">
                  <p:embed/>
                  <p:pic>
                    <p:nvPicPr>
                      <p:cNvPr id="5" name="对象 11267">
                        <a:extLst>
                          <a:ext uri="{FF2B5EF4-FFF2-40B4-BE49-F238E27FC236}">
                            <a16:creationId xmlns:a16="http://schemas.microsoft.com/office/drawing/2014/main" id="{09B63C3F-1B18-45A5-92A5-29EE47ED38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68223" y="2984384"/>
                        <a:ext cx="4190470" cy="2217051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904C7BA5-8238-40CA-B39D-CE2BA48226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0137" y="615312"/>
            <a:ext cx="7772400" cy="93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sz="3200" b="1" kern="1200">
                <a:solidFill>
                  <a:srgbClr val="990000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 b="1">
                <a:solidFill>
                  <a:srgbClr val="990000"/>
                </a:solidFill>
                <a:latin typeface="Comic Sans MS" panose="030F0702030302020204" pitchFamily="66" charset="0"/>
                <a:ea typeface="黑体" panose="02010609060101010101" pitchFamily="49" charset="-122"/>
              </a:defRPr>
            </a:lvl9pPr>
          </a:lstStyle>
          <a:p>
            <a:r>
              <a:rPr lang="en-US" altLang="zh-CN" dirty="0">
                <a:latin typeface="黑体" panose="02010609060101010101" pitchFamily="49" charset="-122"/>
              </a:rPr>
              <a:t> </a:t>
            </a:r>
            <a:r>
              <a:rPr lang="zh-CN" altLang="en-US" dirty="0">
                <a:latin typeface="黑体" panose="02010609060101010101" pitchFamily="49" charset="-122"/>
              </a:rPr>
              <a:t>平面图</a:t>
            </a: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E3B7C91C-AE24-4FE6-9AD2-B1B9DCDED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10839"/>
      </p:ext>
    </p:extLst>
  </p:cSld>
  <p:clrMapOvr>
    <a:masterClrMapping/>
  </p:clrMapOvr>
  <p:transition spd="slow" advTm="0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5362">
            <a:extLst>
              <a:ext uri="{FF2B5EF4-FFF2-40B4-BE49-F238E27FC236}">
                <a16:creationId xmlns:a16="http://schemas.microsoft.com/office/drawing/2014/main" id="{3BBF487D-7BEE-4634-BDD1-47D4FA7834A9}"/>
              </a:ext>
            </a:extLst>
          </p:cNvPr>
          <p:cNvSpPr txBox="1">
            <a:spLocks/>
          </p:cNvSpPr>
          <p:nvPr/>
        </p:nvSpPr>
        <p:spPr>
          <a:xfrm>
            <a:off x="664845" y="1307465"/>
            <a:ext cx="7521575" cy="11430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lang="en-US" altLang="zh-CN" sz="2400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400" dirty="0">
                <a:latin typeface="Microsoft YaHei" panose="020B0503020204020204" charset="-122"/>
                <a:ea typeface="Microsoft YaHei" panose="020B0503020204020204" charset="-122"/>
              </a:rPr>
              <a:t>一个有限平面图，面的次数之和等于其边数的两倍。</a:t>
            </a:r>
          </a:p>
          <a:p>
            <a:pPr marL="447675" indent="-447675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sz="2400" dirty="0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447675" indent="-447675">
              <a:buFont typeface="Arial" panose="020B0604020202020204" pitchFamily="34" charset="0"/>
              <a:buNone/>
            </a:pP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C327336-D007-4E7F-BCE5-80BDF62B63BD}"/>
              </a:ext>
            </a:extLst>
          </p:cNvPr>
          <p:cNvSpPr/>
          <p:nvPr/>
        </p:nvSpPr>
        <p:spPr>
          <a:xfrm>
            <a:off x="739775" y="3057525"/>
            <a:ext cx="7664450" cy="1873718"/>
          </a:xfrm>
          <a:prstGeom prst="rect">
            <a:avLst/>
          </a:prstGeom>
          <a:noFill/>
          <a:ln w="9525">
            <a:noFill/>
            <a:miter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2" charset="2"/>
              <a:buNone/>
            </a:pPr>
            <a:r>
              <a:rPr lang="en-US" altLang="zh-CN" sz="2400" b="0" dirty="0">
                <a:solidFill>
                  <a:srgbClr val="3333FF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 (</a:t>
            </a:r>
            <a:r>
              <a:rPr lang="zh-CN" altLang="en-US" sz="2400" b="0" dirty="0">
                <a:solidFill>
                  <a:srgbClr val="3333FF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欧拉定理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)  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设有一个连通平面图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，共有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个结点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条边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f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个面，则</a:t>
            </a:r>
          </a:p>
          <a:p>
            <a:pPr marL="457200" indent="-457200" algn="ctr">
              <a:lnSpc>
                <a:spcPct val="150000"/>
              </a:lnSpc>
              <a:spcBef>
                <a:spcPct val="50000"/>
              </a:spcBef>
              <a:buClr>
                <a:srgbClr val="CC3300"/>
              </a:buClr>
              <a:buFont typeface="Symbol" panose="05050102010706020507" pitchFamily="2" charset="2"/>
              <a:buNone/>
            </a:pPr>
            <a:r>
              <a:rPr lang="en-US" altLang="zh-CN" sz="2400" b="0" i="1" dirty="0" err="1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n-m</a:t>
            </a:r>
            <a:r>
              <a:rPr lang="en-US" altLang="zh-CN" sz="2400" b="0" dirty="0" err="1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+f</a:t>
            </a:r>
            <a:r>
              <a:rPr lang="zh-CN" altLang="en-US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＝</a:t>
            </a:r>
            <a:r>
              <a:rPr lang="en-US" altLang="zh-CN" sz="2400" b="0" dirty="0">
                <a:solidFill>
                  <a:schemeClr val="tx1"/>
                </a:solidFill>
                <a:effectLst/>
                <a:latin typeface="Microsoft YaHei" panose="020B0503020204020204" charset="-122"/>
                <a:ea typeface="Microsoft YaHei" panose="020B0503020204020204" charset="-122"/>
              </a:rPr>
              <a:t>2</a:t>
            </a:r>
          </a:p>
        </p:txBody>
      </p:sp>
      <p:sp>
        <p:nvSpPr>
          <p:cNvPr id="6" name="文本占位符 16386">
            <a:extLst>
              <a:ext uri="{FF2B5EF4-FFF2-40B4-BE49-F238E27FC236}">
                <a16:creationId xmlns:a16="http://schemas.microsoft.com/office/drawing/2014/main" id="{42D5E64C-6BBD-4B16-9A0F-43DE555AB5E0}"/>
              </a:ext>
            </a:extLst>
          </p:cNvPr>
          <p:cNvSpPr txBox="1">
            <a:spLocks/>
          </p:cNvSpPr>
          <p:nvPr/>
        </p:nvSpPr>
        <p:spPr>
          <a:xfrm>
            <a:off x="631825" y="5638800"/>
            <a:ext cx="7772400" cy="1219200"/>
          </a:xfrm>
          <a:prstGeom prst="rect">
            <a:avLst/>
          </a:prstGeom>
          <a:ln>
            <a:miter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buFont typeface="Arial" panose="020B0604020202020204" pitchFamily="34" charset="0"/>
              <a:buNone/>
            </a:pPr>
            <a:r>
              <a:rPr lang="en-US" altLang="zh-CN" sz="2400" noProof="1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设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为有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n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个结点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m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条边的连通平面图，若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n≥3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，则</a:t>
            </a:r>
            <a:r>
              <a:rPr lang="en-US" altLang="zh-CN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m≤3n-6</a:t>
            </a:r>
            <a:r>
              <a: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Microsoft YaHei" panose="020B0503020204020204" charset="-122"/>
                <a:ea typeface="Microsoft YaHei" panose="020B0503020204020204" charset="-122"/>
              </a:rPr>
              <a:t>。</a:t>
            </a:r>
          </a:p>
          <a:p>
            <a:pPr fontAlgn="base">
              <a:buFont typeface="Arial" panose="020B0604020202020204" pitchFamily="34" charset="0"/>
              <a:buNone/>
            </a:pPr>
            <a:endParaRPr lang="zh-CN" altLang="en-US" sz="2400" noProof="1">
              <a:effectLst>
                <a:outerShdw blurRad="38100" dist="38100" dir="2700000">
                  <a:srgbClr val="C0C0C0"/>
                </a:outerShdw>
              </a:effectLst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4657222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69981BE-D4D4-4473-A496-432EA52685DC}"/>
              </a:ext>
            </a:extLst>
          </p:cNvPr>
          <p:cNvGrpSpPr>
            <a:grpSpLocks/>
          </p:cNvGrpSpPr>
          <p:nvPr/>
        </p:nvGrpSpPr>
        <p:grpSpPr bwMode="auto">
          <a:xfrm>
            <a:off x="2929710" y="897309"/>
            <a:ext cx="1603214" cy="1494200"/>
            <a:chOff x="3840" y="576"/>
            <a:chExt cx="1378" cy="1554"/>
          </a:xfrm>
        </p:grpSpPr>
        <p:sp>
          <p:nvSpPr>
            <p:cNvPr id="5" name="Oval 6">
              <a:extLst>
                <a:ext uri="{FF2B5EF4-FFF2-40B4-BE49-F238E27FC236}">
                  <a16:creationId xmlns:a16="http://schemas.microsoft.com/office/drawing/2014/main" id="{9B879D13-D5DE-4889-95EB-6EE550442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576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Oval 7">
              <a:extLst>
                <a:ext uri="{FF2B5EF4-FFF2-40B4-BE49-F238E27FC236}">
                  <a16:creationId xmlns:a16="http://schemas.microsoft.com/office/drawing/2014/main" id="{4FE6A4F1-9625-47BE-94D1-D3EA416215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051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" name="Oval 8">
              <a:extLst>
                <a:ext uri="{FF2B5EF4-FFF2-40B4-BE49-F238E27FC236}">
                  <a16:creationId xmlns:a16="http://schemas.microsoft.com/office/drawing/2014/main" id="{36DBFF8D-5A1C-41E4-B4B8-636A7599A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8" y="1049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Oval 9">
              <a:extLst>
                <a:ext uri="{FF2B5EF4-FFF2-40B4-BE49-F238E27FC236}">
                  <a16:creationId xmlns:a16="http://schemas.microsoft.com/office/drawing/2014/main" id="{2D64878D-CA99-4BF6-9F84-67780A36F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" y="1820"/>
              <a:ext cx="89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Oval 10">
              <a:extLst>
                <a:ext uri="{FF2B5EF4-FFF2-40B4-BE49-F238E27FC236}">
                  <a16:creationId xmlns:a16="http://schemas.microsoft.com/office/drawing/2014/main" id="{F6849663-E191-4E86-90E3-5B889F73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" y="1808"/>
              <a:ext cx="90" cy="90"/>
            </a:xfrm>
            <a:prstGeom prst="ellips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820DB2A2-DC17-4090-946A-1827E2F64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636"/>
              <a:ext cx="579" cy="419"/>
            </a:xfrm>
            <a:custGeom>
              <a:avLst/>
              <a:gdLst>
                <a:gd name="T0" fmla="*/ 579 w 579"/>
                <a:gd name="T1" fmla="*/ 0 h 419"/>
                <a:gd name="T2" fmla="*/ 0 w 579"/>
                <a:gd name="T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9" h="419">
                  <a:moveTo>
                    <a:pt x="579" y="0"/>
                  </a:moveTo>
                  <a:lnTo>
                    <a:pt x="0" y="41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571F7E23-5D66-42CC-B1C8-64EC044DC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8" y="636"/>
              <a:ext cx="579" cy="423"/>
            </a:xfrm>
            <a:custGeom>
              <a:avLst/>
              <a:gdLst>
                <a:gd name="T0" fmla="*/ 0 w 579"/>
                <a:gd name="T1" fmla="*/ 0 h 423"/>
                <a:gd name="T2" fmla="*/ 579 w 579"/>
                <a:gd name="T3" fmla="*/ 423 h 4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579" h="423">
                  <a:moveTo>
                    <a:pt x="0" y="0"/>
                  </a:moveTo>
                  <a:lnTo>
                    <a:pt x="579" y="423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4C79C2DA-51CD-4161-9B57-801BF115A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1" y="1140"/>
              <a:ext cx="210" cy="684"/>
            </a:xfrm>
            <a:custGeom>
              <a:avLst/>
              <a:gdLst>
                <a:gd name="T0" fmla="*/ 210 w 210"/>
                <a:gd name="T1" fmla="*/ 0 h 684"/>
                <a:gd name="T2" fmla="*/ 0 w 210"/>
                <a:gd name="T3" fmla="*/ 684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10" h="684">
                  <a:moveTo>
                    <a:pt x="210" y="0"/>
                  </a:moveTo>
                  <a:lnTo>
                    <a:pt x="0" y="68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9626CC5F-3357-4356-A392-A71A9F1D66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884"/>
              <a:ext cx="707" cy="1"/>
            </a:xfrm>
            <a:custGeom>
              <a:avLst/>
              <a:gdLst>
                <a:gd name="T0" fmla="*/ 0 w 707"/>
                <a:gd name="T1" fmla="*/ 0 h 1"/>
                <a:gd name="T2" fmla="*/ 707 w 707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07" h="1">
                  <a:moveTo>
                    <a:pt x="0" y="0"/>
                  </a:moveTo>
                  <a:lnTo>
                    <a:pt x="707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CCCB213F-448F-4466-986C-3B5CCE4B8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1140"/>
              <a:ext cx="222" cy="696"/>
            </a:xfrm>
            <a:custGeom>
              <a:avLst/>
              <a:gdLst>
                <a:gd name="T0" fmla="*/ 0 w 222"/>
                <a:gd name="T1" fmla="*/ 0 h 696"/>
                <a:gd name="T2" fmla="*/ 222 w 222"/>
                <a:gd name="T3" fmla="*/ 696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222" h="696">
                  <a:moveTo>
                    <a:pt x="0" y="0"/>
                  </a:moveTo>
                  <a:lnTo>
                    <a:pt x="222" y="696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747EB436-352C-4946-BC5B-69D9AECA3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1134"/>
              <a:ext cx="957" cy="717"/>
            </a:xfrm>
            <a:custGeom>
              <a:avLst/>
              <a:gdLst>
                <a:gd name="T0" fmla="*/ 0 w 957"/>
                <a:gd name="T1" fmla="*/ 717 h 717"/>
                <a:gd name="T2" fmla="*/ 957 w 957"/>
                <a:gd name="T3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57" h="717">
                  <a:moveTo>
                    <a:pt x="0" y="717"/>
                  </a:moveTo>
                  <a:lnTo>
                    <a:pt x="957" y="0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A22C4609-793D-4F79-8C10-7E3C89731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1938"/>
              <a:ext cx="736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Ctr="1">
              <a:spAutoFit/>
            </a:bodyPr>
            <a:lstStyle/>
            <a:p>
              <a:r>
                <a:rPr lang="en-US" altLang="zh-CN" sz="2000" i="1" dirty="0"/>
                <a:t>K</a:t>
              </a:r>
              <a:r>
                <a:rPr lang="en-US" altLang="zh-CN" sz="2000" b="0" baseline="-25000" dirty="0"/>
                <a:t>5</a:t>
              </a:r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24831ABD-C71F-45ED-A07A-8F98F7D88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" y="666"/>
              <a:ext cx="366" cy="1158"/>
            </a:xfrm>
            <a:custGeom>
              <a:avLst/>
              <a:gdLst>
                <a:gd name="T0" fmla="*/ 366 w 366"/>
                <a:gd name="T1" fmla="*/ 0 h 1158"/>
                <a:gd name="T2" fmla="*/ 0 w 366"/>
                <a:gd name="T3" fmla="*/ 1158 h 1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6" h="1158">
                  <a:moveTo>
                    <a:pt x="366" y="0"/>
                  </a:moveTo>
                  <a:lnTo>
                    <a:pt x="0" y="1158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9">
              <a:extLst>
                <a:ext uri="{FF2B5EF4-FFF2-40B4-BE49-F238E27FC236}">
                  <a16:creationId xmlns:a16="http://schemas.microsoft.com/office/drawing/2014/main" id="{E11BA662-ABFE-42F9-BD3A-DF1BFE3B36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1" y="1089"/>
              <a:ext cx="12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D1DC1F29-9FBC-4FFF-9BF6-11BD18C93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" y="663"/>
              <a:ext cx="381" cy="1146"/>
            </a:xfrm>
            <a:custGeom>
              <a:avLst/>
              <a:gdLst>
                <a:gd name="T0" fmla="*/ 0 w 381"/>
                <a:gd name="T1" fmla="*/ 0 h 1146"/>
                <a:gd name="T2" fmla="*/ 381 w 381"/>
                <a:gd name="T3" fmla="*/ 1146 h 1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81" h="1146">
                  <a:moveTo>
                    <a:pt x="0" y="0"/>
                  </a:moveTo>
                  <a:lnTo>
                    <a:pt x="381" y="1146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F00D3BBA-0FDD-4688-A735-23139B479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1131"/>
              <a:ext cx="972" cy="708"/>
            </a:xfrm>
            <a:custGeom>
              <a:avLst/>
              <a:gdLst>
                <a:gd name="T0" fmla="*/ 0 w 972"/>
                <a:gd name="T1" fmla="*/ 0 h 708"/>
                <a:gd name="T2" fmla="*/ 972 w 972"/>
                <a:gd name="T3" fmla="*/ 708 h 7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72" h="708">
                  <a:moveTo>
                    <a:pt x="0" y="0"/>
                  </a:moveTo>
                  <a:lnTo>
                    <a:pt x="972" y="708"/>
                  </a:lnTo>
                </a:path>
              </a:pathLst>
            </a:custGeom>
            <a:noFill/>
            <a:ln w="12700" cap="sq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8580C124-AB1A-4C0B-B54E-B7394D730F0F}"/>
              </a:ext>
            </a:extLst>
          </p:cNvPr>
          <p:cNvSpPr/>
          <p:nvPr/>
        </p:nvSpPr>
        <p:spPr>
          <a:xfrm>
            <a:off x="6244699" y="1342364"/>
            <a:ext cx="23695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n=5，m=10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C56789-1B38-4D57-8714-5D2AA92E24AA}"/>
              </a:ext>
            </a:extLst>
          </p:cNvPr>
          <p:cNvSpPr/>
          <p:nvPr/>
        </p:nvSpPr>
        <p:spPr>
          <a:xfrm>
            <a:off x="6222822" y="2146949"/>
            <a:ext cx="40318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m=10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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9=3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5-6=3n-6 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" name="Group 4">
            <a:extLst>
              <a:ext uri="{FF2B5EF4-FFF2-40B4-BE49-F238E27FC236}">
                <a16:creationId xmlns:a16="http://schemas.microsoft.com/office/drawing/2014/main" id="{4D869252-9258-4A7B-B799-A3F23BC74067}"/>
              </a:ext>
            </a:extLst>
          </p:cNvPr>
          <p:cNvGrpSpPr>
            <a:grpSpLocks/>
          </p:cNvGrpSpPr>
          <p:nvPr/>
        </p:nvGrpSpPr>
        <p:grpSpPr bwMode="auto">
          <a:xfrm>
            <a:off x="3139659" y="3022478"/>
            <a:ext cx="1350217" cy="1357791"/>
            <a:chOff x="4416" y="2256"/>
            <a:chExt cx="952" cy="1053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CD1EFEF3-A5EA-4928-B610-68F7DFE51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256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6">
              <a:extLst>
                <a:ext uri="{FF2B5EF4-FFF2-40B4-BE49-F238E27FC236}">
                  <a16:creationId xmlns:a16="http://schemas.microsoft.com/office/drawing/2014/main" id="{0BB376E5-8A2E-41E2-9883-8596934BA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81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7">
              <a:extLst>
                <a:ext uri="{FF2B5EF4-FFF2-40B4-BE49-F238E27FC236}">
                  <a16:creationId xmlns:a16="http://schemas.microsoft.com/office/drawing/2014/main" id="{E16E2545-F9A4-476C-BF65-38769CB51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2352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Oval 8">
              <a:extLst>
                <a:ext uri="{FF2B5EF4-FFF2-40B4-BE49-F238E27FC236}">
                  <a16:creationId xmlns:a16="http://schemas.microsoft.com/office/drawing/2014/main" id="{93D9724A-CA56-4D85-B864-48DE9F3F7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256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9">
              <a:extLst>
                <a:ext uri="{FF2B5EF4-FFF2-40B4-BE49-F238E27FC236}">
                  <a16:creationId xmlns:a16="http://schemas.microsoft.com/office/drawing/2014/main" id="{B12F0EB4-19DB-4BA1-A123-D6FF922E9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981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2A7F3F38-21AC-4740-8958-3D95FBE3F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352"/>
              <a:ext cx="1" cy="630"/>
            </a:xfrm>
            <a:custGeom>
              <a:avLst/>
              <a:gdLst>
                <a:gd name="T0" fmla="*/ 0 w 1"/>
                <a:gd name="T1" fmla="*/ 0 h 630"/>
                <a:gd name="T2" fmla="*/ 0 w 1"/>
                <a:gd name="T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630">
                  <a:moveTo>
                    <a:pt x="0" y="0"/>
                  </a:moveTo>
                  <a:lnTo>
                    <a:pt x="0" y="63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11">
              <a:extLst>
                <a:ext uri="{FF2B5EF4-FFF2-40B4-BE49-F238E27FC236}">
                  <a16:creationId xmlns:a16="http://schemas.microsoft.com/office/drawing/2014/main" id="{C95BE3CE-AA27-4C13-8AFA-E0B0A1196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7" y="2256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Oval 12">
              <a:extLst>
                <a:ext uri="{FF2B5EF4-FFF2-40B4-BE49-F238E27FC236}">
                  <a16:creationId xmlns:a16="http://schemas.microsoft.com/office/drawing/2014/main" id="{F39DC75A-9D84-4CDC-8FFA-21D8B394E7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7" y="2981"/>
              <a:ext cx="91" cy="91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Line 13">
              <a:extLst>
                <a:ext uri="{FF2B5EF4-FFF2-40B4-BE49-F238E27FC236}">
                  <a16:creationId xmlns:a16="http://schemas.microsoft.com/office/drawing/2014/main" id="{2C46B80B-010F-4DFB-9326-1E060D8295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5" y="2352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528769CB-11F4-4ED6-A47E-CA04D5AB0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9" y="2313"/>
              <a:ext cx="774" cy="699"/>
            </a:xfrm>
            <a:custGeom>
              <a:avLst/>
              <a:gdLst>
                <a:gd name="T0" fmla="*/ 0 w 774"/>
                <a:gd name="T1" fmla="*/ 0 h 699"/>
                <a:gd name="T2" fmla="*/ 774 w 774"/>
                <a:gd name="T3" fmla="*/ 699 h 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4" h="699">
                  <a:moveTo>
                    <a:pt x="0" y="0"/>
                  </a:moveTo>
                  <a:lnTo>
                    <a:pt x="774" y="699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0B3C0C3D-8144-440B-8A24-623CF21D3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6" y="2322"/>
              <a:ext cx="771" cy="702"/>
            </a:xfrm>
            <a:custGeom>
              <a:avLst/>
              <a:gdLst>
                <a:gd name="T0" fmla="*/ 0 w 771"/>
                <a:gd name="T1" fmla="*/ 702 h 702"/>
                <a:gd name="T2" fmla="*/ 771 w 771"/>
                <a:gd name="T3" fmla="*/ 0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771" h="702">
                  <a:moveTo>
                    <a:pt x="0" y="702"/>
                  </a:moveTo>
                  <a:lnTo>
                    <a:pt x="771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52D7C14F-7CD1-42E6-9280-32FF2F8A4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2343"/>
              <a:ext cx="378" cy="651"/>
            </a:xfrm>
            <a:custGeom>
              <a:avLst/>
              <a:gdLst>
                <a:gd name="T0" fmla="*/ 0 w 378"/>
                <a:gd name="T1" fmla="*/ 0 h 651"/>
                <a:gd name="T2" fmla="*/ 378 w 378"/>
                <a:gd name="T3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8" h="651">
                  <a:moveTo>
                    <a:pt x="0" y="0"/>
                  </a:moveTo>
                  <a:lnTo>
                    <a:pt x="378" y="65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6A0956AA-7146-4B67-A1F3-1F5DD937E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" y="2334"/>
              <a:ext cx="375" cy="660"/>
            </a:xfrm>
            <a:custGeom>
              <a:avLst/>
              <a:gdLst>
                <a:gd name="T0" fmla="*/ 375 w 375"/>
                <a:gd name="T1" fmla="*/ 0 h 660"/>
                <a:gd name="T2" fmla="*/ 0 w 375"/>
                <a:gd name="T3" fmla="*/ 660 h 6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5" h="660">
                  <a:moveTo>
                    <a:pt x="375" y="0"/>
                  </a:moveTo>
                  <a:lnTo>
                    <a:pt x="0" y="66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5A4AB9EE-4622-4269-9E3F-3437023D3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6" y="2340"/>
              <a:ext cx="375" cy="651"/>
            </a:xfrm>
            <a:custGeom>
              <a:avLst/>
              <a:gdLst>
                <a:gd name="T0" fmla="*/ 0 w 375"/>
                <a:gd name="T1" fmla="*/ 0 h 651"/>
                <a:gd name="T2" fmla="*/ 375 w 375"/>
                <a:gd name="T3" fmla="*/ 651 h 6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75" h="651">
                  <a:moveTo>
                    <a:pt x="0" y="0"/>
                  </a:moveTo>
                  <a:lnTo>
                    <a:pt x="375" y="65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6067164F-5B45-4338-B877-9E0FC582F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346"/>
              <a:ext cx="363" cy="654"/>
            </a:xfrm>
            <a:custGeom>
              <a:avLst/>
              <a:gdLst>
                <a:gd name="T0" fmla="*/ 0 w 363"/>
                <a:gd name="T1" fmla="*/ 654 h 654"/>
                <a:gd name="T2" fmla="*/ 363 w 363"/>
                <a:gd name="T3" fmla="*/ 0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363" h="654">
                  <a:moveTo>
                    <a:pt x="0" y="654"/>
                  </a:moveTo>
                  <a:lnTo>
                    <a:pt x="363" y="0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Box 20">
              <a:extLst>
                <a:ext uri="{FF2B5EF4-FFF2-40B4-BE49-F238E27FC236}">
                  <a16:creationId xmlns:a16="http://schemas.microsoft.com/office/drawing/2014/main" id="{FE9431B8-1792-4955-B9D7-60614E75F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117"/>
              <a:ext cx="67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 anchorCtr="1">
              <a:spAutoFit/>
            </a:bodyPr>
            <a:lstStyle/>
            <a:p>
              <a:r>
                <a:rPr lang="en-US" altLang="zh-CN" sz="2000" i="1" dirty="0">
                  <a:solidFill>
                    <a:srgbClr val="000000"/>
                  </a:solidFill>
                </a:rPr>
                <a:t>K</a:t>
              </a:r>
              <a:r>
                <a:rPr lang="en-US" altLang="zh-CN" sz="2000" b="0" baseline="-25000" dirty="0">
                  <a:solidFill>
                    <a:srgbClr val="000000"/>
                  </a:solidFill>
                </a:rPr>
                <a:t>3,3</a:t>
              </a:r>
            </a:p>
          </p:txBody>
        </p: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50F5F0E0-6392-433A-B0F3-5F77683B50AE}"/>
              </a:ext>
            </a:extLst>
          </p:cNvPr>
          <p:cNvSpPr/>
          <p:nvPr/>
        </p:nvSpPr>
        <p:spPr>
          <a:xfrm>
            <a:off x="6096000" y="2988552"/>
            <a:ext cx="39260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m=9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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12=3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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6-6=3n-6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5E26E16-4930-49CB-B400-82D050E8B25A}"/>
              </a:ext>
            </a:extLst>
          </p:cNvPr>
          <p:cNvSpPr/>
          <p:nvPr/>
        </p:nvSpPr>
        <p:spPr>
          <a:xfrm>
            <a:off x="6617801" y="3878085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Symbol" panose="05050102010706020507" pitchFamily="18" charset="2"/>
              </a:rPr>
              <a:t>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2n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endParaRPr lang="zh-CN" alt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54350B6E-D420-4B60-A88A-91A9E0F21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4823373"/>
            <a:ext cx="8064500" cy="111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defRPr sz="2800" b="1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设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G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是一个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(n, m)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简单连通平面图，若每个面的次数至少为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k(k≥3)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，则有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/>
                <a:ea typeface="黑体"/>
                <a:cs typeface="+mn-cs"/>
              </a:rPr>
              <a:t> </a:t>
            </a:r>
          </a:p>
        </p:txBody>
      </p:sp>
      <p:graphicFrame>
        <p:nvGraphicFramePr>
          <p:cNvPr id="44" name="Object 4">
            <a:extLst>
              <a:ext uri="{FF2B5EF4-FFF2-40B4-BE49-F238E27FC236}">
                <a16:creationId xmlns:a16="http://schemas.microsoft.com/office/drawing/2014/main" id="{95E7DF9A-8136-4D08-B995-F678272C17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631446"/>
              </p:ext>
            </p:extLst>
          </p:nvPr>
        </p:nvGraphicFramePr>
        <p:xfrm>
          <a:off x="5934198" y="5377204"/>
          <a:ext cx="2541587" cy="985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2960" imgH="393480" progId="Equation.DSMT4">
                  <p:embed/>
                </p:oleObj>
              </mc:Choice>
              <mc:Fallback>
                <p:oleObj name="Equation" r:id="rId4" imgW="1002960" imgH="393480" progId="Equation.DSMT4">
                  <p:embed/>
                  <p:pic>
                    <p:nvPicPr>
                      <p:cNvPr id="1474564" name="Object 4">
                        <a:extLst>
                          <a:ext uri="{FF2B5EF4-FFF2-40B4-BE49-F238E27FC236}">
                            <a16:creationId xmlns:a16="http://schemas.microsoft.com/office/drawing/2014/main" id="{87C318E2-980F-42D8-8F1F-28DB7BBD8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4198" y="5377204"/>
                        <a:ext cx="2541587" cy="9858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5988968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7410">
            <a:extLst>
              <a:ext uri="{FF2B5EF4-FFF2-40B4-BE49-F238E27FC236}">
                <a16:creationId xmlns:a16="http://schemas.microsoft.com/office/drawing/2014/main" id="{64EAF1D7-9DE3-4692-9368-789228884F67}"/>
              </a:ext>
            </a:extLst>
          </p:cNvPr>
          <p:cNvSpPr txBox="1">
            <a:spLocks/>
          </p:cNvSpPr>
          <p:nvPr/>
        </p:nvSpPr>
        <p:spPr>
          <a:xfrm>
            <a:off x="1571625" y="1455738"/>
            <a:ext cx="8766175" cy="103759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（Kuratowski’s Theorem）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图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是平面图，当且仅当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2400" baseline="-25000"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与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K</a:t>
            </a:r>
            <a:r>
              <a:rPr lang="en-US" altLang="zh-CN" sz="2400" baseline="-25000">
                <a:latin typeface="Microsoft YaHei" panose="020B0503020204020204" charset="-122"/>
                <a:ea typeface="Microsoft YaHei" panose="020B0503020204020204" charset="-122"/>
              </a:rPr>
              <a:t>3,3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的任何细分图都不是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sz="2400">
                <a:latin typeface="Microsoft YaHei" panose="020B0503020204020204" charset="-122"/>
                <a:ea typeface="Microsoft YaHei" panose="020B0503020204020204" charset="-122"/>
              </a:rPr>
              <a:t>的子图</a:t>
            </a:r>
            <a:r>
              <a:rPr lang="en-US" altLang="zh-CN" sz="2400">
                <a:latin typeface="Microsoft YaHei" panose="020B0503020204020204" charset="-122"/>
                <a:ea typeface="Microsoft YaHei" panose="020B0503020204020204" charset="-122"/>
              </a:rPr>
              <a:t>.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 </a:t>
            </a: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59D6AD-47CF-4C8F-B73A-B43EA97CD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725" y="2925128"/>
            <a:ext cx="6121400" cy="26701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17412" descr="Image8">
            <a:extLst>
              <a:ext uri="{FF2B5EF4-FFF2-40B4-BE49-F238E27FC236}">
                <a16:creationId xmlns:a16="http://schemas.microsoft.com/office/drawing/2014/main" id="{6731C739-2778-45B2-9BDE-9FEE6677AB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2500" y="3141028"/>
            <a:ext cx="1800225" cy="1714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17415">
            <a:extLst>
              <a:ext uri="{FF2B5EF4-FFF2-40B4-BE49-F238E27FC236}">
                <a16:creationId xmlns:a16="http://schemas.microsoft.com/office/drawing/2014/main" id="{68551385-8E5A-4494-9FDC-1B4DAAAC0223}"/>
              </a:ext>
            </a:extLst>
          </p:cNvPr>
          <p:cNvSpPr txBox="1"/>
          <p:nvPr/>
        </p:nvSpPr>
        <p:spPr>
          <a:xfrm>
            <a:off x="2417763" y="5393691"/>
            <a:ext cx="138366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>
                <a:solidFill>
                  <a:srgbClr val="3333FF"/>
                </a:solidFill>
                <a:latin typeface="Times New Roman" panose="02020603050405020304" pitchFamily="2" charset="0"/>
                <a:ea typeface="SimSun" panose="02010600030101010101" pitchFamily="2" charset="-122"/>
              </a:rPr>
              <a:t>Peterson</a:t>
            </a:r>
            <a:r>
              <a:rPr lang="zh-CN" altLang="en-US" sz="2000">
                <a:solidFill>
                  <a:srgbClr val="3333FF"/>
                </a:solidFill>
                <a:latin typeface="Times New Roman" panose="02020603050405020304" pitchFamily="2" charset="0"/>
                <a:ea typeface="SimSun" panose="02010600030101010101" pitchFamily="2" charset="-122"/>
              </a:rPr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244293259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内容占位符 17410">
            <a:extLst>
              <a:ext uri="{FF2B5EF4-FFF2-40B4-BE49-F238E27FC236}">
                <a16:creationId xmlns:a16="http://schemas.microsoft.com/office/drawing/2014/main" id="{64EAF1D7-9DE3-4692-9368-789228884F67}"/>
              </a:ext>
            </a:extLst>
          </p:cNvPr>
          <p:cNvSpPr txBox="1">
            <a:spLocks/>
          </p:cNvSpPr>
          <p:nvPr/>
        </p:nvSpPr>
        <p:spPr>
          <a:xfrm>
            <a:off x="1571625" y="936943"/>
            <a:ext cx="8766175" cy="103759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（Kuratowski’s Theorem）</a:t>
            </a:r>
            <a:r>
              <a:rPr lang="zh-CN" altLang="en-US" sz="2400" dirty="0">
                <a:solidFill>
                  <a:srgbClr val="0000FF"/>
                </a:solidFill>
              </a:rPr>
              <a:t>一个图是平面图的充分必要条件是它的任何子图都不可能收缩为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5</a:t>
            </a:r>
            <a:r>
              <a:rPr lang="zh-CN" altLang="en-US" sz="2400" dirty="0">
                <a:solidFill>
                  <a:srgbClr val="0000FF"/>
                </a:solidFill>
              </a:rPr>
              <a:t>或</a:t>
            </a:r>
            <a:r>
              <a:rPr lang="en-US" altLang="zh-CN" sz="2400" dirty="0">
                <a:solidFill>
                  <a:srgbClr val="0000FF"/>
                </a:solidFill>
              </a:rPr>
              <a:t>K</a:t>
            </a:r>
            <a:r>
              <a:rPr lang="en-US" altLang="zh-CN" sz="2400" baseline="-25000" dirty="0">
                <a:solidFill>
                  <a:srgbClr val="0000FF"/>
                </a:solidFill>
              </a:rPr>
              <a:t>3,3</a:t>
            </a:r>
            <a:r>
              <a:rPr lang="zh-CN" altLang="en-US" sz="2400" dirty="0">
                <a:solidFill>
                  <a:srgbClr val="0000FF"/>
                </a:solidFill>
              </a:rPr>
              <a:t>。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</p:txBody>
      </p:sp>
      <p:grpSp>
        <p:nvGrpSpPr>
          <p:cNvPr id="8" name="Group 119">
            <a:extLst>
              <a:ext uri="{FF2B5EF4-FFF2-40B4-BE49-F238E27FC236}">
                <a16:creationId xmlns:a16="http://schemas.microsoft.com/office/drawing/2014/main" id="{B9DDD4D0-0F3A-4D16-B823-3918AAF68759}"/>
              </a:ext>
            </a:extLst>
          </p:cNvPr>
          <p:cNvGrpSpPr>
            <a:grpSpLocks/>
          </p:cNvGrpSpPr>
          <p:nvPr/>
        </p:nvGrpSpPr>
        <p:grpSpPr bwMode="auto">
          <a:xfrm>
            <a:off x="514512" y="2109534"/>
            <a:ext cx="2846388" cy="2852737"/>
            <a:chOff x="340" y="1344"/>
            <a:chExt cx="1793" cy="1797"/>
          </a:xfrm>
        </p:grpSpPr>
        <p:sp>
          <p:nvSpPr>
            <p:cNvPr id="9" name="Line 5">
              <a:extLst>
                <a:ext uri="{FF2B5EF4-FFF2-40B4-BE49-F238E27FC236}">
                  <a16:creationId xmlns:a16="http://schemas.microsoft.com/office/drawing/2014/main" id="{D342FF2F-1AF4-4474-B511-FBC1F4B2594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29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" name="Line 6">
              <a:extLst>
                <a:ext uri="{FF2B5EF4-FFF2-40B4-BE49-F238E27FC236}">
                  <a16:creationId xmlns:a16="http://schemas.microsoft.com/office/drawing/2014/main" id="{B98494B4-BD5E-4C9A-BA0C-1E9FB42E94E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04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85700AE3-DFE6-4CE7-AD74-0CA6A973F93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460" y="2686"/>
              <a:ext cx="156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54E7FFA1-4341-42AD-A6A4-0784584D9B7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2" y="2274"/>
              <a:ext cx="272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BE8DD6AA-708B-437C-9129-9F8FAA0CFC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637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790E6358-06D6-45AE-8633-A66738F622D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50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Oval 11">
              <a:extLst>
                <a:ext uri="{FF2B5EF4-FFF2-40B4-BE49-F238E27FC236}">
                  <a16:creationId xmlns:a16="http://schemas.microsoft.com/office/drawing/2014/main" id="{E4BDAAB1-F403-4EA7-865C-4BBC2D51D1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96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Oval 12">
              <a:extLst>
                <a:ext uri="{FF2B5EF4-FFF2-40B4-BE49-F238E27FC236}">
                  <a16:creationId xmlns:a16="http://schemas.microsoft.com/office/drawing/2014/main" id="{D5F0A854-0995-4396-9F16-3455ECBBE50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80" y="1649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Oval 13">
              <a:extLst>
                <a:ext uri="{FF2B5EF4-FFF2-40B4-BE49-F238E27FC236}">
                  <a16:creationId xmlns:a16="http://schemas.microsoft.com/office/drawing/2014/main" id="{0D641ED9-03C4-4993-A226-9CE6EF4A33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8" y="2228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10D090AB-8321-4109-B058-6B093F31667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98" y="1692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88745A89-DCF9-4A18-9E52-9E4C47B736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9" y="2265"/>
              <a:ext cx="136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EDF212B0-3934-4B8E-BB63-B680C94B115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981" y="2022"/>
              <a:ext cx="217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8CB760B8-2C23-48E3-A088-CF2F4AF0E96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41" y="2028"/>
              <a:ext cx="217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B4DE8321-C999-4838-BDF2-3B30C6385E0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1018" y="2261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74923F2B-2E67-40D2-91A1-EBF63EAC9D3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26" y="2266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0817A21F-CD90-4179-AE36-7556202177F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214" y="1727"/>
              <a:ext cx="0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2">
              <a:extLst>
                <a:ext uri="{FF2B5EF4-FFF2-40B4-BE49-F238E27FC236}">
                  <a16:creationId xmlns:a16="http://schemas.microsoft.com/office/drawing/2014/main" id="{49451B5B-D1B1-45BE-9B4A-86A5EE0EF4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803" y="2687"/>
              <a:ext cx="191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Oval 23">
              <a:extLst>
                <a:ext uri="{FF2B5EF4-FFF2-40B4-BE49-F238E27FC236}">
                  <a16:creationId xmlns:a16="http://schemas.microsoft.com/office/drawing/2014/main" id="{664C0344-F50D-4A1C-B2D4-FAC16AEF54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92" y="2229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7" name="Oval 24">
              <a:extLst>
                <a:ext uri="{FF2B5EF4-FFF2-40B4-BE49-F238E27FC236}">
                  <a16:creationId xmlns:a16="http://schemas.microsoft.com/office/drawing/2014/main" id="{0A8ACE59-9350-41E5-B858-99B7612CC56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4" y="222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Oval 25">
              <a:extLst>
                <a:ext uri="{FF2B5EF4-FFF2-40B4-BE49-F238E27FC236}">
                  <a16:creationId xmlns:a16="http://schemas.microsoft.com/office/drawing/2014/main" id="{1CAEC7AE-09CF-4267-9F73-31ABF1A5AF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2" y="2222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Text Box 26">
              <a:extLst>
                <a:ext uri="{FF2B5EF4-FFF2-40B4-BE49-F238E27FC236}">
                  <a16:creationId xmlns:a16="http://schemas.microsoft.com/office/drawing/2014/main" id="{5636CA78-8B28-4D37-A1B6-208F599DC1A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100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30" name="Text Box 27">
              <a:extLst>
                <a:ext uri="{FF2B5EF4-FFF2-40B4-BE49-F238E27FC236}">
                  <a16:creationId xmlns:a16="http://schemas.microsoft.com/office/drawing/2014/main" id="{4FC57EBC-1C92-463F-BBF9-B1C21EC98E8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0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31" name="Text Box 28">
              <a:extLst>
                <a:ext uri="{FF2B5EF4-FFF2-40B4-BE49-F238E27FC236}">
                  <a16:creationId xmlns:a16="http://schemas.microsoft.com/office/drawing/2014/main" id="{1CE89A09-63F9-4799-8723-92ABC149E6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91" y="291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32" name="Text Box 29">
              <a:extLst>
                <a:ext uri="{FF2B5EF4-FFF2-40B4-BE49-F238E27FC236}">
                  <a16:creationId xmlns:a16="http://schemas.microsoft.com/office/drawing/2014/main" id="{ED931429-DF9F-474A-A732-C0902FF06C9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75" y="291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33" name="Text Box 30">
              <a:extLst>
                <a:ext uri="{FF2B5EF4-FFF2-40B4-BE49-F238E27FC236}">
                  <a16:creationId xmlns:a16="http://schemas.microsoft.com/office/drawing/2014/main" id="{3E7F5BA2-AA8C-4A18-81D3-8189750DA15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860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34" name="Text Box 31">
              <a:extLst>
                <a:ext uri="{FF2B5EF4-FFF2-40B4-BE49-F238E27FC236}">
                  <a16:creationId xmlns:a16="http://schemas.microsoft.com/office/drawing/2014/main" id="{8EC7625C-8D7F-4499-9F04-3A13BE87591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82" y="1831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35" name="Text Box 32">
              <a:extLst>
                <a:ext uri="{FF2B5EF4-FFF2-40B4-BE49-F238E27FC236}">
                  <a16:creationId xmlns:a16="http://schemas.microsoft.com/office/drawing/2014/main" id="{5E15D5C9-247C-4D88-AB91-AA5EFED2B02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8" y="2218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36" name="Text Box 33">
              <a:extLst>
                <a:ext uri="{FF2B5EF4-FFF2-40B4-BE49-F238E27FC236}">
                  <a16:creationId xmlns:a16="http://schemas.microsoft.com/office/drawing/2014/main" id="{AC786AE0-A175-46E1-949D-F98E1DFAB75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990" y="262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37" name="Text Box 34">
              <a:extLst>
                <a:ext uri="{FF2B5EF4-FFF2-40B4-BE49-F238E27FC236}">
                  <a16:creationId xmlns:a16="http://schemas.microsoft.com/office/drawing/2014/main" id="{4345EFF4-CE09-4AA9-B541-DB6580513F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286" y="2632"/>
              <a:ext cx="27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38" name="Text Box 35">
              <a:extLst>
                <a:ext uri="{FF2B5EF4-FFF2-40B4-BE49-F238E27FC236}">
                  <a16:creationId xmlns:a16="http://schemas.microsoft.com/office/drawing/2014/main" id="{3E329224-DD94-4BE3-BE1E-DE994644071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78" y="2229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39" name="Oval 36">
              <a:extLst>
                <a:ext uri="{FF2B5EF4-FFF2-40B4-BE49-F238E27FC236}">
                  <a16:creationId xmlns:a16="http://schemas.microsoft.com/office/drawing/2014/main" id="{F43501F7-C8CE-4057-A148-A1F4932DA91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65" y="2650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0" name="Oval 37">
              <a:extLst>
                <a:ext uri="{FF2B5EF4-FFF2-40B4-BE49-F238E27FC236}">
                  <a16:creationId xmlns:a16="http://schemas.microsoft.com/office/drawing/2014/main" id="{DDAA56DD-EA77-4E31-8E4D-1B355F317D0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12" y="2636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1" name="Oval 38">
              <a:extLst>
                <a:ext uri="{FF2B5EF4-FFF2-40B4-BE49-F238E27FC236}">
                  <a16:creationId xmlns:a16="http://schemas.microsoft.com/office/drawing/2014/main" id="{4BEA8E99-2CDC-4BAC-B9EB-EBD273C7E2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179" y="197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2" name="Group 121">
            <a:extLst>
              <a:ext uri="{FF2B5EF4-FFF2-40B4-BE49-F238E27FC236}">
                <a16:creationId xmlns:a16="http://schemas.microsoft.com/office/drawing/2014/main" id="{72653427-7B81-437D-AE32-2EC1BECD110A}"/>
              </a:ext>
            </a:extLst>
          </p:cNvPr>
          <p:cNvGrpSpPr>
            <a:grpSpLocks/>
          </p:cNvGrpSpPr>
          <p:nvPr/>
        </p:nvGrpSpPr>
        <p:grpSpPr bwMode="auto">
          <a:xfrm>
            <a:off x="4204676" y="2161854"/>
            <a:ext cx="2338136" cy="2310824"/>
            <a:chOff x="4516" y="1344"/>
            <a:chExt cx="1793" cy="1796"/>
          </a:xfrm>
        </p:grpSpPr>
        <p:sp>
          <p:nvSpPr>
            <p:cNvPr id="43" name="Line 61">
              <a:extLst>
                <a:ext uri="{FF2B5EF4-FFF2-40B4-BE49-F238E27FC236}">
                  <a16:creationId xmlns:a16="http://schemas.microsoft.com/office/drawing/2014/main" id="{00D02290-B091-48A2-BBE2-EE508474839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812" y="2260"/>
              <a:ext cx="273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62">
              <a:extLst>
                <a:ext uri="{FF2B5EF4-FFF2-40B4-BE49-F238E27FC236}">
                  <a16:creationId xmlns:a16="http://schemas.microsoft.com/office/drawing/2014/main" id="{D3B5B772-09CD-4F1C-BD49-8C45512E4B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05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Line 63">
              <a:extLst>
                <a:ext uri="{FF2B5EF4-FFF2-40B4-BE49-F238E27FC236}">
                  <a16:creationId xmlns:a16="http://schemas.microsoft.com/office/drawing/2014/main" id="{0D2872AD-9B1F-4159-954B-CC11F3AAF01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981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6" name="Line 64">
              <a:extLst>
                <a:ext uri="{FF2B5EF4-FFF2-40B4-BE49-F238E27FC236}">
                  <a16:creationId xmlns:a16="http://schemas.microsoft.com/office/drawing/2014/main" id="{C8071BBA-290D-4A4A-8A10-60FBB6693EA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636" y="2686"/>
              <a:ext cx="156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7" name="Line 65">
              <a:extLst>
                <a:ext uri="{FF2B5EF4-FFF2-40B4-BE49-F238E27FC236}">
                  <a16:creationId xmlns:a16="http://schemas.microsoft.com/office/drawing/2014/main" id="{2FA1207F-1F96-45A7-8B5B-25D50A6CAA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78" y="227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Line 66">
              <a:extLst>
                <a:ext uri="{FF2B5EF4-FFF2-40B4-BE49-F238E27FC236}">
                  <a16:creationId xmlns:a16="http://schemas.microsoft.com/office/drawing/2014/main" id="{B0EABB8C-A2E3-44E1-90BF-F14DDCEC834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813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Oval 67">
              <a:extLst>
                <a:ext uri="{FF2B5EF4-FFF2-40B4-BE49-F238E27FC236}">
                  <a16:creationId xmlns:a16="http://schemas.microsoft.com/office/drawing/2014/main" id="{673B98C3-F99D-411C-B03C-268F4EAA984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27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Oval 68">
              <a:extLst>
                <a:ext uri="{FF2B5EF4-FFF2-40B4-BE49-F238E27FC236}">
                  <a16:creationId xmlns:a16="http://schemas.microsoft.com/office/drawing/2014/main" id="{43EA5923-0A97-4441-9071-EF38E625B8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73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1" name="Oval 69">
              <a:extLst>
                <a:ext uri="{FF2B5EF4-FFF2-40B4-BE49-F238E27FC236}">
                  <a16:creationId xmlns:a16="http://schemas.microsoft.com/office/drawing/2014/main" id="{B6D589F9-B638-42D5-BC43-74554C823EA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56" y="1649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2" name="Oval 70">
              <a:extLst>
                <a:ext uri="{FF2B5EF4-FFF2-40B4-BE49-F238E27FC236}">
                  <a16:creationId xmlns:a16="http://schemas.microsoft.com/office/drawing/2014/main" id="{C1D8F884-52AD-46AC-BC4C-9F013620C3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064" y="222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3" name="Line 71">
              <a:extLst>
                <a:ext uri="{FF2B5EF4-FFF2-40B4-BE49-F238E27FC236}">
                  <a16:creationId xmlns:a16="http://schemas.microsoft.com/office/drawing/2014/main" id="{4AC89FEF-1165-4795-A7EB-31980D457A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675" y="1692"/>
              <a:ext cx="680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73">
              <a:extLst>
                <a:ext uri="{FF2B5EF4-FFF2-40B4-BE49-F238E27FC236}">
                  <a16:creationId xmlns:a16="http://schemas.microsoft.com/office/drawing/2014/main" id="{5E6E7E09-6456-4111-BDF2-3AE095533C3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695" y="2260"/>
              <a:ext cx="272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5" name="Line 74">
              <a:extLst>
                <a:ext uri="{FF2B5EF4-FFF2-40B4-BE49-F238E27FC236}">
                  <a16:creationId xmlns:a16="http://schemas.microsoft.com/office/drawing/2014/main" id="{D3AC54AB-2F81-48F0-BD82-4D31D88B171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157" y="2022"/>
              <a:ext cx="217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6" name="Line 75">
              <a:extLst>
                <a:ext uri="{FF2B5EF4-FFF2-40B4-BE49-F238E27FC236}">
                  <a16:creationId xmlns:a16="http://schemas.microsoft.com/office/drawing/2014/main" id="{DFA013AA-88ED-4E75-9417-D7BA43A64A1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417" y="2028"/>
              <a:ext cx="218" cy="647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76">
              <a:extLst>
                <a:ext uri="{FF2B5EF4-FFF2-40B4-BE49-F238E27FC236}">
                  <a16:creationId xmlns:a16="http://schemas.microsoft.com/office/drawing/2014/main" id="{B7B29468-4605-4DC7-A994-5C44294B182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5194" y="2261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77">
              <a:extLst>
                <a:ext uri="{FF2B5EF4-FFF2-40B4-BE49-F238E27FC236}">
                  <a16:creationId xmlns:a16="http://schemas.microsoft.com/office/drawing/2014/main" id="{09E5B1D6-F60D-415A-B196-71AD9B67C1C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02" y="2266"/>
              <a:ext cx="612" cy="40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Line 78">
              <a:extLst>
                <a:ext uri="{FF2B5EF4-FFF2-40B4-BE49-F238E27FC236}">
                  <a16:creationId xmlns:a16="http://schemas.microsoft.com/office/drawing/2014/main" id="{5525A42D-1B1A-4262-8F1D-6A1698EB3F4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390" y="1727"/>
              <a:ext cx="0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79">
              <a:extLst>
                <a:ext uri="{FF2B5EF4-FFF2-40B4-BE49-F238E27FC236}">
                  <a16:creationId xmlns:a16="http://schemas.microsoft.com/office/drawing/2014/main" id="{9CE20813-4F75-4AFD-9473-A4CCCD5D10B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979" y="2687"/>
              <a:ext cx="191" cy="27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Oval 80">
              <a:extLst>
                <a:ext uri="{FF2B5EF4-FFF2-40B4-BE49-F238E27FC236}">
                  <a16:creationId xmlns:a16="http://schemas.microsoft.com/office/drawing/2014/main" id="{2A8824E0-297A-4063-9CA1-A459159F6C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768" y="222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Oval 81">
              <a:extLst>
                <a:ext uri="{FF2B5EF4-FFF2-40B4-BE49-F238E27FC236}">
                  <a16:creationId xmlns:a16="http://schemas.microsoft.com/office/drawing/2014/main" id="{D4C464EF-2EB1-4E4C-BF37-0671D14C5A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60" y="222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Oval 82">
              <a:extLst>
                <a:ext uri="{FF2B5EF4-FFF2-40B4-BE49-F238E27FC236}">
                  <a16:creationId xmlns:a16="http://schemas.microsoft.com/office/drawing/2014/main" id="{1B6FAFE7-601A-4CAC-B7E4-20AB9898E6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39" y="222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Text Box 83">
              <a:extLst>
                <a:ext uri="{FF2B5EF4-FFF2-40B4-BE49-F238E27FC236}">
                  <a16:creationId xmlns:a16="http://schemas.microsoft.com/office/drawing/2014/main" id="{C08EEF3A-C153-47AC-8CD6-8BDB33FF8E1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276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65" name="Text Box 84">
              <a:extLst>
                <a:ext uri="{FF2B5EF4-FFF2-40B4-BE49-F238E27FC236}">
                  <a16:creationId xmlns:a16="http://schemas.microsoft.com/office/drawing/2014/main" id="{F2FCA060-F06C-4F87-9217-CDF38DBED5B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516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66" name="Text Box 85">
              <a:extLst>
                <a:ext uri="{FF2B5EF4-FFF2-40B4-BE49-F238E27FC236}">
                  <a16:creationId xmlns:a16="http://schemas.microsoft.com/office/drawing/2014/main" id="{816AFC7A-7A6C-41CC-BB5B-7DAAFAE7C5B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767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67" name="Text Box 86">
              <a:extLst>
                <a:ext uri="{FF2B5EF4-FFF2-40B4-BE49-F238E27FC236}">
                  <a16:creationId xmlns:a16="http://schemas.microsoft.com/office/drawing/2014/main" id="{B388698C-CD10-4C46-955B-F215A161951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51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v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68" name="Text Box 87">
              <a:extLst>
                <a:ext uri="{FF2B5EF4-FFF2-40B4-BE49-F238E27FC236}">
                  <a16:creationId xmlns:a16="http://schemas.microsoft.com/office/drawing/2014/main" id="{1490A8A6-28F2-4C9D-82BB-EE3E88E41BC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037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v</a:t>
              </a:r>
              <a:r>
                <a:rPr lang="en-US" altLang="zh-CN" b="1" baseline="-25000" dirty="0"/>
                <a:t>5</a:t>
              </a:r>
              <a:endParaRPr lang="en-US" altLang="zh-CN" b="1" dirty="0"/>
            </a:p>
          </p:txBody>
        </p:sp>
        <p:sp>
          <p:nvSpPr>
            <p:cNvPr id="69" name="Text Box 88">
              <a:extLst>
                <a:ext uri="{FF2B5EF4-FFF2-40B4-BE49-F238E27FC236}">
                  <a16:creationId xmlns:a16="http://schemas.microsoft.com/office/drawing/2014/main" id="{D02573E7-46FD-423A-9C87-0A1DDFC63E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58" y="1831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70" name="Text Box 89">
              <a:extLst>
                <a:ext uri="{FF2B5EF4-FFF2-40B4-BE49-F238E27FC236}">
                  <a16:creationId xmlns:a16="http://schemas.microsoft.com/office/drawing/2014/main" id="{18D26D4F-1F20-4BE4-9F35-C4712C1F1B2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885" y="2218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71" name="Text Box 90">
              <a:extLst>
                <a:ext uri="{FF2B5EF4-FFF2-40B4-BE49-F238E27FC236}">
                  <a16:creationId xmlns:a16="http://schemas.microsoft.com/office/drawing/2014/main" id="{FDEC92C1-8E7F-413C-9E47-46CB964C4A2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167" y="262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u</a:t>
              </a:r>
              <a:r>
                <a:rPr lang="en-US" altLang="zh-CN" b="1" baseline="-25000" dirty="0"/>
                <a:t>3</a:t>
              </a:r>
              <a:endParaRPr lang="en-US" altLang="zh-CN" b="1" dirty="0"/>
            </a:p>
          </p:txBody>
        </p:sp>
        <p:sp>
          <p:nvSpPr>
            <p:cNvPr id="72" name="Text Box 91">
              <a:extLst>
                <a:ext uri="{FF2B5EF4-FFF2-40B4-BE49-F238E27FC236}">
                  <a16:creationId xmlns:a16="http://schemas.microsoft.com/office/drawing/2014/main" id="{2FDAB313-9828-4A91-967F-8ABA8586D76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462" y="2632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73" name="Text Box 92">
              <a:extLst>
                <a:ext uri="{FF2B5EF4-FFF2-40B4-BE49-F238E27FC236}">
                  <a16:creationId xmlns:a16="http://schemas.microsoft.com/office/drawing/2014/main" id="{E6D2CF78-C2CA-46EC-8253-52F6EF7BD49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5755" y="2229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u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74" name="Oval 93">
              <a:extLst>
                <a:ext uri="{FF2B5EF4-FFF2-40B4-BE49-F238E27FC236}">
                  <a16:creationId xmlns:a16="http://schemas.microsoft.com/office/drawing/2014/main" id="{7A1968D4-5B72-4293-936C-67124B12E6E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141" y="2650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5" name="Oval 94">
              <a:extLst>
                <a:ext uri="{FF2B5EF4-FFF2-40B4-BE49-F238E27FC236}">
                  <a16:creationId xmlns:a16="http://schemas.microsoft.com/office/drawing/2014/main" id="{1C91A735-7DB2-488B-BCCD-341BF1A8C5B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588" y="2636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76" name="Oval 95">
              <a:extLst>
                <a:ext uri="{FF2B5EF4-FFF2-40B4-BE49-F238E27FC236}">
                  <a16:creationId xmlns:a16="http://schemas.microsoft.com/office/drawing/2014/main" id="{880EA21A-8200-48C2-898F-164A86FE0B6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55" y="197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7" name="Group 120">
            <a:extLst>
              <a:ext uri="{FF2B5EF4-FFF2-40B4-BE49-F238E27FC236}">
                <a16:creationId xmlns:a16="http://schemas.microsoft.com/office/drawing/2014/main" id="{C1A94F98-A044-4942-B087-B4C699B5212A}"/>
              </a:ext>
            </a:extLst>
          </p:cNvPr>
          <p:cNvGrpSpPr>
            <a:grpSpLocks/>
          </p:cNvGrpSpPr>
          <p:nvPr/>
        </p:nvGrpSpPr>
        <p:grpSpPr bwMode="auto">
          <a:xfrm>
            <a:off x="7703275" y="2101596"/>
            <a:ext cx="2846387" cy="2851150"/>
            <a:chOff x="2428" y="1344"/>
            <a:chExt cx="1793" cy="1796"/>
          </a:xfrm>
        </p:grpSpPr>
        <p:sp>
          <p:nvSpPr>
            <p:cNvPr id="78" name="Text Box 40">
              <a:extLst>
                <a:ext uri="{FF2B5EF4-FFF2-40B4-BE49-F238E27FC236}">
                  <a16:creationId xmlns:a16="http://schemas.microsoft.com/office/drawing/2014/main" id="{2508F071-9B90-4516-971D-188E81C4EC5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63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79" name="Line 41">
              <a:extLst>
                <a:ext uri="{FF2B5EF4-FFF2-40B4-BE49-F238E27FC236}">
                  <a16:creationId xmlns:a16="http://schemas.microsoft.com/office/drawing/2014/main" id="{72BF49A4-BAE3-42E9-8D0E-864623E9EAB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7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0" name="Line 42">
              <a:extLst>
                <a:ext uri="{FF2B5EF4-FFF2-40B4-BE49-F238E27FC236}">
                  <a16:creationId xmlns:a16="http://schemas.microsoft.com/office/drawing/2014/main" id="{D8321377-8AD7-4C1D-8BA8-DE56B03C698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892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1" name="Line 43">
              <a:extLst>
                <a:ext uri="{FF2B5EF4-FFF2-40B4-BE49-F238E27FC236}">
                  <a16:creationId xmlns:a16="http://schemas.microsoft.com/office/drawing/2014/main" id="{BD69F6AE-8AC3-435F-9719-707E60234B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90" y="2274"/>
              <a:ext cx="272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2" name="Line 44">
              <a:extLst>
                <a:ext uri="{FF2B5EF4-FFF2-40B4-BE49-F238E27FC236}">
                  <a16:creationId xmlns:a16="http://schemas.microsoft.com/office/drawing/2014/main" id="{658BAF4B-38A3-45A8-8A7C-DFB498F317C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725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3" name="Oval 45">
              <a:extLst>
                <a:ext uri="{FF2B5EF4-FFF2-40B4-BE49-F238E27FC236}">
                  <a16:creationId xmlns:a16="http://schemas.microsoft.com/office/drawing/2014/main" id="{C32809C3-ED53-4FA1-92F4-8C6F2414AED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838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4" name="Oval 46">
              <a:extLst>
                <a:ext uri="{FF2B5EF4-FFF2-40B4-BE49-F238E27FC236}">
                  <a16:creationId xmlns:a16="http://schemas.microsoft.com/office/drawing/2014/main" id="{C7881517-6094-47EF-B174-F18E7F2522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68" y="1649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Oval 47">
              <a:extLst>
                <a:ext uri="{FF2B5EF4-FFF2-40B4-BE49-F238E27FC236}">
                  <a16:creationId xmlns:a16="http://schemas.microsoft.com/office/drawing/2014/main" id="{FD77D1D8-2D8A-494D-96F4-66879DA4E2F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6" y="2228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Line 48">
              <a:extLst>
                <a:ext uri="{FF2B5EF4-FFF2-40B4-BE49-F238E27FC236}">
                  <a16:creationId xmlns:a16="http://schemas.microsoft.com/office/drawing/2014/main" id="{E72F9A0F-6D87-481B-8761-13832331627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586" y="1692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Line 50">
              <a:extLst>
                <a:ext uri="{FF2B5EF4-FFF2-40B4-BE49-F238E27FC236}">
                  <a16:creationId xmlns:a16="http://schemas.microsoft.com/office/drawing/2014/main" id="{9348DBB2-B656-46F2-B4C0-5EA370999E1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07" y="2265"/>
              <a:ext cx="1361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8" name="Line 51">
              <a:extLst>
                <a:ext uri="{FF2B5EF4-FFF2-40B4-BE49-F238E27FC236}">
                  <a16:creationId xmlns:a16="http://schemas.microsoft.com/office/drawing/2014/main" id="{2B98E549-D3DA-41F5-94BD-0647A1A7E05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879" y="1709"/>
              <a:ext cx="408" cy="122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89" name="Line 52">
              <a:extLst>
                <a:ext uri="{FF2B5EF4-FFF2-40B4-BE49-F238E27FC236}">
                  <a16:creationId xmlns:a16="http://schemas.microsoft.com/office/drawing/2014/main" id="{E17288A9-FAAD-4A2B-885E-2E6942ACC91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310" y="1709"/>
              <a:ext cx="408" cy="125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0" name="Line 53">
              <a:extLst>
                <a:ext uri="{FF2B5EF4-FFF2-40B4-BE49-F238E27FC236}">
                  <a16:creationId xmlns:a16="http://schemas.microsoft.com/office/drawing/2014/main" id="{A5285EDA-1215-4158-B5B4-664E584AF99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891" y="2280"/>
              <a:ext cx="1089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1" name="Line 54">
              <a:extLst>
                <a:ext uri="{FF2B5EF4-FFF2-40B4-BE49-F238E27FC236}">
                  <a16:creationId xmlns:a16="http://schemas.microsoft.com/office/drawing/2014/main" id="{8A4A93F4-C21E-4DDF-A5D8-F22128E374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96" y="2266"/>
              <a:ext cx="1088" cy="714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2" name="Oval 55">
              <a:extLst>
                <a:ext uri="{FF2B5EF4-FFF2-40B4-BE49-F238E27FC236}">
                  <a16:creationId xmlns:a16="http://schemas.microsoft.com/office/drawing/2014/main" id="{57C275F8-6311-4609-9C5C-19F34E072EA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550" y="2222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93" name="Text Box 56">
              <a:extLst>
                <a:ext uri="{FF2B5EF4-FFF2-40B4-BE49-F238E27FC236}">
                  <a16:creationId xmlns:a16="http://schemas.microsoft.com/office/drawing/2014/main" id="{70C2586F-13D0-4119-B580-EB95E602D17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88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w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94" name="Text Box 57">
              <a:extLst>
                <a:ext uri="{FF2B5EF4-FFF2-40B4-BE49-F238E27FC236}">
                  <a16:creationId xmlns:a16="http://schemas.microsoft.com/office/drawing/2014/main" id="{96A9791B-3050-4383-82F1-5B814DAF3CE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28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2</a:t>
              </a:r>
              <a:endParaRPr lang="en-US" altLang="zh-CN" b="1"/>
            </a:p>
          </p:txBody>
        </p:sp>
        <p:sp>
          <p:nvSpPr>
            <p:cNvPr id="95" name="Text Box 58">
              <a:extLst>
                <a:ext uri="{FF2B5EF4-FFF2-40B4-BE49-F238E27FC236}">
                  <a16:creationId xmlns:a16="http://schemas.microsoft.com/office/drawing/2014/main" id="{C0A9DDBD-350F-403F-AC6C-251FAF5CE94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79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w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96" name="Text Box 59">
              <a:extLst>
                <a:ext uri="{FF2B5EF4-FFF2-40B4-BE49-F238E27FC236}">
                  <a16:creationId xmlns:a16="http://schemas.microsoft.com/office/drawing/2014/main" id="{68BCD97B-217E-4100-A412-1EE6EB5F439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948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97" name="Oval 60">
              <a:extLst>
                <a:ext uri="{FF2B5EF4-FFF2-40B4-BE49-F238E27FC236}">
                  <a16:creationId xmlns:a16="http://schemas.microsoft.com/office/drawing/2014/main" id="{F2F58EE7-80CD-4423-A11D-7CE491FEF4D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84" y="294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8" name="Group 122">
            <a:extLst>
              <a:ext uri="{FF2B5EF4-FFF2-40B4-BE49-F238E27FC236}">
                <a16:creationId xmlns:a16="http://schemas.microsoft.com/office/drawing/2014/main" id="{92624C2B-75E0-4942-AA6C-F55CEB9F8696}"/>
              </a:ext>
            </a:extLst>
          </p:cNvPr>
          <p:cNvGrpSpPr>
            <a:grpSpLocks/>
          </p:cNvGrpSpPr>
          <p:nvPr/>
        </p:nvGrpSpPr>
        <p:grpSpPr bwMode="auto">
          <a:xfrm>
            <a:off x="4121822" y="4622547"/>
            <a:ext cx="2068566" cy="1924300"/>
            <a:chOff x="6604" y="1344"/>
            <a:chExt cx="1793" cy="1796"/>
          </a:xfrm>
        </p:grpSpPr>
        <p:sp>
          <p:nvSpPr>
            <p:cNvPr id="99" name="Line 96">
              <a:extLst>
                <a:ext uri="{FF2B5EF4-FFF2-40B4-BE49-F238E27FC236}">
                  <a16:creationId xmlns:a16="http://schemas.microsoft.com/office/drawing/2014/main" id="{0C9CFFBE-5981-45CF-8AF4-62A2A6DB6D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92" y="2015"/>
              <a:ext cx="408" cy="9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0" name="Line 97">
              <a:extLst>
                <a:ext uri="{FF2B5EF4-FFF2-40B4-BE49-F238E27FC236}">
                  <a16:creationId xmlns:a16="http://schemas.microsoft.com/office/drawing/2014/main" id="{92C8AD11-D2EE-449F-8C02-3DF095FBBEE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93" y="1696"/>
              <a:ext cx="681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1" name="Line 98">
              <a:extLst>
                <a:ext uri="{FF2B5EF4-FFF2-40B4-BE49-F238E27FC236}">
                  <a16:creationId xmlns:a16="http://schemas.microsoft.com/office/drawing/2014/main" id="{EA3A9ACC-F639-4476-9BF8-514A9411BCA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069" y="2996"/>
              <a:ext cx="816" cy="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2" name="Line 99">
              <a:extLst>
                <a:ext uri="{FF2B5EF4-FFF2-40B4-BE49-F238E27FC236}">
                  <a16:creationId xmlns:a16="http://schemas.microsoft.com/office/drawing/2014/main" id="{DEA5FF2C-7051-42BE-85D9-E4E8C82FA9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66" y="227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3" name="Line 100">
              <a:extLst>
                <a:ext uri="{FF2B5EF4-FFF2-40B4-BE49-F238E27FC236}">
                  <a16:creationId xmlns:a16="http://schemas.microsoft.com/office/drawing/2014/main" id="{6BE71EB4-D91F-442A-8AC0-FC4CAF277C0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901" y="2284"/>
              <a:ext cx="273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4" name="Oval 101">
              <a:extLst>
                <a:ext uri="{FF2B5EF4-FFF2-40B4-BE49-F238E27FC236}">
                  <a16:creationId xmlns:a16="http://schemas.microsoft.com/office/drawing/2014/main" id="{2AC54F8E-76E6-4FA9-9B41-D30FE8C45A6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015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5" name="Oval 102">
              <a:extLst>
                <a:ext uri="{FF2B5EF4-FFF2-40B4-BE49-F238E27FC236}">
                  <a16:creationId xmlns:a16="http://schemas.microsoft.com/office/drawing/2014/main" id="{CD9B4F82-B9B1-4F1E-B3E1-11972BAC5DE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861" y="294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6" name="Oval 103">
              <a:extLst>
                <a:ext uri="{FF2B5EF4-FFF2-40B4-BE49-F238E27FC236}">
                  <a16:creationId xmlns:a16="http://schemas.microsoft.com/office/drawing/2014/main" id="{D42418B6-AE46-4FBF-9B86-3E3BD14849E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44" y="1649"/>
              <a:ext cx="69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7" name="Oval 104">
              <a:extLst>
                <a:ext uri="{FF2B5EF4-FFF2-40B4-BE49-F238E27FC236}">
                  <a16:creationId xmlns:a16="http://schemas.microsoft.com/office/drawing/2014/main" id="{6829EE29-B8EA-4070-B530-76795225F83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152" y="2225"/>
              <a:ext cx="69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8" name="Line 105">
              <a:extLst>
                <a:ext uri="{FF2B5EF4-FFF2-40B4-BE49-F238E27FC236}">
                  <a16:creationId xmlns:a16="http://schemas.microsoft.com/office/drawing/2014/main" id="{39798D10-492C-4ED8-AB85-A0D201A508D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6763" y="1692"/>
              <a:ext cx="680" cy="545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882C9C95-252A-43B2-9C97-B94AE916E28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64" y="2009"/>
              <a:ext cx="408" cy="953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BB469F6C-0552-4EA8-A535-01E31EDFCE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7064" y="2261"/>
              <a:ext cx="1088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B02B63D9-4FDA-4DE1-8DD0-A1DD9EF8B46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6772" y="2266"/>
              <a:ext cx="1089" cy="681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AB5697CB-A293-4930-A7E3-D72565B762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7478" y="1727"/>
              <a:ext cx="0" cy="2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3" name="Oval 111">
              <a:extLst>
                <a:ext uri="{FF2B5EF4-FFF2-40B4-BE49-F238E27FC236}">
                  <a16:creationId xmlns:a16="http://schemas.microsoft.com/office/drawing/2014/main" id="{EEED9B59-A3EE-41D8-BFE7-A6900D34608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6727" y="2225"/>
              <a:ext cx="68" cy="69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14" name="Text Box 112">
              <a:extLst>
                <a:ext uri="{FF2B5EF4-FFF2-40B4-BE49-F238E27FC236}">
                  <a16:creationId xmlns:a16="http://schemas.microsoft.com/office/drawing/2014/main" id="{1616398E-9CD1-4AC1-A008-6DF40E5B84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364" y="1344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v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  <p:sp>
          <p:nvSpPr>
            <p:cNvPr id="115" name="Text Box 113">
              <a:extLst>
                <a:ext uri="{FF2B5EF4-FFF2-40B4-BE49-F238E27FC236}">
                  <a16:creationId xmlns:a16="http://schemas.microsoft.com/office/drawing/2014/main" id="{3B0D208B-B079-4751-B26D-DFA1E7D0B20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604" y="1887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w</a:t>
              </a:r>
              <a:r>
                <a:rPr lang="en-US" altLang="zh-CN" b="1" baseline="-25000" dirty="0"/>
                <a:t>2</a:t>
              </a:r>
              <a:endParaRPr lang="en-US" altLang="zh-CN" b="1" dirty="0"/>
            </a:p>
          </p:txBody>
        </p:sp>
        <p:sp>
          <p:nvSpPr>
            <p:cNvPr id="116" name="Text Box 114">
              <a:extLst>
                <a:ext uri="{FF2B5EF4-FFF2-40B4-BE49-F238E27FC236}">
                  <a16:creationId xmlns:a16="http://schemas.microsoft.com/office/drawing/2014/main" id="{A0CA0C36-1806-4F09-99BF-5FD9B4C82BE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6855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altLang="zh-CN" b="1"/>
                <a:t>w</a:t>
              </a:r>
              <a:r>
                <a:rPr lang="en-US" altLang="zh-CN" b="1" baseline="-25000"/>
                <a:t>3</a:t>
              </a:r>
              <a:endParaRPr lang="en-US" altLang="zh-CN" b="1"/>
            </a:p>
          </p:txBody>
        </p:sp>
        <p:sp>
          <p:nvSpPr>
            <p:cNvPr id="117" name="Text Box 115">
              <a:extLst>
                <a:ext uri="{FF2B5EF4-FFF2-40B4-BE49-F238E27FC236}">
                  <a16:creationId xmlns:a16="http://schemas.microsoft.com/office/drawing/2014/main" id="{49ACAF60-35AD-4F52-B664-CA8E75840A7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839" y="290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4</a:t>
              </a:r>
              <a:endParaRPr lang="en-US" altLang="zh-CN" b="1"/>
            </a:p>
          </p:txBody>
        </p:sp>
        <p:sp>
          <p:nvSpPr>
            <p:cNvPr id="118" name="Text Box 116">
              <a:extLst>
                <a:ext uri="{FF2B5EF4-FFF2-40B4-BE49-F238E27FC236}">
                  <a16:creationId xmlns:a16="http://schemas.microsoft.com/office/drawing/2014/main" id="{62848B2C-33DA-40AF-80D4-0A42AAD498E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8125" y="1887"/>
              <a:ext cx="27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/>
                <a:t>w</a:t>
              </a:r>
              <a:r>
                <a:rPr lang="en-US" altLang="zh-CN" b="1" baseline="-25000"/>
                <a:t>5</a:t>
              </a:r>
              <a:endParaRPr lang="en-US" altLang="zh-CN" b="1"/>
            </a:p>
          </p:txBody>
        </p:sp>
        <p:sp>
          <p:nvSpPr>
            <p:cNvPr id="119" name="Text Box 117">
              <a:extLst>
                <a:ext uri="{FF2B5EF4-FFF2-40B4-BE49-F238E27FC236}">
                  <a16:creationId xmlns:a16="http://schemas.microsoft.com/office/drawing/2014/main" id="{50D3649E-945D-450B-81AE-050B9C0C90F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546" y="1831"/>
              <a:ext cx="27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algn="just"/>
              <a:r>
                <a:rPr lang="en-US" altLang="zh-CN" b="1" dirty="0"/>
                <a:t>u</a:t>
              </a:r>
              <a:r>
                <a:rPr lang="en-US" altLang="zh-CN" b="1" baseline="-25000" dirty="0"/>
                <a:t>1</a:t>
              </a:r>
              <a:endParaRPr lang="en-US" altLang="zh-CN" b="1" dirty="0"/>
            </a:p>
          </p:txBody>
        </p:sp>
        <p:sp>
          <p:nvSpPr>
            <p:cNvPr id="120" name="Oval 118">
              <a:extLst>
                <a:ext uri="{FF2B5EF4-FFF2-40B4-BE49-F238E27FC236}">
                  <a16:creationId xmlns:a16="http://schemas.microsoft.com/office/drawing/2014/main" id="{BBDA555C-4BE4-4CD9-B647-07553A3F50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43" y="1972"/>
              <a:ext cx="68" cy="68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1046757"/>
      </p:ext>
    </p:extLst>
  </p:cSld>
  <p:clrMapOvr>
    <a:masterClrMapping/>
  </p:clrMapOvr>
  <p:transition spd="slow" advTm="0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22530">
            <a:extLst>
              <a:ext uri="{FF2B5EF4-FFF2-40B4-BE49-F238E27FC236}">
                <a16:creationId xmlns:a16="http://schemas.microsoft.com/office/drawing/2014/main" id="{69834961-8BBD-488F-A0CF-B20EAD925734}"/>
              </a:ext>
            </a:extLst>
          </p:cNvPr>
          <p:cNvSpPr txBox="1">
            <a:spLocks/>
          </p:cNvSpPr>
          <p:nvPr/>
        </p:nvSpPr>
        <p:spPr>
          <a:xfrm>
            <a:off x="2204551" y="1099744"/>
            <a:ext cx="8444230" cy="12954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图</a:t>
            </a:r>
            <a:r>
              <a:rPr lang="en-US" altLang="zh-CN" dirty="0">
                <a:latin typeface="Microsoft YaHei" panose="020B0503020204020204" charset="-122"/>
                <a:ea typeface="Microsoft YaHei" panose="020B0503020204020204" charset="-122"/>
              </a:rPr>
              <a:t>G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的色数</a:t>
            </a:r>
            <a:r>
              <a:rPr lang="en-US" altLang="zh-CN" dirty="0">
                <a:latin typeface="Microsoft YaHei" panose="020B0503020204020204" charset="-122"/>
                <a:ea typeface="Microsoft YaHei" panose="020B0503020204020204" charset="-122"/>
              </a:rPr>
              <a:t>(Chromatic Number)</a:t>
            </a:r>
            <a:r>
              <a:rPr lang="zh-CN" altLang="en-US" dirty="0">
                <a:latin typeface="Microsoft YaHei" panose="020B0503020204020204" charset="-122"/>
                <a:ea typeface="Microsoft YaHei" panose="020B0503020204020204" charset="-122"/>
              </a:rPr>
              <a:t>：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如果图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G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在着色时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最少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用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n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种颜色</a:t>
            </a:r>
            <a:r>
              <a:rPr lang="en-US" altLang="zh-CN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(n-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可着色</a:t>
            </a:r>
            <a:r>
              <a:rPr lang="en-US" altLang="zh-CN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)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，称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G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为</a:t>
            </a:r>
            <a:r>
              <a:rPr lang="en-US" altLang="zh-CN" i="1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n</a:t>
            </a:r>
            <a:r>
              <a:rPr lang="en-US" altLang="zh-CN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-</a:t>
            </a:r>
            <a:r>
              <a:rPr lang="zh-CN" altLang="en-US" dirty="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  <a:cs typeface="Comic Sans MS" panose="030F0702030302020204" charset="0"/>
              </a:rPr>
              <a:t>色的。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zh-CN" altLang="en-US" dirty="0">
              <a:solidFill>
                <a:srgbClr val="003399"/>
              </a:solidFill>
              <a:latin typeface="Microsoft YaHei" panose="020B0503020204020204" charset="-122"/>
              <a:ea typeface="Microsoft YaHei" panose="020B0503020204020204" charset="-122"/>
              <a:cs typeface="Comic Sans MS" panose="030F0702030302020204" charset="0"/>
            </a:endParaRPr>
          </a:p>
          <a:p>
            <a:pPr marL="0" indent="0">
              <a:buNone/>
            </a:pPr>
            <a:endParaRPr lang="zh-CN" altLang="en-US" dirty="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占位符 24578">
            <a:extLst>
              <a:ext uri="{FF2B5EF4-FFF2-40B4-BE49-F238E27FC236}">
                <a16:creationId xmlns:a16="http://schemas.microsoft.com/office/drawing/2014/main" id="{492E6B2E-7DFE-4997-9035-1E41153D3CA0}"/>
              </a:ext>
            </a:extLst>
          </p:cNvPr>
          <p:cNvSpPr txBox="1">
            <a:spLocks/>
          </p:cNvSpPr>
          <p:nvPr/>
        </p:nvSpPr>
        <p:spPr>
          <a:xfrm>
            <a:off x="2532450" y="2905387"/>
            <a:ext cx="8524240" cy="44958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五色定理</a:t>
            </a: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   任意平面图至多是</a:t>
            </a:r>
            <a:r>
              <a:rPr lang="en-US" altLang="zh-CN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r>
              <a:rPr lang="zh-CN" altLang="en-US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－可着色的</a:t>
            </a: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 b="1">
                <a:solidFill>
                  <a:srgbClr val="3333FF"/>
                </a:solidFill>
                <a:latin typeface="Microsoft YaHei" panose="020B0503020204020204" charset="-122"/>
                <a:ea typeface="Microsoft YaHei" panose="020B0503020204020204" charset="-122"/>
              </a:rPr>
              <a:t>四色定理</a:t>
            </a:r>
            <a:r>
              <a:rPr lang="zh-CN" altLang="en-US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？</a:t>
            </a:r>
          </a:p>
          <a:p>
            <a:pPr marL="0" indent="0"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   任意平面图至多是</a:t>
            </a:r>
            <a:r>
              <a:rPr lang="en-US" altLang="zh-CN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r>
              <a:rPr lang="zh-CN" altLang="en-US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－可着色的</a:t>
            </a:r>
            <a:r>
              <a:rPr lang="zh-CN" altLang="en-US">
                <a:solidFill>
                  <a:srgbClr val="FF0000"/>
                </a:solidFill>
                <a:latin typeface="Microsoft YaHei" panose="020B0503020204020204" charset="-122"/>
                <a:ea typeface="Microsoft YaHei" panose="020B0503020204020204" charset="-122"/>
              </a:rPr>
              <a:t>？</a:t>
            </a:r>
            <a:endParaRPr lang="zh-CN" altLang="en-US" dirty="0">
              <a:solidFill>
                <a:srgbClr val="FF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8274481"/>
      </p:ext>
    </p:extLst>
  </p:cSld>
  <p:clrMapOvr>
    <a:masterClrMapping/>
  </p:clrMapOvr>
  <p:transition spd="slow" advTm="0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457" y="92075"/>
            <a:ext cx="787954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Special Graph </a:t>
            </a: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文本占位符 21506">
            <a:extLst>
              <a:ext uri="{FF2B5EF4-FFF2-40B4-BE49-F238E27FC236}">
                <a16:creationId xmlns:a16="http://schemas.microsoft.com/office/drawing/2014/main" id="{A0C6B1B7-B962-4BD8-8A9F-5C667B726C60}"/>
              </a:ext>
            </a:extLst>
          </p:cNvPr>
          <p:cNvSpPr txBox="1">
            <a:spLocks/>
          </p:cNvSpPr>
          <p:nvPr/>
        </p:nvSpPr>
        <p:spPr>
          <a:xfrm>
            <a:off x="1717457" y="1082675"/>
            <a:ext cx="7772400" cy="2133600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四色猜想</a:t>
            </a:r>
            <a:r>
              <a:rPr lang="en-US" altLang="zh-CN">
                <a:latin typeface="Microsoft YaHei" panose="020B0503020204020204" charset="-122"/>
                <a:ea typeface="Microsoft YaHei" panose="020B0503020204020204" charset="-122"/>
                <a:sym typeface="Wingdings" panose="05000000000000000000" pitchFamily="2" charset="2"/>
              </a:rPr>
              <a:t></a:t>
            </a:r>
            <a:r>
              <a:rPr lang="zh-CN" altLang="en-US">
                <a:latin typeface="Microsoft YaHei" panose="020B0503020204020204" charset="-122"/>
                <a:ea typeface="Microsoft YaHei" panose="020B0503020204020204" charset="-122"/>
              </a:rPr>
              <a:t>四色定理</a:t>
            </a: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endParaRPr lang="zh-CN" altLang="en-US">
              <a:latin typeface="Microsoft YaHei" panose="020B0503020204020204" charset="-122"/>
              <a:ea typeface="Microsoft YaHei" panose="020B0503020204020204" charset="-122"/>
            </a:endParaRPr>
          </a:p>
          <a:p>
            <a:pPr algn="just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03399"/>
                </a:solidFill>
                <a:latin typeface="Microsoft YaHei" panose="020B0503020204020204" charset="-122"/>
                <a:ea typeface="Microsoft YaHei" panose="020B0503020204020204" charset="-122"/>
              </a:rPr>
              <a:t> </a:t>
            </a:r>
          </a:p>
          <a:p>
            <a:pPr>
              <a:buFont typeface="Arial" panose="020B0604020202020204" pitchFamily="34" charset="0"/>
              <a:buNone/>
            </a:pPr>
            <a:endParaRPr lang="zh-CN" altLang="en-US" sz="1800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6C4DCF-32A9-45C2-9136-77EBAEE81AB3}"/>
              </a:ext>
            </a:extLst>
          </p:cNvPr>
          <p:cNvSpPr/>
          <p:nvPr/>
        </p:nvSpPr>
        <p:spPr>
          <a:xfrm>
            <a:off x="6365657" y="2282825"/>
            <a:ext cx="3341370" cy="3291840"/>
          </a:xfrm>
          <a:prstGeom prst="rect">
            <a:avLst/>
          </a:prstGeom>
          <a:noFill/>
          <a:ln w="9525">
            <a:noFill/>
            <a:miter/>
          </a:ln>
        </p:spPr>
        <p:txBody>
          <a:bodyPr wrap="square">
            <a:spAutoFit/>
          </a:bodyPr>
          <a:lstStyle/>
          <a:p>
            <a:pPr lvl="0" fontAlgn="base">
              <a:lnSpc>
                <a:spcPct val="130000"/>
              </a:lnSpc>
            </a:pPr>
            <a:r>
              <a:rPr lang="zh-CN" altLang="en-US" sz="2000" b="0" strike="noStrike" noProof="1">
                <a:solidFill>
                  <a:srgbClr val="003399"/>
                </a:solidFill>
                <a:effectLst/>
                <a:latin typeface="Microsoft YaHei" panose="020B0503020204020204" charset="-122"/>
                <a:ea typeface="Microsoft YaHei" panose="020B0503020204020204" charset="-122"/>
                <a:cs typeface="+mn-ea"/>
              </a:rPr>
              <a:t>对于地图的着色问题，可以归纳为对于平面图的结点着色问题，因此四色问题可以归结为要证明对于任何一个平面图，一定可以用四种颜色，对于它的结点进行着色，使得邻接的结点都有不同的颜色。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FD78BD-BA59-4452-BA30-6A44154FF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6497" y="2414270"/>
            <a:ext cx="3923665" cy="2095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D993181-8C51-497D-986F-F271C129CB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677" y="4784725"/>
            <a:ext cx="383794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23191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91E7A5-716D-41D4-9EA5-83854DDFE388}"/>
              </a:ext>
            </a:extLst>
          </p:cNvPr>
          <p:cNvSpPr/>
          <p:nvPr/>
        </p:nvSpPr>
        <p:spPr>
          <a:xfrm>
            <a:off x="3144711" y="2644170"/>
            <a:ext cx="5902578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800" b="1" noProof="1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Hei" panose="02010609060101010101" pitchFamily="2" charset="-122"/>
              </a:rPr>
              <a:t>代数结构  </a:t>
            </a:r>
            <a:endParaRPr lang="en-US" altLang="zh-CN" sz="4800" b="1" noProof="1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  <a:ea typeface="SimHei" panose="02010609060101010101" pitchFamily="2" charset="-122"/>
            </a:endParaRPr>
          </a:p>
          <a:p>
            <a:pPr algn="ctr"/>
            <a:r>
              <a:rPr lang="en-US" altLang="x-none" sz="4800" b="1" noProof="1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  <a:ea typeface="SimSun" panose="02010600030101010101" pitchFamily="2" charset="-122"/>
              </a:rPr>
              <a:t>Algebraic Structure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441377878"/>
      </p:ext>
    </p:extLst>
  </p:cSld>
  <p:clrMapOvr>
    <a:masterClrMapping/>
  </p:clrMapOvr>
  <p:transition spd="slow" advTm="0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727DE5-AC4E-43EF-AB30-9899AA5CD4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47" y="1572126"/>
            <a:ext cx="2313184" cy="263892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16196F0-C591-4323-B5F8-DAA98BE9D9E9}"/>
              </a:ext>
            </a:extLst>
          </p:cNvPr>
          <p:cNvSpPr txBox="1"/>
          <p:nvPr/>
        </p:nvSpPr>
        <p:spPr>
          <a:xfrm>
            <a:off x="2197768" y="4490774"/>
            <a:ext cx="231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阿贝尔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Niels Henrik Abel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9E7397-FB6B-48A3-964B-4D284BB26C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459" y="1451809"/>
            <a:ext cx="2627257" cy="27592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C83F9DB-0F32-45A2-BE73-29D1A696A270}"/>
              </a:ext>
            </a:extLst>
          </p:cNvPr>
          <p:cNvSpPr txBox="1"/>
          <p:nvPr/>
        </p:nvSpPr>
        <p:spPr>
          <a:xfrm>
            <a:off x="6184495" y="4490774"/>
            <a:ext cx="2313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伽罗瓦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Évariste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Galois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F7BD74-BBA1-473A-818E-358AA9BDB7CD}"/>
              </a:ext>
            </a:extLst>
          </p:cNvPr>
          <p:cNvSpPr txBox="1"/>
          <p:nvPr/>
        </p:nvSpPr>
        <p:spPr>
          <a:xfrm>
            <a:off x="2716685" y="5392764"/>
            <a:ext cx="1275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1802-1829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091759-F534-4EF5-9717-FD5B1E7140D9}"/>
              </a:ext>
            </a:extLst>
          </p:cNvPr>
          <p:cNvSpPr txBox="1"/>
          <p:nvPr/>
        </p:nvSpPr>
        <p:spPr>
          <a:xfrm>
            <a:off x="6703412" y="5392764"/>
            <a:ext cx="1275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1811-1832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5054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24646C-2A47-4F31-95A3-C42A9E3B0F61}"/>
              </a:ext>
            </a:extLst>
          </p:cNvPr>
          <p:cNvSpPr txBox="1"/>
          <p:nvPr/>
        </p:nvSpPr>
        <p:spPr>
          <a:xfrm>
            <a:off x="1686267" y="870963"/>
            <a:ext cx="3774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accent1">
                    <a:lumMod val="75000"/>
                  </a:schemeClr>
                </a:solidFill>
              </a:rPr>
              <a:t>代数运算</a:t>
            </a:r>
            <a:endParaRPr lang="en-US" altLang="zh-C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209815-7832-4347-9285-D890496B93B4}"/>
              </a:ext>
            </a:extLst>
          </p:cNvPr>
          <p:cNvSpPr txBox="1"/>
          <p:nvPr/>
        </p:nvSpPr>
        <p:spPr>
          <a:xfrm>
            <a:off x="1571625" y="1542128"/>
            <a:ext cx="86345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是一个非空集合。如果有一个法则，它对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有序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唯一确定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与它们对应，则称这个法则是集合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二元运算。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775860-6DFE-43AA-8E0C-0B1125622A1A}"/>
              </a:ext>
            </a:extLst>
          </p:cNvPr>
          <p:cNvSpPr txBox="1"/>
          <p:nvPr/>
        </p:nvSpPr>
        <p:spPr>
          <a:xfrm>
            <a:off x="1529636" y="3176847"/>
            <a:ext cx="91327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是一个非空集合。如果有一个法则，它对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任意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个有序元素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···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都有一个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唯一确定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的元素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与它们对应，则称这个法则是集合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元运算。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7B8223-EDEA-491B-BFDB-7ED04C53F527}"/>
              </a:ext>
            </a:extLst>
          </p:cNvPr>
          <p:cNvSpPr/>
          <p:nvPr/>
        </p:nvSpPr>
        <p:spPr>
          <a:xfrm>
            <a:off x="1571624" y="4921970"/>
            <a:ext cx="928372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上的一个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元运算，非空集合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，如果对于每一个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，都有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)∈S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，则称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在运算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下是封闭的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，或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在集合</a:t>
            </a:r>
            <a:r>
              <a:rPr lang="en-US" altLang="zh-CN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sz="2800" dirty="0">
                <a:solidFill>
                  <a:srgbClr val="99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上是封闭的。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023560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A41F49-2BD8-4167-ABA4-C25E3582C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6965" y="1061424"/>
            <a:ext cx="1482725" cy="1008062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集合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S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？</a:t>
            </a:r>
            <a:b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</a:b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 运算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O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sym typeface="Wingdings" panose="05000000000000000000" pitchFamily="2" charset="2"/>
              </a:rPr>
              <a:t>？</a:t>
            </a:r>
          </a:p>
        </p:txBody>
      </p:sp>
      <p:sp>
        <p:nvSpPr>
          <p:cNvPr id="6" name="下箭头 45060">
            <a:extLst>
              <a:ext uri="{FF2B5EF4-FFF2-40B4-BE49-F238E27FC236}">
                <a16:creationId xmlns:a16="http://schemas.microsoft.com/office/drawing/2014/main" id="{564D0F12-2B3B-434F-B0A8-FD949DD95D7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4646031" y="1170167"/>
            <a:ext cx="546100" cy="790575"/>
          </a:xfrm>
          <a:prstGeom prst="downArrow">
            <a:avLst>
              <a:gd name="adj1" fmla="val 50000"/>
              <a:gd name="adj2" fmla="val 361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MS PGothic" panose="020B0600070205080204" pitchFamily="34" charset="-128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765B81-DD88-40EC-BDD9-CA15635939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8472" y="1292404"/>
            <a:ext cx="3176587" cy="576262"/>
          </a:xfrm>
          <a:prstGeom prst="rect">
            <a:avLst/>
          </a:prstGeom>
          <a:solidFill>
            <a:srgbClr val="BBE0E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代数结构？</a:t>
            </a: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99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〈S;O〉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721F0F8-7494-4FAD-A510-12E9DB50A82C}"/>
              </a:ext>
            </a:extLst>
          </p:cNvPr>
          <p:cNvSpPr/>
          <p:nvPr/>
        </p:nvSpPr>
        <p:spPr>
          <a:xfrm>
            <a:off x="1283653" y="3163560"/>
            <a:ext cx="10192486" cy="252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代数系统　代数结构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(algebra structure)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一个代数系统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代数结构，简称代数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)A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是如下的一个有序元组：       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A=(X; 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(1)X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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是一个任意集合；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(2)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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上的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个运算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(m1)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93047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974C5F-0D5B-456B-BF36-AA5C329609E9}"/>
              </a:ext>
            </a:extLst>
          </p:cNvPr>
          <p:cNvSpPr/>
          <p:nvPr/>
        </p:nvSpPr>
        <p:spPr>
          <a:xfrm>
            <a:off x="780070" y="1377782"/>
            <a:ext cx="11204897" cy="4883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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X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是有限集合时，称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A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zh-CN" altLang="en-US" sz="28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有限代数结构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lvl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当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X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是无限集合时，称</a:t>
            </a:r>
            <a:r>
              <a:rPr kumimoji="1" lang="en-US" altLang="zh-CN" sz="2800" dirty="0">
                <a:solidFill>
                  <a:srgbClr val="000000"/>
                </a:solidFill>
                <a:latin typeface="Times New Roman"/>
                <a:ea typeface="楷体_GB2312" pitchFamily="49" charset="-122"/>
              </a:rPr>
              <a:t>A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1" lang="zh-CN" altLang="en-US" sz="2800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无限代数结构；</a:t>
            </a:r>
          </a:p>
          <a:p>
            <a:pPr lvl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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在一个代数系统中运算的集合不能是空的，必须至少有一个</a:t>
            </a:r>
            <a:r>
              <a:rPr kumimoji="1"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上的运算。代数系统中各个运算的元</a:t>
            </a:r>
            <a:r>
              <a:rPr kumimoji="1"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阶</a:t>
            </a:r>
            <a:r>
              <a:rPr kumimoji="1" lang="en-US" altLang="zh-CN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数可能是不一样的，即每个运算都有自己的运算元数；</a:t>
            </a:r>
          </a:p>
          <a:p>
            <a:pPr lv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对于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运算我们主要讨论运算的封闭性；另外还要讨论运算的许多性质；</a:t>
            </a:r>
          </a:p>
          <a:p>
            <a:pPr lvl="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6600"/>
              </a:buClr>
            </a:pP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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我们离散数学研究的代数系统</a:t>
            </a:r>
            <a:r>
              <a:rPr kumimoji="1" lang="zh-CN" altLang="en-US" sz="2800" u="sng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主要包含一些以一元、二元为主</a:t>
            </a:r>
            <a:r>
              <a:rPr kumimoji="1" lang="zh-CN" altLang="en-US" sz="2800" dirty="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rPr>
              <a:t>的运算。</a:t>
            </a:r>
          </a:p>
        </p:txBody>
      </p:sp>
    </p:spTree>
    <p:extLst>
      <p:ext uri="{BB962C8B-B14F-4D97-AF65-F5344CB8AC3E}">
        <p14:creationId xmlns:p14="http://schemas.microsoft.com/office/powerpoint/2010/main" val="3033551069"/>
      </p:ext>
    </p:extLst>
  </p:cSld>
  <p:clrMapOvr>
    <a:masterClrMapping/>
  </p:clrMapOvr>
  <p:transition spd="slow" advTm="0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5211C9-960B-4BD3-94A3-C0375FAB4B66}"/>
              </a:ext>
            </a:extLst>
          </p:cNvPr>
          <p:cNvSpPr/>
          <p:nvPr/>
        </p:nvSpPr>
        <p:spPr>
          <a:xfrm>
            <a:off x="2623198" y="1292404"/>
            <a:ext cx="37513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&lt;I; +&gt;,  &lt;I;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&gt;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&lt;I; +,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&gt;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3C0858-3356-49F2-B1A1-FE53D32AE6ED}"/>
              </a:ext>
            </a:extLst>
          </p:cNvPr>
          <p:cNvSpPr/>
          <p:nvPr/>
        </p:nvSpPr>
        <p:spPr>
          <a:xfrm>
            <a:off x="2707239" y="2458152"/>
            <a:ext cx="325339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〈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{T,F}; ┐,∧,∨〉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72BC42-DDE8-459F-94FB-BA56C1B21924}"/>
              </a:ext>
            </a:extLst>
          </p:cNvPr>
          <p:cNvSpPr/>
          <p:nvPr/>
        </p:nvSpPr>
        <p:spPr>
          <a:xfrm>
            <a:off x="2868469" y="3623900"/>
            <a:ext cx="14654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〈N,-〉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CC62C21-03EB-4CD5-956C-EE7B7C6CEF0A}"/>
              </a:ext>
            </a:extLst>
          </p:cNvPr>
          <p:cNvSpPr/>
          <p:nvPr/>
        </p:nvSpPr>
        <p:spPr>
          <a:xfrm>
            <a:off x="4819431" y="3623900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〈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I, ÷</a:t>
            </a: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〉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9FAE66F-61D1-40F1-AE05-CF715EE1EDE4}"/>
              </a:ext>
            </a:extLst>
          </p:cNvPr>
          <p:cNvSpPr/>
          <p:nvPr/>
        </p:nvSpPr>
        <p:spPr>
          <a:xfrm>
            <a:off x="2623198" y="4674630"/>
            <a:ext cx="15215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,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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,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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9CB92C-A596-4017-B339-620564227DBA}"/>
              </a:ext>
            </a:extLst>
          </p:cNvPr>
          <p:cNvSpPr/>
          <p:nvPr/>
        </p:nvSpPr>
        <p:spPr>
          <a:xfrm>
            <a:off x="4964014" y="4629438"/>
            <a:ext cx="1827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(2</a:t>
            </a:r>
            <a:r>
              <a:rPr kumimoji="1" lang="en-US" altLang="zh-CN" sz="2400" b="0" i="0" u="none" strike="noStrike" kern="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X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,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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,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 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, 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sym typeface="Symbol" panose="05050102010706020507" pitchFamily="18" charset="2"/>
              </a:rPr>
              <a:t>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</a:rPr>
              <a:t>)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0153101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282BF8-F4A5-4FE6-9AA7-8E3645737385}"/>
              </a:ext>
            </a:extLst>
          </p:cNvPr>
          <p:cNvSpPr/>
          <p:nvPr/>
        </p:nvSpPr>
        <p:spPr>
          <a:xfrm>
            <a:off x="2087460" y="1172882"/>
            <a:ext cx="8017079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(X,* 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这里：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{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a,b,c,d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，定义运算  *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   </a:t>
            </a:r>
          </a:p>
        </p:txBody>
      </p:sp>
      <p:graphicFrame>
        <p:nvGraphicFramePr>
          <p:cNvPr id="5" name="Group 103">
            <a:extLst>
              <a:ext uri="{FF2B5EF4-FFF2-40B4-BE49-F238E27FC236}">
                <a16:creationId xmlns:a16="http://schemas.microsoft.com/office/drawing/2014/main" id="{FC8DE81B-A462-46C2-9DE4-8FEA47D8D62B}"/>
              </a:ext>
            </a:extLst>
          </p:cNvPr>
          <p:cNvGraphicFramePr>
            <a:graphicFrameLocks noGrp="1"/>
          </p:cNvGraphicFramePr>
          <p:nvPr/>
        </p:nvGraphicFramePr>
        <p:xfrm>
          <a:off x="4358080" y="2586053"/>
          <a:ext cx="2514600" cy="2231136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4226866533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3467897673"/>
                    </a:ext>
                  </a:extLst>
                </a:gridCol>
              </a:tblGrid>
              <a:tr h="4572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Unicode MS" pitchFamily="34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*</a:t>
                      </a:r>
                    </a:p>
                  </a:txBody>
                  <a:tcPr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    d    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469752"/>
                  </a:ext>
                </a:extLst>
              </a:tr>
              <a:tr h="152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r>
                        <a:rPr kumimoji="1" lang="en-US" altLang="zh-CN" sz="20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endParaRPr kumimoji="1" lang="en-US" altLang="zh-CN" sz="2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    d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    b    c    d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    c    b    a </a:t>
                      </a:r>
                      <a:endParaRPr kumimoji="1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sym typeface="Symbol" panose="05050102010706020507" pitchFamily="18" charset="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    c    b    a</a:t>
                      </a:r>
                      <a:endParaRPr kumimoji="1" lang="en-US" altLang="zh-CN" sz="20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937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2543629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EE0623-D83D-44F9-ADB7-641B57D4E41C}"/>
              </a:ext>
            </a:extLst>
          </p:cNvPr>
          <p:cNvSpPr/>
          <p:nvPr/>
        </p:nvSpPr>
        <p:spPr>
          <a:xfrm>
            <a:off x="2259435" y="1103401"/>
            <a:ext cx="6876176" cy="1952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这里：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X={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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X }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，则</a:t>
            </a:r>
          </a:p>
          <a:p>
            <a:pPr algn="just">
              <a:lnSpc>
                <a:spcPct val="150000"/>
              </a:lnSpc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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={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8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} 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ABA17A-A785-407F-9C2D-84823281A731}"/>
              </a:ext>
            </a:extLst>
          </p:cNvPr>
          <p:cNvSpPr/>
          <p:nvPr/>
        </p:nvSpPr>
        <p:spPr>
          <a:xfrm>
            <a:off x="472666" y="3143775"/>
            <a:ext cx="98533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其中：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(a)=a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(a)=a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(a)=b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(a)=b</a:t>
            </a:r>
          </a:p>
          <a:p>
            <a:pPr algn="just"/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(b)=b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(b)=a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(b)=b        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(b)=a</a:t>
            </a:r>
          </a:p>
        </p:txBody>
      </p:sp>
      <p:graphicFrame>
        <p:nvGraphicFramePr>
          <p:cNvPr id="21" name="Group 64">
            <a:extLst>
              <a:ext uri="{FF2B5EF4-FFF2-40B4-BE49-F238E27FC236}">
                <a16:creationId xmlns:a16="http://schemas.microsoft.com/office/drawing/2014/main" id="{6411B79B-DC52-44F4-BF4D-0BAC74CF144E}"/>
              </a:ext>
            </a:extLst>
          </p:cNvPr>
          <p:cNvGraphicFramePr>
            <a:graphicFrameLocks noGrp="1"/>
          </p:cNvGraphicFramePr>
          <p:nvPr/>
        </p:nvGraphicFramePr>
        <p:xfrm>
          <a:off x="7872981" y="2634842"/>
          <a:ext cx="4319019" cy="2901892"/>
        </p:xfrm>
        <a:graphic>
          <a:graphicData uri="http://schemas.openxmlformats.org/drawingml/2006/table">
            <a:tbl>
              <a:tblPr/>
              <a:tblGrid>
                <a:gridCol w="916155">
                  <a:extLst>
                    <a:ext uri="{9D8B030D-6E8A-4147-A177-3AD203B41FA5}">
                      <a16:colId xmlns:a16="http://schemas.microsoft.com/office/drawing/2014/main" val="1807385019"/>
                    </a:ext>
                  </a:extLst>
                </a:gridCol>
                <a:gridCol w="3402864">
                  <a:extLst>
                    <a:ext uri="{9D8B030D-6E8A-4147-A177-3AD203B41FA5}">
                      <a16:colId xmlns:a16="http://schemas.microsoft.com/office/drawing/2014/main" val="3675324458"/>
                    </a:ext>
                  </a:extLst>
                </a:gridCol>
              </a:tblGrid>
              <a:tr h="6696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Arial Unicode MS" pitchFamily="34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849596"/>
                  </a:ext>
                </a:extLst>
              </a:tr>
              <a:tr h="22322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anchorCtr="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SzPct val="95000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    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    </a:t>
                      </a:r>
                      <a:r>
                        <a:rPr kumimoji="1" lang="en-US" altLang="zh-CN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 </a:t>
                      </a:r>
                      <a:r>
                        <a:rPr kumimoji="1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328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0256775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4">
            <a:extLst>
              <a:ext uri="{FF2B5EF4-FFF2-40B4-BE49-F238E27FC236}">
                <a16:creationId xmlns:a16="http://schemas.microsoft.com/office/drawing/2014/main" id="{14B021D2-D0A5-4A13-BFFE-A07F34356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20638"/>
            <a:ext cx="1439862" cy="143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67" name="文本框 2">
            <a:extLst>
              <a:ext uri="{FF2B5EF4-FFF2-40B4-BE49-F238E27FC236}">
                <a16:creationId xmlns:a16="http://schemas.microsoft.com/office/drawing/2014/main" id="{D072F704-294D-4D50-9E61-D305FE23C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1013" y="92075"/>
            <a:ext cx="576103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3600" dirty="0">
                <a:latin typeface="Lucida Handwriting" panose="03010101010101010101" pitchFamily="66" charset="0"/>
              </a:rPr>
              <a:t>Algebraic Structure</a:t>
            </a: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3600" dirty="0">
              <a:latin typeface="Lucida Handwriting" panose="03010101010101010101" pitchFamily="66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5C35B6-4884-45AE-A570-A38766C99457}"/>
              </a:ext>
            </a:extLst>
          </p:cNvPr>
          <p:cNvSpPr/>
          <p:nvPr/>
        </p:nvSpPr>
        <p:spPr>
          <a:xfrm>
            <a:off x="1641956" y="969176"/>
            <a:ext cx="9456679" cy="1315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/>
              <a:t>时钟代数</a:t>
            </a:r>
            <a:r>
              <a:rPr lang="en-US" altLang="zh-CN" sz="2800" dirty="0"/>
              <a:t>(X, </a:t>
            </a:r>
            <a:r>
              <a:rPr lang="en-US" altLang="zh-CN" sz="2800" dirty="0">
                <a:sym typeface="Symbol" panose="05050102010706020507" pitchFamily="18" charset="2"/>
              </a:rPr>
              <a:t></a:t>
            </a:r>
            <a:r>
              <a:rPr lang="en-US" altLang="zh-CN" sz="2800" dirty="0"/>
              <a:t>)</a:t>
            </a:r>
            <a:r>
              <a:rPr lang="zh-CN" altLang="en-US" sz="2800" dirty="0"/>
              <a:t>是代数系统。</a:t>
            </a:r>
          </a:p>
          <a:p>
            <a:pPr>
              <a:lnSpc>
                <a:spcPct val="150000"/>
              </a:lnSpc>
            </a:pPr>
            <a:r>
              <a:rPr lang="zh-CN" altLang="en-US" sz="2800" dirty="0"/>
              <a:t>　这里：</a:t>
            </a:r>
            <a:r>
              <a:rPr lang="en-US" altLang="zh-CN" sz="2800" dirty="0"/>
              <a:t>X={a</a:t>
            </a:r>
            <a:r>
              <a:rPr lang="en-US" altLang="zh-CN" sz="2800" baseline="-25000" dirty="0"/>
              <a:t>1 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3 </a:t>
            </a:r>
            <a:r>
              <a:rPr lang="en-US" altLang="zh-CN" sz="2800" dirty="0"/>
              <a:t>,</a:t>
            </a:r>
            <a:r>
              <a:rPr lang="en-US" altLang="zh-CN" sz="2800" dirty="0">
                <a:sym typeface="Symbol" panose="05050102010706020507" pitchFamily="18" charset="2"/>
              </a:rPr>
              <a:t>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n </a:t>
            </a:r>
            <a:r>
              <a:rPr lang="en-US" altLang="zh-CN" sz="2800" dirty="0"/>
              <a:t>}</a:t>
            </a:r>
            <a:r>
              <a:rPr lang="zh-CN" altLang="en-US" sz="2800" dirty="0"/>
              <a:t>，定义运算  </a:t>
            </a:r>
            <a:r>
              <a:rPr lang="zh-CN" altLang="en-US" sz="2800" dirty="0">
                <a:sym typeface="Symbol" panose="05050102010706020507" pitchFamily="18" charset="2"/>
              </a:rPr>
              <a:t></a:t>
            </a:r>
            <a:r>
              <a:rPr lang="zh-CN" altLang="en-US" sz="2800" dirty="0"/>
              <a:t> </a:t>
            </a:r>
            <a:r>
              <a:rPr lang="en-US" altLang="zh-CN" sz="2800" b="1" dirty="0"/>
              <a:t>:</a:t>
            </a:r>
            <a:r>
              <a:rPr lang="en-US" altLang="zh-CN" sz="2800" dirty="0"/>
              <a:t> X</a:t>
            </a:r>
            <a:r>
              <a:rPr lang="en-US" altLang="zh-CN" sz="2800" dirty="0">
                <a:sym typeface="Symbol" panose="05050102010706020507" pitchFamily="18" charset="2"/>
              </a:rPr>
              <a:t></a:t>
            </a:r>
            <a:r>
              <a:rPr lang="en-US" altLang="zh-CN" sz="2800" baseline="30000" dirty="0"/>
              <a:t> </a:t>
            </a:r>
            <a:r>
              <a:rPr lang="en-US" altLang="zh-CN" sz="2800" dirty="0"/>
              <a:t>X </a:t>
            </a:r>
          </a:p>
        </p:txBody>
      </p:sp>
      <p:pic>
        <p:nvPicPr>
          <p:cNvPr id="5" name="Picture 1028">
            <a:extLst>
              <a:ext uri="{FF2B5EF4-FFF2-40B4-BE49-F238E27FC236}">
                <a16:creationId xmlns:a16="http://schemas.microsoft.com/office/drawing/2014/main" id="{3D2E15D4-2372-4704-ACE2-2AE8DD2AC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599" y="2855052"/>
            <a:ext cx="3325101" cy="1087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D1C1EE8-3951-445F-BCE9-91E53F845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549" y="2608709"/>
            <a:ext cx="3676190" cy="3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54247"/>
      </p:ext>
    </p:extLst>
  </p:cSld>
  <p:clrMapOvr>
    <a:masterClrMapping/>
  </p:clrMapOvr>
  <p:transition spd="slow" advTm="0">
    <p:wipe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5230</TotalTime>
  <Words>1809</Words>
  <Application>Microsoft Office PowerPoint</Application>
  <PresentationFormat>宽屏</PresentationFormat>
  <Paragraphs>255</Paragraphs>
  <Slides>26</Slides>
  <Notes>26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47" baseType="lpstr">
      <vt:lpstr>MS PGothic</vt:lpstr>
      <vt:lpstr>等线</vt:lpstr>
      <vt:lpstr>等线 Light</vt:lpstr>
      <vt:lpstr>黑体</vt:lpstr>
      <vt:lpstr>KaiTi</vt:lpstr>
      <vt:lpstr>楷体_GB2312</vt:lpstr>
      <vt:lpstr>宋体</vt:lpstr>
      <vt:lpstr>微软雅黑</vt:lpstr>
      <vt:lpstr>微软雅黑</vt:lpstr>
      <vt:lpstr>Microsoft YaHei Light</vt:lpstr>
      <vt:lpstr>Arial</vt:lpstr>
      <vt:lpstr>Arial Black</vt:lpstr>
      <vt:lpstr>Lucida Handwriting</vt:lpstr>
      <vt:lpstr>Segoe UI Semibold</vt:lpstr>
      <vt:lpstr>Symbol</vt:lpstr>
      <vt:lpstr>Times New Roman</vt:lpstr>
      <vt:lpstr>Wingdings</vt:lpstr>
      <vt:lpstr>Office 主题​​</vt:lpstr>
      <vt:lpstr>WPS.Doc.6</vt:lpstr>
      <vt:lpstr>PBrush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wyq</dc:creator>
  <cp:lastModifiedBy>y z</cp:lastModifiedBy>
  <cp:revision>84</cp:revision>
  <dcterms:created xsi:type="dcterms:W3CDTF">2021-11-05T13:12:46Z</dcterms:created>
  <dcterms:modified xsi:type="dcterms:W3CDTF">2025-12-16T08:42:38Z</dcterms:modified>
</cp:coreProperties>
</file>