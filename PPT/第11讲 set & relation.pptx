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445" r:id="rId2"/>
    <p:sldId id="1288" r:id="rId3"/>
    <p:sldId id="1332" r:id="rId4"/>
    <p:sldId id="1318" r:id="rId5"/>
    <p:sldId id="1334" r:id="rId6"/>
    <p:sldId id="1336" r:id="rId7"/>
    <p:sldId id="1339" r:id="rId8"/>
    <p:sldId id="1340" r:id="rId9"/>
    <p:sldId id="1325" r:id="rId10"/>
    <p:sldId id="1360" r:id="rId11"/>
    <p:sldId id="1361" r:id="rId12"/>
    <p:sldId id="1362" r:id="rId13"/>
    <p:sldId id="1342" r:id="rId14"/>
    <p:sldId id="1344" r:id="rId15"/>
    <p:sldId id="1345" r:id="rId16"/>
    <p:sldId id="1346" r:id="rId17"/>
    <p:sldId id="1347" r:id="rId18"/>
    <p:sldId id="1348" r:id="rId19"/>
    <p:sldId id="1349" r:id="rId20"/>
    <p:sldId id="1350" r:id="rId21"/>
    <p:sldId id="1351" r:id="rId22"/>
    <p:sldId id="1363" r:id="rId23"/>
    <p:sldId id="1352" r:id="rId24"/>
    <p:sldId id="1353" r:id="rId25"/>
    <p:sldId id="1354" r:id="rId26"/>
    <p:sldId id="1355" r:id="rId27"/>
    <p:sldId id="1356" r:id="rId28"/>
    <p:sldId id="1357" r:id="rId29"/>
    <p:sldId id="1358" r:id="rId30"/>
    <p:sldId id="1364" r:id="rId31"/>
    <p:sldId id="1365" r:id="rId32"/>
    <p:sldId id="1366" r:id="rId33"/>
    <p:sldId id="1367" r:id="rId34"/>
    <p:sldId id="1359" r:id="rId35"/>
    <p:sldId id="1368" r:id="rId36"/>
    <p:sldId id="1369" r:id="rId37"/>
    <p:sldId id="1370" r:id="rId38"/>
    <p:sldId id="1371" r:id="rId39"/>
    <p:sldId id="1372" r:id="rId40"/>
    <p:sldId id="1373" r:id="rId41"/>
    <p:sldId id="1400" r:id="rId42"/>
    <p:sldId id="1401" r:id="rId43"/>
    <p:sldId id="1402" r:id="rId44"/>
    <p:sldId id="1374" r:id="rId45"/>
    <p:sldId id="1375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858CD0-EFD1-4D27-A427-70167095FD10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1D47A-F619-4A5B-A8DF-B8BE879F94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76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778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394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422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865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12673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245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958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300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823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4818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3731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369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921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8061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725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836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720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9318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824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6977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1523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6422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8645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5330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2729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3849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6008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1744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4964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92896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3096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566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8870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225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290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3027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8240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35079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7256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6002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6042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8245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438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494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6E42D-8E1F-4161-92FC-798002BD6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38D7EA-6BDB-4E64-B964-80168CE379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B6C0B8-A32B-4878-B781-603CA377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034E1-D035-43F7-B64D-29398828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5B4D6F-9FE4-4AD6-8337-0FE1B6580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33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B075D-15DC-42AC-93A2-6A06B06EC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4E679-C3AD-4C33-B06C-91BDD767E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EB38F1-C445-4800-90A5-8F3ED061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01018E-22E1-4D4F-A56D-10C1E62E9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0D2562-0CCF-4227-85A9-AFD35B0E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77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192B2-AC57-485E-9E3F-B7B8C9055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8D281-194B-468B-ADBA-76A4E23855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E9BCE0-002E-42ED-B7C2-261D43E96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BEF642-B6DE-4777-8064-A39FFF8F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4A94A4-38F0-4C2B-ADFE-D02E2B1A0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768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DB952-D4D5-4F3B-830A-67B71D6E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57EF1-6F7D-43F5-BE79-67D16A90BD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181AE9-5B3A-45EC-8869-29C393E4F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75487C-7666-44DE-80EE-2902D9B43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E3EDC2-3316-4B5C-A95A-0A39BECDF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53D2A1-3261-49CC-BA76-3E398676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04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6F3126-81EA-4C17-9D21-7D9EFAC38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55D8D7-9261-44FB-96B7-5B9D93CC5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81393F-A933-46B1-B8AE-5B752A523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6D282E-4854-4A45-9EBC-6D406339D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4A79BF-2110-4A4A-A27C-3064D7DEA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997EF3B-A447-4A59-B47E-60D3E1B9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1260F99-31D5-491C-8D88-3FBFBEFA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708E84E-BD81-4EE1-BFDF-4680C8F0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971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7F80B8-CAFF-4186-813A-E935D303A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0707CB1-D86D-4955-AA11-EC4336999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3060BF-8F34-4402-8824-20704BA5A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20C4CC-E83E-4E13-AAC4-6236B53B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76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7E5E81-960E-452B-BEEC-237A76587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28A7DE-E2FD-4DCD-88D4-9461A95F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D45A2C-4D06-4ADE-A257-8FD503959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53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4F57E0-C81E-4CD1-AD98-8E486CB68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B00199-6F84-4A59-8899-E8B2E6DE5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090C66-7379-460F-9033-E6814CA81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EF1194-1784-48F1-B41C-D7101B2E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ECE248-CB85-4EB4-8EAB-B63C1C9F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8F506F9-F269-4A99-9F79-36580B84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178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A2D68-F164-431A-B045-FF32FD8F4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88AEBE-7DD1-4AB2-88CB-65DD42C06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5E8435-B02C-45D8-8560-2C62BF681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6AF48E-D282-434B-B1B1-A60EEBEE8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2310E0-45D2-4D33-B87B-87A037DA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3DB1FD-3803-4744-81A6-2E12760C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54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1C7E0-3A75-4623-9D79-2EC44EB9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79C279-1369-407F-963C-3FDABB3B3F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EAB553-602F-4D34-9454-6212EA2F8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2D560-2717-478A-957B-EFA01113A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F9566A-D4B7-4359-930C-6E605905A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887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80FD482-6518-4B73-B8B4-737A92FE8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189D8D-031B-4157-A964-232795122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1B225-C513-4598-8A7C-52A744ECB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7D63-D7B8-4F0E-B9CF-2A3E3830BAA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343814-5EB6-47BE-BCA3-2B92BA01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AC6707-C37E-4D0E-B58E-FFC34946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423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053564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0F79C98-3199-4C9B-9161-434E02C13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1E81D8-ADFF-4204-A1B1-03575868F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05A6F5-C2B7-426F-8FB9-A73AD3EFA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A7D63-D7B8-4F0E-B9CF-2A3E3830BAA8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2A0E02-245B-4209-85B4-765107BCA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B4894D-1E88-4F89-8FD8-4C353DC3E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AB54C-22A2-4F79-A496-0875D9C88C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14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1.png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6.bin"/><Relationship Id="rId9" Type="http://schemas.openxmlformats.org/officeDocument/2006/relationships/image" Target="../media/image10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1.png"/><Relationship Id="rId7" Type="http://schemas.openxmlformats.org/officeDocument/2006/relationships/image" Target="../media/image9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0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1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0D836C-C6CC-42F7-8855-E7DF8BAA07CD}"/>
              </a:ext>
            </a:extLst>
          </p:cNvPr>
          <p:cNvSpPr/>
          <p:nvPr/>
        </p:nvSpPr>
        <p:spPr>
          <a:xfrm>
            <a:off x="2949811" y="2794770"/>
            <a:ext cx="602485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8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集合与关系 </a:t>
            </a:r>
            <a:endParaRPr lang="en-US" altLang="zh-CN" sz="48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/>
            <a:r>
              <a:rPr lang="en-US" altLang="zh-CN" sz="4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Set &amp; Relation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427611833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B2EDEA6-3817-4BF0-A994-A98638D75444}"/>
              </a:ext>
            </a:extLst>
          </p:cNvPr>
          <p:cNvSpPr/>
          <p:nvPr/>
        </p:nvSpPr>
        <p:spPr>
          <a:xfrm>
            <a:off x="2265167" y="814985"/>
            <a:ext cx="8497123" cy="4684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设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+，A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,…,A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为任意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个集合，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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…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则</a:t>
            </a:r>
          </a:p>
          <a:p>
            <a:pPr algn="just"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(1)称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,…,A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间的</a:t>
            </a:r>
            <a:r>
              <a:rPr lang="en-US" altLang="x-none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元关系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(2)若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n=2，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为从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到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二元关系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(3)若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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，则称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空关系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(4)若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…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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普遍关系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；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U</a:t>
            </a:r>
            <a:r>
              <a:rPr lang="en-US" altLang="zh-CN" sz="2800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）</a:t>
            </a:r>
          </a:p>
          <a:p>
            <a:pPr algn="just"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(5)若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=…=A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=A，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</a:t>
            </a:r>
            <a:r>
              <a:rPr lang="en-US" altLang="x-none" sz="2800" dirty="0">
                <a:solidFill>
                  <a:schemeClr val="tx2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上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的</a:t>
            </a:r>
            <a:r>
              <a:rPr lang="en-US" altLang="x-none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元关系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；</a:t>
            </a:r>
          </a:p>
          <a:p>
            <a:pPr algn="just">
              <a:lnSpc>
                <a:spcPct val="135000"/>
              </a:lnSpc>
              <a:buClr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(6)若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={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&lt;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x,x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&gt;|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x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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}，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则称</a:t>
            </a:r>
            <a:r>
              <a:rPr lang="en-US" altLang="zh-CN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为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上的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恒等关系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。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I</a:t>
            </a:r>
            <a:r>
              <a:rPr lang="en-US" altLang="zh-CN" sz="2800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）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DC3D92-C94B-44EE-898A-331DACE41577}"/>
              </a:ext>
            </a:extLst>
          </p:cNvPr>
          <p:cNvSpPr/>
          <p:nvPr/>
        </p:nvSpPr>
        <p:spPr>
          <a:xfrm>
            <a:off x="1847437" y="5811818"/>
            <a:ext cx="933258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是由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的一个关系，且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x-none" sz="2800" dirty="0" err="1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R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</a:t>
            </a:r>
            <a:r>
              <a:rPr lang="en-US" altLang="x-none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有关系</a:t>
            </a:r>
            <a:r>
              <a:rPr lang="en-US" altLang="zh-CN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zh-CN" altLang="en-US" sz="2800" dirty="0">
                <a:solidFill>
                  <a:srgbClr val="3333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，记为</a:t>
            </a:r>
            <a:r>
              <a:rPr lang="en-US" altLang="x-none" sz="2800" dirty="0" err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x-none" sz="2800" dirty="0" err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x-none" sz="2800" dirty="0" err="1">
                <a:solidFill>
                  <a:srgbClr val="CC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F1EAB424-C48D-4860-56E8-07A1065D8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600757603"/>
      </p:ext>
    </p:extLst>
  </p:cSld>
  <p:clrMapOvr>
    <a:masterClrMapping/>
  </p:clrMapOvr>
  <p:transition spd="slow" advTm="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7931607-B2E2-4360-B9CB-2A42321598BF}"/>
              </a:ext>
            </a:extLst>
          </p:cNvPr>
          <p:cNvSpPr/>
          <p:nvPr/>
        </p:nvSpPr>
        <p:spPr>
          <a:xfrm>
            <a:off x="1833015" y="1198775"/>
            <a:ext cx="10029018" cy="3246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定义域(</a:t>
            </a:r>
            <a:r>
              <a:rPr lang="en-US" altLang="x-none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值域(</a:t>
            </a:r>
            <a:r>
              <a:rPr lang="en-US" altLang="x-none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range)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域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(field)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是两个非空集合，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是一关系。则关系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定义域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a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)}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前域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值域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ran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b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aA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}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后域、陪域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域：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fld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=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dom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∪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ran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roup 42">
            <a:extLst>
              <a:ext uri="{FF2B5EF4-FFF2-40B4-BE49-F238E27FC236}">
                <a16:creationId xmlns:a16="http://schemas.microsoft.com/office/drawing/2014/main" id="{5A271F59-E9D7-42C5-9C26-AC255FED9603}"/>
              </a:ext>
            </a:extLst>
          </p:cNvPr>
          <p:cNvGrpSpPr>
            <a:grpSpLocks/>
          </p:cNvGrpSpPr>
          <p:nvPr/>
        </p:nvGrpSpPr>
        <p:grpSpPr bwMode="auto">
          <a:xfrm>
            <a:off x="2193289" y="4930115"/>
            <a:ext cx="6019800" cy="1600200"/>
            <a:chOff x="1152" y="1392"/>
            <a:chExt cx="3792" cy="1008"/>
          </a:xfrm>
        </p:grpSpPr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3AF1313A-018E-4DE4-94FF-41D73999D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536"/>
              <a:ext cx="864" cy="48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525AFA4C-8A38-49D3-9790-8C473CD21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28"/>
              <a:ext cx="105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endParaRPr lang="zh-CN" altLang="zh-CN"/>
            </a:p>
          </p:txBody>
        </p:sp>
        <p:sp>
          <p:nvSpPr>
            <p:cNvPr id="9" name="Oval 11">
              <a:extLst>
                <a:ext uri="{FF2B5EF4-FFF2-40B4-BE49-F238E27FC236}">
                  <a16:creationId xmlns:a16="http://schemas.microsoft.com/office/drawing/2014/main" id="{17E5398D-CA3A-4786-8DE6-00536CAB3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488"/>
              <a:ext cx="576" cy="432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zh-CN" altLang="zh-CN"/>
            </a:p>
          </p:txBody>
        </p:sp>
        <p:sp>
          <p:nvSpPr>
            <p:cNvPr id="10" name="Oval 12">
              <a:extLst>
                <a:ext uri="{FF2B5EF4-FFF2-40B4-BE49-F238E27FC236}">
                  <a16:creationId xmlns:a16="http://schemas.microsoft.com/office/drawing/2014/main" id="{417A707C-F00E-4ECA-B387-D11926DF2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872"/>
              <a:ext cx="1392" cy="336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13">
              <a:extLst>
                <a:ext uri="{FF2B5EF4-FFF2-40B4-BE49-F238E27FC236}">
                  <a16:creationId xmlns:a16="http://schemas.microsoft.com/office/drawing/2014/main" id="{738258E5-8426-4BF4-8675-BAC9FBC4F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632"/>
              <a:ext cx="768" cy="720"/>
            </a:xfrm>
            <a:prstGeom prst="ellipse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15">
              <a:extLst>
                <a:ext uri="{FF2B5EF4-FFF2-40B4-BE49-F238E27FC236}">
                  <a16:creationId xmlns:a16="http://schemas.microsoft.com/office/drawing/2014/main" id="{C4D14308-E833-40C6-9697-03A71BC38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392"/>
              <a:ext cx="1440" cy="9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39102EB9-CC01-412C-ABE1-72703C1E7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440"/>
              <a:ext cx="1536" cy="9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B657A46F-FD16-4F2E-AC78-89057221D2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536"/>
              <a:ext cx="816" cy="62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7389D6F1-6532-4CEF-A71C-1F2C87D0D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584"/>
              <a:ext cx="768" cy="624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Text Box 19">
              <a:extLst>
                <a:ext uri="{FF2B5EF4-FFF2-40B4-BE49-F238E27FC236}">
                  <a16:creationId xmlns:a16="http://schemas.microsoft.com/office/drawing/2014/main" id="{3DD6C864-3F5A-4E2F-9434-B5660F206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728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17" name="Text Box 20">
              <a:extLst>
                <a:ext uri="{FF2B5EF4-FFF2-40B4-BE49-F238E27FC236}">
                  <a16:creationId xmlns:a16="http://schemas.microsoft.com/office/drawing/2014/main" id="{B066731E-2AF2-48AD-A84D-6D4F80C5E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1824"/>
              <a:ext cx="62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i="1" dirty="0">
                  <a:sym typeface="Symbol" panose="05050102010706020507" pitchFamily="18" charset="2"/>
                </a:rPr>
                <a:t></a:t>
              </a:r>
              <a:r>
                <a:rPr lang="en-US" altLang="zh-CN" i="1" dirty="0"/>
                <a:t> </a:t>
              </a:r>
              <a:r>
                <a:rPr lang="en-US" altLang="zh-CN" dirty="0"/>
                <a:t>(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en-US" altLang="zh-CN" dirty="0"/>
                <a:t>)</a:t>
              </a:r>
            </a:p>
          </p:txBody>
        </p:sp>
        <p:sp>
          <p:nvSpPr>
            <p:cNvPr id="18" name="Text Box 21">
              <a:extLst>
                <a:ext uri="{FF2B5EF4-FFF2-40B4-BE49-F238E27FC236}">
                  <a16:creationId xmlns:a16="http://schemas.microsoft.com/office/drawing/2014/main" id="{484CD53D-5207-4781-96D1-36741F794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824"/>
              <a:ext cx="28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19" name="Text Box 22">
              <a:extLst>
                <a:ext uri="{FF2B5EF4-FFF2-40B4-BE49-F238E27FC236}">
                  <a16:creationId xmlns:a16="http://schemas.microsoft.com/office/drawing/2014/main" id="{A36B219C-29D9-4442-88E8-92A5AADCF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872"/>
              <a:ext cx="52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i="1" dirty="0">
                  <a:sym typeface="Symbol" panose="05050102010706020507" pitchFamily="18" charset="2"/>
                </a:rPr>
                <a:t></a:t>
              </a:r>
              <a:r>
                <a:rPr lang="en-US" altLang="zh-CN" i="1" dirty="0"/>
                <a:t> </a:t>
              </a:r>
              <a:r>
                <a:rPr lang="en-US" altLang="zh-CN" dirty="0"/>
                <a:t>(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r>
                <a:rPr lang="en-US" altLang="zh-CN" dirty="0"/>
                <a:t>)</a:t>
              </a:r>
            </a:p>
          </p:txBody>
        </p:sp>
        <p:sp>
          <p:nvSpPr>
            <p:cNvPr id="20" name="Oval 23">
              <a:extLst>
                <a:ext uri="{FF2B5EF4-FFF2-40B4-BE49-F238E27FC236}">
                  <a16:creationId xmlns:a16="http://schemas.microsoft.com/office/drawing/2014/main" id="{5E03139A-089F-467B-A690-2E505F8DE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632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Oval 24">
              <a:extLst>
                <a:ext uri="{FF2B5EF4-FFF2-40B4-BE49-F238E27FC236}">
                  <a16:creationId xmlns:a16="http://schemas.microsoft.com/office/drawing/2014/main" id="{1F80213D-1FDA-486F-A4A6-D00C66236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680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2" name="AutoShape 26">
              <a:extLst>
                <a:ext uri="{FF2B5EF4-FFF2-40B4-BE49-F238E27FC236}">
                  <a16:creationId xmlns:a16="http://schemas.microsoft.com/office/drawing/2014/main" id="{6A72688E-1080-4F7E-8595-D4D56B996D22}"/>
                </a:ext>
              </a:extLst>
            </p:cNvPr>
            <p:cNvCxnSpPr>
              <a:cxnSpLocks noChangeShapeType="1"/>
              <a:stCxn id="20" idx="7"/>
              <a:endCxn id="21" idx="1"/>
            </p:cNvCxnSpPr>
            <p:nvPr/>
          </p:nvCxnSpPr>
          <p:spPr bwMode="auto">
            <a:xfrm rot="5400000" flipV="1">
              <a:off x="2976" y="528"/>
              <a:ext cx="48" cy="2270"/>
            </a:xfrm>
            <a:prstGeom prst="curvedConnector3">
              <a:avLst>
                <a:gd name="adj1" fmla="val -314583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27">
              <a:extLst>
                <a:ext uri="{FF2B5EF4-FFF2-40B4-BE49-F238E27FC236}">
                  <a16:creationId xmlns:a16="http://schemas.microsoft.com/office/drawing/2014/main" id="{2ED5AD1D-B32D-44C6-BC2F-6F7B911B6758}"/>
                </a:ext>
              </a:extLst>
            </p:cNvPr>
            <p:cNvCxnSpPr>
              <a:cxnSpLocks noChangeShapeType="1"/>
              <a:stCxn id="20" idx="7"/>
              <a:endCxn id="21" idx="0"/>
            </p:cNvCxnSpPr>
            <p:nvPr/>
          </p:nvCxnSpPr>
          <p:spPr bwMode="auto">
            <a:xfrm rot="5400000" flipV="1">
              <a:off x="2988" y="516"/>
              <a:ext cx="41" cy="2287"/>
            </a:xfrm>
            <a:prstGeom prst="bentConnector3">
              <a:avLst>
                <a:gd name="adj1" fmla="val -368292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 type="triangl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B3FC56C1-6209-4466-89DD-7AB835D74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632"/>
              <a:ext cx="2704" cy="56"/>
            </a:xfrm>
            <a:custGeom>
              <a:avLst/>
              <a:gdLst>
                <a:gd name="T0" fmla="*/ 0 w 2704"/>
                <a:gd name="T1" fmla="*/ 0 h 56"/>
                <a:gd name="T2" fmla="*/ 2304 w 2704"/>
                <a:gd name="T3" fmla="*/ 48 h 56"/>
                <a:gd name="T4" fmla="*/ 2400 w 2704"/>
                <a:gd name="T5" fmla="*/ 4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4" h="56">
                  <a:moveTo>
                    <a:pt x="0" y="0"/>
                  </a:moveTo>
                  <a:cubicBezTo>
                    <a:pt x="952" y="20"/>
                    <a:pt x="1904" y="40"/>
                    <a:pt x="2304" y="48"/>
                  </a:cubicBezTo>
                  <a:cubicBezTo>
                    <a:pt x="2704" y="56"/>
                    <a:pt x="2392" y="48"/>
                    <a:pt x="2400" y="48"/>
                  </a:cubicBezTo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29">
              <a:extLst>
                <a:ext uri="{FF2B5EF4-FFF2-40B4-BE49-F238E27FC236}">
                  <a16:creationId xmlns:a16="http://schemas.microsoft.com/office/drawing/2014/main" id="{A2CCF51B-909D-463C-ABA1-588900E4D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632"/>
              <a:ext cx="2304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Box 30">
              <a:extLst>
                <a:ext uri="{FF2B5EF4-FFF2-40B4-BE49-F238E27FC236}">
                  <a16:creationId xmlns:a16="http://schemas.microsoft.com/office/drawing/2014/main" id="{83B4A916-A0D8-4AC0-AF9C-BFBA13B74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632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27" name="Text Box 31">
              <a:extLst>
                <a:ext uri="{FF2B5EF4-FFF2-40B4-BE49-F238E27FC236}">
                  <a16:creationId xmlns:a16="http://schemas.microsoft.com/office/drawing/2014/main" id="{4B63F309-F6A8-4E4C-B8C9-7A6475572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680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28" name="Text Box 32">
              <a:extLst>
                <a:ext uri="{FF2B5EF4-FFF2-40B4-BE49-F238E27FC236}">
                  <a16:creationId xmlns:a16="http://schemas.microsoft.com/office/drawing/2014/main" id="{1898D3B0-0E69-4E50-808B-20DF644BD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440"/>
              <a:ext cx="28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R</a:t>
              </a:r>
              <a:endParaRPr lang="en-US" altLang="zh-CN" dirty="0"/>
            </a:p>
          </p:txBody>
        </p:sp>
        <p:sp>
          <p:nvSpPr>
            <p:cNvPr id="29" name="Line 33">
              <a:extLst>
                <a:ext uri="{FF2B5EF4-FFF2-40B4-BE49-F238E27FC236}">
                  <a16:creationId xmlns:a16="http://schemas.microsoft.com/office/drawing/2014/main" id="{2244E15A-99B5-44DB-AA64-18128BEE8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776"/>
              <a:ext cx="1920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4">
              <a:extLst>
                <a:ext uri="{FF2B5EF4-FFF2-40B4-BE49-F238E27FC236}">
                  <a16:creationId xmlns:a16="http://schemas.microsoft.com/office/drawing/2014/main" id="{F4F315C0-4A90-4943-8401-B42EDE85E5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920"/>
              <a:ext cx="1776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5">
              <a:extLst>
                <a:ext uri="{FF2B5EF4-FFF2-40B4-BE49-F238E27FC236}">
                  <a16:creationId xmlns:a16="http://schemas.microsoft.com/office/drawing/2014/main" id="{59FDB38F-1AE4-400A-8C45-C4E7F27303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016"/>
              <a:ext cx="1824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Oval 36">
              <a:extLst>
                <a:ext uri="{FF2B5EF4-FFF2-40B4-BE49-F238E27FC236}">
                  <a16:creationId xmlns:a16="http://schemas.microsoft.com/office/drawing/2014/main" id="{3CFD1FEE-B393-4C60-87F9-3652168376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728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37">
              <a:extLst>
                <a:ext uri="{FF2B5EF4-FFF2-40B4-BE49-F238E27FC236}">
                  <a16:creationId xmlns:a16="http://schemas.microsoft.com/office/drawing/2014/main" id="{F7E91DA2-E3D1-4D7A-B30C-FC104BDAC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824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38">
              <a:extLst>
                <a:ext uri="{FF2B5EF4-FFF2-40B4-BE49-F238E27FC236}">
                  <a16:creationId xmlns:a16="http://schemas.microsoft.com/office/drawing/2014/main" id="{129FB5C4-4EC6-4F1C-B624-1AF0F47CF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920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39">
              <a:extLst>
                <a:ext uri="{FF2B5EF4-FFF2-40B4-BE49-F238E27FC236}">
                  <a16:creationId xmlns:a16="http://schemas.microsoft.com/office/drawing/2014/main" id="{391B5138-A290-4C6D-9D31-AE5DF9F24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016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40">
              <a:extLst>
                <a:ext uri="{FF2B5EF4-FFF2-40B4-BE49-F238E27FC236}">
                  <a16:creationId xmlns:a16="http://schemas.microsoft.com/office/drawing/2014/main" id="{3F48218C-D14D-4502-9546-7D05E86D8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920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41">
              <a:extLst>
                <a:ext uri="{FF2B5EF4-FFF2-40B4-BE49-F238E27FC236}">
                  <a16:creationId xmlns:a16="http://schemas.microsoft.com/office/drawing/2014/main" id="{361A6944-26B0-4221-BDAA-211DDD881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064"/>
              <a:ext cx="48" cy="4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30914CFD-9F87-0A89-4055-0A940188D0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204495913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F29909F-55EB-4545-9D6F-48D982EC6376}"/>
              </a:ext>
            </a:extLst>
          </p:cNvPr>
          <p:cNvSpPr txBox="1">
            <a:spLocks noChangeArrowheads="1"/>
          </p:cNvSpPr>
          <p:nvPr/>
        </p:nvSpPr>
        <p:spPr>
          <a:xfrm>
            <a:off x="2029442" y="990600"/>
            <a:ext cx="7620000" cy="169333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设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,R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A×B</a:t>
            </a:r>
            <a:r>
              <a:rPr lang="zh-CN" altLang="en-US" dirty="0">
                <a:solidFill>
                  <a:srgbClr val="C00000"/>
                </a:solidFill>
              </a:rPr>
              <a:t>是两个关系，</a:t>
            </a:r>
            <a:r>
              <a:rPr lang="en-US" altLang="zh-CN" dirty="0">
                <a:solidFill>
                  <a:srgbClr val="C00000"/>
                </a:solidFill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</a:rPr>
              <a:t>1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  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。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则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  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(1)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zh-CN" altLang="en-US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zh-CN" altLang="en-US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)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) </a:t>
            </a:r>
            <a:r>
              <a:rPr lang="zh-CN" altLang="en-US" dirty="0">
                <a:solidFill>
                  <a:srgbClr val="C00000"/>
                </a:solidFill>
              </a:rPr>
              <a:t>；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00000"/>
                </a:solidFill>
              </a:rPr>
              <a:t>    </a:t>
            </a:r>
            <a:r>
              <a:rPr lang="en-US" altLang="zh-CN" dirty="0">
                <a:solidFill>
                  <a:srgbClr val="C00000"/>
                </a:solidFill>
              </a:rPr>
              <a:t>(2)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zh-CN" altLang="en-US" i="1" dirty="0">
                <a:solidFill>
                  <a:srgbClr val="C00000"/>
                </a:solidFill>
                <a:sym typeface="Symbol" panose="05050102010706020507" pitchFamily="18" charset="2"/>
              </a:rPr>
              <a:t></a:t>
            </a:r>
            <a:r>
              <a:rPr lang="zh-CN" altLang="en-US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)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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) </a:t>
            </a:r>
            <a:r>
              <a:rPr lang="zh-CN" altLang="en-US" dirty="0">
                <a:solidFill>
                  <a:srgbClr val="C00000"/>
                </a:solidFill>
              </a:rPr>
              <a:t>；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/>
          </a:p>
        </p:txBody>
      </p:sp>
      <p:sp>
        <p:nvSpPr>
          <p:cNvPr id="2" name="AutoShape 3">
            <a:extLst>
              <a:ext uri="{FF2B5EF4-FFF2-40B4-BE49-F238E27FC236}">
                <a16:creationId xmlns:a16="http://schemas.microsoft.com/office/drawing/2014/main" id="{58A452F9-080E-C70F-01B5-70A4E7E67ED0}"/>
              </a:ext>
            </a:extLst>
          </p:cNvPr>
          <p:cNvSpPr txBox="1">
            <a:spLocks noChangeAspect="1" noChangeArrowheads="1"/>
          </p:cNvSpPr>
          <p:nvPr/>
        </p:nvSpPr>
        <p:spPr>
          <a:xfrm>
            <a:off x="1929607" y="2683933"/>
            <a:ext cx="8489448" cy="18577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设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, 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zh-CN" altLang="en-US" dirty="0">
                <a:solidFill>
                  <a:srgbClr val="C00000"/>
                </a:solidFill>
                <a:sym typeface="Symbol" panose="05050102010706020507" pitchFamily="18" charset="2"/>
              </a:rPr>
              <a:t>是</a:t>
            </a:r>
            <a:r>
              <a:rPr lang="en-US" altLang="zh-CN" dirty="0">
                <a:solidFill>
                  <a:srgbClr val="C00000"/>
                </a:solidFill>
              </a:rPr>
              <a:t>A×B</a:t>
            </a:r>
            <a:r>
              <a:rPr lang="zh-CN" altLang="en-US" dirty="0">
                <a:solidFill>
                  <a:srgbClr val="C00000"/>
                </a:solidFill>
              </a:rPr>
              <a:t>上的两个二元关系。则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C00000"/>
                </a:solidFill>
              </a:rPr>
              <a:t>    </a:t>
            </a:r>
            <a:r>
              <a:rPr lang="en-US" altLang="zh-CN" dirty="0">
                <a:solidFill>
                  <a:srgbClr val="C00000"/>
                </a:solidFill>
              </a:rPr>
              <a:t>(1)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 ∪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) = 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)∪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)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C00000"/>
                </a:solidFill>
              </a:rPr>
              <a:t>    (2)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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 ∪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) = 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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C00000"/>
                </a:solidFill>
              </a:rPr>
              <a:t>)∪</a:t>
            </a:r>
            <a:r>
              <a:rPr lang="en-US" altLang="zh-CN" i="1" dirty="0">
                <a:solidFill>
                  <a:srgbClr val="C00000"/>
                </a:solidFill>
                <a:sym typeface="Symbol" panose="05050102010706020507" pitchFamily="18" charset="2"/>
              </a:rPr>
              <a:t></a:t>
            </a:r>
            <a:r>
              <a:rPr lang="en-US" altLang="zh-CN" i="1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C00000"/>
                </a:solidFill>
              </a:rPr>
              <a:t>)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dirty="0">
                <a:sym typeface="Symbol" panose="05050102010706020507" pitchFamily="18" charset="2"/>
              </a:rPr>
              <a:t>        </a:t>
            </a:r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673EE6-7FBB-78AB-4A00-9A503B4A6277}"/>
              </a:ext>
            </a:extLst>
          </p:cNvPr>
          <p:cNvSpPr/>
          <p:nvPr/>
        </p:nvSpPr>
        <p:spPr>
          <a:xfrm>
            <a:off x="2116848" y="4377266"/>
            <a:ext cx="6911725" cy="1961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设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,R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 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A×B</a:t>
            </a:r>
            <a:r>
              <a:rPr lang="zh-CN" altLang="en-US" sz="2800" dirty="0">
                <a:solidFill>
                  <a:srgbClr val="C00000"/>
                </a:solidFill>
              </a:rPr>
              <a:t>是两个关系</a:t>
            </a:r>
            <a:r>
              <a:rPr lang="en-US" altLang="zh-CN" sz="2800" dirty="0">
                <a:solidFill>
                  <a:srgbClr val="C00000"/>
                </a:solidFill>
              </a:rPr>
              <a:t>,</a:t>
            </a:r>
            <a:r>
              <a:rPr lang="zh-CN" altLang="en-US" sz="2800" dirty="0">
                <a:solidFill>
                  <a:srgbClr val="C00000"/>
                </a:solidFill>
                <a:sym typeface="Symbol" panose="05050102010706020507" pitchFamily="18" charset="2"/>
              </a:rPr>
              <a:t>则</a:t>
            </a:r>
          </a:p>
          <a:p>
            <a:pPr lvl="0">
              <a:lnSpc>
                <a:spcPct val="150000"/>
              </a:lnSpc>
            </a:pPr>
            <a:r>
              <a:rPr lang="en-US" altLang="zh-CN" sz="2800" dirty="0">
                <a:solidFill>
                  <a:srgbClr val="C00000"/>
                </a:solidFill>
              </a:rPr>
              <a:t> (3)</a:t>
            </a:r>
            <a:r>
              <a:rPr lang="en-US" altLang="zh-CN" sz="2800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sz="2800" i="1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C00000"/>
                </a:solidFill>
              </a:rPr>
              <a:t> ∩ 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C00000"/>
                </a:solidFill>
              </a:rPr>
              <a:t>) 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baseline="200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C00000"/>
                </a:solidFill>
              </a:rPr>
              <a:t>)∩</a:t>
            </a:r>
            <a:r>
              <a:rPr lang="en-US" altLang="zh-CN" sz="2800" i="1" dirty="0">
                <a:solidFill>
                  <a:srgbClr val="C00000"/>
                </a:solidFill>
                <a:sym typeface="Symbol" panose="05050102010706020507" pitchFamily="18" charset="2"/>
              </a:rPr>
              <a:t></a:t>
            </a:r>
            <a:r>
              <a:rPr lang="en-US" altLang="zh-CN" sz="2800" i="1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C00000"/>
                </a:solidFill>
              </a:rPr>
              <a:t>) </a:t>
            </a:r>
          </a:p>
          <a:p>
            <a:pPr lvl="0">
              <a:lnSpc>
                <a:spcPct val="150000"/>
              </a:lnSpc>
            </a:pPr>
            <a:r>
              <a:rPr lang="en-US" altLang="zh-CN" sz="2800" dirty="0">
                <a:solidFill>
                  <a:srgbClr val="C00000"/>
                </a:solidFill>
              </a:rPr>
              <a:t> (4)</a:t>
            </a:r>
            <a:r>
              <a:rPr lang="en-US" altLang="zh-CN" sz="2800" i="1" dirty="0">
                <a:solidFill>
                  <a:srgbClr val="C00000"/>
                </a:solidFill>
                <a:sym typeface="Symbol" panose="05050102010706020507" pitchFamily="18" charset="2"/>
              </a:rPr>
              <a:t></a:t>
            </a:r>
            <a:r>
              <a:rPr lang="en-US" altLang="zh-CN" sz="2800" i="1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C00000"/>
                </a:solidFill>
              </a:rPr>
              <a:t> ∩ 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C00000"/>
                </a:solidFill>
              </a:rPr>
              <a:t>) 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baseline="20000" dirty="0">
                <a:solidFill>
                  <a:srgbClr val="C0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solidFill>
                  <a:srgbClr val="C00000"/>
                </a:solidFill>
                <a:sym typeface="Symbol" panose="05050102010706020507" pitchFamily="18" charset="2"/>
              </a:rPr>
              <a:t></a:t>
            </a:r>
            <a:r>
              <a:rPr lang="en-US" altLang="zh-CN" sz="2800" i="1" dirty="0">
                <a:solidFill>
                  <a:srgbClr val="C00000"/>
                </a:solidFill>
              </a:rPr>
              <a:t> 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olidFill>
                  <a:srgbClr val="C00000"/>
                </a:solidFill>
              </a:rPr>
              <a:t>)∩</a:t>
            </a:r>
            <a:r>
              <a:rPr lang="en-US" altLang="zh-CN" sz="2800" i="1" dirty="0">
                <a:solidFill>
                  <a:srgbClr val="C00000"/>
                </a:solidFill>
                <a:sym typeface="Symbol" panose="05050102010706020507" pitchFamily="18" charset="2"/>
              </a:rPr>
              <a:t> </a:t>
            </a:r>
            <a:r>
              <a:rPr lang="en-US" altLang="zh-CN" sz="2800" dirty="0">
                <a:solidFill>
                  <a:srgbClr val="C00000"/>
                </a:solidFill>
              </a:rPr>
              <a:t>(</a:t>
            </a:r>
            <a:r>
              <a:rPr lang="en-US" altLang="zh-CN" sz="2800" dirty="0">
                <a:solidFill>
                  <a:srgbClr val="C00000"/>
                </a:solidFill>
                <a:sym typeface="Symbol" panose="05050102010706020507" pitchFamily="18" charset="2"/>
              </a:rPr>
              <a:t>R</a:t>
            </a:r>
            <a:r>
              <a:rPr lang="en-US" altLang="zh-CN" sz="2800" baseline="-25000" dirty="0">
                <a:solidFill>
                  <a:srgbClr val="C00000"/>
                </a:solidFill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olidFill>
                  <a:srgbClr val="C00000"/>
                </a:solidFill>
              </a:rPr>
              <a:t>) </a:t>
            </a:r>
            <a:r>
              <a:rPr lang="en-US" altLang="zh-CN" sz="2800" baseline="20000" dirty="0">
                <a:solidFill>
                  <a:srgbClr val="C00000"/>
                </a:solidFill>
                <a:sym typeface="Symbol" panose="05050102010706020507" pitchFamily="18" charset="2"/>
              </a:rPr>
              <a:t>   </a:t>
            </a:r>
            <a:endParaRPr lang="zh-CN" altLang="en-US" sz="2800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594279AE-895E-7313-B8A3-8C8A94188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61289353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0B7AB56-3D52-4640-B7C8-58C6A0143178}"/>
              </a:ext>
            </a:extLst>
          </p:cNvPr>
          <p:cNvSpPr txBox="1"/>
          <p:nvPr/>
        </p:nvSpPr>
        <p:spPr>
          <a:xfrm>
            <a:off x="1751013" y="887146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关系的表示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3076D3-8488-4DE0-80E3-76A9ADF2B4C6}"/>
              </a:ext>
            </a:extLst>
          </p:cNvPr>
          <p:cNvSpPr txBox="1"/>
          <p:nvPr/>
        </p:nvSpPr>
        <p:spPr>
          <a:xfrm>
            <a:off x="1751012" y="1684075"/>
            <a:ext cx="434498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 </a:t>
            </a:r>
            <a:r>
              <a:rPr lang="zh-CN" altLang="en-US" sz="2800" dirty="0"/>
              <a:t>集合表示法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列举法</a:t>
            </a:r>
            <a:endParaRPr lang="en-US" altLang="zh-C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/>
              <a:t>描述法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1A3543AB-F684-78AB-C5C7-6ACA6EEC9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925382570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DF2E89C0-2C47-4A18-9447-388F956C8BAD}"/>
              </a:ext>
            </a:extLst>
          </p:cNvPr>
          <p:cNvSpPr txBox="1"/>
          <p:nvPr/>
        </p:nvSpPr>
        <p:spPr>
          <a:xfrm>
            <a:off x="1751012" y="1354242"/>
            <a:ext cx="4344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n-ea"/>
              </a:rPr>
              <a:t>2 </a:t>
            </a:r>
            <a:r>
              <a:rPr lang="zh-CN" altLang="en-US" sz="2800" dirty="0">
                <a:latin typeface="+mn-ea"/>
              </a:rPr>
              <a:t>关系图  </a:t>
            </a:r>
            <a:r>
              <a:rPr lang="en-US" altLang="x-none" sz="2800" dirty="0">
                <a:latin typeface="+mn-ea"/>
                <a:sym typeface="Wingdings" panose="05000000000000000000" pitchFamily="2" charset="2"/>
              </a:rPr>
              <a:t>G(R)</a:t>
            </a:r>
            <a:r>
              <a:rPr lang="zh-CN" altLang="en-US" sz="2800" dirty="0">
                <a:latin typeface="+mn-ea"/>
                <a:sym typeface="Wingdings" panose="05000000000000000000" pitchFamily="2" charset="2"/>
              </a:rPr>
              <a:t>或</a:t>
            </a:r>
            <a:r>
              <a:rPr lang="en-US" altLang="x-none" sz="2800" dirty="0">
                <a:latin typeface="+mn-ea"/>
                <a:sym typeface="Wingdings" panose="05000000000000000000" pitchFamily="2" charset="2"/>
              </a:rPr>
              <a:t>G</a:t>
            </a:r>
            <a:r>
              <a:rPr lang="en-US" altLang="x-none" sz="2800" baseline="-25000" dirty="0">
                <a:latin typeface="+mn-ea"/>
                <a:sym typeface="Wingdings" panose="05000000000000000000" pitchFamily="2" charset="2"/>
              </a:rPr>
              <a:t>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AB65E4-B088-48E1-97F5-CEAEEC42E829}"/>
              </a:ext>
            </a:extLst>
          </p:cNvPr>
          <p:cNvSpPr txBox="1"/>
          <p:nvPr/>
        </p:nvSpPr>
        <p:spPr>
          <a:xfrm>
            <a:off x="1751012" y="738188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关系的表示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06AD6B8-D0CC-4E01-852A-3FB55CF48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2011258"/>
            <a:ext cx="7835900" cy="284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  <a:spcBef>
                <a:spcPct val="2000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CC"/>
                </a:solidFill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solidFill>
                  <a:srgbClr val="0000CC"/>
                </a:solidFill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0000CC"/>
                </a:solidFill>
                <a:cs typeface="Times New Roman" panose="02020603050405020304" pitchFamily="18" charset="0"/>
              </a:rPr>
              <a:t>）</a:t>
            </a:r>
            <a:r>
              <a:rPr lang="en-US" altLang="zh-CN" sz="2800" dirty="0">
                <a:solidFill>
                  <a:srgbClr val="0000CC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≠</a:t>
            </a:r>
            <a:r>
              <a:rPr lang="en-US" altLang="zh-CN" sz="2800" dirty="0">
                <a:solidFill>
                  <a:srgbClr val="0000CC"/>
                </a:solidFill>
                <a:cs typeface="Times New Roman" panose="02020603050405020304" pitchFamily="18" charset="0"/>
              </a:rPr>
              <a:t>B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noProof="1">
                <a:solidFill>
                  <a:srgbClr val="000000"/>
                </a:solidFill>
                <a:cs typeface="Times New Roman" panose="02020603050405020304" pitchFamily="18" charset="0"/>
              </a:rPr>
              <a:t>设</a:t>
            </a:r>
            <a:r>
              <a:rPr lang="en-US" altLang="zh-CN" sz="2800" noProof="1">
                <a:solidFill>
                  <a:srgbClr val="000000"/>
                </a:solidFill>
                <a:cs typeface="Times New Roman" panose="02020603050405020304" pitchFamily="18" charset="0"/>
              </a:rPr>
              <a:t>A＝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{</a:t>
            </a:r>
            <a:r>
              <a:rPr lang="en-US" altLang="zh-CN" sz="2800" noProof="1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,...,a</a:t>
            </a:r>
            <a:r>
              <a:rPr lang="en-US" altLang="zh-CN" sz="2800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},B</a:t>
            </a: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＝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{b</a:t>
            </a:r>
            <a:r>
              <a:rPr lang="en-US" altLang="zh-CN" sz="2800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,...,b</a:t>
            </a:r>
            <a:r>
              <a:rPr lang="en-US" altLang="zh-CN" sz="2800" baseline="-25000" dirty="0">
                <a:solidFill>
                  <a:srgbClr val="000000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是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从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的一个二元关系，则规定</a:t>
            </a:r>
            <a:r>
              <a:rPr lang="en-US" altLang="zh-CN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的关系图如下：</a:t>
            </a:r>
          </a:p>
          <a:p>
            <a:pPr algn="just">
              <a:lnSpc>
                <a:spcPct val="120000"/>
              </a:lnSpc>
              <a:spcBef>
                <a:spcPct val="20000"/>
              </a:spcBef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cs typeface="Times New Roman" panose="02020603050405020304" pitchFamily="18" charset="0"/>
              </a:rPr>
              <a:t>　</a:t>
            </a:r>
            <a:r>
              <a:rPr lang="zh-CN" altLang="en-US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①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,...,a</a:t>
            </a:r>
            <a:r>
              <a:rPr lang="en-US" altLang="zh-CN" sz="2800" baseline="-250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aseline="-250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,...,b</a:t>
            </a:r>
            <a:r>
              <a:rPr lang="en-US" altLang="zh-CN" sz="2800" baseline="-250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分别为图中的结点，</a:t>
            </a:r>
            <a:r>
              <a:rPr lang="zh-CN" altLang="en-US" sz="28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用“。</a:t>
            </a:r>
            <a:r>
              <a:rPr lang="zh-CN" altLang="en-US" sz="2800" noProof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”表示</a:t>
            </a:r>
            <a:r>
              <a:rPr lang="zh-CN" altLang="en-US" sz="2800" dirty="0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zh-CN" altLang="en-US" sz="2800" noProof="1">
                <a:solidFill>
                  <a:srgbClr val="0000CC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　</a:t>
            </a:r>
            <a:endParaRPr lang="zh-CN" altLang="zh-CN" sz="2800" noProof="1">
              <a:solidFill>
                <a:srgbClr val="0000CC"/>
              </a:solidFill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E0B4DEB-FD55-4586-BDCA-4AAA6350C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1834" y="5032076"/>
            <a:ext cx="7924800" cy="1057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/>
          <a:p>
            <a:pPr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00FF00"/>
              </a:buClr>
              <a:buFont typeface="Wingdings" panose="05000000000000000000" pitchFamily="2" charset="2"/>
              <a:buNone/>
            </a:pPr>
            <a:r>
              <a:rPr kumimoji="1" lang="zh-CN" altLang="en-US" sz="2800" noProof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②.如&lt;</a:t>
            </a:r>
            <a:r>
              <a:rPr kumimoji="1" lang="en-US" altLang="zh-CN" sz="2800" noProof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,b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en-US" altLang="zh-CN" sz="2800" noProof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800" noProof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R,</a:t>
            </a:r>
            <a:r>
              <a:rPr kumimoji="1" lang="zh-CN" altLang="en-US" sz="2800" noProof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则从</a:t>
            </a:r>
            <a:r>
              <a:rPr kumimoji="1" lang="en-US" altLang="zh-CN" sz="2800" noProof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28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可用有向边</a:t>
            </a:r>
            <a:r>
              <a:rPr kumimoji="1"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aseline="-250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  </a:t>
            </a:r>
            <a:r>
              <a:rPr kumimoji="1" lang="en-US" altLang="zh-CN" sz="28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相连。</a:t>
            </a:r>
            <a:r>
              <a:rPr kumimoji="1"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kumimoji="1" lang="en-US" altLang="zh-CN" sz="28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,b</a:t>
            </a:r>
            <a:r>
              <a:rPr kumimoji="1" lang="en-US" altLang="zh-CN" sz="2800" baseline="-25000" dirty="0" err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kumimoji="1"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kumimoji="1"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为对应图中的有向边。</a:t>
            </a:r>
            <a:endParaRPr kumimoji="1" lang="zh-CN" altLang="zh-CN" sz="2800" noProof="1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CDE3A3CF-B412-415B-9E81-0178636B3FB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7821" y="5348739"/>
            <a:ext cx="304800" cy="0"/>
          </a:xfrm>
          <a:prstGeom prst="line">
            <a:avLst/>
          </a:prstGeom>
          <a:noFill/>
          <a:ln w="12700">
            <a:solidFill>
              <a:srgbClr val="00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ABA9C9EB-982A-B697-D8FE-A5362C4AF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4018048650"/>
      </p:ext>
    </p:extLst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F6B22C4-40E5-4A40-81EC-AEBA53D4A184}"/>
              </a:ext>
            </a:extLst>
          </p:cNvPr>
          <p:cNvSpPr txBox="1">
            <a:spLocks noChangeArrowheads="1"/>
          </p:cNvSpPr>
          <p:nvPr/>
        </p:nvSpPr>
        <p:spPr>
          <a:xfrm>
            <a:off x="1751013" y="878281"/>
            <a:ext cx="8001000" cy="36623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2)A=B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B=&lt;a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,...,a</a:t>
            </a:r>
            <a:r>
              <a:rPr lang="en-US" altLang="zh-CN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上的关系，则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的关系图规定如下：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①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,...,a</a:t>
            </a:r>
            <a:r>
              <a:rPr lang="en-US" altLang="zh-CN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为图中节点，用“。</a:t>
            </a:r>
            <a:r>
              <a:rPr lang="zh-CN" altLang="en-US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”表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示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en-US" noProof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②.</a:t>
            </a:r>
            <a:r>
              <a:rPr lang="zh-CN" altLang="en-US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如&lt;</a:t>
            </a:r>
            <a:r>
              <a:rPr lang="en-US" altLang="zh-CN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en-US" altLang="zh-CN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R,</a:t>
            </a:r>
            <a:r>
              <a:rPr lang="zh-CN" altLang="en-US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则从</a:t>
            </a:r>
            <a:r>
              <a:rPr lang="en-US" altLang="zh-CN" noProof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可用有向边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       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相连。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为对应图中的有向边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③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,a</a:t>
            </a:r>
            <a:r>
              <a:rPr lang="en-US" altLang="zh-CN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en-US" altLang="zh-CN" noProof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noProof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R,</a:t>
            </a:r>
            <a:r>
              <a:rPr lang="zh-CN" altLang="en-US" noProof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则从</a:t>
            </a:r>
            <a:r>
              <a:rPr lang="en-US" altLang="zh-CN" noProof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用一带箭头的小圆环表示，即：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8F18736-B475-4760-8957-EB7B7DBC9AD1}"/>
              </a:ext>
            </a:extLst>
          </p:cNvPr>
          <p:cNvSpPr>
            <a:spLocks/>
          </p:cNvSpPr>
          <p:nvPr/>
        </p:nvSpPr>
        <p:spPr bwMode="auto">
          <a:xfrm>
            <a:off x="7683732" y="4237955"/>
            <a:ext cx="365125" cy="14288"/>
          </a:xfrm>
          <a:custGeom>
            <a:avLst/>
            <a:gdLst>
              <a:gd name="T0" fmla="*/ 0 w 288"/>
              <a:gd name="T1" fmla="*/ 9 h 9"/>
              <a:gd name="T2" fmla="*/ 288 w 288"/>
              <a:gd name="T3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8" h="9">
                <a:moveTo>
                  <a:pt x="0" y="9"/>
                </a:moveTo>
                <a:lnTo>
                  <a:pt x="288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/>
          <a:p>
            <a:endParaRPr lang="zh-CN" alt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AC53B9-189D-4B0E-9655-BAC2F7E68764}"/>
              </a:ext>
            </a:extLst>
          </p:cNvPr>
          <p:cNvGrpSpPr>
            <a:grpSpLocks/>
          </p:cNvGrpSpPr>
          <p:nvPr/>
        </p:nvGrpSpPr>
        <p:grpSpPr bwMode="auto">
          <a:xfrm>
            <a:off x="2818701" y="6107184"/>
            <a:ext cx="444150" cy="379485"/>
            <a:chOff x="1952" y="3648"/>
            <a:chExt cx="352" cy="33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6FAA8FD-2077-4BCB-B9DD-DD0639084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2" y="3793"/>
              <a:ext cx="76" cy="83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38B2D160-F60A-4856-9D5F-45850AF49E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9" y="3704"/>
              <a:ext cx="76" cy="8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784015E-4073-46F3-B5D9-1910360E5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8" y="3648"/>
              <a:ext cx="306" cy="336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96E5A03E-7CBB-3577-D058-D27A4876E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827382323"/>
      </p:ext>
    </p:extLst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D7DB72D-F3AB-4CD1-AB84-7E3EE1AEB391}"/>
              </a:ext>
            </a:extLst>
          </p:cNvPr>
          <p:cNvSpPr txBox="1"/>
          <p:nvPr/>
        </p:nvSpPr>
        <p:spPr>
          <a:xfrm>
            <a:off x="1751012" y="1354242"/>
            <a:ext cx="4344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2 </a:t>
            </a:r>
            <a:r>
              <a:rPr lang="zh-CN" altLang="en-US" sz="2800" dirty="0"/>
              <a:t>关系矩阵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AB77206-DA6D-4345-B162-C258DC304541}"/>
              </a:ext>
            </a:extLst>
          </p:cNvPr>
          <p:cNvSpPr txBox="1"/>
          <p:nvPr/>
        </p:nvSpPr>
        <p:spPr>
          <a:xfrm>
            <a:off x="1751012" y="738188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关系的表示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8F57D7-4570-4E3B-B9A3-B0092BB94277}"/>
              </a:ext>
            </a:extLst>
          </p:cNvPr>
          <p:cNvSpPr/>
          <p:nvPr/>
        </p:nvSpPr>
        <p:spPr>
          <a:xfrm>
            <a:off x="705842" y="1810464"/>
            <a:ext cx="1105832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这里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是两个非空的有限集合，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B={ 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则可用一个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阶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0—1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矩阵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来表示关系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，称此矩阵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的关系矩阵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(relation matrix)/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邻接矩阵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(adjacency matrix)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                                          (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=1,…,m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j=1,…,n)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0 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D3971215-9D08-42BB-A156-A3C16028E84A}"/>
              </a:ext>
            </a:extLst>
          </p:cNvPr>
          <p:cNvSpPr>
            <a:spLocks/>
          </p:cNvSpPr>
          <p:nvPr/>
        </p:nvSpPr>
        <p:spPr bwMode="auto">
          <a:xfrm>
            <a:off x="2627267" y="4970358"/>
            <a:ext cx="304800" cy="1066800"/>
          </a:xfrm>
          <a:prstGeom prst="leftBrace">
            <a:avLst>
              <a:gd name="adj1" fmla="val 29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A6D7A6-8D7A-4723-A6CC-99F754040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87269474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3473B949-5610-4A46-89BE-AFB1D18EADAB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1157842"/>
            <a:ext cx="8123237" cy="25876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A=(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B=(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是两个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m×n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矩阵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的并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(join)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是矩阵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A∨B=C=(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其中：</a:t>
            </a:r>
          </a:p>
        </p:txBody>
      </p:sp>
      <p:graphicFrame>
        <p:nvGraphicFramePr>
          <p:cNvPr id="8" name="Object 15">
            <a:extLst>
              <a:ext uri="{FF2B5EF4-FFF2-40B4-BE49-F238E27FC236}">
                <a16:creationId xmlns:a16="http://schemas.microsoft.com/office/drawing/2014/main" id="{20A88A18-888A-41DC-91D4-36A003D4C9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638006"/>
              </p:ext>
            </p:extLst>
          </p:nvPr>
        </p:nvGraphicFramePr>
        <p:xfrm>
          <a:off x="2497138" y="2696129"/>
          <a:ext cx="6067425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85920" imgH="533160" progId="Equation.3">
                  <p:embed/>
                </p:oleObj>
              </mc:Choice>
              <mc:Fallback>
                <p:oleObj name="公式" r:id="rId4" imgW="3085920" imgH="533160" progId="Equation.3">
                  <p:embed/>
                  <p:pic>
                    <p:nvPicPr>
                      <p:cNvPr id="1202191" name="Object 15">
                        <a:extLst>
                          <a:ext uri="{FF2B5EF4-FFF2-40B4-BE49-F238E27FC236}">
                            <a16:creationId xmlns:a16="http://schemas.microsoft.com/office/drawing/2014/main" id="{0536B3E1-5A83-4803-AB73-DAC797D4C2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8" y="2696129"/>
                        <a:ext cx="6067425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7">
            <a:extLst>
              <a:ext uri="{FF2B5EF4-FFF2-40B4-BE49-F238E27FC236}">
                <a16:creationId xmlns:a16="http://schemas.microsoft.com/office/drawing/2014/main" id="{D6273D4E-A42A-493C-B7E6-F30763136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4" y="3989941"/>
            <a:ext cx="8123237" cy="129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tabLst>
                <a:tab pos="4749800" algn="l"/>
              </a:tabLst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tabLst>
                <a:tab pos="4749800" algn="l"/>
              </a:tabLst>
              <a:defRPr sz="20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tabLst>
                <a:tab pos="4749800" algn="l"/>
              </a:tabLst>
              <a:defRPr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spcBef>
                <a:spcPct val="20000"/>
              </a:spcBef>
              <a:buClr>
                <a:srgbClr val="FF3300"/>
              </a:buClr>
              <a:tabLst>
                <a:tab pos="4749800" algn="l"/>
              </a:tabLst>
              <a:defRPr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>
              <a:spcBef>
                <a:spcPct val="20000"/>
              </a:spcBef>
              <a:buClr>
                <a:srgbClr val="FF3300"/>
              </a:buClr>
              <a:tabLst>
                <a:tab pos="4749800" algn="l"/>
              </a:tabLst>
              <a:defRPr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tabLst>
                <a:tab pos="4749800" algn="l"/>
              </a:tabLst>
              <a:defRPr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tabLst>
                <a:tab pos="4749800" algn="l"/>
              </a:tabLst>
              <a:defRPr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tabLst>
                <a:tab pos="4749800" algn="l"/>
              </a:tabLst>
              <a:defRPr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tabLst>
                <a:tab pos="4749800" algn="l"/>
              </a:tabLst>
              <a:defRPr sz="1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>
                <a:tab pos="4749800" algn="l"/>
              </a:tabLst>
              <a:defRPr/>
            </a:pP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A=(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zh-CN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B=(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en-US" altLang="zh-CN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是两个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矩阵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的交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(meet)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是矩阵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A∧B=C=(</a:t>
            </a:r>
            <a:r>
              <a:rPr kumimoji="0" lang="en-US" altLang="zh-CN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0" lang="en-US" altLang="zh-CN" sz="2800" b="0" i="0" u="none" strike="noStrike" kern="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kumimoji="0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其中：</a:t>
            </a:r>
          </a:p>
          <a:p>
            <a:pPr marL="0" marR="0" lvl="0" indent="0" algn="r" defTabSz="91440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>
                <a:tab pos="4749800" algn="l"/>
              </a:tabLst>
              <a:defRPr/>
            </a:pPr>
            <a:endParaRPr kumimoji="0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8">
            <a:extLst>
              <a:ext uri="{FF2B5EF4-FFF2-40B4-BE49-F238E27FC236}">
                <a16:creationId xmlns:a16="http://schemas.microsoft.com/office/drawing/2014/main" id="{16845E63-301D-48EF-9E03-F2DA083FEB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622672"/>
              </p:ext>
            </p:extLst>
          </p:nvPr>
        </p:nvGraphicFramePr>
        <p:xfrm>
          <a:off x="2497137" y="5230332"/>
          <a:ext cx="6067425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85920" imgH="533160" progId="Equation.DSMT4">
                  <p:embed/>
                </p:oleObj>
              </mc:Choice>
              <mc:Fallback>
                <p:oleObj name="Equation" r:id="rId6" imgW="3085920" imgH="533160" progId="Equation.DSMT4">
                  <p:embed/>
                  <p:pic>
                    <p:nvPicPr>
                      <p:cNvPr id="1202194" name="Object 18">
                        <a:extLst>
                          <a:ext uri="{FF2B5EF4-FFF2-40B4-BE49-F238E27FC236}">
                            <a16:creationId xmlns:a16="http://schemas.microsoft.com/office/drawing/2014/main" id="{4E9AB05F-FE39-43E9-B2C8-B253E3C5F8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7137" y="5230332"/>
                        <a:ext cx="6067425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>
            <a:extLst>
              <a:ext uri="{FF2B5EF4-FFF2-40B4-BE49-F238E27FC236}">
                <a16:creationId xmlns:a16="http://schemas.microsoft.com/office/drawing/2014/main" id="{4B298B19-C281-C56B-878A-4DF49E978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85070177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80A922E6-E64E-4756-82AA-B90346FBB201}"/>
              </a:ext>
            </a:extLst>
          </p:cNvPr>
          <p:cNvSpPr txBox="1">
            <a:spLocks noChangeArrowheads="1"/>
          </p:cNvSpPr>
          <p:nvPr/>
        </p:nvSpPr>
        <p:spPr>
          <a:xfrm>
            <a:off x="1571625" y="1312862"/>
            <a:ext cx="9909684" cy="42322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A=(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m×p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矩阵，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B=(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p×n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矩阵，则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的布尔积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(Boolean product)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是矩阵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⊙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B=C=(</a:t>
            </a:r>
            <a:r>
              <a:rPr lang="en-US" altLang="zh-CN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ij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其中：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algn="r">
              <a:lnSpc>
                <a:spcPct val="150000"/>
              </a:lnSpc>
            </a:pP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D9E39F6B-8B3F-483C-AAD5-7B119AF263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168363"/>
              </p:ext>
            </p:extLst>
          </p:nvPr>
        </p:nvGraphicFramePr>
        <p:xfrm>
          <a:off x="1812212" y="3328755"/>
          <a:ext cx="8380412" cy="1077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78160" imgH="507960" progId="Equation.3">
                  <p:embed/>
                </p:oleObj>
              </mc:Choice>
              <mc:Fallback>
                <p:oleObj name="公式" r:id="rId4" imgW="4178160" imgH="507960" progId="Equation.3">
                  <p:embed/>
                  <p:pic>
                    <p:nvPicPr>
                      <p:cNvPr id="1477636" name="Object 4">
                        <a:extLst>
                          <a:ext uri="{FF2B5EF4-FFF2-40B4-BE49-F238E27FC236}">
                            <a16:creationId xmlns:a16="http://schemas.microsoft.com/office/drawing/2014/main" id="{70ABDA47-48AD-4522-9677-995E07A0D4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212" y="3328755"/>
                        <a:ext cx="8380412" cy="1077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2">
            <a:extLst>
              <a:ext uri="{FF2B5EF4-FFF2-40B4-BE49-F238E27FC236}">
                <a16:creationId xmlns:a16="http://schemas.microsoft.com/office/drawing/2014/main" id="{7C4B9298-502B-48C7-4AB4-3B53E6B2D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786653279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4BDACAF-96C7-4F20-B40D-7DCBD9C3384F}"/>
              </a:ext>
            </a:extLst>
          </p:cNvPr>
          <p:cNvSpPr txBox="1"/>
          <p:nvPr/>
        </p:nvSpPr>
        <p:spPr>
          <a:xfrm>
            <a:off x="1639180" y="738188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关系的运算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DEDD8F-EBB9-4DBD-9C64-DA1D79358C5B}"/>
              </a:ext>
            </a:extLst>
          </p:cNvPr>
          <p:cNvSpPr txBox="1"/>
          <p:nvPr/>
        </p:nvSpPr>
        <p:spPr>
          <a:xfrm>
            <a:off x="1394624" y="1403900"/>
            <a:ext cx="329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集合运算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41A82C8-1B41-45BE-8026-19B8ED7CFC20}"/>
              </a:ext>
            </a:extLst>
          </p:cNvPr>
          <p:cNvSpPr txBox="1">
            <a:spLocks noChangeArrowheads="1"/>
          </p:cNvSpPr>
          <p:nvPr/>
        </p:nvSpPr>
        <p:spPr>
          <a:xfrm>
            <a:off x="1972111" y="2008057"/>
            <a:ext cx="6961188" cy="1743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都是从集合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的两个关系，则：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&gt;|(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xSy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∩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{&lt;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&gt;|(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∧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xSy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)}</a:t>
            </a:r>
          </a:p>
        </p:txBody>
      </p:sp>
      <p:grpSp>
        <p:nvGrpSpPr>
          <p:cNvPr id="16" name="Group 17">
            <a:extLst>
              <a:ext uri="{FF2B5EF4-FFF2-40B4-BE49-F238E27FC236}">
                <a16:creationId xmlns:a16="http://schemas.microsoft.com/office/drawing/2014/main" id="{7A360EF7-CDE0-401F-91C3-BFD46BD10590}"/>
              </a:ext>
            </a:extLst>
          </p:cNvPr>
          <p:cNvGrpSpPr>
            <a:grpSpLocks/>
          </p:cNvGrpSpPr>
          <p:nvPr/>
        </p:nvGrpSpPr>
        <p:grpSpPr bwMode="auto">
          <a:xfrm>
            <a:off x="1972111" y="4011844"/>
            <a:ext cx="4965701" cy="1155700"/>
            <a:chOff x="524" y="1934"/>
            <a:chExt cx="3128" cy="728"/>
          </a:xfrm>
        </p:grpSpPr>
        <p:graphicFrame>
          <p:nvGraphicFramePr>
            <p:cNvPr id="17" name="Object 13">
              <a:extLst>
                <a:ext uri="{FF2B5EF4-FFF2-40B4-BE49-F238E27FC236}">
                  <a16:creationId xmlns:a16="http://schemas.microsoft.com/office/drawing/2014/main" id="{253D3BEB-EDD8-4C47-86CA-D8B0429D8D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4" y="2307"/>
            <a:ext cx="165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280" imgH="203040" progId="Equation.DSMT4">
                    <p:embed/>
                  </p:oleObj>
                </mc:Choice>
                <mc:Fallback>
                  <p:oleObj name="Equation" r:id="rId4" imgW="152280" imgH="203040" progId="Equation.DSMT4">
                    <p:embed/>
                    <p:pic>
                      <p:nvPicPr>
                        <p:cNvPr id="1106957" name="Object 13">
                          <a:extLst>
                            <a:ext uri="{FF2B5EF4-FFF2-40B4-BE49-F238E27FC236}">
                              <a16:creationId xmlns:a16="http://schemas.microsoft.com/office/drawing/2014/main" id="{7051C6B0-E1DD-43CF-A395-4661445031F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" y="2307"/>
                          <a:ext cx="165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" name="Group 15">
              <a:extLst>
                <a:ext uri="{FF2B5EF4-FFF2-40B4-BE49-F238E27FC236}">
                  <a16:creationId xmlns:a16="http://schemas.microsoft.com/office/drawing/2014/main" id="{35FE97C5-F01C-4656-9F0F-44A548A6E4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" y="1934"/>
              <a:ext cx="3102" cy="714"/>
              <a:chOff x="758" y="2286"/>
              <a:chExt cx="3102" cy="714"/>
            </a:xfrm>
          </p:grpSpPr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F5121165-5B1D-4156-A485-BB8FD7494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8" y="2286"/>
                <a:ext cx="3102" cy="71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36000" tIns="36000" rIns="36000" bIns="36000">
                <a:spAutoFit/>
              </a:bodyPr>
              <a:lstStyle>
                <a:lvl1pPr marL="457200" indent="-4572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30000"/>
                  </a:lnSpc>
                  <a:buClr>
                    <a:srgbClr val="996633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R-S</a:t>
                </a:r>
                <a:r>
                  <a:rPr lang="zh-CN" altLang="en-US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＝</a:t>
                </a:r>
                <a:r>
                  <a:rPr lang="en-US" altLang="zh-CN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{&lt;</a:t>
                </a:r>
                <a:r>
                  <a:rPr lang="en-US" altLang="zh-CN" sz="2800" dirty="0" err="1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x,y</a:t>
                </a:r>
                <a:r>
                  <a:rPr lang="en-US" altLang="zh-CN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&gt;|(</a:t>
                </a:r>
                <a:r>
                  <a:rPr lang="en-US" altLang="zh-CN" sz="2800" dirty="0" err="1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xRy</a:t>
                </a:r>
                <a:r>
                  <a:rPr lang="en-US" altLang="zh-CN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)∧(</a:t>
                </a:r>
                <a:r>
                  <a:rPr lang="en-US" altLang="zh-CN" sz="2800" dirty="0" err="1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xS</a:t>
                </a:r>
                <a:r>
                  <a:rPr lang="en-US" altLang="zh-CN" sz="2800" noProof="1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y)}</a:t>
                </a:r>
                <a:endParaRPr lang="en-US" altLang="zh-CN" sz="28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  <a:buClr>
                    <a:srgbClr val="996633"/>
                  </a:buClr>
                  <a:buFont typeface="Wingdings" panose="05000000000000000000" pitchFamily="2" charset="2"/>
                  <a:buNone/>
                </a:pPr>
                <a:r>
                  <a:rPr lang="en-US" altLang="zh-CN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  </a:t>
                </a:r>
                <a:r>
                  <a:rPr lang="en-US" altLang="zh-CN" sz="2800" noProof="1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＝{&lt;x,y&gt;|(x</a:t>
                </a:r>
                <a:r>
                  <a:rPr lang="en-US" altLang="zh-CN" sz="280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R</a:t>
                </a:r>
                <a:r>
                  <a:rPr lang="en-US" altLang="zh-CN" sz="2800" noProof="1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y)}</a:t>
                </a:r>
                <a:endParaRPr lang="en-US" altLang="zh-CN" sz="280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Line 14">
                <a:extLst>
                  <a:ext uri="{FF2B5EF4-FFF2-40B4-BE49-F238E27FC236}">
                    <a16:creationId xmlns:a16="http://schemas.microsoft.com/office/drawing/2014/main" id="{98497612-B6D3-4993-AFE9-7FC6E0AAC2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07" y="2701"/>
                <a:ext cx="85" cy="272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36000" tIns="36000" rIns="36000" bIns="36000">
                <a:spAutoFit/>
              </a:bodyPr>
              <a:lstStyle/>
              <a:p>
                <a:endPara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3" name="Line 14">
            <a:extLst>
              <a:ext uri="{FF2B5EF4-FFF2-40B4-BE49-F238E27FC236}">
                <a16:creationId xmlns:a16="http://schemas.microsoft.com/office/drawing/2014/main" id="{813F26AF-C2E7-49B2-B974-C6B70BAF2E7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1981" y="4108110"/>
            <a:ext cx="134938" cy="4318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>
            <a:spAutoFit/>
          </a:bodyPr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96DB4227-E1E4-A42B-0961-77A604D23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194643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4BDACAF-96C7-4F20-B40D-7DCBD9C3384F}"/>
              </a:ext>
            </a:extLst>
          </p:cNvPr>
          <p:cNvSpPr txBox="1"/>
          <p:nvPr/>
        </p:nvSpPr>
        <p:spPr>
          <a:xfrm>
            <a:off x="1639180" y="738188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关系的运算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6DE0B6-AFAF-4716-BE89-5B2AA55A79A9}"/>
              </a:ext>
            </a:extLst>
          </p:cNvPr>
          <p:cNvSpPr txBox="1"/>
          <p:nvPr/>
        </p:nvSpPr>
        <p:spPr>
          <a:xfrm>
            <a:off x="927021" y="6041608"/>
            <a:ext cx="9149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对任何</a:t>
            </a:r>
            <a:r>
              <a:rPr lang="en-US" altLang="zh-CN" sz="2800" dirty="0"/>
              <a:t>{&lt;</a:t>
            </a:r>
            <a:r>
              <a:rPr lang="en-US" altLang="zh-CN" sz="2800" dirty="0" err="1"/>
              <a:t>a,c</a:t>
            </a:r>
            <a:r>
              <a:rPr lang="en-US" altLang="zh-CN" sz="2800" dirty="0"/>
              <a:t>&gt; </a:t>
            </a:r>
            <a:r>
              <a:rPr lang="en-US" altLang="zh-CN" sz="2800" dirty="0">
                <a:sym typeface="Symbol" panose="05050102010706020507" pitchFamily="18" charset="2"/>
              </a:rPr>
              <a:t>A</a:t>
            </a:r>
            <a:r>
              <a:rPr lang="en-US" altLang="zh-CN" sz="2800" dirty="0"/>
              <a:t>×C</a:t>
            </a:r>
            <a:r>
              <a:rPr lang="zh-CN" altLang="en-US" sz="2800" dirty="0"/>
              <a:t>，</a:t>
            </a:r>
            <a:r>
              <a:rPr lang="en-US" altLang="zh-CN" sz="2800" dirty="0"/>
              <a:t>a R</a:t>
            </a:r>
            <a:r>
              <a:rPr lang="en-US" altLang="zh-CN" sz="2800" baseline="-25000" dirty="0"/>
              <a:t>1 </a:t>
            </a:r>
            <a:r>
              <a:rPr lang="en-US" altLang="zh-CN" sz="2800" baseline="20000" dirty="0"/>
              <a:t>o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c</a:t>
            </a:r>
            <a:r>
              <a:rPr lang="en-US" altLang="zh-CN" sz="2800" dirty="0">
                <a:sym typeface="Symbol" panose="05050102010706020507" pitchFamily="18" charset="2"/>
              </a:rPr>
              <a:t>(</a:t>
            </a:r>
            <a:r>
              <a:rPr lang="en-US" altLang="zh-CN" sz="2800" dirty="0" err="1"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sym typeface="Symbol" panose="05050102010706020507" pitchFamily="18" charset="2"/>
              </a:rPr>
              <a:t>)(a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1 </a:t>
            </a:r>
            <a:r>
              <a:rPr lang="en-US" altLang="zh-CN" sz="2800" dirty="0" err="1">
                <a:sym typeface="Symbol" panose="05050102010706020507" pitchFamily="18" charset="2"/>
              </a:rPr>
              <a:t>bb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 </a:t>
            </a:r>
            <a:r>
              <a:rPr lang="en-US" altLang="zh-CN" sz="2800" dirty="0">
                <a:sym typeface="Symbol" panose="05050102010706020507" pitchFamily="18" charset="2"/>
              </a:rPr>
              <a:t>c)</a:t>
            </a:r>
            <a:endParaRPr lang="zh-CN" altLang="en-US" sz="2800" dirty="0">
              <a:solidFill>
                <a:srgbClr val="C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37776E-E055-46F4-A317-E259817EEE5D}"/>
              </a:ext>
            </a:extLst>
          </p:cNvPr>
          <p:cNvSpPr/>
          <p:nvPr/>
        </p:nvSpPr>
        <p:spPr>
          <a:xfrm>
            <a:off x="995014" y="1978958"/>
            <a:ext cx="1020197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 对任何两个二元关系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1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A×B </a:t>
            </a:r>
            <a:r>
              <a:rPr lang="zh-CN" altLang="en-US" sz="2800" dirty="0"/>
              <a:t>， 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ym typeface="Symbol" panose="05050102010706020507" pitchFamily="18" charset="2"/>
              </a:rPr>
              <a:t>B</a:t>
            </a:r>
            <a:r>
              <a:rPr lang="en-US" altLang="zh-CN" sz="2800" dirty="0"/>
              <a:t>×C </a:t>
            </a:r>
            <a:r>
              <a:rPr lang="zh-CN" altLang="en-US" sz="2800" dirty="0"/>
              <a:t>，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zh-CN" altLang="en-US" sz="2800" dirty="0"/>
              <a:t>称</a:t>
            </a:r>
            <a:r>
              <a:rPr lang="en-US" altLang="zh-CN" sz="2800" dirty="0"/>
              <a:t>A</a:t>
            </a:r>
            <a:r>
              <a:rPr lang="zh-CN" altLang="en-US" sz="2800" dirty="0"/>
              <a:t>到</a:t>
            </a:r>
            <a:r>
              <a:rPr lang="en-US" altLang="zh-CN" sz="2800" dirty="0"/>
              <a:t>C</a:t>
            </a:r>
            <a:r>
              <a:rPr lang="zh-CN" altLang="en-US" sz="2800" dirty="0"/>
              <a:t>的关系</a:t>
            </a:r>
            <a:endParaRPr lang="en-US" altLang="zh-CN" sz="2800" dirty="0"/>
          </a:p>
          <a:p>
            <a:r>
              <a:rPr lang="en-US" altLang="zh-CN" sz="2800" dirty="0"/>
              <a:t>{&lt;</a:t>
            </a:r>
            <a:r>
              <a:rPr lang="en-US" altLang="zh-CN" sz="2800" dirty="0" err="1"/>
              <a:t>a,c</a:t>
            </a:r>
            <a:r>
              <a:rPr lang="en-US" altLang="zh-CN" sz="2800" dirty="0"/>
              <a:t>&gt; </a:t>
            </a:r>
            <a:r>
              <a:rPr lang="en-US" altLang="zh-CN" sz="2800" b="1" dirty="0"/>
              <a:t>:</a:t>
            </a:r>
            <a:r>
              <a:rPr lang="en-US" altLang="zh-CN" sz="2800" dirty="0"/>
              <a:t> </a:t>
            </a:r>
            <a:r>
              <a:rPr lang="en-US" altLang="zh-CN" sz="2800" dirty="0" err="1">
                <a:sym typeface="Symbol" panose="05050102010706020507" pitchFamily="18" charset="2"/>
              </a:rPr>
              <a:t>aAcC</a:t>
            </a:r>
            <a:r>
              <a:rPr lang="en-US" altLang="zh-CN" sz="2800" dirty="0">
                <a:sym typeface="Symbol" panose="05050102010706020507" pitchFamily="18" charset="2"/>
              </a:rPr>
              <a:t>(</a:t>
            </a:r>
            <a:r>
              <a:rPr lang="en-US" altLang="zh-CN" sz="2800" dirty="0" err="1"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sym typeface="Symbol" panose="05050102010706020507" pitchFamily="18" charset="2"/>
              </a:rPr>
              <a:t>)(a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1 </a:t>
            </a:r>
            <a:r>
              <a:rPr lang="en-US" altLang="zh-CN" sz="2800" dirty="0" err="1">
                <a:sym typeface="Symbol" panose="05050102010706020507" pitchFamily="18" charset="2"/>
              </a:rPr>
              <a:t>bb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 </a:t>
            </a:r>
            <a:r>
              <a:rPr lang="en-US" altLang="zh-CN" sz="2800" dirty="0">
                <a:sym typeface="Symbol" panose="05050102010706020507" pitchFamily="18" charset="2"/>
              </a:rPr>
              <a:t>c)}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ym typeface="Symbol" panose="05050102010706020507" pitchFamily="18" charset="2"/>
              </a:rPr>
              <a:t>A</a:t>
            </a:r>
            <a:r>
              <a:rPr lang="en-US" altLang="zh-CN" sz="2800" dirty="0"/>
              <a:t>×C</a:t>
            </a:r>
          </a:p>
          <a:p>
            <a:endParaRPr lang="en-US" altLang="zh-CN" sz="2800" dirty="0"/>
          </a:p>
          <a:p>
            <a:r>
              <a:rPr lang="zh-CN" altLang="en-US" sz="2800" dirty="0"/>
              <a:t>为关系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 </a:t>
            </a:r>
            <a:r>
              <a:rPr lang="zh-CN" altLang="en-US" sz="2800" dirty="0"/>
              <a:t>与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的复合关系；</a:t>
            </a:r>
            <a:r>
              <a:rPr lang="zh-CN" altLang="en-US" sz="2800" dirty="0">
                <a:latin typeface="宋体" panose="02010600030101010101" pitchFamily="2" charset="-122"/>
              </a:rPr>
              <a:t>记作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 </a:t>
            </a:r>
            <a:r>
              <a:rPr lang="en-US" altLang="zh-CN" sz="2800" baseline="20000" dirty="0"/>
              <a:t>o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</a:t>
            </a:r>
            <a:r>
              <a:rPr lang="zh-CN" altLang="en-US" sz="2800" dirty="0">
                <a:latin typeface="宋体" panose="02010600030101010101" pitchFamily="2" charset="-122"/>
              </a:rPr>
              <a:t>，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endParaRPr lang="en-US" altLang="zh-CN" sz="2800" dirty="0">
              <a:latin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</a:rPr>
              <a:t>由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 </a:t>
            </a:r>
            <a:r>
              <a:rPr lang="zh-CN" altLang="en-US" sz="2800" baseline="-25000" dirty="0"/>
              <a:t>、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得到</a:t>
            </a:r>
            <a:r>
              <a:rPr lang="en-US" altLang="zh-CN" sz="2800" dirty="0"/>
              <a:t>R</a:t>
            </a:r>
            <a:r>
              <a:rPr lang="en-US" altLang="zh-CN" sz="2800" baseline="-25000" dirty="0"/>
              <a:t>1 </a:t>
            </a:r>
            <a:r>
              <a:rPr lang="en-US" altLang="zh-CN" sz="2800" baseline="20000" dirty="0"/>
              <a:t>o</a:t>
            </a:r>
            <a:r>
              <a:rPr lang="en-US" altLang="zh-CN" sz="2800" dirty="0"/>
              <a:t> R</a:t>
            </a:r>
            <a:r>
              <a:rPr lang="en-US" altLang="zh-CN" sz="2800" baseline="-25000" dirty="0"/>
              <a:t>2</a:t>
            </a:r>
            <a:r>
              <a:rPr lang="zh-CN" altLang="en-US" sz="2800" dirty="0"/>
              <a:t>的运算叫做关系的复合运算</a:t>
            </a:r>
            <a:endParaRPr lang="en-US" altLang="zh-CN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DEDD8F-EBB9-4DBD-9C64-DA1D79358C5B}"/>
              </a:ext>
            </a:extLst>
          </p:cNvPr>
          <p:cNvSpPr txBox="1"/>
          <p:nvPr/>
        </p:nvSpPr>
        <p:spPr>
          <a:xfrm>
            <a:off x="1394623" y="1341223"/>
            <a:ext cx="5828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复合关系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(Composite Operation)</a:t>
            </a:r>
            <a:endParaRPr lang="zh-CN" alt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8AB13858-D36C-71BB-0325-D18195CA5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4272217632"/>
      </p:ext>
    </p:extLst>
  </p:cSld>
  <p:clrMapOvr>
    <a:masterClrMapping/>
  </p:clrMapOvr>
  <p:transition spd="slow" advTm="0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CCAFF01-8FDF-468A-8648-389C13D510A9}"/>
              </a:ext>
            </a:extLst>
          </p:cNvPr>
          <p:cNvSpPr/>
          <p:nvPr/>
        </p:nvSpPr>
        <p:spPr>
          <a:xfrm>
            <a:off x="1982297" y="926250"/>
            <a:ext cx="911549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R,R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A×B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S,S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B×C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C×D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，这里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是四个非空的集合。则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=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　　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(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(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(S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保序性：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结合律：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 = 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S)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左分配律：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∪ 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  右分配律：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= 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 ∪ 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左分配不等式：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)∩(R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右分配不等式：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∩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T)∩(S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F00833-D512-2A0E-6635-5EAB77B61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351224872"/>
      </p:ext>
    </p:extLst>
  </p:cSld>
  <p:clrMapOvr>
    <a:masterClrMapping/>
  </p:clrMapOvr>
  <p:transition spd="slow" advTm="0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8C5F102-ADAB-445A-B76B-46E8FD538662}"/>
              </a:ext>
            </a:extLst>
          </p:cNvPr>
          <p:cNvSpPr/>
          <p:nvPr/>
        </p:nvSpPr>
        <p:spPr>
          <a:xfrm>
            <a:off x="2148737" y="415131"/>
            <a:ext cx="8997081" cy="694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对任何元素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,d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，有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T)d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b(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T)d)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cC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cC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cC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 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cC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aRbb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 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cC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aRbb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 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cC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)(a(R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 a(R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Td</a:t>
            </a:r>
          </a:p>
          <a:p>
            <a:pPr>
              <a:lnSpc>
                <a:spcPct val="90000"/>
              </a:lnSpc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2F964D-ACD3-F7DD-92CB-0F0C9A4AE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815605833"/>
      </p:ext>
    </p:extLst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43BE272-08C2-429E-B8B3-225482A8DD62}"/>
              </a:ext>
            </a:extLst>
          </p:cNvPr>
          <p:cNvSpPr/>
          <p:nvPr/>
        </p:nvSpPr>
        <p:spPr>
          <a:xfrm>
            <a:off x="1890198" y="1009727"/>
            <a:ext cx="9266798" cy="6038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)c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b(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)c)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aRb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(b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c))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)((aRbb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)(aRb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c))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)(aRbb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)(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)(aRb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</a:t>
            </a: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a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)c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)c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 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)∪(R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)c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所以　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∪S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)∪(R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</a:p>
          <a:p>
            <a:pPr>
              <a:lnSpc>
                <a:spcPct val="90000"/>
              </a:lnSpc>
            </a:pP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　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BFBA86-4B7C-41C6-A64E-0ADF14D10B01}"/>
              </a:ext>
            </a:extLst>
          </p:cNvPr>
          <p:cNvSpPr/>
          <p:nvPr/>
        </p:nvSpPr>
        <p:spPr>
          <a:xfrm>
            <a:off x="2370423" y="3121927"/>
            <a:ext cx="85168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ym typeface="Symbol" panose="05050102010706020507" pitchFamily="18" charset="2"/>
              </a:rPr>
              <a:t> </a:t>
            </a:r>
            <a:endParaRPr lang="zh-CN" altLang="en-US" sz="2800" dirty="0"/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84960553-6C8B-8CE3-FA3F-A04917C67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690146647"/>
      </p:ext>
    </p:extLst>
  </p:cSld>
  <p:clrMapOvr>
    <a:masterClrMapping/>
  </p:clrMapOvr>
  <p:transition spd="slow" advTm="0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1FC55BC-8B0D-42CD-B4A5-6F1C8C778680}"/>
              </a:ext>
            </a:extLst>
          </p:cNvPr>
          <p:cNvSpPr/>
          <p:nvPr/>
        </p:nvSpPr>
        <p:spPr>
          <a:xfrm>
            <a:off x="2407110" y="666690"/>
            <a:ext cx="4487071" cy="3272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设 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={&lt;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d,b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,&lt;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d,c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&gt;},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 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={&lt;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b,a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&gt;}, 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={&lt;</a:t>
            </a:r>
            <a:r>
              <a:rPr lang="en-US" altLang="x-none" sz="2800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c,a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&gt;}.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  则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o(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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) = 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o 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 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,</a:t>
            </a:r>
          </a:p>
          <a:p>
            <a:pPr>
              <a:lnSpc>
                <a:spcPct val="125000"/>
              </a:lnSpc>
              <a:buNone/>
            </a:pP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o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={&lt;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d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&gt;}, 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o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={&lt;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d,a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&gt;},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(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o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2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)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(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1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o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sz="2800" baseline="-25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3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)=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{&lt;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d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&gt;}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9B2FE1E-6619-406E-9D91-4F32FC98D143}"/>
              </a:ext>
            </a:extLst>
          </p:cNvPr>
          <p:cNvGrpSpPr/>
          <p:nvPr/>
        </p:nvGrpSpPr>
        <p:grpSpPr>
          <a:xfrm>
            <a:off x="3738902" y="3867307"/>
            <a:ext cx="2602523" cy="1698381"/>
            <a:chOff x="0" y="0"/>
            <a:chExt cx="1776" cy="1159"/>
          </a:xfrm>
        </p:grpSpPr>
        <p:sp>
          <p:nvSpPr>
            <p:cNvPr id="6" name="椭圆 48132">
              <a:extLst>
                <a:ext uri="{FF2B5EF4-FFF2-40B4-BE49-F238E27FC236}">
                  <a16:creationId xmlns:a16="http://schemas.microsoft.com/office/drawing/2014/main" id="{D3D8A23C-E1EE-42B6-961F-15A5A84ABDAB}"/>
                </a:ext>
              </a:extLst>
            </p:cNvPr>
            <p:cNvSpPr/>
            <p:nvPr/>
          </p:nvSpPr>
          <p:spPr>
            <a:xfrm>
              <a:off x="144" y="57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7" name="椭圆 48133">
              <a:extLst>
                <a:ext uri="{FF2B5EF4-FFF2-40B4-BE49-F238E27FC236}">
                  <a16:creationId xmlns:a16="http://schemas.microsoft.com/office/drawing/2014/main" id="{2E5B6072-7EC9-4504-B9D8-9FBE160B1B53}"/>
                </a:ext>
              </a:extLst>
            </p:cNvPr>
            <p:cNvSpPr/>
            <p:nvPr/>
          </p:nvSpPr>
          <p:spPr>
            <a:xfrm>
              <a:off x="768" y="240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8" name="椭圆 48134">
              <a:extLst>
                <a:ext uri="{FF2B5EF4-FFF2-40B4-BE49-F238E27FC236}">
                  <a16:creationId xmlns:a16="http://schemas.microsoft.com/office/drawing/2014/main" id="{1BF9F23A-C4C7-45FC-9A4F-24F313B05745}"/>
                </a:ext>
              </a:extLst>
            </p:cNvPr>
            <p:cNvSpPr/>
            <p:nvPr/>
          </p:nvSpPr>
          <p:spPr>
            <a:xfrm>
              <a:off x="768" y="864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9" name="椭圆 48135">
              <a:extLst>
                <a:ext uri="{FF2B5EF4-FFF2-40B4-BE49-F238E27FC236}">
                  <a16:creationId xmlns:a16="http://schemas.microsoft.com/office/drawing/2014/main" id="{E48062E4-0825-4FA1-8E36-19012F71EDC4}"/>
                </a:ext>
              </a:extLst>
            </p:cNvPr>
            <p:cNvSpPr/>
            <p:nvPr/>
          </p:nvSpPr>
          <p:spPr>
            <a:xfrm>
              <a:off x="1440" y="576"/>
              <a:ext cx="96" cy="96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0" name="直接连接符 48136">
              <a:extLst>
                <a:ext uri="{FF2B5EF4-FFF2-40B4-BE49-F238E27FC236}">
                  <a16:creationId xmlns:a16="http://schemas.microsoft.com/office/drawing/2014/main" id="{92854A1E-2494-4A35-8046-62350F9CE563}"/>
                </a:ext>
              </a:extLst>
            </p:cNvPr>
            <p:cNvSpPr/>
            <p:nvPr/>
          </p:nvSpPr>
          <p:spPr>
            <a:xfrm flipV="1">
              <a:off x="192" y="336"/>
              <a:ext cx="576" cy="288"/>
            </a:xfrm>
            <a:prstGeom prst="line">
              <a:avLst/>
            </a:prstGeom>
            <a:ln w="9525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1" name="直接连接符 48137">
              <a:extLst>
                <a:ext uri="{FF2B5EF4-FFF2-40B4-BE49-F238E27FC236}">
                  <a16:creationId xmlns:a16="http://schemas.microsoft.com/office/drawing/2014/main" id="{286943EB-F48F-494D-8313-0D35BD9502D7}"/>
                </a:ext>
              </a:extLst>
            </p:cNvPr>
            <p:cNvSpPr/>
            <p:nvPr/>
          </p:nvSpPr>
          <p:spPr>
            <a:xfrm>
              <a:off x="240" y="624"/>
              <a:ext cx="528" cy="288"/>
            </a:xfrm>
            <a:prstGeom prst="line">
              <a:avLst/>
            </a:prstGeom>
            <a:ln w="9525" cap="flat" cmpd="sng">
              <a:solidFill>
                <a:srgbClr val="00CCF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2" name="直接连接符 48138">
              <a:extLst>
                <a:ext uri="{FF2B5EF4-FFF2-40B4-BE49-F238E27FC236}">
                  <a16:creationId xmlns:a16="http://schemas.microsoft.com/office/drawing/2014/main" id="{2DE7BA3A-709D-4FC2-9D58-47CB624619AD}"/>
                </a:ext>
              </a:extLst>
            </p:cNvPr>
            <p:cNvSpPr/>
            <p:nvPr/>
          </p:nvSpPr>
          <p:spPr>
            <a:xfrm>
              <a:off x="864" y="288"/>
              <a:ext cx="576" cy="288"/>
            </a:xfrm>
            <a:prstGeom prst="line">
              <a:avLst/>
            </a:prstGeom>
            <a:ln w="9525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3" name="直接连接符 48139">
              <a:extLst>
                <a:ext uri="{FF2B5EF4-FFF2-40B4-BE49-F238E27FC236}">
                  <a16:creationId xmlns:a16="http://schemas.microsoft.com/office/drawing/2014/main" id="{AE46CBDA-3C9E-4A7D-AAC2-5DD98C801683}"/>
                </a:ext>
              </a:extLst>
            </p:cNvPr>
            <p:cNvSpPr/>
            <p:nvPr/>
          </p:nvSpPr>
          <p:spPr>
            <a:xfrm flipV="1">
              <a:off x="864" y="624"/>
              <a:ext cx="576" cy="288"/>
            </a:xfrm>
            <a:prstGeom prst="line">
              <a:avLst/>
            </a:prstGeom>
            <a:ln w="9525" cap="flat" cmpd="sng">
              <a:solidFill>
                <a:srgbClr val="0099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4" name="直接连接符 48140">
              <a:extLst>
                <a:ext uri="{FF2B5EF4-FFF2-40B4-BE49-F238E27FC236}">
                  <a16:creationId xmlns:a16="http://schemas.microsoft.com/office/drawing/2014/main" id="{9CEB2594-AEB4-4741-B7BB-EBB2BE3A34D5}"/>
                </a:ext>
              </a:extLst>
            </p:cNvPr>
            <p:cNvSpPr/>
            <p:nvPr/>
          </p:nvSpPr>
          <p:spPr>
            <a:xfrm>
              <a:off x="240" y="624"/>
              <a:ext cx="1152" cy="0"/>
            </a:xfrm>
            <a:prstGeom prst="line">
              <a:avLst/>
            </a:prstGeom>
            <a:ln w="9525" cap="flat" cmpd="sng">
              <a:solidFill>
                <a:srgbClr val="FF00FF"/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5" name="文本框 48141">
              <a:extLst>
                <a:ext uri="{FF2B5EF4-FFF2-40B4-BE49-F238E27FC236}">
                  <a16:creationId xmlns:a16="http://schemas.microsoft.com/office/drawing/2014/main" id="{246A9F79-FC4D-4AF7-923F-B5E123A93BC7}"/>
                </a:ext>
              </a:extLst>
            </p:cNvPr>
            <p:cNvSpPr txBox="1"/>
            <p:nvPr/>
          </p:nvSpPr>
          <p:spPr>
            <a:xfrm>
              <a:off x="0" y="480"/>
              <a:ext cx="288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latin typeface="Comic Sans MS" panose="030F0702030302020204" charset="0"/>
                </a:rPr>
                <a:t>d</a:t>
              </a:r>
            </a:p>
          </p:txBody>
        </p:sp>
        <p:sp>
          <p:nvSpPr>
            <p:cNvPr id="16" name="文本框 48142">
              <a:extLst>
                <a:ext uri="{FF2B5EF4-FFF2-40B4-BE49-F238E27FC236}">
                  <a16:creationId xmlns:a16="http://schemas.microsoft.com/office/drawing/2014/main" id="{A53ACBA0-0386-446B-AC8F-7B194DFF2D8A}"/>
                </a:ext>
              </a:extLst>
            </p:cNvPr>
            <p:cNvSpPr txBox="1"/>
            <p:nvPr/>
          </p:nvSpPr>
          <p:spPr>
            <a:xfrm>
              <a:off x="720" y="0"/>
              <a:ext cx="288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latin typeface="Comic Sans MS" panose="030F0702030302020204" charset="0"/>
                </a:rPr>
                <a:t>b</a:t>
              </a:r>
            </a:p>
          </p:txBody>
        </p:sp>
        <p:sp>
          <p:nvSpPr>
            <p:cNvPr id="17" name="文本框 48143">
              <a:extLst>
                <a:ext uri="{FF2B5EF4-FFF2-40B4-BE49-F238E27FC236}">
                  <a16:creationId xmlns:a16="http://schemas.microsoft.com/office/drawing/2014/main" id="{4FF6CD4D-54DC-4140-8515-8A0CCE8366A9}"/>
                </a:ext>
              </a:extLst>
            </p:cNvPr>
            <p:cNvSpPr txBox="1"/>
            <p:nvPr/>
          </p:nvSpPr>
          <p:spPr>
            <a:xfrm>
              <a:off x="720" y="864"/>
              <a:ext cx="288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latin typeface="Comic Sans MS" panose="030F0702030302020204" charset="0"/>
                </a:rPr>
                <a:t>c</a:t>
              </a:r>
            </a:p>
          </p:txBody>
        </p:sp>
        <p:sp>
          <p:nvSpPr>
            <p:cNvPr id="18" name="文本框 48144">
              <a:extLst>
                <a:ext uri="{FF2B5EF4-FFF2-40B4-BE49-F238E27FC236}">
                  <a16:creationId xmlns:a16="http://schemas.microsoft.com/office/drawing/2014/main" id="{7BC86847-8486-464F-9BB4-F54CD219E779}"/>
                </a:ext>
              </a:extLst>
            </p:cNvPr>
            <p:cNvSpPr txBox="1"/>
            <p:nvPr/>
          </p:nvSpPr>
          <p:spPr>
            <a:xfrm>
              <a:off x="1488" y="480"/>
              <a:ext cx="288" cy="29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  <a:buClrTx/>
              </a:pPr>
              <a:r>
                <a:rPr lang="en-US" altLang="x-none" sz="2215" b="1" dirty="0">
                  <a:latin typeface="Comic Sans MS" panose="030F0702030302020204" charset="0"/>
                </a:rPr>
                <a:t>a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72242C0B-7A1C-B2A6-0B8D-B0086B4E2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24655314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EC955-3F6E-496A-88AD-1A2FE6327B37}"/>
              </a:ext>
            </a:extLst>
          </p:cNvPr>
          <p:cNvSpPr/>
          <p:nvPr/>
        </p:nvSpPr>
        <p:spPr>
          <a:xfrm>
            <a:off x="2673030" y="1092840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复合运算不满足交换律。即，一般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　　　　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S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31BBF8C-0529-418C-9813-07C1B1242542}"/>
              </a:ext>
            </a:extLst>
          </p:cNvPr>
          <p:cNvSpPr/>
          <p:nvPr/>
        </p:nvSpPr>
        <p:spPr>
          <a:xfrm>
            <a:off x="2673030" y="2625258"/>
            <a:ext cx="7589556" cy="3258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a,b,c,d,e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。则关系　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R={&lt;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S={&lt;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复合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关系为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S= {&lt;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={&lt;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84E870-3E46-4CCA-A0F0-EF680A0FF137}"/>
              </a:ext>
            </a:extLst>
          </p:cNvPr>
          <p:cNvSpPr/>
          <p:nvPr/>
        </p:nvSpPr>
        <p:spPr>
          <a:xfrm>
            <a:off x="2610788" y="4065344"/>
            <a:ext cx="2824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 </a:t>
            </a:r>
            <a:endParaRPr lang="zh-CN" altLang="en-US" sz="2800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2371B8FC-F798-1E03-33C9-04331AA79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091391587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C9F20F3-A0D2-48B9-A59D-0F50A088A561}"/>
              </a:ext>
            </a:extLst>
          </p:cNvPr>
          <p:cNvSpPr/>
          <p:nvPr/>
        </p:nvSpPr>
        <p:spPr>
          <a:xfrm>
            <a:off x="1662556" y="1020829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关系矩阵的合成运算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2100C9-8BFC-4298-AFAB-3C8C065657BC}"/>
              </a:ext>
            </a:extLst>
          </p:cNvPr>
          <p:cNvSpPr/>
          <p:nvPr/>
        </p:nvSpPr>
        <p:spPr>
          <a:xfrm>
            <a:off x="1937512" y="1669500"/>
            <a:ext cx="935762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A×B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B×C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是两个二元关系，其合成关系为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。这里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 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B={b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C={c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并设它们的关系矩阵分别为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m×l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l×n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o 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则有：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o 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r>
              <a:rPr lang="zh-C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其中：令　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⊙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zh-CN" altLang="en-US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    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  (1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m,1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6EC26DB-A9C1-49AE-B5FA-B31ED2D00F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3917" y="4724781"/>
          <a:ext cx="381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406080" progId="Equation.DSMT4">
                  <p:embed/>
                </p:oleObj>
              </mc:Choice>
              <mc:Fallback>
                <p:oleObj name="Equation" r:id="rId4" imgW="190440" imgH="4060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6EC26DB-A9C1-49AE-B5FA-B31ED2D00F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917" y="4724781"/>
                        <a:ext cx="381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2">
            <a:extLst>
              <a:ext uri="{FF2B5EF4-FFF2-40B4-BE49-F238E27FC236}">
                <a16:creationId xmlns:a16="http://schemas.microsoft.com/office/drawing/2014/main" id="{EFBC368A-90CC-CDFC-C1C3-CAE500E66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917196589"/>
      </p:ext>
    </p:extLst>
  </p:cSld>
  <p:clrMapOvr>
    <a:masterClrMapping/>
  </p:clrMapOvr>
  <p:transition spd="slow" advTm="0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A953AF4-105C-43E5-9EA9-3DD4D527FA9A}"/>
              </a:ext>
            </a:extLst>
          </p:cNvPr>
          <p:cNvSpPr/>
          <p:nvPr/>
        </p:nvSpPr>
        <p:spPr>
          <a:xfrm>
            <a:off x="1995453" y="1111869"/>
            <a:ext cx="930626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a,b,c,d,e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。则关系　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R={&lt;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S={&lt;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 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合成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关系　  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S= {&lt;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b,e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0D1156-CAA9-47D8-A9FA-C89D8E584EA7}"/>
              </a:ext>
            </a:extLst>
          </p:cNvPr>
          <p:cNvSpPr/>
          <p:nvPr/>
        </p:nvSpPr>
        <p:spPr>
          <a:xfrm>
            <a:off x="2126290" y="4138998"/>
            <a:ext cx="67714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　　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o 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5FED0F54-06E2-454D-8400-926D4AE43B97}"/>
              </a:ext>
            </a:extLst>
          </p:cNvPr>
          <p:cNvGrpSpPr>
            <a:grpSpLocks/>
          </p:cNvGrpSpPr>
          <p:nvPr/>
        </p:nvGrpSpPr>
        <p:grpSpPr bwMode="auto">
          <a:xfrm>
            <a:off x="3304010" y="3695758"/>
            <a:ext cx="7063575" cy="1409700"/>
            <a:chOff x="1584" y="1920"/>
            <a:chExt cx="3912" cy="888"/>
          </a:xfrm>
        </p:grpSpPr>
        <p:graphicFrame>
          <p:nvGraphicFramePr>
            <p:cNvPr id="7" name="Object 5">
              <a:extLst>
                <a:ext uri="{FF2B5EF4-FFF2-40B4-BE49-F238E27FC236}">
                  <a16:creationId xmlns:a16="http://schemas.microsoft.com/office/drawing/2014/main" id="{551C4029-6A30-471C-A6B5-D2E9C39E40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4" y="1920"/>
            <a:ext cx="888" cy="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43000" imgH="1143000" progId="Equation.DSMT4">
                    <p:embed/>
                  </p:oleObj>
                </mc:Choice>
                <mc:Fallback>
                  <p:oleObj name="Equation" r:id="rId4" imgW="1143000" imgH="1143000" progId="Equation.DSMT4">
                    <p:embed/>
                    <p:pic>
                      <p:nvPicPr>
                        <p:cNvPr id="7" name="Object 5">
                          <a:extLst>
                            <a:ext uri="{FF2B5EF4-FFF2-40B4-BE49-F238E27FC236}">
                              <a16:creationId xmlns:a16="http://schemas.microsoft.com/office/drawing/2014/main" id="{551C4029-6A30-471C-A6B5-D2E9C39E408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1920"/>
                          <a:ext cx="888" cy="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6">
              <a:extLst>
                <a:ext uri="{FF2B5EF4-FFF2-40B4-BE49-F238E27FC236}">
                  <a16:creationId xmlns:a16="http://schemas.microsoft.com/office/drawing/2014/main" id="{375A663D-9B59-423C-9239-AF0A6E81B08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24" y="1920"/>
            <a:ext cx="888" cy="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3000" imgH="1143000" progId="Equation.DSMT4">
                    <p:embed/>
                  </p:oleObj>
                </mc:Choice>
                <mc:Fallback>
                  <p:oleObj name="Equation" r:id="rId6" imgW="1143000" imgH="1143000" progId="Equation.DSMT4">
                    <p:embed/>
                    <p:pic>
                      <p:nvPicPr>
                        <p:cNvPr id="8" name="Object 6">
                          <a:extLst>
                            <a:ext uri="{FF2B5EF4-FFF2-40B4-BE49-F238E27FC236}">
                              <a16:creationId xmlns:a16="http://schemas.microsoft.com/office/drawing/2014/main" id="{375A663D-9B59-423C-9239-AF0A6E81B08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1920"/>
                          <a:ext cx="888" cy="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7">
              <a:extLst>
                <a:ext uri="{FF2B5EF4-FFF2-40B4-BE49-F238E27FC236}">
                  <a16:creationId xmlns:a16="http://schemas.microsoft.com/office/drawing/2014/main" id="{C087049D-7364-492A-B5C1-E20350EA961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8" y="1920"/>
            <a:ext cx="888" cy="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43000" imgH="1143000" progId="Equation.DSMT4">
                    <p:embed/>
                  </p:oleObj>
                </mc:Choice>
                <mc:Fallback>
                  <p:oleObj name="Equation" r:id="rId8" imgW="1143000" imgH="1143000" progId="Equation.DSMT4">
                    <p:embed/>
                    <p:pic>
                      <p:nvPicPr>
                        <p:cNvPr id="9" name="Object 7">
                          <a:extLst>
                            <a:ext uri="{FF2B5EF4-FFF2-40B4-BE49-F238E27FC236}">
                              <a16:creationId xmlns:a16="http://schemas.microsoft.com/office/drawing/2014/main" id="{C087049D-7364-492A-B5C1-E20350EA961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1920"/>
                          <a:ext cx="888" cy="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文本框 2">
            <a:extLst>
              <a:ext uri="{FF2B5EF4-FFF2-40B4-BE49-F238E27FC236}">
                <a16:creationId xmlns:a16="http://schemas.microsoft.com/office/drawing/2014/main" id="{226009B8-41AD-6678-85B5-17C1F224D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3735634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6DA875A-B0B3-42D9-AB2E-4CF90DF227BB}"/>
              </a:ext>
            </a:extLst>
          </p:cNvPr>
          <p:cNvSpPr/>
          <p:nvPr/>
        </p:nvSpPr>
        <p:spPr>
          <a:xfrm>
            <a:off x="2220790" y="1889873"/>
            <a:ext cx="5694188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/>
              <a:t>M</a:t>
            </a:r>
            <a:r>
              <a:rPr lang="en-US" altLang="zh-CN" sz="2800" baseline="-25000" dirty="0"/>
              <a:t>R </a:t>
            </a:r>
            <a:r>
              <a:rPr lang="en-US" altLang="zh-CN" sz="2800" baseline="20000" dirty="0"/>
              <a:t>o </a:t>
            </a:r>
            <a:r>
              <a:rPr lang="en-US" altLang="zh-CN" sz="2800" dirty="0"/>
              <a:t>M</a:t>
            </a:r>
            <a:r>
              <a:rPr lang="en-US" altLang="zh-CN" sz="2800" baseline="-25000" dirty="0"/>
              <a:t>S </a:t>
            </a:r>
            <a:r>
              <a:rPr lang="en-US" altLang="zh-CN" sz="2800" dirty="0"/>
              <a:t>=                                       =</a:t>
            </a:r>
          </a:p>
        </p:txBody>
      </p:sp>
      <p:grpSp>
        <p:nvGrpSpPr>
          <p:cNvPr id="5" name="Group 46">
            <a:extLst>
              <a:ext uri="{FF2B5EF4-FFF2-40B4-BE49-F238E27FC236}">
                <a16:creationId xmlns:a16="http://schemas.microsoft.com/office/drawing/2014/main" id="{F5D652DE-4E21-4133-8A27-FAF0D706EB17}"/>
              </a:ext>
            </a:extLst>
          </p:cNvPr>
          <p:cNvGrpSpPr>
            <a:grpSpLocks/>
          </p:cNvGrpSpPr>
          <p:nvPr/>
        </p:nvGrpSpPr>
        <p:grpSpPr bwMode="auto">
          <a:xfrm>
            <a:off x="4021606" y="1425088"/>
            <a:ext cx="5615775" cy="1409700"/>
            <a:chOff x="1872" y="3264"/>
            <a:chExt cx="2904" cy="888"/>
          </a:xfrm>
        </p:grpSpPr>
        <p:graphicFrame>
          <p:nvGraphicFramePr>
            <p:cNvPr id="6" name="Object 42">
              <a:extLst>
                <a:ext uri="{FF2B5EF4-FFF2-40B4-BE49-F238E27FC236}">
                  <a16:creationId xmlns:a16="http://schemas.microsoft.com/office/drawing/2014/main" id="{72BD1EEA-9F46-4C9C-8065-D55837C197A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72" y="3264"/>
            <a:ext cx="888" cy="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43000" imgH="1143000" progId="Equation.DSMT4">
                    <p:embed/>
                  </p:oleObj>
                </mc:Choice>
                <mc:Fallback>
                  <p:oleObj name="Equation" r:id="rId4" imgW="1143000" imgH="1143000" progId="Equation.DSMT4">
                    <p:embed/>
                    <p:pic>
                      <p:nvPicPr>
                        <p:cNvPr id="6" name="Object 42">
                          <a:extLst>
                            <a:ext uri="{FF2B5EF4-FFF2-40B4-BE49-F238E27FC236}">
                              <a16:creationId xmlns:a16="http://schemas.microsoft.com/office/drawing/2014/main" id="{72BD1EEA-9F46-4C9C-8065-D55837C197A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3264"/>
                          <a:ext cx="888" cy="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43">
              <a:extLst>
                <a:ext uri="{FF2B5EF4-FFF2-40B4-BE49-F238E27FC236}">
                  <a16:creationId xmlns:a16="http://schemas.microsoft.com/office/drawing/2014/main" id="{92EBE01A-5156-4750-A1BA-A3D55C00A8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4" y="3264"/>
            <a:ext cx="888" cy="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3000" imgH="1143000" progId="Equation.DSMT4">
                    <p:embed/>
                  </p:oleObj>
                </mc:Choice>
                <mc:Fallback>
                  <p:oleObj name="Equation" r:id="rId6" imgW="1143000" imgH="1143000" progId="Equation.DSMT4">
                    <p:embed/>
                    <p:pic>
                      <p:nvPicPr>
                        <p:cNvPr id="7" name="Object 43">
                          <a:extLst>
                            <a:ext uri="{FF2B5EF4-FFF2-40B4-BE49-F238E27FC236}">
                              <a16:creationId xmlns:a16="http://schemas.microsoft.com/office/drawing/2014/main" id="{92EBE01A-5156-4750-A1BA-A3D55C00A8F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4" y="3264"/>
                          <a:ext cx="888" cy="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44">
              <a:extLst>
                <a:ext uri="{FF2B5EF4-FFF2-40B4-BE49-F238E27FC236}">
                  <a16:creationId xmlns:a16="http://schemas.microsoft.com/office/drawing/2014/main" id="{05D616C5-695B-4FB6-A588-1EB34357C2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88" y="3264"/>
            <a:ext cx="888" cy="8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143000" imgH="1143000" progId="Equation.DSMT4">
                    <p:embed/>
                  </p:oleObj>
                </mc:Choice>
                <mc:Fallback>
                  <p:oleObj name="Equation" r:id="rId8" imgW="1143000" imgH="1143000" progId="Equation.DSMT4">
                    <p:embed/>
                    <p:pic>
                      <p:nvPicPr>
                        <p:cNvPr id="8" name="Object 44">
                          <a:extLst>
                            <a:ext uri="{FF2B5EF4-FFF2-40B4-BE49-F238E27FC236}">
                              <a16:creationId xmlns:a16="http://schemas.microsoft.com/office/drawing/2014/main" id="{05D616C5-695B-4FB6-A588-1EB34357C25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3264"/>
                          <a:ext cx="888" cy="8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7EABBD7C-B6D8-4BE6-988E-4F00FC75B2AE}"/>
              </a:ext>
            </a:extLst>
          </p:cNvPr>
          <p:cNvSpPr/>
          <p:nvPr/>
        </p:nvSpPr>
        <p:spPr>
          <a:xfrm>
            <a:off x="2220790" y="3752927"/>
            <a:ext cx="8444494" cy="2419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25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   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2k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k5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)(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=(0 0) (11) (0 0) (0 0) (0 0)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=0  1  0 0  0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=1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22D0763F-9690-B59B-9404-98962F08E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424894490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7EC673D-49C9-4F2B-98D5-3CF151B11096}"/>
              </a:ext>
            </a:extLst>
          </p:cNvPr>
          <p:cNvSpPr/>
          <p:nvPr/>
        </p:nvSpPr>
        <p:spPr>
          <a:xfrm>
            <a:off x="2333779" y="738188"/>
            <a:ext cx="29017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32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o S 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M</a:t>
            </a:r>
            <a:r>
              <a:rPr lang="en-US" altLang="zh-CN" sz="32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3200" baseline="2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32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grpSp>
        <p:nvGrpSpPr>
          <p:cNvPr id="7" name="Group 195">
            <a:extLst>
              <a:ext uri="{FF2B5EF4-FFF2-40B4-BE49-F238E27FC236}">
                <a16:creationId xmlns:a16="http://schemas.microsoft.com/office/drawing/2014/main" id="{14784690-9511-4FC4-8077-F61029265407}"/>
              </a:ext>
            </a:extLst>
          </p:cNvPr>
          <p:cNvGrpSpPr>
            <a:grpSpLocks/>
          </p:cNvGrpSpPr>
          <p:nvPr/>
        </p:nvGrpSpPr>
        <p:grpSpPr bwMode="auto">
          <a:xfrm>
            <a:off x="2714770" y="2053322"/>
            <a:ext cx="5221215" cy="3005240"/>
            <a:chOff x="3060" y="2220"/>
            <a:chExt cx="5685" cy="3046"/>
          </a:xfrm>
        </p:grpSpPr>
        <p:sp>
          <p:nvSpPr>
            <p:cNvPr id="8" name="Text Box 196">
              <a:extLst>
                <a:ext uri="{FF2B5EF4-FFF2-40B4-BE49-F238E27FC236}">
                  <a16:creationId xmlns:a16="http://schemas.microsoft.com/office/drawing/2014/main" id="{EE209582-8EF9-4BCF-B7BA-B902239D5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5" y="2870"/>
              <a:ext cx="613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9" name="Freeform 197">
              <a:extLst>
                <a:ext uri="{FF2B5EF4-FFF2-40B4-BE49-F238E27FC236}">
                  <a16:creationId xmlns:a16="http://schemas.microsoft.com/office/drawing/2014/main" id="{ABCCBE3F-04F2-4010-97C3-6E8EDE161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7" y="3829"/>
              <a:ext cx="1055" cy="1064"/>
            </a:xfrm>
            <a:custGeom>
              <a:avLst/>
              <a:gdLst>
                <a:gd name="T0" fmla="*/ 0 w 620"/>
                <a:gd name="T1" fmla="*/ 0 h 690"/>
                <a:gd name="T2" fmla="*/ 620 w 620"/>
                <a:gd name="T3" fmla="*/ 690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690">
                  <a:moveTo>
                    <a:pt x="0" y="0"/>
                  </a:moveTo>
                  <a:lnTo>
                    <a:pt x="620" y="69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98">
              <a:extLst>
                <a:ext uri="{FF2B5EF4-FFF2-40B4-BE49-F238E27FC236}">
                  <a16:creationId xmlns:a16="http://schemas.microsoft.com/office/drawing/2014/main" id="{883F8171-AFCD-4B87-85BD-B52731395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1" y="4122"/>
              <a:ext cx="1055" cy="217"/>
            </a:xfrm>
            <a:custGeom>
              <a:avLst/>
              <a:gdLst>
                <a:gd name="T0" fmla="*/ 0 w 620"/>
                <a:gd name="T1" fmla="*/ 140 h 140"/>
                <a:gd name="T2" fmla="*/ 620 w 620"/>
                <a:gd name="T3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20" h="140">
                  <a:moveTo>
                    <a:pt x="0" y="140"/>
                  </a:moveTo>
                  <a:lnTo>
                    <a:pt x="62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99">
              <a:extLst>
                <a:ext uri="{FF2B5EF4-FFF2-40B4-BE49-F238E27FC236}">
                  <a16:creationId xmlns:a16="http://schemas.microsoft.com/office/drawing/2014/main" id="{8B5BBE59-241F-4F90-9B4D-CE4097579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7" y="3244"/>
              <a:ext cx="1072" cy="1634"/>
            </a:xfrm>
            <a:custGeom>
              <a:avLst/>
              <a:gdLst>
                <a:gd name="T0" fmla="*/ 0 w 630"/>
                <a:gd name="T1" fmla="*/ 0 h 1060"/>
                <a:gd name="T2" fmla="*/ 630 w 630"/>
                <a:gd name="T3" fmla="*/ 1060 h 10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30" h="1060">
                  <a:moveTo>
                    <a:pt x="0" y="0"/>
                  </a:moveTo>
                  <a:lnTo>
                    <a:pt x="630" y="10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Box 200">
              <a:extLst>
                <a:ext uri="{FF2B5EF4-FFF2-40B4-BE49-F238E27FC236}">
                  <a16:creationId xmlns:a16="http://schemas.microsoft.com/office/drawing/2014/main" id="{AE0BEF47-ACCF-49A5-97CE-07EEB2AFA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4" y="2220"/>
              <a:ext cx="614" cy="7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</a:t>
              </a:r>
              <a:endParaRPr lang="en-US" altLang="zh-CN" dirty="0"/>
            </a:p>
          </p:txBody>
        </p:sp>
        <p:sp>
          <p:nvSpPr>
            <p:cNvPr id="13" name="Text Box 201">
              <a:extLst>
                <a:ext uri="{FF2B5EF4-FFF2-40B4-BE49-F238E27FC236}">
                  <a16:creationId xmlns:a16="http://schemas.microsoft.com/office/drawing/2014/main" id="{8D3F7449-88FD-46A7-9E02-DF7BAC3F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3" y="2220"/>
              <a:ext cx="1225" cy="72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RoS</a:t>
              </a:r>
              <a:endParaRPr lang="en-US" altLang="zh-CN"/>
            </a:p>
          </p:txBody>
        </p:sp>
        <p:sp>
          <p:nvSpPr>
            <p:cNvPr id="14" name="Text Box 202">
              <a:extLst>
                <a:ext uri="{FF2B5EF4-FFF2-40B4-BE49-F238E27FC236}">
                  <a16:creationId xmlns:a16="http://schemas.microsoft.com/office/drawing/2014/main" id="{28FB82A7-8A82-407E-9204-9579FFB28C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7" y="2226"/>
              <a:ext cx="612" cy="72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/>
            </a:p>
          </p:txBody>
        </p:sp>
        <p:sp>
          <p:nvSpPr>
            <p:cNvPr id="15" name="Oval 203">
              <a:extLst>
                <a:ext uri="{FF2B5EF4-FFF2-40B4-BE49-F238E27FC236}">
                  <a16:creationId xmlns:a16="http://schemas.microsoft.com/office/drawing/2014/main" id="{5C024EC0-4319-407B-98A9-E4EDF7449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4872"/>
              <a:ext cx="97" cy="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Oval 204">
              <a:extLst>
                <a:ext uri="{FF2B5EF4-FFF2-40B4-BE49-F238E27FC236}">
                  <a16:creationId xmlns:a16="http://schemas.microsoft.com/office/drawing/2014/main" id="{33C2C1CF-DE05-4218-A7E2-90EE482D5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4064"/>
              <a:ext cx="97" cy="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Oval 205">
              <a:extLst>
                <a:ext uri="{FF2B5EF4-FFF2-40B4-BE49-F238E27FC236}">
                  <a16:creationId xmlns:a16="http://schemas.microsoft.com/office/drawing/2014/main" id="{88EB5904-ADCD-4C94-B751-8A021FBD1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7" y="3187"/>
              <a:ext cx="97" cy="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206">
              <a:extLst>
                <a:ext uri="{FF2B5EF4-FFF2-40B4-BE49-F238E27FC236}">
                  <a16:creationId xmlns:a16="http://schemas.microsoft.com/office/drawing/2014/main" id="{56CEC0D0-31BC-43AD-A07A-218478069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0" y="2825"/>
              <a:ext cx="613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grpSp>
          <p:nvGrpSpPr>
            <p:cNvPr id="19" name="Group 207">
              <a:extLst>
                <a:ext uri="{FF2B5EF4-FFF2-40B4-BE49-F238E27FC236}">
                  <a16:creationId xmlns:a16="http://schemas.microsoft.com/office/drawing/2014/main" id="{E7592CBD-B493-48A0-8D59-A45781F6FE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0" y="3410"/>
              <a:ext cx="613" cy="722"/>
              <a:chOff x="3320" y="1906"/>
              <a:chExt cx="360" cy="468"/>
            </a:xfrm>
          </p:grpSpPr>
          <p:sp>
            <p:nvSpPr>
              <p:cNvPr id="63" name="Oval 208">
                <a:extLst>
                  <a:ext uri="{FF2B5EF4-FFF2-40B4-BE49-F238E27FC236}">
                    <a16:creationId xmlns:a16="http://schemas.microsoft.com/office/drawing/2014/main" id="{44447B72-A585-4F09-AB38-838DFDCBD4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Text Box 209">
                <a:extLst>
                  <a:ext uri="{FF2B5EF4-FFF2-40B4-BE49-F238E27FC236}">
                    <a16:creationId xmlns:a16="http://schemas.microsoft.com/office/drawing/2014/main" id="{B1FAB62A-FF1F-4D20-804C-C7E7BFE6D4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/>
              </a:p>
            </p:txBody>
          </p:sp>
        </p:grpSp>
        <p:grpSp>
          <p:nvGrpSpPr>
            <p:cNvPr id="20" name="Group 210">
              <a:extLst>
                <a:ext uri="{FF2B5EF4-FFF2-40B4-BE49-F238E27FC236}">
                  <a16:creationId xmlns:a16="http://schemas.microsoft.com/office/drawing/2014/main" id="{3E4697AF-1F78-40E3-98E7-2745985D6C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0" y="3934"/>
              <a:ext cx="613" cy="722"/>
              <a:chOff x="3320" y="1906"/>
              <a:chExt cx="360" cy="468"/>
            </a:xfrm>
          </p:grpSpPr>
          <p:sp>
            <p:nvSpPr>
              <p:cNvPr id="61" name="Oval 211">
                <a:extLst>
                  <a:ext uri="{FF2B5EF4-FFF2-40B4-BE49-F238E27FC236}">
                    <a16:creationId xmlns:a16="http://schemas.microsoft.com/office/drawing/2014/main" id="{85109E85-EE9A-46E1-9F53-C83AD82C8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Text Box 212">
                <a:extLst>
                  <a:ext uri="{FF2B5EF4-FFF2-40B4-BE49-F238E27FC236}">
                    <a16:creationId xmlns:a16="http://schemas.microsoft.com/office/drawing/2014/main" id="{C18FC5D2-22C0-464A-8648-5C0F0D8F52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/>
              </a:p>
            </p:txBody>
          </p:sp>
        </p:grpSp>
        <p:grpSp>
          <p:nvGrpSpPr>
            <p:cNvPr id="21" name="Group 213">
              <a:extLst>
                <a:ext uri="{FF2B5EF4-FFF2-40B4-BE49-F238E27FC236}">
                  <a16:creationId xmlns:a16="http://schemas.microsoft.com/office/drawing/2014/main" id="{F7659E56-AEC1-45AC-AB66-754E55443C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0" y="4505"/>
              <a:ext cx="613" cy="721"/>
              <a:chOff x="3320" y="1906"/>
              <a:chExt cx="360" cy="468"/>
            </a:xfrm>
          </p:grpSpPr>
          <p:sp>
            <p:nvSpPr>
              <p:cNvPr id="59" name="Oval 214">
                <a:extLst>
                  <a:ext uri="{FF2B5EF4-FFF2-40B4-BE49-F238E27FC236}">
                    <a16:creationId xmlns:a16="http://schemas.microsoft.com/office/drawing/2014/main" id="{ECB29455-8731-4DD4-A80E-7D6CBB028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" name="Text Box 215">
                <a:extLst>
                  <a:ext uri="{FF2B5EF4-FFF2-40B4-BE49-F238E27FC236}">
                    <a16:creationId xmlns:a16="http://schemas.microsoft.com/office/drawing/2014/main" id="{C09D1FB4-661A-4D94-9AD7-29FBA0C106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/>
              </a:p>
            </p:txBody>
          </p:sp>
        </p:grpSp>
        <p:grpSp>
          <p:nvGrpSpPr>
            <p:cNvPr id="22" name="Group 216">
              <a:extLst>
                <a:ext uri="{FF2B5EF4-FFF2-40B4-BE49-F238E27FC236}">
                  <a16:creationId xmlns:a16="http://schemas.microsoft.com/office/drawing/2014/main" id="{97A082F0-1ACF-441E-A0F0-741AD52F26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2" y="2825"/>
              <a:ext cx="614" cy="721"/>
              <a:chOff x="3320" y="1906"/>
              <a:chExt cx="360" cy="468"/>
            </a:xfrm>
          </p:grpSpPr>
          <p:sp>
            <p:nvSpPr>
              <p:cNvPr id="57" name="Oval 217">
                <a:extLst>
                  <a:ext uri="{FF2B5EF4-FFF2-40B4-BE49-F238E27FC236}">
                    <a16:creationId xmlns:a16="http://schemas.microsoft.com/office/drawing/2014/main" id="{84CAA4D2-B68E-4A63-BF6A-FF7853C5B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Text Box 218">
                <a:extLst>
                  <a:ext uri="{FF2B5EF4-FFF2-40B4-BE49-F238E27FC236}">
                    <a16:creationId xmlns:a16="http://schemas.microsoft.com/office/drawing/2014/main" id="{727643D5-419D-4EA3-A96B-3304756655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lang="en-US" altLang="zh-CN"/>
              </a:p>
            </p:txBody>
          </p:sp>
        </p:grpSp>
        <p:grpSp>
          <p:nvGrpSpPr>
            <p:cNvPr id="23" name="Group 219">
              <a:extLst>
                <a:ext uri="{FF2B5EF4-FFF2-40B4-BE49-F238E27FC236}">
                  <a16:creationId xmlns:a16="http://schemas.microsoft.com/office/drawing/2014/main" id="{53CDD742-2A0B-4585-8EBD-7DEAFA8271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2" y="3410"/>
              <a:ext cx="614" cy="722"/>
              <a:chOff x="3320" y="1906"/>
              <a:chExt cx="360" cy="468"/>
            </a:xfrm>
          </p:grpSpPr>
          <p:sp>
            <p:nvSpPr>
              <p:cNvPr id="55" name="Oval 220">
                <a:extLst>
                  <a:ext uri="{FF2B5EF4-FFF2-40B4-BE49-F238E27FC236}">
                    <a16:creationId xmlns:a16="http://schemas.microsoft.com/office/drawing/2014/main" id="{B382B8CE-84EA-4753-9A9B-96CB864FB3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Text Box 221">
                <a:extLst>
                  <a:ext uri="{FF2B5EF4-FFF2-40B4-BE49-F238E27FC236}">
                    <a16:creationId xmlns:a16="http://schemas.microsoft.com/office/drawing/2014/main" id="{305EF938-34F7-443C-A4F2-918FEC008A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/>
              </a:p>
            </p:txBody>
          </p:sp>
        </p:grpSp>
        <p:grpSp>
          <p:nvGrpSpPr>
            <p:cNvPr id="24" name="Group 222">
              <a:extLst>
                <a:ext uri="{FF2B5EF4-FFF2-40B4-BE49-F238E27FC236}">
                  <a16:creationId xmlns:a16="http://schemas.microsoft.com/office/drawing/2014/main" id="{57F0DC4A-866B-47D0-9480-CF7BF8F900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2" y="3934"/>
              <a:ext cx="614" cy="722"/>
              <a:chOff x="3320" y="1906"/>
              <a:chExt cx="360" cy="468"/>
            </a:xfrm>
          </p:grpSpPr>
          <p:sp>
            <p:nvSpPr>
              <p:cNvPr id="53" name="Oval 223">
                <a:extLst>
                  <a:ext uri="{FF2B5EF4-FFF2-40B4-BE49-F238E27FC236}">
                    <a16:creationId xmlns:a16="http://schemas.microsoft.com/office/drawing/2014/main" id="{1C9D9A06-33D0-4723-AC2B-761500F75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Text Box 224">
                <a:extLst>
                  <a:ext uri="{FF2B5EF4-FFF2-40B4-BE49-F238E27FC236}">
                    <a16:creationId xmlns:a16="http://schemas.microsoft.com/office/drawing/2014/main" id="{DD96C179-E7FD-4D87-B739-73C3AFE9A7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/>
              </a:p>
            </p:txBody>
          </p:sp>
        </p:grpSp>
        <p:grpSp>
          <p:nvGrpSpPr>
            <p:cNvPr id="25" name="Group 225">
              <a:extLst>
                <a:ext uri="{FF2B5EF4-FFF2-40B4-BE49-F238E27FC236}">
                  <a16:creationId xmlns:a16="http://schemas.microsoft.com/office/drawing/2014/main" id="{BC63D67E-35A5-4E23-819A-A95639E86C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32" y="4505"/>
              <a:ext cx="614" cy="721"/>
              <a:chOff x="3320" y="1906"/>
              <a:chExt cx="360" cy="468"/>
            </a:xfrm>
          </p:grpSpPr>
          <p:sp>
            <p:nvSpPr>
              <p:cNvPr id="51" name="Oval 226">
                <a:extLst>
                  <a:ext uri="{FF2B5EF4-FFF2-40B4-BE49-F238E27FC236}">
                    <a16:creationId xmlns:a16="http://schemas.microsoft.com/office/drawing/2014/main" id="{A9E795BD-8070-4F4F-8437-895DC6EA8A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141"/>
                <a:ext cx="57" cy="57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Text Box 227">
                <a:extLst>
                  <a:ext uri="{FF2B5EF4-FFF2-40B4-BE49-F238E27FC236}">
                    <a16:creationId xmlns:a16="http://schemas.microsoft.com/office/drawing/2014/main" id="{9C70077D-F1E3-447F-9FE9-7B1EB259AD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0" y="1906"/>
                <a:ext cx="360" cy="4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/>
                <a:r>
                  <a:rPr lang="en-US" altLang="zh-CN" sz="2000">
                    <a:latin typeface="Times New Roman" panose="02020603050405020304" pitchFamily="18" charset="0"/>
                    <a:ea typeface="宋体" panose="02010600030101010101" pitchFamily="2" charset="-122"/>
                  </a:rPr>
                  <a:t>d</a:t>
                </a:r>
                <a:endParaRPr lang="en-US" altLang="zh-CN"/>
              </a:p>
            </p:txBody>
          </p:sp>
        </p:grpSp>
        <p:sp>
          <p:nvSpPr>
            <p:cNvPr id="26" name="Oval 228">
              <a:extLst>
                <a:ext uri="{FF2B5EF4-FFF2-40B4-BE49-F238E27FC236}">
                  <a16:creationId xmlns:a16="http://schemas.microsoft.com/office/drawing/2014/main" id="{E16EA05B-ECC3-4ABC-B2A8-F3B3DCA7F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" y="3188"/>
              <a:ext cx="99" cy="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Oval 229">
              <a:extLst>
                <a:ext uri="{FF2B5EF4-FFF2-40B4-BE49-F238E27FC236}">
                  <a16:creationId xmlns:a16="http://schemas.microsoft.com/office/drawing/2014/main" id="{BF36A229-D9BD-4381-8BF2-DBA7723B6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" y="4872"/>
              <a:ext cx="97" cy="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Oval 230">
              <a:extLst>
                <a:ext uri="{FF2B5EF4-FFF2-40B4-BE49-F238E27FC236}">
                  <a16:creationId xmlns:a16="http://schemas.microsoft.com/office/drawing/2014/main" id="{8203BA5C-D63C-438C-AA1C-082BA2EFA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6" y="4064"/>
              <a:ext cx="97" cy="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Box 231">
              <a:extLst>
                <a:ext uri="{FF2B5EF4-FFF2-40B4-BE49-F238E27FC236}">
                  <a16:creationId xmlns:a16="http://schemas.microsoft.com/office/drawing/2014/main" id="{1783A250-136C-4557-AC4E-289216911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5" y="4533"/>
              <a:ext cx="613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/>
            </a:p>
          </p:txBody>
        </p:sp>
        <p:sp>
          <p:nvSpPr>
            <p:cNvPr id="30" name="Text Box 232">
              <a:extLst>
                <a:ext uri="{FF2B5EF4-FFF2-40B4-BE49-F238E27FC236}">
                  <a16:creationId xmlns:a16="http://schemas.microsoft.com/office/drawing/2014/main" id="{EFAE837A-DF81-4B12-81BA-57E875382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3" y="3716"/>
              <a:ext cx="613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/>
            </a:p>
          </p:txBody>
        </p:sp>
        <p:sp>
          <p:nvSpPr>
            <p:cNvPr id="31" name="Text Box 233">
              <a:extLst>
                <a:ext uri="{FF2B5EF4-FFF2-40B4-BE49-F238E27FC236}">
                  <a16:creationId xmlns:a16="http://schemas.microsoft.com/office/drawing/2014/main" id="{0AE4B393-8D11-4D1A-A42D-50B7D9AA0D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6" y="2840"/>
              <a:ext cx="613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32" name="Text Box 234">
              <a:extLst>
                <a:ext uri="{FF2B5EF4-FFF2-40B4-BE49-F238E27FC236}">
                  <a16:creationId xmlns:a16="http://schemas.microsoft.com/office/drawing/2014/main" id="{A9D4553C-9E2B-4933-9EAE-DB5A6EAF9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6" y="3746"/>
              <a:ext cx="613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33" name="Text Box 235">
              <a:extLst>
                <a:ext uri="{FF2B5EF4-FFF2-40B4-BE49-F238E27FC236}">
                  <a16:creationId xmlns:a16="http://schemas.microsoft.com/office/drawing/2014/main" id="{09983CBE-A657-43A6-BBD9-BD1C7CC8F8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6" y="4545"/>
              <a:ext cx="613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/>
            </a:p>
          </p:txBody>
        </p:sp>
        <p:sp>
          <p:nvSpPr>
            <p:cNvPr id="34" name="Oval 236">
              <a:extLst>
                <a:ext uri="{FF2B5EF4-FFF2-40B4-BE49-F238E27FC236}">
                  <a16:creationId xmlns:a16="http://schemas.microsoft.com/office/drawing/2014/main" id="{1188D94B-EE93-4047-9471-173C329E80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2" y="3188"/>
              <a:ext cx="99" cy="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Oval 237">
              <a:extLst>
                <a:ext uri="{FF2B5EF4-FFF2-40B4-BE49-F238E27FC236}">
                  <a16:creationId xmlns:a16="http://schemas.microsoft.com/office/drawing/2014/main" id="{13FC5218-9766-4BDA-BCEC-AD977CA16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2" y="4872"/>
              <a:ext cx="98" cy="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Oval 238">
              <a:extLst>
                <a:ext uri="{FF2B5EF4-FFF2-40B4-BE49-F238E27FC236}">
                  <a16:creationId xmlns:a16="http://schemas.microsoft.com/office/drawing/2014/main" id="{9F7BB5E7-5BAA-408E-A11B-12D262A4D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2" y="4064"/>
              <a:ext cx="98" cy="8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Box 239">
              <a:extLst>
                <a:ext uri="{FF2B5EF4-FFF2-40B4-BE49-F238E27FC236}">
                  <a16:creationId xmlns:a16="http://schemas.microsoft.com/office/drawing/2014/main" id="{457838A7-566A-4916-AE6A-C8DBF7239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2" y="2840"/>
              <a:ext cx="613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/>
            </a:p>
          </p:txBody>
        </p:sp>
        <p:sp>
          <p:nvSpPr>
            <p:cNvPr id="38" name="Text Box 240">
              <a:extLst>
                <a:ext uri="{FF2B5EF4-FFF2-40B4-BE49-F238E27FC236}">
                  <a16:creationId xmlns:a16="http://schemas.microsoft.com/office/drawing/2014/main" id="{D5C40803-E5FF-4E9B-9444-F50C43C82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2" y="3746"/>
              <a:ext cx="613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/>
            </a:p>
          </p:txBody>
        </p:sp>
        <p:sp>
          <p:nvSpPr>
            <p:cNvPr id="39" name="Text Box 241">
              <a:extLst>
                <a:ext uri="{FF2B5EF4-FFF2-40B4-BE49-F238E27FC236}">
                  <a16:creationId xmlns:a16="http://schemas.microsoft.com/office/drawing/2014/main" id="{9D9ECEAC-088F-475B-BE7D-37A35AE843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2" y="4545"/>
              <a:ext cx="613" cy="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/>
              <a:r>
                <a:rPr lang="en-US" altLang="zh-CN" sz="2000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/>
            </a:p>
          </p:txBody>
        </p:sp>
        <p:sp>
          <p:nvSpPr>
            <p:cNvPr id="40" name="Freeform 242">
              <a:extLst>
                <a:ext uri="{FF2B5EF4-FFF2-40B4-BE49-F238E27FC236}">
                  <a16:creationId xmlns:a16="http://schemas.microsoft.com/office/drawing/2014/main" id="{B8A35883-F7BF-49CE-AA9C-8D60638B0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" y="3222"/>
              <a:ext cx="834" cy="6"/>
            </a:xfrm>
            <a:custGeom>
              <a:avLst/>
              <a:gdLst>
                <a:gd name="T0" fmla="*/ 0 w 490"/>
                <a:gd name="T1" fmla="*/ 4 h 4"/>
                <a:gd name="T2" fmla="*/ 490 w 490"/>
                <a:gd name="T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90" h="4">
                  <a:moveTo>
                    <a:pt x="0" y="4"/>
                  </a:moveTo>
                  <a:lnTo>
                    <a:pt x="49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243">
              <a:extLst>
                <a:ext uri="{FF2B5EF4-FFF2-40B4-BE49-F238E27FC236}">
                  <a16:creationId xmlns:a16="http://schemas.microsoft.com/office/drawing/2014/main" id="{05946E13-0E81-4F30-B56C-9CFF95EC9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222"/>
              <a:ext cx="885" cy="592"/>
            </a:xfrm>
            <a:custGeom>
              <a:avLst/>
              <a:gdLst>
                <a:gd name="T0" fmla="*/ 0 w 520"/>
                <a:gd name="T1" fmla="*/ 384 h 384"/>
                <a:gd name="T2" fmla="*/ 520 w 520"/>
                <a:gd name="T3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20" h="384">
                  <a:moveTo>
                    <a:pt x="0" y="384"/>
                  </a:moveTo>
                  <a:lnTo>
                    <a:pt x="52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244">
              <a:extLst>
                <a:ext uri="{FF2B5EF4-FFF2-40B4-BE49-F238E27FC236}">
                  <a16:creationId xmlns:a16="http://schemas.microsoft.com/office/drawing/2014/main" id="{FFAD3E92-0F7C-4542-A128-36434EA29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4358"/>
              <a:ext cx="851" cy="556"/>
            </a:xfrm>
            <a:custGeom>
              <a:avLst/>
              <a:gdLst>
                <a:gd name="T0" fmla="*/ 0 w 500"/>
                <a:gd name="T1" fmla="*/ 0 h 360"/>
                <a:gd name="T2" fmla="*/ 500 w 500"/>
                <a:gd name="T3" fmla="*/ 36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00" h="360">
                  <a:moveTo>
                    <a:pt x="0" y="0"/>
                  </a:moveTo>
                  <a:lnTo>
                    <a:pt x="500" y="3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45">
              <a:extLst>
                <a:ext uri="{FF2B5EF4-FFF2-40B4-BE49-F238E27FC236}">
                  <a16:creationId xmlns:a16="http://schemas.microsoft.com/office/drawing/2014/main" id="{8D5E3F64-A27E-4DDB-8435-C077DFC65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" y="3274"/>
              <a:ext cx="936" cy="1619"/>
            </a:xfrm>
            <a:custGeom>
              <a:avLst/>
              <a:gdLst>
                <a:gd name="T0" fmla="*/ 0 w 550"/>
                <a:gd name="T1" fmla="*/ 0 h 1050"/>
                <a:gd name="T2" fmla="*/ 550 w 550"/>
                <a:gd name="T3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1050">
                  <a:moveTo>
                    <a:pt x="0" y="0"/>
                  </a:moveTo>
                  <a:lnTo>
                    <a:pt x="550" y="105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46">
              <a:extLst>
                <a:ext uri="{FF2B5EF4-FFF2-40B4-BE49-F238E27FC236}">
                  <a16:creationId xmlns:a16="http://schemas.microsoft.com/office/drawing/2014/main" id="{4E1D46DA-9104-45F2-93BD-1FCE5FAE1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1" y="3259"/>
              <a:ext cx="919" cy="848"/>
            </a:xfrm>
            <a:custGeom>
              <a:avLst/>
              <a:gdLst>
                <a:gd name="T0" fmla="*/ 0 w 540"/>
                <a:gd name="T1" fmla="*/ 550 h 550"/>
                <a:gd name="T2" fmla="*/ 540 w 540"/>
                <a:gd name="T3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40" h="550">
                  <a:moveTo>
                    <a:pt x="0" y="550"/>
                  </a:moveTo>
                  <a:lnTo>
                    <a:pt x="54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47">
              <a:extLst>
                <a:ext uri="{FF2B5EF4-FFF2-40B4-BE49-F238E27FC236}">
                  <a16:creationId xmlns:a16="http://schemas.microsoft.com/office/drawing/2014/main" id="{81AD268D-62EB-49FD-B7B4-2ABB32B84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1" y="4138"/>
              <a:ext cx="937" cy="755"/>
            </a:xfrm>
            <a:custGeom>
              <a:avLst/>
              <a:gdLst>
                <a:gd name="T0" fmla="*/ 0 w 550"/>
                <a:gd name="T1" fmla="*/ 490 h 490"/>
                <a:gd name="T2" fmla="*/ 550 w 550"/>
                <a:gd name="T3" fmla="*/ 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50" h="490">
                  <a:moveTo>
                    <a:pt x="0" y="490"/>
                  </a:moveTo>
                  <a:lnTo>
                    <a:pt x="55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48">
              <a:extLst>
                <a:ext uri="{FF2B5EF4-FFF2-40B4-BE49-F238E27FC236}">
                  <a16:creationId xmlns:a16="http://schemas.microsoft.com/office/drawing/2014/main" id="{8F2D3B56-CBEE-4AB1-9B36-FB2C63F75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1" y="2750"/>
              <a:ext cx="1050" cy="2"/>
            </a:xfrm>
            <a:custGeom>
              <a:avLst/>
              <a:gdLst>
                <a:gd name="T0" fmla="*/ 0 w 617"/>
                <a:gd name="T1" fmla="*/ 0 h 1"/>
                <a:gd name="T2" fmla="*/ 617 w 617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17" h="1">
                  <a:moveTo>
                    <a:pt x="0" y="0"/>
                  </a:moveTo>
                  <a:lnTo>
                    <a:pt x="617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49">
              <a:extLst>
                <a:ext uri="{FF2B5EF4-FFF2-40B4-BE49-F238E27FC236}">
                  <a16:creationId xmlns:a16="http://schemas.microsoft.com/office/drawing/2014/main" id="{C712A125-B530-4218-841D-1E3879E0D6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6" y="2766"/>
              <a:ext cx="818" cy="1"/>
            </a:xfrm>
            <a:custGeom>
              <a:avLst/>
              <a:gdLst>
                <a:gd name="T0" fmla="*/ 0 w 480"/>
                <a:gd name="T1" fmla="*/ 0 h 1"/>
                <a:gd name="T2" fmla="*/ 480 w 48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480" h="1">
                  <a:moveTo>
                    <a:pt x="0" y="0"/>
                  </a:moveTo>
                  <a:lnTo>
                    <a:pt x="48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250">
              <a:extLst>
                <a:ext uri="{FF2B5EF4-FFF2-40B4-BE49-F238E27FC236}">
                  <a16:creationId xmlns:a16="http://schemas.microsoft.com/office/drawing/2014/main" id="{FE009459-C1ED-4D3C-882A-814A1E1A31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5" y="2750"/>
              <a:ext cx="1260" cy="2"/>
            </a:xfrm>
            <a:custGeom>
              <a:avLst/>
              <a:gdLst>
                <a:gd name="T0" fmla="*/ 0 w 740"/>
                <a:gd name="T1" fmla="*/ 0 h 1"/>
                <a:gd name="T2" fmla="*/ 740 w 740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40" h="1">
                  <a:moveTo>
                    <a:pt x="0" y="0"/>
                  </a:moveTo>
                  <a:lnTo>
                    <a:pt x="74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 type="none" w="med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Oval 251">
              <a:extLst>
                <a:ext uri="{FF2B5EF4-FFF2-40B4-BE49-F238E27FC236}">
                  <a16:creationId xmlns:a16="http://schemas.microsoft.com/office/drawing/2014/main" id="{D64D36EB-5704-489F-9E5D-FCAF3A1EA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3188"/>
              <a:ext cx="98" cy="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EB1E6EF7-C5FC-1FFD-964C-A0C6301DE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35798822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93D4ED-5709-48A4-94A1-ED752C3B50C1}"/>
              </a:ext>
            </a:extLst>
          </p:cNvPr>
          <p:cNvSpPr txBox="1">
            <a:spLocks noChangeArrowheads="1"/>
          </p:cNvSpPr>
          <p:nvPr/>
        </p:nvSpPr>
        <p:spPr>
          <a:xfrm>
            <a:off x="2147854" y="1411094"/>
            <a:ext cx="8094742" cy="5638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对任何的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(1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m,1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n)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aseline="2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en-US" altLang="zh-CN" sz="2400" baseline="-25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(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bB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bSc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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Rb</a:t>
            </a:r>
            <a:r>
              <a:rPr lang="en-US" altLang="zh-CN" sz="2400" i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400" i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i1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=1) 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=1)  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i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i1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2j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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i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i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=1        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     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ik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kj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)=1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1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即　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endParaRPr lang="en-US" altLang="zh-CN" sz="2400" baseline="-25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因此　　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400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m×n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所以　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o S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M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400" baseline="2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400" baseline="-25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7EC673D-49C9-4F2B-98D5-3CF151B11096}"/>
              </a:ext>
            </a:extLst>
          </p:cNvPr>
          <p:cNvSpPr/>
          <p:nvPr/>
        </p:nvSpPr>
        <p:spPr>
          <a:xfrm>
            <a:off x="2333779" y="738188"/>
            <a:ext cx="29017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32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o S 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M</a:t>
            </a:r>
            <a:r>
              <a:rPr lang="en-US" altLang="zh-CN" sz="32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3200" baseline="2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zh-CN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3200" baseline="-25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3200" dirty="0">
              <a:solidFill>
                <a:srgbClr val="C00000"/>
              </a:solidFill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1B2072B-6E46-4440-BA5F-6C7F397016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8757" y="4572000"/>
          <a:ext cx="381000" cy="589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406080" progId="Equation.DSMT4">
                  <p:embed/>
                </p:oleObj>
              </mc:Choice>
              <mc:Fallback>
                <p:oleObj name="Equation" r:id="rId4" imgW="190440" imgH="4060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81B2072B-6E46-4440-BA5F-6C7F397016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757" y="4572000"/>
                        <a:ext cx="381000" cy="5891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0D4E6B27-2116-590A-2F87-38E7168302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739710264"/>
      </p:ext>
    </p:extLst>
  </p:cSld>
  <p:clrMapOvr>
    <a:masterClrMapping/>
  </p:clrMapOvr>
  <p:transition spd="slow" advTm="0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7341613-08E6-4B6F-991B-684F3BBCE284}"/>
              </a:ext>
            </a:extLst>
          </p:cNvPr>
          <p:cNvSpPr/>
          <p:nvPr/>
        </p:nvSpPr>
        <p:spPr>
          <a:xfrm>
            <a:off x="1751013" y="1148215"/>
            <a:ext cx="930626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关系的复合幂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(nth power)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设二元关系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。这里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是一个非空的集合，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是自然数集。规定：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=I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n+1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特别地：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869476-071B-43F2-9D87-672E1AED60C3}"/>
              </a:ext>
            </a:extLst>
          </p:cNvPr>
          <p:cNvSpPr/>
          <p:nvPr/>
        </p:nvSpPr>
        <p:spPr>
          <a:xfrm>
            <a:off x="1437070" y="4029718"/>
            <a:ext cx="853659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设二元关系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A×A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,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是一个非空的集合，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是自然数集。则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交换律：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特别地：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交换律：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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39944188-04FC-33E2-490E-0305159252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835411551"/>
      </p:ext>
    </p:extLst>
  </p:cSld>
  <p:clrMapOvr>
    <a:masterClrMapping/>
  </p:clrMapOvr>
  <p:transition spd="slow" advTm="0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5A2A709-B6F6-4C92-9EF8-E31B5842FF94}"/>
              </a:ext>
            </a:extLst>
          </p:cNvPr>
          <p:cNvSpPr/>
          <p:nvPr/>
        </p:nvSpPr>
        <p:spPr>
          <a:xfrm>
            <a:off x="1837571" y="1056042"/>
            <a:ext cx="8687896" cy="4745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；另一个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等式：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m+n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同理可证。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归纳变量选取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（让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固定）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n=0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     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=I)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=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n=1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    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                    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m+1            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(3))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结论成立；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n=k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时，假设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结论成立。即  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m+k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n=k+1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时，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k+1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)       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(3))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                          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(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800" baseline="300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)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      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结合律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=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m+k</a:t>
            </a:r>
            <a:r>
              <a:rPr lang="en-US" altLang="zh-CN" sz="2800" baseline="2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err="1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            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归纳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假设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                            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m+k+1                       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Arial Unicode MS" pitchFamily="34" charset="-122"/>
                <a:cs typeface="Times New Roman" panose="02020603050405020304" pitchFamily="18" charset="0"/>
              </a:rPr>
              <a:t>(3))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B7C52C-69A3-3F20-ACB5-CECE8469F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719754095"/>
      </p:ext>
    </p:extLst>
  </p:cSld>
  <p:clrMapOvr>
    <a:masterClrMapping/>
  </p:clrMapOvr>
  <p:transition spd="slow" advTm="0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6EB2684-5226-4F96-BBDF-8BF07A1D1AD6}"/>
              </a:ext>
            </a:extLst>
          </p:cNvPr>
          <p:cNvSpPr/>
          <p:nvPr/>
        </p:nvSpPr>
        <p:spPr>
          <a:xfrm>
            <a:off x="1304719" y="1625337"/>
            <a:ext cx="98544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ea typeface="楷体_GB2312" pitchFamily="49" charset="-122"/>
              </a:rPr>
              <a:t>一般地   </a:t>
            </a:r>
            <a:r>
              <a:rPr lang="en-US" altLang="zh-CN" sz="2800" dirty="0">
                <a:ea typeface="楷体_GB2312" pitchFamily="49" charset="-122"/>
              </a:rPr>
              <a:t>a </a:t>
            </a:r>
            <a:r>
              <a:rPr lang="en-US" altLang="zh-CN" sz="2800" dirty="0" err="1">
                <a:ea typeface="Arial Unicode MS" pitchFamily="34" charset="-122"/>
              </a:rPr>
              <a:t>R</a:t>
            </a:r>
            <a:r>
              <a:rPr lang="en-US" altLang="zh-CN" sz="2800" baseline="30000" dirty="0" err="1">
                <a:ea typeface="Arial Unicode MS" pitchFamily="34" charset="-122"/>
              </a:rPr>
              <a:t>n</a:t>
            </a:r>
            <a:r>
              <a:rPr lang="en-US" altLang="zh-CN" sz="2800" dirty="0" err="1"/>
              <a:t>b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(c</a:t>
            </a:r>
            <a:r>
              <a:rPr lang="en-US" altLang="zh-CN" sz="2800" baseline="-25000" dirty="0"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ym typeface="Symbol" panose="05050102010706020507" pitchFamily="18" charset="2"/>
              </a:rPr>
              <a:t>)(c</a:t>
            </a:r>
            <a:r>
              <a:rPr lang="en-US" altLang="zh-CN" sz="2800" baseline="-25000" dirty="0">
                <a:sym typeface="Symbol" panose="05050102010706020507" pitchFamily="18" charset="2"/>
              </a:rPr>
              <a:t>2</a:t>
            </a:r>
            <a:r>
              <a:rPr lang="en-US" altLang="zh-CN" sz="2800" dirty="0">
                <a:sym typeface="Symbol" panose="05050102010706020507" pitchFamily="18" charset="2"/>
              </a:rPr>
              <a:t>) (c</a:t>
            </a:r>
            <a:r>
              <a:rPr lang="en-US" altLang="zh-CN" sz="2800" baseline="-25000" dirty="0">
                <a:sym typeface="Symbol" panose="05050102010706020507" pitchFamily="18" charset="2"/>
              </a:rPr>
              <a:t>n-1</a:t>
            </a:r>
            <a:r>
              <a:rPr lang="en-US" altLang="zh-CN" sz="2800" dirty="0">
                <a:sym typeface="Symbol" panose="05050102010706020507" pitchFamily="18" charset="2"/>
              </a:rPr>
              <a:t>)(aRc</a:t>
            </a:r>
            <a:r>
              <a:rPr lang="en-US" altLang="zh-CN" sz="2800" baseline="-25000" dirty="0">
                <a:sym typeface="Symbol" panose="05050102010706020507" pitchFamily="18" charset="2"/>
              </a:rPr>
              <a:t>1 </a:t>
            </a:r>
            <a:r>
              <a:rPr lang="en-US" altLang="zh-CN" sz="2800" dirty="0">
                <a:sym typeface="Symbol" panose="05050102010706020507" pitchFamily="18" charset="2"/>
              </a:rPr>
              <a:t> c</a:t>
            </a:r>
            <a:r>
              <a:rPr lang="en-US" altLang="zh-CN" sz="2800" baseline="-25000" dirty="0">
                <a:sym typeface="Symbol" panose="05050102010706020507" pitchFamily="18" charset="2"/>
              </a:rPr>
              <a:t>1</a:t>
            </a:r>
            <a:r>
              <a:rPr lang="en-US" altLang="zh-CN" sz="2800" dirty="0">
                <a:sym typeface="Symbol" panose="05050102010706020507" pitchFamily="18" charset="2"/>
              </a:rPr>
              <a:t>Rc</a:t>
            </a:r>
            <a:r>
              <a:rPr lang="en-US" altLang="zh-CN" sz="2800" baseline="-25000" dirty="0">
                <a:sym typeface="Symbol" panose="05050102010706020507" pitchFamily="18" charset="2"/>
              </a:rPr>
              <a:t>2 </a:t>
            </a:r>
            <a:r>
              <a:rPr lang="en-US" altLang="zh-CN" sz="2800" dirty="0">
                <a:sym typeface="Symbol" panose="05050102010706020507" pitchFamily="18" charset="2"/>
              </a:rPr>
              <a:t>   c</a:t>
            </a:r>
            <a:r>
              <a:rPr lang="en-US" altLang="zh-CN" sz="2800" baseline="-25000" dirty="0">
                <a:sym typeface="Symbol" panose="05050102010706020507" pitchFamily="18" charset="2"/>
              </a:rPr>
              <a:t>n-1</a:t>
            </a:r>
            <a:r>
              <a:rPr lang="en-US" altLang="zh-CN" sz="2800" dirty="0">
                <a:sym typeface="Symbol" panose="05050102010706020507" pitchFamily="18" charset="2"/>
              </a:rPr>
              <a:t>Rb)</a:t>
            </a:r>
            <a:r>
              <a:rPr lang="en-US" altLang="zh-CN" sz="2800" dirty="0">
                <a:ea typeface="Arial Unicode MS" pitchFamily="34" charset="-122"/>
              </a:rPr>
              <a:t> </a:t>
            </a:r>
            <a:r>
              <a:rPr lang="zh-CN" altLang="en-US" sz="2800" dirty="0">
                <a:ea typeface="楷体_GB2312" pitchFamily="49" charset="-122"/>
              </a:rPr>
              <a:t>；</a:t>
            </a:r>
          </a:p>
          <a:p>
            <a:r>
              <a:rPr lang="zh-CN" altLang="en-US" sz="2800" dirty="0">
                <a:ea typeface="楷体_GB2312" pitchFamily="49" charset="-122"/>
              </a:rPr>
              <a:t>特别地　</a:t>
            </a:r>
            <a:r>
              <a:rPr lang="en-US" altLang="zh-CN" sz="2800" dirty="0">
                <a:ea typeface="楷体_GB2312" pitchFamily="49" charset="-122"/>
              </a:rPr>
              <a:t>a </a:t>
            </a:r>
            <a:r>
              <a:rPr lang="en-US" altLang="zh-CN" sz="2800" dirty="0">
                <a:ea typeface="Arial Unicode MS" pitchFamily="34" charset="-122"/>
              </a:rPr>
              <a:t>R</a:t>
            </a:r>
            <a:r>
              <a:rPr lang="zh-CN" altLang="en-US" sz="2800" baseline="30000" dirty="0">
                <a:ea typeface="Arial Unicode MS" pitchFamily="34" charset="-122"/>
              </a:rPr>
              <a:t>２</a:t>
            </a:r>
            <a:r>
              <a:rPr lang="en-US" altLang="zh-CN" sz="2800" dirty="0"/>
              <a:t>b </a:t>
            </a:r>
            <a:r>
              <a:rPr lang="en-US" altLang="zh-CN" sz="2800" dirty="0">
                <a:sym typeface="Symbol" panose="05050102010706020507" pitchFamily="18" charset="2"/>
              </a:rPr>
              <a:t>(c) (</a:t>
            </a:r>
            <a:r>
              <a:rPr lang="en-US" altLang="zh-CN" sz="2800" dirty="0" err="1">
                <a:sym typeface="Symbol" panose="05050102010706020507" pitchFamily="18" charset="2"/>
              </a:rPr>
              <a:t>aRc</a:t>
            </a:r>
            <a:r>
              <a:rPr lang="en-US" altLang="zh-CN" sz="2800" dirty="0">
                <a:sym typeface="Symbol" panose="05050102010706020507" pitchFamily="18" charset="2"/>
              </a:rPr>
              <a:t> </a:t>
            </a:r>
            <a:r>
              <a:rPr lang="en-US" altLang="zh-CN" sz="2800" dirty="0" err="1">
                <a:sym typeface="Symbol" panose="05050102010706020507" pitchFamily="18" charset="2"/>
              </a:rPr>
              <a:t>cR</a:t>
            </a:r>
            <a:r>
              <a:rPr lang="en-US" altLang="zh-CN" sz="2800" dirty="0">
                <a:sym typeface="Symbol" panose="05050102010706020507" pitchFamily="18" charset="2"/>
              </a:rPr>
              <a:t> b) 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F6B5142-6615-4127-8CD2-0D1F5061AE98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3233840"/>
            <a:ext cx="5181600" cy="2728913"/>
            <a:chOff x="1488" y="2496"/>
            <a:chExt cx="3264" cy="171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CCDF26-E385-4BCC-BF71-1268DD561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21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92C2646-2BA5-42B3-ADB1-5723F2AA1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2928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F165D3-E3B8-4B44-9708-B94F0DD5A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73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350D0F8-DD59-499C-983E-595C1C52C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78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72DED00-E5AE-4446-83D3-124D88276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97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3F36230-1320-4AA2-9EE5-28DB5BC54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326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BD20BB39-E72C-4B76-9A26-0EDEDA7750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3264"/>
              <a:ext cx="2976" cy="48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89E0A8E8-29DE-4160-840C-40F64D3234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6" y="2976"/>
              <a:ext cx="336" cy="288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CE8A291B-C3E3-4D52-8494-108072F8C8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2784"/>
              <a:ext cx="432" cy="144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26D5F948-DB02-4382-B300-B66311534E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832"/>
              <a:ext cx="384" cy="144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9EDEA21E-B25D-42D2-93C2-6269ACA96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976"/>
              <a:ext cx="288" cy="288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7" name="AutoShape 16">
              <a:extLst>
                <a:ext uri="{FF2B5EF4-FFF2-40B4-BE49-F238E27FC236}">
                  <a16:creationId xmlns:a16="http://schemas.microsoft.com/office/drawing/2014/main" id="{F4A62F05-F466-4752-AAD9-E28650362453}"/>
                </a:ext>
              </a:extLst>
            </p:cNvPr>
            <p:cNvCxnSpPr>
              <a:cxnSpLocks noChangeShapeType="1"/>
              <a:stCxn id="8" idx="7"/>
              <a:endCxn id="9" idx="0"/>
            </p:cNvCxnSpPr>
            <p:nvPr/>
          </p:nvCxnSpPr>
          <p:spPr bwMode="auto">
            <a:xfrm rot="5400000" flipV="1">
              <a:off x="3108" y="2028"/>
              <a:ext cx="41" cy="1471"/>
            </a:xfrm>
            <a:prstGeom prst="curvedConnector3">
              <a:avLst>
                <a:gd name="adj1" fmla="val -368292"/>
              </a:avLst>
            </a:prstGeom>
            <a:noFill/>
            <a:ln w="12700">
              <a:solidFill>
                <a:schemeClr val="accent1"/>
              </a:solidFill>
              <a:prstDash val="lgDash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0CCDB442-E0AE-4B7E-AC88-A0EA67E500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216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F0C821D7-4DFC-45DD-B137-196085C02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688"/>
              <a:ext cx="24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 dirty="0">
                  <a:sym typeface="Symbol" panose="05050102010706020507" pitchFamily="18" charset="2"/>
                </a:rPr>
                <a:t>c</a:t>
              </a:r>
              <a:r>
                <a:rPr lang="en-US" altLang="zh-CN" sz="1800" baseline="-25000" dirty="0"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EBCBABC0-9628-422D-ADC4-B9555CFF04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496"/>
              <a:ext cx="28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sym typeface="Symbol" panose="05050102010706020507" pitchFamily="18" charset="2"/>
                </a:rPr>
                <a:t>c</a:t>
              </a:r>
              <a:r>
                <a:rPr lang="en-US" altLang="zh-CN" sz="1800" baseline="-25000"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AE97D0C7-456D-43F3-BC21-31324CB2A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3312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9CA556F0-2BB7-4C07-9C0C-099BF106C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36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sym typeface="Symbol" panose="05050102010706020507" pitchFamily="18" charset="2"/>
                </a:rPr>
                <a:t>c</a:t>
              </a:r>
              <a:r>
                <a:rPr lang="en-US" altLang="zh-CN" sz="1800" baseline="-25000">
                  <a:sym typeface="Symbol" panose="05050102010706020507" pitchFamily="18" charset="2"/>
                </a:rPr>
                <a:t>n-1</a:t>
              </a:r>
            </a:p>
          </p:txBody>
        </p:sp>
        <p:sp>
          <p:nvSpPr>
            <p:cNvPr id="23" name="Text Box 22">
              <a:extLst>
                <a:ext uri="{FF2B5EF4-FFF2-40B4-BE49-F238E27FC236}">
                  <a16:creationId xmlns:a16="http://schemas.microsoft.com/office/drawing/2014/main" id="{C1C6FE04-3258-45A3-8074-F166F2F7F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2544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sym typeface="Symbol" panose="05050102010706020507" pitchFamily="18" charset="2"/>
                </a:rPr>
                <a:t>c</a:t>
              </a:r>
              <a:r>
                <a:rPr lang="en-US" altLang="zh-CN" sz="1800" baseline="-25000">
                  <a:sym typeface="Symbol" panose="05050102010706020507" pitchFamily="18" charset="2"/>
                </a:rPr>
                <a:t>n-2</a:t>
              </a:r>
            </a:p>
          </p:txBody>
        </p:sp>
        <p:sp>
          <p:nvSpPr>
            <p:cNvPr id="24" name="Text Box 23">
              <a:extLst>
                <a:ext uri="{FF2B5EF4-FFF2-40B4-BE49-F238E27FC236}">
                  <a16:creationId xmlns:a16="http://schemas.microsoft.com/office/drawing/2014/main" id="{5EDB653E-CEAC-4CA6-A050-11F8BFA0C4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264"/>
              <a:ext cx="38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ea typeface="Arial Unicode MS" pitchFamily="34" charset="-122"/>
                </a:rPr>
                <a:t>R</a:t>
              </a:r>
              <a:r>
                <a:rPr lang="en-US" altLang="zh-CN" sz="1800" baseline="30000">
                  <a:ea typeface="Arial Unicode MS" pitchFamily="34" charset="-122"/>
                </a:rPr>
                <a:t>n</a:t>
              </a:r>
            </a:p>
          </p:txBody>
        </p:sp>
        <p:sp>
          <p:nvSpPr>
            <p:cNvPr id="25" name="Text Box 24">
              <a:extLst>
                <a:ext uri="{FF2B5EF4-FFF2-40B4-BE49-F238E27FC236}">
                  <a16:creationId xmlns:a16="http://schemas.microsoft.com/office/drawing/2014/main" id="{0251BAE8-8E02-412F-8CA3-D86587957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928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9BADE86-3389-456E-81F7-0D587EEA0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640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20208A2-5308-44BE-A952-181AC0578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736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05C8F16-FF46-4384-B76D-FAC533149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928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D768909-F64B-4887-8639-E2A1FD4C2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544"/>
              <a:ext cx="22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0738E83-FC28-44D9-A985-55416633B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93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0DA3BB73-0333-4FCC-B6F5-D3A8B8206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600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DBA49E4-B30E-449E-81DB-83A3E6626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398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 cap="sq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A77C2B46-CE51-4986-A2E2-3852DB5DEC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0" y="3648"/>
              <a:ext cx="576" cy="288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F5F5E545-6B81-4D1D-B886-EB1B34151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648"/>
              <a:ext cx="432" cy="336"/>
            </a:xfrm>
            <a:prstGeom prst="line">
              <a:avLst/>
            </a:prstGeom>
            <a:noFill/>
            <a:ln w="12700" cap="sq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8CA1C68F-C986-4C5C-886D-F5A15ED2D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984"/>
              <a:ext cx="1056" cy="0"/>
            </a:xfrm>
            <a:prstGeom prst="line">
              <a:avLst/>
            </a:prstGeom>
            <a:noFill/>
            <a:ln w="12700" cap="sq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5E399D6C-74DA-4211-953C-3665F2AD9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840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a</a:t>
              </a:r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1393DE58-C52D-488F-9431-3CE890CB5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3888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b</a:t>
              </a:r>
            </a:p>
          </p:txBody>
        </p:sp>
        <p:sp>
          <p:nvSpPr>
            <p:cNvPr id="38" name="Text Box 37">
              <a:extLst>
                <a:ext uri="{FF2B5EF4-FFF2-40B4-BE49-F238E27FC236}">
                  <a16:creationId xmlns:a16="http://schemas.microsoft.com/office/drawing/2014/main" id="{72F2B0A5-A665-4960-8FB9-15E3CDE480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3456"/>
              <a:ext cx="1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c</a:t>
              </a:r>
            </a:p>
          </p:txBody>
        </p:sp>
        <p:sp>
          <p:nvSpPr>
            <p:cNvPr id="39" name="Text Box 38">
              <a:extLst>
                <a:ext uri="{FF2B5EF4-FFF2-40B4-BE49-F238E27FC236}">
                  <a16:creationId xmlns:a16="http://schemas.microsoft.com/office/drawing/2014/main" id="{795558C9-F24B-4C67-BEAD-574FA07DA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984"/>
              <a:ext cx="43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 sz="1800">
                  <a:ea typeface="Arial Unicode MS" pitchFamily="34" charset="-122"/>
                </a:rPr>
                <a:t>R</a:t>
              </a:r>
              <a:r>
                <a:rPr lang="zh-CN" altLang="en-US" sz="1800" baseline="30000">
                  <a:ea typeface="Arial Unicode MS" pitchFamily="34" charset="-122"/>
                </a:rPr>
                <a:t>２</a:t>
              </a:r>
            </a:p>
          </p:txBody>
        </p:sp>
        <p:sp>
          <p:nvSpPr>
            <p:cNvPr id="40" name="Text Box 39">
              <a:extLst>
                <a:ext uri="{FF2B5EF4-FFF2-40B4-BE49-F238E27FC236}">
                  <a16:creationId xmlns:a16="http://schemas.microsoft.com/office/drawing/2014/main" id="{9AB0C001-DCBD-4735-B396-3F0A016994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60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  <p:sp>
          <p:nvSpPr>
            <p:cNvPr id="41" name="Text Box 40">
              <a:extLst>
                <a:ext uri="{FF2B5EF4-FFF2-40B4-BE49-F238E27FC236}">
                  <a16:creationId xmlns:a16="http://schemas.microsoft.com/office/drawing/2014/main" id="{FDDB2A24-D368-4CCD-BBCE-C860891887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600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00000"/>
                </a:lnSpc>
                <a:spcBef>
                  <a:spcPct val="50000"/>
                </a:spcBef>
              </a:pPr>
              <a:r>
                <a:rPr lang="en-US" altLang="zh-CN"/>
                <a:t>R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7A4039F6-3E4B-E32D-BC37-22F506EC1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715745622"/>
      </p:ext>
    </p:extLst>
  </p:cSld>
  <p:clrMapOvr>
    <a:masterClrMapping/>
  </p:clrMapOvr>
  <p:transition spd="slow" advTm="0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A272EC6-0F02-43D7-8EE5-3898482EA38E}"/>
              </a:ext>
            </a:extLst>
          </p:cNvPr>
          <p:cNvSpPr txBox="1"/>
          <p:nvPr/>
        </p:nvSpPr>
        <p:spPr>
          <a:xfrm>
            <a:off x="1571625" y="787793"/>
            <a:ext cx="3295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C00000"/>
                </a:solidFill>
              </a:rPr>
              <a:t>关系的逆运算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A8EF270-5A76-4EA4-BD9B-22A8D4E2C0B4}"/>
              </a:ext>
            </a:extLst>
          </p:cNvPr>
          <p:cNvSpPr/>
          <p:nvPr/>
        </p:nvSpPr>
        <p:spPr>
          <a:xfrm>
            <a:off x="2363844" y="1588628"/>
            <a:ext cx="7128811" cy="3258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是两个非空的集合。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将二元关系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 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BaAa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b}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B×A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称为关系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的逆关系，记为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这种从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的运算叫做关系的逆运算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78E5E2-7BCC-4408-9B66-39485A43A792}"/>
              </a:ext>
            </a:extLst>
          </p:cNvPr>
          <p:cNvSpPr/>
          <p:nvPr/>
        </p:nvSpPr>
        <p:spPr>
          <a:xfrm>
            <a:off x="2363844" y="5269372"/>
            <a:ext cx="7885330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显然，对任何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B×A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；并且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=M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　　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2B51AC09-3997-E52D-6EF6-0B606209D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095098171"/>
      </p:ext>
    </p:extLst>
  </p:cSld>
  <p:clrMapOvr>
    <a:masterClrMapping/>
  </p:clrMapOvr>
  <p:transition spd="slow" advTm="0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8C9A92C-D197-47D2-AA5E-84BC5E4769B1}"/>
              </a:ext>
            </a:extLst>
          </p:cNvPr>
          <p:cNvSpPr/>
          <p:nvPr/>
        </p:nvSpPr>
        <p:spPr>
          <a:xfrm>
            <a:off x="2225698" y="1140614"/>
            <a:ext cx="6096000" cy="196310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B={1,2}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。则关系　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R={(a,1),(a,2),(b,2),(c,1)}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的逆关系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={(1,a),(2,a),(2,b),(1,c)}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5E166E-A31A-83A8-E045-E0B7E3FB6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824890996"/>
      </p:ext>
    </p:extLst>
  </p:cSld>
  <p:clrMapOvr>
    <a:masterClrMapping/>
  </p:clrMapOvr>
  <p:transition spd="slow" advTm="0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E312BA9-E27E-4AE9-B674-629FF54288E1}"/>
              </a:ext>
            </a:extLst>
          </p:cNvPr>
          <p:cNvSpPr/>
          <p:nvPr/>
        </p:nvSpPr>
        <p:spPr>
          <a:xfrm>
            <a:off x="1751013" y="1004510"/>
            <a:ext cx="936651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逆运算基本定理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设两个关系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A×B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，这里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为非空集合。则有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反身律：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保序性：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 S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 S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分配律：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　　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分配律：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S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 　　 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(5)(X×Y)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=Y×X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(6)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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(7)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交换律：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)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)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　　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（逆与余的）；</a:t>
            </a:r>
          </a:p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分配律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(R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-S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(9)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鞋袜律：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T)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aseline="2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771D44B-E698-0A73-86E3-B113460E8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085336460"/>
      </p:ext>
    </p:extLst>
  </p:cSld>
  <p:clrMapOvr>
    <a:masterClrMapping/>
  </p:clrMapOvr>
  <p:transition spd="slow" advTm="0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46AB72A-3D66-4E12-A48F-B6D734DED388}"/>
              </a:ext>
            </a:extLst>
          </p:cNvPr>
          <p:cNvSpPr txBox="1"/>
          <p:nvPr/>
        </p:nvSpPr>
        <p:spPr>
          <a:xfrm>
            <a:off x="1751012" y="738188"/>
            <a:ext cx="64600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</a:rPr>
              <a:t>关系的性质</a:t>
            </a:r>
          </a:p>
        </p:txBody>
      </p:sp>
      <p:sp>
        <p:nvSpPr>
          <p:cNvPr id="5" name="内容占位符 50178">
            <a:extLst>
              <a:ext uri="{FF2B5EF4-FFF2-40B4-BE49-F238E27FC236}">
                <a16:creationId xmlns:a16="http://schemas.microsoft.com/office/drawing/2014/main" id="{A700869D-3796-4887-ACB4-6DF0C2EF8ED1}"/>
              </a:ext>
            </a:extLst>
          </p:cNvPr>
          <p:cNvSpPr txBox="1">
            <a:spLocks/>
          </p:cNvSpPr>
          <p:nvPr/>
        </p:nvSpPr>
        <p:spPr>
          <a:xfrm>
            <a:off x="1981200" y="1540049"/>
            <a:ext cx="8229600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</a:pP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自反性(</a:t>
            </a:r>
            <a:r>
              <a:rPr lang="en-US" altLang="x-none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Reflexivity</a:t>
            </a: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反自反性(</a:t>
            </a:r>
            <a:r>
              <a:rPr lang="en-US" altLang="x-none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Anti-reflexivity</a:t>
            </a: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60000"/>
              </a:lnSpc>
            </a:pP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对称性(</a:t>
            </a:r>
            <a:r>
              <a:rPr lang="en-US" altLang="x-none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Symmetry</a:t>
            </a: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反对称性(</a:t>
            </a:r>
            <a:r>
              <a:rPr lang="en-US" altLang="x-none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Anti-symmetry</a:t>
            </a: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传递性(</a:t>
            </a:r>
            <a:r>
              <a:rPr lang="en-US" altLang="x-none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Transitivity</a:t>
            </a:r>
            <a:r>
              <a:rPr lang="zh-CN" altLang="en-US" sz="320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3200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D3D701C7-285F-D87D-4BC2-0C0D5C862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37370400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51202">
            <a:extLst>
              <a:ext uri="{FF2B5EF4-FFF2-40B4-BE49-F238E27FC236}">
                <a16:creationId xmlns:a16="http://schemas.microsoft.com/office/drawing/2014/main" id="{9A822A2E-AA21-4FF6-863E-B27519CAD81A}"/>
              </a:ext>
            </a:extLst>
          </p:cNvPr>
          <p:cNvSpPr txBox="1">
            <a:spLocks/>
          </p:cNvSpPr>
          <p:nvPr/>
        </p:nvSpPr>
        <p:spPr>
          <a:xfrm>
            <a:off x="1534600" y="542303"/>
            <a:ext cx="9787532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A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说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自反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的(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Reflexive),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 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x( </a:t>
            </a:r>
            <a:r>
              <a:rPr lang="en-US" altLang="x-none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xA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 </a:t>
            </a:r>
            <a:r>
              <a:rPr lang="en-US" altLang="x-none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xRx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)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.</a:t>
            </a:r>
          </a:p>
          <a:p>
            <a:pPr>
              <a:lnSpc>
                <a:spcPct val="155000"/>
              </a:lnSpc>
              <a:buNone/>
            </a:pP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非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自反的 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 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x( </a:t>
            </a:r>
            <a:r>
              <a:rPr lang="en-US" altLang="x-none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xA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 </a:t>
            </a:r>
            <a:r>
              <a:rPr lang="en-US" altLang="x-none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xRx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</a:p>
          <a:p>
            <a:pPr>
              <a:lnSpc>
                <a:spcPct val="15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性质：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是自反的</a:t>
            </a:r>
          </a:p>
          <a:p>
            <a:pPr>
              <a:lnSpc>
                <a:spcPct val="15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 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en-US" altLang="x-none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A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R</a:t>
            </a:r>
          </a:p>
          <a:p>
            <a:pPr>
              <a:lnSpc>
                <a:spcPct val="15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 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M( R 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主对角线上的元素全为1</a:t>
            </a:r>
          </a:p>
          <a:p>
            <a:pPr>
              <a:lnSpc>
                <a:spcPct val="15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 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G( R 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的每个顶点处均有环.   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2654F50-A86A-4851-B5C7-2F35C1720F4D}"/>
              </a:ext>
            </a:extLst>
          </p:cNvPr>
          <p:cNvGrpSpPr/>
          <p:nvPr/>
        </p:nvGrpSpPr>
        <p:grpSpPr>
          <a:xfrm>
            <a:off x="6780224" y="1914318"/>
            <a:ext cx="4797790" cy="1363825"/>
            <a:chOff x="0" y="0"/>
            <a:chExt cx="3900" cy="1200"/>
          </a:xfrm>
        </p:grpSpPr>
        <p:sp>
          <p:nvSpPr>
            <p:cNvPr id="6" name="椭圆 51204">
              <a:extLst>
                <a:ext uri="{FF2B5EF4-FFF2-40B4-BE49-F238E27FC236}">
                  <a16:creationId xmlns:a16="http://schemas.microsoft.com/office/drawing/2014/main" id="{032426B2-DBD2-4BF9-950A-7558815E188D}"/>
                </a:ext>
              </a:extLst>
            </p:cNvPr>
            <p:cNvSpPr/>
            <p:nvPr/>
          </p:nvSpPr>
          <p:spPr>
            <a:xfrm>
              <a:off x="728" y="336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7" name="椭圆 51205">
              <a:extLst>
                <a:ext uri="{FF2B5EF4-FFF2-40B4-BE49-F238E27FC236}">
                  <a16:creationId xmlns:a16="http://schemas.microsoft.com/office/drawing/2014/main" id="{84CD8557-5D21-4E05-AE8F-EF116EB3A4D3}"/>
                </a:ext>
              </a:extLst>
            </p:cNvPr>
            <p:cNvSpPr/>
            <p:nvPr/>
          </p:nvSpPr>
          <p:spPr>
            <a:xfrm>
              <a:off x="312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8" name="椭圆 51206">
              <a:extLst>
                <a:ext uri="{FF2B5EF4-FFF2-40B4-BE49-F238E27FC236}">
                  <a16:creationId xmlns:a16="http://schemas.microsoft.com/office/drawing/2014/main" id="{0B8F7060-623E-4C0B-A38C-F565E4835B6C}"/>
                </a:ext>
              </a:extLst>
            </p:cNvPr>
            <p:cNvSpPr/>
            <p:nvPr/>
          </p:nvSpPr>
          <p:spPr>
            <a:xfrm>
              <a:off x="1196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9" name="椭圆 51207">
              <a:extLst>
                <a:ext uri="{FF2B5EF4-FFF2-40B4-BE49-F238E27FC236}">
                  <a16:creationId xmlns:a16="http://schemas.microsoft.com/office/drawing/2014/main" id="{71BACEAB-C175-4AE8-9C84-1552B8DC715B}"/>
                </a:ext>
              </a:extLst>
            </p:cNvPr>
            <p:cNvSpPr/>
            <p:nvPr/>
          </p:nvSpPr>
          <p:spPr>
            <a:xfrm>
              <a:off x="2912" y="336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0" name="椭圆 51208">
              <a:extLst>
                <a:ext uri="{FF2B5EF4-FFF2-40B4-BE49-F238E27FC236}">
                  <a16:creationId xmlns:a16="http://schemas.microsoft.com/office/drawing/2014/main" id="{1073315D-4813-4431-9348-D33E54C41B05}"/>
                </a:ext>
              </a:extLst>
            </p:cNvPr>
            <p:cNvSpPr/>
            <p:nvPr/>
          </p:nvSpPr>
          <p:spPr>
            <a:xfrm>
              <a:off x="2496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1" name="椭圆 51209">
              <a:extLst>
                <a:ext uri="{FF2B5EF4-FFF2-40B4-BE49-F238E27FC236}">
                  <a16:creationId xmlns:a16="http://schemas.microsoft.com/office/drawing/2014/main" id="{2EFE31F8-005E-4820-B8FD-6E8A4E124E57}"/>
                </a:ext>
              </a:extLst>
            </p:cNvPr>
            <p:cNvSpPr/>
            <p:nvPr/>
          </p:nvSpPr>
          <p:spPr>
            <a:xfrm>
              <a:off x="3380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2" name="椭圆 51210">
              <a:extLst>
                <a:ext uri="{FF2B5EF4-FFF2-40B4-BE49-F238E27FC236}">
                  <a16:creationId xmlns:a16="http://schemas.microsoft.com/office/drawing/2014/main" id="{CDDF23B7-EFFD-4D4F-8954-D5F828B61EFE}"/>
                </a:ext>
              </a:extLst>
            </p:cNvPr>
            <p:cNvSpPr/>
            <p:nvPr/>
          </p:nvSpPr>
          <p:spPr>
            <a:xfrm>
              <a:off x="624" y="0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3" name="直接连接符 51211">
              <a:extLst>
                <a:ext uri="{FF2B5EF4-FFF2-40B4-BE49-F238E27FC236}">
                  <a16:creationId xmlns:a16="http://schemas.microsoft.com/office/drawing/2014/main" id="{C9B8EA28-025C-4BAC-8F51-EFB1E00038AB}"/>
                </a:ext>
              </a:extLst>
            </p:cNvPr>
            <p:cNvSpPr/>
            <p:nvPr/>
          </p:nvSpPr>
          <p:spPr>
            <a:xfrm>
              <a:off x="780" y="0"/>
              <a:ext cx="1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4" name="椭圆 51212">
              <a:extLst>
                <a:ext uri="{FF2B5EF4-FFF2-40B4-BE49-F238E27FC236}">
                  <a16:creationId xmlns:a16="http://schemas.microsoft.com/office/drawing/2014/main" id="{02E64F5F-B25C-454A-95CE-277466AFBB3C}"/>
                </a:ext>
              </a:extLst>
            </p:cNvPr>
            <p:cNvSpPr/>
            <p:nvPr/>
          </p:nvSpPr>
          <p:spPr>
            <a:xfrm>
              <a:off x="0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5" name="直接连接符 51213">
              <a:extLst>
                <a:ext uri="{FF2B5EF4-FFF2-40B4-BE49-F238E27FC236}">
                  <a16:creationId xmlns:a16="http://schemas.microsoft.com/office/drawing/2014/main" id="{0F91A9F8-0E11-4104-A36A-D4EA742AE729}"/>
                </a:ext>
              </a:extLst>
            </p:cNvPr>
            <p:cNvSpPr/>
            <p:nvPr/>
          </p:nvSpPr>
          <p:spPr>
            <a:xfrm>
              <a:off x="156" y="864"/>
              <a:ext cx="1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6" name="椭圆 51214">
              <a:extLst>
                <a:ext uri="{FF2B5EF4-FFF2-40B4-BE49-F238E27FC236}">
                  <a16:creationId xmlns:a16="http://schemas.microsoft.com/office/drawing/2014/main" id="{45E6B117-2124-460C-9E00-D1F188D9CDC5}"/>
                </a:ext>
              </a:extLst>
            </p:cNvPr>
            <p:cNvSpPr/>
            <p:nvPr/>
          </p:nvSpPr>
          <p:spPr>
            <a:xfrm>
              <a:off x="1352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7" name="直接连接符 51215">
              <a:extLst>
                <a:ext uri="{FF2B5EF4-FFF2-40B4-BE49-F238E27FC236}">
                  <a16:creationId xmlns:a16="http://schemas.microsoft.com/office/drawing/2014/main" id="{1F65D9D9-E2AB-472A-855D-E11446864A5D}"/>
                </a:ext>
              </a:extLst>
            </p:cNvPr>
            <p:cNvSpPr/>
            <p:nvPr/>
          </p:nvSpPr>
          <p:spPr>
            <a:xfrm>
              <a:off x="1508" y="864"/>
              <a:ext cx="1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8" name="椭圆 51216">
              <a:extLst>
                <a:ext uri="{FF2B5EF4-FFF2-40B4-BE49-F238E27FC236}">
                  <a16:creationId xmlns:a16="http://schemas.microsoft.com/office/drawing/2014/main" id="{DA0709D2-852D-4CA5-A900-94EA22ED1C6C}"/>
                </a:ext>
              </a:extLst>
            </p:cNvPr>
            <p:cNvSpPr/>
            <p:nvPr/>
          </p:nvSpPr>
          <p:spPr>
            <a:xfrm>
              <a:off x="2808" y="0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9" name="直接连接符 51217">
              <a:extLst>
                <a:ext uri="{FF2B5EF4-FFF2-40B4-BE49-F238E27FC236}">
                  <a16:creationId xmlns:a16="http://schemas.microsoft.com/office/drawing/2014/main" id="{C8364033-D8F3-4CAC-8860-9CFC9073F018}"/>
                </a:ext>
              </a:extLst>
            </p:cNvPr>
            <p:cNvSpPr/>
            <p:nvPr/>
          </p:nvSpPr>
          <p:spPr>
            <a:xfrm>
              <a:off x="2964" y="0"/>
              <a:ext cx="1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0" name="椭圆 51218">
              <a:extLst>
                <a:ext uri="{FF2B5EF4-FFF2-40B4-BE49-F238E27FC236}">
                  <a16:creationId xmlns:a16="http://schemas.microsoft.com/office/drawing/2014/main" id="{EBDF9B04-E7E2-471C-8D15-0089E996B7C9}"/>
                </a:ext>
              </a:extLst>
            </p:cNvPr>
            <p:cNvSpPr/>
            <p:nvPr/>
          </p:nvSpPr>
          <p:spPr>
            <a:xfrm>
              <a:off x="3536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1" name="直接连接符 51219">
              <a:extLst>
                <a:ext uri="{FF2B5EF4-FFF2-40B4-BE49-F238E27FC236}">
                  <a16:creationId xmlns:a16="http://schemas.microsoft.com/office/drawing/2014/main" id="{97A40C8C-2D01-4ED1-A750-3396287957E0}"/>
                </a:ext>
              </a:extLst>
            </p:cNvPr>
            <p:cNvSpPr/>
            <p:nvPr/>
          </p:nvSpPr>
          <p:spPr>
            <a:xfrm>
              <a:off x="3692" y="864"/>
              <a:ext cx="1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2" name="直接连接符 51220">
              <a:extLst>
                <a:ext uri="{FF2B5EF4-FFF2-40B4-BE49-F238E27FC236}">
                  <a16:creationId xmlns:a16="http://schemas.microsoft.com/office/drawing/2014/main" id="{F7F7BCF2-83ED-4DE9-9913-945931FCED2B}"/>
                </a:ext>
              </a:extLst>
            </p:cNvPr>
            <p:cNvSpPr/>
            <p:nvPr/>
          </p:nvSpPr>
          <p:spPr>
            <a:xfrm flipV="1">
              <a:off x="416" y="480"/>
              <a:ext cx="364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3" name="直接连接符 51221">
              <a:extLst>
                <a:ext uri="{FF2B5EF4-FFF2-40B4-BE49-F238E27FC236}">
                  <a16:creationId xmlns:a16="http://schemas.microsoft.com/office/drawing/2014/main" id="{69237C08-981A-4D33-91E5-11B1D6A98BE8}"/>
                </a:ext>
              </a:extLst>
            </p:cNvPr>
            <p:cNvSpPr/>
            <p:nvPr/>
          </p:nvSpPr>
          <p:spPr>
            <a:xfrm>
              <a:off x="416" y="1056"/>
              <a:ext cx="78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4" name="直接连接符 51222">
              <a:extLst>
                <a:ext uri="{FF2B5EF4-FFF2-40B4-BE49-F238E27FC236}">
                  <a16:creationId xmlns:a16="http://schemas.microsoft.com/office/drawing/2014/main" id="{2DAA100A-2A63-4612-86AB-CBF5F273C026}"/>
                </a:ext>
              </a:extLst>
            </p:cNvPr>
            <p:cNvSpPr/>
            <p:nvPr/>
          </p:nvSpPr>
          <p:spPr>
            <a:xfrm>
              <a:off x="3016" y="432"/>
              <a:ext cx="416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5" name="直接连接符 51223">
              <a:extLst>
                <a:ext uri="{FF2B5EF4-FFF2-40B4-BE49-F238E27FC236}">
                  <a16:creationId xmlns:a16="http://schemas.microsoft.com/office/drawing/2014/main" id="{2165DE3C-6C86-45EA-9599-9F196B8EF4C1}"/>
                </a:ext>
              </a:extLst>
            </p:cNvPr>
            <p:cNvSpPr/>
            <p:nvPr/>
          </p:nvSpPr>
          <p:spPr>
            <a:xfrm flipH="1">
              <a:off x="2600" y="432"/>
              <a:ext cx="312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6" name="直接连接符 51224">
              <a:extLst>
                <a:ext uri="{FF2B5EF4-FFF2-40B4-BE49-F238E27FC236}">
                  <a16:creationId xmlns:a16="http://schemas.microsoft.com/office/drawing/2014/main" id="{23F808A3-70FF-456C-8055-8776773E97C5}"/>
                </a:ext>
              </a:extLst>
            </p:cNvPr>
            <p:cNvSpPr/>
            <p:nvPr/>
          </p:nvSpPr>
          <p:spPr>
            <a:xfrm>
              <a:off x="2600" y="1056"/>
              <a:ext cx="78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C2D57046-27B2-4D8B-9A59-3EB564CD02E7}"/>
              </a:ext>
            </a:extLst>
          </p:cNvPr>
          <p:cNvSpPr/>
          <p:nvPr/>
        </p:nvSpPr>
        <p:spPr>
          <a:xfrm>
            <a:off x="1534600" y="5189410"/>
            <a:ext cx="69942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Symbol" panose="05050102010706020507" pitchFamily="18" charset="2"/>
              </a:rPr>
              <a:t> 显然，对于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自反关系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Symbol" panose="05050102010706020507" pitchFamily="18" charset="2"/>
              </a:rPr>
              <a:t>R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Symbol" panose="05050102010706020507" pitchFamily="18" charset="2"/>
              </a:rPr>
              <a:t>， </a:t>
            </a:r>
            <a:r>
              <a:rPr kumimoji="1" lang="zh-CN" altLang="en-US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Symbol" panose="05050102010706020507" pitchFamily="18" charset="2"/>
              </a:rPr>
              <a:t></a:t>
            </a: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(R) =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Symbol" panose="05050102010706020507" pitchFamily="18" charset="2"/>
              </a:rPr>
              <a:t>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(R) =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Symbol" panose="05050102010706020507" pitchFamily="18" charset="2"/>
              </a:rPr>
              <a:t> 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rPr>
              <a:t>X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D348E8-15EE-4C96-8106-7B016A32B7FE}"/>
              </a:ext>
            </a:extLst>
          </p:cNvPr>
          <p:cNvSpPr/>
          <p:nvPr/>
        </p:nvSpPr>
        <p:spPr>
          <a:xfrm>
            <a:off x="1671240" y="5827458"/>
            <a:ext cx="827552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常见的</a:t>
            </a:r>
            <a:r>
              <a:rPr lang="zh-CN" altLang="en-US" sz="2800" dirty="0">
                <a:latin typeface="+mn-ea"/>
              </a:rPr>
              <a:t>自反关系有相等关系</a:t>
            </a:r>
            <a:r>
              <a:rPr lang="en-US" altLang="zh-CN" sz="2800" dirty="0">
                <a:latin typeface="+mn-ea"/>
              </a:rPr>
              <a:t>(=)</a:t>
            </a:r>
            <a:r>
              <a:rPr lang="zh-CN" altLang="en-US" sz="2800" dirty="0">
                <a:latin typeface="+mn-ea"/>
              </a:rPr>
              <a:t>，小于等于关系</a:t>
            </a:r>
            <a:r>
              <a:rPr lang="en-US" altLang="zh-CN" sz="2800" dirty="0">
                <a:latin typeface="+mn-ea"/>
              </a:rPr>
              <a:t>(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+mn-ea"/>
              </a:rPr>
              <a:t>)</a:t>
            </a:r>
            <a:r>
              <a:rPr lang="zh-CN" altLang="en-US" sz="2800" dirty="0">
                <a:latin typeface="+mn-ea"/>
              </a:rPr>
              <a:t>，包含关系</a:t>
            </a:r>
            <a:r>
              <a:rPr lang="en-US" altLang="zh-CN" sz="2800" dirty="0">
                <a:latin typeface="+mn-ea"/>
              </a:rPr>
              <a:t>(</a:t>
            </a:r>
            <a:r>
              <a:rPr lang="en-US" altLang="zh-CN" sz="2800" dirty="0">
                <a:latin typeface="+mn-ea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+mn-ea"/>
              </a:rPr>
              <a:t>)</a:t>
            </a:r>
            <a:r>
              <a:rPr lang="zh-CN" altLang="en-US" sz="2800" dirty="0">
                <a:latin typeface="+mn-ea"/>
              </a:rPr>
              <a:t>等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BF21F327-A376-64DE-547B-879BC475C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45258408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7" grpId="0"/>
      <p:bldP spid="2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CF4CD7C-95B8-4F75-9F86-25D59828500D}"/>
              </a:ext>
            </a:extLst>
          </p:cNvPr>
          <p:cNvSpPr/>
          <p:nvPr/>
        </p:nvSpPr>
        <p:spPr>
          <a:xfrm>
            <a:off x="1751013" y="759719"/>
            <a:ext cx="7977427" cy="4547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A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说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800" u="sng" dirty="0">
                <a:solidFill>
                  <a:srgbClr val="0033CC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反自反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的(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irreflexive),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如果</a:t>
            </a:r>
          </a:p>
          <a:p>
            <a:pPr algn="ctr">
              <a:lnSpc>
                <a:spcPct val="150000"/>
              </a:lnSpc>
              <a:buNone/>
            </a:pPr>
            <a:r>
              <a: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sz="2800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x(</a:t>
            </a:r>
            <a:r>
              <a:rPr lang="en-US" altLang="x-none" sz="2800" dirty="0" err="1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xA</a:t>
            </a:r>
            <a:r>
              <a:rPr lang="en-US" altLang="x-none" sz="2800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 </a:t>
            </a:r>
            <a:r>
              <a:rPr lang="en-US" altLang="x-none" sz="2800" dirty="0" err="1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xRx</a:t>
            </a:r>
            <a:r>
              <a:rPr lang="en-US" altLang="x-none" sz="2800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2800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反自反的 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 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x( 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xA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 </a:t>
            </a:r>
            <a:r>
              <a:rPr lang="en-US" altLang="x-none" sz="28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xRx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性质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:  R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是反自反的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       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en-US" altLang="x-none" sz="2800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A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R=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       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M( R )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主对角线上的元素全为0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        </a:t>
            </a:r>
            <a:r>
              <a:rPr lang="en-US" altLang="x-none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G( R )</a:t>
            </a:r>
            <a:r>
              <a:rPr lang="zh-CN" altLang="en-US" sz="28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的每个顶点处均无环.  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A3454AF-8AB6-409A-9899-F114774017ED}"/>
              </a:ext>
            </a:extLst>
          </p:cNvPr>
          <p:cNvGrpSpPr/>
          <p:nvPr/>
        </p:nvGrpSpPr>
        <p:grpSpPr>
          <a:xfrm>
            <a:off x="7208006" y="2396536"/>
            <a:ext cx="4542692" cy="1770185"/>
            <a:chOff x="0" y="0"/>
            <a:chExt cx="3100" cy="1208"/>
          </a:xfrm>
        </p:grpSpPr>
        <p:sp>
          <p:nvSpPr>
            <p:cNvPr id="28" name="椭圆 52228">
              <a:extLst>
                <a:ext uri="{FF2B5EF4-FFF2-40B4-BE49-F238E27FC236}">
                  <a16:creationId xmlns:a16="http://schemas.microsoft.com/office/drawing/2014/main" id="{D7612CE8-9E1F-4408-B2C2-9D7124246971}"/>
                </a:ext>
              </a:extLst>
            </p:cNvPr>
            <p:cNvSpPr/>
            <p:nvPr/>
          </p:nvSpPr>
          <p:spPr>
            <a:xfrm>
              <a:off x="416" y="32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9" name="椭圆 52229">
              <a:extLst>
                <a:ext uri="{FF2B5EF4-FFF2-40B4-BE49-F238E27FC236}">
                  <a16:creationId xmlns:a16="http://schemas.microsoft.com/office/drawing/2014/main" id="{7588481D-C65D-4F29-8D71-F255CDDA79EB}"/>
                </a:ext>
              </a:extLst>
            </p:cNvPr>
            <p:cNvSpPr/>
            <p:nvPr/>
          </p:nvSpPr>
          <p:spPr>
            <a:xfrm>
              <a:off x="0" y="944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0" name="椭圆 52230">
              <a:extLst>
                <a:ext uri="{FF2B5EF4-FFF2-40B4-BE49-F238E27FC236}">
                  <a16:creationId xmlns:a16="http://schemas.microsoft.com/office/drawing/2014/main" id="{EBA80E7E-9039-4A03-8240-11D2FEA54D93}"/>
                </a:ext>
              </a:extLst>
            </p:cNvPr>
            <p:cNvSpPr/>
            <p:nvPr/>
          </p:nvSpPr>
          <p:spPr>
            <a:xfrm>
              <a:off x="884" y="944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1" name="椭圆 52231">
              <a:extLst>
                <a:ext uri="{FF2B5EF4-FFF2-40B4-BE49-F238E27FC236}">
                  <a16:creationId xmlns:a16="http://schemas.microsoft.com/office/drawing/2014/main" id="{B49E4B16-6741-4E51-B26F-F94A07D7C3E0}"/>
                </a:ext>
              </a:extLst>
            </p:cNvPr>
            <p:cNvSpPr/>
            <p:nvPr/>
          </p:nvSpPr>
          <p:spPr>
            <a:xfrm>
              <a:off x="2112" y="344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2" name="椭圆 52232">
              <a:extLst>
                <a:ext uri="{FF2B5EF4-FFF2-40B4-BE49-F238E27FC236}">
                  <a16:creationId xmlns:a16="http://schemas.microsoft.com/office/drawing/2014/main" id="{6325D3F6-B37F-407F-BCDE-1054AB96E9FD}"/>
                </a:ext>
              </a:extLst>
            </p:cNvPr>
            <p:cNvSpPr/>
            <p:nvPr/>
          </p:nvSpPr>
          <p:spPr>
            <a:xfrm>
              <a:off x="1696" y="968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3" name="椭圆 52233">
              <a:extLst>
                <a:ext uri="{FF2B5EF4-FFF2-40B4-BE49-F238E27FC236}">
                  <a16:creationId xmlns:a16="http://schemas.microsoft.com/office/drawing/2014/main" id="{C821D867-1FDA-4661-A4C9-3F110B518152}"/>
                </a:ext>
              </a:extLst>
            </p:cNvPr>
            <p:cNvSpPr/>
            <p:nvPr/>
          </p:nvSpPr>
          <p:spPr>
            <a:xfrm>
              <a:off x="2580" y="968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4" name="椭圆 52234">
              <a:extLst>
                <a:ext uri="{FF2B5EF4-FFF2-40B4-BE49-F238E27FC236}">
                  <a16:creationId xmlns:a16="http://schemas.microsoft.com/office/drawing/2014/main" id="{C82149E5-10F9-46BA-9452-799987F69E0B}"/>
                </a:ext>
              </a:extLst>
            </p:cNvPr>
            <p:cNvSpPr/>
            <p:nvPr/>
          </p:nvSpPr>
          <p:spPr>
            <a:xfrm>
              <a:off x="2008" y="0"/>
              <a:ext cx="393" cy="344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5" name="直接连接符 52235">
              <a:extLst>
                <a:ext uri="{FF2B5EF4-FFF2-40B4-BE49-F238E27FC236}">
                  <a16:creationId xmlns:a16="http://schemas.microsoft.com/office/drawing/2014/main" id="{D22C61CD-907D-477C-8B92-7F2C81AE0ACF}"/>
                </a:ext>
              </a:extLst>
            </p:cNvPr>
            <p:cNvSpPr/>
            <p:nvPr/>
          </p:nvSpPr>
          <p:spPr>
            <a:xfrm>
              <a:off x="2164" y="8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6" name="椭圆 52236">
              <a:extLst>
                <a:ext uri="{FF2B5EF4-FFF2-40B4-BE49-F238E27FC236}">
                  <a16:creationId xmlns:a16="http://schemas.microsoft.com/office/drawing/2014/main" id="{D850366F-36CD-458C-B470-839DF35C58F0}"/>
                </a:ext>
              </a:extLst>
            </p:cNvPr>
            <p:cNvSpPr/>
            <p:nvPr/>
          </p:nvSpPr>
          <p:spPr>
            <a:xfrm>
              <a:off x="2736" y="872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7" name="直接连接符 52237">
              <a:extLst>
                <a:ext uri="{FF2B5EF4-FFF2-40B4-BE49-F238E27FC236}">
                  <a16:creationId xmlns:a16="http://schemas.microsoft.com/office/drawing/2014/main" id="{B73EA2A6-613D-4FCB-B122-10A303850F19}"/>
                </a:ext>
              </a:extLst>
            </p:cNvPr>
            <p:cNvSpPr/>
            <p:nvPr/>
          </p:nvSpPr>
          <p:spPr>
            <a:xfrm>
              <a:off x="2892" y="872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8" name="直接连接符 52238">
              <a:extLst>
                <a:ext uri="{FF2B5EF4-FFF2-40B4-BE49-F238E27FC236}">
                  <a16:creationId xmlns:a16="http://schemas.microsoft.com/office/drawing/2014/main" id="{06EF47B4-33EF-4EE3-A441-23FC37C31C43}"/>
                </a:ext>
              </a:extLst>
            </p:cNvPr>
            <p:cNvSpPr/>
            <p:nvPr/>
          </p:nvSpPr>
          <p:spPr>
            <a:xfrm flipV="1">
              <a:off x="104" y="464"/>
              <a:ext cx="364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39" name="直接连接符 52239">
              <a:extLst>
                <a:ext uri="{FF2B5EF4-FFF2-40B4-BE49-F238E27FC236}">
                  <a16:creationId xmlns:a16="http://schemas.microsoft.com/office/drawing/2014/main" id="{68EA0545-97C6-4873-932E-C7720007ED42}"/>
                </a:ext>
              </a:extLst>
            </p:cNvPr>
            <p:cNvSpPr/>
            <p:nvPr/>
          </p:nvSpPr>
          <p:spPr>
            <a:xfrm>
              <a:off x="104" y="1040"/>
              <a:ext cx="7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40" name="直接连接符 52240">
              <a:extLst>
                <a:ext uri="{FF2B5EF4-FFF2-40B4-BE49-F238E27FC236}">
                  <a16:creationId xmlns:a16="http://schemas.microsoft.com/office/drawing/2014/main" id="{38C152C5-AECB-442C-8E30-F4C5F5F39577}"/>
                </a:ext>
              </a:extLst>
            </p:cNvPr>
            <p:cNvSpPr/>
            <p:nvPr/>
          </p:nvSpPr>
          <p:spPr>
            <a:xfrm>
              <a:off x="2216" y="440"/>
              <a:ext cx="416" cy="576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41" name="直接连接符 52241">
              <a:extLst>
                <a:ext uri="{FF2B5EF4-FFF2-40B4-BE49-F238E27FC236}">
                  <a16:creationId xmlns:a16="http://schemas.microsoft.com/office/drawing/2014/main" id="{356DAD9F-70DF-4460-B096-CB416292B7FE}"/>
                </a:ext>
              </a:extLst>
            </p:cNvPr>
            <p:cNvSpPr/>
            <p:nvPr/>
          </p:nvSpPr>
          <p:spPr>
            <a:xfrm flipH="1">
              <a:off x="1800" y="440"/>
              <a:ext cx="312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42" name="直接连接符 52242">
              <a:extLst>
                <a:ext uri="{FF2B5EF4-FFF2-40B4-BE49-F238E27FC236}">
                  <a16:creationId xmlns:a16="http://schemas.microsoft.com/office/drawing/2014/main" id="{48E54973-9938-4CFC-BAFF-D8CABE45D009}"/>
                </a:ext>
              </a:extLst>
            </p:cNvPr>
            <p:cNvSpPr/>
            <p:nvPr/>
          </p:nvSpPr>
          <p:spPr>
            <a:xfrm>
              <a:off x="1800" y="1064"/>
              <a:ext cx="7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2BA911B0-3203-4F15-A908-F3C90C7DD352}"/>
              </a:ext>
            </a:extLst>
          </p:cNvPr>
          <p:cNvSpPr/>
          <p:nvPr/>
        </p:nvSpPr>
        <p:spPr>
          <a:xfrm>
            <a:off x="1707906" y="5340727"/>
            <a:ext cx="87761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而不相等关系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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，小于关系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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，真包含关系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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等都不是自反关系，它们都</a:t>
            </a:r>
            <a:r>
              <a:rPr lang="zh-CN" altLang="en-US" sz="2800" dirty="0">
                <a:latin typeface="楷体_GB2312" pitchFamily="49" charset="-122"/>
              </a:rPr>
              <a:t>是反自反关系</a:t>
            </a:r>
            <a:endParaRPr lang="zh-CN" altLang="en-US" sz="2800" dirty="0"/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E9AF3CDC-0045-0BB4-F210-796D851FD8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50475074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1864D42-8651-491F-B4A8-88946CA59D5C}"/>
              </a:ext>
            </a:extLst>
          </p:cNvPr>
          <p:cNvSpPr/>
          <p:nvPr/>
        </p:nvSpPr>
        <p:spPr>
          <a:xfrm>
            <a:off x="1571625" y="1005908"/>
            <a:ext cx="906944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        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自反性和反自反性是关系的两个极端性质；因此，自反关系和反自反关系是两种极端关系；</a:t>
            </a:r>
          </a:p>
          <a:p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　　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从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关系矩阵来看：自反关系关系矩阵的对角线上元素全是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；反自反关系关系矩阵的对角线上元素全是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0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；</a:t>
            </a:r>
          </a:p>
          <a:p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        从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关系图来看：自反关系关系图的各结点上全都有自反圈；反自反关系关系图的各结点上全都没有自反圈。</a:t>
            </a:r>
          </a:p>
        </p:txBody>
      </p:sp>
      <p:sp>
        <p:nvSpPr>
          <p:cNvPr id="5" name="椭圆 53250">
            <a:extLst>
              <a:ext uri="{FF2B5EF4-FFF2-40B4-BE49-F238E27FC236}">
                <a16:creationId xmlns:a16="http://schemas.microsoft.com/office/drawing/2014/main" id="{2F91B8FE-4D1F-465F-A2C6-9AED6C43F833}"/>
              </a:ext>
            </a:extLst>
          </p:cNvPr>
          <p:cNvSpPr/>
          <p:nvPr/>
        </p:nvSpPr>
        <p:spPr>
          <a:xfrm>
            <a:off x="3422969" y="438756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椭圆 53251">
            <a:extLst>
              <a:ext uri="{FF2B5EF4-FFF2-40B4-BE49-F238E27FC236}">
                <a16:creationId xmlns:a16="http://schemas.microsoft.com/office/drawing/2014/main" id="{826800F5-CB56-40F6-9F63-AD79DAE6FA9B}"/>
              </a:ext>
            </a:extLst>
          </p:cNvPr>
          <p:cNvSpPr/>
          <p:nvPr/>
        </p:nvSpPr>
        <p:spPr>
          <a:xfrm>
            <a:off x="2813369" y="530196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椭圆 53252">
            <a:extLst>
              <a:ext uri="{FF2B5EF4-FFF2-40B4-BE49-F238E27FC236}">
                <a16:creationId xmlns:a16="http://schemas.microsoft.com/office/drawing/2014/main" id="{8D27B2EB-DAE8-436F-BE17-7AE1A10133E8}"/>
              </a:ext>
            </a:extLst>
          </p:cNvPr>
          <p:cNvSpPr/>
          <p:nvPr/>
        </p:nvSpPr>
        <p:spPr>
          <a:xfrm>
            <a:off x="4108769" y="530196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椭圆 53253">
            <a:extLst>
              <a:ext uri="{FF2B5EF4-FFF2-40B4-BE49-F238E27FC236}">
                <a16:creationId xmlns:a16="http://schemas.microsoft.com/office/drawing/2014/main" id="{3C70D143-1791-4928-9F94-3B85F89A413A}"/>
              </a:ext>
            </a:extLst>
          </p:cNvPr>
          <p:cNvSpPr/>
          <p:nvPr/>
        </p:nvSpPr>
        <p:spPr>
          <a:xfrm>
            <a:off x="6013769" y="438756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椭圆 53254">
            <a:extLst>
              <a:ext uri="{FF2B5EF4-FFF2-40B4-BE49-F238E27FC236}">
                <a16:creationId xmlns:a16="http://schemas.microsoft.com/office/drawing/2014/main" id="{94995F6E-8744-48F3-ADE5-AA9FCCB5B559}"/>
              </a:ext>
            </a:extLst>
          </p:cNvPr>
          <p:cNvSpPr/>
          <p:nvPr/>
        </p:nvSpPr>
        <p:spPr>
          <a:xfrm>
            <a:off x="5404169" y="530196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椭圆 53255">
            <a:extLst>
              <a:ext uri="{FF2B5EF4-FFF2-40B4-BE49-F238E27FC236}">
                <a16:creationId xmlns:a16="http://schemas.microsoft.com/office/drawing/2014/main" id="{59267706-99AC-429E-A970-0A6C6DDB8951}"/>
              </a:ext>
            </a:extLst>
          </p:cNvPr>
          <p:cNvSpPr/>
          <p:nvPr/>
        </p:nvSpPr>
        <p:spPr>
          <a:xfrm>
            <a:off x="6699569" y="530196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椭圆 53256">
            <a:extLst>
              <a:ext uri="{FF2B5EF4-FFF2-40B4-BE49-F238E27FC236}">
                <a16:creationId xmlns:a16="http://schemas.microsoft.com/office/drawing/2014/main" id="{39DF9440-70E0-4EE9-9496-5ED0B0466686}"/>
              </a:ext>
            </a:extLst>
          </p:cNvPr>
          <p:cNvSpPr/>
          <p:nvPr/>
        </p:nvSpPr>
        <p:spPr>
          <a:xfrm>
            <a:off x="3270569" y="3895200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直接连接符 53257">
            <a:extLst>
              <a:ext uri="{FF2B5EF4-FFF2-40B4-BE49-F238E27FC236}">
                <a16:creationId xmlns:a16="http://schemas.microsoft.com/office/drawing/2014/main" id="{93E518F0-717C-4375-B2D5-32E20F5B1C55}"/>
              </a:ext>
            </a:extLst>
          </p:cNvPr>
          <p:cNvSpPr/>
          <p:nvPr/>
        </p:nvSpPr>
        <p:spPr>
          <a:xfrm>
            <a:off x="3499169" y="3895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3" name="椭圆 53258">
            <a:extLst>
              <a:ext uri="{FF2B5EF4-FFF2-40B4-BE49-F238E27FC236}">
                <a16:creationId xmlns:a16="http://schemas.microsoft.com/office/drawing/2014/main" id="{8B6D9E09-0453-4654-B8F7-C773192FAD75}"/>
              </a:ext>
            </a:extLst>
          </p:cNvPr>
          <p:cNvSpPr/>
          <p:nvPr/>
        </p:nvSpPr>
        <p:spPr>
          <a:xfrm>
            <a:off x="2356169" y="5161292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直接连接符 53259">
            <a:extLst>
              <a:ext uri="{FF2B5EF4-FFF2-40B4-BE49-F238E27FC236}">
                <a16:creationId xmlns:a16="http://schemas.microsoft.com/office/drawing/2014/main" id="{29A04E37-2B01-46EE-B9D3-9659DF631AFA}"/>
              </a:ext>
            </a:extLst>
          </p:cNvPr>
          <p:cNvSpPr/>
          <p:nvPr/>
        </p:nvSpPr>
        <p:spPr>
          <a:xfrm>
            <a:off x="2584769" y="5161292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5" name="椭圆 53260">
            <a:extLst>
              <a:ext uri="{FF2B5EF4-FFF2-40B4-BE49-F238E27FC236}">
                <a16:creationId xmlns:a16="http://schemas.microsoft.com/office/drawing/2014/main" id="{1E2770BF-070F-4A3D-8127-2250FBF69B4D}"/>
              </a:ext>
            </a:extLst>
          </p:cNvPr>
          <p:cNvSpPr/>
          <p:nvPr/>
        </p:nvSpPr>
        <p:spPr>
          <a:xfrm>
            <a:off x="4337369" y="5161292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直接连接符 53261">
            <a:extLst>
              <a:ext uri="{FF2B5EF4-FFF2-40B4-BE49-F238E27FC236}">
                <a16:creationId xmlns:a16="http://schemas.microsoft.com/office/drawing/2014/main" id="{4CBD6A67-21F6-41E1-854F-55572D74804A}"/>
              </a:ext>
            </a:extLst>
          </p:cNvPr>
          <p:cNvSpPr/>
          <p:nvPr/>
        </p:nvSpPr>
        <p:spPr>
          <a:xfrm>
            <a:off x="4565969" y="5161292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7" name="直接连接符 53262">
            <a:extLst>
              <a:ext uri="{FF2B5EF4-FFF2-40B4-BE49-F238E27FC236}">
                <a16:creationId xmlns:a16="http://schemas.microsoft.com/office/drawing/2014/main" id="{D6828A10-D2BF-454C-B577-DE0C41927680}"/>
              </a:ext>
            </a:extLst>
          </p:cNvPr>
          <p:cNvSpPr/>
          <p:nvPr/>
        </p:nvSpPr>
        <p:spPr>
          <a:xfrm flipV="1">
            <a:off x="2965769" y="4598585"/>
            <a:ext cx="533400" cy="8440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8" name="直接连接符 53263">
            <a:extLst>
              <a:ext uri="{FF2B5EF4-FFF2-40B4-BE49-F238E27FC236}">
                <a16:creationId xmlns:a16="http://schemas.microsoft.com/office/drawing/2014/main" id="{C9679032-0FE6-4ECF-ACFA-180B87DFFE36}"/>
              </a:ext>
            </a:extLst>
          </p:cNvPr>
          <p:cNvSpPr/>
          <p:nvPr/>
        </p:nvSpPr>
        <p:spPr>
          <a:xfrm>
            <a:off x="2965769" y="5442646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9" name="直接连接符 53264">
            <a:extLst>
              <a:ext uri="{FF2B5EF4-FFF2-40B4-BE49-F238E27FC236}">
                <a16:creationId xmlns:a16="http://schemas.microsoft.com/office/drawing/2014/main" id="{1B18EA17-7C3F-47EB-BF77-C8FBC26FA199}"/>
              </a:ext>
            </a:extLst>
          </p:cNvPr>
          <p:cNvSpPr/>
          <p:nvPr/>
        </p:nvSpPr>
        <p:spPr>
          <a:xfrm>
            <a:off x="6166169" y="4528246"/>
            <a:ext cx="609600" cy="8440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0" name="直接连接符 53265">
            <a:extLst>
              <a:ext uri="{FF2B5EF4-FFF2-40B4-BE49-F238E27FC236}">
                <a16:creationId xmlns:a16="http://schemas.microsoft.com/office/drawing/2014/main" id="{4BDA42E6-40A4-49D8-85B9-0FE85E5392BA}"/>
              </a:ext>
            </a:extLst>
          </p:cNvPr>
          <p:cNvSpPr/>
          <p:nvPr/>
        </p:nvSpPr>
        <p:spPr>
          <a:xfrm flipH="1">
            <a:off x="5556569" y="4528246"/>
            <a:ext cx="457200" cy="8440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1" name="直接连接符 53266">
            <a:extLst>
              <a:ext uri="{FF2B5EF4-FFF2-40B4-BE49-F238E27FC236}">
                <a16:creationId xmlns:a16="http://schemas.microsoft.com/office/drawing/2014/main" id="{3A0D0616-81AC-40FE-8851-0531DB3BBFC4}"/>
              </a:ext>
            </a:extLst>
          </p:cNvPr>
          <p:cNvSpPr/>
          <p:nvPr/>
        </p:nvSpPr>
        <p:spPr>
          <a:xfrm>
            <a:off x="5556569" y="5442646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2" name="椭圆 53267">
            <a:extLst>
              <a:ext uri="{FF2B5EF4-FFF2-40B4-BE49-F238E27FC236}">
                <a16:creationId xmlns:a16="http://schemas.microsoft.com/office/drawing/2014/main" id="{78A5F707-6C78-43C8-B3FA-94329575B139}"/>
              </a:ext>
            </a:extLst>
          </p:cNvPr>
          <p:cNvSpPr/>
          <p:nvPr/>
        </p:nvSpPr>
        <p:spPr>
          <a:xfrm>
            <a:off x="8223569" y="438756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椭圆 53268">
            <a:extLst>
              <a:ext uri="{FF2B5EF4-FFF2-40B4-BE49-F238E27FC236}">
                <a16:creationId xmlns:a16="http://schemas.microsoft.com/office/drawing/2014/main" id="{DD1A49A1-F195-4C43-AFA0-B344788B3FA8}"/>
              </a:ext>
            </a:extLst>
          </p:cNvPr>
          <p:cNvSpPr/>
          <p:nvPr/>
        </p:nvSpPr>
        <p:spPr>
          <a:xfrm>
            <a:off x="7613969" y="530196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椭圆 53269">
            <a:extLst>
              <a:ext uri="{FF2B5EF4-FFF2-40B4-BE49-F238E27FC236}">
                <a16:creationId xmlns:a16="http://schemas.microsoft.com/office/drawing/2014/main" id="{D18120EF-E0A5-43EB-BCB2-F83EE098C6AD}"/>
              </a:ext>
            </a:extLst>
          </p:cNvPr>
          <p:cNvSpPr/>
          <p:nvPr/>
        </p:nvSpPr>
        <p:spPr>
          <a:xfrm>
            <a:off x="8909369" y="530196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" name="椭圆 53270">
            <a:extLst>
              <a:ext uri="{FF2B5EF4-FFF2-40B4-BE49-F238E27FC236}">
                <a16:creationId xmlns:a16="http://schemas.microsoft.com/office/drawing/2014/main" id="{08526CFA-E56D-4972-9E97-D56589551A9A}"/>
              </a:ext>
            </a:extLst>
          </p:cNvPr>
          <p:cNvSpPr/>
          <p:nvPr/>
        </p:nvSpPr>
        <p:spPr>
          <a:xfrm>
            <a:off x="8071169" y="3895200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" name="直接连接符 53271">
            <a:extLst>
              <a:ext uri="{FF2B5EF4-FFF2-40B4-BE49-F238E27FC236}">
                <a16:creationId xmlns:a16="http://schemas.microsoft.com/office/drawing/2014/main" id="{AD3231DD-B5C3-401E-BB91-FD80AC5ED81F}"/>
              </a:ext>
            </a:extLst>
          </p:cNvPr>
          <p:cNvSpPr/>
          <p:nvPr/>
        </p:nvSpPr>
        <p:spPr>
          <a:xfrm>
            <a:off x="8299769" y="3895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7" name="椭圆 53272">
            <a:extLst>
              <a:ext uri="{FF2B5EF4-FFF2-40B4-BE49-F238E27FC236}">
                <a16:creationId xmlns:a16="http://schemas.microsoft.com/office/drawing/2014/main" id="{93E50866-4E71-4D00-97E6-3C36904E4CB5}"/>
              </a:ext>
            </a:extLst>
          </p:cNvPr>
          <p:cNvSpPr/>
          <p:nvPr/>
        </p:nvSpPr>
        <p:spPr>
          <a:xfrm>
            <a:off x="9137969" y="5161292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400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" name="直接连接符 53273">
            <a:extLst>
              <a:ext uri="{FF2B5EF4-FFF2-40B4-BE49-F238E27FC236}">
                <a16:creationId xmlns:a16="http://schemas.microsoft.com/office/drawing/2014/main" id="{F5DB9C86-929E-42F2-8EB7-40CC2ABFF6D6}"/>
              </a:ext>
            </a:extLst>
          </p:cNvPr>
          <p:cNvSpPr/>
          <p:nvPr/>
        </p:nvSpPr>
        <p:spPr>
          <a:xfrm>
            <a:off x="9366569" y="5161292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9" name="直接连接符 53274">
            <a:extLst>
              <a:ext uri="{FF2B5EF4-FFF2-40B4-BE49-F238E27FC236}">
                <a16:creationId xmlns:a16="http://schemas.microsoft.com/office/drawing/2014/main" id="{C87CBB9D-2547-41A2-A855-8B3BA5B59B3B}"/>
              </a:ext>
            </a:extLst>
          </p:cNvPr>
          <p:cNvSpPr/>
          <p:nvPr/>
        </p:nvSpPr>
        <p:spPr>
          <a:xfrm flipV="1">
            <a:off x="7766369" y="4598585"/>
            <a:ext cx="533400" cy="8440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0" name="直接连接符 53275">
            <a:extLst>
              <a:ext uri="{FF2B5EF4-FFF2-40B4-BE49-F238E27FC236}">
                <a16:creationId xmlns:a16="http://schemas.microsoft.com/office/drawing/2014/main" id="{D568C359-0F31-4919-B5AC-D553CB565C77}"/>
              </a:ext>
            </a:extLst>
          </p:cNvPr>
          <p:cNvSpPr/>
          <p:nvPr/>
        </p:nvSpPr>
        <p:spPr>
          <a:xfrm>
            <a:off x="7766369" y="5442646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4AB1E5D-EEB5-404D-9272-0CF6E022B848}"/>
              </a:ext>
            </a:extLst>
          </p:cNvPr>
          <p:cNvSpPr txBox="1"/>
          <p:nvPr/>
        </p:nvSpPr>
        <p:spPr>
          <a:xfrm>
            <a:off x="3118169" y="5864677"/>
            <a:ext cx="8382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ClrTx/>
            </a:pPr>
            <a:r>
              <a:rPr lang="zh-CN" altLang="en-US" sz="20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自反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A552C09-E724-4D5B-8162-7828A760D41F}"/>
              </a:ext>
            </a:extLst>
          </p:cNvPr>
          <p:cNvSpPr txBox="1"/>
          <p:nvPr/>
        </p:nvSpPr>
        <p:spPr>
          <a:xfrm>
            <a:off x="5632769" y="5935015"/>
            <a:ext cx="1295400" cy="39878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ClrTx/>
            </a:pPr>
            <a:r>
              <a:rPr lang="zh-CN" altLang="en-US" sz="20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反自反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3F26913-E125-486D-8637-666B7D1860F8}"/>
              </a:ext>
            </a:extLst>
          </p:cNvPr>
          <p:cNvSpPr txBox="1"/>
          <p:nvPr/>
        </p:nvSpPr>
        <p:spPr>
          <a:xfrm>
            <a:off x="7766369" y="5879331"/>
            <a:ext cx="1676400" cy="70675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ClrTx/>
            </a:pPr>
            <a:r>
              <a:rPr lang="zh-CN" altLang="en-US" sz="2000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非自反,   非反自反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46EC59-FDC7-F296-4560-E0A5B8F28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978020391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6789F40-C921-48E2-89B0-DBB680A97DDE}"/>
              </a:ext>
            </a:extLst>
          </p:cNvPr>
          <p:cNvSpPr/>
          <p:nvPr/>
        </p:nvSpPr>
        <p:spPr>
          <a:xfrm>
            <a:off x="1571625" y="1534192"/>
            <a:ext cx="969439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设 </a:t>
            </a:r>
            <a:r>
              <a:rPr lang="en-US" altLang="zh-CN" sz="2800" dirty="0"/>
              <a:t>X={</a:t>
            </a:r>
            <a:r>
              <a:rPr lang="en-US" altLang="zh-CN" sz="2800" dirty="0" err="1"/>
              <a:t>a,b,c,d</a:t>
            </a:r>
            <a:r>
              <a:rPr lang="en-US" altLang="zh-CN" sz="2800" dirty="0"/>
              <a:t>}</a:t>
            </a:r>
            <a:r>
              <a:rPr lang="zh-CN" altLang="en-US" sz="2800" dirty="0">
                <a:latin typeface="宋体" panose="02010600030101010101" pitchFamily="2" charset="-122"/>
              </a:rPr>
              <a:t>。</a:t>
            </a:r>
          </a:p>
          <a:p>
            <a:r>
              <a:rPr lang="zh-CN" altLang="en-US" sz="2800" dirty="0">
                <a:latin typeface="宋体" panose="02010600030101010101" pitchFamily="2" charset="-122"/>
              </a:rPr>
              <a:t>　　</a:t>
            </a:r>
            <a:endParaRPr lang="en-US" altLang="zh-CN" sz="2800" dirty="0">
              <a:latin typeface="宋体" panose="02010600030101010101" pitchFamily="2" charset="-122"/>
            </a:endParaRPr>
          </a:p>
          <a:p>
            <a:r>
              <a:rPr lang="en-US" altLang="zh-CN" sz="2800" dirty="0"/>
              <a:t>R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={&lt;</a:t>
            </a:r>
            <a:r>
              <a:rPr lang="en-US" altLang="zh-CN" sz="2800" dirty="0" err="1"/>
              <a:t>a,b</a:t>
            </a:r>
            <a:r>
              <a:rPr lang="en-US" altLang="zh-CN" sz="2800" dirty="0"/>
              <a:t>&gt;,&lt;</a:t>
            </a:r>
            <a:r>
              <a:rPr lang="en-US" altLang="zh-CN" sz="2800" dirty="0" err="1"/>
              <a:t>a,a</a:t>
            </a:r>
            <a:r>
              <a:rPr lang="en-US" altLang="zh-CN" sz="2800" dirty="0"/>
              <a:t>&gt;,&lt;</a:t>
            </a:r>
            <a:r>
              <a:rPr lang="en-US" altLang="zh-CN" sz="2800" dirty="0" err="1"/>
              <a:t>b,b</a:t>
            </a:r>
            <a:r>
              <a:rPr lang="en-US" altLang="zh-CN" sz="2800" dirty="0"/>
              <a:t>&gt;,&lt;</a:t>
            </a:r>
            <a:r>
              <a:rPr lang="en-US" altLang="zh-CN" sz="2800" dirty="0" err="1"/>
              <a:t>c,d</a:t>
            </a:r>
            <a:r>
              <a:rPr lang="en-US" altLang="zh-CN" sz="2800" dirty="0"/>
              <a:t>&gt;,&lt;</a:t>
            </a:r>
            <a:r>
              <a:rPr lang="en-US" altLang="zh-CN" sz="2800" dirty="0" err="1"/>
              <a:t>c,c</a:t>
            </a:r>
            <a:r>
              <a:rPr lang="en-US" altLang="zh-CN" sz="2800" dirty="0"/>
              <a:t>&gt;,&lt;</a:t>
            </a:r>
            <a:r>
              <a:rPr lang="en-US" altLang="zh-CN" sz="2800" dirty="0" err="1"/>
              <a:t>d,d</a:t>
            </a:r>
            <a:r>
              <a:rPr lang="en-US" altLang="zh-CN" sz="2800" dirty="0"/>
              <a:t>&gt;}</a:t>
            </a:r>
          </a:p>
          <a:p>
            <a:r>
              <a:rPr lang="en-US" altLang="zh-CN" sz="2800" dirty="0"/>
              <a:t>        </a:t>
            </a:r>
          </a:p>
          <a:p>
            <a:r>
              <a:rPr lang="en-US" altLang="zh-CN" sz="2800" dirty="0"/>
              <a:t>R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={&lt;</a:t>
            </a:r>
            <a:r>
              <a:rPr lang="en-US" altLang="zh-CN" sz="2800" dirty="0" err="1"/>
              <a:t>a,a</a:t>
            </a:r>
            <a:r>
              <a:rPr lang="en-US" altLang="zh-CN" sz="2800" dirty="0"/>
              <a:t>&gt;,&lt;</a:t>
            </a:r>
            <a:r>
              <a:rPr lang="en-US" altLang="zh-CN" sz="2800" dirty="0" err="1"/>
              <a:t>b,b</a:t>
            </a:r>
            <a:r>
              <a:rPr lang="en-US" altLang="zh-CN" sz="2800" dirty="0"/>
              <a:t>&gt;,&lt;</a:t>
            </a:r>
            <a:r>
              <a:rPr lang="en-US" altLang="zh-CN" sz="2800" dirty="0" err="1"/>
              <a:t>c,c</a:t>
            </a:r>
            <a:r>
              <a:rPr lang="en-US" altLang="zh-CN" sz="2800" dirty="0"/>
              <a:t>&gt;,&lt;</a:t>
            </a:r>
            <a:r>
              <a:rPr lang="en-US" altLang="zh-CN" sz="2800" dirty="0" err="1"/>
              <a:t>d,d</a:t>
            </a:r>
            <a:r>
              <a:rPr lang="en-US" altLang="zh-CN" sz="2800" dirty="0"/>
              <a:t>&gt;}</a:t>
            </a:r>
          </a:p>
          <a:p>
            <a:r>
              <a:rPr lang="zh-CN" altLang="en-US" sz="2800" dirty="0">
                <a:latin typeface="宋体" panose="02010600030101010101" pitchFamily="2" charset="-122"/>
              </a:rPr>
              <a:t>　</a:t>
            </a:r>
            <a:endParaRPr lang="zh-CN" altLang="en-US" sz="2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7F72CA-A457-420F-86BF-4CE393986448}"/>
              </a:ext>
            </a:extLst>
          </p:cNvPr>
          <p:cNvSpPr/>
          <p:nvPr/>
        </p:nvSpPr>
        <p:spPr>
          <a:xfrm>
            <a:off x="1571625" y="4126324"/>
            <a:ext cx="49087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ea typeface="楷体_GB2312" pitchFamily="49" charset="-122"/>
              </a:rPr>
              <a:t>R</a:t>
            </a:r>
            <a:r>
              <a:rPr lang="en-US" altLang="zh-CN" sz="2800" baseline="-25000" dirty="0">
                <a:ea typeface="楷体_GB2312" pitchFamily="49" charset="-122"/>
              </a:rPr>
              <a:t>3</a:t>
            </a:r>
            <a:r>
              <a:rPr lang="en-US" altLang="zh-CN" sz="2800" dirty="0">
                <a:ea typeface="楷体_GB2312" pitchFamily="49" charset="-122"/>
              </a:rPr>
              <a:t>={&lt;</a:t>
            </a:r>
            <a:r>
              <a:rPr lang="en-US" altLang="zh-CN" sz="2800" dirty="0" err="1">
                <a:ea typeface="楷体_GB2312" pitchFamily="49" charset="-122"/>
              </a:rPr>
              <a:t>a,b</a:t>
            </a:r>
            <a:r>
              <a:rPr lang="en-US" altLang="zh-CN" sz="2800" dirty="0">
                <a:ea typeface="楷体_GB2312" pitchFamily="49" charset="-122"/>
              </a:rPr>
              <a:t>&gt;,&lt;</a:t>
            </a:r>
            <a:r>
              <a:rPr lang="en-US" altLang="zh-CN" sz="2800" dirty="0" err="1">
                <a:ea typeface="楷体_GB2312" pitchFamily="49" charset="-122"/>
              </a:rPr>
              <a:t>a,c</a:t>
            </a:r>
            <a:r>
              <a:rPr lang="en-US" altLang="zh-CN" sz="2800" dirty="0">
                <a:ea typeface="楷体_GB2312" pitchFamily="49" charset="-122"/>
              </a:rPr>
              <a:t>&gt;,&lt;</a:t>
            </a:r>
            <a:r>
              <a:rPr lang="en-US" altLang="zh-CN" sz="2800" dirty="0" err="1">
                <a:ea typeface="楷体_GB2312" pitchFamily="49" charset="-122"/>
              </a:rPr>
              <a:t>a,d</a:t>
            </a:r>
            <a:r>
              <a:rPr lang="en-US" altLang="zh-CN" sz="2800" dirty="0">
                <a:ea typeface="楷体_GB2312" pitchFamily="49" charset="-122"/>
              </a:rPr>
              <a:t>&gt;,&lt;</a:t>
            </a:r>
            <a:r>
              <a:rPr lang="en-US" altLang="zh-CN" sz="2800" dirty="0" err="1">
                <a:ea typeface="楷体_GB2312" pitchFamily="49" charset="-122"/>
              </a:rPr>
              <a:t>c,d</a:t>
            </a:r>
            <a:r>
              <a:rPr lang="en-US" altLang="zh-CN" sz="2800" dirty="0">
                <a:ea typeface="楷体_GB2312" pitchFamily="49" charset="-122"/>
              </a:rPr>
              <a:t>&gt;}</a:t>
            </a:r>
            <a:endParaRPr lang="zh-CN" altLang="en-US" sz="28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3D03C6-E14C-426C-B58E-293AAA1E9139}"/>
              </a:ext>
            </a:extLst>
          </p:cNvPr>
          <p:cNvSpPr/>
          <p:nvPr/>
        </p:nvSpPr>
        <p:spPr>
          <a:xfrm>
            <a:off x="8999418" y="2343333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自反关系</a:t>
            </a:r>
            <a:endParaRPr lang="zh-CN" altLang="en-US" sz="28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EFA0D4-62B2-4C3D-A61D-69F9C215A917}"/>
              </a:ext>
            </a:extLst>
          </p:cNvPr>
          <p:cNvSpPr/>
          <p:nvPr/>
        </p:nvSpPr>
        <p:spPr>
          <a:xfrm>
            <a:off x="9075741" y="316739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自反关系</a:t>
            </a:r>
            <a:endParaRPr lang="zh-CN" altLang="en-US" sz="2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8B00EA-2458-4816-B556-6C78C379E4E2}"/>
              </a:ext>
            </a:extLst>
          </p:cNvPr>
          <p:cNvSpPr/>
          <p:nvPr/>
        </p:nvSpPr>
        <p:spPr>
          <a:xfrm>
            <a:off x="8716669" y="4211848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反自反关系</a:t>
            </a:r>
            <a:endParaRPr lang="zh-CN" altLang="en-US" sz="2800" dirty="0"/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34D59FF7-3295-5B2D-77FF-889DFB396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912168923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54274">
            <a:extLst>
              <a:ext uri="{FF2B5EF4-FFF2-40B4-BE49-F238E27FC236}">
                <a16:creationId xmlns:a16="http://schemas.microsoft.com/office/drawing/2014/main" id="{A8E64D95-F0F5-4500-BA91-68AF51A91583}"/>
              </a:ext>
            </a:extLst>
          </p:cNvPr>
          <p:cNvSpPr txBox="1">
            <a:spLocks/>
          </p:cNvSpPr>
          <p:nvPr/>
        </p:nvSpPr>
        <p:spPr>
          <a:xfrm>
            <a:off x="1571625" y="738188"/>
            <a:ext cx="8342050" cy="422030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设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A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A, 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说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是</a:t>
            </a:r>
            <a:r>
              <a:rPr lang="zh-CN" altLang="en-US" u="sng" dirty="0">
                <a:solidFill>
                  <a:srgbClr val="0033CC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对称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的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(Symmetric),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如果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y(</a:t>
            </a:r>
            <a:r>
              <a:rPr lang="en-US" altLang="x-none" dirty="0" err="1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xAyAxRyyRx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非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对称 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 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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y(</a:t>
            </a:r>
            <a:r>
              <a:rPr lang="en-US" altLang="x-none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xAyAxRy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</a:t>
            </a:r>
            <a:r>
              <a:rPr lang="en-US" altLang="x-none" dirty="0" err="1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yRx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性质:  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</a:rPr>
              <a:t>是对称的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      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M( R )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是对称的</a:t>
            </a:r>
            <a:endParaRPr lang="en-US" altLang="zh-CN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 </a:t>
            </a:r>
            <a:r>
              <a:rPr lang="en-US" altLang="zh-CN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R= R</a:t>
            </a:r>
            <a:r>
              <a:rPr lang="en-US" altLang="zh-CN" baseline="30000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-1</a:t>
            </a:r>
            <a:endParaRPr lang="zh-CN" altLang="en-US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       </a:t>
            </a:r>
            <a:r>
              <a:rPr lang="en-US" altLang="x-none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G( R )</a:t>
            </a:r>
            <a:r>
              <a:rPr lang="zh-CN" altLang="en-US" dirty="0">
                <a:latin typeface="Times New Roman" panose="02020603050405020304" pitchFamily="18" charset="0"/>
                <a:ea typeface="Microsoft YaHei" panose="020B0503020204020204" charset="-122"/>
                <a:cs typeface="Times New Roman" panose="02020603050405020304" pitchFamily="18" charset="0"/>
                <a:sym typeface="Symbol" panose="05050102010706020507" pitchFamily="2" charset="2"/>
              </a:rPr>
              <a:t>的任何两个顶点之间若有边, 则必有两条方向相反的有向边.   </a:t>
            </a:r>
            <a:endParaRPr lang="en-US" altLang="x-none" dirty="0">
              <a:latin typeface="Times New Roman" panose="02020603050405020304" pitchFamily="18" charset="0"/>
              <a:ea typeface="Microsoft YaHei" panose="020B0503020204020204" charset="-122"/>
              <a:cs typeface="Times New Roman" panose="02020603050405020304" pitchFamily="18" charset="0"/>
              <a:sym typeface="Symbol" panose="05050102010706020507" pitchFamily="2" charset="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801AD4D-C3AD-4D24-A87B-C2CF1A16B99E}"/>
              </a:ext>
            </a:extLst>
          </p:cNvPr>
          <p:cNvGrpSpPr/>
          <p:nvPr/>
        </p:nvGrpSpPr>
        <p:grpSpPr>
          <a:xfrm>
            <a:off x="6984621" y="2896051"/>
            <a:ext cx="4481561" cy="1379920"/>
            <a:chOff x="0" y="0"/>
            <a:chExt cx="3635" cy="1200"/>
          </a:xfrm>
        </p:grpSpPr>
        <p:sp>
          <p:nvSpPr>
            <p:cNvPr id="6" name="椭圆 54276">
              <a:extLst>
                <a:ext uri="{FF2B5EF4-FFF2-40B4-BE49-F238E27FC236}">
                  <a16:creationId xmlns:a16="http://schemas.microsoft.com/office/drawing/2014/main" id="{68E6822F-17AD-41DC-84EE-B711D1C7A6CB}"/>
                </a:ext>
              </a:extLst>
            </p:cNvPr>
            <p:cNvSpPr/>
            <p:nvPr/>
          </p:nvSpPr>
          <p:spPr>
            <a:xfrm>
              <a:off x="728" y="336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7" name="椭圆 54277">
              <a:extLst>
                <a:ext uri="{FF2B5EF4-FFF2-40B4-BE49-F238E27FC236}">
                  <a16:creationId xmlns:a16="http://schemas.microsoft.com/office/drawing/2014/main" id="{C79CA100-83BE-4B80-A3B1-6E6ABE40A1F3}"/>
                </a:ext>
              </a:extLst>
            </p:cNvPr>
            <p:cNvSpPr/>
            <p:nvPr/>
          </p:nvSpPr>
          <p:spPr>
            <a:xfrm>
              <a:off x="312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8" name="椭圆 54278">
              <a:extLst>
                <a:ext uri="{FF2B5EF4-FFF2-40B4-BE49-F238E27FC236}">
                  <a16:creationId xmlns:a16="http://schemas.microsoft.com/office/drawing/2014/main" id="{9C740AED-80D6-4DD0-AAD7-1A0326FB0621}"/>
                </a:ext>
              </a:extLst>
            </p:cNvPr>
            <p:cNvSpPr/>
            <p:nvPr/>
          </p:nvSpPr>
          <p:spPr>
            <a:xfrm>
              <a:off x="1196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9" name="椭圆 54279">
              <a:extLst>
                <a:ext uri="{FF2B5EF4-FFF2-40B4-BE49-F238E27FC236}">
                  <a16:creationId xmlns:a16="http://schemas.microsoft.com/office/drawing/2014/main" id="{07468B36-DCDF-48BE-9AB6-1C1CBCFA289A}"/>
                </a:ext>
              </a:extLst>
            </p:cNvPr>
            <p:cNvSpPr/>
            <p:nvPr/>
          </p:nvSpPr>
          <p:spPr>
            <a:xfrm>
              <a:off x="2647" y="336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0" name="椭圆 54280">
              <a:extLst>
                <a:ext uri="{FF2B5EF4-FFF2-40B4-BE49-F238E27FC236}">
                  <a16:creationId xmlns:a16="http://schemas.microsoft.com/office/drawing/2014/main" id="{69E39793-B8D5-439C-A646-934BB0FFDB44}"/>
                </a:ext>
              </a:extLst>
            </p:cNvPr>
            <p:cNvSpPr/>
            <p:nvPr/>
          </p:nvSpPr>
          <p:spPr>
            <a:xfrm>
              <a:off x="2231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1" name="椭圆 54281">
              <a:extLst>
                <a:ext uri="{FF2B5EF4-FFF2-40B4-BE49-F238E27FC236}">
                  <a16:creationId xmlns:a16="http://schemas.microsoft.com/office/drawing/2014/main" id="{F33E89C8-18FF-431C-95B5-A08173E918D7}"/>
                </a:ext>
              </a:extLst>
            </p:cNvPr>
            <p:cNvSpPr/>
            <p:nvPr/>
          </p:nvSpPr>
          <p:spPr>
            <a:xfrm>
              <a:off x="3115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2" name="椭圆 54282">
              <a:extLst>
                <a:ext uri="{FF2B5EF4-FFF2-40B4-BE49-F238E27FC236}">
                  <a16:creationId xmlns:a16="http://schemas.microsoft.com/office/drawing/2014/main" id="{A76142B4-9FC9-4060-B21D-67C31BC2B9C4}"/>
                </a:ext>
              </a:extLst>
            </p:cNvPr>
            <p:cNvSpPr/>
            <p:nvPr/>
          </p:nvSpPr>
          <p:spPr>
            <a:xfrm>
              <a:off x="624" y="0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3" name="直接连接符 54283">
              <a:extLst>
                <a:ext uri="{FF2B5EF4-FFF2-40B4-BE49-F238E27FC236}">
                  <a16:creationId xmlns:a16="http://schemas.microsoft.com/office/drawing/2014/main" id="{60FA5602-28ED-4169-984E-E0DBA6B26B56}"/>
                </a:ext>
              </a:extLst>
            </p:cNvPr>
            <p:cNvSpPr/>
            <p:nvPr/>
          </p:nvSpPr>
          <p:spPr>
            <a:xfrm>
              <a:off x="780" y="0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4" name="椭圆 54284">
              <a:extLst>
                <a:ext uri="{FF2B5EF4-FFF2-40B4-BE49-F238E27FC236}">
                  <a16:creationId xmlns:a16="http://schemas.microsoft.com/office/drawing/2014/main" id="{BDD98EA5-8D23-425A-B8EC-D1D617C5F5B5}"/>
                </a:ext>
              </a:extLst>
            </p:cNvPr>
            <p:cNvSpPr/>
            <p:nvPr/>
          </p:nvSpPr>
          <p:spPr>
            <a:xfrm>
              <a:off x="0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5" name="直接连接符 54285">
              <a:extLst>
                <a:ext uri="{FF2B5EF4-FFF2-40B4-BE49-F238E27FC236}">
                  <a16:creationId xmlns:a16="http://schemas.microsoft.com/office/drawing/2014/main" id="{E769A078-0276-44EC-87D3-D93A53BA5FD3}"/>
                </a:ext>
              </a:extLst>
            </p:cNvPr>
            <p:cNvSpPr/>
            <p:nvPr/>
          </p:nvSpPr>
          <p:spPr>
            <a:xfrm>
              <a:off x="156" y="864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6" name="椭圆 54286">
              <a:extLst>
                <a:ext uri="{FF2B5EF4-FFF2-40B4-BE49-F238E27FC236}">
                  <a16:creationId xmlns:a16="http://schemas.microsoft.com/office/drawing/2014/main" id="{BEBD8044-BC63-4A59-9604-A550E6712EBB}"/>
                </a:ext>
              </a:extLst>
            </p:cNvPr>
            <p:cNvSpPr/>
            <p:nvPr/>
          </p:nvSpPr>
          <p:spPr>
            <a:xfrm>
              <a:off x="1352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7" name="直接连接符 54287">
              <a:extLst>
                <a:ext uri="{FF2B5EF4-FFF2-40B4-BE49-F238E27FC236}">
                  <a16:creationId xmlns:a16="http://schemas.microsoft.com/office/drawing/2014/main" id="{51D4A91B-6A0B-418F-94DC-D4D27CC89FF9}"/>
                </a:ext>
              </a:extLst>
            </p:cNvPr>
            <p:cNvSpPr/>
            <p:nvPr/>
          </p:nvSpPr>
          <p:spPr>
            <a:xfrm>
              <a:off x="1508" y="864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8" name="椭圆 54288">
              <a:extLst>
                <a:ext uri="{FF2B5EF4-FFF2-40B4-BE49-F238E27FC236}">
                  <a16:creationId xmlns:a16="http://schemas.microsoft.com/office/drawing/2014/main" id="{1C1DEFB9-CCC9-4EA2-A863-7EAF5276E0F8}"/>
                </a:ext>
              </a:extLst>
            </p:cNvPr>
            <p:cNvSpPr/>
            <p:nvPr/>
          </p:nvSpPr>
          <p:spPr>
            <a:xfrm>
              <a:off x="2543" y="0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9" name="直接连接符 54289">
              <a:extLst>
                <a:ext uri="{FF2B5EF4-FFF2-40B4-BE49-F238E27FC236}">
                  <a16:creationId xmlns:a16="http://schemas.microsoft.com/office/drawing/2014/main" id="{87792928-1636-441C-8AFA-F50C726E2D32}"/>
                </a:ext>
              </a:extLst>
            </p:cNvPr>
            <p:cNvSpPr/>
            <p:nvPr/>
          </p:nvSpPr>
          <p:spPr>
            <a:xfrm>
              <a:off x="2699" y="0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0" name="椭圆 54290">
              <a:extLst>
                <a:ext uri="{FF2B5EF4-FFF2-40B4-BE49-F238E27FC236}">
                  <a16:creationId xmlns:a16="http://schemas.microsoft.com/office/drawing/2014/main" id="{E8C410DE-05DD-4351-A7AD-DD843F88C087}"/>
                </a:ext>
              </a:extLst>
            </p:cNvPr>
            <p:cNvSpPr/>
            <p:nvPr/>
          </p:nvSpPr>
          <p:spPr>
            <a:xfrm>
              <a:off x="3271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1" name="直接连接符 54291">
              <a:extLst>
                <a:ext uri="{FF2B5EF4-FFF2-40B4-BE49-F238E27FC236}">
                  <a16:creationId xmlns:a16="http://schemas.microsoft.com/office/drawing/2014/main" id="{3223E1F6-A808-4F52-AE9E-896369914D7C}"/>
                </a:ext>
              </a:extLst>
            </p:cNvPr>
            <p:cNvSpPr/>
            <p:nvPr/>
          </p:nvSpPr>
          <p:spPr>
            <a:xfrm>
              <a:off x="3427" y="864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2" name="直接连接符 54292">
              <a:extLst>
                <a:ext uri="{FF2B5EF4-FFF2-40B4-BE49-F238E27FC236}">
                  <a16:creationId xmlns:a16="http://schemas.microsoft.com/office/drawing/2014/main" id="{96323CB0-6D41-4BAB-9DF0-8DC710EB3522}"/>
                </a:ext>
              </a:extLst>
            </p:cNvPr>
            <p:cNvSpPr/>
            <p:nvPr/>
          </p:nvSpPr>
          <p:spPr>
            <a:xfrm flipV="1">
              <a:off x="416" y="480"/>
              <a:ext cx="364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3" name="直接连接符 54293">
              <a:extLst>
                <a:ext uri="{FF2B5EF4-FFF2-40B4-BE49-F238E27FC236}">
                  <a16:creationId xmlns:a16="http://schemas.microsoft.com/office/drawing/2014/main" id="{13E4E431-9D4A-44C4-95EC-78442BCFD8AB}"/>
                </a:ext>
              </a:extLst>
            </p:cNvPr>
            <p:cNvSpPr/>
            <p:nvPr/>
          </p:nvSpPr>
          <p:spPr>
            <a:xfrm>
              <a:off x="416" y="1056"/>
              <a:ext cx="7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4" name="直接连接符 54294">
              <a:extLst>
                <a:ext uri="{FF2B5EF4-FFF2-40B4-BE49-F238E27FC236}">
                  <a16:creationId xmlns:a16="http://schemas.microsoft.com/office/drawing/2014/main" id="{2FBDE640-45F8-4C1C-A807-659C145E68DD}"/>
                </a:ext>
              </a:extLst>
            </p:cNvPr>
            <p:cNvSpPr/>
            <p:nvPr/>
          </p:nvSpPr>
          <p:spPr>
            <a:xfrm>
              <a:off x="2751" y="432"/>
              <a:ext cx="416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5" name="直接连接符 54295">
              <a:extLst>
                <a:ext uri="{FF2B5EF4-FFF2-40B4-BE49-F238E27FC236}">
                  <a16:creationId xmlns:a16="http://schemas.microsoft.com/office/drawing/2014/main" id="{CC8D4535-6547-43F6-BE58-1A7CE830D76A}"/>
                </a:ext>
              </a:extLst>
            </p:cNvPr>
            <p:cNvSpPr/>
            <p:nvPr/>
          </p:nvSpPr>
          <p:spPr>
            <a:xfrm flipH="1">
              <a:off x="2335" y="432"/>
              <a:ext cx="312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6" name="直接连接符 54296">
              <a:extLst>
                <a:ext uri="{FF2B5EF4-FFF2-40B4-BE49-F238E27FC236}">
                  <a16:creationId xmlns:a16="http://schemas.microsoft.com/office/drawing/2014/main" id="{79FEC1E9-1BC0-4021-B87F-28670E224CF5}"/>
                </a:ext>
              </a:extLst>
            </p:cNvPr>
            <p:cNvSpPr/>
            <p:nvPr/>
          </p:nvSpPr>
          <p:spPr>
            <a:xfrm>
              <a:off x="2335" y="1056"/>
              <a:ext cx="7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7" name="直接连接符 54297">
              <a:extLst>
                <a:ext uri="{FF2B5EF4-FFF2-40B4-BE49-F238E27FC236}">
                  <a16:creationId xmlns:a16="http://schemas.microsoft.com/office/drawing/2014/main" id="{519FE707-59D6-446D-94EC-D8458649FA4C}"/>
                </a:ext>
              </a:extLst>
            </p:cNvPr>
            <p:cNvSpPr/>
            <p:nvPr/>
          </p:nvSpPr>
          <p:spPr>
            <a:xfrm flipH="1">
              <a:off x="416" y="432"/>
              <a:ext cx="31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8" name="直接连接符 54298">
              <a:extLst>
                <a:ext uri="{FF2B5EF4-FFF2-40B4-BE49-F238E27FC236}">
                  <a16:creationId xmlns:a16="http://schemas.microsoft.com/office/drawing/2014/main" id="{3E45DBC3-8DE8-491A-888C-DBDFD235909A}"/>
                </a:ext>
              </a:extLst>
            </p:cNvPr>
            <p:cNvSpPr/>
            <p:nvPr/>
          </p:nvSpPr>
          <p:spPr>
            <a:xfrm flipH="1">
              <a:off x="468" y="1008"/>
              <a:ext cx="7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A23FFEB0-9CB5-CFF5-F4DC-4C943F898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34760312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55298">
            <a:extLst>
              <a:ext uri="{FF2B5EF4-FFF2-40B4-BE49-F238E27FC236}">
                <a16:creationId xmlns:a16="http://schemas.microsoft.com/office/drawing/2014/main" id="{B11C54D0-FAAB-498B-BA11-E6F828C4A285}"/>
              </a:ext>
            </a:extLst>
          </p:cNvPr>
          <p:cNvSpPr txBox="1">
            <a:spLocks/>
          </p:cNvSpPr>
          <p:nvPr/>
        </p:nvSpPr>
        <p:spPr>
          <a:xfrm>
            <a:off x="769058" y="1283677"/>
            <a:ext cx="10157693" cy="4290646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A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说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u="sng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反对称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(Anti-symmetric),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y(</a:t>
            </a:r>
            <a:r>
              <a:rPr lang="en-US" altLang="x-none" dirty="0" err="1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xAyAxRyyRxx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=y)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.</a:t>
            </a:r>
          </a:p>
          <a:p>
            <a:pPr>
              <a:lnSpc>
                <a:spcPct val="145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非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反对称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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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y(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xAyAxRyyRxxy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</a:p>
          <a:p>
            <a:pPr>
              <a:lnSpc>
                <a:spcPct val="145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性质:  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是反对称的</a:t>
            </a:r>
          </a:p>
          <a:p>
            <a:pPr>
              <a:lnSpc>
                <a:spcPct val="145000"/>
              </a:lnSpc>
              <a:buFont typeface="Symbol" panose="05050102010706020507" pitchFamily="18" charset="2"/>
              <a:buChar char="Û"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在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M( R 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中, 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j(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ijr</a:t>
            </a:r>
            <a:r>
              <a:rPr lang="en-US" altLang="x-none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ij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=1r</a:t>
            </a:r>
            <a:r>
              <a:rPr lang="en-US" altLang="x-none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ji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=0)</a:t>
            </a:r>
            <a:b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</a:b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  在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G( R )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中, 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(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ij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), 若有有向边&lt;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,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j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, 则必没有&lt;</a:t>
            </a:r>
            <a:r>
              <a:rPr lang="en-US" altLang="x-none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,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en-US" altLang="x-none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. 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2" charset="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291A317-53EC-493E-B78A-607D2E823372}"/>
              </a:ext>
            </a:extLst>
          </p:cNvPr>
          <p:cNvGrpSpPr/>
          <p:nvPr/>
        </p:nvGrpSpPr>
        <p:grpSpPr>
          <a:xfrm>
            <a:off x="7348091" y="3006336"/>
            <a:ext cx="4650941" cy="1605191"/>
            <a:chOff x="0" y="0"/>
            <a:chExt cx="3691" cy="1200"/>
          </a:xfrm>
        </p:grpSpPr>
        <p:sp>
          <p:nvSpPr>
            <p:cNvPr id="6" name="椭圆 55300">
              <a:extLst>
                <a:ext uri="{FF2B5EF4-FFF2-40B4-BE49-F238E27FC236}">
                  <a16:creationId xmlns:a16="http://schemas.microsoft.com/office/drawing/2014/main" id="{88C1CC5D-C31D-486A-A0FB-2753CE3B1721}"/>
                </a:ext>
              </a:extLst>
            </p:cNvPr>
            <p:cNvSpPr/>
            <p:nvPr/>
          </p:nvSpPr>
          <p:spPr>
            <a:xfrm>
              <a:off x="728" y="336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7" name="椭圆 55301">
              <a:extLst>
                <a:ext uri="{FF2B5EF4-FFF2-40B4-BE49-F238E27FC236}">
                  <a16:creationId xmlns:a16="http://schemas.microsoft.com/office/drawing/2014/main" id="{5B75B150-ABDE-4DEE-B2FC-A5BA3BF0BAB2}"/>
                </a:ext>
              </a:extLst>
            </p:cNvPr>
            <p:cNvSpPr/>
            <p:nvPr/>
          </p:nvSpPr>
          <p:spPr>
            <a:xfrm>
              <a:off x="312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8" name="椭圆 55302">
              <a:extLst>
                <a:ext uri="{FF2B5EF4-FFF2-40B4-BE49-F238E27FC236}">
                  <a16:creationId xmlns:a16="http://schemas.microsoft.com/office/drawing/2014/main" id="{A8E78BFC-4276-4037-BCF6-D2D30ACBFCFB}"/>
                </a:ext>
              </a:extLst>
            </p:cNvPr>
            <p:cNvSpPr/>
            <p:nvPr/>
          </p:nvSpPr>
          <p:spPr>
            <a:xfrm>
              <a:off x="1196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9" name="椭圆 55303">
              <a:extLst>
                <a:ext uri="{FF2B5EF4-FFF2-40B4-BE49-F238E27FC236}">
                  <a16:creationId xmlns:a16="http://schemas.microsoft.com/office/drawing/2014/main" id="{183BBC13-ED8C-4739-9C4A-92F8D5D849EB}"/>
                </a:ext>
              </a:extLst>
            </p:cNvPr>
            <p:cNvSpPr/>
            <p:nvPr/>
          </p:nvSpPr>
          <p:spPr>
            <a:xfrm>
              <a:off x="2703" y="336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endParaRPr lang="zh-CN" altLang="en-US" sz="2585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椭圆 55304">
              <a:extLst>
                <a:ext uri="{FF2B5EF4-FFF2-40B4-BE49-F238E27FC236}">
                  <a16:creationId xmlns:a16="http://schemas.microsoft.com/office/drawing/2014/main" id="{7E713876-13AB-45B0-A4C1-B74930690823}"/>
                </a:ext>
              </a:extLst>
            </p:cNvPr>
            <p:cNvSpPr/>
            <p:nvPr/>
          </p:nvSpPr>
          <p:spPr>
            <a:xfrm>
              <a:off x="2287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1" name="椭圆 55305">
              <a:extLst>
                <a:ext uri="{FF2B5EF4-FFF2-40B4-BE49-F238E27FC236}">
                  <a16:creationId xmlns:a16="http://schemas.microsoft.com/office/drawing/2014/main" id="{B9C27AB7-A69F-443B-A0AF-3275F66A1EA2}"/>
                </a:ext>
              </a:extLst>
            </p:cNvPr>
            <p:cNvSpPr/>
            <p:nvPr/>
          </p:nvSpPr>
          <p:spPr>
            <a:xfrm>
              <a:off x="3171" y="96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2" name="椭圆 55306">
              <a:extLst>
                <a:ext uri="{FF2B5EF4-FFF2-40B4-BE49-F238E27FC236}">
                  <a16:creationId xmlns:a16="http://schemas.microsoft.com/office/drawing/2014/main" id="{31BAC6A2-05E8-483F-9485-F2730DF2D17E}"/>
                </a:ext>
              </a:extLst>
            </p:cNvPr>
            <p:cNvSpPr/>
            <p:nvPr/>
          </p:nvSpPr>
          <p:spPr>
            <a:xfrm>
              <a:off x="624" y="0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3" name="直接连接符 55307">
              <a:extLst>
                <a:ext uri="{FF2B5EF4-FFF2-40B4-BE49-F238E27FC236}">
                  <a16:creationId xmlns:a16="http://schemas.microsoft.com/office/drawing/2014/main" id="{D12AF45F-9085-4005-A193-1C7E7516EA59}"/>
                </a:ext>
              </a:extLst>
            </p:cNvPr>
            <p:cNvSpPr/>
            <p:nvPr/>
          </p:nvSpPr>
          <p:spPr>
            <a:xfrm>
              <a:off x="780" y="0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4" name="椭圆 55308">
              <a:extLst>
                <a:ext uri="{FF2B5EF4-FFF2-40B4-BE49-F238E27FC236}">
                  <a16:creationId xmlns:a16="http://schemas.microsoft.com/office/drawing/2014/main" id="{29B906BE-2298-49EB-BCFE-D62EEBF5E5DC}"/>
                </a:ext>
              </a:extLst>
            </p:cNvPr>
            <p:cNvSpPr/>
            <p:nvPr/>
          </p:nvSpPr>
          <p:spPr>
            <a:xfrm>
              <a:off x="0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5" name="直接连接符 55309">
              <a:extLst>
                <a:ext uri="{FF2B5EF4-FFF2-40B4-BE49-F238E27FC236}">
                  <a16:creationId xmlns:a16="http://schemas.microsoft.com/office/drawing/2014/main" id="{73327FF9-8909-41FA-9E85-30D3B31FDA67}"/>
                </a:ext>
              </a:extLst>
            </p:cNvPr>
            <p:cNvSpPr/>
            <p:nvPr/>
          </p:nvSpPr>
          <p:spPr>
            <a:xfrm>
              <a:off x="156" y="864"/>
              <a:ext cx="0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6" name="椭圆 55310">
              <a:extLst>
                <a:ext uri="{FF2B5EF4-FFF2-40B4-BE49-F238E27FC236}">
                  <a16:creationId xmlns:a16="http://schemas.microsoft.com/office/drawing/2014/main" id="{204D904B-564C-4000-A096-AE223E39EBBE}"/>
                </a:ext>
              </a:extLst>
            </p:cNvPr>
            <p:cNvSpPr/>
            <p:nvPr/>
          </p:nvSpPr>
          <p:spPr>
            <a:xfrm>
              <a:off x="1352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7" name="直接连接符 55311">
              <a:extLst>
                <a:ext uri="{FF2B5EF4-FFF2-40B4-BE49-F238E27FC236}">
                  <a16:creationId xmlns:a16="http://schemas.microsoft.com/office/drawing/2014/main" id="{FC014BF1-15CE-4372-BFD4-CC71745B206C}"/>
                </a:ext>
              </a:extLst>
            </p:cNvPr>
            <p:cNvSpPr/>
            <p:nvPr/>
          </p:nvSpPr>
          <p:spPr>
            <a:xfrm>
              <a:off x="1508" y="864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8" name="椭圆 55312">
              <a:extLst>
                <a:ext uri="{FF2B5EF4-FFF2-40B4-BE49-F238E27FC236}">
                  <a16:creationId xmlns:a16="http://schemas.microsoft.com/office/drawing/2014/main" id="{24D99BCB-77E7-4F39-85C2-3A6554067DA7}"/>
                </a:ext>
              </a:extLst>
            </p:cNvPr>
            <p:cNvSpPr/>
            <p:nvPr/>
          </p:nvSpPr>
          <p:spPr>
            <a:xfrm>
              <a:off x="2599" y="0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19" name="直接连接符 55313">
              <a:extLst>
                <a:ext uri="{FF2B5EF4-FFF2-40B4-BE49-F238E27FC236}">
                  <a16:creationId xmlns:a16="http://schemas.microsoft.com/office/drawing/2014/main" id="{8C4FE79C-C5F7-4D74-8802-653DC8EEC50C}"/>
                </a:ext>
              </a:extLst>
            </p:cNvPr>
            <p:cNvSpPr/>
            <p:nvPr/>
          </p:nvSpPr>
          <p:spPr>
            <a:xfrm>
              <a:off x="2755" y="0"/>
              <a:ext cx="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0" name="椭圆 55314">
              <a:extLst>
                <a:ext uri="{FF2B5EF4-FFF2-40B4-BE49-F238E27FC236}">
                  <a16:creationId xmlns:a16="http://schemas.microsoft.com/office/drawing/2014/main" id="{833095A4-D71C-4B0E-B48D-95132B424D3A}"/>
                </a:ext>
              </a:extLst>
            </p:cNvPr>
            <p:cNvSpPr/>
            <p:nvPr/>
          </p:nvSpPr>
          <p:spPr>
            <a:xfrm>
              <a:off x="3327" y="864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1" name="直接连接符 55315">
              <a:extLst>
                <a:ext uri="{FF2B5EF4-FFF2-40B4-BE49-F238E27FC236}">
                  <a16:creationId xmlns:a16="http://schemas.microsoft.com/office/drawing/2014/main" id="{4A845868-AE24-406E-9366-AE53A4648021}"/>
                </a:ext>
              </a:extLst>
            </p:cNvPr>
            <p:cNvSpPr/>
            <p:nvPr/>
          </p:nvSpPr>
          <p:spPr>
            <a:xfrm>
              <a:off x="3483" y="864"/>
              <a:ext cx="0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2" name="直接连接符 55316">
              <a:extLst>
                <a:ext uri="{FF2B5EF4-FFF2-40B4-BE49-F238E27FC236}">
                  <a16:creationId xmlns:a16="http://schemas.microsoft.com/office/drawing/2014/main" id="{4A956135-F2DE-4960-AD0E-4A227FC23141}"/>
                </a:ext>
              </a:extLst>
            </p:cNvPr>
            <p:cNvSpPr/>
            <p:nvPr/>
          </p:nvSpPr>
          <p:spPr>
            <a:xfrm>
              <a:off x="2807" y="432"/>
              <a:ext cx="416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3" name="直接连接符 55317">
              <a:extLst>
                <a:ext uri="{FF2B5EF4-FFF2-40B4-BE49-F238E27FC236}">
                  <a16:creationId xmlns:a16="http://schemas.microsoft.com/office/drawing/2014/main" id="{43870B01-7C94-4375-ABD4-1CB993F6E03C}"/>
                </a:ext>
              </a:extLst>
            </p:cNvPr>
            <p:cNvSpPr/>
            <p:nvPr/>
          </p:nvSpPr>
          <p:spPr>
            <a:xfrm flipH="1">
              <a:off x="2391" y="432"/>
              <a:ext cx="312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4" name="直接连接符 55318">
              <a:extLst>
                <a:ext uri="{FF2B5EF4-FFF2-40B4-BE49-F238E27FC236}">
                  <a16:creationId xmlns:a16="http://schemas.microsoft.com/office/drawing/2014/main" id="{9077D7E2-7E70-446E-88F8-6B429F3D5542}"/>
                </a:ext>
              </a:extLst>
            </p:cNvPr>
            <p:cNvSpPr/>
            <p:nvPr/>
          </p:nvSpPr>
          <p:spPr>
            <a:xfrm flipH="1">
              <a:off x="416" y="432"/>
              <a:ext cx="312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5" name="直接连接符 55319">
              <a:extLst>
                <a:ext uri="{FF2B5EF4-FFF2-40B4-BE49-F238E27FC236}">
                  <a16:creationId xmlns:a16="http://schemas.microsoft.com/office/drawing/2014/main" id="{2A20AD96-44BF-4367-9625-9BD049AB4B52}"/>
                </a:ext>
              </a:extLst>
            </p:cNvPr>
            <p:cNvSpPr/>
            <p:nvPr/>
          </p:nvSpPr>
          <p:spPr>
            <a:xfrm flipH="1">
              <a:off x="468" y="1008"/>
              <a:ext cx="780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  <p:sp>
          <p:nvSpPr>
            <p:cNvPr id="26" name="直接连接符 55320">
              <a:extLst>
                <a:ext uri="{FF2B5EF4-FFF2-40B4-BE49-F238E27FC236}">
                  <a16:creationId xmlns:a16="http://schemas.microsoft.com/office/drawing/2014/main" id="{D16EF231-C58F-460A-82FA-F6685DD484E8}"/>
                </a:ext>
              </a:extLst>
            </p:cNvPr>
            <p:cNvSpPr/>
            <p:nvPr/>
          </p:nvSpPr>
          <p:spPr>
            <a:xfrm flipH="1" flipV="1">
              <a:off x="2859" y="432"/>
              <a:ext cx="416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</p:grpSp>
      <p:sp>
        <p:nvSpPr>
          <p:cNvPr id="2" name="文本框 2">
            <a:extLst>
              <a:ext uri="{FF2B5EF4-FFF2-40B4-BE49-F238E27FC236}">
                <a16:creationId xmlns:a16="http://schemas.microsoft.com/office/drawing/2014/main" id="{CA6BD2BE-284D-CD93-1206-B22C4A46C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4909709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32B315A-EFF5-446F-8C1A-30EE274A5AD7}"/>
              </a:ext>
            </a:extLst>
          </p:cNvPr>
          <p:cNvSpPr/>
          <p:nvPr/>
        </p:nvSpPr>
        <p:spPr>
          <a:xfrm>
            <a:off x="1041582" y="1087346"/>
            <a:ext cx="10720628" cy="4550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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对称性和反对称性是关系的两个极端性质；因此，对称关系和反对称关系是两种极端关系；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从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关系矩阵来看：对称关系的关系矩阵是对称矩阵。即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</a:t>
            </a:r>
            <a:endParaRPr lang="en-US" altLang="zh-CN" sz="2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i,j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；反对称关系的关系矩阵满足如下性质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　　     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  (1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i,j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n)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从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关系图来看：对称关系关系图的结点间若有弧则都是双向弧；反对称关系关系图的结点间若有弧则都是单向弧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F6D470-50DA-C1D1-C01F-67DE2235A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783275716"/>
      </p:ext>
    </p:extLst>
  </p:cSld>
  <p:clrMapOvr>
    <a:masterClrMapping/>
  </p:clrMapOvr>
  <p:transition spd="slow" advTm="0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C9A9724-168D-4C88-8748-334035753FB8}"/>
              </a:ext>
            </a:extLst>
          </p:cNvPr>
          <p:cNvSpPr/>
          <p:nvPr/>
        </p:nvSpPr>
        <p:spPr>
          <a:xfrm>
            <a:off x="2041501" y="868468"/>
            <a:ext cx="833266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  常见的</a:t>
            </a:r>
            <a:r>
              <a:rPr lang="zh-CN" altLang="en-US" sz="2800" dirty="0">
                <a:latin typeface="宋体" panose="02010600030101010101" pitchFamily="2" charset="-122"/>
              </a:rPr>
              <a:t>对称关系有相等关系</a:t>
            </a:r>
            <a:r>
              <a:rPr lang="en-US" altLang="zh-CN" sz="2800" dirty="0">
                <a:latin typeface="宋体" panose="02010600030101010101" pitchFamily="2" charset="-122"/>
              </a:rPr>
              <a:t>(=)</a:t>
            </a:r>
            <a:r>
              <a:rPr lang="zh-CN" altLang="en-US" sz="2800" dirty="0">
                <a:latin typeface="宋体" panose="02010600030101010101" pitchFamily="2" charset="-122"/>
              </a:rPr>
              <a:t>，不相等关系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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，同余关系，朋友关系，同学关系，同乡关系等；</a:t>
            </a:r>
          </a:p>
          <a:p>
            <a:r>
              <a:rPr lang="zh-CN" altLang="en-US" sz="2800" dirty="0">
                <a:latin typeface="宋体" panose="02010600030101010101" pitchFamily="2" charset="-122"/>
              </a:rPr>
              <a:t>  而小于等于关系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，包含关系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，上下级关系，父子关系等都不是对称关系，它们都是反对称关系。</a:t>
            </a:r>
          </a:p>
        </p:txBody>
      </p:sp>
      <p:sp>
        <p:nvSpPr>
          <p:cNvPr id="5" name="椭圆 56322">
            <a:extLst>
              <a:ext uri="{FF2B5EF4-FFF2-40B4-BE49-F238E27FC236}">
                <a16:creationId xmlns:a16="http://schemas.microsoft.com/office/drawing/2014/main" id="{520188A8-2A57-4BEF-96A8-7368447E3F81}"/>
              </a:ext>
            </a:extLst>
          </p:cNvPr>
          <p:cNvSpPr/>
          <p:nvPr/>
        </p:nvSpPr>
        <p:spPr>
          <a:xfrm>
            <a:off x="3357185" y="324937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椭圆 56323">
            <a:extLst>
              <a:ext uri="{FF2B5EF4-FFF2-40B4-BE49-F238E27FC236}">
                <a16:creationId xmlns:a16="http://schemas.microsoft.com/office/drawing/2014/main" id="{DE61E916-0548-4AB1-A129-96E613A60660}"/>
              </a:ext>
            </a:extLst>
          </p:cNvPr>
          <p:cNvSpPr/>
          <p:nvPr/>
        </p:nvSpPr>
        <p:spPr>
          <a:xfrm>
            <a:off x="2747585" y="416377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椭圆 56324">
            <a:extLst>
              <a:ext uri="{FF2B5EF4-FFF2-40B4-BE49-F238E27FC236}">
                <a16:creationId xmlns:a16="http://schemas.microsoft.com/office/drawing/2014/main" id="{118C468E-5F5D-4940-907F-FB1CF8FEEF19}"/>
              </a:ext>
            </a:extLst>
          </p:cNvPr>
          <p:cNvSpPr/>
          <p:nvPr/>
        </p:nvSpPr>
        <p:spPr>
          <a:xfrm>
            <a:off x="4042985" y="416377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椭圆 56325">
            <a:extLst>
              <a:ext uri="{FF2B5EF4-FFF2-40B4-BE49-F238E27FC236}">
                <a16:creationId xmlns:a16="http://schemas.microsoft.com/office/drawing/2014/main" id="{5F8AFB21-53C1-471F-AF12-EEDDFADC372F}"/>
              </a:ext>
            </a:extLst>
          </p:cNvPr>
          <p:cNvSpPr/>
          <p:nvPr/>
        </p:nvSpPr>
        <p:spPr>
          <a:xfrm>
            <a:off x="5947985" y="324937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椭圆 56326">
            <a:extLst>
              <a:ext uri="{FF2B5EF4-FFF2-40B4-BE49-F238E27FC236}">
                <a16:creationId xmlns:a16="http://schemas.microsoft.com/office/drawing/2014/main" id="{D7B2DAC7-7AF4-4C1A-BBA1-969644E6B02F}"/>
              </a:ext>
            </a:extLst>
          </p:cNvPr>
          <p:cNvSpPr/>
          <p:nvPr/>
        </p:nvSpPr>
        <p:spPr>
          <a:xfrm>
            <a:off x="5338385" y="416377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椭圆 56327">
            <a:extLst>
              <a:ext uri="{FF2B5EF4-FFF2-40B4-BE49-F238E27FC236}">
                <a16:creationId xmlns:a16="http://schemas.microsoft.com/office/drawing/2014/main" id="{AEDE602A-7800-4DA2-A510-973BA8A88BA7}"/>
              </a:ext>
            </a:extLst>
          </p:cNvPr>
          <p:cNvSpPr/>
          <p:nvPr/>
        </p:nvSpPr>
        <p:spPr>
          <a:xfrm>
            <a:off x="6633785" y="416377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椭圆 56328">
            <a:extLst>
              <a:ext uri="{FF2B5EF4-FFF2-40B4-BE49-F238E27FC236}">
                <a16:creationId xmlns:a16="http://schemas.microsoft.com/office/drawing/2014/main" id="{20C98E09-2503-4163-80C5-6D6CF118E616}"/>
              </a:ext>
            </a:extLst>
          </p:cNvPr>
          <p:cNvSpPr/>
          <p:nvPr/>
        </p:nvSpPr>
        <p:spPr>
          <a:xfrm>
            <a:off x="3204785" y="2757010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直接连接符 56329">
            <a:extLst>
              <a:ext uri="{FF2B5EF4-FFF2-40B4-BE49-F238E27FC236}">
                <a16:creationId xmlns:a16="http://schemas.microsoft.com/office/drawing/2014/main" id="{E730444F-2A85-4691-A3EC-D758E55AEB48}"/>
              </a:ext>
            </a:extLst>
          </p:cNvPr>
          <p:cNvSpPr/>
          <p:nvPr/>
        </p:nvSpPr>
        <p:spPr>
          <a:xfrm>
            <a:off x="3433385" y="275701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3" name="椭圆 56330">
            <a:extLst>
              <a:ext uri="{FF2B5EF4-FFF2-40B4-BE49-F238E27FC236}">
                <a16:creationId xmlns:a16="http://schemas.microsoft.com/office/drawing/2014/main" id="{5B4A243C-BAA4-4732-BFD6-3CEEE77F206D}"/>
              </a:ext>
            </a:extLst>
          </p:cNvPr>
          <p:cNvSpPr/>
          <p:nvPr/>
        </p:nvSpPr>
        <p:spPr>
          <a:xfrm>
            <a:off x="2290385" y="4023103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直接连接符 56331">
            <a:extLst>
              <a:ext uri="{FF2B5EF4-FFF2-40B4-BE49-F238E27FC236}">
                <a16:creationId xmlns:a16="http://schemas.microsoft.com/office/drawing/2014/main" id="{B0FBE4E9-BAFE-440C-A9B3-D664135217B5}"/>
              </a:ext>
            </a:extLst>
          </p:cNvPr>
          <p:cNvSpPr/>
          <p:nvPr/>
        </p:nvSpPr>
        <p:spPr>
          <a:xfrm>
            <a:off x="2518985" y="4023103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5" name="椭圆 56332">
            <a:extLst>
              <a:ext uri="{FF2B5EF4-FFF2-40B4-BE49-F238E27FC236}">
                <a16:creationId xmlns:a16="http://schemas.microsoft.com/office/drawing/2014/main" id="{A960DE8E-91A1-493C-AE14-A036B73CD8FC}"/>
              </a:ext>
            </a:extLst>
          </p:cNvPr>
          <p:cNvSpPr/>
          <p:nvPr/>
        </p:nvSpPr>
        <p:spPr>
          <a:xfrm>
            <a:off x="4271585" y="4023103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直接连接符 56333">
            <a:extLst>
              <a:ext uri="{FF2B5EF4-FFF2-40B4-BE49-F238E27FC236}">
                <a16:creationId xmlns:a16="http://schemas.microsoft.com/office/drawing/2014/main" id="{EA24AF34-8239-4ACB-B667-C7B72C12A754}"/>
              </a:ext>
            </a:extLst>
          </p:cNvPr>
          <p:cNvSpPr/>
          <p:nvPr/>
        </p:nvSpPr>
        <p:spPr>
          <a:xfrm>
            <a:off x="4500185" y="4023103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7" name="直接连接符 56334">
            <a:extLst>
              <a:ext uri="{FF2B5EF4-FFF2-40B4-BE49-F238E27FC236}">
                <a16:creationId xmlns:a16="http://schemas.microsoft.com/office/drawing/2014/main" id="{278BD08E-7D95-4D6A-B340-C451A2C4B6F9}"/>
              </a:ext>
            </a:extLst>
          </p:cNvPr>
          <p:cNvSpPr/>
          <p:nvPr/>
        </p:nvSpPr>
        <p:spPr>
          <a:xfrm flipV="1">
            <a:off x="2899985" y="3460395"/>
            <a:ext cx="533400" cy="8440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8" name="直接连接符 56335">
            <a:extLst>
              <a:ext uri="{FF2B5EF4-FFF2-40B4-BE49-F238E27FC236}">
                <a16:creationId xmlns:a16="http://schemas.microsoft.com/office/drawing/2014/main" id="{B237F893-FB80-4480-B749-554531166974}"/>
              </a:ext>
            </a:extLst>
          </p:cNvPr>
          <p:cNvSpPr/>
          <p:nvPr/>
        </p:nvSpPr>
        <p:spPr>
          <a:xfrm>
            <a:off x="2976185" y="4374795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9" name="直接连接符 56336">
            <a:extLst>
              <a:ext uri="{FF2B5EF4-FFF2-40B4-BE49-F238E27FC236}">
                <a16:creationId xmlns:a16="http://schemas.microsoft.com/office/drawing/2014/main" id="{2F0D6D4E-2BBD-4A45-AEA6-5DC75704F9E9}"/>
              </a:ext>
            </a:extLst>
          </p:cNvPr>
          <p:cNvSpPr/>
          <p:nvPr/>
        </p:nvSpPr>
        <p:spPr>
          <a:xfrm>
            <a:off x="6100385" y="3390056"/>
            <a:ext cx="609600" cy="8440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0" name="直接连接符 56337">
            <a:extLst>
              <a:ext uri="{FF2B5EF4-FFF2-40B4-BE49-F238E27FC236}">
                <a16:creationId xmlns:a16="http://schemas.microsoft.com/office/drawing/2014/main" id="{D42DCE9D-A77F-4AEE-BB40-EE1FB937E6A7}"/>
              </a:ext>
            </a:extLst>
          </p:cNvPr>
          <p:cNvSpPr/>
          <p:nvPr/>
        </p:nvSpPr>
        <p:spPr>
          <a:xfrm flipH="1">
            <a:off x="5490785" y="3390056"/>
            <a:ext cx="457200" cy="8440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1" name="椭圆 56338">
            <a:extLst>
              <a:ext uri="{FF2B5EF4-FFF2-40B4-BE49-F238E27FC236}">
                <a16:creationId xmlns:a16="http://schemas.microsoft.com/office/drawing/2014/main" id="{DCC13904-75BF-4D7C-AD89-6575CAA94955}"/>
              </a:ext>
            </a:extLst>
          </p:cNvPr>
          <p:cNvSpPr/>
          <p:nvPr/>
        </p:nvSpPr>
        <p:spPr>
          <a:xfrm>
            <a:off x="8157785" y="324937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椭圆 56339">
            <a:extLst>
              <a:ext uri="{FF2B5EF4-FFF2-40B4-BE49-F238E27FC236}">
                <a16:creationId xmlns:a16="http://schemas.microsoft.com/office/drawing/2014/main" id="{34991BAD-074F-4C10-91A0-D39C0F5B08A1}"/>
              </a:ext>
            </a:extLst>
          </p:cNvPr>
          <p:cNvSpPr/>
          <p:nvPr/>
        </p:nvSpPr>
        <p:spPr>
          <a:xfrm>
            <a:off x="7548185" y="416377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椭圆 56340">
            <a:extLst>
              <a:ext uri="{FF2B5EF4-FFF2-40B4-BE49-F238E27FC236}">
                <a16:creationId xmlns:a16="http://schemas.microsoft.com/office/drawing/2014/main" id="{CC7E08B3-7BBC-4DA5-B216-F69BFB1F9308}"/>
              </a:ext>
            </a:extLst>
          </p:cNvPr>
          <p:cNvSpPr/>
          <p:nvPr/>
        </p:nvSpPr>
        <p:spPr>
          <a:xfrm>
            <a:off x="8843585" y="416377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椭圆 56341">
            <a:extLst>
              <a:ext uri="{FF2B5EF4-FFF2-40B4-BE49-F238E27FC236}">
                <a16:creationId xmlns:a16="http://schemas.microsoft.com/office/drawing/2014/main" id="{90FAB7F5-959D-4427-84E3-5034D69699B0}"/>
              </a:ext>
            </a:extLst>
          </p:cNvPr>
          <p:cNvSpPr/>
          <p:nvPr/>
        </p:nvSpPr>
        <p:spPr>
          <a:xfrm>
            <a:off x="8005385" y="2757010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" name="直接连接符 56342">
            <a:extLst>
              <a:ext uri="{FF2B5EF4-FFF2-40B4-BE49-F238E27FC236}">
                <a16:creationId xmlns:a16="http://schemas.microsoft.com/office/drawing/2014/main" id="{EF393D27-722B-4773-9A69-AE279BD77915}"/>
              </a:ext>
            </a:extLst>
          </p:cNvPr>
          <p:cNvSpPr/>
          <p:nvPr/>
        </p:nvSpPr>
        <p:spPr>
          <a:xfrm>
            <a:off x="8233985" y="275701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6" name="椭圆 56343">
            <a:extLst>
              <a:ext uri="{FF2B5EF4-FFF2-40B4-BE49-F238E27FC236}">
                <a16:creationId xmlns:a16="http://schemas.microsoft.com/office/drawing/2014/main" id="{B2331EA7-6961-4E13-A0B6-AAEB48A48B81}"/>
              </a:ext>
            </a:extLst>
          </p:cNvPr>
          <p:cNvSpPr/>
          <p:nvPr/>
        </p:nvSpPr>
        <p:spPr>
          <a:xfrm>
            <a:off x="9072185" y="4023103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 b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" name="直接连接符 56344">
            <a:extLst>
              <a:ext uri="{FF2B5EF4-FFF2-40B4-BE49-F238E27FC236}">
                <a16:creationId xmlns:a16="http://schemas.microsoft.com/office/drawing/2014/main" id="{9C218114-2B2F-493C-B987-731508CB6662}"/>
              </a:ext>
            </a:extLst>
          </p:cNvPr>
          <p:cNvSpPr/>
          <p:nvPr/>
        </p:nvSpPr>
        <p:spPr>
          <a:xfrm>
            <a:off x="9300785" y="4023103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8" name="直接连接符 56345">
            <a:extLst>
              <a:ext uri="{FF2B5EF4-FFF2-40B4-BE49-F238E27FC236}">
                <a16:creationId xmlns:a16="http://schemas.microsoft.com/office/drawing/2014/main" id="{10C26C24-C376-497B-BBF8-18728B8DB167}"/>
              </a:ext>
            </a:extLst>
          </p:cNvPr>
          <p:cNvSpPr/>
          <p:nvPr/>
        </p:nvSpPr>
        <p:spPr>
          <a:xfrm flipV="1">
            <a:off x="7700585" y="3460395"/>
            <a:ext cx="533400" cy="8440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9" name="直接连接符 56346">
            <a:extLst>
              <a:ext uri="{FF2B5EF4-FFF2-40B4-BE49-F238E27FC236}">
                <a16:creationId xmlns:a16="http://schemas.microsoft.com/office/drawing/2014/main" id="{1CC78729-7D5F-4DCE-AAA6-EEDC772717AB}"/>
              </a:ext>
            </a:extLst>
          </p:cNvPr>
          <p:cNvSpPr/>
          <p:nvPr/>
        </p:nvSpPr>
        <p:spPr>
          <a:xfrm>
            <a:off x="7700585" y="4304456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9C23949-3206-4708-B1C2-EDF96CC7C278}"/>
              </a:ext>
            </a:extLst>
          </p:cNvPr>
          <p:cNvSpPr txBox="1"/>
          <p:nvPr/>
        </p:nvSpPr>
        <p:spPr>
          <a:xfrm>
            <a:off x="3052385" y="4534521"/>
            <a:ext cx="838200" cy="43243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ClrTx/>
            </a:pPr>
            <a:r>
              <a:rPr lang="zh-CN" altLang="en-US" sz="2215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对称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67F2B22-5E56-40F4-BEC8-247A546CA57F}"/>
              </a:ext>
            </a:extLst>
          </p:cNvPr>
          <p:cNvSpPr txBox="1"/>
          <p:nvPr/>
        </p:nvSpPr>
        <p:spPr>
          <a:xfrm>
            <a:off x="5566985" y="4604860"/>
            <a:ext cx="1295400" cy="43243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ClrTx/>
            </a:pPr>
            <a:r>
              <a:rPr lang="zh-CN" altLang="en-US" sz="2215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反对称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32458BE-2016-46E3-A350-B4B408C33126}"/>
              </a:ext>
            </a:extLst>
          </p:cNvPr>
          <p:cNvSpPr txBox="1"/>
          <p:nvPr/>
        </p:nvSpPr>
        <p:spPr>
          <a:xfrm>
            <a:off x="7700585" y="4549175"/>
            <a:ext cx="1676400" cy="77343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  <a:buClrTx/>
            </a:pPr>
            <a:r>
              <a:rPr lang="zh-CN" altLang="en-US" sz="2215" b="0" dirty="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非对称,   非反对称</a:t>
            </a:r>
          </a:p>
        </p:txBody>
      </p:sp>
      <p:sp>
        <p:nvSpPr>
          <p:cNvPr id="33" name="直接连接符 56351">
            <a:extLst>
              <a:ext uri="{FF2B5EF4-FFF2-40B4-BE49-F238E27FC236}">
                <a16:creationId xmlns:a16="http://schemas.microsoft.com/office/drawing/2014/main" id="{DF13AF95-ADAB-47A3-B298-9F2CF004BE93}"/>
              </a:ext>
            </a:extLst>
          </p:cNvPr>
          <p:cNvSpPr/>
          <p:nvPr/>
        </p:nvSpPr>
        <p:spPr>
          <a:xfrm flipH="1">
            <a:off x="2823785" y="3390056"/>
            <a:ext cx="533400" cy="77372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4" name="直接连接符 56352">
            <a:extLst>
              <a:ext uri="{FF2B5EF4-FFF2-40B4-BE49-F238E27FC236}">
                <a16:creationId xmlns:a16="http://schemas.microsoft.com/office/drawing/2014/main" id="{C6554A63-3A92-4599-93FD-88CAD18143ED}"/>
              </a:ext>
            </a:extLst>
          </p:cNvPr>
          <p:cNvSpPr/>
          <p:nvPr/>
        </p:nvSpPr>
        <p:spPr>
          <a:xfrm flipH="1">
            <a:off x="2976185" y="4234118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5" name="直接连接符 56353">
            <a:extLst>
              <a:ext uri="{FF2B5EF4-FFF2-40B4-BE49-F238E27FC236}">
                <a16:creationId xmlns:a16="http://schemas.microsoft.com/office/drawing/2014/main" id="{D243E18D-FAD9-4B6D-B043-8A856414017C}"/>
              </a:ext>
            </a:extLst>
          </p:cNvPr>
          <p:cNvSpPr/>
          <p:nvPr/>
        </p:nvSpPr>
        <p:spPr>
          <a:xfrm flipH="1">
            <a:off x="7624385" y="3390056"/>
            <a:ext cx="533400" cy="77372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6C9A9C7-49FF-446B-B2C4-B69D7201A473}"/>
              </a:ext>
            </a:extLst>
          </p:cNvPr>
          <p:cNvGrpSpPr/>
          <p:nvPr/>
        </p:nvGrpSpPr>
        <p:grpSpPr>
          <a:xfrm>
            <a:off x="3357185" y="5292885"/>
            <a:ext cx="2057400" cy="1266092"/>
            <a:chOff x="0" y="0"/>
            <a:chExt cx="1404" cy="864"/>
          </a:xfrm>
        </p:grpSpPr>
        <p:sp>
          <p:nvSpPr>
            <p:cNvPr id="37" name="椭圆 56355">
              <a:extLst>
                <a:ext uri="{FF2B5EF4-FFF2-40B4-BE49-F238E27FC236}">
                  <a16:creationId xmlns:a16="http://schemas.microsoft.com/office/drawing/2014/main" id="{59EBA571-41F1-4C2D-86F8-BEBB351A10E0}"/>
                </a:ext>
              </a:extLst>
            </p:cNvPr>
            <p:cNvSpPr/>
            <p:nvPr/>
          </p:nvSpPr>
          <p:spPr>
            <a:xfrm>
              <a:off x="416" y="0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 b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38" name="椭圆 56356">
              <a:extLst>
                <a:ext uri="{FF2B5EF4-FFF2-40B4-BE49-F238E27FC236}">
                  <a16:creationId xmlns:a16="http://schemas.microsoft.com/office/drawing/2014/main" id="{953CDDA0-F089-4C7A-85AD-476802C0EFCA}"/>
                </a:ext>
              </a:extLst>
            </p:cNvPr>
            <p:cNvSpPr/>
            <p:nvPr/>
          </p:nvSpPr>
          <p:spPr>
            <a:xfrm>
              <a:off x="0" y="624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 b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39" name="椭圆 56357">
              <a:extLst>
                <a:ext uri="{FF2B5EF4-FFF2-40B4-BE49-F238E27FC236}">
                  <a16:creationId xmlns:a16="http://schemas.microsoft.com/office/drawing/2014/main" id="{C2F1BEFB-1971-4E0A-B113-F2AC9D886419}"/>
                </a:ext>
              </a:extLst>
            </p:cNvPr>
            <p:cNvSpPr/>
            <p:nvPr/>
          </p:nvSpPr>
          <p:spPr>
            <a:xfrm>
              <a:off x="884" y="624"/>
              <a:ext cx="156" cy="144"/>
            </a:xfrm>
            <a:prstGeom prst="ellipse">
              <a:avLst/>
            </a:prstGeom>
            <a:solidFill>
              <a:srgbClr val="4D4D4D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 b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0" name="椭圆 56358">
              <a:extLst>
                <a:ext uri="{FF2B5EF4-FFF2-40B4-BE49-F238E27FC236}">
                  <a16:creationId xmlns:a16="http://schemas.microsoft.com/office/drawing/2014/main" id="{5988F728-11F8-4101-8CF4-87E506B9AE96}"/>
                </a:ext>
              </a:extLst>
            </p:cNvPr>
            <p:cNvSpPr/>
            <p:nvPr/>
          </p:nvSpPr>
          <p:spPr>
            <a:xfrm>
              <a:off x="1040" y="528"/>
              <a:ext cx="364" cy="33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 sz="2585" b="0">
                <a:latin typeface="Microsoft YaHei" panose="020B0503020204020204" charset="-122"/>
                <a:ea typeface="Microsoft YaHei" panose="020B0503020204020204" charset="-122"/>
              </a:endParaRPr>
            </a:p>
          </p:txBody>
        </p:sp>
        <p:sp>
          <p:nvSpPr>
            <p:cNvPr id="41" name="直接连接符 56359">
              <a:extLst>
                <a:ext uri="{FF2B5EF4-FFF2-40B4-BE49-F238E27FC236}">
                  <a16:creationId xmlns:a16="http://schemas.microsoft.com/office/drawing/2014/main" id="{CD51BEF5-FF69-49A7-8783-7BF284D98F3D}"/>
                </a:ext>
              </a:extLst>
            </p:cNvPr>
            <p:cNvSpPr/>
            <p:nvPr/>
          </p:nvSpPr>
          <p:spPr>
            <a:xfrm>
              <a:off x="1196" y="528"/>
              <a:ext cx="0" cy="0"/>
            </a:xfrm>
            <a:prstGeom prst="line">
              <a:avLst/>
            </a:prstGeom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anchor="t"/>
            <a:lstStyle/>
            <a:p>
              <a:endParaRPr lang="zh-CN" altLang="en-US" sz="2585">
                <a:latin typeface="Arial" panose="020B0604020202020204" pitchFamily="34" charset="0"/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9FF6671C-0022-912E-4CF7-6ABD82024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172718407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/>
      <p:bldP spid="31" grpId="0"/>
      <p:bldP spid="32" grpId="0"/>
      <p:bldP spid="33" grpId="0" animBg="1"/>
      <p:bldP spid="34" grpId="0" animBg="1"/>
      <p:bldP spid="3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FE23E77-5614-4BA0-85FD-E2829844BE39}"/>
              </a:ext>
            </a:extLst>
          </p:cNvPr>
          <p:cNvSpPr/>
          <p:nvPr/>
        </p:nvSpPr>
        <p:spPr>
          <a:xfrm>
            <a:off x="2680549" y="837367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X={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b,a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 </a:t>
            </a:r>
          </a:p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a,a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b,b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861928-D27C-4007-A41F-405852FC7416}"/>
              </a:ext>
            </a:extLst>
          </p:cNvPr>
          <p:cNvSpPr/>
          <p:nvPr/>
        </p:nvSpPr>
        <p:spPr>
          <a:xfrm>
            <a:off x="2680549" y="2491873"/>
            <a:ext cx="42819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1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3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={&lt;</a:t>
            </a:r>
            <a:r>
              <a:rPr kumimoji="1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a,b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&gt;,&lt;</a:t>
            </a:r>
            <a:r>
              <a:rPr kumimoji="1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b,a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&gt;,&lt;</a:t>
            </a:r>
            <a:r>
              <a:rPr kumimoji="1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b,c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&gt;}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7FAE32-B597-46B4-84BC-8E1AE6AF6F15}"/>
              </a:ext>
            </a:extLst>
          </p:cNvPr>
          <p:cNvSpPr/>
          <p:nvPr/>
        </p:nvSpPr>
        <p:spPr>
          <a:xfrm>
            <a:off x="2633101" y="3196578"/>
            <a:ext cx="66319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R</a:t>
            </a:r>
            <a:r>
              <a:rPr kumimoji="1" lang="en-US" altLang="zh-CN" sz="3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4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={&lt;</a:t>
            </a:r>
            <a:r>
              <a:rPr kumimoji="1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a,a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&gt;,&lt;</a:t>
            </a:r>
            <a:r>
              <a:rPr kumimoji="1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a,b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&gt; ,&lt;</a:t>
            </a:r>
            <a:r>
              <a:rPr kumimoji="1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a,c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&gt; ,&lt;</a:t>
            </a:r>
            <a:r>
              <a:rPr kumimoji="1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c,b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&gt; ,&lt;</a:t>
            </a:r>
            <a:r>
              <a:rPr kumimoji="1" lang="en-US" altLang="zh-CN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c,c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&gt;}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608FBB-A633-4363-832C-07F77478B4B1}"/>
              </a:ext>
            </a:extLst>
          </p:cNvPr>
          <p:cNvSpPr/>
          <p:nvPr/>
        </p:nvSpPr>
        <p:spPr>
          <a:xfrm>
            <a:off x="2680549" y="3986129"/>
            <a:ext cx="66543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a,a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,&lt;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a,c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,&lt;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b,a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,&lt;</a:t>
            </a:r>
            <a:r>
              <a:rPr lang="en-US" altLang="zh-C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c,b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  <a:endParaRPr lang="zh-CN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6385FB-0243-4993-8B08-11A4D48ACDA0}"/>
              </a:ext>
            </a:extLst>
          </p:cNvPr>
          <p:cNvSpPr/>
          <p:nvPr/>
        </p:nvSpPr>
        <p:spPr>
          <a:xfrm>
            <a:off x="7081352" y="135342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对称关系</a:t>
            </a:r>
            <a:endParaRPr lang="zh-CN" altLang="en-US" sz="2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D1948E-4F01-4905-B103-4FEA22D29C08}"/>
              </a:ext>
            </a:extLst>
          </p:cNvPr>
          <p:cNvSpPr/>
          <p:nvPr/>
        </p:nvSpPr>
        <p:spPr>
          <a:xfrm>
            <a:off x="7081351" y="1828508"/>
            <a:ext cx="38581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对称关系</a:t>
            </a:r>
            <a:r>
              <a:rPr lang="en-US" altLang="zh-CN" sz="2800" dirty="0">
                <a:latin typeface="宋体" panose="02010600030101010101" pitchFamily="2" charset="-122"/>
              </a:rPr>
              <a:t>\</a:t>
            </a:r>
            <a:r>
              <a:rPr lang="zh-CN" altLang="en-US" sz="2800" dirty="0">
                <a:latin typeface="宋体" panose="02010600030101010101" pitchFamily="2" charset="-122"/>
              </a:rPr>
              <a:t>反对称关系</a:t>
            </a:r>
            <a:endParaRPr lang="zh-CN" altLang="en-US" sz="28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C61516-2A7A-4B19-9757-EB506F8A7822}"/>
              </a:ext>
            </a:extLst>
          </p:cNvPr>
          <p:cNvSpPr/>
          <p:nvPr/>
        </p:nvSpPr>
        <p:spPr>
          <a:xfrm>
            <a:off x="7081350" y="2526957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非对称关系</a:t>
            </a:r>
            <a:endParaRPr lang="zh-CN" altLang="en-US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096C2F-1B98-40F2-8594-CC4052368010}"/>
              </a:ext>
            </a:extLst>
          </p:cNvPr>
          <p:cNvSpPr/>
          <p:nvPr/>
        </p:nvSpPr>
        <p:spPr>
          <a:xfrm>
            <a:off x="9265045" y="3227355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反对称关系</a:t>
            </a:r>
            <a:endParaRPr lang="zh-CN" altLang="en-US" sz="28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4A02D1-8FB1-4926-98F7-8AF4DE880609}"/>
              </a:ext>
            </a:extLst>
          </p:cNvPr>
          <p:cNvSpPr/>
          <p:nvPr/>
        </p:nvSpPr>
        <p:spPr>
          <a:xfrm>
            <a:off x="9265045" y="4047684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非反对称关系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9099A7-5600-5F20-265E-4A0B54EBB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87936072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9" grpId="0"/>
      <p:bldP spid="1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内容占位符 57346">
            <a:extLst>
              <a:ext uri="{FF2B5EF4-FFF2-40B4-BE49-F238E27FC236}">
                <a16:creationId xmlns:a16="http://schemas.microsoft.com/office/drawing/2014/main" id="{91CE29C3-3ECA-440C-8777-EEE869CEE8A9}"/>
              </a:ext>
            </a:extLst>
          </p:cNvPr>
          <p:cNvSpPr txBox="1">
            <a:spLocks/>
          </p:cNvSpPr>
          <p:nvPr/>
        </p:nvSpPr>
        <p:spPr>
          <a:xfrm>
            <a:off x="592057" y="1455738"/>
            <a:ext cx="11321457" cy="4360985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A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说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3333FF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传递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(Transitive), 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如果</a:t>
            </a:r>
          </a:p>
          <a:p>
            <a:pPr algn="ctr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y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z(</a:t>
            </a:r>
            <a:r>
              <a:rPr lang="en-US" altLang="x-none" dirty="0" err="1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xAyAzAxRyyRzxRz</a:t>
            </a:r>
            <a:r>
              <a:rPr lang="en-US" altLang="x-none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非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传递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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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y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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z(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xAyAzAxRyyRz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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xRz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性质:  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是传递的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endParaRPr lang="en-US" altLang="zh-CN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20000"/>
              </a:lnSpc>
              <a:buFont typeface="Symbol" panose="05050102010706020507" pitchFamily="18" charset="2"/>
              <a:buChar char="Û"/>
            </a:pP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在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G( R )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中, 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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 若有有向边&lt;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j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,&lt;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j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k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&gt;,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则必有有向边&lt;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i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,</a:t>
            </a:r>
            <a:r>
              <a:rPr lang="en-US" altLang="x-none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x</a:t>
            </a:r>
            <a:r>
              <a:rPr lang="en-US" altLang="x-none" baseline="-25000" dirty="0" err="1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k</a:t>
            </a:r>
            <a:r>
              <a:rPr lang="en-US" altLang="x-none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&gt;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.  </a:t>
            </a:r>
            <a:endParaRPr lang="en-US" altLang="zh-CN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Symbol" panose="05050102010706020507" pitchFamily="2" charset="2"/>
            </a:endParaRPr>
          </a:p>
          <a:p>
            <a:pPr>
              <a:lnSpc>
                <a:spcPct val="120000"/>
              </a:lnSpc>
              <a:buFont typeface="Symbol" panose="05050102010706020507" pitchFamily="18" charset="2"/>
              <a:buChar char="Û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</a:t>
            </a:r>
            <a:r>
              <a:rPr lang="en-US" altLang="zh-CN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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2" charset="2"/>
              </a:rPr>
              <a:t>R R</a:t>
            </a:r>
            <a:r>
              <a:rPr lang="zh-CN" altLang="en-US" dirty="0"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Symbol" panose="05050102010706020507" pitchFamily="2" charset="2"/>
              </a:rPr>
              <a:t> </a:t>
            </a:r>
            <a:endParaRPr lang="en-US" altLang="x-none" dirty="0"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Symbol" panose="05050102010706020507" pitchFamily="2" charset="2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3236ACE3-744D-754C-59F7-70CC52524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4207677007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椭圆 58370">
            <a:extLst>
              <a:ext uri="{FF2B5EF4-FFF2-40B4-BE49-F238E27FC236}">
                <a16:creationId xmlns:a16="http://schemas.microsoft.com/office/drawing/2014/main" id="{A43060B6-363F-4A6D-A8B6-086FA5FCA532}"/>
              </a:ext>
            </a:extLst>
          </p:cNvPr>
          <p:cNvSpPr/>
          <p:nvPr/>
        </p:nvSpPr>
        <p:spPr>
          <a:xfrm>
            <a:off x="4069304" y="1956594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5" name="椭圆 58371">
            <a:extLst>
              <a:ext uri="{FF2B5EF4-FFF2-40B4-BE49-F238E27FC236}">
                <a16:creationId xmlns:a16="http://schemas.microsoft.com/office/drawing/2014/main" id="{DDD83932-853B-4D06-BBE3-0D3929204358}"/>
              </a:ext>
            </a:extLst>
          </p:cNvPr>
          <p:cNvSpPr/>
          <p:nvPr/>
        </p:nvSpPr>
        <p:spPr>
          <a:xfrm>
            <a:off x="3459704" y="2870994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6" name="椭圆 58372">
            <a:extLst>
              <a:ext uri="{FF2B5EF4-FFF2-40B4-BE49-F238E27FC236}">
                <a16:creationId xmlns:a16="http://schemas.microsoft.com/office/drawing/2014/main" id="{9A6DB5AD-1F66-45DA-99E8-656E2522D4EA}"/>
              </a:ext>
            </a:extLst>
          </p:cNvPr>
          <p:cNvSpPr/>
          <p:nvPr/>
        </p:nvSpPr>
        <p:spPr>
          <a:xfrm>
            <a:off x="4755104" y="2870994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7" name="椭圆 58373">
            <a:extLst>
              <a:ext uri="{FF2B5EF4-FFF2-40B4-BE49-F238E27FC236}">
                <a16:creationId xmlns:a16="http://schemas.microsoft.com/office/drawing/2014/main" id="{C5CC461C-3E7C-4686-8356-E53AB40B9136}"/>
              </a:ext>
            </a:extLst>
          </p:cNvPr>
          <p:cNvSpPr/>
          <p:nvPr/>
        </p:nvSpPr>
        <p:spPr>
          <a:xfrm>
            <a:off x="7269704" y="1956594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8" name="椭圆 58374">
            <a:extLst>
              <a:ext uri="{FF2B5EF4-FFF2-40B4-BE49-F238E27FC236}">
                <a16:creationId xmlns:a16="http://schemas.microsoft.com/office/drawing/2014/main" id="{503485E5-37CF-4C4D-932E-1DB46F2A41AB}"/>
              </a:ext>
            </a:extLst>
          </p:cNvPr>
          <p:cNvSpPr/>
          <p:nvPr/>
        </p:nvSpPr>
        <p:spPr>
          <a:xfrm>
            <a:off x="6619073" y="2929609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9" name="椭圆 58375">
            <a:extLst>
              <a:ext uri="{FF2B5EF4-FFF2-40B4-BE49-F238E27FC236}">
                <a16:creationId xmlns:a16="http://schemas.microsoft.com/office/drawing/2014/main" id="{40F3278B-0283-4DA5-8E68-0EF1F511D5FC}"/>
              </a:ext>
            </a:extLst>
          </p:cNvPr>
          <p:cNvSpPr/>
          <p:nvPr/>
        </p:nvSpPr>
        <p:spPr>
          <a:xfrm>
            <a:off x="7955504" y="2870994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0" name="椭圆 58376">
            <a:extLst>
              <a:ext uri="{FF2B5EF4-FFF2-40B4-BE49-F238E27FC236}">
                <a16:creationId xmlns:a16="http://schemas.microsoft.com/office/drawing/2014/main" id="{D824F019-57BE-476E-B47C-A9B1A241CD5B}"/>
              </a:ext>
            </a:extLst>
          </p:cNvPr>
          <p:cNvSpPr/>
          <p:nvPr/>
        </p:nvSpPr>
        <p:spPr>
          <a:xfrm>
            <a:off x="3916904" y="1464224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1" name="直接连接符 58377">
            <a:extLst>
              <a:ext uri="{FF2B5EF4-FFF2-40B4-BE49-F238E27FC236}">
                <a16:creationId xmlns:a16="http://schemas.microsoft.com/office/drawing/2014/main" id="{5CE76F87-5F10-4F6F-8C12-0209FF4257A9}"/>
              </a:ext>
            </a:extLst>
          </p:cNvPr>
          <p:cNvSpPr/>
          <p:nvPr/>
        </p:nvSpPr>
        <p:spPr>
          <a:xfrm>
            <a:off x="4145504" y="1464224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2" name="椭圆 58378">
            <a:extLst>
              <a:ext uri="{FF2B5EF4-FFF2-40B4-BE49-F238E27FC236}">
                <a16:creationId xmlns:a16="http://schemas.microsoft.com/office/drawing/2014/main" id="{9C3977B4-14CD-439A-AA6A-BB87F0BC2B46}"/>
              </a:ext>
            </a:extLst>
          </p:cNvPr>
          <p:cNvSpPr/>
          <p:nvPr/>
        </p:nvSpPr>
        <p:spPr>
          <a:xfrm>
            <a:off x="3002504" y="2730317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3" name="直接连接符 58379">
            <a:extLst>
              <a:ext uri="{FF2B5EF4-FFF2-40B4-BE49-F238E27FC236}">
                <a16:creationId xmlns:a16="http://schemas.microsoft.com/office/drawing/2014/main" id="{FF4B7618-FA74-49E2-B027-BCDD9CBEB95A}"/>
              </a:ext>
            </a:extLst>
          </p:cNvPr>
          <p:cNvSpPr/>
          <p:nvPr/>
        </p:nvSpPr>
        <p:spPr>
          <a:xfrm>
            <a:off x="3231104" y="2730317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4" name="椭圆 58380">
            <a:extLst>
              <a:ext uri="{FF2B5EF4-FFF2-40B4-BE49-F238E27FC236}">
                <a16:creationId xmlns:a16="http://schemas.microsoft.com/office/drawing/2014/main" id="{58EC201E-88A1-4465-9B3C-6604C8D03299}"/>
              </a:ext>
            </a:extLst>
          </p:cNvPr>
          <p:cNvSpPr/>
          <p:nvPr/>
        </p:nvSpPr>
        <p:spPr>
          <a:xfrm>
            <a:off x="4983704" y="2730317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5" name="直接连接符 58381">
            <a:extLst>
              <a:ext uri="{FF2B5EF4-FFF2-40B4-BE49-F238E27FC236}">
                <a16:creationId xmlns:a16="http://schemas.microsoft.com/office/drawing/2014/main" id="{E7C8CDEA-8459-427C-ADA6-20D85CF9166B}"/>
              </a:ext>
            </a:extLst>
          </p:cNvPr>
          <p:cNvSpPr/>
          <p:nvPr/>
        </p:nvSpPr>
        <p:spPr>
          <a:xfrm>
            <a:off x="5212304" y="2730317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6" name="椭圆 58382">
            <a:extLst>
              <a:ext uri="{FF2B5EF4-FFF2-40B4-BE49-F238E27FC236}">
                <a16:creationId xmlns:a16="http://schemas.microsoft.com/office/drawing/2014/main" id="{3170DEC7-383C-470F-A044-28CFD910DBB7}"/>
              </a:ext>
            </a:extLst>
          </p:cNvPr>
          <p:cNvSpPr/>
          <p:nvPr/>
        </p:nvSpPr>
        <p:spPr>
          <a:xfrm>
            <a:off x="7117304" y="1464224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7" name="直接连接符 58383">
            <a:extLst>
              <a:ext uri="{FF2B5EF4-FFF2-40B4-BE49-F238E27FC236}">
                <a16:creationId xmlns:a16="http://schemas.microsoft.com/office/drawing/2014/main" id="{531D84C7-CD84-487E-A97E-EA5C62E386F5}"/>
              </a:ext>
            </a:extLst>
          </p:cNvPr>
          <p:cNvSpPr/>
          <p:nvPr/>
        </p:nvSpPr>
        <p:spPr>
          <a:xfrm>
            <a:off x="7345904" y="1464224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8" name="椭圆 58384">
            <a:extLst>
              <a:ext uri="{FF2B5EF4-FFF2-40B4-BE49-F238E27FC236}">
                <a16:creationId xmlns:a16="http://schemas.microsoft.com/office/drawing/2014/main" id="{7DEFB02D-CC09-47CA-9B08-62FCE5AC9434}"/>
              </a:ext>
            </a:extLst>
          </p:cNvPr>
          <p:cNvSpPr/>
          <p:nvPr/>
        </p:nvSpPr>
        <p:spPr>
          <a:xfrm>
            <a:off x="8184104" y="2730317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19" name="直接连接符 58385">
            <a:extLst>
              <a:ext uri="{FF2B5EF4-FFF2-40B4-BE49-F238E27FC236}">
                <a16:creationId xmlns:a16="http://schemas.microsoft.com/office/drawing/2014/main" id="{06463112-3645-4864-8B93-CD37C4A90679}"/>
              </a:ext>
            </a:extLst>
          </p:cNvPr>
          <p:cNvSpPr/>
          <p:nvPr/>
        </p:nvSpPr>
        <p:spPr>
          <a:xfrm>
            <a:off x="8412704" y="2730317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0" name="直接连接符 58386">
            <a:extLst>
              <a:ext uri="{FF2B5EF4-FFF2-40B4-BE49-F238E27FC236}">
                <a16:creationId xmlns:a16="http://schemas.microsoft.com/office/drawing/2014/main" id="{27A552A4-AFD8-4C62-8ED2-688CFCC13CA8}"/>
              </a:ext>
            </a:extLst>
          </p:cNvPr>
          <p:cNvSpPr/>
          <p:nvPr/>
        </p:nvSpPr>
        <p:spPr>
          <a:xfrm flipH="1">
            <a:off x="6812504" y="2097270"/>
            <a:ext cx="457200" cy="8440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1" name="直接连接符 58387">
            <a:extLst>
              <a:ext uri="{FF2B5EF4-FFF2-40B4-BE49-F238E27FC236}">
                <a16:creationId xmlns:a16="http://schemas.microsoft.com/office/drawing/2014/main" id="{8792F51D-1DF4-434E-95ED-7BD8E448CB09}"/>
              </a:ext>
            </a:extLst>
          </p:cNvPr>
          <p:cNvSpPr/>
          <p:nvPr/>
        </p:nvSpPr>
        <p:spPr>
          <a:xfrm flipH="1">
            <a:off x="3612104" y="2097270"/>
            <a:ext cx="457200" cy="77372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2" name="直接连接符 58388">
            <a:extLst>
              <a:ext uri="{FF2B5EF4-FFF2-40B4-BE49-F238E27FC236}">
                <a16:creationId xmlns:a16="http://schemas.microsoft.com/office/drawing/2014/main" id="{1CE720C9-3CFD-4B25-9E33-4303DFB04A4E}"/>
              </a:ext>
            </a:extLst>
          </p:cNvPr>
          <p:cNvSpPr/>
          <p:nvPr/>
        </p:nvSpPr>
        <p:spPr>
          <a:xfrm flipH="1">
            <a:off x="3688304" y="2941332"/>
            <a:ext cx="1143000" cy="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3" name="直接连接符 58389">
            <a:extLst>
              <a:ext uri="{FF2B5EF4-FFF2-40B4-BE49-F238E27FC236}">
                <a16:creationId xmlns:a16="http://schemas.microsoft.com/office/drawing/2014/main" id="{5EB31750-4166-4045-BD65-C523B06797FC}"/>
              </a:ext>
            </a:extLst>
          </p:cNvPr>
          <p:cNvSpPr/>
          <p:nvPr/>
        </p:nvSpPr>
        <p:spPr>
          <a:xfrm flipH="1" flipV="1">
            <a:off x="7498304" y="2097270"/>
            <a:ext cx="609600" cy="77372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4" name="椭圆 58390">
            <a:extLst>
              <a:ext uri="{FF2B5EF4-FFF2-40B4-BE49-F238E27FC236}">
                <a16:creationId xmlns:a16="http://schemas.microsoft.com/office/drawing/2014/main" id="{92F6E138-6699-441F-BC79-D7B37A30DD7F}"/>
              </a:ext>
            </a:extLst>
          </p:cNvPr>
          <p:cNvSpPr/>
          <p:nvPr/>
        </p:nvSpPr>
        <p:spPr>
          <a:xfrm>
            <a:off x="4221704" y="4066747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5" name="椭圆 58391">
            <a:extLst>
              <a:ext uri="{FF2B5EF4-FFF2-40B4-BE49-F238E27FC236}">
                <a16:creationId xmlns:a16="http://schemas.microsoft.com/office/drawing/2014/main" id="{90CDECDF-ACEF-409B-9408-709255BDAF27}"/>
              </a:ext>
            </a:extLst>
          </p:cNvPr>
          <p:cNvSpPr/>
          <p:nvPr/>
        </p:nvSpPr>
        <p:spPr>
          <a:xfrm>
            <a:off x="3612104" y="4981147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6" name="椭圆 58392">
            <a:extLst>
              <a:ext uri="{FF2B5EF4-FFF2-40B4-BE49-F238E27FC236}">
                <a16:creationId xmlns:a16="http://schemas.microsoft.com/office/drawing/2014/main" id="{794A4059-BFD1-42BD-8CB4-BF76C2E22EE4}"/>
              </a:ext>
            </a:extLst>
          </p:cNvPr>
          <p:cNvSpPr/>
          <p:nvPr/>
        </p:nvSpPr>
        <p:spPr>
          <a:xfrm>
            <a:off x="4907504" y="4981147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7" name="椭圆 58393">
            <a:extLst>
              <a:ext uri="{FF2B5EF4-FFF2-40B4-BE49-F238E27FC236}">
                <a16:creationId xmlns:a16="http://schemas.microsoft.com/office/drawing/2014/main" id="{20627C2E-F021-47D5-9418-A9633C8CF14A}"/>
              </a:ext>
            </a:extLst>
          </p:cNvPr>
          <p:cNvSpPr/>
          <p:nvPr/>
        </p:nvSpPr>
        <p:spPr>
          <a:xfrm>
            <a:off x="7422104" y="4066747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8" name="椭圆 58394">
            <a:extLst>
              <a:ext uri="{FF2B5EF4-FFF2-40B4-BE49-F238E27FC236}">
                <a16:creationId xmlns:a16="http://schemas.microsoft.com/office/drawing/2014/main" id="{E1AEBA99-CD14-4EF6-91BA-E71C0C1581F2}"/>
              </a:ext>
            </a:extLst>
          </p:cNvPr>
          <p:cNvSpPr/>
          <p:nvPr/>
        </p:nvSpPr>
        <p:spPr>
          <a:xfrm>
            <a:off x="6812504" y="4981147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9" name="椭圆 58395">
            <a:extLst>
              <a:ext uri="{FF2B5EF4-FFF2-40B4-BE49-F238E27FC236}">
                <a16:creationId xmlns:a16="http://schemas.microsoft.com/office/drawing/2014/main" id="{6850A1CB-B5B5-4A1A-BF27-E682F2D17679}"/>
              </a:ext>
            </a:extLst>
          </p:cNvPr>
          <p:cNvSpPr/>
          <p:nvPr/>
        </p:nvSpPr>
        <p:spPr>
          <a:xfrm>
            <a:off x="8185570" y="5001663"/>
            <a:ext cx="228600" cy="211015"/>
          </a:xfrm>
          <a:prstGeom prst="ellipse">
            <a:avLst/>
          </a:prstGeom>
          <a:solidFill>
            <a:srgbClr val="4D4D4D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0" name="椭圆 58396">
            <a:extLst>
              <a:ext uri="{FF2B5EF4-FFF2-40B4-BE49-F238E27FC236}">
                <a16:creationId xmlns:a16="http://schemas.microsoft.com/office/drawing/2014/main" id="{060D8604-2FAD-4335-A2C3-AA3D28A9EE32}"/>
              </a:ext>
            </a:extLst>
          </p:cNvPr>
          <p:cNvSpPr/>
          <p:nvPr/>
        </p:nvSpPr>
        <p:spPr>
          <a:xfrm>
            <a:off x="4069304" y="3574378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1" name="直接连接符 58397">
            <a:extLst>
              <a:ext uri="{FF2B5EF4-FFF2-40B4-BE49-F238E27FC236}">
                <a16:creationId xmlns:a16="http://schemas.microsoft.com/office/drawing/2014/main" id="{0476AB19-BFA0-4647-BF04-7F564BBE94F0}"/>
              </a:ext>
            </a:extLst>
          </p:cNvPr>
          <p:cNvSpPr/>
          <p:nvPr/>
        </p:nvSpPr>
        <p:spPr>
          <a:xfrm>
            <a:off x="4297904" y="3574378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2" name="椭圆 58398">
            <a:extLst>
              <a:ext uri="{FF2B5EF4-FFF2-40B4-BE49-F238E27FC236}">
                <a16:creationId xmlns:a16="http://schemas.microsoft.com/office/drawing/2014/main" id="{F6E9C8DA-4853-4A3A-87AE-D487DE30CE9B}"/>
              </a:ext>
            </a:extLst>
          </p:cNvPr>
          <p:cNvSpPr/>
          <p:nvPr/>
        </p:nvSpPr>
        <p:spPr>
          <a:xfrm>
            <a:off x="3154904" y="4840470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3" name="直接连接符 58399">
            <a:extLst>
              <a:ext uri="{FF2B5EF4-FFF2-40B4-BE49-F238E27FC236}">
                <a16:creationId xmlns:a16="http://schemas.microsoft.com/office/drawing/2014/main" id="{EA14C59F-CCD7-42D8-AF49-E15241CA52A4}"/>
              </a:ext>
            </a:extLst>
          </p:cNvPr>
          <p:cNvSpPr/>
          <p:nvPr/>
        </p:nvSpPr>
        <p:spPr>
          <a:xfrm>
            <a:off x="3383504" y="484047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4" name="椭圆 58400">
            <a:extLst>
              <a:ext uri="{FF2B5EF4-FFF2-40B4-BE49-F238E27FC236}">
                <a16:creationId xmlns:a16="http://schemas.microsoft.com/office/drawing/2014/main" id="{82984DEB-96A4-43BA-81F7-970FA565120F}"/>
              </a:ext>
            </a:extLst>
          </p:cNvPr>
          <p:cNvSpPr/>
          <p:nvPr/>
        </p:nvSpPr>
        <p:spPr>
          <a:xfrm>
            <a:off x="5136104" y="4840470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5" name="直接连接符 58401">
            <a:extLst>
              <a:ext uri="{FF2B5EF4-FFF2-40B4-BE49-F238E27FC236}">
                <a16:creationId xmlns:a16="http://schemas.microsoft.com/office/drawing/2014/main" id="{DFC428C6-1D94-4B11-9228-A6C559C24378}"/>
              </a:ext>
            </a:extLst>
          </p:cNvPr>
          <p:cNvSpPr/>
          <p:nvPr/>
        </p:nvSpPr>
        <p:spPr>
          <a:xfrm>
            <a:off x="5364704" y="4840470"/>
            <a:ext cx="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6" name="椭圆 58402">
            <a:extLst>
              <a:ext uri="{FF2B5EF4-FFF2-40B4-BE49-F238E27FC236}">
                <a16:creationId xmlns:a16="http://schemas.microsoft.com/office/drawing/2014/main" id="{68EFE64C-DC37-45AE-B92B-8B8A7173A9A6}"/>
              </a:ext>
            </a:extLst>
          </p:cNvPr>
          <p:cNvSpPr/>
          <p:nvPr/>
        </p:nvSpPr>
        <p:spPr>
          <a:xfrm>
            <a:off x="8336504" y="4840470"/>
            <a:ext cx="533400" cy="492369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7" name="直接连接符 58403">
            <a:extLst>
              <a:ext uri="{FF2B5EF4-FFF2-40B4-BE49-F238E27FC236}">
                <a16:creationId xmlns:a16="http://schemas.microsoft.com/office/drawing/2014/main" id="{73EBCA6E-065A-4E38-B37C-0D016F1CF079}"/>
              </a:ext>
            </a:extLst>
          </p:cNvPr>
          <p:cNvSpPr/>
          <p:nvPr/>
        </p:nvSpPr>
        <p:spPr>
          <a:xfrm>
            <a:off x="8565104" y="4840470"/>
            <a:ext cx="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8" name="直接连接符 58404">
            <a:extLst>
              <a:ext uri="{FF2B5EF4-FFF2-40B4-BE49-F238E27FC236}">
                <a16:creationId xmlns:a16="http://schemas.microsoft.com/office/drawing/2014/main" id="{BD3A37CD-F96C-4EDB-8065-088C6C6A2D20}"/>
              </a:ext>
            </a:extLst>
          </p:cNvPr>
          <p:cNvSpPr/>
          <p:nvPr/>
        </p:nvSpPr>
        <p:spPr>
          <a:xfrm>
            <a:off x="7574504" y="4207424"/>
            <a:ext cx="609600" cy="8440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39" name="直接连接符 58405">
            <a:extLst>
              <a:ext uri="{FF2B5EF4-FFF2-40B4-BE49-F238E27FC236}">
                <a16:creationId xmlns:a16="http://schemas.microsoft.com/office/drawing/2014/main" id="{95C165E9-EA26-4A4E-B77A-DD960D7A8089}"/>
              </a:ext>
            </a:extLst>
          </p:cNvPr>
          <p:cNvSpPr/>
          <p:nvPr/>
        </p:nvSpPr>
        <p:spPr>
          <a:xfrm flipH="1">
            <a:off x="6964904" y="4207424"/>
            <a:ext cx="457200" cy="8440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40" name="直接连接符 58406">
            <a:extLst>
              <a:ext uri="{FF2B5EF4-FFF2-40B4-BE49-F238E27FC236}">
                <a16:creationId xmlns:a16="http://schemas.microsoft.com/office/drawing/2014/main" id="{0907854C-259D-43F5-BD29-C0C8C9D248AE}"/>
              </a:ext>
            </a:extLst>
          </p:cNvPr>
          <p:cNvSpPr/>
          <p:nvPr/>
        </p:nvSpPr>
        <p:spPr>
          <a:xfrm flipH="1">
            <a:off x="3764504" y="4207424"/>
            <a:ext cx="457200" cy="77372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41" name="直接连接符 58407">
            <a:extLst>
              <a:ext uri="{FF2B5EF4-FFF2-40B4-BE49-F238E27FC236}">
                <a16:creationId xmlns:a16="http://schemas.microsoft.com/office/drawing/2014/main" id="{47D9D1A1-7B37-41E2-9018-D05FCFCA96DC}"/>
              </a:ext>
            </a:extLst>
          </p:cNvPr>
          <p:cNvSpPr/>
          <p:nvPr/>
        </p:nvSpPr>
        <p:spPr>
          <a:xfrm flipH="1">
            <a:off x="3840704" y="5051486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42" name="直接连接符 58408">
            <a:extLst>
              <a:ext uri="{FF2B5EF4-FFF2-40B4-BE49-F238E27FC236}">
                <a16:creationId xmlns:a16="http://schemas.microsoft.com/office/drawing/2014/main" id="{8A7EC096-832D-4B36-81F1-51F339C656BD}"/>
              </a:ext>
            </a:extLst>
          </p:cNvPr>
          <p:cNvSpPr/>
          <p:nvPr/>
        </p:nvSpPr>
        <p:spPr>
          <a:xfrm flipH="1" flipV="1">
            <a:off x="7650704" y="4207424"/>
            <a:ext cx="609600" cy="77372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43" name="直接连接符 58409">
            <a:extLst>
              <a:ext uri="{FF2B5EF4-FFF2-40B4-BE49-F238E27FC236}">
                <a16:creationId xmlns:a16="http://schemas.microsoft.com/office/drawing/2014/main" id="{61BF3A30-75C8-4FF7-922D-B8F0B2DE6A48}"/>
              </a:ext>
            </a:extLst>
          </p:cNvPr>
          <p:cNvSpPr/>
          <p:nvPr/>
        </p:nvSpPr>
        <p:spPr>
          <a:xfrm>
            <a:off x="6812504" y="3011670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44" name="直接连接符 58410">
            <a:extLst>
              <a:ext uri="{FF2B5EF4-FFF2-40B4-BE49-F238E27FC236}">
                <a16:creationId xmlns:a16="http://schemas.microsoft.com/office/drawing/2014/main" id="{103BDEEC-253E-4B21-BB64-F7C908873E1A}"/>
              </a:ext>
            </a:extLst>
          </p:cNvPr>
          <p:cNvSpPr/>
          <p:nvPr/>
        </p:nvSpPr>
        <p:spPr>
          <a:xfrm flipH="1" flipV="1">
            <a:off x="4221704" y="2167609"/>
            <a:ext cx="685800" cy="77372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/>
          <a:p>
            <a:endParaRPr lang="zh-CN" altLang="en-US" sz="2585">
              <a:latin typeface="Arial" panose="020B0604020202020204" pitchFamily="34" charset="0"/>
            </a:endParaRP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3890A492-7046-A06D-E93C-007073548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4084402019"/>
      </p:ext>
    </p:extLst>
  </p:cSld>
  <p:clrMapOvr>
    <a:masterClrMapping/>
  </p:clrMapOvr>
  <p:transition spd="slow" advTm="0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5E0B1C4-A29C-4FD5-A83C-D1F6988DD737}"/>
              </a:ext>
            </a:extLst>
          </p:cNvPr>
          <p:cNvSpPr/>
          <p:nvPr/>
        </p:nvSpPr>
        <p:spPr>
          <a:xfrm>
            <a:off x="1409974" y="1171780"/>
            <a:ext cx="937205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常见的</a:t>
            </a:r>
            <a:r>
              <a:rPr lang="zh-CN" altLang="en-US" sz="2800" dirty="0">
                <a:latin typeface="宋体" panose="02010600030101010101" pitchFamily="2" charset="-122"/>
              </a:rPr>
              <a:t>传递关系有相等关系</a:t>
            </a:r>
            <a:r>
              <a:rPr lang="en-US" altLang="zh-CN" sz="2800" dirty="0">
                <a:latin typeface="宋体" panose="02010600030101010101" pitchFamily="2" charset="-122"/>
              </a:rPr>
              <a:t>(=)</a:t>
            </a:r>
            <a:r>
              <a:rPr lang="zh-CN" altLang="en-US" sz="2800" dirty="0">
                <a:latin typeface="宋体" panose="02010600030101010101" pitchFamily="2" charset="-122"/>
              </a:rPr>
              <a:t>，小于等于关系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，包含关系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，整除关系，同余关系，上下级关系，同乡关系，后裔关系等</a:t>
            </a:r>
            <a:endParaRPr lang="zh-CN" altLang="en-US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8D0E9F-3D46-40B0-8A3C-3C519B73B9DE}"/>
              </a:ext>
            </a:extLst>
          </p:cNvPr>
          <p:cNvSpPr/>
          <p:nvPr/>
        </p:nvSpPr>
        <p:spPr>
          <a:xfrm>
            <a:off x="1475758" y="2882169"/>
            <a:ext cx="92141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而不相等关系</a:t>
            </a:r>
            <a:r>
              <a:rPr lang="en-US" altLang="zh-CN" sz="2800" dirty="0">
                <a:latin typeface="宋体" panose="02010600030101010101" pitchFamily="2" charset="-122"/>
              </a:rPr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</a:t>
            </a:r>
            <a:r>
              <a:rPr lang="en-US" altLang="zh-CN" sz="2800" dirty="0"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</a:rPr>
              <a:t>，父子关系，朋友关系，同学关系等都不是传递关系</a:t>
            </a: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2D2DE1-B71D-48B9-A17D-87BCA379D4E5}"/>
              </a:ext>
            </a:extLst>
          </p:cNvPr>
          <p:cNvSpPr/>
          <p:nvPr/>
        </p:nvSpPr>
        <p:spPr>
          <a:xfrm>
            <a:off x="1409974" y="4301226"/>
            <a:ext cx="9681238" cy="24191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</a:t>
            </a:r>
            <a:r>
              <a:rPr lang="zh-CN" altLang="en-US" sz="2800" dirty="0">
                <a:latin typeface="+mn-ea"/>
              </a:rPr>
              <a:t>传递性和反传递性是关系的两个极端性质；因此，传递关系和反传递关系是两种极端关系；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+mn-ea"/>
                <a:sym typeface="Symbol" panose="05050102010706020507" pitchFamily="18" charset="2"/>
              </a:rPr>
              <a:t>概念</a:t>
            </a:r>
            <a:r>
              <a:rPr lang="zh-CN" altLang="en-US" sz="2800" dirty="0">
                <a:latin typeface="+mn-ea"/>
              </a:rPr>
              <a:t>反传递性和反传递关系一般不甚用，所以不加讨论；</a:t>
            </a:r>
          </a:p>
          <a:p>
            <a:pPr>
              <a:lnSpc>
                <a:spcPct val="90000"/>
              </a:lnSpc>
            </a:pPr>
            <a:endParaRPr lang="zh-CN" altLang="en-US" sz="2800" dirty="0">
              <a:latin typeface="+mn-ea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B677684F-BBC2-B3F9-3889-DC28B7D47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305581903"/>
      </p:ext>
    </p:extLst>
  </p:cSld>
  <p:clrMapOvr>
    <a:masterClrMapping/>
  </p:clrMapOvr>
  <p:transition spd="slow" advTm="0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7408ABB-1ED3-4F6E-8685-0AFCD806FAD1}"/>
              </a:ext>
            </a:extLst>
          </p:cNvPr>
          <p:cNvSpPr/>
          <p:nvPr/>
        </p:nvSpPr>
        <p:spPr>
          <a:xfrm>
            <a:off x="1884921" y="1059133"/>
            <a:ext cx="20281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X={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2F6AB3-8D25-40CC-A7A1-4FFC16F2FEFF}"/>
              </a:ext>
            </a:extLst>
          </p:cNvPr>
          <p:cNvSpPr/>
          <p:nvPr/>
        </p:nvSpPr>
        <p:spPr>
          <a:xfrm>
            <a:off x="1884921" y="2054969"/>
            <a:ext cx="65325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9F9724-47E0-4711-B849-720BDC4AFCA0}"/>
              </a:ext>
            </a:extLst>
          </p:cNvPr>
          <p:cNvSpPr/>
          <p:nvPr/>
        </p:nvSpPr>
        <p:spPr>
          <a:xfrm>
            <a:off x="1884921" y="2933425"/>
            <a:ext cx="56797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a,c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&gt;,&lt;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&gt;}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D4557A-213B-4847-9C34-CA3CEC5F2BCD}"/>
              </a:ext>
            </a:extLst>
          </p:cNvPr>
          <p:cNvSpPr/>
          <p:nvPr/>
        </p:nvSpPr>
        <p:spPr>
          <a:xfrm>
            <a:off x="9039476" y="1987857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传递关系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74C897-F86C-4D58-A564-E0BFA79435B1}"/>
              </a:ext>
            </a:extLst>
          </p:cNvPr>
          <p:cNvSpPr/>
          <p:nvPr/>
        </p:nvSpPr>
        <p:spPr>
          <a:xfrm>
            <a:off x="9039476" y="2846346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非传递关系</a:t>
            </a:r>
          </a:p>
        </p:txBody>
      </p:sp>
      <p:sp>
        <p:nvSpPr>
          <p:cNvPr id="6" name="文本框 2">
            <a:extLst>
              <a:ext uri="{FF2B5EF4-FFF2-40B4-BE49-F238E27FC236}">
                <a16:creationId xmlns:a16="http://schemas.microsoft.com/office/drawing/2014/main" id="{226E94B8-28B9-3C83-47EF-EDCBCDCB4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330678467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932C526-F84A-410A-8383-2122AD09851F}"/>
              </a:ext>
            </a:extLst>
          </p:cNvPr>
          <p:cNvSpPr/>
          <p:nvPr/>
        </p:nvSpPr>
        <p:spPr>
          <a:xfrm>
            <a:off x="2363844" y="1061976"/>
            <a:ext cx="6096000" cy="7875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是平面上直线的集合。平行关系</a:t>
            </a:r>
          </a:p>
          <a:p>
            <a:pPr>
              <a:lnSpc>
                <a:spcPct val="8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R={(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∥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99D72C-1665-4F8A-9BF7-54BA0516BD9D}"/>
              </a:ext>
            </a:extLst>
          </p:cNvPr>
          <p:cNvSpPr/>
          <p:nvPr/>
        </p:nvSpPr>
        <p:spPr>
          <a:xfrm>
            <a:off x="2173069" y="2246033"/>
            <a:ext cx="6845939" cy="78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ea typeface="仿宋_GB2312" pitchFamily="49" charset="-122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是平面上三角形的集合。相似关系</a:t>
            </a:r>
          </a:p>
          <a:p>
            <a:pPr>
              <a:lnSpc>
                <a:spcPct val="8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R={(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i="1" dirty="0" err="1">
                <a:latin typeface="Times New Roman" panose="02020603050405020304" pitchFamily="18" charset="0"/>
                <a:ea typeface="MS Gothic" panose="020B0609070205080204" pitchFamily="49" charset="-128"/>
                <a:cs typeface="Times New Roman" panose="02020603050405020304" pitchFamily="18" charset="0"/>
              </a:rPr>
              <a:t>∽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FD5E687-E556-4CDB-95B7-3AC2BB7B40DE}"/>
              </a:ext>
            </a:extLst>
          </p:cNvPr>
          <p:cNvSpPr txBox="1">
            <a:spLocks noChangeArrowheads="1"/>
          </p:cNvSpPr>
          <p:nvPr/>
        </p:nvSpPr>
        <p:spPr>
          <a:xfrm>
            <a:off x="2173069" y="3502880"/>
            <a:ext cx="6652149" cy="45862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R={&lt;1,1&gt;,&lt;2,2&gt;}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，试判断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在集合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上具备的特殊性质，其中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A={1,2},B={1,2,3}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是定义在集合</a:t>
            </a: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上的关系时，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是自反、对称、反对称和传递的；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是定义在集合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上的关系时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是对称、反对称和传递的。</a:t>
            </a:r>
          </a:p>
        </p:txBody>
      </p:sp>
      <p:sp>
        <p:nvSpPr>
          <p:cNvPr id="4" name="文本框 2">
            <a:extLst>
              <a:ext uri="{FF2B5EF4-FFF2-40B4-BE49-F238E27FC236}">
                <a16:creationId xmlns:a16="http://schemas.microsoft.com/office/drawing/2014/main" id="{39D16F86-AA68-4D81-4DCB-4308BE883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42048078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4068A64-422E-4B4D-9D48-273A067FE187}"/>
              </a:ext>
            </a:extLst>
          </p:cNvPr>
          <p:cNvSpPr/>
          <p:nvPr/>
        </p:nvSpPr>
        <p:spPr>
          <a:xfrm>
            <a:off x="1786882" y="2570151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恒等关系</a:t>
            </a:r>
            <a:endParaRPr lang="zh-CN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38209A-FF82-4160-9BDF-BF294649A2CB}"/>
              </a:ext>
            </a:extLst>
          </p:cNvPr>
          <p:cNvSpPr/>
          <p:nvPr/>
        </p:nvSpPr>
        <p:spPr>
          <a:xfrm>
            <a:off x="4037541" y="2570151"/>
            <a:ext cx="5570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自反的、对称的、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反对称的、</a:t>
            </a:r>
            <a:r>
              <a:rPr lang="zh-CN" altLang="en-US" sz="2800" dirty="0">
                <a:latin typeface="宋体" panose="02010600030101010101" pitchFamily="2" charset="-122"/>
              </a:rPr>
              <a:t>传递</a:t>
            </a:r>
            <a:endParaRPr lang="zh-CN" altLang="en-US" sz="28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5EEAF8-4F94-4882-9001-60BEEEB24090}"/>
              </a:ext>
            </a:extLst>
          </p:cNvPr>
          <p:cNvSpPr/>
          <p:nvPr/>
        </p:nvSpPr>
        <p:spPr>
          <a:xfrm>
            <a:off x="1786881" y="186077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普遍关系</a:t>
            </a:r>
            <a:endParaRPr lang="zh-CN" altLang="en-US" sz="2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A4B67B-29F3-4CCF-98D6-126A781B9439}"/>
              </a:ext>
            </a:extLst>
          </p:cNvPr>
          <p:cNvSpPr/>
          <p:nvPr/>
        </p:nvSpPr>
        <p:spPr>
          <a:xfrm>
            <a:off x="4028767" y="1860779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自反的、对称的、传递的</a:t>
            </a:r>
            <a:endParaRPr lang="zh-CN" altLang="en-US" sz="28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0C10D40-5821-4BE0-9123-E21D91D27415}"/>
              </a:ext>
            </a:extLst>
          </p:cNvPr>
          <p:cNvSpPr/>
          <p:nvPr/>
        </p:nvSpPr>
        <p:spPr>
          <a:xfrm>
            <a:off x="1786881" y="3279523"/>
            <a:ext cx="15568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</a:rPr>
              <a:t>空关系</a:t>
            </a:r>
            <a:r>
              <a:rPr lang="zh-CN" altLang="en-US" sz="2800" dirty="0">
                <a:sym typeface="Symbol" panose="05050102010706020507" pitchFamily="18" charset="2"/>
              </a:rPr>
              <a:t></a:t>
            </a:r>
            <a:endParaRPr lang="zh-CN" altLang="en-US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94A7C9-314B-4D07-BA21-48B9EE86C324}"/>
              </a:ext>
            </a:extLst>
          </p:cNvPr>
          <p:cNvSpPr/>
          <p:nvPr/>
        </p:nvSpPr>
        <p:spPr>
          <a:xfrm>
            <a:off x="3947856" y="3279523"/>
            <a:ext cx="75456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自反的</a:t>
            </a:r>
            <a:r>
              <a:rPr lang="en-US" altLang="zh-CN" sz="2800" dirty="0">
                <a:latin typeface="宋体" panose="02010600030101010101" pitchFamily="2" charset="-122"/>
                <a:sym typeface="Symbol" panose="05050102010706020507" pitchFamily="18" charset="2"/>
              </a:rPr>
              <a:t>\</a:t>
            </a:r>
            <a:r>
              <a:rPr lang="zh-CN" altLang="en-US" sz="2800" dirty="0">
                <a:latin typeface="宋体" panose="02010600030101010101" pitchFamily="2" charset="-122"/>
                <a:sym typeface="Symbol" panose="05050102010706020507" pitchFamily="18" charset="2"/>
              </a:rPr>
              <a:t>反自反的、对称的、反对称的、传递的</a:t>
            </a:r>
            <a:endParaRPr lang="zh-CN" altLang="en-US" sz="2800" dirty="0"/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6905228D-BAD0-534F-39F6-F19C722A25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Set &amp; Relation</a:t>
            </a:r>
          </a:p>
        </p:txBody>
      </p:sp>
    </p:spTree>
    <p:extLst>
      <p:ext uri="{BB962C8B-B14F-4D97-AF65-F5344CB8AC3E}">
        <p14:creationId xmlns:p14="http://schemas.microsoft.com/office/powerpoint/2010/main" val="2182435858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6" grpId="0"/>
      <p:bldP spid="7" grpId="0"/>
      <p:bldP spid="9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9667</TotalTime>
  <Words>4729</Words>
  <Application>Microsoft Office PowerPoint</Application>
  <PresentationFormat>宽屏</PresentationFormat>
  <Paragraphs>429</Paragraphs>
  <Slides>45</Slides>
  <Notes>45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65" baseType="lpstr">
      <vt:lpstr>Arial Unicode MS</vt:lpstr>
      <vt:lpstr>等线</vt:lpstr>
      <vt:lpstr>等线 Light</vt:lpstr>
      <vt:lpstr>黑体</vt:lpstr>
      <vt:lpstr>KaiTi</vt:lpstr>
      <vt:lpstr>楷体_GB2312</vt:lpstr>
      <vt:lpstr>宋体</vt:lpstr>
      <vt:lpstr>Microsoft YaHei</vt:lpstr>
      <vt:lpstr>Microsoft YaHei Light</vt:lpstr>
      <vt:lpstr>Arial</vt:lpstr>
      <vt:lpstr>Arial Black</vt:lpstr>
      <vt:lpstr>Comic Sans MS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77</dc:creator>
  <cp:lastModifiedBy>y z</cp:lastModifiedBy>
  <cp:revision>123</cp:revision>
  <dcterms:created xsi:type="dcterms:W3CDTF">2019-03-24T11:36:16Z</dcterms:created>
  <dcterms:modified xsi:type="dcterms:W3CDTF">2025-11-12T01:52:54Z</dcterms:modified>
</cp:coreProperties>
</file>